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96" r:id="rId23"/>
    <p:sldId id="279" r:id="rId24"/>
    <p:sldId id="280" r:id="rId25"/>
    <p:sldId id="281" r:id="rId26"/>
    <p:sldId id="282" r:id="rId27"/>
    <p:sldId id="283" r:id="rId28"/>
    <p:sldId id="287" r:id="rId29"/>
    <p:sldId id="288" r:id="rId30"/>
    <p:sldId id="289" r:id="rId31"/>
    <p:sldId id="290" r:id="rId32"/>
    <p:sldId id="291" r:id="rId33"/>
    <p:sldId id="292" r:id="rId34"/>
    <p:sldId id="293" r:id="rId35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1757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BEBB-47AF-C329-AE45-4FD26F0BA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263" y="566377"/>
            <a:ext cx="3457575" cy="1204854"/>
          </a:xfrm>
        </p:spPr>
        <p:txBody>
          <a:bodyPr anchor="b"/>
          <a:lstStyle>
            <a:lvl1pPr algn="ctr">
              <a:defRPr sz="226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FEE18-9D6F-B7CC-73B4-ADAD1DFC4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3" y="1817695"/>
            <a:ext cx="3457575" cy="835547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A4A5-4109-2424-77AE-C4615A99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38974-97AC-3D96-1458-A8F722A9B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1F816-3FC6-EDC8-2565-1D08AC84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429049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F243-50F2-B262-B453-6B65B419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6D4E-D891-16C3-4F5A-46F604364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E313B-9103-93ED-DE9B-802839E0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E9086-FDEA-9623-5289-D8A5EEA0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8A79-EFD4-6304-7BCB-E93FBF3FA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127986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C056-D535-FC73-514A-A3B79862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43" y="862785"/>
            <a:ext cx="3976211" cy="1439576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C2F9E-E03C-65C2-5089-7C389A616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543" y="2315979"/>
            <a:ext cx="3976211" cy="757039"/>
          </a:xfrm>
        </p:spPr>
        <p:txBody>
          <a:bodyPr/>
          <a:lstStyle>
            <a:lvl1pPr marL="0" indent="0">
              <a:buNone/>
              <a:defRPr sz="907">
                <a:solidFill>
                  <a:schemeClr val="tx1">
                    <a:tint val="82000"/>
                  </a:schemeClr>
                </a:solidFill>
              </a:defRPr>
            </a:lvl1pPr>
            <a:lvl2pPr marL="17286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2pPr>
            <a:lvl3pPr marL="345735" indent="0">
              <a:buNone/>
              <a:defRPr sz="681">
                <a:solidFill>
                  <a:schemeClr val="tx1">
                    <a:tint val="82000"/>
                  </a:schemeClr>
                </a:solidFill>
              </a:defRPr>
            </a:lvl3pPr>
            <a:lvl4pPr marL="518602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4pPr>
            <a:lvl5pPr marL="691469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5pPr>
            <a:lvl6pPr marL="864337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6pPr>
            <a:lvl7pPr marL="1037204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7pPr>
            <a:lvl8pPr marL="1210071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8pPr>
            <a:lvl9pPr marL="1382939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5290B-E0BD-D825-D732-69259331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2ECA8-298D-56F8-895B-7DCC1FD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56C64-EF62-3009-D445-AE261DC7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80345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20FE8-9C48-8D82-99A3-0E53D11C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0E0C4-D67F-6639-2F22-D502EE250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944" y="921265"/>
            <a:ext cx="1959293" cy="219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BBD47-F078-85BF-0720-42DA5C0FD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3863" y="921265"/>
            <a:ext cx="1959293" cy="21958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EBE11-149F-EAAB-41D7-CAB29F2D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6ECFE-FD1F-496D-753F-D4E84840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82CA5-411D-94A1-0F98-60BCB2EA4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86887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A34C-BFDE-813B-6268-04112904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5" y="184253"/>
            <a:ext cx="3976211" cy="6689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95B58-7966-5F10-A361-2A8D464D6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545" y="848365"/>
            <a:ext cx="1950288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AE549-DD34-CFD0-BDF8-394100D6C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545" y="1264135"/>
            <a:ext cx="1950288" cy="18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9341E9-1B14-C121-870D-14E59C100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33863" y="848365"/>
            <a:ext cx="1959893" cy="415770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67" indent="0">
              <a:buNone/>
              <a:defRPr sz="756" b="1"/>
            </a:lvl2pPr>
            <a:lvl3pPr marL="345735" indent="0">
              <a:buNone/>
              <a:defRPr sz="681" b="1"/>
            </a:lvl3pPr>
            <a:lvl4pPr marL="518602" indent="0">
              <a:buNone/>
              <a:defRPr sz="605" b="1"/>
            </a:lvl4pPr>
            <a:lvl5pPr marL="691469" indent="0">
              <a:buNone/>
              <a:defRPr sz="605" b="1"/>
            </a:lvl5pPr>
            <a:lvl6pPr marL="864337" indent="0">
              <a:buNone/>
              <a:defRPr sz="605" b="1"/>
            </a:lvl6pPr>
            <a:lvl7pPr marL="1037204" indent="0">
              <a:buNone/>
              <a:defRPr sz="605" b="1"/>
            </a:lvl7pPr>
            <a:lvl8pPr marL="1210071" indent="0">
              <a:buNone/>
              <a:defRPr sz="605" b="1"/>
            </a:lvl8pPr>
            <a:lvl9pPr marL="1382939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B8818-3316-CE36-AE27-1E4C0F7B9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33863" y="1264135"/>
            <a:ext cx="1959893" cy="18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82250-EE71-52BC-74F1-D809EC74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2107F-7A16-2DA4-E482-A9B37F23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9D5C3-E6C1-4D41-21A8-A9F3424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161643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44EF-203B-388F-65F2-4FCDDF9A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60034-AAC0-048B-12A1-CEE71608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8AF58-5534-3C0C-012E-5F4ADAFF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3983C-8086-92CD-44FD-B8F60C46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60921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3C308-7EA0-7EFC-83A6-A354F3E3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95F32-2FF8-F196-59EC-334C91E7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2B7B7-80C3-32EC-C61C-2FDAAC12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110922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B0AF-0EC1-E69E-AC70-50C27C4C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5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2A346-368E-5E97-4E68-DB888B2E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893" y="498284"/>
            <a:ext cx="2333863" cy="2459376"/>
          </a:xfrm>
        </p:spPr>
        <p:txBody>
          <a:bodyPr/>
          <a:lstStyle>
            <a:lvl1pPr>
              <a:defRPr sz="1210"/>
            </a:lvl1pPr>
            <a:lvl2pPr>
              <a:defRPr sz="1059"/>
            </a:lvl2pPr>
            <a:lvl3pPr>
              <a:defRPr sz="907"/>
            </a:lvl3pPr>
            <a:lvl4pPr>
              <a:defRPr sz="756"/>
            </a:lvl4pPr>
            <a:lvl5pPr>
              <a:defRPr sz="756"/>
            </a:lvl5pPr>
            <a:lvl6pPr>
              <a:defRPr sz="756"/>
            </a:lvl6pPr>
            <a:lvl7pPr>
              <a:defRPr sz="756"/>
            </a:lvl7pPr>
            <a:lvl8pPr>
              <a:defRPr sz="756"/>
            </a:lvl8pPr>
            <a:lvl9pPr>
              <a:defRPr sz="7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6F548-0153-86DF-DD6C-1E5CEC251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545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39736-A4DA-890E-CCF4-7242B516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A6950-ED16-DB35-401A-51187B5E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C240D-A6DB-9D19-95F8-BCE22127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377143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E406-0D8F-7BEF-653D-C1C2537F4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45" y="230717"/>
            <a:ext cx="1486877" cy="807508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D41FA3-8265-08AE-B986-EF17D5C96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59893" y="498284"/>
            <a:ext cx="2333863" cy="2459376"/>
          </a:xfrm>
        </p:spPr>
        <p:txBody>
          <a:bodyPr/>
          <a:lstStyle>
            <a:lvl1pPr marL="0" indent="0">
              <a:buNone/>
              <a:defRPr sz="1210"/>
            </a:lvl1pPr>
            <a:lvl2pPr marL="172867" indent="0">
              <a:buNone/>
              <a:defRPr sz="1059"/>
            </a:lvl2pPr>
            <a:lvl3pPr marL="345735" indent="0">
              <a:buNone/>
              <a:defRPr sz="907"/>
            </a:lvl3pPr>
            <a:lvl4pPr marL="518602" indent="0">
              <a:buNone/>
              <a:defRPr sz="756"/>
            </a:lvl4pPr>
            <a:lvl5pPr marL="691469" indent="0">
              <a:buNone/>
              <a:defRPr sz="756"/>
            </a:lvl5pPr>
            <a:lvl6pPr marL="864337" indent="0">
              <a:buNone/>
              <a:defRPr sz="756"/>
            </a:lvl6pPr>
            <a:lvl7pPr marL="1037204" indent="0">
              <a:buNone/>
              <a:defRPr sz="756"/>
            </a:lvl7pPr>
            <a:lvl8pPr marL="1210071" indent="0">
              <a:buNone/>
              <a:defRPr sz="756"/>
            </a:lvl8pPr>
            <a:lvl9pPr marL="1382939" indent="0">
              <a:buNone/>
              <a:defRPr sz="75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214E3-8961-2014-12C5-F25A19E18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545" y="1038225"/>
            <a:ext cx="1486877" cy="1923440"/>
          </a:xfrm>
        </p:spPr>
        <p:txBody>
          <a:bodyPr/>
          <a:lstStyle>
            <a:lvl1pPr marL="0" indent="0">
              <a:buNone/>
              <a:defRPr sz="605"/>
            </a:lvl1pPr>
            <a:lvl2pPr marL="172867" indent="0">
              <a:buNone/>
              <a:defRPr sz="529"/>
            </a:lvl2pPr>
            <a:lvl3pPr marL="345735" indent="0">
              <a:buNone/>
              <a:defRPr sz="454"/>
            </a:lvl3pPr>
            <a:lvl4pPr marL="518602" indent="0">
              <a:buNone/>
              <a:defRPr sz="378"/>
            </a:lvl4pPr>
            <a:lvl5pPr marL="691469" indent="0">
              <a:buNone/>
              <a:defRPr sz="378"/>
            </a:lvl5pPr>
            <a:lvl6pPr marL="864337" indent="0">
              <a:buNone/>
              <a:defRPr sz="378"/>
            </a:lvl6pPr>
            <a:lvl7pPr marL="1037204" indent="0">
              <a:buNone/>
              <a:defRPr sz="378"/>
            </a:lvl7pPr>
            <a:lvl8pPr marL="1210071" indent="0">
              <a:buNone/>
              <a:defRPr sz="378"/>
            </a:lvl8pPr>
            <a:lvl9pPr marL="1382939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BC6EE-325D-CD06-743A-1CC44FEC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3FD1C-A9C8-446B-7FE9-9B347B30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3C3BD-671C-5FE1-21DA-03ACF5B9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411483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C40B3-6D2C-0827-DFB7-52761C0F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D952-8232-09F9-07C3-E8EB6E3EC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52838-DA8F-4808-11EE-8F6E1DE9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C22CF-1CB6-2D00-2EF4-B3489E3A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5733D-E497-0F06-D637-8B8C1329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124519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EACB7-84AD-6AC7-2D2C-36465B977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299103" y="184253"/>
            <a:ext cx="994053" cy="2932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29432-6100-3E0A-7B6A-75214AAAC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16944" y="184253"/>
            <a:ext cx="2924532" cy="2932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5F31B-0436-E0E2-6995-F715A788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E7003-1608-396F-A7E6-57F27C49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4D004-957B-0308-BF89-91F16982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05608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344172-9C26-3389-9F0E-F7A92F1A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45" y="184253"/>
            <a:ext cx="3976211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9FBDF-8D3E-AFC6-1FAE-FABEA61D8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945" y="921265"/>
            <a:ext cx="3976211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B0B3F-79E8-EF6A-4792-FF309CEE8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944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0B479-A630-57A7-BB94-F1FEE26E0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7096" y="3207603"/>
            <a:ext cx="155590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BEC80-9190-B3C5-E461-AD5D19225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55883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5" smtClean="0"/>
              <a:t>‹#›</a:t>
            </a:fld>
            <a:r>
              <a:rPr lang="en-IN" spc="-55"/>
              <a:t> </a:t>
            </a:r>
            <a:r>
              <a:rPr lang="en-IN" spc="-10"/>
              <a:t>/</a:t>
            </a:r>
            <a:r>
              <a:rPr lang="en-IN" spc="-55"/>
              <a:t> </a:t>
            </a:r>
            <a:r>
              <a:rPr lang="en-IN" spc="-35"/>
              <a:t>40</a:t>
            </a:r>
            <a:endParaRPr lang="en-IN" spc="-35" dirty="0"/>
          </a:p>
        </p:txBody>
      </p:sp>
    </p:spTree>
    <p:extLst>
      <p:ext uri="{BB962C8B-B14F-4D97-AF65-F5344CB8AC3E}">
        <p14:creationId xmlns:p14="http://schemas.microsoft.com/office/powerpoint/2010/main" val="239638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345735" rtl="0" eaLnBrk="1" latinLnBrk="0" hangingPunct="1">
        <a:lnSpc>
          <a:spcPct val="90000"/>
        </a:lnSpc>
        <a:spcBef>
          <a:spcPct val="0"/>
        </a:spcBef>
        <a:buNone/>
        <a:defRPr sz="16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34" indent="-86434" algn="l" defTabSz="34573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059" kern="1200">
          <a:solidFill>
            <a:schemeClr val="tx1"/>
          </a:solidFill>
          <a:latin typeface="+mn-lt"/>
          <a:ea typeface="+mn-ea"/>
          <a:cs typeface="+mn-cs"/>
        </a:defRPr>
      </a:lvl1pPr>
      <a:lvl2pPr marL="259301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3216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605036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77903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950770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12363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96505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69372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286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45735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18602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69146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6433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37204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10071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38293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6850" y="1196975"/>
            <a:ext cx="14725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19208C"/>
                </a:solidFill>
                <a:latin typeface="Arial"/>
                <a:cs typeface="Arial"/>
              </a:rPr>
              <a:t>Neural</a:t>
            </a:r>
            <a:r>
              <a:rPr sz="1400" b="1" spc="26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9208C"/>
                </a:solidFill>
                <a:latin typeface="Arial"/>
                <a:cs typeface="Arial"/>
              </a:rPr>
              <a:t>Networks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5468" y="1483828"/>
            <a:ext cx="2038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0" spc="-175" dirty="0">
                <a:solidFill>
                  <a:srgbClr val="000000"/>
                </a:solidFill>
                <a:latin typeface="Arial MT"/>
                <a:cs typeface="Arial MT"/>
              </a:rPr>
              <a:t>Backpropagation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40" dirty="0"/>
              <a:t>MLP</a:t>
            </a:r>
            <a:r>
              <a:rPr spc="215" dirty="0"/>
              <a:t> </a:t>
            </a:r>
            <a:r>
              <a:rPr dirty="0" err="1"/>
              <a:t>Architectur</a:t>
            </a:r>
            <a:r>
              <a:rPr lang="en-IN" dirty="0"/>
              <a:t>e</a:t>
            </a:r>
            <a:r>
              <a:rPr lang="en-IN" spc="225" dirty="0"/>
              <a:t> 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444" y="908073"/>
            <a:ext cx="4066540" cy="17062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65" dirty="0">
                <a:latin typeface="Arial MT"/>
                <a:cs typeface="Arial MT"/>
              </a:rPr>
              <a:t>Consider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MLP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with:</a:t>
            </a:r>
            <a:endParaRPr sz="1100">
              <a:latin typeface="Arial MT"/>
              <a:cs typeface="Arial MT"/>
            </a:endParaRPr>
          </a:p>
          <a:p>
            <a:pPr marL="313690" indent="-173355">
              <a:lnSpc>
                <a:spcPct val="100000"/>
              </a:lnSpc>
              <a:spcBef>
                <a:spcPts val="334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65" dirty="0">
                <a:latin typeface="Arial MT"/>
                <a:cs typeface="Arial MT"/>
              </a:rPr>
              <a:t>One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input: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313690" indent="-173355">
              <a:lnSpc>
                <a:spcPct val="100000"/>
              </a:lnSpc>
              <a:spcBef>
                <a:spcPts val="330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40" dirty="0">
                <a:latin typeface="Arial MT"/>
                <a:cs typeface="Arial MT"/>
              </a:rPr>
              <a:t>Two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127" baseline="-10416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45" dirty="0">
                <a:latin typeface="Arial MT"/>
                <a:cs typeface="Arial MT"/>
              </a:rPr>
              <a:t>Weights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biases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200" spc="-30" baseline="-10416" dirty="0">
                <a:latin typeface="Trebuchet MS"/>
                <a:cs typeface="Trebuchet MS"/>
              </a:rPr>
              <a:t>1</a:t>
            </a:r>
            <a:r>
              <a:rPr sz="1200" i="1" spc="-30" baseline="-10416" dirty="0">
                <a:latin typeface="Sitka Text"/>
                <a:cs typeface="Sitka Text"/>
              </a:rPr>
              <a:t>,</a:t>
            </a:r>
            <a:r>
              <a:rPr sz="1200" spc="-30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20" dirty="0">
                <a:latin typeface="Arial MT"/>
                <a:cs typeface="Arial MT"/>
              </a:rPr>
              <a:t>Activation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functions</a:t>
            </a:r>
            <a:r>
              <a:rPr sz="1100" dirty="0">
                <a:latin typeface="Arial MT"/>
                <a:cs typeface="Arial MT"/>
              </a:rPr>
              <a:t> for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150" baseline="-10416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f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334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65" dirty="0">
                <a:latin typeface="Arial MT"/>
                <a:cs typeface="Arial MT"/>
              </a:rPr>
              <a:t>One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neuron: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i="1" spc="-295" dirty="0">
                <a:latin typeface="Arial"/>
                <a:cs typeface="Arial"/>
              </a:rPr>
              <a:t>y</a:t>
            </a:r>
            <a:r>
              <a:rPr sz="1100" spc="-295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  <a:p>
            <a:pPr marL="313690" indent="-173355">
              <a:lnSpc>
                <a:spcPct val="100000"/>
              </a:lnSpc>
              <a:spcBef>
                <a:spcPts val="330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45" dirty="0">
                <a:latin typeface="Arial MT"/>
                <a:cs typeface="Arial MT"/>
              </a:rPr>
              <a:t>Weights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bias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neuron: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60" dirty="0">
                <a:latin typeface="Arial MT"/>
                <a:cs typeface="Arial MT"/>
              </a:rPr>
              <a:t>Ground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truth: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3850" y="320214"/>
            <a:ext cx="25914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40" dirty="0">
                <a:solidFill>
                  <a:srgbClr val="19208C"/>
                </a:solidFill>
                <a:latin typeface="Arial"/>
                <a:cs typeface="Arial"/>
              </a:rPr>
              <a:t>MLP</a:t>
            </a:r>
            <a:r>
              <a:rPr sz="1400" b="1" spc="21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9208C"/>
                </a:solidFill>
                <a:latin typeface="Arial"/>
                <a:cs typeface="Arial"/>
              </a:rPr>
              <a:t>Architecture</a:t>
            </a:r>
            <a:r>
              <a:rPr sz="1400" b="1" spc="22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676795"/>
            <a:ext cx="3464503" cy="24187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3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Hidden</a:t>
            </a:r>
            <a:r>
              <a:rPr spc="145" dirty="0"/>
              <a:t> </a:t>
            </a:r>
            <a:r>
              <a:rPr dirty="0"/>
              <a:t>Layer</a:t>
            </a:r>
            <a:r>
              <a:rPr spc="150" dirty="0"/>
              <a:t> </a:t>
            </a:r>
            <a:r>
              <a:rPr dirty="0"/>
              <a:t>and</a:t>
            </a:r>
            <a:r>
              <a:rPr spc="150" dirty="0"/>
              <a:t> </a:t>
            </a:r>
            <a:r>
              <a:rPr spc="45" dirty="0"/>
              <a:t>Output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4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1029130"/>
            <a:ext cx="2997835" cy="1336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outputs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neurons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are:</a:t>
            </a:r>
            <a:endParaRPr sz="1100" dirty="0">
              <a:latin typeface="Arial MT"/>
              <a:cs typeface="Arial MT"/>
            </a:endParaRPr>
          </a:p>
          <a:p>
            <a:pPr marL="143446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17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200" spc="-30" baseline="-10416" dirty="0">
                <a:latin typeface="Trebuchet MS"/>
                <a:cs typeface="Trebuchet MS"/>
              </a:rPr>
              <a:t>1</a:t>
            </a:r>
            <a:r>
              <a:rPr sz="1200" i="1" spc="-30" baseline="-10416" dirty="0">
                <a:latin typeface="Sitka Text"/>
                <a:cs typeface="Sitka Text"/>
              </a:rPr>
              <a:t>,</a:t>
            </a:r>
            <a:r>
              <a:rPr sz="1200" spc="-30" baseline="-10416" dirty="0">
                <a:latin typeface="Trebuchet MS"/>
                <a:cs typeface="Trebuchet MS"/>
              </a:rPr>
              <a:t>1</a:t>
            </a:r>
            <a:r>
              <a:rPr sz="1100" spc="-2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434465" algn="ctr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17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200" spc="-30" baseline="-10416" dirty="0">
                <a:latin typeface="Trebuchet MS"/>
                <a:cs typeface="Trebuchet MS"/>
              </a:rPr>
              <a:t>1</a:t>
            </a:r>
            <a:r>
              <a:rPr sz="1200" i="1" spc="-30" baseline="-10416" dirty="0">
                <a:latin typeface="Sitka Text"/>
                <a:cs typeface="Sitka Text"/>
              </a:rPr>
              <a:t>,</a:t>
            </a:r>
            <a:r>
              <a:rPr sz="1200" spc="-30" baseline="-10416" dirty="0">
                <a:latin typeface="Trebuchet MS"/>
                <a:cs typeface="Trebuchet MS"/>
              </a:rPr>
              <a:t>2</a:t>
            </a:r>
            <a:r>
              <a:rPr sz="1100" spc="-2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130"/>
              </a:spcBef>
            </a:pP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network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is:</a:t>
            </a:r>
            <a:endParaRPr sz="1100" dirty="0">
              <a:latin typeface="Arial MT"/>
              <a:cs typeface="Arial MT"/>
            </a:endParaRPr>
          </a:p>
          <a:p>
            <a:pPr marL="1428115" algn="ctr">
              <a:lnSpc>
                <a:spcPct val="100000"/>
              </a:lnSpc>
              <a:spcBef>
                <a:spcPts val="1130"/>
              </a:spcBef>
            </a:pPr>
            <a:r>
              <a:rPr sz="1100" i="1" spc="-270" dirty="0">
                <a:latin typeface="Arial"/>
                <a:cs typeface="Arial"/>
              </a:rPr>
              <a:t>y</a:t>
            </a:r>
            <a:r>
              <a:rPr sz="1100" spc="-270" dirty="0">
                <a:latin typeface="Tahoma"/>
                <a:cs typeface="Tahoma"/>
              </a:rPr>
              <a:t>ˆ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67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67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50" y="511175"/>
            <a:ext cx="12312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35" dirty="0">
                <a:solidFill>
                  <a:srgbClr val="19208C"/>
                </a:solidFill>
                <a:latin typeface="Arial"/>
                <a:cs typeface="Arial"/>
              </a:rPr>
              <a:t>Loss</a:t>
            </a:r>
            <a:r>
              <a:rPr sz="1400" b="1" spc="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9208C"/>
                </a:solidFill>
                <a:latin typeface="Arial"/>
                <a:cs typeface="Arial"/>
              </a:rPr>
              <a:t>Function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295106"/>
            <a:ext cx="397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loss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function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mean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squared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error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(MSE)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loss: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5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9289" y="1572652"/>
            <a:ext cx="94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8934" y="1666378"/>
            <a:ext cx="869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650" spc="-120" baseline="-37878" dirty="0">
                <a:latin typeface="Arial MT"/>
                <a:cs typeface="Arial MT"/>
              </a:rPr>
              <a:t>2</a:t>
            </a:r>
            <a:r>
              <a:rPr sz="1650" spc="-284" baseline="-37878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i="1" spc="-80" dirty="0">
                <a:latin typeface="Arial"/>
                <a:cs typeface="Arial"/>
              </a:rPr>
              <a:t>y</a:t>
            </a:r>
            <a:r>
              <a:rPr sz="1100" spc="-80" dirty="0">
                <a:latin typeface="Tahoma"/>
                <a:cs typeface="Tahoma"/>
              </a:rPr>
              <a:t>ˆ)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8186" y="164650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Compute</a:t>
            </a:r>
            <a:r>
              <a:rPr spc="175" dirty="0"/>
              <a:t> </a:t>
            </a:r>
            <a:r>
              <a:rPr dirty="0"/>
              <a:t>Gradients</a:t>
            </a:r>
            <a:r>
              <a:rPr spc="175" dirty="0"/>
              <a:t> </a:t>
            </a:r>
            <a:r>
              <a:rPr dirty="0"/>
              <a:t>for</a:t>
            </a:r>
            <a:r>
              <a:rPr spc="180" dirty="0"/>
              <a:t> </a:t>
            </a:r>
            <a:r>
              <a:rPr spc="55" dirty="0"/>
              <a:t>Output</a:t>
            </a:r>
            <a:r>
              <a:rPr spc="175" dirty="0"/>
              <a:t> </a:t>
            </a:r>
            <a:r>
              <a:rPr spc="-10" dirty="0"/>
              <a:t>Layer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6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008188"/>
            <a:ext cx="2536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3600" y="1283155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64627" y="1493494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26527" y="1471928"/>
            <a:ext cx="3060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1619" y="1530031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9843" y="1376894"/>
            <a:ext cx="990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0416" dirty="0">
                <a:latin typeface="Trebuchet MS"/>
                <a:cs typeface="Trebuchet MS"/>
              </a:rPr>
              <a:t>1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3600" y="1659215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4627" y="1869541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26527" y="1847975"/>
            <a:ext cx="3060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81619" y="1906078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9843" y="1752941"/>
            <a:ext cx="990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71357" y="2245588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29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33257" y="2012757"/>
            <a:ext cx="28321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2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243" y="2128988"/>
            <a:ext cx="714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155" dirty="0">
                <a:latin typeface="Arial"/>
                <a:cs typeface="Arial"/>
              </a:rPr>
              <a:t>y</a:t>
            </a:r>
            <a:r>
              <a:rPr sz="1100" spc="-155" dirty="0">
                <a:latin typeface="Tahoma"/>
                <a:cs typeface="Tahoma"/>
              </a:rPr>
              <a:t>ˆ)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Compute</a:t>
            </a:r>
            <a:r>
              <a:rPr spc="190" dirty="0"/>
              <a:t> </a:t>
            </a:r>
            <a:r>
              <a:rPr dirty="0"/>
              <a:t>Gradients</a:t>
            </a:r>
            <a:r>
              <a:rPr spc="190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dirty="0"/>
              <a:t>Hidden</a:t>
            </a:r>
            <a:r>
              <a:rPr spc="190" dirty="0"/>
              <a:t> </a:t>
            </a:r>
            <a:r>
              <a:rPr spc="-20" dirty="0"/>
              <a:t>Layer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7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849895"/>
            <a:ext cx="2532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0" dirty="0">
                <a:latin typeface="Arial MT"/>
                <a:cs typeface="Arial MT"/>
              </a:rPr>
              <a:t> layer: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249" y="1124875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5276" y="1335201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45613" y="129017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3266" y="1276704"/>
            <a:ext cx="609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0961" y="1276704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0479" y="1218601"/>
            <a:ext cx="2282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2628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7176" y="1334413"/>
            <a:ext cx="38989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  <a:p>
            <a:pPr marL="29209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38364" y="1711248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45613" y="166622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3266" y="1652751"/>
            <a:ext cx="609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0961" y="1652751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0479" y="1594648"/>
            <a:ext cx="2118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2628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0264" y="1710460"/>
            <a:ext cx="36703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  <a:p>
            <a:pPr marL="96520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15276" y="208729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45613" y="204227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13266" y="2028798"/>
            <a:ext cx="609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20961" y="2028798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0479" y="1970695"/>
            <a:ext cx="2282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2628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7176" y="2086507"/>
            <a:ext cx="38989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  <a:p>
            <a:pPr marL="29209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38364" y="2463355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00264" y="2462554"/>
            <a:ext cx="367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45613" y="241832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13266" y="2404845"/>
            <a:ext cx="609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20961" y="2404845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50479" y="2346742"/>
            <a:ext cx="2118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2628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29" y="11418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Update</a:t>
            </a:r>
            <a:r>
              <a:rPr spc="285" dirty="0"/>
              <a:t> </a:t>
            </a:r>
            <a:r>
              <a:rPr dirty="0"/>
              <a:t>Parameters</a:t>
            </a:r>
            <a:r>
              <a:rPr spc="285" dirty="0"/>
              <a:t> </a:t>
            </a:r>
            <a:r>
              <a:rPr dirty="0"/>
              <a:t>with</a:t>
            </a:r>
            <a:r>
              <a:rPr spc="285" dirty="0"/>
              <a:t> </a:t>
            </a:r>
            <a:r>
              <a:rPr dirty="0"/>
              <a:t>Gradient</a:t>
            </a:r>
            <a:r>
              <a:rPr spc="285" dirty="0"/>
              <a:t> </a:t>
            </a:r>
            <a:r>
              <a:rPr spc="-10" dirty="0"/>
              <a:t>Descent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8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629" y="543108"/>
            <a:ext cx="4007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 MT"/>
                <a:cs typeface="Arial MT"/>
              </a:rPr>
              <a:t>Update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parameters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gradient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descent</a:t>
            </a:r>
            <a:r>
              <a:rPr sz="1100" dirty="0">
                <a:latin typeface="Arial MT"/>
                <a:cs typeface="Arial MT"/>
              </a:rPr>
              <a:t> with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learning</a:t>
            </a:r>
            <a:r>
              <a:rPr sz="1100" spc="-10" dirty="0">
                <a:latin typeface="Arial MT"/>
                <a:cs typeface="Arial MT"/>
              </a:rPr>
              <a:t> rate </a:t>
            </a:r>
            <a:r>
              <a:rPr sz="1100" i="1" spc="-25" dirty="0">
                <a:latin typeface="Georgia"/>
                <a:cs typeface="Georgia"/>
              </a:rPr>
              <a:t>α</a:t>
            </a:r>
            <a:r>
              <a:rPr sz="1100" spc="-25" dirty="0">
                <a:latin typeface="Arial MT"/>
                <a:cs typeface="Arial MT"/>
              </a:rPr>
              <a:t>: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0974" y="846352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6295" y="788249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3146" y="694523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4173" y="904862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91473" y="883283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7393" y="941386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0974" y="1222399"/>
            <a:ext cx="563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115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397" y="1164296"/>
            <a:ext cx="899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065" algn="l"/>
                <a:tab pos="658495" algn="l"/>
              </a:tabLst>
            </a:pP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8513" y="1070570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81084" y="1280909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68384" y="1259330"/>
            <a:ext cx="178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1216" y="1317433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0974" y="1598446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56295" y="1540343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73146" y="1446617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04173" y="1656956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91473" y="1635377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67393" y="1693493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50974" y="1974506"/>
            <a:ext cx="563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115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79397" y="1916390"/>
            <a:ext cx="899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065" algn="l"/>
                <a:tab pos="658495" algn="l"/>
              </a:tabLst>
            </a:pP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38513" y="1822664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581084" y="2033003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68384" y="2011424"/>
            <a:ext cx="178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21216" y="2069540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50974" y="2350553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56295" y="2292437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3146" y="2198711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604173" y="240905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591473" y="2387471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67393" y="2445587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0974" y="2726599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56295" y="2668484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73146" y="2574758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604173" y="2785097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591473" y="2763518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67393" y="2821633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13063" y="2950805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497442" y="3161144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29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737626" y="3044531"/>
            <a:ext cx="10045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12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52" baseline="-10416" dirty="0">
                <a:latin typeface="Trebuchet MS"/>
                <a:cs typeface="Trebuchet MS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i="1" spc="-20" dirty="0">
                <a:latin typeface="Georgia"/>
                <a:cs typeface="Georgia"/>
              </a:rPr>
              <a:t>α</a:t>
            </a:r>
            <a:r>
              <a:rPr sz="1650" i="1" spc="-30" baseline="-37878" dirty="0">
                <a:latin typeface="Georgia"/>
                <a:cs typeface="Georgia"/>
              </a:rPr>
              <a:t>∂</a:t>
            </a:r>
            <a:r>
              <a:rPr sz="1650" i="1" spc="-30" baseline="-37878" dirty="0">
                <a:latin typeface="Arial"/>
                <a:cs typeface="Arial"/>
              </a:rPr>
              <a:t>b</a:t>
            </a:r>
            <a:r>
              <a:rPr sz="1200" spc="-30" baseline="-62500" dirty="0">
                <a:latin typeface="Trebuchet MS"/>
                <a:cs typeface="Trebuchet MS"/>
              </a:rPr>
              <a:t>2</a:t>
            </a:r>
            <a:endParaRPr sz="1200" baseline="-625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13208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65" dirty="0"/>
              <a:t>We</a:t>
            </a:r>
            <a:r>
              <a:rPr spc="-5" dirty="0"/>
              <a:t> </a:t>
            </a:r>
            <a:r>
              <a:rPr spc="-65" dirty="0"/>
              <a:t>derived</a:t>
            </a:r>
            <a:r>
              <a:rPr dirty="0"/>
              <a:t> the </a:t>
            </a:r>
            <a:r>
              <a:rPr spc="-55" dirty="0"/>
              <a:t>backpropagation</a:t>
            </a:r>
            <a:r>
              <a:rPr dirty="0"/>
              <a:t> </a:t>
            </a:r>
            <a:r>
              <a:rPr spc="-45" dirty="0"/>
              <a:t>mathematics</a:t>
            </a:r>
            <a:r>
              <a:rPr dirty="0"/>
              <a:t> for </a:t>
            </a:r>
            <a:r>
              <a:rPr spc="-40" dirty="0"/>
              <a:t>an</a:t>
            </a:r>
            <a:r>
              <a:rPr dirty="0"/>
              <a:t> MLP with </a:t>
            </a:r>
            <a:r>
              <a:rPr spc="-25" dirty="0"/>
              <a:t>one 	</a:t>
            </a:r>
            <a:r>
              <a:rPr dirty="0"/>
              <a:t>input,</a:t>
            </a:r>
            <a:r>
              <a:rPr spc="-35" dirty="0"/>
              <a:t> </a:t>
            </a:r>
            <a:r>
              <a:rPr dirty="0"/>
              <a:t>two</a:t>
            </a:r>
            <a:r>
              <a:rPr spc="-15" dirty="0"/>
              <a:t> </a:t>
            </a:r>
            <a:r>
              <a:rPr spc="-60" dirty="0"/>
              <a:t>hidden</a:t>
            </a:r>
            <a:r>
              <a:rPr spc="-15" dirty="0"/>
              <a:t> </a:t>
            </a:r>
            <a:r>
              <a:rPr spc="-55" dirty="0"/>
              <a:t>neurons,</a:t>
            </a:r>
            <a:r>
              <a:rPr spc="-20" dirty="0"/>
              <a:t> </a:t>
            </a:r>
            <a:r>
              <a:rPr spc="-55" dirty="0"/>
              <a:t>and</a:t>
            </a:r>
            <a:r>
              <a:rPr spc="-15" dirty="0"/>
              <a:t> </a:t>
            </a:r>
            <a:r>
              <a:rPr spc="-70" dirty="0"/>
              <a:t>one</a:t>
            </a:r>
            <a:r>
              <a:rPr spc="-5" dirty="0"/>
              <a:t> </a:t>
            </a:r>
            <a:r>
              <a:rPr dirty="0"/>
              <a:t>output</a:t>
            </a:r>
            <a:r>
              <a:rPr spc="-15" dirty="0"/>
              <a:t> </a:t>
            </a:r>
            <a:r>
              <a:rPr spc="-10" dirty="0"/>
              <a:t>neuron.</a:t>
            </a:r>
          </a:p>
          <a:p>
            <a:pPr marL="186055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pc="-65" dirty="0"/>
              <a:t>We</a:t>
            </a:r>
            <a:r>
              <a:rPr spc="-10" dirty="0"/>
              <a:t> </a:t>
            </a:r>
            <a:r>
              <a:rPr spc="-50" dirty="0"/>
              <a:t>computed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50" dirty="0"/>
              <a:t>gradients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60" dirty="0"/>
              <a:t>hidden</a:t>
            </a:r>
            <a:r>
              <a:rPr spc="-15" dirty="0"/>
              <a:t> </a:t>
            </a:r>
            <a:r>
              <a:rPr spc="-55" dirty="0"/>
              <a:t>and</a:t>
            </a:r>
            <a:r>
              <a:rPr spc="-15" dirty="0"/>
              <a:t> </a:t>
            </a:r>
            <a:r>
              <a:rPr dirty="0"/>
              <a:t>output</a:t>
            </a:r>
            <a:r>
              <a:rPr spc="-20" dirty="0"/>
              <a:t> </a:t>
            </a:r>
            <a:r>
              <a:rPr spc="-10" dirty="0"/>
              <a:t>layers.</a:t>
            </a:r>
          </a:p>
          <a:p>
            <a:pPr marL="185420" marR="18796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65" dirty="0"/>
              <a:t>We</a:t>
            </a:r>
            <a:r>
              <a:rPr spc="-10" dirty="0"/>
              <a:t> </a:t>
            </a:r>
            <a:r>
              <a:rPr spc="-40" dirty="0"/>
              <a:t>updated</a:t>
            </a:r>
            <a:r>
              <a:rPr spc="-1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65" dirty="0"/>
              <a:t>parameters</a:t>
            </a:r>
            <a:r>
              <a:rPr spc="-5" dirty="0"/>
              <a:t> </a:t>
            </a:r>
            <a:r>
              <a:rPr spc="-60" dirty="0"/>
              <a:t>using</a:t>
            </a:r>
            <a:r>
              <a:rPr spc="-10" dirty="0"/>
              <a:t> </a:t>
            </a:r>
            <a:r>
              <a:rPr spc="-35" dirty="0"/>
              <a:t>gradient</a:t>
            </a:r>
            <a:r>
              <a:rPr spc="-5" dirty="0"/>
              <a:t> </a:t>
            </a:r>
            <a:r>
              <a:rPr spc="-75" dirty="0"/>
              <a:t>descent</a:t>
            </a:r>
            <a:r>
              <a:rPr dirty="0"/>
              <a:t> with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learning 	rate</a:t>
            </a:r>
            <a:r>
              <a:rPr spc="-55" dirty="0"/>
              <a:t> </a:t>
            </a:r>
            <a:r>
              <a:rPr i="1" spc="-25" dirty="0">
                <a:latin typeface="Georgia"/>
                <a:cs typeface="Georgia"/>
              </a:rPr>
              <a:t>α</a:t>
            </a:r>
            <a:r>
              <a:rPr spc="-25" dirty="0"/>
              <a:t>.</a:t>
            </a:r>
          </a:p>
          <a:p>
            <a:pPr marL="185420" marR="5080" indent="-173355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20" dirty="0"/>
              <a:t>Iterate</a:t>
            </a:r>
            <a:r>
              <a:rPr dirty="0"/>
              <a:t> this</a:t>
            </a:r>
            <a:r>
              <a:rPr spc="10" dirty="0"/>
              <a:t> </a:t>
            </a:r>
            <a:r>
              <a:rPr spc="-90" dirty="0"/>
              <a:t>process</a:t>
            </a:r>
            <a:r>
              <a:rPr spc="15" dirty="0"/>
              <a:t> </a:t>
            </a:r>
            <a:r>
              <a:rPr dirty="0"/>
              <a:t>for</a:t>
            </a:r>
            <a:r>
              <a:rPr spc="10" dirty="0"/>
              <a:t> </a:t>
            </a:r>
            <a:r>
              <a:rPr spc="-20" dirty="0"/>
              <a:t>multiple</a:t>
            </a:r>
            <a:r>
              <a:rPr spc="15" dirty="0"/>
              <a:t> </a:t>
            </a:r>
            <a:r>
              <a:rPr spc="-20" dirty="0"/>
              <a:t>training</a:t>
            </a:r>
            <a:r>
              <a:rPr spc="10" dirty="0"/>
              <a:t> </a:t>
            </a:r>
            <a:r>
              <a:rPr spc="-90" dirty="0"/>
              <a:t>examples</a:t>
            </a:r>
            <a:r>
              <a:rPr spc="15" dirty="0"/>
              <a:t> </a:t>
            </a:r>
            <a:r>
              <a:rPr spc="-55" dirty="0"/>
              <a:t>and</a:t>
            </a:r>
            <a:r>
              <a:rPr spc="10" dirty="0"/>
              <a:t> </a:t>
            </a:r>
            <a:r>
              <a:rPr spc="-80" dirty="0"/>
              <a:t>epochs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10" dirty="0"/>
              <a:t>train 	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network.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9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382008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40" dirty="0"/>
              <a:t>MLP</a:t>
            </a:r>
            <a:r>
              <a:rPr spc="215" dirty="0"/>
              <a:t> </a:t>
            </a:r>
            <a:r>
              <a:rPr dirty="0"/>
              <a:t>Architecture</a:t>
            </a:r>
            <a:r>
              <a:rPr spc="225" dirty="0"/>
              <a:t> 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10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444" y="839239"/>
            <a:ext cx="4226560" cy="18783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65" dirty="0">
                <a:latin typeface="Arial MT"/>
                <a:cs typeface="Arial MT"/>
              </a:rPr>
              <a:t>Consider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MLP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with:</a:t>
            </a:r>
            <a:endParaRPr sz="1100">
              <a:latin typeface="Arial MT"/>
              <a:cs typeface="Arial MT"/>
            </a:endParaRPr>
          </a:p>
          <a:p>
            <a:pPr marL="313690" indent="-173355">
              <a:lnSpc>
                <a:spcPct val="100000"/>
              </a:lnSpc>
              <a:spcBef>
                <a:spcPts val="334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40" dirty="0">
                <a:latin typeface="Arial MT"/>
                <a:cs typeface="Arial MT"/>
              </a:rPr>
              <a:t>Two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inputs: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104" baseline="-10416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330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65" dirty="0">
                <a:latin typeface="Arial MT"/>
                <a:cs typeface="Arial MT"/>
              </a:rPr>
              <a:t>One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layer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  <a:p>
            <a:pPr marL="313690" marR="30480" indent="-173355">
              <a:lnSpc>
                <a:spcPct val="114999"/>
              </a:lnSpc>
              <a:spcBef>
                <a:spcPts val="140"/>
              </a:spcBef>
              <a:buClr>
                <a:srgbClr val="6B8DA7"/>
              </a:buClr>
              <a:buFont typeface="Segoe UI Symbol"/>
              <a:buChar char="❑"/>
              <a:tabLst>
                <a:tab pos="314960" algn="l"/>
              </a:tabLst>
            </a:pPr>
            <a:r>
              <a:rPr sz="1100" spc="-45" dirty="0">
                <a:latin typeface="Arial MT"/>
                <a:cs typeface="Arial MT"/>
              </a:rPr>
              <a:t>Weights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biases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Arial"/>
                <a:cs typeface="Arial"/>
              </a:rPr>
              <a:t>w</a:t>
            </a:r>
            <a:r>
              <a:rPr sz="1200" spc="-15" baseline="-10416" dirty="0">
                <a:latin typeface="Trebuchet MS"/>
                <a:cs typeface="Trebuchet MS"/>
              </a:rPr>
              <a:t>2</a:t>
            </a:r>
            <a:r>
              <a:rPr sz="1200" i="1" spc="-15" baseline="-10416" dirty="0">
                <a:latin typeface="Sitka Text"/>
                <a:cs typeface="Sitka Text"/>
              </a:rPr>
              <a:t>,</a:t>
            </a:r>
            <a:r>
              <a:rPr sz="1200" spc="-15" baseline="-10416" dirty="0">
                <a:latin typeface="Trebuchet MS"/>
                <a:cs typeface="Trebuchet MS"/>
              </a:rPr>
              <a:t>2</a:t>
            </a:r>
            <a:r>
              <a:rPr sz="1100" spc="-10" dirty="0">
                <a:latin typeface="Arial MT"/>
                <a:cs typeface="Arial MT"/>
              </a:rPr>
              <a:t>, 	</a:t>
            </a:r>
            <a:r>
              <a:rPr sz="1650" i="1" baseline="7575" dirty="0">
                <a:latin typeface="Arial"/>
                <a:cs typeface="Arial"/>
              </a:rPr>
              <a:t>w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1650" baseline="7575" dirty="0">
                <a:latin typeface="Arial MT"/>
                <a:cs typeface="Arial MT"/>
              </a:rPr>
              <a:t>,</a:t>
            </a:r>
            <a:r>
              <a:rPr sz="1650" spc="30" baseline="7575" dirty="0">
                <a:latin typeface="Arial MT"/>
                <a:cs typeface="Arial MT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b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1650" baseline="7575" dirty="0">
                <a:latin typeface="Arial MT"/>
                <a:cs typeface="Arial MT"/>
              </a:rPr>
              <a:t>,</a:t>
            </a:r>
            <a:r>
              <a:rPr sz="1650" spc="37" baseline="7575" dirty="0">
                <a:latin typeface="Arial MT"/>
                <a:cs typeface="Arial MT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b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1650" baseline="7575" dirty="0">
                <a:latin typeface="Arial MT"/>
                <a:cs typeface="Arial MT"/>
              </a:rPr>
              <a:t>,</a:t>
            </a:r>
            <a:r>
              <a:rPr sz="1650" spc="37" baseline="7575" dirty="0">
                <a:latin typeface="Arial MT"/>
                <a:cs typeface="Arial MT"/>
              </a:rPr>
              <a:t> </a:t>
            </a:r>
            <a:r>
              <a:rPr sz="1650" spc="-82" baseline="7575" dirty="0">
                <a:latin typeface="Arial MT"/>
                <a:cs typeface="Arial MT"/>
              </a:rPr>
              <a:t>and</a:t>
            </a:r>
            <a:r>
              <a:rPr sz="1650" spc="37" baseline="7575" dirty="0">
                <a:latin typeface="Arial MT"/>
                <a:cs typeface="Arial MT"/>
              </a:rPr>
              <a:t> </a:t>
            </a:r>
            <a:r>
              <a:rPr sz="1650" i="1" spc="-30" baseline="7575" dirty="0">
                <a:latin typeface="Arial"/>
                <a:cs typeface="Arial"/>
              </a:rPr>
              <a:t>b</a:t>
            </a:r>
            <a:r>
              <a:rPr sz="800" spc="-20" dirty="0">
                <a:latin typeface="Trebuchet MS"/>
                <a:cs typeface="Trebuchet MS"/>
              </a:rPr>
              <a:t>1</a:t>
            </a:r>
            <a:r>
              <a:rPr sz="800" i="1" spc="-20" dirty="0">
                <a:latin typeface="Sitka Text"/>
                <a:cs typeface="Sitka Text"/>
              </a:rPr>
              <a:t>,</a:t>
            </a:r>
            <a:r>
              <a:rPr sz="800" spc="-20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170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20" dirty="0">
                <a:latin typeface="Arial MT"/>
                <a:cs typeface="Arial MT"/>
              </a:rPr>
              <a:t>Activation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functions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f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330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65" dirty="0">
                <a:latin typeface="Arial MT"/>
                <a:cs typeface="Arial MT"/>
              </a:rPr>
              <a:t>One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neuron: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i="1" spc="-295" dirty="0">
                <a:latin typeface="Arial"/>
                <a:cs typeface="Arial"/>
              </a:rPr>
              <a:t>y</a:t>
            </a:r>
            <a:r>
              <a:rPr sz="1100" spc="-295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  <a:p>
            <a:pPr marL="313690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45" dirty="0">
                <a:latin typeface="Arial MT"/>
                <a:cs typeface="Arial MT"/>
              </a:rPr>
              <a:t>Weights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bias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neuron: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  <a:p>
            <a:pPr marL="313690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spc="-60" dirty="0">
                <a:latin typeface="Arial MT"/>
                <a:cs typeface="Arial MT"/>
              </a:rPr>
              <a:t>Ground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truth: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3850" y="355283"/>
            <a:ext cx="259143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40" dirty="0">
                <a:solidFill>
                  <a:srgbClr val="19208C"/>
                </a:solidFill>
                <a:latin typeface="Arial"/>
                <a:cs typeface="Arial"/>
              </a:rPr>
              <a:t>MLP</a:t>
            </a:r>
            <a:r>
              <a:rPr sz="1400" b="1" spc="21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9208C"/>
                </a:solidFill>
                <a:latin typeface="Arial"/>
                <a:cs typeface="Arial"/>
              </a:rPr>
              <a:t>Architecture</a:t>
            </a:r>
            <a:r>
              <a:rPr sz="1400" b="1" spc="22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751583"/>
            <a:ext cx="3464601" cy="22316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11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Hidden</a:t>
            </a:r>
            <a:r>
              <a:rPr spc="145" dirty="0"/>
              <a:t> </a:t>
            </a:r>
            <a:r>
              <a:rPr dirty="0"/>
              <a:t>Layer</a:t>
            </a:r>
            <a:r>
              <a:rPr spc="150" dirty="0"/>
              <a:t> </a:t>
            </a:r>
            <a:r>
              <a:rPr dirty="0"/>
              <a:t>and</a:t>
            </a:r>
            <a:r>
              <a:rPr spc="150" dirty="0"/>
              <a:t> </a:t>
            </a:r>
            <a:r>
              <a:rPr spc="45" dirty="0"/>
              <a:t>Output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12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044" y="945120"/>
            <a:ext cx="3280410" cy="154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outputs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neurons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are:</a:t>
            </a:r>
            <a:endParaRPr sz="1100">
              <a:latin typeface="Arial MT"/>
              <a:cs typeface="Arial MT"/>
            </a:endParaRPr>
          </a:p>
          <a:p>
            <a:pPr marL="1325880" marR="140970" algn="just">
              <a:lnSpc>
                <a:spcPct val="125299"/>
              </a:lnSpc>
              <a:spcBef>
                <a:spcPts val="960"/>
              </a:spcBef>
            </a:pPr>
            <a:r>
              <a:rPr sz="1650" i="1" baseline="7575" dirty="0">
                <a:latin typeface="Arial"/>
                <a:cs typeface="Arial"/>
              </a:rPr>
              <a:t>h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60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=</a:t>
            </a:r>
            <a:r>
              <a:rPr sz="1650" spc="-67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f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1650" baseline="7575" dirty="0">
                <a:latin typeface="Tahoma"/>
                <a:cs typeface="Tahoma"/>
              </a:rPr>
              <a:t>(</a:t>
            </a:r>
            <a:r>
              <a:rPr sz="1650" i="1" baseline="7575" dirty="0">
                <a:latin typeface="Arial"/>
                <a:cs typeface="Arial"/>
              </a:rPr>
              <a:t>w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1650" i="1" baseline="7575" dirty="0">
                <a:latin typeface="Arial"/>
                <a:cs typeface="Arial"/>
              </a:rPr>
              <a:t>x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45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135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w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1650" i="1" baseline="7575" dirty="0">
                <a:latin typeface="Arial"/>
                <a:cs typeface="Arial"/>
              </a:rPr>
              <a:t>x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45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127" baseline="7575" dirty="0">
                <a:latin typeface="Tahoma"/>
                <a:cs typeface="Tahoma"/>
              </a:rPr>
              <a:t> 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1650" spc="-15" baseline="7575" dirty="0">
                <a:latin typeface="Tahoma"/>
                <a:cs typeface="Tahoma"/>
              </a:rPr>
              <a:t>) </a:t>
            </a:r>
            <a:r>
              <a:rPr sz="1650" i="1" baseline="7575" dirty="0">
                <a:latin typeface="Arial"/>
                <a:cs typeface="Arial"/>
              </a:rPr>
              <a:t>h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60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=</a:t>
            </a:r>
            <a:r>
              <a:rPr sz="1650" spc="-67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f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1650" baseline="7575" dirty="0">
                <a:latin typeface="Tahoma"/>
                <a:cs typeface="Tahoma"/>
              </a:rPr>
              <a:t>(</a:t>
            </a:r>
            <a:r>
              <a:rPr sz="1650" i="1" baseline="7575" dirty="0">
                <a:latin typeface="Arial"/>
                <a:cs typeface="Arial"/>
              </a:rPr>
              <a:t>w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1650" i="1" baseline="7575" dirty="0">
                <a:latin typeface="Arial"/>
                <a:cs typeface="Arial"/>
              </a:rPr>
              <a:t>x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45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135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w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1650" i="1" baseline="7575" dirty="0">
                <a:latin typeface="Arial"/>
                <a:cs typeface="Arial"/>
              </a:rPr>
              <a:t>x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45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127" baseline="7575" dirty="0">
                <a:latin typeface="Tahoma"/>
                <a:cs typeface="Tahoma"/>
              </a:rPr>
              <a:t> 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2</a:t>
            </a:r>
            <a:r>
              <a:rPr sz="1650" spc="-15" baseline="7575" dirty="0">
                <a:latin typeface="Tahoma"/>
                <a:cs typeface="Tahoma"/>
              </a:rPr>
              <a:t>) </a:t>
            </a:r>
            <a:r>
              <a:rPr sz="1650" i="1" baseline="7575" dirty="0">
                <a:latin typeface="Arial"/>
                <a:cs typeface="Arial"/>
              </a:rPr>
              <a:t>h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800" spc="95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=</a:t>
            </a:r>
            <a:r>
              <a:rPr sz="1650" spc="-67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f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1650" baseline="7575" dirty="0">
                <a:latin typeface="Tahoma"/>
                <a:cs typeface="Tahoma"/>
              </a:rPr>
              <a:t>(</a:t>
            </a:r>
            <a:r>
              <a:rPr sz="1650" i="1" baseline="7575" dirty="0">
                <a:latin typeface="Arial"/>
                <a:cs typeface="Arial"/>
              </a:rPr>
              <a:t>w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1650" i="1" baseline="7575" dirty="0">
                <a:latin typeface="Arial"/>
                <a:cs typeface="Arial"/>
              </a:rPr>
              <a:t>x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45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157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w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1650" i="1" baseline="7575" dirty="0">
                <a:latin typeface="Arial"/>
                <a:cs typeface="Arial"/>
              </a:rPr>
              <a:t>x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45" dirty="0">
                <a:latin typeface="Trebuchet MS"/>
                <a:cs typeface="Trebuchet MS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157" baseline="7575" dirty="0">
                <a:latin typeface="Tahoma"/>
                <a:cs typeface="Tahoma"/>
              </a:rPr>
              <a:t> 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3</a:t>
            </a:r>
            <a:r>
              <a:rPr sz="1650" spc="-15" baseline="7575" dirty="0">
                <a:latin typeface="Tahoma"/>
                <a:cs typeface="Tahoma"/>
              </a:rPr>
              <a:t>)</a:t>
            </a:r>
            <a:endParaRPr sz="1650" baseline="7575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</a:pP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network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is:</a:t>
            </a:r>
            <a:endParaRPr sz="1100">
              <a:latin typeface="Arial MT"/>
              <a:cs typeface="Arial MT"/>
            </a:endParaRPr>
          </a:p>
          <a:p>
            <a:pPr marL="1221740">
              <a:lnSpc>
                <a:spcPct val="100000"/>
              </a:lnSpc>
              <a:spcBef>
                <a:spcPts val="1130"/>
              </a:spcBef>
            </a:pPr>
            <a:r>
              <a:rPr sz="1100" i="1" spc="-270" dirty="0">
                <a:latin typeface="Arial"/>
                <a:cs typeface="Arial"/>
              </a:rPr>
              <a:t>y</a:t>
            </a:r>
            <a:r>
              <a:rPr sz="1100" spc="-270" dirty="0">
                <a:latin typeface="Tahoma"/>
                <a:cs typeface="Tahoma"/>
              </a:rPr>
              <a:t>ˆ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982" y="434975"/>
            <a:ext cx="12312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35" dirty="0">
                <a:solidFill>
                  <a:srgbClr val="19208C"/>
                </a:solidFill>
                <a:latin typeface="Arial"/>
                <a:cs typeface="Arial"/>
              </a:rPr>
              <a:t>Loss</a:t>
            </a:r>
            <a:r>
              <a:rPr sz="1400" b="1" spc="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9208C"/>
                </a:solidFill>
                <a:latin typeface="Arial"/>
                <a:cs typeface="Arial"/>
              </a:rPr>
              <a:t>Function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295106"/>
            <a:ext cx="397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loss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function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mean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squared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error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(MSE)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loss: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13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9289" y="1572652"/>
            <a:ext cx="94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8934" y="1666378"/>
            <a:ext cx="869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650" spc="-120" baseline="-37878" dirty="0">
                <a:latin typeface="Arial MT"/>
                <a:cs typeface="Arial MT"/>
              </a:rPr>
              <a:t>2</a:t>
            </a:r>
            <a:r>
              <a:rPr sz="1650" spc="-284" baseline="-37878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i="1" spc="-80" dirty="0">
                <a:latin typeface="Arial"/>
                <a:cs typeface="Arial"/>
              </a:rPr>
              <a:t>y</a:t>
            </a:r>
            <a:r>
              <a:rPr sz="1100" spc="-80" dirty="0">
                <a:latin typeface="Tahoma"/>
                <a:cs typeface="Tahoma"/>
              </a:rPr>
              <a:t>ˆ)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8186" y="164650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Compute</a:t>
            </a:r>
            <a:r>
              <a:rPr spc="175" dirty="0"/>
              <a:t> </a:t>
            </a:r>
            <a:r>
              <a:rPr dirty="0"/>
              <a:t>Gradients</a:t>
            </a:r>
            <a:r>
              <a:rPr spc="175" dirty="0"/>
              <a:t> </a:t>
            </a:r>
            <a:r>
              <a:rPr dirty="0"/>
              <a:t>for</a:t>
            </a:r>
            <a:r>
              <a:rPr spc="180" dirty="0"/>
              <a:t> </a:t>
            </a:r>
            <a:r>
              <a:rPr spc="55" dirty="0"/>
              <a:t>Output</a:t>
            </a:r>
            <a:r>
              <a:rPr spc="175" dirty="0"/>
              <a:t> </a:t>
            </a:r>
            <a:r>
              <a:rPr spc="-10" dirty="0"/>
              <a:t>Layer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14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857769"/>
            <a:ext cx="2536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3600" y="1132737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64627" y="134307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26527" y="1321510"/>
            <a:ext cx="3060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1619" y="1379612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9843" y="1226475"/>
            <a:ext cx="990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0416" dirty="0">
                <a:latin typeface="Trebuchet MS"/>
                <a:cs typeface="Trebuchet MS"/>
              </a:rPr>
              <a:t>1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3600" y="1508796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4627" y="1719122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26527" y="1697557"/>
            <a:ext cx="3060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81619" y="1755659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9843" y="1602522"/>
            <a:ext cx="990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0416" dirty="0">
                <a:latin typeface="Trebuchet MS"/>
                <a:cs typeface="Trebuchet MS"/>
              </a:rPr>
              <a:t>2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3600" y="1884843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64627" y="2095169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26527" y="2073604"/>
            <a:ext cx="3060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81619" y="2131706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99843" y="1978569"/>
            <a:ext cx="990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71357" y="2471216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29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33257" y="2238385"/>
            <a:ext cx="28321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265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3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5243" y="2354616"/>
            <a:ext cx="714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155" dirty="0">
                <a:latin typeface="Arial"/>
                <a:cs typeface="Arial"/>
              </a:rPr>
              <a:t>y</a:t>
            </a:r>
            <a:r>
              <a:rPr sz="1100" spc="-155" dirty="0">
                <a:latin typeface="Tahoma"/>
                <a:cs typeface="Tahoma"/>
              </a:rPr>
              <a:t>ˆ)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Compute</a:t>
            </a:r>
            <a:r>
              <a:rPr spc="190" dirty="0"/>
              <a:t> </a:t>
            </a:r>
            <a:r>
              <a:rPr dirty="0"/>
              <a:t>Gradients</a:t>
            </a:r>
            <a:r>
              <a:rPr spc="190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dirty="0"/>
              <a:t>Hidden</a:t>
            </a:r>
            <a:r>
              <a:rPr spc="190" dirty="0"/>
              <a:t> </a:t>
            </a:r>
            <a:r>
              <a:rPr spc="-20" dirty="0"/>
              <a:t>Layer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15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849895"/>
            <a:ext cx="2532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0" dirty="0">
                <a:latin typeface="Arial MT"/>
                <a:cs typeface="Arial MT"/>
              </a:rPr>
              <a:t> layer: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1016" y="1124875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043" y="1335201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32380" y="129017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4547" y="1218601"/>
            <a:ext cx="2874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577975" algn="l"/>
                <a:tab pos="2109470" algn="l"/>
                <a:tab pos="26181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0034" y="1276704"/>
            <a:ext cx="1927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  <a:tab pos="1860550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943" y="1334413"/>
            <a:ext cx="38989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  <a:p>
            <a:pPr marL="5715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2043" y="1711248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32380" y="166622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7247" y="1594648"/>
            <a:ext cx="2861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96770" algn="l"/>
                <a:tab pos="26054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0034" y="1652751"/>
            <a:ext cx="1927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  <a:tab pos="1860550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943" y="1710460"/>
            <a:ext cx="38989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2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  <a:p>
            <a:pPr marL="5715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2043" y="208729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32380" y="204227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7247" y="1970695"/>
            <a:ext cx="2861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96770" algn="l"/>
                <a:tab pos="26054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00034" y="2028798"/>
            <a:ext cx="1927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  <a:tab pos="1860550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3943" y="2086507"/>
            <a:ext cx="38989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  <a:p>
            <a:pPr marL="5715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2043" y="246335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3943" y="2462554"/>
            <a:ext cx="3898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2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32380" y="241832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7247" y="2346742"/>
            <a:ext cx="2861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96770" algn="l"/>
                <a:tab pos="26054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00034" y="2404845"/>
            <a:ext cx="1927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  <a:tab pos="1860550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Compute</a:t>
            </a:r>
            <a:r>
              <a:rPr spc="190" dirty="0"/>
              <a:t> </a:t>
            </a:r>
            <a:r>
              <a:rPr dirty="0"/>
              <a:t>Gradients</a:t>
            </a:r>
            <a:r>
              <a:rPr spc="190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dirty="0"/>
              <a:t>Hidden</a:t>
            </a:r>
            <a:r>
              <a:rPr spc="190" dirty="0"/>
              <a:t> </a:t>
            </a:r>
            <a:r>
              <a:rPr spc="-20" dirty="0"/>
              <a:t>Layer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16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696403"/>
            <a:ext cx="3242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layer</a:t>
            </a:r>
            <a:r>
              <a:rPr sz="1100" spc="-10" dirty="0">
                <a:latin typeface="Arial MT"/>
                <a:cs typeface="Arial MT"/>
              </a:rPr>
              <a:t> (continued):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1016" y="979067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043" y="118940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32380" y="114437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4547" y="1072793"/>
            <a:ext cx="2874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577975" algn="l"/>
                <a:tab pos="2109470" algn="l"/>
                <a:tab pos="26181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0034" y="1130908"/>
            <a:ext cx="1927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  <a:tab pos="1860550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943" y="1188617"/>
            <a:ext cx="38989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  <a:p>
            <a:pPr marL="5715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2043" y="1565452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32380" y="152041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7247" y="1448840"/>
            <a:ext cx="2861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96770" algn="l"/>
                <a:tab pos="26054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0034" y="1506955"/>
            <a:ext cx="1927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  <a:tab pos="1860550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943" y="1564664"/>
            <a:ext cx="38989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w</a:t>
            </a:r>
            <a:r>
              <a:rPr sz="800" spc="-10" dirty="0">
                <a:latin typeface="Trebuchet MS"/>
                <a:cs typeface="Trebuchet MS"/>
              </a:rPr>
              <a:t>2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  <a:p>
            <a:pPr marL="29209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5131" y="1941499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32380" y="189646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0034" y="1883002"/>
            <a:ext cx="16497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1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7247" y="1824887"/>
            <a:ext cx="2698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96770" algn="l"/>
                <a:tab pos="26054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7031" y="1940711"/>
            <a:ext cx="36703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  <a:p>
            <a:pPr marL="5715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5131" y="2317546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32380" y="227251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00034" y="2259049"/>
            <a:ext cx="16497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2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7247" y="2200934"/>
            <a:ext cx="2698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96770" algn="l"/>
                <a:tab pos="26054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7031" y="2316758"/>
            <a:ext cx="367030" cy="358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15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  <a:p>
            <a:pPr marL="5715" algn="ctr">
              <a:lnSpc>
                <a:spcPts val="1315"/>
              </a:lnSpc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5131" y="2693593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87031" y="2692805"/>
            <a:ext cx="367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7575" dirty="0">
                <a:latin typeface="Georgia"/>
                <a:cs typeface="Georgia"/>
              </a:rPr>
              <a:t>∂</a:t>
            </a:r>
            <a:r>
              <a:rPr sz="1650" i="1" spc="-15" baseline="7575" dirty="0">
                <a:latin typeface="Arial"/>
                <a:cs typeface="Arial"/>
              </a:rPr>
              <a:t>b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i="1" spc="-10" dirty="0">
                <a:latin typeface="Sitka Text"/>
                <a:cs typeface="Sitka Text"/>
              </a:rPr>
              <a:t>,</a:t>
            </a:r>
            <a:r>
              <a:rPr sz="800" spc="-10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32380" y="264855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00034" y="2635096"/>
            <a:ext cx="16497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9105" algn="l"/>
                <a:tab pos="990600" algn="l"/>
                <a:tab pos="1499235" algn="l"/>
              </a:tabLst>
            </a:pP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1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2</a:t>
            </a:r>
            <a:r>
              <a:rPr sz="800" i="1" dirty="0">
                <a:latin typeface="Sitka Text"/>
                <a:cs typeface="Sitka Text"/>
              </a:rPr>
              <a:t>,</a:t>
            </a:r>
            <a:r>
              <a:rPr sz="800" dirty="0">
                <a:latin typeface="Trebuchet MS"/>
                <a:cs typeface="Trebuchet MS"/>
              </a:rPr>
              <a:t>3</a:t>
            </a:r>
            <a:r>
              <a:rPr sz="800" spc="290" dirty="0">
                <a:latin typeface="Trebuchet MS"/>
                <a:cs typeface="Trebuchet MS"/>
              </a:rPr>
              <a:t> </a:t>
            </a:r>
            <a:r>
              <a:rPr sz="800" spc="-50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7247" y="2576981"/>
            <a:ext cx="2698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65275" algn="l"/>
                <a:tab pos="2096770" algn="l"/>
                <a:tab pos="2605405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90" dirty="0">
                <a:latin typeface="Arial"/>
                <a:cs typeface="Arial"/>
              </a:rPr>
              <a:t>y</a:t>
            </a:r>
            <a:r>
              <a:rPr sz="1100" spc="-190" dirty="0">
                <a:latin typeface="Tahoma"/>
                <a:cs typeface="Tahoma"/>
              </a:rPr>
              <a:t>ˆ)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352" baseline="-10416" dirty="0">
                <a:latin typeface="Trebuchet MS"/>
                <a:cs typeface="Trebuchet MS"/>
              </a:rPr>
              <a:t> 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′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x</a:t>
            </a:r>
            <a:r>
              <a:rPr sz="1100" i="1" spc="3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20" y="50997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Update</a:t>
            </a:r>
            <a:r>
              <a:rPr spc="285" dirty="0"/>
              <a:t> </a:t>
            </a:r>
            <a:r>
              <a:rPr dirty="0"/>
              <a:t>Parameters</a:t>
            </a:r>
            <a:r>
              <a:rPr spc="285" dirty="0"/>
              <a:t> </a:t>
            </a:r>
            <a:r>
              <a:rPr dirty="0"/>
              <a:t>with</a:t>
            </a:r>
            <a:r>
              <a:rPr spc="285" dirty="0"/>
              <a:t> </a:t>
            </a:r>
            <a:r>
              <a:rPr dirty="0"/>
              <a:t>Gradient</a:t>
            </a:r>
            <a:r>
              <a:rPr spc="285" dirty="0"/>
              <a:t> </a:t>
            </a:r>
            <a:r>
              <a:rPr spc="-10" dirty="0"/>
              <a:t>Descent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17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549058"/>
            <a:ext cx="4007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 MT"/>
                <a:cs typeface="Arial MT"/>
              </a:rPr>
              <a:t>Update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parameters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gradient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descent</a:t>
            </a:r>
            <a:r>
              <a:rPr sz="1100" dirty="0">
                <a:latin typeface="Arial MT"/>
                <a:cs typeface="Arial MT"/>
              </a:rPr>
              <a:t> with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learning</a:t>
            </a:r>
            <a:r>
              <a:rPr sz="1100" spc="-10" dirty="0">
                <a:latin typeface="Arial MT"/>
                <a:cs typeface="Arial MT"/>
              </a:rPr>
              <a:t> rate </a:t>
            </a:r>
            <a:r>
              <a:rPr sz="1100" i="1" spc="-25" dirty="0">
                <a:latin typeface="Georgia"/>
                <a:cs typeface="Georgia"/>
              </a:rPr>
              <a:t>α</a:t>
            </a:r>
            <a:r>
              <a:rPr sz="1100" spc="-25" dirty="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0974" y="975866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6295" y="917764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3146" y="824038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4173" y="1034364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91473" y="1012798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7393" y="1070901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0974" y="1351913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6295" y="1293811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3146" y="1200085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04173" y="1410411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91473" y="1388845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67393" y="1446947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0974" y="1727960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56295" y="1669858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73146" y="1576132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04173" y="1786458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91473" y="1764892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67393" y="1822994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50974" y="2104007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56295" y="2045905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73146" y="1952179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04173" y="216250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91473" y="2140939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67393" y="2199041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50974" y="2480054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56295" y="2421952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3146" y="2328226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604173" y="2538565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591473" y="2516986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67393" y="2575088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0974" y="2856101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56295" y="2797999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73146" y="2704273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604173" y="2914612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591473" y="2893033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67393" y="2951135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47" y="-23363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Update</a:t>
            </a:r>
            <a:r>
              <a:rPr spc="285" dirty="0"/>
              <a:t> </a:t>
            </a:r>
            <a:r>
              <a:rPr dirty="0"/>
              <a:t>Parameters</a:t>
            </a:r>
            <a:r>
              <a:rPr spc="285" dirty="0"/>
              <a:t> </a:t>
            </a:r>
            <a:r>
              <a:rPr dirty="0"/>
              <a:t>with</a:t>
            </a:r>
            <a:r>
              <a:rPr spc="285" dirty="0"/>
              <a:t> </a:t>
            </a:r>
            <a:r>
              <a:rPr dirty="0"/>
              <a:t>Gradient</a:t>
            </a:r>
            <a:r>
              <a:rPr spc="285" dirty="0"/>
              <a:t> </a:t>
            </a:r>
            <a:r>
              <a:rPr spc="-10" dirty="0"/>
              <a:t>Descent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18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495463"/>
            <a:ext cx="4007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Arial MT"/>
                <a:cs typeface="Arial MT"/>
              </a:rPr>
              <a:t>Update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parameters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gradient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descent</a:t>
            </a:r>
            <a:r>
              <a:rPr sz="1100" dirty="0">
                <a:latin typeface="Arial MT"/>
                <a:cs typeface="Arial MT"/>
              </a:rPr>
              <a:t> with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learning</a:t>
            </a:r>
            <a:r>
              <a:rPr sz="1100" spc="-10" dirty="0">
                <a:latin typeface="Arial MT"/>
                <a:cs typeface="Arial MT"/>
              </a:rPr>
              <a:t> rate </a:t>
            </a:r>
            <a:r>
              <a:rPr sz="1100" i="1" spc="-25" dirty="0">
                <a:latin typeface="Georgia"/>
                <a:cs typeface="Georgia"/>
              </a:rPr>
              <a:t>α</a:t>
            </a:r>
            <a:r>
              <a:rPr sz="1100" spc="-25" dirty="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0974" y="846352"/>
            <a:ext cx="563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115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397" y="788249"/>
            <a:ext cx="899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065" algn="l"/>
                <a:tab pos="658495" algn="l"/>
              </a:tabLst>
            </a:pP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8513" y="694523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81084" y="904862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68384" y="883283"/>
            <a:ext cx="178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1216" y="941386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0974" y="1222399"/>
            <a:ext cx="563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115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397" y="1164296"/>
            <a:ext cx="899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065" algn="l"/>
                <a:tab pos="658495" algn="l"/>
              </a:tabLst>
            </a:pP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8513" y="1070570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81084" y="1280909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68384" y="1259330"/>
            <a:ext cx="178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1216" y="1317433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0974" y="1598446"/>
            <a:ext cx="563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115" algn="l"/>
              </a:tabLst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397" y="1540343"/>
            <a:ext cx="899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065" algn="l"/>
                <a:tab pos="658495" algn="l"/>
              </a:tabLst>
            </a:pP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38513" y="1446617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81084" y="1656956"/>
            <a:ext cx="297180" cy="0"/>
          </a:xfrm>
          <a:custGeom>
            <a:avLst/>
            <a:gdLst/>
            <a:ahLst/>
            <a:cxnLst/>
            <a:rect l="l" t="t" r="r" b="b"/>
            <a:pathLst>
              <a:path w="297180">
                <a:moveTo>
                  <a:pt x="0" y="0"/>
                </a:moveTo>
                <a:lnTo>
                  <a:pt x="296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68384" y="1635377"/>
            <a:ext cx="178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21216" y="1693493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50974" y="1974506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56295" y="1916390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73146" y="1822664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04173" y="2033003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591473" y="2011424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67393" y="2069540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50974" y="2350553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56295" y="2292437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3146" y="2198711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604173" y="240905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591473" y="2387471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67393" y="2445587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0974" y="2726599"/>
            <a:ext cx="586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</a:tabLst>
            </a:pP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dirty="0">
                <a:latin typeface="Trebuchet MS"/>
                <a:cs typeface="Trebuchet MS"/>
              </a:rPr>
              <a:t>	</a:t>
            </a: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56295" y="2668484"/>
            <a:ext cx="944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  <a:tab pos="704850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α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73146" y="2574758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604173" y="2785097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64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591473" y="2763518"/>
            <a:ext cx="201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67393" y="2821633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Trebuchet MS"/>
                <a:cs typeface="Trebuchet MS"/>
              </a:rPr>
              <a:t>3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spc="-25" dirty="0"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13063" y="2950805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497442" y="3161144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29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737626" y="3044531"/>
            <a:ext cx="10045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12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rebuchet MS"/>
                <a:cs typeface="Trebuchet MS"/>
              </a:rPr>
              <a:t>3</a:t>
            </a:r>
            <a:r>
              <a:rPr sz="1200" spc="52" baseline="-10416" dirty="0">
                <a:latin typeface="Trebuchet MS"/>
                <a:cs typeface="Trebuchet MS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i="1" spc="-20" dirty="0">
                <a:latin typeface="Georgia"/>
                <a:cs typeface="Georgia"/>
              </a:rPr>
              <a:t>α</a:t>
            </a:r>
            <a:r>
              <a:rPr sz="1650" i="1" spc="-30" baseline="-37878" dirty="0">
                <a:latin typeface="Georgia"/>
                <a:cs typeface="Georgia"/>
              </a:rPr>
              <a:t>∂</a:t>
            </a:r>
            <a:r>
              <a:rPr sz="1650" i="1" spc="-30" baseline="-37878" dirty="0">
                <a:latin typeface="Arial"/>
                <a:cs typeface="Arial"/>
              </a:rPr>
              <a:t>b</a:t>
            </a:r>
            <a:r>
              <a:rPr sz="1200" spc="-30" baseline="-62500" dirty="0">
                <a:latin typeface="Trebuchet MS"/>
                <a:cs typeface="Trebuchet MS"/>
              </a:rPr>
              <a:t>3</a:t>
            </a:r>
            <a:endParaRPr sz="1200" baseline="-625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264160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65" dirty="0"/>
              <a:t>We</a:t>
            </a:r>
            <a:r>
              <a:rPr spc="-5" dirty="0"/>
              <a:t> </a:t>
            </a:r>
            <a:r>
              <a:rPr spc="-65" dirty="0"/>
              <a:t>derived</a:t>
            </a:r>
            <a:r>
              <a:rPr dirty="0"/>
              <a:t> the </a:t>
            </a:r>
            <a:r>
              <a:rPr spc="-55" dirty="0"/>
              <a:t>backpropagation</a:t>
            </a:r>
            <a:r>
              <a:rPr dirty="0"/>
              <a:t> </a:t>
            </a:r>
            <a:r>
              <a:rPr spc="-45" dirty="0"/>
              <a:t>mathematics</a:t>
            </a:r>
            <a:r>
              <a:rPr dirty="0"/>
              <a:t> for </a:t>
            </a:r>
            <a:r>
              <a:rPr spc="-40" dirty="0"/>
              <a:t>an</a:t>
            </a:r>
            <a:r>
              <a:rPr dirty="0"/>
              <a:t> MLP with </a:t>
            </a:r>
            <a:r>
              <a:rPr spc="-50" dirty="0"/>
              <a:t>2 	</a:t>
            </a:r>
            <a:r>
              <a:rPr spc="-20" dirty="0"/>
              <a:t>inputs,</a:t>
            </a:r>
            <a:r>
              <a:rPr spc="-10" dirty="0"/>
              <a:t> </a:t>
            </a:r>
            <a:r>
              <a:rPr spc="-70" dirty="0"/>
              <a:t>one</a:t>
            </a:r>
            <a:r>
              <a:rPr spc="-5" dirty="0"/>
              <a:t> </a:t>
            </a:r>
            <a:r>
              <a:rPr spc="-60" dirty="0"/>
              <a:t>hidden</a:t>
            </a:r>
            <a:r>
              <a:rPr spc="-5" dirty="0"/>
              <a:t> </a:t>
            </a:r>
            <a:r>
              <a:rPr spc="-60" dirty="0"/>
              <a:t>layer</a:t>
            </a:r>
            <a:r>
              <a:rPr spc="-5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3</a:t>
            </a:r>
            <a:r>
              <a:rPr spc="-5" dirty="0"/>
              <a:t> </a:t>
            </a:r>
            <a:r>
              <a:rPr spc="-55" dirty="0"/>
              <a:t>neurons,</a:t>
            </a:r>
            <a:r>
              <a:rPr spc="-5" dirty="0"/>
              <a:t> </a:t>
            </a:r>
            <a:r>
              <a:rPr spc="-55" dirty="0"/>
              <a:t>and</a:t>
            </a:r>
            <a:r>
              <a:rPr spc="-5" dirty="0"/>
              <a:t> </a:t>
            </a:r>
            <a:r>
              <a:rPr spc="-70" dirty="0"/>
              <a:t>one</a:t>
            </a:r>
            <a:r>
              <a:rPr spc="-5" dirty="0"/>
              <a:t> </a:t>
            </a:r>
            <a:r>
              <a:rPr dirty="0"/>
              <a:t>output</a:t>
            </a:r>
            <a:r>
              <a:rPr spc="-5" dirty="0"/>
              <a:t> </a:t>
            </a:r>
            <a:r>
              <a:rPr spc="-10" dirty="0"/>
              <a:t>neuron.</a:t>
            </a:r>
          </a:p>
          <a:p>
            <a:pPr marL="186055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pc="-65" dirty="0"/>
              <a:t>We</a:t>
            </a:r>
            <a:r>
              <a:rPr spc="-10" dirty="0"/>
              <a:t> </a:t>
            </a:r>
            <a:r>
              <a:rPr spc="-50" dirty="0"/>
              <a:t>computed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50" dirty="0"/>
              <a:t>gradients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60" dirty="0"/>
              <a:t>hidden</a:t>
            </a:r>
            <a:r>
              <a:rPr spc="-15" dirty="0"/>
              <a:t> </a:t>
            </a:r>
            <a:r>
              <a:rPr spc="-55" dirty="0"/>
              <a:t>and</a:t>
            </a:r>
            <a:r>
              <a:rPr spc="-15" dirty="0"/>
              <a:t> </a:t>
            </a:r>
            <a:r>
              <a:rPr dirty="0"/>
              <a:t>output</a:t>
            </a:r>
            <a:r>
              <a:rPr spc="-20" dirty="0"/>
              <a:t> </a:t>
            </a:r>
            <a:r>
              <a:rPr spc="-10" dirty="0"/>
              <a:t>layers.</a:t>
            </a:r>
          </a:p>
          <a:p>
            <a:pPr marL="185420" marR="18796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65" dirty="0"/>
              <a:t>We</a:t>
            </a:r>
            <a:r>
              <a:rPr spc="-10" dirty="0"/>
              <a:t> </a:t>
            </a:r>
            <a:r>
              <a:rPr spc="-40" dirty="0"/>
              <a:t>updated</a:t>
            </a:r>
            <a:r>
              <a:rPr spc="-1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65" dirty="0"/>
              <a:t>parameters</a:t>
            </a:r>
            <a:r>
              <a:rPr spc="-5" dirty="0"/>
              <a:t> </a:t>
            </a:r>
            <a:r>
              <a:rPr spc="-60" dirty="0"/>
              <a:t>using</a:t>
            </a:r>
            <a:r>
              <a:rPr spc="-10" dirty="0"/>
              <a:t> </a:t>
            </a:r>
            <a:r>
              <a:rPr spc="-35" dirty="0"/>
              <a:t>gradient</a:t>
            </a:r>
            <a:r>
              <a:rPr spc="-5" dirty="0"/>
              <a:t> </a:t>
            </a:r>
            <a:r>
              <a:rPr spc="-75" dirty="0"/>
              <a:t>descent</a:t>
            </a:r>
            <a:r>
              <a:rPr dirty="0"/>
              <a:t> with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learning 	rate</a:t>
            </a:r>
            <a:r>
              <a:rPr spc="-55" dirty="0"/>
              <a:t> </a:t>
            </a:r>
            <a:r>
              <a:rPr i="1" spc="-25" dirty="0">
                <a:latin typeface="Georgia"/>
                <a:cs typeface="Georgia"/>
              </a:rPr>
              <a:t>α</a:t>
            </a:r>
            <a:r>
              <a:rPr spc="-25" dirty="0"/>
              <a:t>.</a:t>
            </a:r>
          </a:p>
          <a:p>
            <a:pPr marL="185420" marR="5080" indent="-173355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pc="-20" dirty="0"/>
              <a:t>Iterate</a:t>
            </a:r>
            <a:r>
              <a:rPr dirty="0"/>
              <a:t> this</a:t>
            </a:r>
            <a:r>
              <a:rPr spc="10" dirty="0"/>
              <a:t> </a:t>
            </a:r>
            <a:r>
              <a:rPr spc="-90" dirty="0"/>
              <a:t>process</a:t>
            </a:r>
            <a:r>
              <a:rPr spc="15" dirty="0"/>
              <a:t> </a:t>
            </a:r>
            <a:r>
              <a:rPr dirty="0"/>
              <a:t>for</a:t>
            </a:r>
            <a:r>
              <a:rPr spc="10" dirty="0"/>
              <a:t> </a:t>
            </a:r>
            <a:r>
              <a:rPr spc="-20" dirty="0"/>
              <a:t>multiple</a:t>
            </a:r>
            <a:r>
              <a:rPr spc="15" dirty="0"/>
              <a:t> </a:t>
            </a:r>
            <a:r>
              <a:rPr spc="-20" dirty="0"/>
              <a:t>training</a:t>
            </a:r>
            <a:r>
              <a:rPr spc="10" dirty="0"/>
              <a:t> </a:t>
            </a:r>
            <a:r>
              <a:rPr spc="-90" dirty="0"/>
              <a:t>examples</a:t>
            </a:r>
            <a:r>
              <a:rPr spc="15" dirty="0"/>
              <a:t> </a:t>
            </a:r>
            <a:r>
              <a:rPr spc="-55" dirty="0"/>
              <a:t>and</a:t>
            </a:r>
            <a:r>
              <a:rPr spc="10" dirty="0"/>
              <a:t> </a:t>
            </a:r>
            <a:r>
              <a:rPr spc="-80" dirty="0"/>
              <a:t>epochs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10" dirty="0"/>
              <a:t>train 	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network.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19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General</a:t>
            </a:r>
            <a:r>
              <a:rPr spc="125" dirty="0"/>
              <a:t> </a:t>
            </a:r>
            <a:r>
              <a:rPr spc="140" dirty="0"/>
              <a:t>MLP</a:t>
            </a:r>
            <a:r>
              <a:rPr spc="1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20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4039" y="1391664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44" y="822538"/>
            <a:ext cx="4393565" cy="6800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65" dirty="0">
                <a:latin typeface="Arial MT"/>
                <a:cs typeface="Arial MT"/>
              </a:rPr>
              <a:t>Consider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MLP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with:</a:t>
            </a:r>
            <a:endParaRPr sz="1100">
              <a:latin typeface="Arial MT"/>
              <a:cs typeface="Arial MT"/>
            </a:endParaRPr>
          </a:p>
          <a:p>
            <a:pPr marL="313690" indent="-173355">
              <a:lnSpc>
                <a:spcPct val="100000"/>
              </a:lnSpc>
              <a:spcBef>
                <a:spcPts val="334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i="1" dirty="0">
                <a:latin typeface="Arial"/>
                <a:cs typeface="Arial"/>
              </a:rPr>
              <a:t>n </a:t>
            </a:r>
            <a:r>
              <a:rPr sz="1100" spc="-10" dirty="0">
                <a:latin typeface="Arial MT"/>
                <a:cs typeface="Arial MT"/>
              </a:rPr>
              <a:t>inputs: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b="1" i="1" dirty="0">
                <a:latin typeface="Corbel"/>
                <a:cs typeface="Corbel"/>
              </a:rPr>
              <a:t>x</a:t>
            </a:r>
            <a:r>
              <a:rPr sz="1100" b="1" i="1" spc="155" dirty="0">
                <a:latin typeface="Corbel"/>
                <a:cs typeface="Corbe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2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313690" indent="-173355">
              <a:lnSpc>
                <a:spcPct val="100000"/>
              </a:lnSpc>
              <a:spcBef>
                <a:spcPts val="520"/>
              </a:spcBef>
              <a:buClr>
                <a:srgbClr val="6B8DA7"/>
              </a:buClr>
              <a:buFont typeface="Segoe UI Symbol"/>
              <a:buChar char="❑"/>
              <a:tabLst>
                <a:tab pos="313690" algn="l"/>
              </a:tabLst>
            </a:pP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layers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30" baseline="-10416" dirty="0">
                <a:latin typeface="Arial"/>
                <a:cs typeface="Arial"/>
              </a:rPr>
              <a:t> </a:t>
            </a:r>
            <a:r>
              <a:rPr sz="1100" spc="-70" dirty="0">
                <a:latin typeface="Arial MT"/>
                <a:cs typeface="Arial MT"/>
              </a:rPr>
              <a:t>neurons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each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layer: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38194" dirty="0">
                <a:latin typeface="Verdana"/>
                <a:cs typeface="Verdana"/>
              </a:rPr>
              <a:t>(</a:t>
            </a:r>
            <a:r>
              <a:rPr sz="1200" i="1" baseline="38194" dirty="0">
                <a:latin typeface="Arial"/>
                <a:cs typeface="Arial"/>
              </a:rPr>
              <a:t>l</a:t>
            </a:r>
            <a:r>
              <a:rPr sz="1200" baseline="38194" dirty="0">
                <a:latin typeface="Verdana"/>
                <a:cs typeface="Verdana"/>
              </a:rPr>
              <a:t>)</a:t>
            </a:r>
            <a:r>
              <a:rPr sz="1200" spc="120" baseline="38194" dirty="0">
                <a:latin typeface="Verdana"/>
                <a:cs typeface="Verdana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layer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neuron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i="1" spc="-50" dirty="0"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111" y="1553894"/>
            <a:ext cx="4047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1454" indent="-173355">
              <a:lnSpc>
                <a:spcPct val="100000"/>
              </a:lnSpc>
              <a:spcBef>
                <a:spcPts val="90"/>
              </a:spcBef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spc="-45" dirty="0">
                <a:latin typeface="Arial MT"/>
                <a:cs typeface="Arial MT"/>
              </a:rPr>
              <a:t>Weights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biases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each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neuron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layers: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baseline="38194" dirty="0">
                <a:latin typeface="Verdana"/>
                <a:cs typeface="Verdana"/>
              </a:rPr>
              <a:t>(</a:t>
            </a:r>
            <a:r>
              <a:rPr sz="1200" i="1" baseline="38194" dirty="0">
                <a:latin typeface="Arial"/>
                <a:cs typeface="Arial"/>
              </a:rPr>
              <a:t>l</a:t>
            </a:r>
            <a:r>
              <a:rPr sz="1200" baseline="38194" dirty="0">
                <a:latin typeface="Verdana"/>
                <a:cs typeface="Verdana"/>
              </a:rPr>
              <a:t>)</a:t>
            </a:r>
            <a:r>
              <a:rPr sz="1200" spc="112" baseline="38194" dirty="0">
                <a:latin typeface="Verdana"/>
                <a:cs typeface="Verdana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200" spc="-30" baseline="38194" dirty="0">
                <a:latin typeface="Verdana"/>
                <a:cs typeface="Verdana"/>
              </a:rPr>
              <a:t>(</a:t>
            </a:r>
            <a:r>
              <a:rPr sz="1200" i="1" spc="-30" baseline="38194" dirty="0">
                <a:latin typeface="Arial"/>
                <a:cs typeface="Arial"/>
              </a:rPr>
              <a:t>l</a:t>
            </a:r>
            <a:r>
              <a:rPr sz="1200" spc="-30" baseline="38194" dirty="0">
                <a:latin typeface="Verdana"/>
                <a:cs typeface="Verdana"/>
              </a:rPr>
              <a:t>)</a:t>
            </a:r>
            <a:endParaRPr sz="1200" baseline="38194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6496" y="1635035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111" y="1610296"/>
            <a:ext cx="3560445" cy="6083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375025">
              <a:lnSpc>
                <a:spcPct val="100000"/>
              </a:lnSpc>
              <a:spcBef>
                <a:spcPts val="290"/>
              </a:spcBef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i="1" spc="-2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  <a:p>
            <a:pPr marL="3402965">
              <a:lnSpc>
                <a:spcPts val="615"/>
              </a:lnSpc>
              <a:spcBef>
                <a:spcPts val="190"/>
              </a:spcBef>
            </a:pPr>
            <a:r>
              <a:rPr sz="800" spc="-25" dirty="0">
                <a:latin typeface="Verdana"/>
                <a:cs typeface="Verdana"/>
              </a:rPr>
              <a:t>(</a:t>
            </a:r>
            <a:r>
              <a:rPr sz="800" i="1" spc="-25" dirty="0">
                <a:latin typeface="Arial"/>
                <a:cs typeface="Arial"/>
              </a:rPr>
              <a:t>l</a:t>
            </a:r>
            <a:r>
              <a:rPr sz="800" spc="-25" dirty="0"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  <a:p>
            <a:pPr marL="211454" indent="-173355">
              <a:lnSpc>
                <a:spcPts val="980"/>
              </a:lnSpc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spc="-20" dirty="0">
                <a:latin typeface="Arial MT"/>
                <a:cs typeface="Arial MT"/>
              </a:rPr>
              <a:t>Activation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functions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each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neuron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layers: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i="1" spc="-25" dirty="0">
                <a:latin typeface="Arial"/>
                <a:cs typeface="Arial"/>
              </a:rPr>
              <a:t>f</a:t>
            </a:r>
            <a:r>
              <a:rPr sz="1200" i="1" spc="-37" baseline="-24305" dirty="0">
                <a:latin typeface="Arial"/>
                <a:cs typeface="Arial"/>
              </a:rPr>
              <a:t>i</a:t>
            </a:r>
            <a:endParaRPr sz="1200" baseline="-24305">
              <a:latin typeface="Arial"/>
              <a:cs typeface="Arial"/>
            </a:endParaRPr>
          </a:p>
          <a:p>
            <a:pPr marL="211454" indent="-173355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b="1" i="1" spc="-120" dirty="0">
                <a:latin typeface="Corbel"/>
                <a:cs typeface="Corbel"/>
              </a:rPr>
              <a:t>y</a:t>
            </a:r>
            <a:r>
              <a:rPr sz="1100" b="1" spc="-120" dirty="0">
                <a:latin typeface="Arial"/>
                <a:cs typeface="Arial"/>
              </a:rPr>
              <a:t>ˆ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490" dirty="0">
                <a:latin typeface="Arial"/>
                <a:cs typeface="Arial"/>
              </a:rPr>
              <a:t>y</a:t>
            </a:r>
            <a:r>
              <a:rPr sz="1100" spc="-160" dirty="0">
                <a:latin typeface="Tahoma"/>
                <a:cs typeface="Tahoma"/>
              </a:rPr>
              <a:t>ˆ</a:t>
            </a:r>
            <a:r>
              <a:rPr sz="1200" spc="37" baseline="-10416" dirty="0">
                <a:latin typeface="Trebuchet MS"/>
                <a:cs typeface="Trebuchet MS"/>
              </a:rPr>
              <a:t>1</a:t>
            </a:r>
            <a:r>
              <a:rPr sz="1100" i="1" spc="-2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490" dirty="0">
                <a:latin typeface="Arial"/>
                <a:cs typeface="Arial"/>
              </a:rPr>
              <a:t>y</a:t>
            </a:r>
            <a:r>
              <a:rPr sz="1100" spc="-160" dirty="0">
                <a:latin typeface="Tahoma"/>
                <a:cs typeface="Tahoma"/>
              </a:rPr>
              <a:t>ˆ</a:t>
            </a:r>
            <a:r>
              <a:rPr sz="1200" spc="37" baseline="-10416" dirty="0">
                <a:latin typeface="Trebuchet MS"/>
                <a:cs typeface="Trebuchet MS"/>
              </a:rPr>
              <a:t>2</a:t>
            </a:r>
            <a:r>
              <a:rPr sz="1100" i="1" spc="-2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355" dirty="0">
                <a:latin typeface="Arial"/>
                <a:cs typeface="Arial"/>
              </a:rPr>
              <a:t>y</a:t>
            </a:r>
            <a:r>
              <a:rPr sz="1100" spc="-25" dirty="0">
                <a:latin typeface="Tahoma"/>
                <a:cs typeface="Tahoma"/>
              </a:rPr>
              <a:t>ˆ</a:t>
            </a:r>
            <a:r>
              <a:rPr sz="1200" i="1" spc="262" baseline="-10416" dirty="0">
                <a:latin typeface="Arial"/>
                <a:cs typeface="Arial"/>
              </a:rPr>
              <a:t>m</a:t>
            </a:r>
            <a:r>
              <a:rPr sz="1100" spc="114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7487" y="2225457"/>
            <a:ext cx="322580" cy="264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05">
              <a:lnSpc>
                <a:spcPts val="940"/>
              </a:lnSpc>
              <a:spcBef>
                <a:spcPts val="95"/>
              </a:spcBef>
            </a:pPr>
            <a:r>
              <a:rPr sz="800" spc="-10" dirty="0">
                <a:latin typeface="Verdana"/>
                <a:cs typeface="Verdana"/>
              </a:rPr>
              <a:t>(</a:t>
            </a:r>
            <a:r>
              <a:rPr sz="800" i="1" spc="-10" dirty="0">
                <a:latin typeface="Arial"/>
                <a:cs typeface="Arial"/>
              </a:rPr>
              <a:t>k</a:t>
            </a:r>
            <a:r>
              <a:rPr sz="800" spc="-10" dirty="0">
                <a:latin typeface="Verdana"/>
                <a:cs typeface="Verdana"/>
              </a:rPr>
              <a:t>+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spc="-10" dirty="0"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40"/>
              </a:lnSpc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i="1" spc="-2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56673" y="2261157"/>
            <a:ext cx="350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1590" y="2225457"/>
            <a:ext cx="311785" cy="264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ts val="940"/>
              </a:lnSpc>
              <a:spcBef>
                <a:spcPts val="95"/>
              </a:spcBef>
            </a:pPr>
            <a:r>
              <a:rPr sz="800" spc="-10" dirty="0">
                <a:latin typeface="Verdana"/>
                <a:cs typeface="Verdana"/>
              </a:rPr>
              <a:t>(</a:t>
            </a:r>
            <a:r>
              <a:rPr sz="800" i="1" spc="-10" dirty="0">
                <a:latin typeface="Arial"/>
                <a:cs typeface="Arial"/>
              </a:rPr>
              <a:t>k</a:t>
            </a:r>
            <a:r>
              <a:rPr sz="800" spc="-10" dirty="0">
                <a:latin typeface="Verdana"/>
                <a:cs typeface="Verdana"/>
              </a:rPr>
              <a:t>+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spc="-10" dirty="0"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ts val="940"/>
              </a:lnSpc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111" y="2217379"/>
            <a:ext cx="265557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1454" indent="-173355">
              <a:lnSpc>
                <a:spcPct val="100000"/>
              </a:lnSpc>
              <a:spcBef>
                <a:spcPts val="434"/>
              </a:spcBef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spc="-45" dirty="0">
                <a:latin typeface="Arial MT"/>
                <a:cs typeface="Arial MT"/>
              </a:rPr>
              <a:t>Weights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biases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neurons: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  <a:p>
            <a:pPr marL="211454" indent="-173355">
              <a:lnSpc>
                <a:spcPct val="100000"/>
              </a:lnSpc>
              <a:spcBef>
                <a:spcPts val="334"/>
              </a:spcBef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spc="-60" dirty="0">
                <a:latin typeface="Arial MT"/>
                <a:cs typeface="Arial MT"/>
              </a:rPr>
              <a:t>Ground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truth: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b="1" i="1" dirty="0">
                <a:latin typeface="Corbel"/>
                <a:cs typeface="Corbel"/>
              </a:rPr>
              <a:t>y</a:t>
            </a:r>
            <a:r>
              <a:rPr sz="1100" b="1" i="1" spc="220" dirty="0">
                <a:latin typeface="Corbel"/>
                <a:cs typeface="Corbe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spc="-15" baseline="-10416" dirty="0">
                <a:latin typeface="Trebuchet MS"/>
                <a:cs typeface="Trebuchet MS"/>
              </a:rPr>
              <a:t>1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spc="-15" baseline="-10416" dirty="0">
                <a:latin typeface="Trebuchet MS"/>
                <a:cs typeface="Trebuchet MS"/>
              </a:rPr>
              <a:t>2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80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Arial"/>
                <a:cs typeface="Arial"/>
              </a:rPr>
              <a:t>y</a:t>
            </a:r>
            <a:r>
              <a:rPr sz="1200" i="1" spc="-37" baseline="-10416" dirty="0">
                <a:latin typeface="Arial"/>
                <a:cs typeface="Arial"/>
              </a:rPr>
              <a:t>m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32852"/>
            <a:ext cx="23304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19208C"/>
                </a:solidFill>
                <a:latin typeface="Arial"/>
                <a:cs typeface="Arial"/>
              </a:rPr>
              <a:t>General</a:t>
            </a:r>
            <a:r>
              <a:rPr sz="1400" b="1" spc="125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spc="140" dirty="0">
                <a:solidFill>
                  <a:srgbClr val="19208C"/>
                </a:solidFill>
                <a:latin typeface="Arial"/>
                <a:cs typeface="Arial"/>
              </a:rPr>
              <a:t>MLP</a:t>
            </a:r>
            <a:r>
              <a:rPr sz="1400" b="1" spc="120" dirty="0">
                <a:solidFill>
                  <a:srgbClr val="19208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9208C"/>
                </a:solidFill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659636"/>
            <a:ext cx="3464674" cy="23901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21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B514-F674-0AF9-9D89-2AD3FCC0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Hidden</a:t>
            </a:r>
            <a:r>
              <a:rPr lang="en-IN" spc="114" dirty="0"/>
              <a:t> </a:t>
            </a:r>
            <a:r>
              <a:rPr lang="en-IN" spc="-10" dirty="0"/>
              <a:t>Layers</a:t>
            </a:r>
            <a:r>
              <a:rPr lang="en-IN" spc="114" dirty="0"/>
              <a:t> </a:t>
            </a:r>
            <a:r>
              <a:rPr lang="en-IN" dirty="0"/>
              <a:t>and</a:t>
            </a:r>
            <a:r>
              <a:rPr lang="en-IN" spc="120" dirty="0"/>
              <a:t> </a:t>
            </a:r>
            <a:r>
              <a:rPr lang="en-IN" spc="45" dirty="0"/>
              <a:t>Output</a:t>
            </a:r>
            <a:endParaRPr lang="en-IN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1A373BD-1C18-A1F1-BFA9-7AD483B82E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17500" y="920750"/>
            <a:ext cx="397510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outputs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neurons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layers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are:</a:t>
            </a:r>
            <a:r>
              <a:rPr lang="en-US" sz="1100" spc="-20" dirty="0">
                <a:latin typeface="Arial MT"/>
                <a:cs typeface="Arial MT"/>
              </a:rPr>
              <a:t> 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5" name="object 21">
            <a:extLst>
              <a:ext uri="{FF2B5EF4-FFF2-40B4-BE49-F238E27FC236}">
                <a16:creationId xmlns:a16="http://schemas.microsoft.com/office/drawing/2014/main" id="{222634A3-0E68-5C52-6CF3-63C85A073114}"/>
              </a:ext>
            </a:extLst>
          </p:cNvPr>
          <p:cNvSpPr txBox="1"/>
          <p:nvPr/>
        </p:nvSpPr>
        <p:spPr>
          <a:xfrm>
            <a:off x="516957" y="1740234"/>
            <a:ext cx="1861820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outputs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network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are:</a:t>
            </a:r>
            <a:endParaRPr sz="1100" dirty="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32FD56-284D-25D1-8DB9-55A2B99ED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167574"/>
            <a:ext cx="1813466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5E1019-A6DC-4875-22A0-0938545B4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777" y="1205788"/>
            <a:ext cx="2049713" cy="353210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92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2564B6-48C6-2F08-B9DB-23F9768CA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226041"/>
            <a:ext cx="3219450" cy="59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50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Loss</a:t>
            </a:r>
            <a:r>
              <a:rPr spc="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23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241233"/>
            <a:ext cx="397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loss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function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mean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squared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error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(MSE)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loss: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5752" y="1659710"/>
            <a:ext cx="247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0707" y="1543479"/>
            <a:ext cx="9461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4333" y="1523859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9977" y="1691054"/>
            <a:ext cx="226060" cy="484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  <a:p>
            <a:pPr marL="26034">
              <a:lnSpc>
                <a:spcPct val="100000"/>
              </a:lnSpc>
              <a:spcBef>
                <a:spcPts val="134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Trebuchet MS"/>
                <a:cs typeface="Trebuchet MS"/>
              </a:rPr>
              <a:t>1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2532" y="1659710"/>
            <a:ext cx="5651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i="1" spc="-229" dirty="0">
                <a:latin typeface="Arial"/>
                <a:cs typeface="Arial"/>
              </a:rPr>
              <a:t>y</a:t>
            </a:r>
            <a:r>
              <a:rPr sz="1100" spc="-229" dirty="0">
                <a:latin typeface="Tahoma"/>
                <a:cs typeface="Tahoma"/>
              </a:rPr>
              <a:t>ˆ</a:t>
            </a:r>
            <a:r>
              <a:rPr sz="1200" i="1" spc="-345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6755" y="163983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Compute</a:t>
            </a:r>
            <a:r>
              <a:rPr spc="175" dirty="0"/>
              <a:t> </a:t>
            </a:r>
            <a:r>
              <a:rPr dirty="0"/>
              <a:t>Gradients</a:t>
            </a:r>
            <a:r>
              <a:rPr spc="175" dirty="0"/>
              <a:t> </a:t>
            </a:r>
            <a:r>
              <a:rPr dirty="0"/>
              <a:t>for</a:t>
            </a:r>
            <a:r>
              <a:rPr spc="180" dirty="0"/>
              <a:t> </a:t>
            </a:r>
            <a:r>
              <a:rPr spc="55" dirty="0"/>
              <a:t>Output</a:t>
            </a:r>
            <a:r>
              <a:rPr spc="175" dirty="0"/>
              <a:t> </a:t>
            </a:r>
            <a:r>
              <a:rPr spc="-10" dirty="0"/>
              <a:t>Layer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24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109254"/>
            <a:ext cx="2536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0004" y="1384222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1236" y="1594561"/>
            <a:ext cx="479425" cy="0"/>
          </a:xfrm>
          <a:custGeom>
            <a:avLst/>
            <a:gdLst/>
            <a:ahLst/>
            <a:cxnLst/>
            <a:rect l="l" t="t" r="r" b="b"/>
            <a:pathLst>
              <a:path w="479425">
                <a:moveTo>
                  <a:pt x="0" y="0"/>
                </a:moveTo>
                <a:lnTo>
                  <a:pt x="47923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73136" y="1538629"/>
            <a:ext cx="54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52" baseline="-30303" dirty="0">
                <a:latin typeface="Georgia"/>
                <a:cs typeface="Georgia"/>
              </a:rPr>
              <a:t>∂</a:t>
            </a:r>
            <a:r>
              <a:rPr sz="1650" i="1" spc="-52" baseline="-30303" dirty="0">
                <a:latin typeface="Arial"/>
                <a:cs typeface="Arial"/>
              </a:rPr>
              <a:t>w</a:t>
            </a:r>
            <a:r>
              <a:rPr sz="1650" i="1" spc="-270" baseline="-30303" dirty="0">
                <a:latin typeface="Arial"/>
                <a:cs typeface="Arial"/>
              </a:rPr>
              <a:t> </a:t>
            </a:r>
            <a:r>
              <a:rPr sz="800" spc="-10" dirty="0">
                <a:latin typeface="Verdana"/>
                <a:cs typeface="Verdana"/>
              </a:rPr>
              <a:t>(</a:t>
            </a:r>
            <a:r>
              <a:rPr sz="800" i="1" spc="-10" dirty="0">
                <a:latin typeface="Arial"/>
                <a:cs typeface="Arial"/>
              </a:rPr>
              <a:t>k</a:t>
            </a:r>
            <a:r>
              <a:rPr sz="800" spc="-10" dirty="0">
                <a:latin typeface="Verdana"/>
                <a:cs typeface="Verdana"/>
              </a:rPr>
              <a:t>+</a:t>
            </a:r>
            <a:r>
              <a:rPr sz="800" spc="-10" dirty="0">
                <a:latin typeface="Trebuchet MS"/>
                <a:cs typeface="Trebuchet MS"/>
              </a:rPr>
              <a:t>1</a:t>
            </a:r>
            <a:r>
              <a:rPr sz="800" spc="-10" dirty="0">
                <a:latin typeface="Verdana"/>
                <a:cs typeface="Verdana"/>
              </a:rPr>
              <a:t>)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4456" y="1692794"/>
            <a:ext cx="12001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i="1" spc="-25" dirty="0">
                <a:latin typeface="Sitka Text"/>
                <a:cs typeface="Sitka Text"/>
              </a:rPr>
              <a:t>,</a:t>
            </a:r>
            <a:r>
              <a:rPr sz="800" i="1" spc="-2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3195" y="1536914"/>
            <a:ext cx="3263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7655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6028" y="1477948"/>
            <a:ext cx="1137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−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y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270" dirty="0">
                <a:latin typeface="Arial"/>
                <a:cs typeface="Arial"/>
              </a:rPr>
              <a:t>y</a:t>
            </a:r>
            <a:r>
              <a:rPr sz="1100" spc="-270" dirty="0">
                <a:latin typeface="Tahoma"/>
                <a:cs typeface="Tahoma"/>
              </a:rPr>
              <a:t>ˆ</a:t>
            </a:r>
            <a:r>
              <a:rPr sz="1100" spc="-1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h</a:t>
            </a:r>
            <a:r>
              <a:rPr sz="1200" spc="-30" baseline="38194" dirty="0">
                <a:latin typeface="Verdana"/>
                <a:cs typeface="Verdana"/>
              </a:rPr>
              <a:t>(</a:t>
            </a:r>
            <a:r>
              <a:rPr sz="1200" i="1" spc="-30" baseline="38194" dirty="0">
                <a:latin typeface="Arial"/>
                <a:cs typeface="Arial"/>
              </a:rPr>
              <a:t>k</a:t>
            </a:r>
            <a:r>
              <a:rPr sz="1200" spc="-30" baseline="38194" dirty="0">
                <a:latin typeface="Verdana"/>
                <a:cs typeface="Verdana"/>
              </a:rPr>
              <a:t>)</a:t>
            </a:r>
            <a:endParaRPr sz="1200" baseline="38194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5904" y="1559088"/>
            <a:ext cx="53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6933" y="1821966"/>
            <a:ext cx="18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45107" y="2032304"/>
            <a:ext cx="445770" cy="0"/>
          </a:xfrm>
          <a:custGeom>
            <a:avLst/>
            <a:gdLst/>
            <a:ahLst/>
            <a:cxnLst/>
            <a:rect l="l" t="t" r="r" b="b"/>
            <a:pathLst>
              <a:path w="445769">
                <a:moveTo>
                  <a:pt x="0" y="0"/>
                </a:moveTo>
                <a:lnTo>
                  <a:pt x="44536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07007" y="2049397"/>
            <a:ext cx="254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i="1" spc="-37" baseline="-24305" dirty="0">
                <a:latin typeface="Arial"/>
                <a:cs typeface="Arial"/>
              </a:rPr>
              <a:t>i</a:t>
            </a:r>
            <a:endParaRPr sz="1200" baseline="-24305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64068" y="1915692"/>
            <a:ext cx="1161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200" baseline="-34722" dirty="0">
                <a:latin typeface="Verdana"/>
                <a:cs typeface="Verdana"/>
              </a:rPr>
              <a:t>(</a:t>
            </a:r>
            <a:r>
              <a:rPr sz="1200" i="1" baseline="-34722" dirty="0">
                <a:latin typeface="Arial"/>
                <a:cs typeface="Arial"/>
              </a:rPr>
              <a:t>k</a:t>
            </a:r>
            <a:r>
              <a:rPr sz="1200" baseline="-34722" dirty="0">
                <a:latin typeface="Verdana"/>
                <a:cs typeface="Verdana"/>
              </a:rPr>
              <a:t>+</a:t>
            </a:r>
            <a:r>
              <a:rPr sz="1200" baseline="-34722" dirty="0">
                <a:latin typeface="Trebuchet MS"/>
                <a:cs typeface="Trebuchet MS"/>
              </a:rPr>
              <a:t>1</a:t>
            </a:r>
            <a:r>
              <a:rPr sz="1200" baseline="-34722" dirty="0">
                <a:latin typeface="Verdana"/>
                <a:cs typeface="Verdana"/>
              </a:rPr>
              <a:t>)</a:t>
            </a:r>
            <a:r>
              <a:rPr sz="1200" spc="397" baseline="-34722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−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07" baseline="-10416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−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229" dirty="0">
                <a:latin typeface="Arial"/>
                <a:cs typeface="Arial"/>
              </a:rPr>
              <a:t>y</a:t>
            </a:r>
            <a:r>
              <a:rPr sz="1100" spc="-229" dirty="0">
                <a:latin typeface="Tahoma"/>
                <a:cs typeface="Tahoma"/>
              </a:rPr>
              <a:t>ˆ</a:t>
            </a:r>
            <a:r>
              <a:rPr sz="1200" i="1" spc="-345" baseline="-10416" dirty="0">
                <a:latin typeface="Arial"/>
                <a:cs typeface="Arial"/>
              </a:rPr>
              <a:t>i</a:t>
            </a:r>
            <a:r>
              <a:rPr sz="1200" i="1" spc="-112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Backpropagation</a:t>
            </a:r>
            <a:r>
              <a:rPr spc="245" dirty="0"/>
              <a:t> </a:t>
            </a:r>
            <a:r>
              <a:rPr dirty="0"/>
              <a:t>Algorithm</a:t>
            </a:r>
            <a:r>
              <a:rPr spc="25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25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083892"/>
            <a:ext cx="4285615" cy="1247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backpropagation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algorithm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consists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 the </a:t>
            </a:r>
            <a:r>
              <a:rPr sz="1100" spc="-35" dirty="0">
                <a:latin typeface="Arial MT"/>
                <a:cs typeface="Arial MT"/>
              </a:rPr>
              <a:t>following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steps:</a:t>
            </a:r>
            <a:endParaRPr sz="1100">
              <a:latin typeface="Arial MT"/>
              <a:cs typeface="Arial MT"/>
            </a:endParaRPr>
          </a:p>
          <a:p>
            <a:pPr marL="287020" indent="-185420">
              <a:lnSpc>
                <a:spcPct val="100000"/>
              </a:lnSpc>
              <a:spcBef>
                <a:spcPts val="334"/>
              </a:spcBef>
              <a:buClr>
                <a:srgbClr val="6B8DA7"/>
              </a:buClr>
              <a:buFont typeface="Arial"/>
              <a:buAutoNum type="arabicPeriod"/>
              <a:tabLst>
                <a:tab pos="287020" algn="l"/>
              </a:tabLst>
            </a:pPr>
            <a:r>
              <a:rPr sz="1100" spc="-40" dirty="0">
                <a:latin typeface="Arial MT"/>
                <a:cs typeface="Arial MT"/>
              </a:rPr>
              <a:t>Perform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forward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110" dirty="0">
                <a:latin typeface="Arial MT"/>
                <a:cs typeface="Arial MT"/>
              </a:rPr>
              <a:t>pass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through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network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compute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outputs.</a:t>
            </a:r>
            <a:endParaRPr sz="1100">
              <a:latin typeface="Arial MT"/>
              <a:cs typeface="Arial MT"/>
            </a:endParaRPr>
          </a:p>
          <a:p>
            <a:pPr marL="287020" indent="-185420">
              <a:lnSpc>
                <a:spcPct val="100000"/>
              </a:lnSpc>
              <a:spcBef>
                <a:spcPts val="330"/>
              </a:spcBef>
              <a:buClr>
                <a:srgbClr val="6B8DA7"/>
              </a:buClr>
              <a:buFont typeface="Arial"/>
              <a:buAutoNum type="arabicPeriod"/>
              <a:tabLst>
                <a:tab pos="287020" algn="l"/>
              </a:tabLst>
            </a:pPr>
            <a:r>
              <a:rPr sz="1100" spc="-50" dirty="0">
                <a:latin typeface="Arial MT"/>
                <a:cs typeface="Arial MT"/>
              </a:rPr>
              <a:t>Calculate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layer.</a:t>
            </a:r>
            <a:endParaRPr sz="1100">
              <a:latin typeface="Arial MT"/>
              <a:cs typeface="Arial MT"/>
            </a:endParaRPr>
          </a:p>
          <a:p>
            <a:pPr marL="287020" indent="-185420">
              <a:lnSpc>
                <a:spcPct val="100000"/>
              </a:lnSpc>
              <a:spcBef>
                <a:spcPts val="335"/>
              </a:spcBef>
              <a:buClr>
                <a:srgbClr val="6B8DA7"/>
              </a:buClr>
              <a:buFont typeface="Arial"/>
              <a:buAutoNum type="arabicPeriod"/>
              <a:tabLst>
                <a:tab pos="287020" algn="l"/>
              </a:tabLst>
            </a:pPr>
            <a:r>
              <a:rPr sz="1100" spc="-55" dirty="0">
                <a:latin typeface="Arial MT"/>
                <a:cs typeface="Arial MT"/>
              </a:rPr>
              <a:t>Propagate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back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through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layers.</a:t>
            </a:r>
            <a:endParaRPr sz="1100">
              <a:latin typeface="Arial MT"/>
              <a:cs typeface="Arial MT"/>
            </a:endParaRPr>
          </a:p>
          <a:p>
            <a:pPr marL="286385" marR="120650" indent="-185420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Arial"/>
              <a:buAutoNum type="arabicPeriod"/>
              <a:tabLst>
                <a:tab pos="289560" algn="l"/>
              </a:tabLst>
            </a:pPr>
            <a:r>
              <a:rPr sz="1100" spc="-40" dirty="0">
                <a:latin typeface="Arial MT"/>
                <a:cs typeface="Arial MT"/>
              </a:rPr>
              <a:t>Update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weights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biases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calculated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	learning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α</a:t>
            </a:r>
            <a:r>
              <a:rPr sz="1100" spc="-35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Gradients</a:t>
            </a:r>
            <a:r>
              <a:rPr spc="170" dirty="0"/>
              <a:t> </a:t>
            </a:r>
            <a:r>
              <a:rPr dirty="0"/>
              <a:t>for</a:t>
            </a:r>
            <a:r>
              <a:rPr spc="175" dirty="0"/>
              <a:t> </a:t>
            </a:r>
            <a:r>
              <a:rPr dirty="0"/>
              <a:t>Hidden</a:t>
            </a:r>
            <a:r>
              <a:rPr spc="170" dirty="0"/>
              <a:t> </a:t>
            </a:r>
            <a:r>
              <a:rPr spc="-20" dirty="0"/>
              <a:t>Layers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26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180983"/>
            <a:ext cx="4347210" cy="10356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spc="-60" dirty="0">
                <a:latin typeface="Arial MT"/>
                <a:cs typeface="Arial MT"/>
              </a:rPr>
              <a:t>Compute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hidden</a:t>
            </a:r>
            <a:r>
              <a:rPr sz="1100" spc="-10" dirty="0">
                <a:latin typeface="Arial MT"/>
                <a:cs typeface="Arial MT"/>
              </a:rPr>
              <a:t> layers:</a:t>
            </a:r>
            <a:endParaRPr sz="1100">
              <a:latin typeface="Arial MT"/>
              <a:cs typeface="Arial MT"/>
            </a:endParaRPr>
          </a:p>
          <a:p>
            <a:pPr marL="288290" indent="-173355">
              <a:lnSpc>
                <a:spcPct val="100000"/>
              </a:lnSpc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288290" algn="l"/>
              </a:tabLst>
            </a:pPr>
            <a:r>
              <a:rPr sz="1100" spc="-40" dirty="0">
                <a:latin typeface="Arial MT"/>
                <a:cs typeface="Arial MT"/>
              </a:rPr>
              <a:t>For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each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layer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each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neuron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layer:</a:t>
            </a:r>
            <a:endParaRPr sz="1100">
              <a:latin typeface="Arial MT"/>
              <a:cs typeface="Arial MT"/>
            </a:endParaRPr>
          </a:p>
          <a:p>
            <a:pPr marL="566420" marR="5080" lvl="1" indent="-165735">
              <a:lnSpc>
                <a:spcPct val="100000"/>
              </a:lnSpc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566420" algn="l"/>
              </a:tabLst>
            </a:pPr>
            <a:r>
              <a:rPr sz="1000" spc="-30" dirty="0">
                <a:latin typeface="Arial MT"/>
                <a:cs typeface="Arial MT"/>
              </a:rPr>
              <a:t>Calculate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gradient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loss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respect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weighted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input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of </a:t>
            </a:r>
            <a:r>
              <a:rPr sz="1000" spc="-40" dirty="0">
                <a:latin typeface="Arial MT"/>
                <a:cs typeface="Arial MT"/>
              </a:rPr>
              <a:t>neuron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layer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-5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566420" marR="253365" lvl="1" indent="-165735">
              <a:lnSpc>
                <a:spcPts val="1200"/>
              </a:lnSpc>
              <a:spcBef>
                <a:spcPts val="30"/>
              </a:spcBef>
              <a:buClr>
                <a:srgbClr val="6B8DA7"/>
              </a:buClr>
              <a:buFont typeface="Segoe UI Symbol"/>
              <a:buChar char="❑"/>
              <a:tabLst>
                <a:tab pos="566420" algn="l"/>
              </a:tabLst>
            </a:pPr>
            <a:r>
              <a:rPr sz="1000" spc="-30" dirty="0">
                <a:latin typeface="Arial MT"/>
                <a:cs typeface="Arial MT"/>
              </a:rPr>
              <a:t>Calculate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gradients</a:t>
            </a:r>
            <a:r>
              <a:rPr sz="1000" dirty="0">
                <a:latin typeface="Arial MT"/>
                <a:cs typeface="Arial MT"/>
              </a:rPr>
              <a:t> of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loss</a:t>
            </a:r>
            <a:r>
              <a:rPr sz="1000" dirty="0">
                <a:latin typeface="Arial MT"/>
                <a:cs typeface="Arial MT"/>
              </a:rPr>
              <a:t> with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respect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 </a:t>
            </a:r>
            <a:r>
              <a:rPr sz="1000" spc="-35" dirty="0">
                <a:latin typeface="Arial MT"/>
                <a:cs typeface="Arial MT"/>
              </a:rPr>
              <a:t>weights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and </a:t>
            </a:r>
            <a:r>
              <a:rPr sz="1000" spc="-75" dirty="0">
                <a:latin typeface="Arial MT"/>
                <a:cs typeface="Arial MT"/>
              </a:rPr>
              <a:t>biases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neuron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layer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spc="-35" dirty="0">
                <a:latin typeface="Arial MT"/>
                <a:cs typeface="Arial MT"/>
              </a:rPr>
              <a:t>using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chain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rule.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Update</a:t>
            </a:r>
            <a:r>
              <a:rPr spc="285" dirty="0"/>
              <a:t> </a:t>
            </a:r>
            <a:r>
              <a:rPr dirty="0"/>
              <a:t>Parameters</a:t>
            </a:r>
            <a:r>
              <a:rPr spc="285" dirty="0"/>
              <a:t> </a:t>
            </a:r>
            <a:r>
              <a:rPr dirty="0"/>
              <a:t>with</a:t>
            </a:r>
            <a:r>
              <a:rPr spc="285" dirty="0"/>
              <a:t> </a:t>
            </a:r>
            <a:r>
              <a:rPr dirty="0"/>
              <a:t>Gradient</a:t>
            </a:r>
            <a:r>
              <a:rPr spc="285" dirty="0"/>
              <a:t> </a:t>
            </a:r>
            <a:r>
              <a:rPr spc="-10" dirty="0"/>
              <a:t>Descent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27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4527" y="1781558"/>
            <a:ext cx="490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1160" algn="l"/>
              </a:tabLst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144" y="966531"/>
            <a:ext cx="4037329" cy="8515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R="22225" algn="r">
              <a:lnSpc>
                <a:spcPct val="100000"/>
              </a:lnSpc>
              <a:spcBef>
                <a:spcPts val="275"/>
              </a:spcBef>
            </a:pPr>
            <a:r>
              <a:rPr sz="1100" spc="-40" dirty="0">
                <a:latin typeface="Arial MT"/>
                <a:cs typeface="Arial MT"/>
              </a:rPr>
              <a:t>Update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parameters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gradient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descent</a:t>
            </a:r>
            <a:r>
              <a:rPr sz="1100" dirty="0">
                <a:latin typeface="Arial MT"/>
                <a:cs typeface="Arial MT"/>
              </a:rPr>
              <a:t> with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learning</a:t>
            </a:r>
            <a:r>
              <a:rPr sz="1100" spc="-10" dirty="0">
                <a:latin typeface="Arial MT"/>
                <a:cs typeface="Arial MT"/>
              </a:rPr>
              <a:t> rate </a:t>
            </a:r>
            <a:r>
              <a:rPr sz="1100" i="1" spc="-25" dirty="0">
                <a:latin typeface="Georgia"/>
                <a:cs typeface="Georgia"/>
              </a:rPr>
              <a:t>α</a:t>
            </a:r>
            <a:r>
              <a:rPr sz="1100" spc="-25" dirty="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173355" marR="17780" indent="-173355" algn="r">
              <a:lnSpc>
                <a:spcPct val="100000"/>
              </a:lnSpc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173355" algn="l"/>
              </a:tabLst>
            </a:pPr>
            <a:r>
              <a:rPr sz="1100" spc="-40" dirty="0">
                <a:latin typeface="Arial MT"/>
                <a:cs typeface="Arial MT"/>
              </a:rPr>
              <a:t>For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each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layer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Arial MT"/>
                <a:cs typeface="Arial MT"/>
              </a:rPr>
              <a:t>1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each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neuron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layer:</a:t>
            </a:r>
            <a:endParaRPr sz="1100">
              <a:latin typeface="Arial MT"/>
              <a:cs typeface="Arial MT"/>
            </a:endParaRPr>
          </a:p>
          <a:p>
            <a:pPr marL="579120" lvl="1" indent="-165100">
              <a:lnSpc>
                <a:spcPct val="100000"/>
              </a:lnSpc>
              <a:spcBef>
                <a:spcPts val="175"/>
              </a:spcBef>
              <a:buClr>
                <a:srgbClr val="6B8DA7"/>
              </a:buClr>
              <a:buFont typeface="Segoe UI Symbol"/>
              <a:buChar char="❑"/>
              <a:tabLst>
                <a:tab pos="579120" algn="l"/>
              </a:tabLst>
            </a:pPr>
            <a:r>
              <a:rPr sz="1000" spc="-20" dirty="0">
                <a:latin typeface="Arial MT"/>
                <a:cs typeface="Arial MT"/>
              </a:rPr>
              <a:t>Update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weights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 </a:t>
            </a:r>
            <a:r>
              <a:rPr sz="1000" spc="-75" dirty="0">
                <a:latin typeface="Arial MT"/>
                <a:cs typeface="Arial MT"/>
              </a:rPr>
              <a:t>biases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using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calculated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gradients:</a:t>
            </a:r>
            <a:endParaRPr sz="1000">
              <a:latin typeface="Arial MT"/>
              <a:cs typeface="Arial MT"/>
            </a:endParaRPr>
          </a:p>
          <a:p>
            <a:pPr marL="1897380">
              <a:lnSpc>
                <a:spcPct val="100000"/>
              </a:lnSpc>
              <a:spcBef>
                <a:spcPts val="935"/>
              </a:spcBef>
            </a:pPr>
            <a:r>
              <a:rPr sz="1500" i="1" spc="-89" baseline="-27777" dirty="0">
                <a:latin typeface="Arial"/>
                <a:cs typeface="Arial"/>
              </a:rPr>
              <a:t>w</a:t>
            </a:r>
            <a:r>
              <a:rPr sz="1500" i="1" spc="-247" baseline="-27777" dirty="0">
                <a:latin typeface="Arial"/>
                <a:cs typeface="Arial"/>
              </a:rPr>
              <a:t> </a:t>
            </a:r>
            <a:r>
              <a:rPr sz="700" dirty="0">
                <a:latin typeface="Verdana"/>
                <a:cs typeface="Verdana"/>
              </a:rPr>
              <a:t>(</a:t>
            </a:r>
            <a:r>
              <a:rPr sz="700" i="1" dirty="0">
                <a:latin typeface="Arial"/>
                <a:cs typeface="Arial"/>
              </a:rPr>
              <a:t>l</a:t>
            </a:r>
            <a:r>
              <a:rPr sz="700" dirty="0">
                <a:latin typeface="Verdana"/>
                <a:cs typeface="Verdana"/>
              </a:rPr>
              <a:t>)</a:t>
            </a:r>
            <a:r>
              <a:rPr sz="700" spc="110" dirty="0">
                <a:latin typeface="Verdana"/>
                <a:cs typeface="Verdana"/>
              </a:rPr>
              <a:t> </a:t>
            </a:r>
            <a:r>
              <a:rPr sz="1500" baseline="-27777" dirty="0">
                <a:latin typeface="Tahoma"/>
                <a:cs typeface="Tahoma"/>
              </a:rPr>
              <a:t>=</a:t>
            </a:r>
            <a:r>
              <a:rPr sz="1500" spc="-7" baseline="-27777" dirty="0">
                <a:latin typeface="Tahoma"/>
                <a:cs typeface="Tahoma"/>
              </a:rPr>
              <a:t> </a:t>
            </a:r>
            <a:r>
              <a:rPr sz="1500" i="1" spc="-89" baseline="-27777" dirty="0">
                <a:latin typeface="Arial"/>
                <a:cs typeface="Arial"/>
              </a:rPr>
              <a:t>w</a:t>
            </a:r>
            <a:r>
              <a:rPr sz="1500" i="1" spc="-240" baseline="-27777" dirty="0">
                <a:latin typeface="Arial"/>
                <a:cs typeface="Arial"/>
              </a:rPr>
              <a:t> </a:t>
            </a:r>
            <a:r>
              <a:rPr sz="700" dirty="0">
                <a:latin typeface="Verdana"/>
                <a:cs typeface="Verdana"/>
              </a:rPr>
              <a:t>(</a:t>
            </a:r>
            <a:r>
              <a:rPr sz="700" i="1" dirty="0">
                <a:latin typeface="Arial"/>
                <a:cs typeface="Arial"/>
              </a:rPr>
              <a:t>l</a:t>
            </a:r>
            <a:r>
              <a:rPr sz="700" dirty="0">
                <a:latin typeface="Verdana"/>
                <a:cs typeface="Verdana"/>
              </a:rPr>
              <a:t>)</a:t>
            </a:r>
            <a:r>
              <a:rPr sz="700" spc="50" dirty="0">
                <a:latin typeface="Verdana"/>
                <a:cs typeface="Verdana"/>
              </a:rPr>
              <a:t> </a:t>
            </a:r>
            <a:r>
              <a:rPr sz="1500" i="1" spc="270" baseline="-27777" dirty="0">
                <a:latin typeface="Arial"/>
                <a:cs typeface="Arial"/>
              </a:rPr>
              <a:t>−</a:t>
            </a:r>
            <a:r>
              <a:rPr sz="1500" i="1" spc="-67" baseline="-27777" dirty="0">
                <a:latin typeface="Arial"/>
                <a:cs typeface="Arial"/>
              </a:rPr>
              <a:t> </a:t>
            </a:r>
            <a:r>
              <a:rPr sz="1500" i="1" baseline="-27777" dirty="0">
                <a:latin typeface="Georgia"/>
                <a:cs typeface="Georgia"/>
              </a:rPr>
              <a:t>α</a:t>
            </a:r>
            <a:r>
              <a:rPr sz="1500" i="1" spc="742" baseline="-27777" dirty="0">
                <a:latin typeface="Georgia"/>
                <a:cs typeface="Georgia"/>
              </a:rPr>
              <a:t> </a:t>
            </a:r>
            <a:r>
              <a:rPr sz="1500" i="1" spc="-37" baseline="8333" dirty="0">
                <a:latin typeface="Georgia"/>
                <a:cs typeface="Georgia"/>
              </a:rPr>
              <a:t>∂</a:t>
            </a:r>
            <a:r>
              <a:rPr sz="1500" i="1" spc="-37" baseline="8333" dirty="0">
                <a:latin typeface="Arial"/>
                <a:cs typeface="Arial"/>
              </a:rPr>
              <a:t>L</a:t>
            </a:r>
            <a:endParaRPr sz="1500" baseline="8333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51581" y="1813839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4">
                <a:moveTo>
                  <a:pt x="0" y="0"/>
                </a:moveTo>
                <a:lnTo>
                  <a:pt x="28464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3481" y="1758751"/>
            <a:ext cx="354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44" baseline="-27777" dirty="0">
                <a:latin typeface="Georgia"/>
                <a:cs typeface="Georgia"/>
              </a:rPr>
              <a:t>∂</a:t>
            </a:r>
            <a:r>
              <a:rPr sz="1500" i="1" spc="-44" baseline="-27777" dirty="0">
                <a:latin typeface="Arial"/>
                <a:cs typeface="Arial"/>
              </a:rPr>
              <a:t>w</a:t>
            </a:r>
            <a:r>
              <a:rPr sz="1500" i="1" spc="-240" baseline="-27777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(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9838" y="2267003"/>
            <a:ext cx="3962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0680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6358" y="1899782"/>
            <a:ext cx="1117600" cy="403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7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500" i="1" baseline="-27777" dirty="0">
                <a:latin typeface="Arial"/>
                <a:cs typeface="Arial"/>
              </a:rPr>
              <a:t>b</a:t>
            </a:r>
            <a:r>
              <a:rPr sz="700" dirty="0">
                <a:latin typeface="Verdana"/>
                <a:cs typeface="Verdana"/>
              </a:rPr>
              <a:t>(</a:t>
            </a:r>
            <a:r>
              <a:rPr sz="700" i="1" dirty="0">
                <a:latin typeface="Arial"/>
                <a:cs typeface="Arial"/>
              </a:rPr>
              <a:t>l</a:t>
            </a:r>
            <a:r>
              <a:rPr sz="700" dirty="0">
                <a:latin typeface="Verdana"/>
                <a:cs typeface="Verdana"/>
              </a:rPr>
              <a:t>)</a:t>
            </a:r>
            <a:r>
              <a:rPr sz="700" spc="105" dirty="0">
                <a:latin typeface="Verdana"/>
                <a:cs typeface="Verdana"/>
              </a:rPr>
              <a:t> </a:t>
            </a:r>
            <a:r>
              <a:rPr sz="1500" baseline="-27777" dirty="0">
                <a:latin typeface="Tahoma"/>
                <a:cs typeface="Tahoma"/>
              </a:rPr>
              <a:t>=</a:t>
            </a:r>
            <a:r>
              <a:rPr sz="1500" spc="-15" baseline="-27777" dirty="0">
                <a:latin typeface="Tahoma"/>
                <a:cs typeface="Tahoma"/>
              </a:rPr>
              <a:t> </a:t>
            </a:r>
            <a:r>
              <a:rPr sz="1500" i="1" baseline="-27777" dirty="0">
                <a:latin typeface="Arial"/>
                <a:cs typeface="Arial"/>
              </a:rPr>
              <a:t>b</a:t>
            </a:r>
            <a:r>
              <a:rPr sz="700" dirty="0">
                <a:latin typeface="Verdana"/>
                <a:cs typeface="Verdana"/>
              </a:rPr>
              <a:t>(</a:t>
            </a:r>
            <a:r>
              <a:rPr sz="700" i="1" dirty="0">
                <a:latin typeface="Arial"/>
                <a:cs typeface="Arial"/>
              </a:rPr>
              <a:t>l</a:t>
            </a:r>
            <a:r>
              <a:rPr sz="700" dirty="0">
                <a:latin typeface="Verdana"/>
                <a:cs typeface="Verdana"/>
              </a:rPr>
              <a:t>)</a:t>
            </a:r>
            <a:r>
              <a:rPr sz="700" spc="50" dirty="0">
                <a:latin typeface="Verdana"/>
                <a:cs typeface="Verdana"/>
              </a:rPr>
              <a:t> </a:t>
            </a:r>
            <a:r>
              <a:rPr sz="1500" i="1" spc="270" baseline="-27777" dirty="0">
                <a:latin typeface="Arial"/>
                <a:cs typeface="Arial"/>
              </a:rPr>
              <a:t>−</a:t>
            </a:r>
            <a:r>
              <a:rPr sz="1500" i="1" spc="-60" baseline="-27777" dirty="0">
                <a:latin typeface="Arial"/>
                <a:cs typeface="Arial"/>
              </a:rPr>
              <a:t> </a:t>
            </a:r>
            <a:r>
              <a:rPr sz="1500" i="1" baseline="-27777" dirty="0">
                <a:latin typeface="Georgia"/>
                <a:cs typeface="Georgia"/>
              </a:rPr>
              <a:t>α</a:t>
            </a:r>
            <a:r>
              <a:rPr sz="1500" i="1" spc="540" baseline="-27777" dirty="0">
                <a:latin typeface="Georgia"/>
                <a:cs typeface="Georgia"/>
              </a:rPr>
              <a:t> </a:t>
            </a:r>
            <a:r>
              <a:rPr sz="1500" i="1" spc="-37" baseline="8333" dirty="0">
                <a:latin typeface="Georgia"/>
                <a:cs typeface="Georgia"/>
              </a:rPr>
              <a:t>∂</a:t>
            </a:r>
            <a:r>
              <a:rPr sz="1500" i="1" spc="-37" baseline="8333" dirty="0">
                <a:latin typeface="Arial"/>
                <a:cs typeface="Arial"/>
              </a:rPr>
              <a:t>L</a:t>
            </a:r>
            <a:endParaRPr sz="1500" baseline="8333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36125" y="2299284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>
                <a:moveTo>
                  <a:pt x="0" y="0"/>
                </a:moveTo>
                <a:lnTo>
                  <a:pt x="25372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98025" y="2244196"/>
            <a:ext cx="323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spc="-15" baseline="-27777" dirty="0">
                <a:latin typeface="Georgia"/>
                <a:cs typeface="Georgia"/>
              </a:rPr>
              <a:t>∂</a:t>
            </a:r>
            <a:r>
              <a:rPr sz="1500" i="1" spc="-15" baseline="-27777" dirty="0">
                <a:latin typeface="Arial"/>
                <a:cs typeface="Arial"/>
              </a:rPr>
              <a:t>b</a:t>
            </a:r>
            <a:r>
              <a:rPr sz="700" spc="-10" dirty="0">
                <a:latin typeface="Verdana"/>
                <a:cs typeface="Verdana"/>
              </a:rPr>
              <a:t>(</a:t>
            </a:r>
            <a:r>
              <a:rPr sz="700" i="1" spc="-10" dirty="0">
                <a:latin typeface="Arial"/>
                <a:cs typeface="Arial"/>
              </a:rPr>
              <a:t>l</a:t>
            </a:r>
            <a:r>
              <a:rPr sz="700" spc="-10" dirty="0">
                <a:latin typeface="Verdana"/>
                <a:cs typeface="Verdana"/>
              </a:rPr>
              <a:t>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62998" y="2385227"/>
            <a:ext cx="48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Activation</a:t>
            </a:r>
            <a:r>
              <a:rPr spc="32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28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171040"/>
            <a:ext cx="434213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Arial MT"/>
                <a:cs typeface="Arial MT"/>
              </a:rPr>
              <a:t>Activation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functions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introduce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non-</a:t>
            </a:r>
            <a:r>
              <a:rPr sz="1100" spc="-25" dirty="0">
                <a:latin typeface="Arial MT"/>
                <a:cs typeface="Arial MT"/>
              </a:rPr>
              <a:t>linearity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network,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enabling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spc="-55" dirty="0">
                <a:latin typeface="Arial MT"/>
                <a:cs typeface="Arial MT"/>
              </a:rPr>
              <a:t>learn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complex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patterns.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Common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activation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functions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include: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511" y="1553145"/>
            <a:ext cx="1172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90"/>
              </a:spcBef>
              <a:buClr>
                <a:srgbClr val="6B8DA7"/>
              </a:buClr>
              <a:buFont typeface="Segoe UI Symbol"/>
              <a:buChar char="❑"/>
              <a:tabLst>
                <a:tab pos="186055" algn="l"/>
              </a:tabLst>
            </a:pPr>
            <a:r>
              <a:rPr sz="1100" spc="-35" dirty="0">
                <a:latin typeface="Arial MT"/>
                <a:cs typeface="Arial MT"/>
              </a:rPr>
              <a:t>Sigmoid: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σ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42313" y="1669757"/>
            <a:ext cx="316230" cy="0"/>
          </a:xfrm>
          <a:custGeom>
            <a:avLst/>
            <a:gdLst/>
            <a:ahLst/>
            <a:cxnLst/>
            <a:rect l="l" t="t" r="r" b="b"/>
            <a:pathLst>
              <a:path w="316230">
                <a:moveTo>
                  <a:pt x="0" y="0"/>
                </a:moveTo>
                <a:lnTo>
                  <a:pt x="3157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29613" y="1535924"/>
            <a:ext cx="210820" cy="252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894"/>
              </a:lnSpc>
              <a:spcBef>
                <a:spcPts val="95"/>
              </a:spcBef>
            </a:pPr>
            <a:r>
              <a:rPr sz="800" spc="-50" dirty="0"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ts val="894"/>
              </a:lnSpc>
            </a:pPr>
            <a:r>
              <a:rPr sz="800" spc="-25" dirty="0">
                <a:latin typeface="Trebuchet MS"/>
                <a:cs typeface="Trebuchet MS"/>
              </a:rPr>
              <a:t>1</a:t>
            </a:r>
            <a:r>
              <a:rPr sz="800" spc="-25" dirty="0">
                <a:latin typeface="Verdana"/>
                <a:cs typeface="Verdana"/>
              </a:rPr>
              <a:t>+</a:t>
            </a:r>
            <a:r>
              <a:rPr sz="800" i="1" spc="-25" dirty="0"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1866" y="1637949"/>
            <a:ext cx="1358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80" dirty="0">
                <a:latin typeface="Arial"/>
                <a:cs typeface="Arial"/>
              </a:rPr>
              <a:t>−x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111" y="1804071"/>
            <a:ext cx="2886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1454" indent="-173355">
              <a:lnSpc>
                <a:spcPct val="100000"/>
              </a:lnSpc>
              <a:spcBef>
                <a:spcPts val="90"/>
              </a:spcBef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spc="-40" dirty="0">
                <a:latin typeface="Arial MT"/>
                <a:cs typeface="Arial MT"/>
              </a:rPr>
              <a:t>Hyperbolic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Tangent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(tanh):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spc="-40" dirty="0">
                <a:latin typeface="Tahoma"/>
                <a:cs typeface="Tahoma"/>
              </a:rPr>
              <a:t>tanh(</a:t>
            </a:r>
            <a:r>
              <a:rPr sz="1100" i="1" spc="-4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200" i="1" spc="-37" baseline="31250" dirty="0">
                <a:latin typeface="Arial"/>
                <a:cs typeface="Arial"/>
              </a:rPr>
              <a:t>e</a:t>
            </a:r>
            <a:r>
              <a:rPr sz="900" i="1" spc="-37" baseline="64814" dirty="0">
                <a:latin typeface="Arial"/>
                <a:cs typeface="Arial"/>
              </a:rPr>
              <a:t>x</a:t>
            </a:r>
            <a:r>
              <a:rPr sz="900" i="1" spc="-97" baseline="64814" dirty="0">
                <a:latin typeface="Arial"/>
                <a:cs typeface="Arial"/>
              </a:rPr>
              <a:t> </a:t>
            </a:r>
            <a:r>
              <a:rPr sz="1200" i="1" spc="112" baseline="31250" dirty="0">
                <a:latin typeface="Arial"/>
                <a:cs typeface="Arial"/>
              </a:rPr>
              <a:t>−e</a:t>
            </a:r>
            <a:r>
              <a:rPr sz="900" i="1" spc="112" baseline="64814" dirty="0">
                <a:latin typeface="Arial"/>
                <a:cs typeface="Arial"/>
              </a:rPr>
              <a:t>−x</a:t>
            </a:r>
            <a:endParaRPr sz="900" baseline="64814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96730" y="1920684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3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3111" y="1842334"/>
            <a:ext cx="3235325" cy="3638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379095" algn="r">
              <a:lnSpc>
                <a:spcPct val="100000"/>
              </a:lnSpc>
              <a:spcBef>
                <a:spcPts val="265"/>
              </a:spcBef>
            </a:pPr>
            <a:r>
              <a:rPr sz="1200" i="1" spc="-37" baseline="-17361" dirty="0">
                <a:latin typeface="Arial"/>
                <a:cs typeface="Arial"/>
              </a:rPr>
              <a:t>e</a:t>
            </a:r>
            <a:r>
              <a:rPr sz="600" i="1" spc="-25" dirty="0">
                <a:latin typeface="Arial"/>
                <a:cs typeface="Arial"/>
              </a:rPr>
              <a:t>x</a:t>
            </a:r>
            <a:r>
              <a:rPr sz="600" i="1" spc="-50" dirty="0">
                <a:latin typeface="Arial"/>
                <a:cs typeface="Arial"/>
              </a:rPr>
              <a:t> </a:t>
            </a:r>
            <a:r>
              <a:rPr sz="1200" spc="44" baseline="-17361" dirty="0">
                <a:latin typeface="Verdana"/>
                <a:cs typeface="Verdana"/>
              </a:rPr>
              <a:t>+</a:t>
            </a:r>
            <a:r>
              <a:rPr sz="1200" i="1" spc="44" baseline="-17361" dirty="0">
                <a:latin typeface="Arial"/>
                <a:cs typeface="Arial"/>
              </a:rPr>
              <a:t>e</a:t>
            </a:r>
            <a:r>
              <a:rPr sz="600" i="1" spc="30" dirty="0">
                <a:latin typeface="Arial"/>
                <a:cs typeface="Arial"/>
              </a:rPr>
              <a:t>−x</a:t>
            </a:r>
            <a:endParaRPr sz="600">
              <a:latin typeface="Arial"/>
              <a:cs typeface="Arial"/>
            </a:endParaRPr>
          </a:p>
          <a:p>
            <a:pPr marL="211454" indent="-173355">
              <a:lnSpc>
                <a:spcPct val="100000"/>
              </a:lnSpc>
              <a:spcBef>
                <a:spcPts val="215"/>
              </a:spcBef>
              <a:buClr>
                <a:srgbClr val="6B8DA7"/>
              </a:buClr>
              <a:buFont typeface="Segoe UI Symbol"/>
              <a:buChar char="❑"/>
              <a:tabLst>
                <a:tab pos="211454" algn="l"/>
              </a:tabLst>
            </a:pPr>
            <a:r>
              <a:rPr sz="1100" spc="-40" dirty="0">
                <a:latin typeface="Arial MT"/>
                <a:cs typeface="Arial MT"/>
              </a:rPr>
              <a:t>Rectified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Linear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(ReLU):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ReLU</a:t>
            </a:r>
            <a:r>
              <a:rPr sz="1100" spc="-75" dirty="0">
                <a:latin typeface="Tahoma"/>
                <a:cs typeface="Tahoma"/>
              </a:rPr>
              <a:t>(</a:t>
            </a:r>
            <a:r>
              <a:rPr sz="1100" i="1" spc="-7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max(</a:t>
            </a:r>
            <a:r>
              <a:rPr sz="1100" spc="-50" dirty="0">
                <a:latin typeface="Arial MT"/>
                <a:cs typeface="Arial MT"/>
              </a:rPr>
              <a:t>0</a:t>
            </a:r>
            <a:r>
              <a:rPr sz="1100" i="1" spc="-50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Regularization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29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183079"/>
            <a:ext cx="4357370" cy="10001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Arial MT"/>
                <a:cs typeface="Arial MT"/>
              </a:rPr>
              <a:t>Regularization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techniques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can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be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used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prevent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overfitting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MLP:</a:t>
            </a:r>
            <a:endParaRPr sz="1100">
              <a:latin typeface="Arial MT"/>
              <a:cs typeface="Arial MT"/>
            </a:endParaRPr>
          </a:p>
          <a:p>
            <a:pPr marL="288290" marR="288290" indent="-173355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dirty="0">
                <a:latin typeface="Arial MT"/>
                <a:cs typeface="Arial MT"/>
              </a:rPr>
              <a:t>L1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L2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regularization: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Add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penalty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term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loss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function 	</a:t>
            </a:r>
            <a:r>
              <a:rPr sz="1100" spc="-95" dirty="0">
                <a:latin typeface="Arial MT"/>
                <a:cs typeface="Arial MT"/>
              </a:rPr>
              <a:t>based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on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weights’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magnitude.</a:t>
            </a:r>
            <a:endParaRPr sz="1100">
              <a:latin typeface="Arial MT"/>
              <a:cs typeface="Arial MT"/>
            </a:endParaRPr>
          </a:p>
          <a:p>
            <a:pPr marL="288290" marR="508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10" dirty="0">
                <a:latin typeface="Arial MT"/>
                <a:cs typeface="Arial MT"/>
              </a:rPr>
              <a:t>Dropout: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During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training,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randomly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set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5" dirty="0">
                <a:latin typeface="Arial MT"/>
                <a:cs typeface="Arial MT"/>
              </a:rPr>
              <a:t>some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neurons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	</a:t>
            </a:r>
            <a:r>
              <a:rPr sz="1100" spc="-60" dirty="0">
                <a:latin typeface="Arial MT"/>
                <a:cs typeface="Arial MT"/>
              </a:rPr>
              <a:t>zero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 a </a:t>
            </a:r>
            <a:r>
              <a:rPr sz="1100" spc="-60" dirty="0">
                <a:latin typeface="Arial MT"/>
                <a:cs typeface="Arial MT"/>
              </a:rPr>
              <a:t>given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probability.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Stopping</a:t>
            </a:r>
            <a:r>
              <a:rPr spc="160" dirty="0"/>
              <a:t> </a:t>
            </a:r>
            <a:r>
              <a:rPr spc="-10" dirty="0"/>
              <a:t>Criteria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30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183079"/>
            <a:ext cx="4327525" cy="10001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0" dirty="0">
                <a:latin typeface="Arial MT"/>
                <a:cs typeface="Arial MT"/>
              </a:rPr>
              <a:t>Stopping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criteria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determine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when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stop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training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network:</a:t>
            </a:r>
            <a:endParaRPr sz="1100">
              <a:latin typeface="Arial MT"/>
              <a:cs typeface="Arial MT"/>
            </a:endParaRPr>
          </a:p>
          <a:p>
            <a:pPr marL="288290" marR="5080" indent="-173355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35" dirty="0">
                <a:latin typeface="Arial MT"/>
                <a:cs typeface="Arial MT"/>
              </a:rPr>
              <a:t>Maximum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number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epochs: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Stop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training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after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predefined</a:t>
            </a:r>
            <a:r>
              <a:rPr sz="1100" spc="-10" dirty="0">
                <a:latin typeface="Arial MT"/>
                <a:cs typeface="Arial MT"/>
              </a:rPr>
              <a:t> number 	</a:t>
            </a:r>
            <a:r>
              <a:rPr sz="1100" dirty="0">
                <a:latin typeface="Arial MT"/>
                <a:cs typeface="Arial MT"/>
              </a:rPr>
              <a:t>of </a:t>
            </a:r>
            <a:r>
              <a:rPr sz="1100" spc="-10" dirty="0">
                <a:latin typeface="Arial MT"/>
                <a:cs typeface="Arial MT"/>
              </a:rPr>
              <a:t>epochs.</a:t>
            </a:r>
            <a:endParaRPr sz="1100">
              <a:latin typeface="Arial MT"/>
              <a:cs typeface="Arial MT"/>
            </a:endParaRPr>
          </a:p>
          <a:p>
            <a:pPr marL="288290" marR="3492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45" dirty="0">
                <a:latin typeface="Arial MT"/>
                <a:cs typeface="Arial MT"/>
              </a:rPr>
              <a:t>Early</a:t>
            </a:r>
            <a:r>
              <a:rPr sz="1100" spc="-30" dirty="0">
                <a:latin typeface="Arial MT"/>
                <a:cs typeface="Arial MT"/>
              </a:rPr>
              <a:t> stopping: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Monitor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performance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validation set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stop 	training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when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performance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stops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improving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starts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degrading.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Optimization</a:t>
            </a:r>
            <a:r>
              <a:rPr spc="60" dirty="0"/>
              <a:t>  </a:t>
            </a:r>
            <a:r>
              <a:rPr spc="-10" dirty="0"/>
              <a:t>Algorithms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31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005191"/>
            <a:ext cx="4356735" cy="15106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Arial MT"/>
                <a:cs typeface="Arial MT"/>
              </a:rPr>
              <a:t>Optimization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algorithms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update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weights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biases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minimize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loss </a:t>
            </a:r>
            <a:r>
              <a:rPr sz="1100" spc="-10" dirty="0">
                <a:latin typeface="Arial MT"/>
                <a:cs typeface="Arial MT"/>
              </a:rPr>
              <a:t>function:</a:t>
            </a:r>
            <a:endParaRPr sz="1100">
              <a:latin typeface="Arial MT"/>
              <a:cs typeface="Arial MT"/>
            </a:endParaRPr>
          </a:p>
          <a:p>
            <a:pPr marL="288290" marR="36131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45" dirty="0">
                <a:latin typeface="Arial MT"/>
                <a:cs typeface="Arial MT"/>
              </a:rPr>
              <a:t>Gradient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Descent: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simplest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optimization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algorithm,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updates 	</a:t>
            </a:r>
            <a:r>
              <a:rPr sz="1100" spc="-65" dirty="0">
                <a:latin typeface="Arial MT"/>
                <a:cs typeface="Arial MT"/>
              </a:rPr>
              <a:t>parameters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based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gradients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learning</a:t>
            </a:r>
            <a:r>
              <a:rPr sz="1100" spc="-10" dirty="0">
                <a:latin typeface="Arial MT"/>
                <a:cs typeface="Arial MT"/>
              </a:rPr>
              <a:t> rate.</a:t>
            </a:r>
            <a:endParaRPr sz="1100">
              <a:latin typeface="Arial MT"/>
              <a:cs typeface="Arial MT"/>
            </a:endParaRPr>
          </a:p>
          <a:p>
            <a:pPr marL="288290" marR="33655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30" dirty="0">
                <a:latin typeface="Arial MT"/>
                <a:cs typeface="Arial MT"/>
              </a:rPr>
              <a:t>Momentum: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Adds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momentum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term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gradient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descent,</a:t>
            </a:r>
            <a:r>
              <a:rPr sz="1100" spc="-10" dirty="0">
                <a:latin typeface="Arial MT"/>
                <a:cs typeface="Arial MT"/>
              </a:rPr>
              <a:t> which 	</a:t>
            </a:r>
            <a:r>
              <a:rPr sz="1100" spc="-80" dirty="0">
                <a:latin typeface="Arial MT"/>
                <a:cs typeface="Arial MT"/>
              </a:rPr>
              <a:t>accelerates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convergence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reduces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oscillations.</a:t>
            </a:r>
            <a:endParaRPr sz="1100">
              <a:latin typeface="Arial MT"/>
              <a:cs typeface="Arial MT"/>
            </a:endParaRPr>
          </a:p>
          <a:p>
            <a:pPr marL="288290" marR="401320" indent="-173355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45" dirty="0">
                <a:latin typeface="Arial MT"/>
                <a:cs typeface="Arial MT"/>
              </a:rPr>
              <a:t>Adaptive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learning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methods: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Adjust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learning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during 	training,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e.g.,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AdaGrad,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RMSprop,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Adam.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32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183079"/>
            <a:ext cx="4248150" cy="10001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30" dirty="0">
                <a:latin typeface="Arial MT"/>
                <a:cs typeface="Arial MT"/>
              </a:rPr>
              <a:t>MLPs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can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be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applied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variety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tasks,</a:t>
            </a:r>
            <a:r>
              <a:rPr sz="1100" spc="-10" dirty="0">
                <a:latin typeface="Arial MT"/>
                <a:cs typeface="Arial MT"/>
              </a:rPr>
              <a:t> including:</a:t>
            </a:r>
            <a:endParaRPr sz="1100">
              <a:latin typeface="Arial MT"/>
              <a:cs typeface="Arial MT"/>
            </a:endParaRPr>
          </a:p>
          <a:p>
            <a:pPr marL="288290" marR="43815" indent="-173355">
              <a:lnSpc>
                <a:spcPct val="102699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65" dirty="0">
                <a:latin typeface="Arial MT"/>
                <a:cs typeface="Arial MT"/>
              </a:rPr>
              <a:t>Regression: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Predicting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continuous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values,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e.g.,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housing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prices,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stock 	prices.</a:t>
            </a:r>
            <a:endParaRPr sz="1100">
              <a:latin typeface="Arial MT"/>
              <a:cs typeface="Arial MT"/>
            </a:endParaRPr>
          </a:p>
          <a:p>
            <a:pPr marL="288290" marR="508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289560" algn="l"/>
              </a:tabLst>
            </a:pPr>
            <a:r>
              <a:rPr sz="1100" spc="-40" dirty="0">
                <a:latin typeface="Arial MT"/>
                <a:cs typeface="Arial MT"/>
              </a:rPr>
              <a:t>Classification: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Categorizing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input </a:t>
            </a:r>
            <a:r>
              <a:rPr sz="1100" spc="-20" dirty="0">
                <a:latin typeface="Arial MT"/>
                <a:cs typeface="Arial MT"/>
              </a:rPr>
              <a:t>data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 </a:t>
            </a:r>
            <a:r>
              <a:rPr sz="1100" spc="-90" dirty="0">
                <a:latin typeface="Arial MT"/>
                <a:cs typeface="Arial MT"/>
              </a:rPr>
              <a:t>classes,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e.g.,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handwritten 	</a:t>
            </a:r>
            <a:r>
              <a:rPr sz="1100" dirty="0">
                <a:latin typeface="Arial MT"/>
                <a:cs typeface="Arial MT"/>
              </a:rPr>
              <a:t>digit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recognition,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spam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detection.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Challenges</a:t>
            </a:r>
            <a:r>
              <a:rPr spc="90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33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890306"/>
            <a:ext cx="4051935" cy="1854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173355" indent="-173355" algn="just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55" dirty="0">
                <a:latin typeface="Arial MT"/>
                <a:cs typeface="Arial MT"/>
              </a:rPr>
              <a:t>Vanishing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exploding</a:t>
            </a:r>
            <a:r>
              <a:rPr sz="1100" spc="-25" dirty="0">
                <a:latin typeface="Arial MT"/>
                <a:cs typeface="Arial MT"/>
              </a:rPr>
              <a:t> gradients: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Deep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MLPs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may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suffer</a:t>
            </a:r>
            <a:r>
              <a:rPr sz="1100" spc="-20" dirty="0">
                <a:latin typeface="Arial MT"/>
                <a:cs typeface="Arial MT"/>
              </a:rPr>
              <a:t> from 	</a:t>
            </a:r>
            <a:r>
              <a:rPr sz="1100" spc="-55" dirty="0">
                <a:latin typeface="Arial MT"/>
                <a:cs typeface="Arial MT"/>
              </a:rPr>
              <a:t>vanishing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exploding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gradients,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making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difficult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train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	</a:t>
            </a:r>
            <a:r>
              <a:rPr sz="1100" spc="-45" dirty="0">
                <a:latin typeface="Arial MT"/>
                <a:cs typeface="Arial MT"/>
              </a:rPr>
              <a:t>network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effectively.</a:t>
            </a:r>
            <a:endParaRPr sz="1100">
              <a:latin typeface="Arial MT"/>
              <a:cs typeface="Arial MT"/>
            </a:endParaRPr>
          </a:p>
          <a:p>
            <a:pPr marL="185420" marR="508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dirty="0">
                <a:latin typeface="Arial MT"/>
                <a:cs typeface="Arial MT"/>
              </a:rPr>
              <a:t>Overfitting: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MLPs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large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number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parameters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are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prone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	</a:t>
            </a:r>
            <a:r>
              <a:rPr sz="1100" spc="-10" dirty="0">
                <a:latin typeface="Arial MT"/>
                <a:cs typeface="Arial MT"/>
              </a:rPr>
              <a:t>overfitting,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which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can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be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mitigated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using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regularization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techniques.</a:t>
            </a:r>
            <a:endParaRPr sz="1100">
              <a:latin typeface="Arial MT"/>
              <a:cs typeface="Arial MT"/>
            </a:endParaRPr>
          </a:p>
          <a:p>
            <a:pPr marL="185420" marR="10223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30" dirty="0">
                <a:latin typeface="Arial MT"/>
                <a:cs typeface="Arial MT"/>
              </a:rPr>
              <a:t>Local</a:t>
            </a:r>
            <a:r>
              <a:rPr sz="1100" spc="-25" dirty="0">
                <a:latin typeface="Arial MT"/>
                <a:cs typeface="Arial MT"/>
              </a:rPr>
              <a:t> minima: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optimization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algorithm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may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stuck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local 	</a:t>
            </a:r>
            <a:r>
              <a:rPr sz="1100" spc="-30" dirty="0">
                <a:latin typeface="Arial MT"/>
                <a:cs typeface="Arial MT"/>
              </a:rPr>
              <a:t>minima,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leading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suboptimal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solutions.</a:t>
            </a:r>
            <a:endParaRPr sz="1100">
              <a:latin typeface="Arial MT"/>
              <a:cs typeface="Arial MT"/>
            </a:endParaRPr>
          </a:p>
          <a:p>
            <a:pPr marL="185420" marR="7620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25" dirty="0">
                <a:latin typeface="Arial MT"/>
                <a:cs typeface="Arial MT"/>
              </a:rPr>
              <a:t>Model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selection: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Choosing</a:t>
            </a:r>
            <a:r>
              <a:rPr sz="1100" dirty="0">
                <a:latin typeface="Arial MT"/>
                <a:cs typeface="Arial MT"/>
              </a:rPr>
              <a:t> 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optimal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architecture,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activation 	</a:t>
            </a:r>
            <a:r>
              <a:rPr sz="1100" spc="-30" dirty="0">
                <a:latin typeface="Arial MT"/>
                <a:cs typeface="Arial MT"/>
              </a:rPr>
              <a:t>functions,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other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hyperparameters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requires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experimentation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spc="-65" dirty="0">
                <a:latin typeface="Arial MT"/>
                <a:cs typeface="Arial MT"/>
              </a:rPr>
              <a:t>can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be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time-</a:t>
            </a:r>
            <a:r>
              <a:rPr sz="1100" spc="-10" dirty="0">
                <a:latin typeface="Arial MT"/>
                <a:cs typeface="Arial MT"/>
              </a:rPr>
              <a:t>consuming.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Alternatives</a:t>
            </a:r>
            <a:r>
              <a:rPr spc="229" dirty="0"/>
              <a:t> </a:t>
            </a:r>
            <a:r>
              <a:rPr dirty="0"/>
              <a:t>and</a:t>
            </a:r>
            <a:r>
              <a:rPr spc="235" dirty="0"/>
              <a:t> </a:t>
            </a:r>
            <a:r>
              <a:rPr spc="-10" dirty="0"/>
              <a:t>Improvements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5" dirty="0"/>
              <a:t>34</a:t>
            </a:fld>
            <a:r>
              <a:rPr spc="-55" dirty="0"/>
              <a:t> </a:t>
            </a:r>
            <a:r>
              <a:rPr spc="-10" dirty="0"/>
              <a:t>/</a:t>
            </a:r>
            <a:r>
              <a:rPr spc="-55" dirty="0"/>
              <a:t> </a:t>
            </a:r>
            <a:r>
              <a:rPr spc="-35" dirty="0"/>
              <a:t>40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511" y="890306"/>
            <a:ext cx="4253865" cy="1854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5420" marR="598805" indent="-173355">
              <a:lnSpc>
                <a:spcPct val="102600"/>
              </a:lnSpc>
              <a:spcBef>
                <a:spcPts val="5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45" dirty="0">
                <a:latin typeface="Arial MT"/>
                <a:cs typeface="Arial MT"/>
              </a:rPr>
              <a:t>Convolutional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Neural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Networks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(CNNs):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Designed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 </a:t>
            </a:r>
            <a:r>
              <a:rPr sz="1100" spc="-20" dirty="0">
                <a:latin typeface="Arial MT"/>
                <a:cs typeface="Arial MT"/>
              </a:rPr>
              <a:t>image 	</a:t>
            </a:r>
            <a:r>
              <a:rPr sz="1100" spc="-65" dirty="0">
                <a:latin typeface="Arial MT"/>
                <a:cs typeface="Arial MT"/>
              </a:rPr>
              <a:t>processing,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CNNs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can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outperform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MLPs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tasks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like</a:t>
            </a:r>
            <a:r>
              <a:rPr sz="1100" spc="-10" dirty="0">
                <a:latin typeface="Arial MT"/>
                <a:cs typeface="Arial MT"/>
              </a:rPr>
              <a:t> image 	classification.</a:t>
            </a:r>
            <a:endParaRPr sz="1100">
              <a:latin typeface="Arial MT"/>
              <a:cs typeface="Arial MT"/>
            </a:endParaRPr>
          </a:p>
          <a:p>
            <a:pPr marL="185420" marR="227965" indent="-173355">
              <a:lnSpc>
                <a:spcPct val="102600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50" dirty="0">
                <a:latin typeface="Arial MT"/>
                <a:cs typeface="Arial MT"/>
              </a:rPr>
              <a:t>Recurrent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Neural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Networks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(RNNs):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Suitable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sequential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data, 	</a:t>
            </a:r>
            <a:r>
              <a:rPr sz="1100" spc="-70" dirty="0">
                <a:latin typeface="Arial MT"/>
                <a:cs typeface="Arial MT"/>
              </a:rPr>
              <a:t>RNNs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can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process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series,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natural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language,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other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ordered 	</a:t>
            </a:r>
            <a:r>
              <a:rPr sz="1100" spc="-10" dirty="0"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  <a:p>
            <a:pPr marL="185420" marR="5080" indent="-173355">
              <a:lnSpc>
                <a:spcPct val="102699"/>
              </a:lnSpc>
              <a:spcBef>
                <a:spcPts val="300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45" dirty="0">
                <a:latin typeface="Arial MT"/>
                <a:cs typeface="Arial MT"/>
              </a:rPr>
              <a:t>Long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Short-Term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Memory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(LSTM)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Gated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Recurrent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Units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(GRU): 	</a:t>
            </a:r>
            <a:r>
              <a:rPr sz="1100" spc="-75" dirty="0">
                <a:latin typeface="Arial MT"/>
                <a:cs typeface="Arial MT"/>
              </a:rPr>
              <a:t>These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networks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address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vanishing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gradient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problem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 </a:t>
            </a:r>
            <a:r>
              <a:rPr sz="1100" spc="-10" dirty="0">
                <a:latin typeface="Arial MT"/>
                <a:cs typeface="Arial MT"/>
              </a:rPr>
              <a:t>RNNs.</a:t>
            </a:r>
            <a:endParaRPr sz="1100">
              <a:latin typeface="Arial MT"/>
              <a:cs typeface="Arial MT"/>
            </a:endParaRPr>
          </a:p>
          <a:p>
            <a:pPr marL="185420" marR="206375" indent="-173355">
              <a:lnSpc>
                <a:spcPct val="102600"/>
              </a:lnSpc>
              <a:spcBef>
                <a:spcPts val="295"/>
              </a:spcBef>
              <a:buClr>
                <a:srgbClr val="6B8DA7"/>
              </a:buClr>
              <a:buFont typeface="Segoe UI Symbol"/>
              <a:buChar char="❑"/>
              <a:tabLst>
                <a:tab pos="186690" algn="l"/>
              </a:tabLst>
            </a:pPr>
            <a:r>
              <a:rPr sz="1100" spc="-45" dirty="0">
                <a:latin typeface="Arial MT"/>
                <a:cs typeface="Arial MT"/>
              </a:rPr>
              <a:t>Transfer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learning: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Pre-</a:t>
            </a:r>
            <a:r>
              <a:rPr sz="1100" spc="-35" dirty="0">
                <a:latin typeface="Arial MT"/>
                <a:cs typeface="Arial MT"/>
              </a:rPr>
              <a:t>trained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models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can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be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fine-</a:t>
            </a:r>
            <a:r>
              <a:rPr sz="1100" spc="-30" dirty="0">
                <a:latin typeface="Arial MT"/>
                <a:cs typeface="Arial MT"/>
              </a:rPr>
              <a:t>tuned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specific 	</a:t>
            </a:r>
            <a:r>
              <a:rPr sz="1100" spc="-40" dirty="0">
                <a:latin typeface="Arial MT"/>
                <a:cs typeface="Arial MT"/>
              </a:rPr>
              <a:t>tasks,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reducing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training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improving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performance.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2533</Words>
  <Application>Microsoft Office PowerPoint</Application>
  <PresentationFormat>Custom</PresentationFormat>
  <Paragraphs>396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Aptos</vt:lpstr>
      <vt:lpstr>Aptos Display</vt:lpstr>
      <vt:lpstr>Arial</vt:lpstr>
      <vt:lpstr>Arial MT</vt:lpstr>
      <vt:lpstr>Corbel</vt:lpstr>
      <vt:lpstr>Georgia</vt:lpstr>
      <vt:lpstr>Lucida Sans Unicode</vt:lpstr>
      <vt:lpstr>Segoe UI Symbol</vt:lpstr>
      <vt:lpstr>Sitka Text</vt:lpstr>
      <vt:lpstr>Tahoma</vt:lpstr>
      <vt:lpstr>Trebuchet MS</vt:lpstr>
      <vt:lpstr>Verdana</vt:lpstr>
      <vt:lpstr>Office Theme</vt:lpstr>
      <vt:lpstr>Backpropagation</vt:lpstr>
      <vt:lpstr>MLP Architecture </vt:lpstr>
      <vt:lpstr>PowerPoint Presentation</vt:lpstr>
      <vt:lpstr>Hidden Layer and Output</vt:lpstr>
      <vt:lpstr>PowerPoint Presentation</vt:lpstr>
      <vt:lpstr>Compute Gradients for Output Layer</vt:lpstr>
      <vt:lpstr>Compute Gradients for Hidden Layer</vt:lpstr>
      <vt:lpstr>Update Parameters with Gradient Descent</vt:lpstr>
      <vt:lpstr>Summary</vt:lpstr>
      <vt:lpstr>MLP Architecture </vt:lpstr>
      <vt:lpstr>PowerPoint Presentation</vt:lpstr>
      <vt:lpstr>Hidden Layer and Output</vt:lpstr>
      <vt:lpstr>PowerPoint Presentation</vt:lpstr>
      <vt:lpstr>Compute Gradients for Output Layer</vt:lpstr>
      <vt:lpstr>Compute Gradients for Hidden Layer</vt:lpstr>
      <vt:lpstr>Compute Gradients for Hidden Layer</vt:lpstr>
      <vt:lpstr>Update Parameters with Gradient Descent</vt:lpstr>
      <vt:lpstr>Update Parameters with Gradient Descent</vt:lpstr>
      <vt:lpstr>Summary</vt:lpstr>
      <vt:lpstr>General MLP Architecture</vt:lpstr>
      <vt:lpstr>PowerPoint Presentation</vt:lpstr>
      <vt:lpstr>Hidden Layers and Output</vt:lpstr>
      <vt:lpstr>Loss Function</vt:lpstr>
      <vt:lpstr>Compute Gradients for Output Layer</vt:lpstr>
      <vt:lpstr>Backpropagation Algorithm Overview</vt:lpstr>
      <vt:lpstr>Gradients for Hidden Layers</vt:lpstr>
      <vt:lpstr>Update Parameters with Gradient Descent</vt:lpstr>
      <vt:lpstr>Activation Functions</vt:lpstr>
      <vt:lpstr>Regularization</vt:lpstr>
      <vt:lpstr>Stopping Criteria</vt:lpstr>
      <vt:lpstr>Optimization  Algorithms</vt:lpstr>
      <vt:lpstr>Applications</vt:lpstr>
      <vt:lpstr>Challenges and Limitations</vt:lpstr>
      <vt:lpstr>Alternatives and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- CSN-382 (Lecture 21)</dc:title>
  <dc:creator>-0.3cm Dr. R. Balasubramanian</dc:creator>
  <cp:lastModifiedBy>vijay kumari</cp:lastModifiedBy>
  <cp:revision>2</cp:revision>
  <dcterms:created xsi:type="dcterms:W3CDTF">2025-11-09T18:30:43Z</dcterms:created>
  <dcterms:modified xsi:type="dcterms:W3CDTF">2025-11-09T18:53:19Z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2023-04-13T00:00:00Z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2025-11-09T00:00:00Z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