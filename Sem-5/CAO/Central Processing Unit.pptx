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gif" ContentType="image/gif"/>
  <Default Extension="wdp" ContentType="image/vnd.ms-photo"/>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7" r:id="rId3"/>
    <p:sldId id="259" r:id="rId4"/>
    <p:sldId id="282" r:id="rId5"/>
    <p:sldId id="260" r:id="rId6"/>
    <p:sldId id="261" r:id="rId7"/>
    <p:sldId id="263" r:id="rId8"/>
    <p:sldId id="262" r:id="rId9"/>
    <p:sldId id="264" r:id="rId10"/>
    <p:sldId id="269" r:id="rId11"/>
    <p:sldId id="267" r:id="rId12"/>
    <p:sldId id="268" r:id="rId13"/>
    <p:sldId id="283" r:id="rId14"/>
    <p:sldId id="266" r:id="rId15"/>
    <p:sldId id="270" r:id="rId16"/>
    <p:sldId id="271" r:id="rId17"/>
    <p:sldId id="274" r:id="rId18"/>
    <p:sldId id="272" r:id="rId19"/>
    <p:sldId id="275" r:id="rId20"/>
    <p:sldId id="276" r:id="rId21"/>
    <p:sldId id="277" r:id="rId22"/>
    <p:sldId id="278" r:id="rId23"/>
    <p:sldId id="279" r:id="rId24"/>
    <p:sldId id="280" r:id="rId25"/>
    <p:sldId id="285" r:id="rId26"/>
    <p:sldId id="284" r:id="rId27"/>
    <p:sldId id="281" r:id="rId28"/>
    <p:sldId id="287" r:id="rId29"/>
    <p:sldId id="286"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10" r:id="rId43"/>
    <p:sldId id="311" r:id="rId44"/>
    <p:sldId id="312" r:id="rId45"/>
    <p:sldId id="313" r:id="rId46"/>
    <p:sldId id="314" r:id="rId47"/>
    <p:sldId id="315" r:id="rId48"/>
    <p:sldId id="316" r:id="rId49"/>
    <p:sldId id="317" r:id="rId50"/>
    <p:sldId id="319" r:id="rId51"/>
    <p:sldId id="320" r:id="rId52"/>
    <p:sldId id="318"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Lst>
  <p:sldSz cx="12192000" cy="6858000"/>
  <p:notesSz cx="6858000" cy="9144000"/>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showGuides="1">
      <p:cViewPr>
        <p:scale>
          <a:sx n="69" d="100"/>
          <a:sy n="69" d="100"/>
        </p:scale>
        <p:origin x="564"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3" Type="http://schemas.openxmlformats.org/officeDocument/2006/relationships/customXml" Target="../customXml/item3.xml"/><Relationship Id="rId82" Type="http://schemas.openxmlformats.org/officeDocument/2006/relationships/customXml" Target="../customXml/item2.xml"/><Relationship Id="rId81" Type="http://schemas.openxmlformats.org/officeDocument/2006/relationships/customXml" Target="../customXml/item1.xml"/><Relationship Id="rId80" Type="http://schemas.openxmlformats.org/officeDocument/2006/relationships/tableStyles" Target="tableStyles.xml"/><Relationship Id="rId8" Type="http://schemas.openxmlformats.org/officeDocument/2006/relationships/slide" Target="slides/slide6.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p:cNvSpPr>
            <a:spLocks noGrp="1"/>
          </p:cNvSpPr>
          <p:nvPr>
            <p:ph type="dt" sz="half" idx="10"/>
          </p:nvPr>
        </p:nvSpPr>
        <p:spPr/>
        <p:txBody>
          <a:bodyPr/>
          <a:lstStyle/>
          <a:p>
            <a:fld id="{ED291B17-9318-49DB-B28B-6E5994AE9581}"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7"/>
          <p:cNvSpPr>
            <a:spLocks noGrp="1"/>
          </p:cNvSpPr>
          <p:nvPr>
            <p:ph type="dt" sz="half" idx="10"/>
          </p:nvPr>
        </p:nvSpPr>
        <p:spPr/>
        <p:txBody>
          <a:bodyPr/>
          <a:lstStyle/>
          <a:p>
            <a:fld id="{78DD82B9-B8EE-4375-B6FF-88FA6ABB15D9}"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dirty="0"/>
          </a:p>
        </p:txBody>
      </p:sp>
      <p:sp>
        <p:nvSpPr>
          <p:cNvPr id="10" name="Footer Placeholder 9"/>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wdp"/><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23.wdp"/><Relationship Id="rId1"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jpe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jpe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81191" y="1020431"/>
            <a:ext cx="10993549" cy="1475013"/>
          </a:xfrm>
        </p:spPr>
        <p:txBody>
          <a:bodyPr>
            <a:normAutofit/>
          </a:bodyPr>
          <a:lstStyle/>
          <a:p>
            <a:r>
              <a:rPr lang="en-US" dirty="0">
                <a:solidFill>
                  <a:schemeClr val="tx1"/>
                </a:solidFill>
              </a:rPr>
              <a:t>Central Processing Unit</a:t>
            </a:r>
            <a:endParaRPr lang="en-US" dirty="0">
              <a:solidFill>
                <a:schemeClr val="tx1"/>
              </a:solidFill>
            </a:endParaRPr>
          </a:p>
        </p:txBody>
      </p:sp>
      <p:sp>
        <p:nvSpPr>
          <p:cNvPr id="3" name="Subtitle 2"/>
          <p:cNvSpPr>
            <a:spLocks noGrp="1"/>
          </p:cNvSpPr>
          <p:nvPr>
            <p:ph type="subTitle" idx="1"/>
          </p:nvPr>
        </p:nvSpPr>
        <p:spPr>
          <a:xfrm>
            <a:off x="581194" y="2495445"/>
            <a:ext cx="10993546" cy="468233"/>
          </a:xfrm>
        </p:spPr>
        <p:txBody>
          <a:bodyPr>
            <a:normAutofit/>
          </a:bodyPr>
          <a:lstStyle/>
          <a:p>
            <a:r>
              <a:rPr lang="en-US" b="1" dirty="0"/>
              <a:t>Unit - iv</a:t>
            </a:r>
            <a:endParaRPr lang="en-US" b="1" dirty="0"/>
          </a:p>
        </p:txBody>
      </p:sp>
      <p:sp>
        <p:nvSpPr>
          <p:cNvPr id="20" name="Rectangle 19"/>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Picture 5" descr="abstract image"/>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448733" y="3081867"/>
            <a:ext cx="11260667" cy="33104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4089"/>
          </a:xfrm>
        </p:spPr>
        <p:txBody>
          <a:bodyPr/>
          <a:lstStyle/>
          <a:p>
            <a:r>
              <a:rPr lang="en-IN" dirty="0">
                <a:solidFill>
                  <a:schemeClr val="tx1"/>
                </a:solidFill>
              </a:rPr>
              <a:t>Content</a:t>
            </a:r>
            <a:endParaRPr lang="en-IN" dirty="0">
              <a:solidFill>
                <a:schemeClr val="tx1"/>
              </a:solidFill>
            </a:endParaRPr>
          </a:p>
        </p:txBody>
      </p:sp>
      <p:sp>
        <p:nvSpPr>
          <p:cNvPr id="3" name="Content Placeholder 2"/>
          <p:cNvSpPr>
            <a:spLocks noGrp="1"/>
          </p:cNvSpPr>
          <p:nvPr>
            <p:ph idx="1"/>
          </p:nvPr>
        </p:nvSpPr>
        <p:spPr>
          <a:xfrm>
            <a:off x="2024743" y="1548882"/>
            <a:ext cx="6596744" cy="4417138"/>
          </a:xfrm>
        </p:spPr>
        <p:txBody>
          <a:bodyPr>
            <a:normAutofit/>
          </a:bodyPr>
          <a:lstStyle/>
          <a:p>
            <a:pPr marL="457200" indent="-457200">
              <a:buFont typeface="+mj-lt"/>
              <a:buAutoNum type="arabicPeriod"/>
            </a:pPr>
            <a:r>
              <a:rPr lang="en-US" sz="2300" dirty="0">
                <a:solidFill>
                  <a:schemeClr val="tx1"/>
                </a:solidFill>
              </a:rPr>
              <a:t>General register organization</a:t>
            </a:r>
            <a:endParaRPr lang="en-US" sz="2300" dirty="0">
              <a:solidFill>
                <a:schemeClr val="tx1"/>
              </a:solidFill>
            </a:endParaRPr>
          </a:p>
          <a:p>
            <a:pPr marL="457200" indent="-457200">
              <a:buFont typeface="+mj-lt"/>
              <a:buAutoNum type="arabicPeriod"/>
            </a:pPr>
            <a:r>
              <a:rPr lang="en-US" sz="2300" dirty="0">
                <a:solidFill>
                  <a:schemeClr val="tx1"/>
                </a:solidFill>
              </a:rPr>
              <a:t>Stack organization</a:t>
            </a:r>
            <a:endParaRPr lang="en-US" sz="2300" dirty="0">
              <a:solidFill>
                <a:schemeClr val="tx1"/>
              </a:solidFill>
            </a:endParaRPr>
          </a:p>
          <a:p>
            <a:pPr marL="457200" indent="-457200">
              <a:buFont typeface="+mj-lt"/>
              <a:buAutoNum type="arabicPeriod"/>
            </a:pPr>
            <a:r>
              <a:rPr lang="en-US" sz="2300" dirty="0">
                <a:solidFill>
                  <a:schemeClr val="tx1"/>
                </a:solidFill>
              </a:rPr>
              <a:t>Instruction format </a:t>
            </a:r>
            <a:endParaRPr lang="en-US" sz="2300" dirty="0">
              <a:solidFill>
                <a:schemeClr val="tx1"/>
              </a:solidFill>
            </a:endParaRPr>
          </a:p>
          <a:p>
            <a:pPr marL="457200" indent="-457200">
              <a:buFont typeface="+mj-lt"/>
              <a:buAutoNum type="arabicPeriod"/>
            </a:pPr>
            <a:r>
              <a:rPr lang="en-US" sz="2300" dirty="0">
                <a:solidFill>
                  <a:schemeClr val="tx1"/>
                </a:solidFill>
              </a:rPr>
              <a:t>Addressing modes</a:t>
            </a:r>
            <a:endParaRPr lang="en-US" sz="2300" dirty="0">
              <a:solidFill>
                <a:schemeClr val="tx1"/>
              </a:solidFill>
            </a:endParaRPr>
          </a:p>
          <a:p>
            <a:pPr marL="457200" indent="-457200">
              <a:buFont typeface="+mj-lt"/>
              <a:buAutoNum type="arabicPeriod"/>
            </a:pPr>
            <a:r>
              <a:rPr lang="en-US" sz="2300" dirty="0">
                <a:solidFill>
                  <a:schemeClr val="tx1"/>
                </a:solidFill>
              </a:rPr>
              <a:t>Data transfer and manipulation instructions</a:t>
            </a:r>
            <a:endParaRPr lang="en-US" sz="2300" dirty="0">
              <a:solidFill>
                <a:schemeClr val="tx1"/>
              </a:solidFill>
            </a:endParaRPr>
          </a:p>
          <a:p>
            <a:pPr marL="457200" indent="-457200">
              <a:buFont typeface="+mj-lt"/>
              <a:buAutoNum type="arabicPeriod"/>
            </a:pPr>
            <a:r>
              <a:rPr lang="en-US" sz="2300" dirty="0">
                <a:solidFill>
                  <a:schemeClr val="tx1"/>
                </a:solidFill>
              </a:rPr>
              <a:t>Program control</a:t>
            </a:r>
            <a:endParaRPr lang="en-US" sz="2300" dirty="0">
              <a:solidFill>
                <a:schemeClr val="tx1"/>
              </a:solidFill>
            </a:endParaRPr>
          </a:p>
          <a:p>
            <a:pPr marL="457200" indent="-457200">
              <a:buFont typeface="+mj-lt"/>
              <a:buAutoNum type="arabicPeriod"/>
            </a:pPr>
            <a:r>
              <a:rPr lang="en-US" sz="2300" dirty="0">
                <a:solidFill>
                  <a:schemeClr val="tx1"/>
                </a:solidFill>
              </a:rPr>
              <a:t>RISC, </a:t>
            </a:r>
            <a:r>
              <a:rPr lang="en-US" sz="2300">
                <a:solidFill>
                  <a:schemeClr val="tx1"/>
                </a:solidFill>
              </a:rPr>
              <a:t>and CISC</a:t>
            </a:r>
            <a:endParaRPr lang="en-US" sz="23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857038"/>
            <a:ext cx="11029616" cy="988332"/>
          </a:xfrm>
        </p:spPr>
        <p:txBody>
          <a:bodyPr/>
          <a:lstStyle/>
          <a:p>
            <a:pPr algn="ctr"/>
            <a:r>
              <a:rPr lang="en-US" sz="2800" dirty="0">
                <a:solidFill>
                  <a:schemeClr val="tx1"/>
                </a:solidFill>
              </a:rPr>
              <a:t>1. General register organization</a:t>
            </a:r>
            <a:endParaRPr lang="en-IN"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4089"/>
          </a:xfrm>
        </p:spPr>
        <p:txBody>
          <a:bodyPr/>
          <a:lstStyle/>
          <a:p>
            <a:pPr algn="ctr"/>
            <a:r>
              <a:rPr lang="en-IN" dirty="0">
                <a:solidFill>
                  <a:schemeClr val="tx1"/>
                </a:solidFill>
              </a:rPr>
              <a:t>Introduction</a:t>
            </a:r>
            <a:endParaRPr lang="en-IN" dirty="0">
              <a:solidFill>
                <a:schemeClr val="tx1"/>
              </a:solidFill>
            </a:endParaRPr>
          </a:p>
        </p:txBody>
      </p:sp>
      <p:sp>
        <p:nvSpPr>
          <p:cNvPr id="3" name="Content Placeholder 2"/>
          <p:cNvSpPr>
            <a:spLocks noGrp="1"/>
          </p:cNvSpPr>
          <p:nvPr>
            <p:ph idx="1"/>
          </p:nvPr>
        </p:nvSpPr>
        <p:spPr>
          <a:xfrm>
            <a:off x="379451" y="1548882"/>
            <a:ext cx="5830077" cy="4417138"/>
          </a:xfrm>
        </p:spPr>
        <p:txBody>
          <a:bodyPr>
            <a:normAutofit/>
          </a:bodyPr>
          <a:lstStyle/>
          <a:p>
            <a:pPr algn="just">
              <a:lnSpc>
                <a:spcPct val="100000"/>
              </a:lnSpc>
              <a:spcAft>
                <a:spcPts val="1000"/>
              </a:spcAft>
            </a:pPr>
            <a:r>
              <a:rPr lang="en-US" sz="2300" dirty="0">
                <a:solidFill>
                  <a:schemeClr val="tx1"/>
                </a:solidFill>
              </a:rPr>
              <a:t>The central processing unit is where all the calculations and logic operations take place.</a:t>
            </a:r>
            <a:endParaRPr lang="en-US" sz="2300" dirty="0">
              <a:solidFill>
                <a:schemeClr val="tx1"/>
              </a:solidFill>
            </a:endParaRPr>
          </a:p>
          <a:p>
            <a:pPr algn="just">
              <a:lnSpc>
                <a:spcPct val="100000"/>
              </a:lnSpc>
              <a:spcAft>
                <a:spcPts val="1000"/>
              </a:spcAft>
            </a:pPr>
            <a:r>
              <a:rPr lang="en-US" sz="2300" dirty="0">
                <a:solidFill>
                  <a:schemeClr val="tx1"/>
                </a:solidFill>
              </a:rPr>
              <a:t>CPU performs data-processing operations.</a:t>
            </a:r>
            <a:endParaRPr lang="en-US" sz="2300" dirty="0">
              <a:solidFill>
                <a:schemeClr val="tx1"/>
              </a:solidFill>
            </a:endParaRPr>
          </a:p>
          <a:p>
            <a:pPr algn="just">
              <a:lnSpc>
                <a:spcPct val="100000"/>
              </a:lnSpc>
            </a:pPr>
            <a:r>
              <a:rPr lang="en-US" sz="2300" dirty="0">
                <a:solidFill>
                  <a:schemeClr val="tx1"/>
                </a:solidFill>
              </a:rPr>
              <a:t>Main parts of the CPU are:</a:t>
            </a:r>
            <a:endParaRPr lang="en-US" sz="2300" dirty="0">
              <a:solidFill>
                <a:schemeClr val="tx1"/>
              </a:solidFill>
            </a:endParaRPr>
          </a:p>
          <a:p>
            <a:pPr lvl="1" algn="just"/>
            <a:r>
              <a:rPr lang="en-US" sz="2000" dirty="0">
                <a:solidFill>
                  <a:schemeClr val="tx1"/>
                </a:solidFill>
              </a:rPr>
              <a:t>Arithmetic Logic Unit (ALU)</a:t>
            </a:r>
            <a:endParaRPr lang="en-US" sz="2000" dirty="0">
              <a:solidFill>
                <a:schemeClr val="tx1"/>
              </a:solidFill>
            </a:endParaRPr>
          </a:p>
          <a:p>
            <a:pPr lvl="1" algn="just"/>
            <a:r>
              <a:rPr lang="en-US" sz="2000" dirty="0">
                <a:solidFill>
                  <a:schemeClr val="tx1"/>
                </a:solidFill>
              </a:rPr>
              <a:t>Control Unit (CU)</a:t>
            </a:r>
            <a:endParaRPr lang="en-US" sz="2000" dirty="0">
              <a:solidFill>
                <a:schemeClr val="tx1"/>
              </a:solidFill>
            </a:endParaRPr>
          </a:p>
          <a:p>
            <a:pPr lvl="1" algn="just"/>
            <a:r>
              <a:rPr lang="en-US" sz="2000" dirty="0">
                <a:solidFill>
                  <a:schemeClr val="tx1"/>
                </a:solidFill>
              </a:rPr>
              <a:t>Registers</a:t>
            </a:r>
            <a:endParaRPr lang="en-US" sz="2000" dirty="0">
              <a:solidFill>
                <a:schemeClr val="tx1"/>
              </a:solidFill>
            </a:endParaRPr>
          </a:p>
          <a:p>
            <a:pPr lvl="1" algn="just"/>
            <a:endParaRPr lang="en-US" sz="2000"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
        <p:nvSpPr>
          <p:cNvPr id="5" name="Rectangle 4"/>
          <p:cNvSpPr/>
          <p:nvPr/>
        </p:nvSpPr>
        <p:spPr>
          <a:xfrm>
            <a:off x="6335487" y="3181739"/>
            <a:ext cx="1931435" cy="1101012"/>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n-IN" dirty="0"/>
              <a:t>Control Unit</a:t>
            </a:r>
            <a:endParaRPr lang="en-IN" dirty="0"/>
          </a:p>
        </p:txBody>
      </p:sp>
      <p:sp>
        <p:nvSpPr>
          <p:cNvPr id="6" name="Rectangle 5"/>
          <p:cNvSpPr/>
          <p:nvPr/>
        </p:nvSpPr>
        <p:spPr>
          <a:xfrm>
            <a:off x="9088019" y="1943878"/>
            <a:ext cx="2522788" cy="1101012"/>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Register Set</a:t>
            </a:r>
            <a:endParaRPr lang="en-IN" dirty="0"/>
          </a:p>
        </p:txBody>
      </p:sp>
      <p:cxnSp>
        <p:nvCxnSpPr>
          <p:cNvPr id="10" name="Connector: Elbow 9"/>
          <p:cNvCxnSpPr>
            <a:stCxn id="5" idx="0"/>
            <a:endCxn id="6" idx="1"/>
          </p:cNvCxnSpPr>
          <p:nvPr/>
        </p:nvCxnSpPr>
        <p:spPr>
          <a:xfrm rot="5400000" flipH="1" flipV="1">
            <a:off x="7850935" y="1944655"/>
            <a:ext cx="687355" cy="178681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Arithmetic logic unit - Wikipedi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76042" y="4086809"/>
            <a:ext cx="2836507" cy="157687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nector: Elbow 13"/>
          <p:cNvCxnSpPr>
            <a:stCxn id="5" idx="2"/>
            <a:endCxn id="1026" idx="1"/>
          </p:cNvCxnSpPr>
          <p:nvPr/>
        </p:nvCxnSpPr>
        <p:spPr>
          <a:xfrm rot="16200000" flipH="1">
            <a:off x="7842376" y="3741579"/>
            <a:ext cx="592495" cy="167483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9881114" y="3044890"/>
            <a:ext cx="0" cy="100459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10854608" y="3044890"/>
            <a:ext cx="0" cy="100459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0123714" y="4683966"/>
            <a:ext cx="597159" cy="369332"/>
          </a:xfrm>
          <a:prstGeom prst="rect">
            <a:avLst/>
          </a:prstGeom>
          <a:noFill/>
        </p:spPr>
        <p:txBody>
          <a:bodyPr wrap="square" rtlCol="0">
            <a:spAutoFit/>
          </a:bodyPr>
          <a:lstStyle/>
          <a:p>
            <a:r>
              <a:rPr lang="en-IN" dirty="0"/>
              <a:t>ALU</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4089"/>
          </a:xfrm>
        </p:spPr>
        <p:txBody>
          <a:bodyPr/>
          <a:lstStyle/>
          <a:p>
            <a:pPr algn="ctr"/>
            <a:r>
              <a:rPr lang="en-IN" dirty="0">
                <a:solidFill>
                  <a:schemeClr val="tx1"/>
                </a:solidFill>
              </a:rPr>
              <a:t>Introduction</a:t>
            </a:r>
            <a:endParaRPr lang="en-IN" dirty="0">
              <a:solidFill>
                <a:schemeClr val="tx1"/>
              </a:solidFill>
            </a:endParaRPr>
          </a:p>
        </p:txBody>
      </p:sp>
      <p:sp>
        <p:nvSpPr>
          <p:cNvPr id="3" name="Content Placeholder 2"/>
          <p:cNvSpPr>
            <a:spLocks noGrp="1"/>
          </p:cNvSpPr>
          <p:nvPr>
            <p:ph idx="1"/>
          </p:nvPr>
        </p:nvSpPr>
        <p:spPr>
          <a:xfrm>
            <a:off x="379451" y="1548882"/>
            <a:ext cx="5830077" cy="4417138"/>
          </a:xfrm>
        </p:spPr>
        <p:txBody>
          <a:bodyPr>
            <a:normAutofit/>
          </a:bodyPr>
          <a:lstStyle/>
          <a:p>
            <a:pPr algn="just">
              <a:lnSpc>
                <a:spcPct val="100000"/>
              </a:lnSpc>
              <a:spcAft>
                <a:spcPts val="1000"/>
              </a:spcAft>
            </a:pPr>
            <a:r>
              <a:rPr lang="en-US" sz="2300" dirty="0">
                <a:solidFill>
                  <a:schemeClr val="tx1"/>
                </a:solidFill>
              </a:rPr>
              <a:t>The </a:t>
            </a:r>
            <a:r>
              <a:rPr lang="en-US" sz="2300" b="1" dirty="0">
                <a:solidFill>
                  <a:schemeClr val="tx1"/>
                </a:solidFill>
              </a:rPr>
              <a:t>registers set </a:t>
            </a:r>
            <a:r>
              <a:rPr lang="en-US" sz="2300" dirty="0">
                <a:solidFill>
                  <a:schemeClr val="tx1"/>
                </a:solidFill>
              </a:rPr>
              <a:t>stores intermediate data used during the execution of the instructions.</a:t>
            </a:r>
            <a:endParaRPr lang="en-US" sz="2300" dirty="0">
              <a:solidFill>
                <a:schemeClr val="tx1"/>
              </a:solidFill>
            </a:endParaRPr>
          </a:p>
          <a:p>
            <a:pPr algn="just">
              <a:lnSpc>
                <a:spcPct val="100000"/>
              </a:lnSpc>
              <a:spcAft>
                <a:spcPts val="1000"/>
              </a:spcAft>
            </a:pPr>
            <a:r>
              <a:rPr lang="en-US" sz="2300" dirty="0">
                <a:solidFill>
                  <a:schemeClr val="tx1"/>
                </a:solidFill>
              </a:rPr>
              <a:t>The </a:t>
            </a:r>
            <a:r>
              <a:rPr lang="en-US" sz="2300" b="1" dirty="0">
                <a:solidFill>
                  <a:schemeClr val="tx1"/>
                </a:solidFill>
              </a:rPr>
              <a:t>ALU</a:t>
            </a:r>
            <a:r>
              <a:rPr lang="en-US" sz="2300" dirty="0">
                <a:solidFill>
                  <a:schemeClr val="tx1"/>
                </a:solidFill>
              </a:rPr>
              <a:t> performs the required micro-operations for executing the instructions.</a:t>
            </a:r>
            <a:endParaRPr lang="en-US" sz="2300" dirty="0">
              <a:solidFill>
                <a:schemeClr val="tx1"/>
              </a:solidFill>
            </a:endParaRPr>
          </a:p>
          <a:p>
            <a:pPr algn="just">
              <a:lnSpc>
                <a:spcPct val="100000"/>
              </a:lnSpc>
              <a:spcAft>
                <a:spcPts val="1000"/>
              </a:spcAft>
            </a:pPr>
            <a:r>
              <a:rPr lang="en-US" sz="2300" dirty="0">
                <a:solidFill>
                  <a:schemeClr val="tx1"/>
                </a:solidFill>
              </a:rPr>
              <a:t>The </a:t>
            </a:r>
            <a:r>
              <a:rPr lang="en-US" sz="2300" b="1" dirty="0">
                <a:solidFill>
                  <a:schemeClr val="tx1"/>
                </a:solidFill>
              </a:rPr>
              <a:t>Control unit </a:t>
            </a:r>
            <a:r>
              <a:rPr lang="en-US" sz="2300" dirty="0">
                <a:solidFill>
                  <a:schemeClr val="tx1"/>
                </a:solidFill>
              </a:rPr>
              <a:t>supervises the transfer of information among the registers and instructs the ALU as to which operation to perform.</a:t>
            </a:r>
            <a:endParaRPr lang="en-US" sz="2000"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
        <p:nvSpPr>
          <p:cNvPr id="5" name="Rectangle 4"/>
          <p:cNvSpPr/>
          <p:nvPr/>
        </p:nvSpPr>
        <p:spPr>
          <a:xfrm>
            <a:off x="6335487" y="3181739"/>
            <a:ext cx="1931435" cy="1101012"/>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ctr"/>
          <a:lstStyle/>
          <a:p>
            <a:pPr algn="ctr"/>
            <a:r>
              <a:rPr lang="en-IN" dirty="0"/>
              <a:t>Control Unit</a:t>
            </a:r>
            <a:endParaRPr lang="en-IN" dirty="0"/>
          </a:p>
        </p:txBody>
      </p:sp>
      <p:sp>
        <p:nvSpPr>
          <p:cNvPr id="6" name="Rectangle 5"/>
          <p:cNvSpPr/>
          <p:nvPr/>
        </p:nvSpPr>
        <p:spPr>
          <a:xfrm>
            <a:off x="9088019" y="1943878"/>
            <a:ext cx="2522788" cy="1101012"/>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Register Set</a:t>
            </a:r>
            <a:endParaRPr lang="en-IN" dirty="0"/>
          </a:p>
        </p:txBody>
      </p:sp>
      <p:cxnSp>
        <p:nvCxnSpPr>
          <p:cNvPr id="10" name="Connector: Elbow 9"/>
          <p:cNvCxnSpPr>
            <a:stCxn id="5" idx="0"/>
            <a:endCxn id="6" idx="1"/>
          </p:cNvCxnSpPr>
          <p:nvPr/>
        </p:nvCxnSpPr>
        <p:spPr>
          <a:xfrm rot="5400000" flipH="1" flipV="1">
            <a:off x="7850935" y="1944655"/>
            <a:ext cx="687355" cy="178681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Arithmetic logic unit - Wikipedi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76042" y="4086809"/>
            <a:ext cx="2836507" cy="157687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nector: Elbow 13"/>
          <p:cNvCxnSpPr>
            <a:stCxn id="5" idx="2"/>
            <a:endCxn id="1026" idx="1"/>
          </p:cNvCxnSpPr>
          <p:nvPr/>
        </p:nvCxnSpPr>
        <p:spPr>
          <a:xfrm rot="16200000" flipH="1">
            <a:off x="7842376" y="3741579"/>
            <a:ext cx="592495" cy="167483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9881114" y="3044890"/>
            <a:ext cx="0" cy="100459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10854608" y="3044890"/>
            <a:ext cx="0" cy="100459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0123714" y="4683966"/>
            <a:ext cx="597159" cy="369332"/>
          </a:xfrm>
          <a:prstGeom prst="rect">
            <a:avLst/>
          </a:prstGeom>
          <a:noFill/>
        </p:spPr>
        <p:txBody>
          <a:bodyPr wrap="square" rtlCol="0">
            <a:spAutoFit/>
          </a:bodyPr>
          <a:lstStyle/>
          <a:p>
            <a:r>
              <a:rPr lang="en-IN" dirty="0"/>
              <a:t>ALU</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4089"/>
          </a:xfrm>
        </p:spPr>
        <p:txBody>
          <a:bodyPr/>
          <a:lstStyle/>
          <a:p>
            <a:pPr algn="ctr"/>
            <a:r>
              <a:rPr lang="en-IN" dirty="0">
                <a:solidFill>
                  <a:schemeClr val="tx1"/>
                </a:solidFill>
              </a:rPr>
              <a:t>General Register Organization</a:t>
            </a:r>
            <a:endParaRPr lang="en-IN" dirty="0">
              <a:solidFill>
                <a:schemeClr val="tx1"/>
              </a:solidFill>
            </a:endParaRPr>
          </a:p>
        </p:txBody>
      </p:sp>
      <p:sp>
        <p:nvSpPr>
          <p:cNvPr id="3" name="Content Placeholder 2"/>
          <p:cNvSpPr>
            <a:spLocks noGrp="1"/>
          </p:cNvSpPr>
          <p:nvPr>
            <p:ph idx="1"/>
          </p:nvPr>
        </p:nvSpPr>
        <p:spPr>
          <a:xfrm>
            <a:off x="850644" y="1548882"/>
            <a:ext cx="10490712" cy="4417138"/>
          </a:xfrm>
        </p:spPr>
        <p:txBody>
          <a:bodyPr>
            <a:normAutofit/>
          </a:bodyPr>
          <a:lstStyle/>
          <a:p>
            <a:pPr algn="just">
              <a:lnSpc>
                <a:spcPct val="100000"/>
              </a:lnSpc>
              <a:spcAft>
                <a:spcPts val="1000"/>
              </a:spcAft>
            </a:pPr>
            <a:r>
              <a:rPr lang="en-US" sz="2300" dirty="0">
                <a:solidFill>
                  <a:schemeClr val="tx1"/>
                </a:solidFill>
              </a:rPr>
              <a:t>Registers are more convenient and efficient to store pointers, return addresses, counters, temporary results, etc.</a:t>
            </a:r>
            <a:endParaRPr lang="en-US" sz="2300" dirty="0">
              <a:solidFill>
                <a:schemeClr val="tx1"/>
              </a:solidFill>
            </a:endParaRPr>
          </a:p>
          <a:p>
            <a:pPr algn="just">
              <a:lnSpc>
                <a:spcPct val="100000"/>
              </a:lnSpc>
              <a:spcAft>
                <a:spcPts val="1000"/>
              </a:spcAft>
            </a:pPr>
            <a:r>
              <a:rPr lang="en-US" sz="2300" dirty="0">
                <a:solidFill>
                  <a:schemeClr val="tx1"/>
                </a:solidFill>
              </a:rPr>
              <a:t>In Basic Computer, there is only one general-purpose register, the Accumulator (A), but in modern CPUs, there are many general-purpose registers.</a:t>
            </a:r>
            <a:endParaRPr lang="en-US" sz="2300" dirty="0">
              <a:solidFill>
                <a:schemeClr val="tx1"/>
              </a:solidFill>
            </a:endParaRPr>
          </a:p>
          <a:p>
            <a:pPr algn="just">
              <a:lnSpc>
                <a:spcPct val="100000"/>
              </a:lnSpc>
              <a:spcAft>
                <a:spcPts val="1000"/>
              </a:spcAft>
            </a:pPr>
            <a:r>
              <a:rPr lang="en-US" sz="2300" dirty="0">
                <a:solidFill>
                  <a:schemeClr val="tx1"/>
                </a:solidFill>
              </a:rPr>
              <a:t>It is advantageous to have many registers:</a:t>
            </a:r>
            <a:endParaRPr lang="en-US" sz="2300" dirty="0">
              <a:solidFill>
                <a:schemeClr val="tx1"/>
              </a:solidFill>
            </a:endParaRPr>
          </a:p>
          <a:p>
            <a:pPr lvl="1" algn="just">
              <a:spcAft>
                <a:spcPts val="1000"/>
              </a:spcAft>
            </a:pPr>
            <a:r>
              <a:rPr lang="en-US" sz="2000" dirty="0">
                <a:solidFill>
                  <a:schemeClr val="tx1"/>
                </a:solidFill>
              </a:rPr>
              <a:t>Transfer between registers within the processor is relatively fast.</a:t>
            </a:r>
            <a:endParaRPr lang="en-US" sz="2000" dirty="0">
              <a:solidFill>
                <a:schemeClr val="tx1"/>
              </a:solidFill>
            </a:endParaRPr>
          </a:p>
          <a:p>
            <a:pPr lvl="1" algn="just">
              <a:spcAft>
                <a:spcPts val="1000"/>
              </a:spcAft>
            </a:pPr>
            <a:r>
              <a:rPr lang="en-US" sz="2000" dirty="0">
                <a:solidFill>
                  <a:schemeClr val="tx1"/>
                </a:solidFill>
              </a:rPr>
              <a:t>Going “off the processor” to access memory is much slower.</a:t>
            </a:r>
            <a:endParaRPr lang="en-US" sz="2000"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4089"/>
          </a:xfrm>
        </p:spPr>
        <p:txBody>
          <a:bodyPr/>
          <a:lstStyle/>
          <a:p>
            <a:pPr algn="ctr"/>
            <a:r>
              <a:rPr lang="en-IN" dirty="0">
                <a:solidFill>
                  <a:schemeClr val="tx1"/>
                </a:solidFill>
              </a:rPr>
              <a:t>General Register Organization</a:t>
            </a:r>
            <a:endParaRPr lang="en-IN" dirty="0">
              <a:solidFill>
                <a:schemeClr val="tx1"/>
              </a:solidFill>
            </a:endParaRPr>
          </a:p>
        </p:txBody>
      </p:sp>
      <p:sp>
        <p:nvSpPr>
          <p:cNvPr id="3" name="Content Placeholder 2"/>
          <p:cNvSpPr>
            <a:spLocks noGrp="1"/>
          </p:cNvSpPr>
          <p:nvPr>
            <p:ph idx="1"/>
          </p:nvPr>
        </p:nvSpPr>
        <p:spPr>
          <a:xfrm>
            <a:off x="850644" y="1548882"/>
            <a:ext cx="10490712" cy="4417138"/>
          </a:xfrm>
        </p:spPr>
        <p:txBody>
          <a:bodyPr>
            <a:normAutofit/>
          </a:bodyPr>
          <a:lstStyle/>
          <a:p>
            <a:pPr algn="just">
              <a:lnSpc>
                <a:spcPct val="100000"/>
              </a:lnSpc>
              <a:spcAft>
                <a:spcPts val="1000"/>
              </a:spcAft>
            </a:pPr>
            <a:r>
              <a:rPr lang="en-US" sz="2300" dirty="0">
                <a:solidFill>
                  <a:schemeClr val="tx1"/>
                </a:solidFill>
              </a:rPr>
              <a:t>When a large number of registers are included in the CPU it is efficient to connect them through a common system bus.</a:t>
            </a:r>
            <a:endParaRPr lang="en-US" sz="2300" dirty="0">
              <a:solidFill>
                <a:schemeClr val="tx1"/>
              </a:solidFill>
            </a:endParaRPr>
          </a:p>
          <a:p>
            <a:pPr algn="just">
              <a:lnSpc>
                <a:spcPct val="100000"/>
              </a:lnSpc>
              <a:spcAft>
                <a:spcPts val="1000"/>
              </a:spcAft>
            </a:pPr>
            <a:r>
              <a:rPr lang="en-US" sz="2300" dirty="0">
                <a:solidFill>
                  <a:schemeClr val="tx1"/>
                </a:solidFill>
              </a:rPr>
              <a:t>Because registers communicate with each other not only for direct data transfers but also while performing various microoperations.</a:t>
            </a:r>
            <a:endParaRPr lang="en-US" sz="2300" dirty="0">
              <a:solidFill>
                <a:schemeClr val="tx1"/>
              </a:solidFill>
            </a:endParaRPr>
          </a:p>
          <a:p>
            <a:pPr algn="just">
              <a:lnSpc>
                <a:spcPct val="100000"/>
              </a:lnSpc>
              <a:spcAft>
                <a:spcPts val="1000"/>
              </a:spcAft>
            </a:pPr>
            <a:endParaRPr lang="en-US" sz="2300" dirty="0">
              <a:solidFill>
                <a:schemeClr val="tx1"/>
              </a:solidFill>
            </a:endParaRPr>
          </a:p>
          <a:p>
            <a:pPr marL="0" indent="0" algn="ctr">
              <a:lnSpc>
                <a:spcPct val="100000"/>
              </a:lnSpc>
              <a:spcAft>
                <a:spcPts val="1000"/>
              </a:spcAft>
              <a:buNone/>
            </a:pPr>
            <a:endParaRPr lang="en-US" sz="2300"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50837"/>
            <a:ext cx="11029616" cy="744089"/>
          </a:xfrm>
        </p:spPr>
        <p:txBody>
          <a:bodyPr/>
          <a:lstStyle/>
          <a:p>
            <a:pPr algn="ctr"/>
            <a:r>
              <a:rPr lang="en-US" dirty="0">
                <a:solidFill>
                  <a:schemeClr val="tx1"/>
                </a:solidFill>
              </a:rPr>
              <a:t>A Bus organization for seven CPU registers</a:t>
            </a:r>
            <a:endParaRPr lang="en-IN"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8" name="Picture 7"/>
          <p:cNvPicPr>
            <a:picLocks noChangeAspect="1"/>
          </p:cNvPicPr>
          <p:nvPr/>
        </p:nvPicPr>
        <p:blipFill rotWithShape="1">
          <a:blip r:embed="rId1"/>
          <a:srcRect l="2944" r="5191"/>
          <a:stretch>
            <a:fillRect/>
          </a:stretch>
        </p:blipFill>
        <p:spPr>
          <a:xfrm>
            <a:off x="5954484" y="1446245"/>
            <a:ext cx="5999583" cy="4656223"/>
          </a:xfrm>
          <a:prstGeom prst="rect">
            <a:avLst/>
          </a:prstGeom>
        </p:spPr>
      </p:pic>
      <p:sp>
        <p:nvSpPr>
          <p:cNvPr id="11" name="Content Placeholder 2"/>
          <p:cNvSpPr>
            <a:spLocks noGrp="1"/>
          </p:cNvSpPr>
          <p:nvPr>
            <p:ph idx="1"/>
          </p:nvPr>
        </p:nvSpPr>
        <p:spPr>
          <a:xfrm>
            <a:off x="115077" y="1685330"/>
            <a:ext cx="5430939" cy="1822980"/>
          </a:xfrm>
        </p:spPr>
        <p:txBody>
          <a:bodyPr>
            <a:normAutofit fontScale="92500"/>
          </a:bodyPr>
          <a:lstStyle/>
          <a:p>
            <a:pPr algn="just">
              <a:lnSpc>
                <a:spcPct val="100000"/>
              </a:lnSpc>
              <a:spcAft>
                <a:spcPts val="1000"/>
              </a:spcAft>
            </a:pPr>
            <a:r>
              <a:rPr lang="en-US" sz="2300" dirty="0">
                <a:solidFill>
                  <a:schemeClr val="tx1"/>
                </a:solidFill>
              </a:rPr>
              <a:t>The control unit directs the information flow through ALU by</a:t>
            </a:r>
            <a:endParaRPr lang="en-US" sz="2300" dirty="0">
              <a:solidFill>
                <a:schemeClr val="tx1"/>
              </a:solidFill>
            </a:endParaRPr>
          </a:p>
          <a:p>
            <a:pPr lvl="1" algn="just">
              <a:spcAft>
                <a:spcPts val="1000"/>
              </a:spcAft>
            </a:pPr>
            <a:r>
              <a:rPr lang="en-US" sz="2000" dirty="0">
                <a:solidFill>
                  <a:schemeClr val="tx1"/>
                </a:solidFill>
              </a:rPr>
              <a:t>Selecting various components in the system. </a:t>
            </a:r>
            <a:endParaRPr lang="en-US" sz="2000" dirty="0">
              <a:solidFill>
                <a:schemeClr val="tx1"/>
              </a:solidFill>
            </a:endParaRPr>
          </a:p>
          <a:p>
            <a:pPr lvl="1" algn="just">
              <a:spcAft>
                <a:spcPts val="1000"/>
              </a:spcAft>
            </a:pPr>
            <a:r>
              <a:rPr lang="en-US" sz="2000" dirty="0">
                <a:solidFill>
                  <a:schemeClr val="tx1"/>
                </a:solidFill>
              </a:rPr>
              <a:t>Selecting the Function of ALU.</a:t>
            </a:r>
            <a:endParaRPr lang="en-US" sz="2000" dirty="0">
              <a:solidFill>
                <a:schemeClr val="tx1"/>
              </a:solidFill>
            </a:endParaRPr>
          </a:p>
        </p:txBody>
      </p:sp>
      <p:sp>
        <p:nvSpPr>
          <p:cNvPr id="3" name="Content Placeholder 2"/>
          <p:cNvSpPr txBox="1"/>
          <p:nvPr/>
        </p:nvSpPr>
        <p:spPr>
          <a:xfrm>
            <a:off x="115077" y="3508310"/>
            <a:ext cx="5430939" cy="2976466"/>
          </a:xfrm>
          <a:prstGeom prst="rect">
            <a:avLst/>
          </a:prstGeom>
        </p:spPr>
        <p:txBody>
          <a:bodyPr vert="horz" lIns="91440" tIns="45720" rIns="91440" bIns="45720" rtlCol="0" anchor="ctr">
            <a:normAutofit fontScale="92500" lnSpcReduction="20000"/>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lnSpc>
                <a:spcPct val="100000"/>
              </a:lnSpc>
              <a:spcAft>
                <a:spcPts val="1000"/>
              </a:spcAft>
            </a:pPr>
            <a:r>
              <a:rPr lang="en-US" sz="2300" b="1">
                <a:solidFill>
                  <a:schemeClr val="tx1"/>
                </a:solidFill>
              </a:rPr>
              <a:t>Example: </a:t>
            </a:r>
            <a:r>
              <a:rPr lang="en-US" sz="2300">
                <a:solidFill>
                  <a:schemeClr val="tx1"/>
                </a:solidFill>
              </a:rPr>
              <a:t>R1 </a:t>
            </a:r>
            <a:r>
              <a:rPr lang="en-US" sz="2300">
                <a:solidFill>
                  <a:schemeClr val="tx1"/>
                </a:solidFill>
                <a:latin typeface="Franklin Gothic Book" panose="020B0503020102020204" pitchFamily="34" charset="0"/>
              </a:rPr>
              <a:t>←</a:t>
            </a:r>
            <a:r>
              <a:rPr lang="en-US" sz="2300">
                <a:solidFill>
                  <a:schemeClr val="tx1"/>
                </a:solidFill>
              </a:rPr>
              <a:t> R2 + R3</a:t>
            </a:r>
            <a:endParaRPr lang="en-US" sz="2300">
              <a:solidFill>
                <a:schemeClr val="tx1"/>
              </a:solidFill>
            </a:endParaRPr>
          </a:p>
          <a:p>
            <a:pPr marL="781050" lvl="1" indent="-457200" algn="just">
              <a:spcAft>
                <a:spcPts val="1000"/>
              </a:spcAft>
              <a:buFont typeface="+mj-lt"/>
              <a:buAutoNum type="arabicPeriod"/>
            </a:pPr>
            <a:r>
              <a:rPr lang="en-US" sz="2000">
                <a:solidFill>
                  <a:schemeClr val="tx1"/>
                </a:solidFill>
              </a:rPr>
              <a:t>MUX A selector (SELA): BUS A </a:t>
            </a:r>
            <a:r>
              <a:rPr lang="en-US" sz="2000">
                <a:solidFill>
                  <a:schemeClr val="tx1"/>
                </a:solidFill>
                <a:latin typeface="Franklin Gothic Book" panose="020B0503020102020204" pitchFamily="34" charset="0"/>
              </a:rPr>
              <a:t>←</a:t>
            </a:r>
            <a:r>
              <a:rPr lang="en-US" sz="2000">
                <a:solidFill>
                  <a:schemeClr val="tx1"/>
                </a:solidFill>
              </a:rPr>
              <a:t> R2.</a:t>
            </a:r>
            <a:endParaRPr lang="en-US" sz="2000">
              <a:solidFill>
                <a:schemeClr val="tx1"/>
              </a:solidFill>
            </a:endParaRPr>
          </a:p>
          <a:p>
            <a:pPr marL="781050" lvl="1" indent="-457200" algn="just">
              <a:spcAft>
                <a:spcPts val="1000"/>
              </a:spcAft>
              <a:buFont typeface="+mj-lt"/>
              <a:buAutoNum type="arabicPeriod"/>
            </a:pPr>
            <a:r>
              <a:rPr lang="en-US" sz="2000">
                <a:solidFill>
                  <a:schemeClr val="tx1"/>
                </a:solidFill>
              </a:rPr>
              <a:t>MUX B selector (SELB): BUS B </a:t>
            </a:r>
            <a:r>
              <a:rPr lang="en-US" sz="2000">
                <a:solidFill>
                  <a:schemeClr val="tx1"/>
                </a:solidFill>
                <a:latin typeface="Franklin Gothic Book" panose="020B0503020102020204" pitchFamily="34" charset="0"/>
              </a:rPr>
              <a:t>←</a:t>
            </a:r>
            <a:r>
              <a:rPr lang="en-US" sz="2000">
                <a:solidFill>
                  <a:schemeClr val="tx1"/>
                </a:solidFill>
              </a:rPr>
              <a:t> R3.</a:t>
            </a:r>
            <a:endParaRPr lang="en-US" sz="2000">
              <a:solidFill>
                <a:schemeClr val="tx1"/>
              </a:solidFill>
            </a:endParaRPr>
          </a:p>
          <a:p>
            <a:pPr marL="781050" lvl="1" indent="-457200" algn="just">
              <a:spcAft>
                <a:spcPts val="1000"/>
              </a:spcAft>
              <a:buFont typeface="+mj-lt"/>
              <a:buAutoNum type="arabicPeriod"/>
            </a:pPr>
            <a:r>
              <a:rPr lang="en-US" sz="2000">
                <a:solidFill>
                  <a:schemeClr val="tx1"/>
                </a:solidFill>
              </a:rPr>
              <a:t>ALU operation selector (OPR): ALU to ADD.</a:t>
            </a:r>
            <a:endParaRPr lang="en-US" sz="2000">
              <a:solidFill>
                <a:schemeClr val="tx1"/>
              </a:solidFill>
            </a:endParaRPr>
          </a:p>
          <a:p>
            <a:pPr marL="781050" lvl="1" indent="-457200" algn="just">
              <a:spcAft>
                <a:spcPts val="1000"/>
              </a:spcAft>
              <a:buFont typeface="+mj-lt"/>
              <a:buAutoNum type="arabicPeriod"/>
            </a:pPr>
            <a:r>
              <a:rPr lang="en-US" sz="2000">
                <a:solidFill>
                  <a:schemeClr val="tx1"/>
                </a:solidFill>
              </a:rPr>
              <a:t>Decoder destination selector (SELD): R1</a:t>
            </a:r>
            <a:r>
              <a:rPr lang="en-US" sz="2000">
                <a:solidFill>
                  <a:schemeClr val="tx1"/>
                </a:solidFill>
                <a:latin typeface="Franklin Gothic Book" panose="020B0503020102020204" pitchFamily="34" charset="0"/>
              </a:rPr>
              <a:t>←</a:t>
            </a:r>
            <a:r>
              <a:rPr lang="en-US" sz="2000">
                <a:solidFill>
                  <a:schemeClr val="tx1"/>
                </a:solidFill>
              </a:rPr>
              <a:t>Out Bus</a:t>
            </a:r>
            <a:endParaRPr lang="en-US" sz="2000">
              <a:solidFill>
                <a:schemeClr val="tx1"/>
              </a:solidFill>
            </a:endParaRPr>
          </a:p>
          <a:p>
            <a:pPr algn="just">
              <a:spcAft>
                <a:spcPts val="1000"/>
              </a:spcAft>
            </a:pPr>
            <a:r>
              <a:rPr lang="en-US" sz="2000">
                <a:solidFill>
                  <a:schemeClr val="tx1"/>
                </a:solidFill>
              </a:rPr>
              <a:t>The entire information is passed through the </a:t>
            </a:r>
            <a:r>
              <a:rPr lang="en-US" sz="2000" b="1">
                <a:solidFill>
                  <a:schemeClr val="tx1"/>
                </a:solidFill>
              </a:rPr>
              <a:t>Control Word.</a:t>
            </a:r>
            <a:endParaRPr lang="en-US" sz="20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50837"/>
            <a:ext cx="11029616" cy="744089"/>
          </a:xfrm>
        </p:spPr>
        <p:txBody>
          <a:bodyPr/>
          <a:lstStyle/>
          <a:p>
            <a:pPr algn="ctr"/>
            <a:r>
              <a:rPr lang="en-US" dirty="0">
                <a:solidFill>
                  <a:schemeClr val="tx1"/>
                </a:solidFill>
              </a:rPr>
              <a:t>Control Word Format</a:t>
            </a:r>
            <a:endParaRPr lang="en-IN"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sp>
        <p:nvSpPr>
          <p:cNvPr id="11" name="Content Placeholder 2"/>
          <p:cNvSpPr>
            <a:spLocks noGrp="1"/>
          </p:cNvSpPr>
          <p:nvPr>
            <p:ph idx="1"/>
          </p:nvPr>
        </p:nvSpPr>
        <p:spPr>
          <a:xfrm>
            <a:off x="115077" y="1862612"/>
            <a:ext cx="5386757" cy="3782409"/>
          </a:xfrm>
        </p:spPr>
        <p:txBody>
          <a:bodyPr>
            <a:normAutofit/>
          </a:bodyPr>
          <a:lstStyle/>
          <a:p>
            <a:pPr algn="just">
              <a:lnSpc>
                <a:spcPct val="100000"/>
              </a:lnSpc>
              <a:spcAft>
                <a:spcPts val="1000"/>
              </a:spcAft>
            </a:pPr>
            <a:r>
              <a:rPr lang="en-US" sz="2300" dirty="0">
                <a:solidFill>
                  <a:schemeClr val="tx1"/>
                </a:solidFill>
              </a:rPr>
              <a:t>The control word is determined by the sum of the binary selection inputs. </a:t>
            </a:r>
            <a:endParaRPr lang="en-US" sz="2300" dirty="0">
              <a:solidFill>
                <a:schemeClr val="tx1"/>
              </a:solidFill>
            </a:endParaRPr>
          </a:p>
          <a:p>
            <a:pPr algn="just">
              <a:lnSpc>
                <a:spcPct val="100000"/>
              </a:lnSpc>
              <a:spcAft>
                <a:spcPts val="1000"/>
              </a:spcAft>
            </a:pPr>
            <a:r>
              <a:rPr lang="en-US" sz="2300" dirty="0">
                <a:solidFill>
                  <a:schemeClr val="tx1"/>
                </a:solidFill>
              </a:rPr>
              <a:t>It is divided into four sections. </a:t>
            </a:r>
            <a:endParaRPr lang="en-US" sz="2300" dirty="0">
              <a:solidFill>
                <a:schemeClr val="tx1"/>
              </a:solidFill>
            </a:endParaRPr>
          </a:p>
          <a:p>
            <a:pPr lvl="1" algn="just">
              <a:spcAft>
                <a:spcPts val="1000"/>
              </a:spcAft>
            </a:pPr>
            <a:r>
              <a:rPr lang="en-US" sz="2000" dirty="0">
                <a:solidFill>
                  <a:schemeClr val="tx1"/>
                </a:solidFill>
              </a:rPr>
              <a:t>SELA, SELB, and SELD each have three bits,</a:t>
            </a:r>
            <a:endParaRPr lang="en-US" sz="2000" dirty="0">
              <a:solidFill>
                <a:schemeClr val="tx1"/>
              </a:solidFill>
            </a:endParaRPr>
          </a:p>
          <a:p>
            <a:pPr lvl="1" algn="just">
              <a:spcAft>
                <a:spcPts val="1000"/>
              </a:spcAft>
            </a:pPr>
            <a:r>
              <a:rPr lang="en-US" sz="2000" dirty="0">
                <a:solidFill>
                  <a:schemeClr val="tx1"/>
                </a:solidFill>
              </a:rPr>
              <a:t>the OPR field has four bits.</a:t>
            </a:r>
            <a:endParaRPr lang="en-US" sz="2000" dirty="0">
              <a:solidFill>
                <a:schemeClr val="tx1"/>
              </a:solidFill>
            </a:endParaRPr>
          </a:p>
          <a:p>
            <a:pPr lvl="1" algn="just">
              <a:spcAft>
                <a:spcPts val="1000"/>
              </a:spcAft>
            </a:pPr>
            <a:r>
              <a:rPr lang="en-US" sz="2000" dirty="0">
                <a:solidFill>
                  <a:schemeClr val="tx1"/>
                </a:solidFill>
              </a:rPr>
              <a:t>For </a:t>
            </a:r>
            <a:r>
              <a:rPr lang="en-US" sz="2000" b="1" dirty="0">
                <a:solidFill>
                  <a:schemeClr val="tx1"/>
                </a:solidFill>
              </a:rPr>
              <a:t>a total of 13 bits </a:t>
            </a:r>
            <a:r>
              <a:rPr lang="en-US" sz="2000" dirty="0">
                <a:solidFill>
                  <a:schemeClr val="tx1"/>
                </a:solidFill>
              </a:rPr>
              <a:t>in the control word.</a:t>
            </a:r>
            <a:endParaRPr lang="en-US" sz="1700" dirty="0">
              <a:solidFill>
                <a:schemeClr val="tx1"/>
              </a:solidFill>
            </a:endParaRPr>
          </a:p>
        </p:txBody>
      </p:sp>
      <p:pic>
        <p:nvPicPr>
          <p:cNvPr id="5" name="Picture 4"/>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7396298" y="2161021"/>
            <a:ext cx="3619814" cy="710277"/>
          </a:xfrm>
          <a:prstGeom prst="rect">
            <a:avLst/>
          </a:prstGeom>
        </p:spPr>
      </p:pic>
      <p:sp>
        <p:nvSpPr>
          <p:cNvPr id="6" name="Rectangle: Rounded Corners 5"/>
          <p:cNvSpPr/>
          <p:nvPr/>
        </p:nvSpPr>
        <p:spPr>
          <a:xfrm>
            <a:off x="5719314" y="3980481"/>
            <a:ext cx="1505569" cy="1192189"/>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just"/>
            <a:r>
              <a:rPr lang="en-US" sz="1400" b="1" i="0" dirty="0">
                <a:solidFill>
                  <a:srgbClr val="36393E"/>
                </a:solidFill>
                <a:effectLst/>
                <a:latin typeface="Muli"/>
              </a:rPr>
              <a:t>Three bits of SELA choose a source register for the ALU’s A input.</a:t>
            </a:r>
            <a:endParaRPr lang="en-IN" sz="1400" b="1" dirty="0"/>
          </a:p>
        </p:txBody>
      </p:sp>
      <p:sp>
        <p:nvSpPr>
          <p:cNvPr id="9" name="Rectangle: Rounded Corners 8"/>
          <p:cNvSpPr/>
          <p:nvPr/>
        </p:nvSpPr>
        <p:spPr>
          <a:xfrm>
            <a:off x="7308746" y="3980481"/>
            <a:ext cx="1505569" cy="1166326"/>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just"/>
            <a:r>
              <a:rPr lang="en-US" sz="1400" b="1" i="0" dirty="0">
                <a:solidFill>
                  <a:srgbClr val="36393E"/>
                </a:solidFill>
                <a:effectLst/>
                <a:latin typeface="Muli"/>
              </a:rPr>
              <a:t>Three bits of SELB choose a source register for the ALU’s B input.</a:t>
            </a:r>
            <a:endParaRPr lang="en-IN" sz="1400" b="1" dirty="0"/>
          </a:p>
        </p:txBody>
      </p:sp>
      <p:sp>
        <p:nvSpPr>
          <p:cNvPr id="10" name="Rectangle: Rounded Corners 9"/>
          <p:cNvSpPr/>
          <p:nvPr/>
        </p:nvSpPr>
        <p:spPr>
          <a:xfrm>
            <a:off x="8898178" y="3986702"/>
            <a:ext cx="1505569" cy="1160105"/>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just"/>
            <a:r>
              <a:rPr lang="en-US" sz="1400" b="1" i="0" dirty="0">
                <a:solidFill>
                  <a:srgbClr val="36393E"/>
                </a:solidFill>
                <a:effectLst/>
                <a:latin typeface="Muli"/>
              </a:rPr>
              <a:t>The three bits of SELD pick a target register.</a:t>
            </a:r>
            <a:endParaRPr lang="en-IN" sz="1400" b="1" dirty="0"/>
          </a:p>
        </p:txBody>
      </p:sp>
      <p:sp>
        <p:nvSpPr>
          <p:cNvPr id="12" name="Rectangle: Rounded Corners 11"/>
          <p:cNvSpPr/>
          <p:nvPr/>
        </p:nvSpPr>
        <p:spPr>
          <a:xfrm>
            <a:off x="10487610" y="3986702"/>
            <a:ext cx="1505569" cy="1160105"/>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just"/>
            <a:r>
              <a:rPr lang="en-US" sz="1400" b="1" i="0" dirty="0">
                <a:solidFill>
                  <a:srgbClr val="36393E"/>
                </a:solidFill>
                <a:effectLst/>
                <a:latin typeface="Muli"/>
              </a:rPr>
              <a:t>The four bits of OPR determine the ALU operation</a:t>
            </a:r>
            <a:endParaRPr lang="en-US" sz="1400" b="1" i="0" dirty="0">
              <a:solidFill>
                <a:srgbClr val="36393E"/>
              </a:solidFill>
              <a:effectLst/>
              <a:latin typeface="Muli"/>
            </a:endParaRPr>
          </a:p>
        </p:txBody>
      </p:sp>
      <p:cxnSp>
        <p:nvCxnSpPr>
          <p:cNvPr id="14" name="Straight Arrow Connector 13"/>
          <p:cNvCxnSpPr>
            <a:endCxn id="6" idx="0"/>
          </p:cNvCxnSpPr>
          <p:nvPr/>
        </p:nvCxnSpPr>
        <p:spPr>
          <a:xfrm flipH="1">
            <a:off x="6472099" y="2715208"/>
            <a:ext cx="1356285" cy="1265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9" idx="0"/>
          </p:cNvCxnSpPr>
          <p:nvPr/>
        </p:nvCxnSpPr>
        <p:spPr>
          <a:xfrm flipH="1">
            <a:off x="8061531" y="2780522"/>
            <a:ext cx="522632" cy="1199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0" idx="0"/>
          </p:cNvCxnSpPr>
          <p:nvPr/>
        </p:nvCxnSpPr>
        <p:spPr>
          <a:xfrm>
            <a:off x="9417816" y="2715208"/>
            <a:ext cx="233147" cy="1271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12" idx="0"/>
          </p:cNvCxnSpPr>
          <p:nvPr/>
        </p:nvCxnSpPr>
        <p:spPr>
          <a:xfrm>
            <a:off x="10403747" y="2715208"/>
            <a:ext cx="836648" cy="1271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11" y="481903"/>
            <a:ext cx="11029616" cy="566806"/>
          </a:xfrm>
        </p:spPr>
        <p:txBody>
          <a:bodyPr/>
          <a:lstStyle/>
          <a:p>
            <a:pPr algn="ctr"/>
            <a:r>
              <a:rPr lang="en-US" dirty="0">
                <a:solidFill>
                  <a:schemeClr val="tx1"/>
                </a:solidFill>
              </a:rPr>
              <a:t>Control Word Format</a:t>
            </a:r>
            <a:endParaRPr lang="en-IN"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5" name="Picture 4"/>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4211448" y="1125324"/>
            <a:ext cx="3619814" cy="710277"/>
          </a:xfrm>
          <a:prstGeom prst="rect">
            <a:avLst/>
          </a:prstGeom>
        </p:spPr>
      </p:pic>
      <p:sp>
        <p:nvSpPr>
          <p:cNvPr id="7" name="TextBox 6"/>
          <p:cNvSpPr txBox="1"/>
          <p:nvPr/>
        </p:nvSpPr>
        <p:spPr>
          <a:xfrm>
            <a:off x="373220" y="2563978"/>
            <a:ext cx="3405674" cy="369332"/>
          </a:xfrm>
          <a:prstGeom prst="rect">
            <a:avLst/>
          </a:prstGeom>
          <a:noFill/>
        </p:spPr>
        <p:txBody>
          <a:bodyPr wrap="square" rtlCol="0">
            <a:spAutoFit/>
          </a:bodyPr>
          <a:lstStyle/>
          <a:p>
            <a:r>
              <a:rPr lang="en-IN" b="1" dirty="0"/>
              <a:t>Register Selection Field Encoding</a:t>
            </a:r>
            <a:endParaRPr lang="en-IN" b="1" dirty="0"/>
          </a:p>
        </p:txBody>
      </p:sp>
      <p:graphicFrame>
        <p:nvGraphicFramePr>
          <p:cNvPr id="9" name="Table 9"/>
          <p:cNvGraphicFramePr>
            <a:graphicFrameLocks noGrp="1"/>
          </p:cNvGraphicFramePr>
          <p:nvPr/>
        </p:nvGraphicFramePr>
        <p:xfrm>
          <a:off x="475861" y="2937658"/>
          <a:ext cx="3228392" cy="3484880"/>
        </p:xfrm>
        <a:graphic>
          <a:graphicData uri="http://schemas.openxmlformats.org/drawingml/2006/table">
            <a:tbl>
              <a:tblPr firstRow="1" bandRow="1">
                <a:tableStyleId>{5C22544A-7EE6-4342-B048-85BDC9FD1C3A}</a:tableStyleId>
              </a:tblPr>
              <a:tblGrid>
                <a:gridCol w="807098"/>
                <a:gridCol w="807098"/>
                <a:gridCol w="807098"/>
                <a:gridCol w="807098"/>
              </a:tblGrid>
              <a:tr h="658763">
                <a:tc>
                  <a:txBody>
                    <a:bodyPr/>
                    <a:lstStyle/>
                    <a:p>
                      <a:pPr algn="ctr" fontAlgn="t"/>
                      <a:r>
                        <a:rPr lang="en-IN" b="1" dirty="0">
                          <a:solidFill>
                            <a:srgbClr val="000000"/>
                          </a:solidFill>
                          <a:effectLst/>
                        </a:rPr>
                        <a:t>Binary Code</a:t>
                      </a:r>
                      <a:endParaRPr lang="en-IN" dirty="0">
                        <a:effectLst/>
                      </a:endParaRPr>
                    </a:p>
                  </a:txBody>
                  <a:tcPr marL="63500" marR="63500" marT="63500" marB="63500" anchor="ctr"/>
                </a:tc>
                <a:tc>
                  <a:txBody>
                    <a:bodyPr/>
                    <a:lstStyle/>
                    <a:p>
                      <a:pPr algn="ctr" fontAlgn="t"/>
                      <a:r>
                        <a:rPr lang="en-IN" b="1" dirty="0">
                          <a:solidFill>
                            <a:srgbClr val="000000"/>
                          </a:solidFill>
                          <a:effectLst/>
                        </a:rPr>
                        <a:t>SELA</a:t>
                      </a:r>
                      <a:endParaRPr lang="en-IN" dirty="0">
                        <a:effectLst/>
                      </a:endParaRPr>
                    </a:p>
                  </a:txBody>
                  <a:tcPr marL="63500" marR="63500" marT="63500" marB="63500" anchor="ctr"/>
                </a:tc>
                <a:tc>
                  <a:txBody>
                    <a:bodyPr/>
                    <a:lstStyle/>
                    <a:p>
                      <a:pPr algn="ctr" fontAlgn="t"/>
                      <a:r>
                        <a:rPr lang="en-IN" b="1" dirty="0">
                          <a:solidFill>
                            <a:srgbClr val="000000"/>
                          </a:solidFill>
                          <a:effectLst/>
                        </a:rPr>
                        <a:t>SELB </a:t>
                      </a:r>
                      <a:endParaRPr lang="en-IN" dirty="0">
                        <a:effectLst/>
                      </a:endParaRPr>
                    </a:p>
                  </a:txBody>
                  <a:tcPr marL="63500" marR="63500" marT="63500" marB="63500" anchor="ctr"/>
                </a:tc>
                <a:tc>
                  <a:txBody>
                    <a:bodyPr/>
                    <a:lstStyle/>
                    <a:p>
                      <a:pPr algn="ctr" fontAlgn="t"/>
                      <a:r>
                        <a:rPr lang="en-IN" b="1" dirty="0">
                          <a:solidFill>
                            <a:srgbClr val="000000"/>
                          </a:solidFill>
                          <a:effectLst/>
                        </a:rPr>
                        <a:t>SELD</a:t>
                      </a:r>
                      <a:endParaRPr lang="en-IN" dirty="0">
                        <a:effectLst/>
                      </a:endParaRPr>
                    </a:p>
                  </a:txBody>
                  <a:tcPr marL="63500" marR="63500" marT="63500" marB="63500" anchor="ctr"/>
                </a:tc>
              </a:tr>
              <a:tr h="391295">
                <a:tc>
                  <a:txBody>
                    <a:bodyPr/>
                    <a:lstStyle/>
                    <a:p>
                      <a:pPr algn="ctr" fontAlgn="t"/>
                      <a:r>
                        <a:rPr lang="en-IN">
                          <a:solidFill>
                            <a:srgbClr val="000000"/>
                          </a:solidFill>
                          <a:effectLst/>
                        </a:rPr>
                        <a:t>000</a:t>
                      </a:r>
                      <a:endParaRPr lang="en-IN">
                        <a:effectLst/>
                      </a:endParaRPr>
                    </a:p>
                  </a:txBody>
                  <a:tcPr marL="63500" marR="63500" marT="63500" marB="63500" anchor="ctr"/>
                </a:tc>
                <a:tc>
                  <a:txBody>
                    <a:bodyPr/>
                    <a:lstStyle/>
                    <a:p>
                      <a:pPr algn="ctr" fontAlgn="t"/>
                      <a:r>
                        <a:rPr lang="en-IN" dirty="0">
                          <a:solidFill>
                            <a:srgbClr val="000000"/>
                          </a:solidFill>
                          <a:effectLst/>
                        </a:rPr>
                        <a:t>Input</a:t>
                      </a:r>
                      <a:endParaRPr lang="en-IN" dirty="0">
                        <a:effectLst/>
                      </a:endParaRPr>
                    </a:p>
                  </a:txBody>
                  <a:tcPr marL="63500" marR="63500" marT="63500" marB="63500" anchor="ctr"/>
                </a:tc>
                <a:tc>
                  <a:txBody>
                    <a:bodyPr/>
                    <a:lstStyle/>
                    <a:p>
                      <a:pPr algn="ctr" fontAlgn="t"/>
                      <a:r>
                        <a:rPr lang="en-IN">
                          <a:solidFill>
                            <a:srgbClr val="000000"/>
                          </a:solidFill>
                          <a:effectLst/>
                        </a:rPr>
                        <a:t>Input</a:t>
                      </a:r>
                      <a:endParaRPr lang="en-IN">
                        <a:effectLst/>
                      </a:endParaRPr>
                    </a:p>
                  </a:txBody>
                  <a:tcPr marL="63500" marR="63500" marT="63500" marB="63500" anchor="ctr"/>
                </a:tc>
                <a:tc>
                  <a:txBody>
                    <a:bodyPr/>
                    <a:lstStyle/>
                    <a:p>
                      <a:pPr algn="ctr" fontAlgn="t"/>
                      <a:r>
                        <a:rPr lang="en-IN">
                          <a:solidFill>
                            <a:srgbClr val="000000"/>
                          </a:solidFill>
                          <a:effectLst/>
                        </a:rPr>
                        <a:t>None</a:t>
                      </a:r>
                      <a:endParaRPr lang="en-IN">
                        <a:effectLst/>
                      </a:endParaRPr>
                    </a:p>
                  </a:txBody>
                  <a:tcPr marL="63500" marR="63500" marT="63500" marB="63500" anchor="ctr"/>
                </a:tc>
              </a:tr>
              <a:tr h="391295">
                <a:tc>
                  <a:txBody>
                    <a:bodyPr/>
                    <a:lstStyle/>
                    <a:p>
                      <a:pPr algn="ctr" fontAlgn="t"/>
                      <a:r>
                        <a:rPr lang="en-IN">
                          <a:solidFill>
                            <a:srgbClr val="000000"/>
                          </a:solidFill>
                          <a:effectLst/>
                        </a:rPr>
                        <a:t>001</a:t>
                      </a:r>
                      <a:endParaRPr lang="en-IN">
                        <a:effectLst/>
                      </a:endParaRPr>
                    </a:p>
                  </a:txBody>
                  <a:tcPr marL="63500" marR="63500" marT="63500" marB="63500" anchor="ctr"/>
                </a:tc>
                <a:tc>
                  <a:txBody>
                    <a:bodyPr/>
                    <a:lstStyle/>
                    <a:p>
                      <a:pPr algn="ctr" fontAlgn="t"/>
                      <a:r>
                        <a:rPr lang="en-IN">
                          <a:solidFill>
                            <a:srgbClr val="000000"/>
                          </a:solidFill>
                          <a:effectLst/>
                        </a:rPr>
                        <a:t>R1</a:t>
                      </a:r>
                      <a:endParaRPr lang="en-IN">
                        <a:effectLst/>
                      </a:endParaRPr>
                    </a:p>
                  </a:txBody>
                  <a:tcPr marL="63500" marR="63500" marT="63500" marB="63500" anchor="ctr"/>
                </a:tc>
                <a:tc>
                  <a:txBody>
                    <a:bodyPr/>
                    <a:lstStyle/>
                    <a:p>
                      <a:pPr algn="ctr" fontAlgn="t"/>
                      <a:r>
                        <a:rPr lang="en-IN">
                          <a:solidFill>
                            <a:srgbClr val="000000"/>
                          </a:solidFill>
                          <a:effectLst/>
                        </a:rPr>
                        <a:t>R1</a:t>
                      </a:r>
                      <a:endParaRPr lang="en-IN">
                        <a:effectLst/>
                      </a:endParaRPr>
                    </a:p>
                  </a:txBody>
                  <a:tcPr marL="63500" marR="63500" marT="63500" marB="63500" anchor="ctr"/>
                </a:tc>
                <a:tc>
                  <a:txBody>
                    <a:bodyPr/>
                    <a:lstStyle/>
                    <a:p>
                      <a:pPr algn="ctr" fontAlgn="t"/>
                      <a:r>
                        <a:rPr lang="en-IN">
                          <a:solidFill>
                            <a:srgbClr val="000000"/>
                          </a:solidFill>
                          <a:effectLst/>
                        </a:rPr>
                        <a:t>R1</a:t>
                      </a:r>
                      <a:endParaRPr lang="en-IN">
                        <a:effectLst/>
                      </a:endParaRPr>
                    </a:p>
                  </a:txBody>
                  <a:tcPr marL="63500" marR="63500" marT="63500" marB="63500" anchor="ctr"/>
                </a:tc>
              </a:tr>
              <a:tr h="391295">
                <a:tc>
                  <a:txBody>
                    <a:bodyPr/>
                    <a:lstStyle/>
                    <a:p>
                      <a:pPr algn="ctr" fontAlgn="t"/>
                      <a:r>
                        <a:rPr lang="en-IN">
                          <a:solidFill>
                            <a:srgbClr val="000000"/>
                          </a:solidFill>
                          <a:effectLst/>
                        </a:rPr>
                        <a:t>010</a:t>
                      </a:r>
                      <a:endParaRPr lang="en-IN">
                        <a:effectLst/>
                      </a:endParaRPr>
                    </a:p>
                  </a:txBody>
                  <a:tcPr marL="63500" marR="63500" marT="63500" marB="63500" anchor="ctr"/>
                </a:tc>
                <a:tc>
                  <a:txBody>
                    <a:bodyPr/>
                    <a:lstStyle/>
                    <a:p>
                      <a:pPr algn="ctr" fontAlgn="t"/>
                      <a:r>
                        <a:rPr lang="en-IN">
                          <a:solidFill>
                            <a:srgbClr val="000000"/>
                          </a:solidFill>
                          <a:effectLst/>
                        </a:rPr>
                        <a:t>R2</a:t>
                      </a:r>
                      <a:endParaRPr lang="en-IN">
                        <a:effectLst/>
                      </a:endParaRPr>
                    </a:p>
                  </a:txBody>
                  <a:tcPr marL="63500" marR="63500" marT="63500" marB="63500" anchor="ctr"/>
                </a:tc>
                <a:tc>
                  <a:txBody>
                    <a:bodyPr/>
                    <a:lstStyle/>
                    <a:p>
                      <a:pPr algn="ctr" fontAlgn="t"/>
                      <a:r>
                        <a:rPr lang="en-IN">
                          <a:solidFill>
                            <a:srgbClr val="000000"/>
                          </a:solidFill>
                          <a:effectLst/>
                        </a:rPr>
                        <a:t>R2</a:t>
                      </a:r>
                      <a:endParaRPr lang="en-IN">
                        <a:effectLst/>
                      </a:endParaRPr>
                    </a:p>
                  </a:txBody>
                  <a:tcPr marL="63500" marR="63500" marT="63500" marB="63500" anchor="ctr"/>
                </a:tc>
                <a:tc>
                  <a:txBody>
                    <a:bodyPr/>
                    <a:lstStyle/>
                    <a:p>
                      <a:pPr algn="ctr" fontAlgn="t"/>
                      <a:r>
                        <a:rPr lang="en-IN">
                          <a:solidFill>
                            <a:srgbClr val="000000"/>
                          </a:solidFill>
                          <a:effectLst/>
                        </a:rPr>
                        <a:t>R2</a:t>
                      </a:r>
                      <a:endParaRPr lang="en-IN">
                        <a:effectLst/>
                      </a:endParaRPr>
                    </a:p>
                  </a:txBody>
                  <a:tcPr marL="63500" marR="63500" marT="63500" marB="63500" anchor="ctr"/>
                </a:tc>
              </a:tr>
              <a:tr h="391295">
                <a:tc>
                  <a:txBody>
                    <a:bodyPr/>
                    <a:lstStyle/>
                    <a:p>
                      <a:pPr algn="ctr" fontAlgn="t"/>
                      <a:r>
                        <a:rPr lang="en-IN">
                          <a:solidFill>
                            <a:srgbClr val="000000"/>
                          </a:solidFill>
                          <a:effectLst/>
                        </a:rPr>
                        <a:t>011</a:t>
                      </a:r>
                      <a:endParaRPr lang="en-IN">
                        <a:effectLst/>
                      </a:endParaRPr>
                    </a:p>
                  </a:txBody>
                  <a:tcPr marL="63500" marR="63500" marT="63500" marB="63500" anchor="ctr"/>
                </a:tc>
                <a:tc>
                  <a:txBody>
                    <a:bodyPr/>
                    <a:lstStyle/>
                    <a:p>
                      <a:pPr algn="ctr" fontAlgn="t"/>
                      <a:r>
                        <a:rPr lang="en-IN">
                          <a:solidFill>
                            <a:srgbClr val="000000"/>
                          </a:solidFill>
                          <a:effectLst/>
                        </a:rPr>
                        <a:t>R3</a:t>
                      </a:r>
                      <a:endParaRPr lang="en-IN">
                        <a:effectLst/>
                      </a:endParaRPr>
                    </a:p>
                  </a:txBody>
                  <a:tcPr marL="63500" marR="63500" marT="63500" marB="63500" anchor="ctr"/>
                </a:tc>
                <a:tc>
                  <a:txBody>
                    <a:bodyPr/>
                    <a:lstStyle/>
                    <a:p>
                      <a:pPr algn="ctr" fontAlgn="t"/>
                      <a:r>
                        <a:rPr lang="en-IN">
                          <a:solidFill>
                            <a:srgbClr val="000000"/>
                          </a:solidFill>
                          <a:effectLst/>
                        </a:rPr>
                        <a:t>R3</a:t>
                      </a:r>
                      <a:endParaRPr lang="en-IN">
                        <a:effectLst/>
                      </a:endParaRPr>
                    </a:p>
                  </a:txBody>
                  <a:tcPr marL="63500" marR="63500" marT="63500" marB="63500" anchor="ctr"/>
                </a:tc>
                <a:tc>
                  <a:txBody>
                    <a:bodyPr/>
                    <a:lstStyle/>
                    <a:p>
                      <a:pPr algn="ctr" fontAlgn="t"/>
                      <a:r>
                        <a:rPr lang="en-IN">
                          <a:solidFill>
                            <a:srgbClr val="000000"/>
                          </a:solidFill>
                          <a:effectLst/>
                        </a:rPr>
                        <a:t>R3</a:t>
                      </a:r>
                      <a:endParaRPr lang="en-IN">
                        <a:effectLst/>
                      </a:endParaRPr>
                    </a:p>
                  </a:txBody>
                  <a:tcPr marL="63500" marR="63500" marT="63500" marB="63500" anchor="ctr"/>
                </a:tc>
              </a:tr>
              <a:tr h="391295">
                <a:tc>
                  <a:txBody>
                    <a:bodyPr/>
                    <a:lstStyle/>
                    <a:p>
                      <a:pPr algn="ctr" fontAlgn="t"/>
                      <a:r>
                        <a:rPr lang="en-IN">
                          <a:solidFill>
                            <a:srgbClr val="000000"/>
                          </a:solidFill>
                          <a:effectLst/>
                        </a:rPr>
                        <a:t>100</a:t>
                      </a:r>
                      <a:endParaRPr lang="en-IN">
                        <a:effectLst/>
                      </a:endParaRPr>
                    </a:p>
                  </a:txBody>
                  <a:tcPr marL="63500" marR="63500" marT="63500" marB="63500" anchor="ctr"/>
                </a:tc>
                <a:tc>
                  <a:txBody>
                    <a:bodyPr/>
                    <a:lstStyle/>
                    <a:p>
                      <a:pPr algn="ctr" fontAlgn="t"/>
                      <a:r>
                        <a:rPr lang="en-IN">
                          <a:solidFill>
                            <a:srgbClr val="000000"/>
                          </a:solidFill>
                          <a:effectLst/>
                        </a:rPr>
                        <a:t>R4</a:t>
                      </a:r>
                      <a:endParaRPr lang="en-IN">
                        <a:effectLst/>
                      </a:endParaRPr>
                    </a:p>
                  </a:txBody>
                  <a:tcPr marL="63500" marR="63500" marT="63500" marB="63500" anchor="ctr"/>
                </a:tc>
                <a:tc>
                  <a:txBody>
                    <a:bodyPr/>
                    <a:lstStyle/>
                    <a:p>
                      <a:pPr algn="ctr" fontAlgn="t"/>
                      <a:r>
                        <a:rPr lang="en-IN">
                          <a:solidFill>
                            <a:srgbClr val="000000"/>
                          </a:solidFill>
                          <a:effectLst/>
                        </a:rPr>
                        <a:t>R4</a:t>
                      </a:r>
                      <a:endParaRPr lang="en-IN">
                        <a:effectLst/>
                      </a:endParaRPr>
                    </a:p>
                  </a:txBody>
                  <a:tcPr marL="63500" marR="63500" marT="63500" marB="63500" anchor="ctr"/>
                </a:tc>
                <a:tc>
                  <a:txBody>
                    <a:bodyPr/>
                    <a:lstStyle/>
                    <a:p>
                      <a:pPr algn="ctr" fontAlgn="t"/>
                      <a:r>
                        <a:rPr lang="en-IN">
                          <a:solidFill>
                            <a:srgbClr val="000000"/>
                          </a:solidFill>
                          <a:effectLst/>
                        </a:rPr>
                        <a:t>R4</a:t>
                      </a:r>
                      <a:endParaRPr lang="en-IN">
                        <a:effectLst/>
                      </a:endParaRPr>
                    </a:p>
                  </a:txBody>
                  <a:tcPr marL="63500" marR="63500" marT="63500" marB="63500" anchor="ctr"/>
                </a:tc>
              </a:tr>
              <a:tr h="391295">
                <a:tc>
                  <a:txBody>
                    <a:bodyPr/>
                    <a:lstStyle/>
                    <a:p>
                      <a:pPr algn="ctr" fontAlgn="t"/>
                      <a:r>
                        <a:rPr lang="en-IN">
                          <a:solidFill>
                            <a:srgbClr val="000000"/>
                          </a:solidFill>
                          <a:effectLst/>
                        </a:rPr>
                        <a:t>101</a:t>
                      </a:r>
                      <a:endParaRPr lang="en-IN">
                        <a:effectLst/>
                      </a:endParaRPr>
                    </a:p>
                  </a:txBody>
                  <a:tcPr marL="63500" marR="63500" marT="63500" marB="63500" anchor="ctr"/>
                </a:tc>
                <a:tc>
                  <a:txBody>
                    <a:bodyPr/>
                    <a:lstStyle/>
                    <a:p>
                      <a:pPr algn="ctr" fontAlgn="t"/>
                      <a:r>
                        <a:rPr lang="en-IN">
                          <a:solidFill>
                            <a:srgbClr val="000000"/>
                          </a:solidFill>
                          <a:effectLst/>
                        </a:rPr>
                        <a:t>R5</a:t>
                      </a:r>
                      <a:endParaRPr lang="en-IN">
                        <a:effectLst/>
                      </a:endParaRPr>
                    </a:p>
                  </a:txBody>
                  <a:tcPr marL="63500" marR="63500" marT="63500" marB="63500" anchor="ctr"/>
                </a:tc>
                <a:tc>
                  <a:txBody>
                    <a:bodyPr/>
                    <a:lstStyle/>
                    <a:p>
                      <a:pPr algn="ctr" fontAlgn="t"/>
                      <a:r>
                        <a:rPr lang="en-IN">
                          <a:solidFill>
                            <a:srgbClr val="000000"/>
                          </a:solidFill>
                          <a:effectLst/>
                        </a:rPr>
                        <a:t>R5</a:t>
                      </a:r>
                      <a:endParaRPr lang="en-IN">
                        <a:effectLst/>
                      </a:endParaRPr>
                    </a:p>
                  </a:txBody>
                  <a:tcPr marL="63500" marR="63500" marT="63500" marB="63500" anchor="ctr"/>
                </a:tc>
                <a:tc>
                  <a:txBody>
                    <a:bodyPr/>
                    <a:lstStyle/>
                    <a:p>
                      <a:pPr algn="ctr" fontAlgn="t"/>
                      <a:r>
                        <a:rPr lang="en-IN">
                          <a:solidFill>
                            <a:srgbClr val="000000"/>
                          </a:solidFill>
                          <a:effectLst/>
                        </a:rPr>
                        <a:t>R5</a:t>
                      </a:r>
                      <a:endParaRPr lang="en-IN">
                        <a:effectLst/>
                      </a:endParaRPr>
                    </a:p>
                  </a:txBody>
                  <a:tcPr marL="63500" marR="63500" marT="63500" marB="63500" anchor="ctr"/>
                </a:tc>
              </a:tr>
              <a:tr h="391295">
                <a:tc>
                  <a:txBody>
                    <a:bodyPr/>
                    <a:lstStyle/>
                    <a:p>
                      <a:pPr algn="ctr" fontAlgn="t"/>
                      <a:r>
                        <a:rPr lang="en-IN">
                          <a:solidFill>
                            <a:srgbClr val="000000"/>
                          </a:solidFill>
                          <a:effectLst/>
                        </a:rPr>
                        <a:t>110</a:t>
                      </a:r>
                      <a:endParaRPr lang="en-IN">
                        <a:effectLst/>
                      </a:endParaRPr>
                    </a:p>
                  </a:txBody>
                  <a:tcPr marL="63500" marR="63500" marT="63500" marB="63500" anchor="ctr"/>
                </a:tc>
                <a:tc>
                  <a:txBody>
                    <a:bodyPr/>
                    <a:lstStyle/>
                    <a:p>
                      <a:pPr algn="ctr" fontAlgn="t"/>
                      <a:r>
                        <a:rPr lang="en-IN">
                          <a:solidFill>
                            <a:srgbClr val="000000"/>
                          </a:solidFill>
                          <a:effectLst/>
                        </a:rPr>
                        <a:t>R6</a:t>
                      </a:r>
                      <a:endParaRPr lang="en-IN">
                        <a:effectLst/>
                      </a:endParaRPr>
                    </a:p>
                  </a:txBody>
                  <a:tcPr marL="63500" marR="63500" marT="63500" marB="63500" anchor="ctr"/>
                </a:tc>
                <a:tc>
                  <a:txBody>
                    <a:bodyPr/>
                    <a:lstStyle/>
                    <a:p>
                      <a:pPr algn="ctr" fontAlgn="t"/>
                      <a:r>
                        <a:rPr lang="en-IN">
                          <a:solidFill>
                            <a:srgbClr val="000000"/>
                          </a:solidFill>
                          <a:effectLst/>
                        </a:rPr>
                        <a:t>R6</a:t>
                      </a:r>
                      <a:endParaRPr lang="en-IN">
                        <a:effectLst/>
                      </a:endParaRPr>
                    </a:p>
                  </a:txBody>
                  <a:tcPr marL="63500" marR="63500" marT="63500" marB="63500" anchor="ctr"/>
                </a:tc>
                <a:tc>
                  <a:txBody>
                    <a:bodyPr/>
                    <a:lstStyle/>
                    <a:p>
                      <a:pPr algn="ctr" fontAlgn="t"/>
                      <a:r>
                        <a:rPr lang="en-IN" dirty="0">
                          <a:solidFill>
                            <a:srgbClr val="000000"/>
                          </a:solidFill>
                          <a:effectLst/>
                        </a:rPr>
                        <a:t>R6</a:t>
                      </a:r>
                      <a:endParaRPr lang="en-IN" dirty="0">
                        <a:effectLst/>
                      </a:endParaRPr>
                    </a:p>
                  </a:txBody>
                  <a:tcPr marL="63500" marR="63500" marT="63500" marB="63500" anchor="ctr"/>
                </a:tc>
              </a:tr>
            </a:tbl>
          </a:graphicData>
        </a:graphic>
      </p:graphicFrame>
      <p:cxnSp>
        <p:nvCxnSpPr>
          <p:cNvPr id="12" name="Connector: Elbow 11"/>
          <p:cNvCxnSpPr>
            <a:endCxn id="7" idx="0"/>
          </p:cNvCxnSpPr>
          <p:nvPr/>
        </p:nvCxnSpPr>
        <p:spPr>
          <a:xfrm rot="10800000" flipV="1">
            <a:off x="2076058" y="2363784"/>
            <a:ext cx="4147461" cy="200194"/>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618653" y="1716833"/>
            <a:ext cx="0" cy="64694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470849" y="1716833"/>
            <a:ext cx="0" cy="64694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223519" y="1716833"/>
            <a:ext cx="0" cy="64694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532847" y="1432048"/>
            <a:ext cx="3405674" cy="369332"/>
          </a:xfrm>
          <a:prstGeom prst="rect">
            <a:avLst/>
          </a:prstGeom>
          <a:noFill/>
        </p:spPr>
        <p:txBody>
          <a:bodyPr wrap="square" rtlCol="0">
            <a:spAutoFit/>
          </a:bodyPr>
          <a:lstStyle/>
          <a:p>
            <a:pPr algn="ctr"/>
            <a:r>
              <a:rPr lang="en-IN" b="1" dirty="0"/>
              <a:t>ALU operations encoding</a:t>
            </a:r>
            <a:endParaRPr lang="en-IN" b="1" dirty="0"/>
          </a:p>
        </p:txBody>
      </p:sp>
      <p:graphicFrame>
        <p:nvGraphicFramePr>
          <p:cNvPr id="22" name="Table 22"/>
          <p:cNvGraphicFramePr>
            <a:graphicFrameLocks noGrp="1"/>
          </p:cNvGraphicFramePr>
          <p:nvPr/>
        </p:nvGraphicFramePr>
        <p:xfrm>
          <a:off x="7371415" y="1837536"/>
          <a:ext cx="4817475" cy="4815840"/>
        </p:xfrm>
        <a:graphic>
          <a:graphicData uri="http://schemas.openxmlformats.org/drawingml/2006/table">
            <a:tbl>
              <a:tblPr firstRow="1" bandRow="1">
                <a:tableStyleId>{5C22544A-7EE6-4342-B048-85BDC9FD1C3A}</a:tableStyleId>
              </a:tblPr>
              <a:tblGrid>
                <a:gridCol w="1605825"/>
                <a:gridCol w="1605825"/>
                <a:gridCol w="1605825"/>
              </a:tblGrid>
              <a:tr h="311400">
                <a:tc>
                  <a:txBody>
                    <a:bodyPr/>
                    <a:lstStyle/>
                    <a:p>
                      <a:pPr algn="ctr" fontAlgn="t"/>
                      <a:r>
                        <a:rPr lang="en-IN" b="1">
                          <a:solidFill>
                            <a:srgbClr val="000000"/>
                          </a:solidFill>
                          <a:effectLst/>
                        </a:rPr>
                        <a:t>OPR Select</a:t>
                      </a:r>
                      <a:endParaRPr lang="en-IN">
                        <a:effectLst/>
                      </a:endParaRPr>
                    </a:p>
                  </a:txBody>
                  <a:tcPr marL="63500" marR="63500" marT="63500" marB="63500" anchor="ctr"/>
                </a:tc>
                <a:tc>
                  <a:txBody>
                    <a:bodyPr/>
                    <a:lstStyle/>
                    <a:p>
                      <a:pPr algn="ctr" fontAlgn="t"/>
                      <a:r>
                        <a:rPr lang="en-IN" b="1">
                          <a:solidFill>
                            <a:srgbClr val="000000"/>
                          </a:solidFill>
                          <a:effectLst/>
                        </a:rPr>
                        <a:t>Operation</a:t>
                      </a:r>
                      <a:endParaRPr lang="en-IN">
                        <a:effectLst/>
                      </a:endParaRPr>
                    </a:p>
                  </a:txBody>
                  <a:tcPr marL="63500" marR="63500" marT="63500" marB="63500" anchor="ctr"/>
                </a:tc>
                <a:tc>
                  <a:txBody>
                    <a:bodyPr/>
                    <a:lstStyle/>
                    <a:p>
                      <a:pPr algn="ctr" fontAlgn="t"/>
                      <a:r>
                        <a:rPr lang="en-IN" b="1" dirty="0">
                          <a:solidFill>
                            <a:srgbClr val="000000"/>
                          </a:solidFill>
                          <a:effectLst/>
                        </a:rPr>
                        <a:t>Symbol</a:t>
                      </a:r>
                      <a:endParaRPr lang="en-IN" dirty="0">
                        <a:effectLst/>
                      </a:endParaRPr>
                    </a:p>
                  </a:txBody>
                  <a:tcPr marL="63500" marR="63500" marT="63500" marB="63500" anchor="ctr"/>
                </a:tc>
              </a:tr>
              <a:tr h="311400">
                <a:tc>
                  <a:txBody>
                    <a:bodyPr/>
                    <a:lstStyle/>
                    <a:p>
                      <a:pPr algn="ctr" fontAlgn="t"/>
                      <a:r>
                        <a:rPr lang="en-IN">
                          <a:solidFill>
                            <a:srgbClr val="000000"/>
                          </a:solidFill>
                          <a:effectLst/>
                        </a:rPr>
                        <a:t>00000 </a:t>
                      </a:r>
                      <a:endParaRPr lang="en-IN">
                        <a:effectLst/>
                      </a:endParaRPr>
                    </a:p>
                  </a:txBody>
                  <a:tcPr marL="63500" marR="63500" marT="63500" marB="63500" anchor="ctr"/>
                </a:tc>
                <a:tc>
                  <a:txBody>
                    <a:bodyPr/>
                    <a:lstStyle/>
                    <a:p>
                      <a:pPr algn="ctr" fontAlgn="t"/>
                      <a:r>
                        <a:rPr lang="en-IN">
                          <a:solidFill>
                            <a:srgbClr val="000000"/>
                          </a:solidFill>
                          <a:effectLst/>
                        </a:rPr>
                        <a:t>Transfer A</a:t>
                      </a:r>
                      <a:endParaRPr lang="en-IN">
                        <a:effectLst/>
                      </a:endParaRPr>
                    </a:p>
                  </a:txBody>
                  <a:tcPr marL="63500" marR="63500" marT="63500" marB="63500" anchor="ctr"/>
                </a:tc>
                <a:tc>
                  <a:txBody>
                    <a:bodyPr/>
                    <a:lstStyle/>
                    <a:p>
                      <a:pPr algn="ctr" fontAlgn="t"/>
                      <a:r>
                        <a:rPr lang="en-IN">
                          <a:solidFill>
                            <a:srgbClr val="000000"/>
                          </a:solidFill>
                          <a:effectLst/>
                        </a:rPr>
                        <a:t>TSFA</a:t>
                      </a:r>
                      <a:endParaRPr lang="en-IN">
                        <a:effectLst/>
                      </a:endParaRPr>
                    </a:p>
                  </a:txBody>
                  <a:tcPr marL="63500" marR="63500" marT="63500" marB="63500" anchor="ctr"/>
                </a:tc>
              </a:tr>
              <a:tr h="311400">
                <a:tc>
                  <a:txBody>
                    <a:bodyPr/>
                    <a:lstStyle/>
                    <a:p>
                      <a:pPr algn="ctr" fontAlgn="t"/>
                      <a:r>
                        <a:rPr lang="en-IN">
                          <a:solidFill>
                            <a:srgbClr val="000000"/>
                          </a:solidFill>
                          <a:effectLst/>
                        </a:rPr>
                        <a:t>00001</a:t>
                      </a:r>
                      <a:endParaRPr lang="en-IN">
                        <a:effectLst/>
                      </a:endParaRPr>
                    </a:p>
                  </a:txBody>
                  <a:tcPr marL="63500" marR="63500" marT="63500" marB="63500" anchor="ctr"/>
                </a:tc>
                <a:tc>
                  <a:txBody>
                    <a:bodyPr/>
                    <a:lstStyle/>
                    <a:p>
                      <a:pPr algn="ctr" fontAlgn="t"/>
                      <a:r>
                        <a:rPr lang="en-IN">
                          <a:solidFill>
                            <a:srgbClr val="000000"/>
                          </a:solidFill>
                          <a:effectLst/>
                        </a:rPr>
                        <a:t>Increment A</a:t>
                      </a:r>
                      <a:endParaRPr lang="en-IN">
                        <a:effectLst/>
                      </a:endParaRPr>
                    </a:p>
                  </a:txBody>
                  <a:tcPr marL="63500" marR="63500" marT="63500" marB="63500" anchor="ctr"/>
                </a:tc>
                <a:tc>
                  <a:txBody>
                    <a:bodyPr/>
                    <a:lstStyle/>
                    <a:p>
                      <a:pPr algn="ctr" fontAlgn="t"/>
                      <a:r>
                        <a:rPr lang="en-IN">
                          <a:solidFill>
                            <a:srgbClr val="000000"/>
                          </a:solidFill>
                          <a:effectLst/>
                        </a:rPr>
                        <a:t>INCA</a:t>
                      </a:r>
                      <a:endParaRPr lang="en-IN">
                        <a:effectLst/>
                      </a:endParaRPr>
                    </a:p>
                  </a:txBody>
                  <a:tcPr marL="63500" marR="63500" marT="63500" marB="63500" anchor="ctr"/>
                </a:tc>
              </a:tr>
              <a:tr h="311400">
                <a:tc>
                  <a:txBody>
                    <a:bodyPr/>
                    <a:lstStyle/>
                    <a:p>
                      <a:pPr algn="ctr" fontAlgn="t"/>
                      <a:r>
                        <a:rPr lang="en-IN">
                          <a:solidFill>
                            <a:srgbClr val="000000"/>
                          </a:solidFill>
                          <a:effectLst/>
                        </a:rPr>
                        <a:t>00010</a:t>
                      </a:r>
                      <a:endParaRPr lang="en-IN">
                        <a:effectLst/>
                      </a:endParaRPr>
                    </a:p>
                  </a:txBody>
                  <a:tcPr marL="63500" marR="63500" marT="63500" marB="63500" anchor="ctr"/>
                </a:tc>
                <a:tc>
                  <a:txBody>
                    <a:bodyPr/>
                    <a:lstStyle/>
                    <a:p>
                      <a:pPr algn="ctr" fontAlgn="t"/>
                      <a:r>
                        <a:rPr lang="en-IN">
                          <a:solidFill>
                            <a:srgbClr val="000000"/>
                          </a:solidFill>
                          <a:effectLst/>
                        </a:rPr>
                        <a:t>Add A + B</a:t>
                      </a:r>
                      <a:endParaRPr lang="en-IN">
                        <a:effectLst/>
                      </a:endParaRPr>
                    </a:p>
                  </a:txBody>
                  <a:tcPr marL="63500" marR="63500" marT="63500" marB="63500" anchor="ctr"/>
                </a:tc>
                <a:tc>
                  <a:txBody>
                    <a:bodyPr/>
                    <a:lstStyle/>
                    <a:p>
                      <a:pPr algn="ctr" fontAlgn="t"/>
                      <a:r>
                        <a:rPr lang="en-IN">
                          <a:solidFill>
                            <a:srgbClr val="000000"/>
                          </a:solidFill>
                          <a:effectLst/>
                        </a:rPr>
                        <a:t>ADD</a:t>
                      </a:r>
                      <a:endParaRPr lang="en-IN">
                        <a:effectLst/>
                      </a:endParaRPr>
                    </a:p>
                  </a:txBody>
                  <a:tcPr marL="63500" marR="63500" marT="63500" marB="63500" anchor="ctr"/>
                </a:tc>
              </a:tr>
              <a:tr h="311400">
                <a:tc>
                  <a:txBody>
                    <a:bodyPr/>
                    <a:lstStyle/>
                    <a:p>
                      <a:pPr algn="ctr" fontAlgn="t"/>
                      <a:r>
                        <a:rPr lang="en-IN">
                          <a:solidFill>
                            <a:srgbClr val="000000"/>
                          </a:solidFill>
                          <a:effectLst/>
                        </a:rPr>
                        <a:t>00101</a:t>
                      </a:r>
                      <a:endParaRPr lang="en-IN">
                        <a:effectLst/>
                      </a:endParaRPr>
                    </a:p>
                  </a:txBody>
                  <a:tcPr marL="63500" marR="63500" marT="63500" marB="63500" anchor="ctr"/>
                </a:tc>
                <a:tc>
                  <a:txBody>
                    <a:bodyPr/>
                    <a:lstStyle/>
                    <a:p>
                      <a:pPr algn="ctr" fontAlgn="t"/>
                      <a:r>
                        <a:rPr lang="en-IN">
                          <a:solidFill>
                            <a:srgbClr val="000000"/>
                          </a:solidFill>
                          <a:effectLst/>
                        </a:rPr>
                        <a:t>Subtract A - B</a:t>
                      </a:r>
                      <a:endParaRPr lang="en-IN">
                        <a:effectLst/>
                      </a:endParaRPr>
                    </a:p>
                  </a:txBody>
                  <a:tcPr marL="63500" marR="63500" marT="63500" marB="63500" anchor="ctr"/>
                </a:tc>
                <a:tc>
                  <a:txBody>
                    <a:bodyPr/>
                    <a:lstStyle/>
                    <a:p>
                      <a:pPr algn="ctr" fontAlgn="t"/>
                      <a:r>
                        <a:rPr lang="en-IN">
                          <a:solidFill>
                            <a:srgbClr val="000000"/>
                          </a:solidFill>
                          <a:effectLst/>
                        </a:rPr>
                        <a:t>SUB</a:t>
                      </a:r>
                      <a:endParaRPr lang="en-IN">
                        <a:effectLst/>
                      </a:endParaRPr>
                    </a:p>
                  </a:txBody>
                  <a:tcPr marL="63500" marR="63500" marT="63500" marB="63500" anchor="ctr"/>
                </a:tc>
              </a:tr>
              <a:tr h="311400">
                <a:tc>
                  <a:txBody>
                    <a:bodyPr/>
                    <a:lstStyle/>
                    <a:p>
                      <a:pPr algn="ctr" fontAlgn="t"/>
                      <a:r>
                        <a:rPr lang="en-IN">
                          <a:solidFill>
                            <a:srgbClr val="000000"/>
                          </a:solidFill>
                          <a:effectLst/>
                        </a:rPr>
                        <a:t>00110</a:t>
                      </a:r>
                      <a:endParaRPr lang="en-IN">
                        <a:effectLst/>
                      </a:endParaRPr>
                    </a:p>
                  </a:txBody>
                  <a:tcPr marL="63500" marR="63500" marT="63500" marB="63500" anchor="ctr"/>
                </a:tc>
                <a:tc>
                  <a:txBody>
                    <a:bodyPr/>
                    <a:lstStyle/>
                    <a:p>
                      <a:pPr algn="ctr" fontAlgn="t"/>
                      <a:r>
                        <a:rPr lang="en-IN">
                          <a:solidFill>
                            <a:srgbClr val="000000"/>
                          </a:solidFill>
                          <a:effectLst/>
                        </a:rPr>
                        <a:t>Decrement A</a:t>
                      </a:r>
                      <a:endParaRPr lang="en-IN">
                        <a:effectLst/>
                      </a:endParaRPr>
                    </a:p>
                  </a:txBody>
                  <a:tcPr marL="63500" marR="63500" marT="63500" marB="63500" anchor="ctr"/>
                </a:tc>
                <a:tc>
                  <a:txBody>
                    <a:bodyPr/>
                    <a:lstStyle/>
                    <a:p>
                      <a:pPr algn="ctr" fontAlgn="t"/>
                      <a:r>
                        <a:rPr lang="en-IN">
                          <a:solidFill>
                            <a:srgbClr val="000000"/>
                          </a:solidFill>
                          <a:effectLst/>
                        </a:rPr>
                        <a:t>DECA</a:t>
                      </a:r>
                      <a:endParaRPr lang="en-IN">
                        <a:effectLst/>
                      </a:endParaRPr>
                    </a:p>
                  </a:txBody>
                  <a:tcPr marL="63500" marR="63500" marT="63500" marB="63500" anchor="ctr"/>
                </a:tc>
              </a:tr>
              <a:tr h="311400">
                <a:tc>
                  <a:txBody>
                    <a:bodyPr/>
                    <a:lstStyle/>
                    <a:p>
                      <a:pPr algn="ctr" fontAlgn="t"/>
                      <a:r>
                        <a:rPr lang="en-IN">
                          <a:solidFill>
                            <a:srgbClr val="000000"/>
                          </a:solidFill>
                          <a:effectLst/>
                        </a:rPr>
                        <a:t>01000</a:t>
                      </a:r>
                      <a:endParaRPr lang="en-IN">
                        <a:effectLst/>
                      </a:endParaRPr>
                    </a:p>
                  </a:txBody>
                  <a:tcPr marL="63500" marR="63500" marT="63500" marB="63500" anchor="ctr"/>
                </a:tc>
                <a:tc>
                  <a:txBody>
                    <a:bodyPr/>
                    <a:lstStyle/>
                    <a:p>
                      <a:pPr algn="ctr" fontAlgn="t"/>
                      <a:r>
                        <a:rPr lang="en-IN">
                          <a:solidFill>
                            <a:srgbClr val="000000"/>
                          </a:solidFill>
                          <a:effectLst/>
                        </a:rPr>
                        <a:t>ADD A and B</a:t>
                      </a:r>
                      <a:endParaRPr lang="en-IN">
                        <a:effectLst/>
                      </a:endParaRPr>
                    </a:p>
                  </a:txBody>
                  <a:tcPr marL="63500" marR="63500" marT="63500" marB="63500" anchor="ctr"/>
                </a:tc>
                <a:tc>
                  <a:txBody>
                    <a:bodyPr/>
                    <a:lstStyle/>
                    <a:p>
                      <a:pPr algn="ctr" fontAlgn="t"/>
                      <a:r>
                        <a:rPr lang="en-IN">
                          <a:solidFill>
                            <a:srgbClr val="000000"/>
                          </a:solidFill>
                          <a:effectLst/>
                        </a:rPr>
                        <a:t>AND</a:t>
                      </a:r>
                      <a:endParaRPr lang="en-IN">
                        <a:effectLst/>
                      </a:endParaRPr>
                    </a:p>
                  </a:txBody>
                  <a:tcPr marL="63500" marR="63500" marT="63500" marB="63500" anchor="ctr"/>
                </a:tc>
              </a:tr>
              <a:tr h="311400">
                <a:tc>
                  <a:txBody>
                    <a:bodyPr/>
                    <a:lstStyle/>
                    <a:p>
                      <a:pPr algn="ctr" fontAlgn="t"/>
                      <a:r>
                        <a:rPr lang="en-IN">
                          <a:solidFill>
                            <a:srgbClr val="000000"/>
                          </a:solidFill>
                          <a:effectLst/>
                        </a:rPr>
                        <a:t>01010</a:t>
                      </a:r>
                      <a:endParaRPr lang="en-IN">
                        <a:effectLst/>
                      </a:endParaRPr>
                    </a:p>
                  </a:txBody>
                  <a:tcPr marL="63500" marR="63500" marT="63500" marB="63500" anchor="ctr"/>
                </a:tc>
                <a:tc>
                  <a:txBody>
                    <a:bodyPr/>
                    <a:lstStyle/>
                    <a:p>
                      <a:pPr algn="ctr" fontAlgn="t"/>
                      <a:r>
                        <a:rPr lang="en-IN">
                          <a:solidFill>
                            <a:srgbClr val="000000"/>
                          </a:solidFill>
                          <a:effectLst/>
                        </a:rPr>
                        <a:t>OR A and B</a:t>
                      </a:r>
                      <a:endParaRPr lang="en-IN">
                        <a:effectLst/>
                      </a:endParaRPr>
                    </a:p>
                  </a:txBody>
                  <a:tcPr marL="63500" marR="63500" marT="63500" marB="63500" anchor="ctr"/>
                </a:tc>
                <a:tc>
                  <a:txBody>
                    <a:bodyPr/>
                    <a:lstStyle/>
                    <a:p>
                      <a:pPr algn="ctr" fontAlgn="t"/>
                      <a:r>
                        <a:rPr lang="en-IN">
                          <a:solidFill>
                            <a:srgbClr val="000000"/>
                          </a:solidFill>
                          <a:effectLst/>
                        </a:rPr>
                        <a:t>OR</a:t>
                      </a:r>
                      <a:endParaRPr lang="en-IN">
                        <a:effectLst/>
                      </a:endParaRPr>
                    </a:p>
                  </a:txBody>
                  <a:tcPr marL="63500" marR="63500" marT="63500" marB="63500" anchor="ctr"/>
                </a:tc>
              </a:tr>
              <a:tr h="311400">
                <a:tc>
                  <a:txBody>
                    <a:bodyPr/>
                    <a:lstStyle/>
                    <a:p>
                      <a:pPr algn="ctr" fontAlgn="t"/>
                      <a:r>
                        <a:rPr lang="en-IN">
                          <a:solidFill>
                            <a:srgbClr val="000000"/>
                          </a:solidFill>
                          <a:effectLst/>
                        </a:rPr>
                        <a:t>01100</a:t>
                      </a:r>
                      <a:endParaRPr lang="en-IN">
                        <a:effectLst/>
                      </a:endParaRPr>
                    </a:p>
                  </a:txBody>
                  <a:tcPr marL="63500" marR="63500" marT="63500" marB="63500" anchor="ctr"/>
                </a:tc>
                <a:tc>
                  <a:txBody>
                    <a:bodyPr/>
                    <a:lstStyle/>
                    <a:p>
                      <a:pPr algn="ctr" fontAlgn="t"/>
                      <a:r>
                        <a:rPr lang="en-IN" dirty="0">
                          <a:solidFill>
                            <a:srgbClr val="000000"/>
                          </a:solidFill>
                          <a:effectLst/>
                        </a:rPr>
                        <a:t>XOR A and B</a:t>
                      </a:r>
                      <a:endParaRPr lang="en-IN" dirty="0">
                        <a:effectLst/>
                      </a:endParaRPr>
                    </a:p>
                  </a:txBody>
                  <a:tcPr marL="63500" marR="63500" marT="63500" marB="63500" anchor="ctr"/>
                </a:tc>
                <a:tc>
                  <a:txBody>
                    <a:bodyPr/>
                    <a:lstStyle/>
                    <a:p>
                      <a:pPr algn="ctr" fontAlgn="t"/>
                      <a:r>
                        <a:rPr lang="en-IN">
                          <a:solidFill>
                            <a:srgbClr val="000000"/>
                          </a:solidFill>
                          <a:effectLst/>
                        </a:rPr>
                        <a:t>XOR</a:t>
                      </a:r>
                      <a:endParaRPr lang="en-IN">
                        <a:effectLst/>
                      </a:endParaRPr>
                    </a:p>
                  </a:txBody>
                  <a:tcPr marL="63500" marR="63500" marT="63500" marB="63500" anchor="ctr"/>
                </a:tc>
              </a:tr>
              <a:tr h="311400">
                <a:tc>
                  <a:txBody>
                    <a:bodyPr/>
                    <a:lstStyle/>
                    <a:p>
                      <a:pPr algn="ctr" fontAlgn="t"/>
                      <a:r>
                        <a:rPr lang="en-IN">
                          <a:solidFill>
                            <a:srgbClr val="000000"/>
                          </a:solidFill>
                          <a:effectLst/>
                        </a:rPr>
                        <a:t>01110</a:t>
                      </a:r>
                      <a:endParaRPr lang="en-IN">
                        <a:effectLst/>
                      </a:endParaRPr>
                    </a:p>
                  </a:txBody>
                  <a:tcPr marL="63500" marR="63500" marT="63500" marB="63500" anchor="ctr"/>
                </a:tc>
                <a:tc>
                  <a:txBody>
                    <a:bodyPr/>
                    <a:lstStyle/>
                    <a:p>
                      <a:pPr algn="ctr" fontAlgn="t"/>
                      <a:r>
                        <a:rPr lang="en-IN">
                          <a:solidFill>
                            <a:srgbClr val="000000"/>
                          </a:solidFill>
                          <a:effectLst/>
                        </a:rPr>
                        <a:t>Complement A</a:t>
                      </a:r>
                      <a:endParaRPr lang="en-IN">
                        <a:effectLst/>
                      </a:endParaRPr>
                    </a:p>
                  </a:txBody>
                  <a:tcPr marL="63500" marR="63500" marT="63500" marB="63500" anchor="ctr"/>
                </a:tc>
                <a:tc>
                  <a:txBody>
                    <a:bodyPr/>
                    <a:lstStyle/>
                    <a:p>
                      <a:pPr algn="ctr" fontAlgn="t"/>
                      <a:r>
                        <a:rPr lang="en-IN">
                          <a:solidFill>
                            <a:srgbClr val="000000"/>
                          </a:solidFill>
                          <a:effectLst/>
                        </a:rPr>
                        <a:t>COMA</a:t>
                      </a:r>
                      <a:endParaRPr lang="en-IN">
                        <a:effectLst/>
                      </a:endParaRPr>
                    </a:p>
                  </a:txBody>
                  <a:tcPr marL="63500" marR="63500" marT="63500" marB="63500" anchor="ctr"/>
                </a:tc>
              </a:tr>
              <a:tr h="311400">
                <a:tc>
                  <a:txBody>
                    <a:bodyPr/>
                    <a:lstStyle/>
                    <a:p>
                      <a:pPr algn="ctr" fontAlgn="t"/>
                      <a:r>
                        <a:rPr lang="en-IN">
                          <a:solidFill>
                            <a:srgbClr val="000000"/>
                          </a:solidFill>
                          <a:effectLst/>
                        </a:rPr>
                        <a:t>10000</a:t>
                      </a:r>
                      <a:endParaRPr lang="en-IN">
                        <a:effectLst/>
                      </a:endParaRPr>
                    </a:p>
                  </a:txBody>
                  <a:tcPr marL="63500" marR="63500" marT="63500" marB="63500" anchor="ctr"/>
                </a:tc>
                <a:tc>
                  <a:txBody>
                    <a:bodyPr/>
                    <a:lstStyle/>
                    <a:p>
                      <a:pPr algn="ctr" fontAlgn="t"/>
                      <a:r>
                        <a:rPr lang="en-IN">
                          <a:solidFill>
                            <a:srgbClr val="000000"/>
                          </a:solidFill>
                          <a:effectLst/>
                        </a:rPr>
                        <a:t>Shift right A</a:t>
                      </a:r>
                      <a:endParaRPr lang="en-IN">
                        <a:effectLst/>
                      </a:endParaRPr>
                    </a:p>
                  </a:txBody>
                  <a:tcPr marL="63500" marR="63500" marT="63500" marB="63500" anchor="ctr"/>
                </a:tc>
                <a:tc>
                  <a:txBody>
                    <a:bodyPr/>
                    <a:lstStyle/>
                    <a:p>
                      <a:pPr algn="ctr" fontAlgn="t"/>
                      <a:r>
                        <a:rPr lang="en-IN">
                          <a:solidFill>
                            <a:srgbClr val="000000"/>
                          </a:solidFill>
                          <a:effectLst/>
                        </a:rPr>
                        <a:t>SHRA</a:t>
                      </a:r>
                      <a:endParaRPr lang="en-IN">
                        <a:effectLst/>
                      </a:endParaRPr>
                    </a:p>
                  </a:txBody>
                  <a:tcPr marL="63500" marR="63500" marT="63500" marB="63500" anchor="ctr"/>
                </a:tc>
              </a:tr>
              <a:tr h="311400">
                <a:tc>
                  <a:txBody>
                    <a:bodyPr/>
                    <a:lstStyle/>
                    <a:p>
                      <a:pPr algn="ctr" fontAlgn="t"/>
                      <a:r>
                        <a:rPr lang="en-IN">
                          <a:solidFill>
                            <a:srgbClr val="000000"/>
                          </a:solidFill>
                          <a:effectLst/>
                        </a:rPr>
                        <a:t>11000</a:t>
                      </a:r>
                      <a:endParaRPr lang="en-IN">
                        <a:effectLst/>
                      </a:endParaRPr>
                    </a:p>
                  </a:txBody>
                  <a:tcPr marL="63500" marR="63500" marT="63500" marB="63500" anchor="ctr"/>
                </a:tc>
                <a:tc>
                  <a:txBody>
                    <a:bodyPr/>
                    <a:lstStyle/>
                    <a:p>
                      <a:pPr algn="ctr" fontAlgn="t"/>
                      <a:r>
                        <a:rPr lang="en-IN">
                          <a:solidFill>
                            <a:srgbClr val="000000"/>
                          </a:solidFill>
                          <a:effectLst/>
                        </a:rPr>
                        <a:t>Shift left A</a:t>
                      </a:r>
                      <a:endParaRPr lang="en-IN">
                        <a:effectLst/>
                      </a:endParaRPr>
                    </a:p>
                  </a:txBody>
                  <a:tcPr marL="63500" marR="63500" marT="63500" marB="63500" anchor="ctr"/>
                </a:tc>
                <a:tc>
                  <a:txBody>
                    <a:bodyPr/>
                    <a:lstStyle/>
                    <a:p>
                      <a:pPr algn="ctr" fontAlgn="t"/>
                      <a:r>
                        <a:rPr lang="en-IN" dirty="0">
                          <a:solidFill>
                            <a:srgbClr val="000000"/>
                          </a:solidFill>
                          <a:effectLst/>
                        </a:rPr>
                        <a:t>SHLA</a:t>
                      </a:r>
                      <a:endParaRPr lang="en-IN" dirty="0">
                        <a:effectLst/>
                      </a:endParaRPr>
                    </a:p>
                  </a:txBody>
                  <a:tcPr marL="63500" marR="63500" marT="63500" marB="63500" anchor="ctr"/>
                </a:tc>
              </a:tr>
            </a:tbl>
          </a:graphicData>
        </a:graphic>
      </p:graphicFrame>
      <p:cxnSp>
        <p:nvCxnSpPr>
          <p:cNvPr id="27" name="Straight Arrow Connector 26"/>
          <p:cNvCxnSpPr/>
          <p:nvPr/>
        </p:nvCxnSpPr>
        <p:spPr>
          <a:xfrm>
            <a:off x="7803269" y="1598052"/>
            <a:ext cx="12101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11" y="481903"/>
            <a:ext cx="11029616" cy="566806"/>
          </a:xfrm>
        </p:spPr>
        <p:txBody>
          <a:bodyPr/>
          <a:lstStyle/>
          <a:p>
            <a:pPr algn="ctr"/>
            <a:r>
              <a:rPr lang="en-US" dirty="0">
                <a:solidFill>
                  <a:schemeClr val="tx1"/>
                </a:solidFill>
              </a:rPr>
              <a:t>Micro-Operations at ALU</a:t>
            </a:r>
            <a:endParaRPr lang="en-IN" dirty="0">
              <a:solidFill>
                <a:schemeClr val="tx1"/>
              </a:solidFill>
            </a:endParaRPr>
          </a:p>
        </p:txBody>
      </p:sp>
      <p:sp>
        <p:nvSpPr>
          <p:cNvPr id="4" name="Content Placeholder 2"/>
          <p:cNvSpPr txBox="1"/>
          <p:nvPr/>
        </p:nvSpPr>
        <p:spPr>
          <a:xfrm>
            <a:off x="6335487" y="1548882"/>
            <a:ext cx="5741436" cy="4417138"/>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endParaRPr lang="en-IN" sz="2300" dirty="0"/>
          </a:p>
        </p:txBody>
      </p:sp>
      <p:pic>
        <p:nvPicPr>
          <p:cNvPr id="5" name="Picture 4"/>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369697" y="2243027"/>
            <a:ext cx="3619814" cy="710277"/>
          </a:xfrm>
          <a:prstGeom prst="rect">
            <a:avLst/>
          </a:prstGeom>
        </p:spPr>
      </p:pic>
      <p:sp>
        <p:nvSpPr>
          <p:cNvPr id="6" name="TextBox 5"/>
          <p:cNvSpPr txBox="1"/>
          <p:nvPr/>
        </p:nvSpPr>
        <p:spPr>
          <a:xfrm>
            <a:off x="886410" y="2887987"/>
            <a:ext cx="2164702" cy="369332"/>
          </a:xfrm>
          <a:prstGeom prst="rect">
            <a:avLst/>
          </a:prstGeom>
          <a:noFill/>
        </p:spPr>
        <p:txBody>
          <a:bodyPr wrap="square" rtlCol="0">
            <a:spAutoFit/>
          </a:bodyPr>
          <a:lstStyle/>
          <a:p>
            <a:r>
              <a:rPr lang="en-IN" dirty="0"/>
              <a:t>Control Word Format</a:t>
            </a:r>
            <a:endParaRPr lang="en-IN" dirty="0"/>
          </a:p>
        </p:txBody>
      </p:sp>
      <p:graphicFrame>
        <p:nvGraphicFramePr>
          <p:cNvPr id="8" name="Table 9"/>
          <p:cNvGraphicFramePr>
            <a:graphicFrameLocks noGrp="1"/>
          </p:cNvGraphicFramePr>
          <p:nvPr/>
        </p:nvGraphicFramePr>
        <p:xfrm>
          <a:off x="4795935" y="1584889"/>
          <a:ext cx="6854887" cy="4881304"/>
        </p:xfrm>
        <a:graphic>
          <a:graphicData uri="http://schemas.openxmlformats.org/drawingml/2006/table">
            <a:tbl>
              <a:tblPr firstRow="1" bandRow="1">
                <a:tableStyleId>{5C22544A-7EE6-4342-B048-85BDC9FD1C3A}</a:tableStyleId>
              </a:tblPr>
              <a:tblGrid>
                <a:gridCol w="1481879"/>
                <a:gridCol w="627055"/>
                <a:gridCol w="585815"/>
                <a:gridCol w="675940"/>
                <a:gridCol w="883739"/>
                <a:gridCol w="2600459"/>
              </a:tblGrid>
              <a:tr h="375392">
                <a:tc>
                  <a:txBody>
                    <a:bodyPr/>
                    <a:lstStyle/>
                    <a:p>
                      <a:pPr algn="ctr" fontAlgn="t"/>
                      <a:r>
                        <a:rPr lang="en-IN" sz="1600" b="1">
                          <a:solidFill>
                            <a:srgbClr val="000000"/>
                          </a:solidFill>
                          <a:effectLst/>
                        </a:rPr>
                        <a:t>Micro-operation</a:t>
                      </a:r>
                      <a:endParaRPr lang="en-IN" sz="1600">
                        <a:effectLst/>
                      </a:endParaRPr>
                    </a:p>
                  </a:txBody>
                  <a:tcPr marL="63500" marR="63500" marT="63500" marB="63500"/>
                </a:tc>
                <a:tc>
                  <a:txBody>
                    <a:bodyPr/>
                    <a:lstStyle/>
                    <a:p>
                      <a:pPr algn="ctr" fontAlgn="t"/>
                      <a:r>
                        <a:rPr lang="en-IN" sz="1600" b="1">
                          <a:solidFill>
                            <a:srgbClr val="000000"/>
                          </a:solidFill>
                          <a:effectLst/>
                        </a:rPr>
                        <a:t>SELA</a:t>
                      </a:r>
                      <a:endParaRPr lang="en-IN" sz="1600">
                        <a:effectLst/>
                      </a:endParaRPr>
                    </a:p>
                  </a:txBody>
                  <a:tcPr marL="63500" marR="63500" marT="63500" marB="63500"/>
                </a:tc>
                <a:tc>
                  <a:txBody>
                    <a:bodyPr/>
                    <a:lstStyle/>
                    <a:p>
                      <a:pPr algn="ctr" fontAlgn="t"/>
                      <a:r>
                        <a:rPr lang="en-IN" sz="1600" b="1">
                          <a:solidFill>
                            <a:srgbClr val="000000"/>
                          </a:solidFill>
                          <a:effectLst/>
                        </a:rPr>
                        <a:t>SELB</a:t>
                      </a:r>
                      <a:endParaRPr lang="en-IN" sz="1600">
                        <a:effectLst/>
                      </a:endParaRPr>
                    </a:p>
                  </a:txBody>
                  <a:tcPr marL="63500" marR="63500" marT="63500" marB="63500"/>
                </a:tc>
                <a:tc>
                  <a:txBody>
                    <a:bodyPr/>
                    <a:lstStyle/>
                    <a:p>
                      <a:pPr algn="ctr" fontAlgn="t"/>
                      <a:r>
                        <a:rPr lang="en-IN" sz="1600" b="1">
                          <a:solidFill>
                            <a:srgbClr val="000000"/>
                          </a:solidFill>
                          <a:effectLst/>
                        </a:rPr>
                        <a:t>SELD</a:t>
                      </a:r>
                      <a:endParaRPr lang="en-IN" sz="1600">
                        <a:effectLst/>
                      </a:endParaRPr>
                    </a:p>
                  </a:txBody>
                  <a:tcPr marL="63500" marR="63500" marT="63500" marB="63500"/>
                </a:tc>
                <a:tc>
                  <a:txBody>
                    <a:bodyPr/>
                    <a:lstStyle/>
                    <a:p>
                      <a:pPr algn="ctr" fontAlgn="t"/>
                      <a:r>
                        <a:rPr lang="en-IN" sz="1600" b="1">
                          <a:solidFill>
                            <a:srgbClr val="000000"/>
                          </a:solidFill>
                          <a:effectLst/>
                        </a:rPr>
                        <a:t>OPR</a:t>
                      </a:r>
                      <a:endParaRPr lang="en-IN" sz="1600">
                        <a:effectLst/>
                      </a:endParaRPr>
                    </a:p>
                  </a:txBody>
                  <a:tcPr marL="63500" marR="63500" marT="63500" marB="63500"/>
                </a:tc>
                <a:tc>
                  <a:txBody>
                    <a:bodyPr/>
                    <a:lstStyle/>
                    <a:p>
                      <a:pPr algn="ctr" fontAlgn="t"/>
                      <a:r>
                        <a:rPr lang="en-IN" sz="1600" b="1" dirty="0">
                          <a:solidFill>
                            <a:srgbClr val="000000"/>
                          </a:solidFill>
                          <a:effectLst/>
                        </a:rPr>
                        <a:t>Control Word</a:t>
                      </a:r>
                      <a:endParaRPr lang="en-IN" sz="1600" dirty="0">
                        <a:effectLst/>
                      </a:endParaRPr>
                    </a:p>
                  </a:txBody>
                  <a:tcPr marL="63500" marR="63500" marT="63500" marB="63500"/>
                </a:tc>
              </a:tr>
              <a:tr h="563239">
                <a:tc>
                  <a:txBody>
                    <a:bodyPr/>
                    <a:lstStyle/>
                    <a:p>
                      <a:pPr algn="ctr" fontAlgn="t"/>
                      <a:r>
                        <a:rPr lang="en-IN" sz="1600">
                          <a:solidFill>
                            <a:srgbClr val="000000"/>
                          </a:solidFill>
                          <a:effectLst/>
                        </a:rPr>
                        <a:t>R1 ← R2 – R3</a:t>
                      </a:r>
                      <a:endParaRPr lang="en-IN" sz="1600">
                        <a:effectLst/>
                      </a:endParaRPr>
                    </a:p>
                  </a:txBody>
                  <a:tcPr marL="63500" marR="63500" marT="63500" marB="63500"/>
                </a:tc>
                <a:tc>
                  <a:txBody>
                    <a:bodyPr/>
                    <a:lstStyle/>
                    <a:p>
                      <a:pPr algn="ctr" fontAlgn="t"/>
                      <a:r>
                        <a:rPr lang="en-IN" sz="1600">
                          <a:solidFill>
                            <a:srgbClr val="000000"/>
                          </a:solidFill>
                          <a:effectLst/>
                        </a:rPr>
                        <a:t>R2</a:t>
                      </a:r>
                      <a:endParaRPr lang="en-IN" sz="1600">
                        <a:effectLst/>
                      </a:endParaRPr>
                    </a:p>
                  </a:txBody>
                  <a:tcPr marL="63500" marR="63500" marT="63500" marB="63500"/>
                </a:tc>
                <a:tc>
                  <a:txBody>
                    <a:bodyPr/>
                    <a:lstStyle/>
                    <a:p>
                      <a:pPr algn="ctr" fontAlgn="t"/>
                      <a:r>
                        <a:rPr lang="en-IN" sz="1600">
                          <a:solidFill>
                            <a:srgbClr val="000000"/>
                          </a:solidFill>
                          <a:effectLst/>
                        </a:rPr>
                        <a:t>R3</a:t>
                      </a:r>
                      <a:endParaRPr lang="en-IN" sz="1600">
                        <a:effectLst/>
                      </a:endParaRPr>
                    </a:p>
                  </a:txBody>
                  <a:tcPr marL="63500" marR="63500" marT="63500" marB="63500"/>
                </a:tc>
                <a:tc>
                  <a:txBody>
                    <a:bodyPr/>
                    <a:lstStyle/>
                    <a:p>
                      <a:pPr algn="ctr" fontAlgn="t"/>
                      <a:r>
                        <a:rPr lang="en-IN" sz="1600">
                          <a:solidFill>
                            <a:srgbClr val="000000"/>
                          </a:solidFill>
                          <a:effectLst/>
                        </a:rPr>
                        <a:t>R1</a:t>
                      </a:r>
                      <a:endParaRPr lang="en-IN" sz="1600">
                        <a:effectLst/>
                      </a:endParaRPr>
                    </a:p>
                  </a:txBody>
                  <a:tcPr marL="63500" marR="63500" marT="63500" marB="63500"/>
                </a:tc>
                <a:tc>
                  <a:txBody>
                    <a:bodyPr/>
                    <a:lstStyle/>
                    <a:p>
                      <a:pPr algn="ctr" fontAlgn="t"/>
                      <a:r>
                        <a:rPr lang="en-IN" sz="1600">
                          <a:solidFill>
                            <a:srgbClr val="000000"/>
                          </a:solidFill>
                          <a:effectLst/>
                        </a:rPr>
                        <a:t>SUB</a:t>
                      </a:r>
                      <a:endParaRPr lang="en-IN" sz="1600">
                        <a:effectLst/>
                      </a:endParaRPr>
                    </a:p>
                  </a:txBody>
                  <a:tcPr marL="63500" marR="63500" marT="63500" marB="63500"/>
                </a:tc>
                <a:tc>
                  <a:txBody>
                    <a:bodyPr/>
                    <a:lstStyle/>
                    <a:p>
                      <a:pPr algn="ctr" fontAlgn="t"/>
                      <a:r>
                        <a:rPr lang="en-IN" sz="1600">
                          <a:solidFill>
                            <a:srgbClr val="000000"/>
                          </a:solidFill>
                          <a:effectLst/>
                        </a:rPr>
                        <a:t>010 011 001 00101</a:t>
                      </a:r>
                      <a:endParaRPr lang="en-IN" sz="1600">
                        <a:effectLst/>
                      </a:endParaRPr>
                    </a:p>
                  </a:txBody>
                  <a:tcPr marL="63500" marR="63500" marT="63500" marB="63500"/>
                </a:tc>
              </a:tr>
              <a:tr h="563239">
                <a:tc>
                  <a:txBody>
                    <a:bodyPr/>
                    <a:lstStyle/>
                    <a:p>
                      <a:pPr algn="ctr" fontAlgn="t"/>
                      <a:r>
                        <a:rPr lang="en-IN" sz="1600">
                          <a:solidFill>
                            <a:srgbClr val="000000"/>
                          </a:solidFill>
                          <a:effectLst/>
                        </a:rPr>
                        <a:t>R4 ← R4 ∨ R5</a:t>
                      </a:r>
                      <a:endParaRPr lang="en-IN" sz="1600">
                        <a:effectLst/>
                      </a:endParaRPr>
                    </a:p>
                  </a:txBody>
                  <a:tcPr marL="63500" marR="63500" marT="63500" marB="63500"/>
                </a:tc>
                <a:tc>
                  <a:txBody>
                    <a:bodyPr/>
                    <a:lstStyle/>
                    <a:p>
                      <a:pPr algn="ctr" fontAlgn="t"/>
                      <a:r>
                        <a:rPr lang="en-IN" sz="1600">
                          <a:solidFill>
                            <a:srgbClr val="000000"/>
                          </a:solidFill>
                          <a:effectLst/>
                        </a:rPr>
                        <a:t>R4</a:t>
                      </a:r>
                      <a:endParaRPr lang="en-IN" sz="1600">
                        <a:effectLst/>
                      </a:endParaRPr>
                    </a:p>
                  </a:txBody>
                  <a:tcPr marL="63500" marR="63500" marT="63500" marB="63500"/>
                </a:tc>
                <a:tc>
                  <a:txBody>
                    <a:bodyPr/>
                    <a:lstStyle/>
                    <a:p>
                      <a:pPr algn="ctr" fontAlgn="t"/>
                      <a:r>
                        <a:rPr lang="en-IN" sz="1600">
                          <a:solidFill>
                            <a:srgbClr val="000000"/>
                          </a:solidFill>
                          <a:effectLst/>
                        </a:rPr>
                        <a:t>R5</a:t>
                      </a:r>
                      <a:endParaRPr lang="en-IN" sz="1600">
                        <a:effectLst/>
                      </a:endParaRPr>
                    </a:p>
                  </a:txBody>
                  <a:tcPr marL="63500" marR="63500" marT="63500" marB="63500"/>
                </a:tc>
                <a:tc>
                  <a:txBody>
                    <a:bodyPr/>
                    <a:lstStyle/>
                    <a:p>
                      <a:pPr algn="ctr" fontAlgn="t"/>
                      <a:r>
                        <a:rPr lang="en-IN" sz="1600">
                          <a:solidFill>
                            <a:srgbClr val="000000"/>
                          </a:solidFill>
                          <a:effectLst/>
                        </a:rPr>
                        <a:t>R4</a:t>
                      </a:r>
                      <a:endParaRPr lang="en-IN" sz="1600">
                        <a:effectLst/>
                      </a:endParaRPr>
                    </a:p>
                  </a:txBody>
                  <a:tcPr marL="63500" marR="63500" marT="63500" marB="63500"/>
                </a:tc>
                <a:tc>
                  <a:txBody>
                    <a:bodyPr/>
                    <a:lstStyle/>
                    <a:p>
                      <a:pPr algn="ctr" fontAlgn="t"/>
                      <a:r>
                        <a:rPr lang="en-IN" sz="1600">
                          <a:solidFill>
                            <a:srgbClr val="000000"/>
                          </a:solidFill>
                          <a:effectLst/>
                        </a:rPr>
                        <a:t>OR</a:t>
                      </a:r>
                      <a:endParaRPr lang="en-IN" sz="1600">
                        <a:effectLst/>
                      </a:endParaRPr>
                    </a:p>
                  </a:txBody>
                  <a:tcPr marL="63500" marR="63500" marT="63500" marB="63500"/>
                </a:tc>
                <a:tc>
                  <a:txBody>
                    <a:bodyPr/>
                    <a:lstStyle/>
                    <a:p>
                      <a:pPr algn="ctr" fontAlgn="t"/>
                      <a:r>
                        <a:rPr lang="en-IN" sz="1600">
                          <a:solidFill>
                            <a:srgbClr val="000000"/>
                          </a:solidFill>
                          <a:effectLst/>
                        </a:rPr>
                        <a:t>100 101 100 01010</a:t>
                      </a:r>
                      <a:endParaRPr lang="en-IN" sz="1600">
                        <a:effectLst/>
                      </a:endParaRPr>
                    </a:p>
                  </a:txBody>
                  <a:tcPr marL="63500" marR="63500" marT="63500" marB="63500"/>
                </a:tc>
              </a:tr>
              <a:tr h="563239">
                <a:tc>
                  <a:txBody>
                    <a:bodyPr/>
                    <a:lstStyle/>
                    <a:p>
                      <a:pPr algn="ctr" fontAlgn="t"/>
                      <a:r>
                        <a:rPr lang="en-IN" sz="1600">
                          <a:solidFill>
                            <a:srgbClr val="000000"/>
                          </a:solidFill>
                          <a:effectLst/>
                        </a:rPr>
                        <a:t>R6 ← R6 + R1</a:t>
                      </a:r>
                      <a:endParaRPr lang="en-IN" sz="1600">
                        <a:effectLst/>
                      </a:endParaRPr>
                    </a:p>
                  </a:txBody>
                  <a:tcPr marL="63500" marR="63500" marT="63500" marB="63500"/>
                </a:tc>
                <a:tc>
                  <a:txBody>
                    <a:bodyPr/>
                    <a:lstStyle/>
                    <a:p>
                      <a:pPr algn="ctr" fontAlgn="t"/>
                      <a:r>
                        <a:rPr lang="en-IN" sz="1600">
                          <a:solidFill>
                            <a:srgbClr val="000000"/>
                          </a:solidFill>
                          <a:effectLst/>
                        </a:rPr>
                        <a:t>-</a:t>
                      </a:r>
                      <a:endParaRPr lang="en-IN" sz="1600">
                        <a:effectLst/>
                      </a:endParaRPr>
                    </a:p>
                  </a:txBody>
                  <a:tcPr marL="63500" marR="63500" marT="63500" marB="63500"/>
                </a:tc>
                <a:tc>
                  <a:txBody>
                    <a:bodyPr/>
                    <a:lstStyle/>
                    <a:p>
                      <a:pPr algn="ctr" fontAlgn="t"/>
                      <a:r>
                        <a:rPr lang="en-IN" sz="1600">
                          <a:solidFill>
                            <a:srgbClr val="000000"/>
                          </a:solidFill>
                          <a:effectLst/>
                        </a:rPr>
                        <a:t>R6</a:t>
                      </a:r>
                      <a:endParaRPr lang="en-IN" sz="1600">
                        <a:effectLst/>
                      </a:endParaRPr>
                    </a:p>
                  </a:txBody>
                  <a:tcPr marL="63500" marR="63500" marT="63500" marB="63500"/>
                </a:tc>
                <a:tc>
                  <a:txBody>
                    <a:bodyPr/>
                    <a:lstStyle/>
                    <a:p>
                      <a:pPr algn="ctr" fontAlgn="t"/>
                      <a:r>
                        <a:rPr lang="en-IN" sz="1600">
                          <a:solidFill>
                            <a:srgbClr val="000000"/>
                          </a:solidFill>
                          <a:effectLst/>
                        </a:rPr>
                        <a:t>R1</a:t>
                      </a:r>
                      <a:endParaRPr lang="en-IN" sz="1600">
                        <a:effectLst/>
                      </a:endParaRPr>
                    </a:p>
                  </a:txBody>
                  <a:tcPr marL="63500" marR="63500" marT="63500" marB="63500"/>
                </a:tc>
                <a:tc>
                  <a:txBody>
                    <a:bodyPr/>
                    <a:lstStyle/>
                    <a:p>
                      <a:pPr algn="ctr" fontAlgn="t"/>
                      <a:r>
                        <a:rPr lang="en-IN" sz="1600">
                          <a:solidFill>
                            <a:srgbClr val="000000"/>
                          </a:solidFill>
                          <a:effectLst/>
                        </a:rPr>
                        <a:t>INCA</a:t>
                      </a:r>
                      <a:endParaRPr lang="en-IN" sz="1600">
                        <a:effectLst/>
                      </a:endParaRPr>
                    </a:p>
                  </a:txBody>
                  <a:tcPr marL="63500" marR="63500" marT="63500" marB="63500"/>
                </a:tc>
                <a:tc>
                  <a:txBody>
                    <a:bodyPr/>
                    <a:lstStyle/>
                    <a:p>
                      <a:pPr algn="ctr" fontAlgn="t"/>
                      <a:r>
                        <a:rPr lang="en-IN" sz="1600">
                          <a:solidFill>
                            <a:srgbClr val="000000"/>
                          </a:solidFill>
                          <a:effectLst/>
                        </a:rPr>
                        <a:t>110 000 110 00001</a:t>
                      </a:r>
                      <a:endParaRPr lang="en-IN" sz="1600">
                        <a:effectLst/>
                      </a:endParaRPr>
                    </a:p>
                  </a:txBody>
                  <a:tcPr marL="63500" marR="63500" marT="63500" marB="63500"/>
                </a:tc>
              </a:tr>
              <a:tr h="563239">
                <a:tc>
                  <a:txBody>
                    <a:bodyPr/>
                    <a:lstStyle/>
                    <a:p>
                      <a:pPr algn="ctr" fontAlgn="t"/>
                      <a:r>
                        <a:rPr lang="en-IN" sz="1600">
                          <a:solidFill>
                            <a:srgbClr val="000000"/>
                          </a:solidFill>
                          <a:effectLst/>
                        </a:rPr>
                        <a:t>R7 ← R1</a:t>
                      </a:r>
                      <a:endParaRPr lang="en-IN" sz="1600">
                        <a:effectLst/>
                      </a:endParaRPr>
                    </a:p>
                  </a:txBody>
                  <a:tcPr marL="63500" marR="63500" marT="63500" marB="63500"/>
                </a:tc>
                <a:tc>
                  <a:txBody>
                    <a:bodyPr/>
                    <a:lstStyle/>
                    <a:p>
                      <a:pPr algn="ctr" fontAlgn="t"/>
                      <a:r>
                        <a:rPr lang="en-IN" sz="1600">
                          <a:solidFill>
                            <a:srgbClr val="000000"/>
                          </a:solidFill>
                          <a:effectLst/>
                        </a:rPr>
                        <a:t>R1</a:t>
                      </a:r>
                      <a:endParaRPr lang="en-IN" sz="1600">
                        <a:effectLst/>
                      </a:endParaRPr>
                    </a:p>
                  </a:txBody>
                  <a:tcPr marL="63500" marR="63500" marT="63500" marB="63500"/>
                </a:tc>
                <a:tc>
                  <a:txBody>
                    <a:bodyPr/>
                    <a:lstStyle/>
                    <a:p>
                      <a:pPr algn="ctr" fontAlgn="t"/>
                      <a:r>
                        <a:rPr lang="en-IN" sz="1600">
                          <a:solidFill>
                            <a:srgbClr val="000000"/>
                          </a:solidFill>
                          <a:effectLst/>
                        </a:rPr>
                        <a:t>-</a:t>
                      </a:r>
                      <a:endParaRPr lang="en-IN" sz="1600">
                        <a:effectLst/>
                      </a:endParaRPr>
                    </a:p>
                  </a:txBody>
                  <a:tcPr marL="63500" marR="63500" marT="63500" marB="63500"/>
                </a:tc>
                <a:tc>
                  <a:txBody>
                    <a:bodyPr/>
                    <a:lstStyle/>
                    <a:p>
                      <a:pPr algn="ctr" fontAlgn="t"/>
                      <a:r>
                        <a:rPr lang="en-IN" sz="1600">
                          <a:solidFill>
                            <a:srgbClr val="000000"/>
                          </a:solidFill>
                          <a:effectLst/>
                        </a:rPr>
                        <a:t>R7</a:t>
                      </a:r>
                      <a:endParaRPr lang="en-IN" sz="1600">
                        <a:effectLst/>
                      </a:endParaRPr>
                    </a:p>
                  </a:txBody>
                  <a:tcPr marL="63500" marR="63500" marT="63500" marB="63500"/>
                </a:tc>
                <a:tc>
                  <a:txBody>
                    <a:bodyPr/>
                    <a:lstStyle/>
                    <a:p>
                      <a:pPr algn="ctr" fontAlgn="t"/>
                      <a:r>
                        <a:rPr lang="en-IN" sz="1600">
                          <a:solidFill>
                            <a:srgbClr val="000000"/>
                          </a:solidFill>
                          <a:effectLst/>
                        </a:rPr>
                        <a:t>TSFA</a:t>
                      </a:r>
                      <a:endParaRPr lang="en-IN" sz="1600">
                        <a:effectLst/>
                      </a:endParaRPr>
                    </a:p>
                  </a:txBody>
                  <a:tcPr marL="63500" marR="63500" marT="63500" marB="63500"/>
                </a:tc>
                <a:tc>
                  <a:txBody>
                    <a:bodyPr/>
                    <a:lstStyle/>
                    <a:p>
                      <a:pPr algn="ctr" fontAlgn="t"/>
                      <a:r>
                        <a:rPr lang="en-IN" sz="1600">
                          <a:solidFill>
                            <a:srgbClr val="000000"/>
                          </a:solidFill>
                          <a:effectLst/>
                        </a:rPr>
                        <a:t>001 000 111 00000</a:t>
                      </a:r>
                      <a:endParaRPr lang="en-IN" sz="1600">
                        <a:effectLst/>
                      </a:endParaRPr>
                    </a:p>
                  </a:txBody>
                  <a:tcPr marL="63500" marR="63500" marT="63500" marB="63500"/>
                </a:tc>
              </a:tr>
              <a:tr h="563239">
                <a:tc>
                  <a:txBody>
                    <a:bodyPr/>
                    <a:lstStyle/>
                    <a:p>
                      <a:pPr algn="ctr" fontAlgn="t"/>
                      <a:r>
                        <a:rPr lang="en-IN" sz="1600">
                          <a:solidFill>
                            <a:srgbClr val="000000"/>
                          </a:solidFill>
                          <a:effectLst/>
                        </a:rPr>
                        <a:t>Output ← R2</a:t>
                      </a:r>
                      <a:endParaRPr lang="en-IN" sz="1600">
                        <a:effectLst/>
                      </a:endParaRPr>
                    </a:p>
                  </a:txBody>
                  <a:tcPr marL="63500" marR="63500" marT="63500" marB="63500"/>
                </a:tc>
                <a:tc>
                  <a:txBody>
                    <a:bodyPr/>
                    <a:lstStyle/>
                    <a:p>
                      <a:pPr algn="ctr" fontAlgn="t"/>
                      <a:r>
                        <a:rPr lang="en-IN" sz="1600">
                          <a:solidFill>
                            <a:srgbClr val="000000"/>
                          </a:solidFill>
                          <a:effectLst/>
                        </a:rPr>
                        <a:t>R2</a:t>
                      </a:r>
                      <a:endParaRPr lang="en-IN" sz="1600">
                        <a:effectLst/>
                      </a:endParaRPr>
                    </a:p>
                  </a:txBody>
                  <a:tcPr marL="63500" marR="63500" marT="63500" marB="63500"/>
                </a:tc>
                <a:tc>
                  <a:txBody>
                    <a:bodyPr/>
                    <a:lstStyle/>
                    <a:p>
                      <a:pPr algn="ctr" fontAlgn="t"/>
                      <a:r>
                        <a:rPr lang="en-IN" sz="1600">
                          <a:solidFill>
                            <a:srgbClr val="000000"/>
                          </a:solidFill>
                          <a:effectLst/>
                        </a:rPr>
                        <a:t>-</a:t>
                      </a:r>
                      <a:endParaRPr lang="en-IN" sz="1600">
                        <a:effectLst/>
                      </a:endParaRPr>
                    </a:p>
                  </a:txBody>
                  <a:tcPr marL="63500" marR="63500" marT="63500" marB="63500"/>
                </a:tc>
                <a:tc>
                  <a:txBody>
                    <a:bodyPr/>
                    <a:lstStyle/>
                    <a:p>
                      <a:pPr algn="ctr" fontAlgn="t"/>
                      <a:r>
                        <a:rPr lang="en-IN" sz="1600">
                          <a:solidFill>
                            <a:srgbClr val="000000"/>
                          </a:solidFill>
                          <a:effectLst/>
                        </a:rPr>
                        <a:t>None</a:t>
                      </a:r>
                      <a:endParaRPr lang="en-IN" sz="1600">
                        <a:effectLst/>
                      </a:endParaRPr>
                    </a:p>
                  </a:txBody>
                  <a:tcPr marL="63500" marR="63500" marT="63500" marB="63500"/>
                </a:tc>
                <a:tc>
                  <a:txBody>
                    <a:bodyPr/>
                    <a:lstStyle/>
                    <a:p>
                      <a:pPr algn="ctr" fontAlgn="t"/>
                      <a:r>
                        <a:rPr lang="en-IN" sz="1600">
                          <a:solidFill>
                            <a:srgbClr val="000000"/>
                          </a:solidFill>
                          <a:effectLst/>
                        </a:rPr>
                        <a:t>TSFA</a:t>
                      </a:r>
                      <a:endParaRPr lang="en-IN" sz="1600">
                        <a:effectLst/>
                      </a:endParaRPr>
                    </a:p>
                  </a:txBody>
                  <a:tcPr marL="63500" marR="63500" marT="63500" marB="63500"/>
                </a:tc>
                <a:tc>
                  <a:txBody>
                    <a:bodyPr/>
                    <a:lstStyle/>
                    <a:p>
                      <a:pPr algn="ctr" fontAlgn="t"/>
                      <a:r>
                        <a:rPr lang="en-IN" sz="1600">
                          <a:solidFill>
                            <a:srgbClr val="000000"/>
                          </a:solidFill>
                          <a:effectLst/>
                        </a:rPr>
                        <a:t>010 000 000 00000</a:t>
                      </a:r>
                      <a:endParaRPr lang="en-IN" sz="1600">
                        <a:effectLst/>
                      </a:endParaRPr>
                    </a:p>
                  </a:txBody>
                  <a:tcPr marL="63500" marR="63500" marT="63500" marB="63500"/>
                </a:tc>
              </a:tr>
              <a:tr h="563239">
                <a:tc>
                  <a:txBody>
                    <a:bodyPr/>
                    <a:lstStyle/>
                    <a:p>
                      <a:pPr algn="ctr" fontAlgn="t"/>
                      <a:r>
                        <a:rPr lang="en-IN" sz="1600">
                          <a:solidFill>
                            <a:srgbClr val="000000"/>
                          </a:solidFill>
                          <a:effectLst/>
                        </a:rPr>
                        <a:t>Output ← Input</a:t>
                      </a:r>
                      <a:endParaRPr lang="en-IN" sz="1600">
                        <a:effectLst/>
                      </a:endParaRPr>
                    </a:p>
                  </a:txBody>
                  <a:tcPr marL="63500" marR="63500" marT="63500" marB="63500"/>
                </a:tc>
                <a:tc>
                  <a:txBody>
                    <a:bodyPr/>
                    <a:lstStyle/>
                    <a:p>
                      <a:pPr algn="ctr" fontAlgn="t"/>
                      <a:r>
                        <a:rPr lang="en-IN" sz="1600">
                          <a:solidFill>
                            <a:srgbClr val="000000"/>
                          </a:solidFill>
                          <a:effectLst/>
                        </a:rPr>
                        <a:t>Input</a:t>
                      </a:r>
                      <a:endParaRPr lang="en-IN" sz="1600">
                        <a:effectLst/>
                      </a:endParaRPr>
                    </a:p>
                  </a:txBody>
                  <a:tcPr marL="63500" marR="63500" marT="63500" marB="63500"/>
                </a:tc>
                <a:tc>
                  <a:txBody>
                    <a:bodyPr/>
                    <a:lstStyle/>
                    <a:p>
                      <a:pPr algn="ctr" fontAlgn="t"/>
                      <a:r>
                        <a:rPr lang="en-IN" sz="1600">
                          <a:solidFill>
                            <a:srgbClr val="000000"/>
                          </a:solidFill>
                          <a:effectLst/>
                        </a:rPr>
                        <a:t>-</a:t>
                      </a:r>
                      <a:endParaRPr lang="en-IN" sz="1600">
                        <a:effectLst/>
                      </a:endParaRPr>
                    </a:p>
                  </a:txBody>
                  <a:tcPr marL="63500" marR="63500" marT="63500" marB="63500"/>
                </a:tc>
                <a:tc>
                  <a:txBody>
                    <a:bodyPr/>
                    <a:lstStyle/>
                    <a:p>
                      <a:pPr algn="ctr" fontAlgn="t"/>
                      <a:r>
                        <a:rPr lang="en-IN" sz="1600">
                          <a:solidFill>
                            <a:srgbClr val="000000"/>
                          </a:solidFill>
                          <a:effectLst/>
                        </a:rPr>
                        <a:t>None</a:t>
                      </a:r>
                      <a:endParaRPr lang="en-IN" sz="1600">
                        <a:effectLst/>
                      </a:endParaRPr>
                    </a:p>
                  </a:txBody>
                  <a:tcPr marL="63500" marR="63500" marT="63500" marB="63500"/>
                </a:tc>
                <a:tc>
                  <a:txBody>
                    <a:bodyPr/>
                    <a:lstStyle/>
                    <a:p>
                      <a:pPr algn="ctr" fontAlgn="t"/>
                      <a:r>
                        <a:rPr lang="en-IN" sz="1600">
                          <a:solidFill>
                            <a:srgbClr val="000000"/>
                          </a:solidFill>
                          <a:effectLst/>
                        </a:rPr>
                        <a:t>TSFA</a:t>
                      </a:r>
                      <a:endParaRPr lang="en-IN" sz="1600">
                        <a:effectLst/>
                      </a:endParaRPr>
                    </a:p>
                  </a:txBody>
                  <a:tcPr marL="63500" marR="63500" marT="63500" marB="63500"/>
                </a:tc>
                <a:tc>
                  <a:txBody>
                    <a:bodyPr/>
                    <a:lstStyle/>
                    <a:p>
                      <a:pPr algn="ctr" fontAlgn="t"/>
                      <a:r>
                        <a:rPr lang="en-IN" sz="1600">
                          <a:solidFill>
                            <a:srgbClr val="000000"/>
                          </a:solidFill>
                          <a:effectLst/>
                        </a:rPr>
                        <a:t>000 000 000 00000</a:t>
                      </a:r>
                      <a:endParaRPr lang="en-IN" sz="1600">
                        <a:effectLst/>
                      </a:endParaRPr>
                    </a:p>
                  </a:txBody>
                  <a:tcPr marL="63500" marR="63500" marT="63500" marB="63500"/>
                </a:tc>
              </a:tr>
              <a:tr h="563239">
                <a:tc>
                  <a:txBody>
                    <a:bodyPr/>
                    <a:lstStyle/>
                    <a:p>
                      <a:pPr algn="ctr" fontAlgn="t"/>
                      <a:r>
                        <a:rPr lang="en-IN" sz="1600">
                          <a:solidFill>
                            <a:srgbClr val="000000"/>
                          </a:solidFill>
                          <a:effectLst/>
                        </a:rPr>
                        <a:t>R4 ← shl R4</a:t>
                      </a:r>
                      <a:endParaRPr lang="en-IN" sz="1600">
                        <a:effectLst/>
                      </a:endParaRPr>
                    </a:p>
                  </a:txBody>
                  <a:tcPr marL="63500" marR="63500" marT="63500" marB="63500"/>
                </a:tc>
                <a:tc>
                  <a:txBody>
                    <a:bodyPr/>
                    <a:lstStyle/>
                    <a:p>
                      <a:pPr algn="ctr" fontAlgn="t"/>
                      <a:r>
                        <a:rPr lang="en-IN" sz="1600">
                          <a:solidFill>
                            <a:srgbClr val="000000"/>
                          </a:solidFill>
                          <a:effectLst/>
                        </a:rPr>
                        <a:t>R4</a:t>
                      </a:r>
                      <a:endParaRPr lang="en-IN" sz="1600">
                        <a:effectLst/>
                      </a:endParaRPr>
                    </a:p>
                  </a:txBody>
                  <a:tcPr marL="63500" marR="63500" marT="63500" marB="63500"/>
                </a:tc>
                <a:tc>
                  <a:txBody>
                    <a:bodyPr/>
                    <a:lstStyle/>
                    <a:p>
                      <a:pPr algn="ctr" fontAlgn="t"/>
                      <a:r>
                        <a:rPr lang="en-IN" sz="1600">
                          <a:solidFill>
                            <a:srgbClr val="000000"/>
                          </a:solidFill>
                          <a:effectLst/>
                        </a:rPr>
                        <a:t>-</a:t>
                      </a:r>
                      <a:endParaRPr lang="en-IN" sz="1600">
                        <a:effectLst/>
                      </a:endParaRPr>
                    </a:p>
                  </a:txBody>
                  <a:tcPr marL="63500" marR="63500" marT="63500" marB="63500"/>
                </a:tc>
                <a:tc>
                  <a:txBody>
                    <a:bodyPr/>
                    <a:lstStyle/>
                    <a:p>
                      <a:pPr algn="ctr" fontAlgn="t"/>
                      <a:r>
                        <a:rPr lang="en-IN" sz="1600">
                          <a:solidFill>
                            <a:srgbClr val="000000"/>
                          </a:solidFill>
                          <a:effectLst/>
                        </a:rPr>
                        <a:t>R4</a:t>
                      </a:r>
                      <a:endParaRPr lang="en-IN" sz="1600">
                        <a:effectLst/>
                      </a:endParaRPr>
                    </a:p>
                  </a:txBody>
                  <a:tcPr marL="63500" marR="63500" marT="63500" marB="63500"/>
                </a:tc>
                <a:tc>
                  <a:txBody>
                    <a:bodyPr/>
                    <a:lstStyle/>
                    <a:p>
                      <a:pPr algn="ctr" fontAlgn="t"/>
                      <a:r>
                        <a:rPr lang="en-IN" sz="1600">
                          <a:solidFill>
                            <a:srgbClr val="000000"/>
                          </a:solidFill>
                          <a:effectLst/>
                        </a:rPr>
                        <a:t>SHLA</a:t>
                      </a:r>
                      <a:endParaRPr lang="en-IN" sz="1600">
                        <a:effectLst/>
                      </a:endParaRPr>
                    </a:p>
                  </a:txBody>
                  <a:tcPr marL="63500" marR="63500" marT="63500" marB="63500"/>
                </a:tc>
                <a:tc>
                  <a:txBody>
                    <a:bodyPr/>
                    <a:lstStyle/>
                    <a:p>
                      <a:pPr algn="ctr" fontAlgn="t"/>
                      <a:r>
                        <a:rPr lang="en-IN" sz="1600" dirty="0">
                          <a:solidFill>
                            <a:srgbClr val="000000"/>
                          </a:solidFill>
                          <a:effectLst/>
                        </a:rPr>
                        <a:t>100 000 100 11000</a:t>
                      </a:r>
                      <a:endParaRPr lang="en-IN" sz="1600" dirty="0">
                        <a:effectLst/>
                      </a:endParaRPr>
                    </a:p>
                  </a:txBody>
                  <a:tcPr marL="63500" marR="63500" marT="63500" marB="63500"/>
                </a:tc>
              </a:tr>
              <a:tr h="563239">
                <a:tc>
                  <a:txBody>
                    <a:bodyPr/>
                    <a:lstStyle/>
                    <a:p>
                      <a:pPr algn="ctr" fontAlgn="t"/>
                      <a:r>
                        <a:rPr lang="en-IN" sz="1600">
                          <a:solidFill>
                            <a:srgbClr val="000000"/>
                          </a:solidFill>
                          <a:effectLst/>
                        </a:rPr>
                        <a:t>R5 ← 0</a:t>
                      </a:r>
                      <a:endParaRPr lang="en-IN" sz="1600">
                        <a:effectLst/>
                      </a:endParaRPr>
                    </a:p>
                  </a:txBody>
                  <a:tcPr marL="63500" marR="63500" marT="63500" marB="63500"/>
                </a:tc>
                <a:tc>
                  <a:txBody>
                    <a:bodyPr/>
                    <a:lstStyle/>
                    <a:p>
                      <a:pPr algn="ctr" fontAlgn="t"/>
                      <a:r>
                        <a:rPr lang="en-IN" sz="1600">
                          <a:solidFill>
                            <a:srgbClr val="000000"/>
                          </a:solidFill>
                          <a:effectLst/>
                        </a:rPr>
                        <a:t>R5</a:t>
                      </a:r>
                      <a:endParaRPr lang="en-IN" sz="1600">
                        <a:effectLst/>
                      </a:endParaRPr>
                    </a:p>
                  </a:txBody>
                  <a:tcPr marL="63500" marR="63500" marT="63500" marB="63500"/>
                </a:tc>
                <a:tc>
                  <a:txBody>
                    <a:bodyPr/>
                    <a:lstStyle/>
                    <a:p>
                      <a:pPr algn="ctr" fontAlgn="t"/>
                      <a:r>
                        <a:rPr lang="en-IN" sz="1600" dirty="0">
                          <a:solidFill>
                            <a:srgbClr val="000000"/>
                          </a:solidFill>
                          <a:effectLst/>
                        </a:rPr>
                        <a:t>R5</a:t>
                      </a:r>
                      <a:endParaRPr lang="en-IN" sz="1600" dirty="0">
                        <a:effectLst/>
                      </a:endParaRPr>
                    </a:p>
                  </a:txBody>
                  <a:tcPr marL="63500" marR="63500" marT="63500" marB="63500"/>
                </a:tc>
                <a:tc>
                  <a:txBody>
                    <a:bodyPr/>
                    <a:lstStyle/>
                    <a:p>
                      <a:pPr algn="ctr" fontAlgn="t"/>
                      <a:r>
                        <a:rPr lang="en-IN" sz="1600">
                          <a:solidFill>
                            <a:srgbClr val="000000"/>
                          </a:solidFill>
                          <a:effectLst/>
                        </a:rPr>
                        <a:t>R5</a:t>
                      </a:r>
                      <a:endParaRPr lang="en-IN" sz="1600">
                        <a:effectLst/>
                      </a:endParaRPr>
                    </a:p>
                  </a:txBody>
                  <a:tcPr marL="63500" marR="63500" marT="63500" marB="63500"/>
                </a:tc>
                <a:tc>
                  <a:txBody>
                    <a:bodyPr/>
                    <a:lstStyle/>
                    <a:p>
                      <a:pPr algn="ctr" fontAlgn="t"/>
                      <a:r>
                        <a:rPr lang="en-IN" sz="1600">
                          <a:solidFill>
                            <a:srgbClr val="000000"/>
                          </a:solidFill>
                          <a:effectLst/>
                        </a:rPr>
                        <a:t>XOR</a:t>
                      </a:r>
                      <a:endParaRPr lang="en-IN" sz="1600">
                        <a:effectLst/>
                      </a:endParaRPr>
                    </a:p>
                  </a:txBody>
                  <a:tcPr marL="63500" marR="63500" marT="63500" marB="63500"/>
                </a:tc>
                <a:tc>
                  <a:txBody>
                    <a:bodyPr/>
                    <a:lstStyle/>
                    <a:p>
                      <a:pPr algn="ctr" fontAlgn="t"/>
                      <a:r>
                        <a:rPr lang="en-IN" sz="1600" dirty="0">
                          <a:solidFill>
                            <a:srgbClr val="000000"/>
                          </a:solidFill>
                          <a:effectLst/>
                        </a:rPr>
                        <a:t>101 101 101 01100</a:t>
                      </a:r>
                      <a:endParaRPr lang="en-IN" sz="1600" dirty="0">
                        <a:effectLst/>
                      </a:endParaRPr>
                    </a:p>
                  </a:txBody>
                  <a:tcPr marL="63500" marR="63500" marT="63500" marB="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934834"/>
            <a:ext cx="11029616" cy="988332"/>
          </a:xfrm>
        </p:spPr>
        <p:txBody>
          <a:bodyPr/>
          <a:lstStyle/>
          <a:p>
            <a:pPr algn="ctr"/>
            <a:r>
              <a:rPr lang="en-US" sz="2800" dirty="0">
                <a:solidFill>
                  <a:schemeClr val="tx1"/>
                </a:solidFill>
              </a:rPr>
              <a:t>2. Stack organization</a:t>
            </a:r>
            <a:endParaRPr lang="en-IN"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Stack organization</a:t>
            </a:r>
            <a:endParaRPr lang="en-IN" dirty="0">
              <a:solidFill>
                <a:schemeClr val="tx1"/>
              </a:solidFill>
            </a:endParaRPr>
          </a:p>
        </p:txBody>
      </p:sp>
      <p:sp>
        <p:nvSpPr>
          <p:cNvPr id="5" name="Content Placeholder 2"/>
          <p:cNvSpPr>
            <a:spLocks noGrp="1"/>
          </p:cNvSpPr>
          <p:nvPr>
            <p:ph idx="1"/>
          </p:nvPr>
        </p:nvSpPr>
        <p:spPr>
          <a:xfrm>
            <a:off x="298697" y="1340112"/>
            <a:ext cx="7016503" cy="5275291"/>
          </a:xfrm>
        </p:spPr>
        <p:txBody>
          <a:bodyPr>
            <a:normAutofit fontScale="92500"/>
          </a:bodyPr>
          <a:lstStyle/>
          <a:p>
            <a:pPr algn="just">
              <a:lnSpc>
                <a:spcPct val="100000"/>
              </a:lnSpc>
              <a:spcAft>
                <a:spcPts val="1000"/>
              </a:spcAft>
            </a:pPr>
            <a:r>
              <a:rPr lang="en-US" sz="2300" dirty="0">
                <a:solidFill>
                  <a:schemeClr val="tx1"/>
                </a:solidFill>
              </a:rPr>
              <a:t>A </a:t>
            </a:r>
            <a:r>
              <a:rPr lang="en-US" sz="2300" b="1" dirty="0">
                <a:solidFill>
                  <a:schemeClr val="tx1"/>
                </a:solidFill>
              </a:rPr>
              <a:t>stack is an ordered linear list </a:t>
            </a:r>
            <a:r>
              <a:rPr lang="en-US" sz="2300" dirty="0">
                <a:solidFill>
                  <a:schemeClr val="tx1"/>
                </a:solidFill>
              </a:rPr>
              <a:t>in which all insertions and deletions are made at one end, called the top. </a:t>
            </a:r>
            <a:endParaRPr lang="en-US" sz="2300" dirty="0">
              <a:solidFill>
                <a:schemeClr val="tx1"/>
              </a:solidFill>
            </a:endParaRPr>
          </a:p>
          <a:p>
            <a:pPr algn="just">
              <a:lnSpc>
                <a:spcPct val="100000"/>
              </a:lnSpc>
              <a:spcAft>
                <a:spcPts val="1000"/>
              </a:spcAft>
            </a:pPr>
            <a:r>
              <a:rPr lang="en-US" sz="2300" dirty="0">
                <a:solidFill>
                  <a:schemeClr val="tx1"/>
                </a:solidFill>
              </a:rPr>
              <a:t>It uses the Last In First Out (LIFO)  access method which is the most popular access method in most of the CPUs.</a:t>
            </a:r>
            <a:endParaRPr lang="en-US" sz="2300" dirty="0">
              <a:solidFill>
                <a:schemeClr val="tx1"/>
              </a:solidFill>
            </a:endParaRPr>
          </a:p>
          <a:p>
            <a:pPr algn="just">
              <a:lnSpc>
                <a:spcPct val="100000"/>
              </a:lnSpc>
              <a:spcAft>
                <a:spcPts val="1000"/>
              </a:spcAft>
            </a:pPr>
            <a:r>
              <a:rPr lang="en-US" sz="2300" dirty="0">
                <a:solidFill>
                  <a:schemeClr val="tx1"/>
                </a:solidFill>
              </a:rPr>
              <a:t>A </a:t>
            </a:r>
            <a:r>
              <a:rPr lang="en-US" sz="2300" b="1" dirty="0">
                <a:solidFill>
                  <a:srgbClr val="FF0000"/>
                </a:solidFill>
              </a:rPr>
              <a:t>register is used to store the address </a:t>
            </a:r>
            <a:r>
              <a:rPr lang="en-US" sz="2300" dirty="0">
                <a:solidFill>
                  <a:schemeClr val="tx1"/>
                </a:solidFill>
              </a:rPr>
              <a:t>of the topmost element of the stack which is known as </a:t>
            </a:r>
            <a:r>
              <a:rPr lang="en-US" sz="2300" b="1" dirty="0">
                <a:solidFill>
                  <a:schemeClr val="tx1"/>
                </a:solidFill>
              </a:rPr>
              <a:t>Stack Pointer(SP) </a:t>
            </a:r>
            <a:r>
              <a:rPr lang="en-US" sz="2300" dirty="0">
                <a:solidFill>
                  <a:schemeClr val="tx1"/>
                </a:solidFill>
              </a:rPr>
              <a:t>because its value always points at the top of the stack.</a:t>
            </a:r>
            <a:endParaRPr lang="en-US" sz="2300" dirty="0">
              <a:solidFill>
                <a:schemeClr val="tx1"/>
              </a:solidFill>
            </a:endParaRPr>
          </a:p>
          <a:p>
            <a:pPr algn="just">
              <a:lnSpc>
                <a:spcPct val="100000"/>
              </a:lnSpc>
              <a:spcAft>
                <a:spcPts val="1000"/>
              </a:spcAft>
            </a:pPr>
            <a:r>
              <a:rPr lang="en-US" sz="2300" dirty="0">
                <a:solidFill>
                  <a:schemeClr val="tx1"/>
                </a:solidFill>
              </a:rPr>
              <a:t>The main two operations that are performed on the operands of the stack are:  </a:t>
            </a:r>
            <a:endParaRPr lang="en-US" sz="2300" dirty="0">
              <a:solidFill>
                <a:schemeClr val="tx1"/>
              </a:solidFill>
            </a:endParaRPr>
          </a:p>
          <a:p>
            <a:pPr lvl="1" algn="just">
              <a:spcAft>
                <a:spcPts val="1000"/>
              </a:spcAft>
            </a:pPr>
            <a:r>
              <a:rPr lang="en-US" sz="2000" b="1" dirty="0">
                <a:solidFill>
                  <a:schemeClr val="tx1"/>
                </a:solidFill>
              </a:rPr>
              <a:t>Push Operation:</a:t>
            </a:r>
            <a:r>
              <a:rPr lang="en-US" sz="2000" dirty="0">
                <a:solidFill>
                  <a:schemeClr val="tx1"/>
                </a:solidFill>
              </a:rPr>
              <a:t> The operation of inserting an item onto a stack is called push operation.</a:t>
            </a:r>
            <a:endParaRPr lang="en-US" sz="2000" dirty="0">
              <a:solidFill>
                <a:schemeClr val="tx1"/>
              </a:solidFill>
            </a:endParaRPr>
          </a:p>
          <a:p>
            <a:pPr lvl="1" algn="just">
              <a:spcAft>
                <a:spcPts val="1000"/>
              </a:spcAft>
            </a:pPr>
            <a:r>
              <a:rPr lang="en-US" sz="2000" b="1" dirty="0">
                <a:solidFill>
                  <a:schemeClr val="tx1"/>
                </a:solidFill>
              </a:rPr>
              <a:t>Pop Operation: </a:t>
            </a:r>
            <a:r>
              <a:rPr lang="en-US" sz="2000" dirty="0">
                <a:solidFill>
                  <a:schemeClr val="tx1"/>
                </a:solidFill>
              </a:rPr>
              <a:t>The operation of deleting an item onto a stack is called pop operation.</a:t>
            </a:r>
            <a:endParaRPr lang="en-US" sz="2000" dirty="0">
              <a:solidFill>
                <a:schemeClr val="tx1"/>
              </a:solidFill>
            </a:endParaRPr>
          </a:p>
        </p:txBody>
      </p:sp>
      <p:pic>
        <p:nvPicPr>
          <p:cNvPr id="6" name="Picture 5"/>
          <p:cNvPicPr>
            <a:picLocks noChangeAspect="1"/>
          </p:cNvPicPr>
          <p:nvPr/>
        </p:nvPicPr>
        <p:blipFill>
          <a:blip r:embed="rId1"/>
          <a:stretch>
            <a:fillRect/>
          </a:stretch>
        </p:blipFill>
        <p:spPr>
          <a:xfrm>
            <a:off x="7315200" y="2346062"/>
            <a:ext cx="4876800" cy="3171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Stack in Computer architecture</a:t>
            </a:r>
            <a:endParaRPr lang="en-IN" dirty="0">
              <a:solidFill>
                <a:schemeClr val="tx1"/>
              </a:solidFill>
            </a:endParaRPr>
          </a:p>
        </p:txBody>
      </p:sp>
      <p:sp>
        <p:nvSpPr>
          <p:cNvPr id="5" name="Content Placeholder 2"/>
          <p:cNvSpPr>
            <a:spLocks noGrp="1"/>
          </p:cNvSpPr>
          <p:nvPr>
            <p:ph idx="1"/>
          </p:nvPr>
        </p:nvSpPr>
        <p:spPr>
          <a:xfrm>
            <a:off x="298697" y="1340113"/>
            <a:ext cx="11112642" cy="2718704"/>
          </a:xfrm>
        </p:spPr>
        <p:txBody>
          <a:bodyPr>
            <a:normAutofit/>
          </a:bodyPr>
          <a:lstStyle/>
          <a:p>
            <a:pPr algn="just">
              <a:lnSpc>
                <a:spcPct val="100000"/>
              </a:lnSpc>
              <a:spcAft>
                <a:spcPts val="1000"/>
              </a:spcAft>
            </a:pPr>
            <a:r>
              <a:rPr lang="en-US" sz="2300" dirty="0">
                <a:solidFill>
                  <a:schemeClr val="tx1"/>
                </a:solidFill>
              </a:rPr>
              <a:t>There are two types of stack organization that are used in computer  architecture:</a:t>
            </a:r>
            <a:endParaRPr lang="en-US" sz="2300" dirty="0">
              <a:solidFill>
                <a:schemeClr val="tx1"/>
              </a:solidFill>
            </a:endParaRPr>
          </a:p>
          <a:p>
            <a:pPr lvl="1" algn="just">
              <a:spcAft>
                <a:spcPts val="1000"/>
              </a:spcAft>
            </a:pPr>
            <a:r>
              <a:rPr lang="en-US" sz="2000" b="1" dirty="0">
                <a:solidFill>
                  <a:schemeClr val="tx1"/>
                </a:solidFill>
              </a:rPr>
              <a:t>Register stack: </a:t>
            </a:r>
            <a:r>
              <a:rPr lang="en-US" sz="2000" dirty="0">
                <a:solidFill>
                  <a:schemeClr val="tx1"/>
                </a:solidFill>
              </a:rPr>
              <a:t>It is built using a register.</a:t>
            </a:r>
            <a:endParaRPr lang="en-US" sz="2000" dirty="0">
              <a:solidFill>
                <a:schemeClr val="tx1"/>
              </a:solidFill>
            </a:endParaRPr>
          </a:p>
          <a:p>
            <a:pPr lvl="1" algn="just">
              <a:spcAft>
                <a:spcPts val="1000"/>
              </a:spcAft>
            </a:pPr>
            <a:r>
              <a:rPr lang="en-US" sz="2000" b="1" dirty="0">
                <a:solidFill>
                  <a:schemeClr val="tx1"/>
                </a:solidFill>
              </a:rPr>
              <a:t>Memory stack: </a:t>
            </a:r>
            <a:r>
              <a:rPr lang="en-US" sz="2000" dirty="0">
                <a:solidFill>
                  <a:schemeClr val="tx1"/>
                </a:solidFill>
              </a:rPr>
              <a:t>It is the logical part of memory allocated as the stack. The logically partitioned part of RAM is used to implement the stack.</a:t>
            </a:r>
            <a:endParaRPr lang="en-US" sz="20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Register Stack Organization</a:t>
            </a:r>
            <a:endParaRPr lang="en-IN" dirty="0">
              <a:solidFill>
                <a:schemeClr val="tx1"/>
              </a:solidFill>
            </a:endParaRPr>
          </a:p>
        </p:txBody>
      </p:sp>
      <p:sp>
        <p:nvSpPr>
          <p:cNvPr id="5" name="Content Placeholder 2"/>
          <p:cNvSpPr>
            <a:spLocks noGrp="1"/>
          </p:cNvSpPr>
          <p:nvPr>
            <p:ph idx="1"/>
          </p:nvPr>
        </p:nvSpPr>
        <p:spPr>
          <a:xfrm>
            <a:off x="158738" y="1306286"/>
            <a:ext cx="8011768" cy="5365102"/>
          </a:xfrm>
        </p:spPr>
        <p:txBody>
          <a:bodyPr>
            <a:normAutofit/>
          </a:bodyPr>
          <a:lstStyle/>
          <a:p>
            <a:pPr algn="just">
              <a:lnSpc>
                <a:spcPct val="100000"/>
              </a:lnSpc>
              <a:spcAft>
                <a:spcPts val="1000"/>
              </a:spcAft>
            </a:pPr>
            <a:r>
              <a:rPr lang="en-US" sz="2000" dirty="0">
                <a:solidFill>
                  <a:schemeClr val="tx1"/>
                </a:solidFill>
              </a:rPr>
              <a:t>A stack can be organized as a collection of a finite number of memory words or </a:t>
            </a:r>
            <a:r>
              <a:rPr lang="en-US" sz="2000" b="1" dirty="0">
                <a:solidFill>
                  <a:schemeClr val="tx1"/>
                </a:solidFill>
              </a:rPr>
              <a:t>registers</a:t>
            </a:r>
            <a:r>
              <a:rPr lang="en-US" sz="2000" dirty="0">
                <a:solidFill>
                  <a:schemeClr val="tx1"/>
                </a:solidFill>
              </a:rPr>
              <a:t>.</a:t>
            </a:r>
            <a:endParaRPr lang="en-US" sz="2000" dirty="0">
              <a:solidFill>
                <a:schemeClr val="tx1"/>
              </a:solidFill>
            </a:endParaRPr>
          </a:p>
          <a:p>
            <a:pPr algn="just">
              <a:lnSpc>
                <a:spcPct val="100000"/>
              </a:lnSpc>
              <a:spcAft>
                <a:spcPts val="1000"/>
              </a:spcAft>
            </a:pPr>
            <a:r>
              <a:rPr lang="en-US" sz="2000" dirty="0">
                <a:solidFill>
                  <a:schemeClr val="tx1"/>
                </a:solidFill>
              </a:rPr>
              <a:t>In the figure, there are 64 registers used to make a register stack. The numbers 0,1,2,3,….. 63 denote the address of different registers (Binary address representation is 000000 … 111111).</a:t>
            </a:r>
            <a:endParaRPr lang="en-US" sz="2000" dirty="0">
              <a:solidFill>
                <a:schemeClr val="tx1"/>
              </a:solidFill>
            </a:endParaRPr>
          </a:p>
          <a:p>
            <a:pPr algn="just">
              <a:lnSpc>
                <a:spcPct val="100000"/>
              </a:lnSpc>
              <a:spcAft>
                <a:spcPts val="1000"/>
              </a:spcAft>
            </a:pPr>
            <a:r>
              <a:rPr lang="en-US" sz="2000" dirty="0">
                <a:solidFill>
                  <a:schemeClr val="tx1"/>
                </a:solidFill>
              </a:rPr>
              <a:t>SP is a pointer that points to the top of the stack i.e. it currently points to the item at the top (in this figure SP contains a 6-bit address). </a:t>
            </a:r>
            <a:endParaRPr lang="en-US" sz="2000" dirty="0">
              <a:solidFill>
                <a:schemeClr val="tx1"/>
              </a:solidFill>
            </a:endParaRPr>
          </a:p>
          <a:p>
            <a:pPr algn="just">
              <a:lnSpc>
                <a:spcPct val="100000"/>
              </a:lnSpc>
              <a:spcAft>
                <a:spcPts val="1000"/>
              </a:spcAft>
            </a:pPr>
            <a:r>
              <a:rPr lang="en-US" sz="2000" dirty="0">
                <a:solidFill>
                  <a:schemeClr val="tx1"/>
                </a:solidFill>
              </a:rPr>
              <a:t>In a 64-word stack, the stack pointer contains 6 bits because 2</a:t>
            </a:r>
            <a:r>
              <a:rPr lang="en-US" sz="2000" baseline="30000" dirty="0">
                <a:solidFill>
                  <a:schemeClr val="tx1"/>
                </a:solidFill>
              </a:rPr>
              <a:t>6</a:t>
            </a:r>
            <a:r>
              <a:rPr lang="en-US" sz="2000" dirty="0">
                <a:solidFill>
                  <a:schemeClr val="tx1"/>
                </a:solidFill>
              </a:rPr>
              <a:t>=64.</a:t>
            </a:r>
            <a:endParaRPr lang="en-US" sz="2000" dirty="0">
              <a:solidFill>
                <a:schemeClr val="tx1"/>
              </a:solidFill>
            </a:endParaRPr>
          </a:p>
          <a:p>
            <a:pPr algn="just">
              <a:lnSpc>
                <a:spcPct val="100000"/>
              </a:lnSpc>
              <a:spcAft>
                <a:spcPts val="1000"/>
              </a:spcAft>
            </a:pPr>
            <a:r>
              <a:rPr lang="en-US" sz="2000" dirty="0">
                <a:solidFill>
                  <a:schemeClr val="tx1"/>
                </a:solidFill>
              </a:rPr>
              <a:t>Since SP has only 6 bits, </a:t>
            </a:r>
            <a:r>
              <a:rPr lang="en-US" sz="2000" dirty="0">
                <a:solidFill>
                  <a:srgbClr val="FF0000"/>
                </a:solidFill>
              </a:rPr>
              <a:t>it cannot exceed a number greater than 63(111111 in binary)</a:t>
            </a:r>
            <a:r>
              <a:rPr lang="en-US" sz="2000" dirty="0">
                <a:solidFill>
                  <a:schemeClr val="tx1"/>
                </a:solidFill>
              </a:rPr>
              <a:t>. When 63 is incremented by 1 the result is 0 since 111111+1=1000000,  but SP can accommodate only the six least significant bits </a:t>
            </a:r>
            <a:r>
              <a:rPr lang="en-US" sz="2000" dirty="0">
                <a:solidFill>
                  <a:schemeClr val="tx1"/>
                </a:solidFill>
                <a:latin typeface="Franklin Gothic Book" panose="020B0503020102020204" pitchFamily="34" charset="0"/>
              </a:rPr>
              <a:t>→</a:t>
            </a:r>
            <a:r>
              <a:rPr lang="en-US" sz="2000" dirty="0">
                <a:solidFill>
                  <a:schemeClr val="tx1"/>
                </a:solidFill>
              </a:rPr>
              <a:t> SP points to the 000000 address register which implies the stack is full.</a:t>
            </a:r>
            <a:endParaRPr lang="en-US" sz="2000" dirty="0">
              <a:solidFill>
                <a:schemeClr val="tx1"/>
              </a:solidFill>
            </a:endParaRPr>
          </a:p>
        </p:txBody>
      </p:sp>
      <p:pic>
        <p:nvPicPr>
          <p:cNvPr id="4" name="Picture 3"/>
          <p:cNvPicPr>
            <a:picLocks noChangeAspect="1"/>
          </p:cNvPicPr>
          <p:nvPr/>
        </p:nvPicPr>
        <p:blipFill rotWithShape="1">
          <a:blip r:embed="rId1"/>
          <a:srcRect l="6463" t="7381" r="5578"/>
          <a:stretch>
            <a:fillRect/>
          </a:stretch>
        </p:blipFill>
        <p:spPr>
          <a:xfrm>
            <a:off x="8170506" y="2697227"/>
            <a:ext cx="4021494" cy="26465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Register Stack Organization</a:t>
            </a:r>
            <a:endParaRPr lang="en-IN" dirty="0">
              <a:solidFill>
                <a:schemeClr val="tx1"/>
              </a:solidFill>
            </a:endParaRPr>
          </a:p>
        </p:txBody>
      </p:sp>
      <p:sp>
        <p:nvSpPr>
          <p:cNvPr id="5" name="Content Placeholder 2"/>
          <p:cNvSpPr>
            <a:spLocks noGrp="1"/>
          </p:cNvSpPr>
          <p:nvPr>
            <p:ph idx="1"/>
          </p:nvPr>
        </p:nvSpPr>
        <p:spPr>
          <a:xfrm>
            <a:off x="158738" y="1306286"/>
            <a:ext cx="8011768" cy="5365102"/>
          </a:xfrm>
        </p:spPr>
        <p:txBody>
          <a:bodyPr>
            <a:normAutofit/>
          </a:bodyPr>
          <a:lstStyle/>
          <a:p>
            <a:pPr algn="just">
              <a:lnSpc>
                <a:spcPct val="100000"/>
              </a:lnSpc>
              <a:spcAft>
                <a:spcPts val="1000"/>
              </a:spcAft>
            </a:pPr>
            <a:r>
              <a:rPr lang="en-US" sz="2100" dirty="0">
                <a:solidFill>
                  <a:schemeClr val="tx1"/>
                </a:solidFill>
              </a:rPr>
              <a:t>The two more registers called </a:t>
            </a:r>
            <a:r>
              <a:rPr lang="en-US" sz="2100" b="1" dirty="0">
                <a:solidFill>
                  <a:srgbClr val="FF0000"/>
                </a:solidFill>
              </a:rPr>
              <a:t>FULL</a:t>
            </a:r>
            <a:r>
              <a:rPr lang="en-US" sz="2100" dirty="0">
                <a:solidFill>
                  <a:schemeClr val="tx1"/>
                </a:solidFill>
              </a:rPr>
              <a:t> and </a:t>
            </a:r>
            <a:r>
              <a:rPr lang="en-US" sz="2100" b="1" dirty="0">
                <a:solidFill>
                  <a:srgbClr val="FF0000"/>
                </a:solidFill>
              </a:rPr>
              <a:t>EMPTY</a:t>
            </a:r>
            <a:r>
              <a:rPr lang="en-US" sz="2100" dirty="0">
                <a:solidFill>
                  <a:schemeClr val="tx1"/>
                </a:solidFill>
              </a:rPr>
              <a:t> are used. These are made up of </a:t>
            </a:r>
            <a:r>
              <a:rPr lang="en-US" sz="2100" dirty="0">
                <a:solidFill>
                  <a:srgbClr val="FF0000"/>
                </a:solidFill>
              </a:rPr>
              <a:t>flip-flops </a:t>
            </a:r>
            <a:r>
              <a:rPr lang="en-US" sz="2100" dirty="0">
                <a:solidFill>
                  <a:schemeClr val="tx1"/>
                </a:solidFill>
              </a:rPr>
              <a:t>also known as </a:t>
            </a:r>
            <a:r>
              <a:rPr lang="en-US" sz="2100" dirty="0">
                <a:solidFill>
                  <a:srgbClr val="FF0000"/>
                </a:solidFill>
              </a:rPr>
              <a:t>flags</a:t>
            </a:r>
            <a:r>
              <a:rPr lang="en-US" sz="2100" dirty="0">
                <a:solidFill>
                  <a:schemeClr val="tx1"/>
                </a:solidFill>
              </a:rPr>
              <a:t>. It indicates whether the stack is full or not.</a:t>
            </a:r>
            <a:endParaRPr lang="en-US" sz="2100" dirty="0">
              <a:solidFill>
                <a:schemeClr val="tx1"/>
              </a:solidFill>
            </a:endParaRPr>
          </a:p>
          <a:p>
            <a:pPr lvl="1" algn="just">
              <a:spcAft>
                <a:spcPts val="1000"/>
              </a:spcAft>
            </a:pPr>
            <a:r>
              <a:rPr lang="en-US" sz="1800" dirty="0">
                <a:solidFill>
                  <a:schemeClr val="tx1"/>
                </a:solidFill>
              </a:rPr>
              <a:t>If FULL = 1, then EMPTY = 0 </a:t>
            </a:r>
            <a:r>
              <a:rPr lang="en-US" sz="1800" dirty="0">
                <a:solidFill>
                  <a:schemeClr val="tx1"/>
                </a:solidFill>
                <a:latin typeface="Franklin Gothic Book" panose="020B0503020102020204" pitchFamily="34" charset="0"/>
              </a:rPr>
              <a:t>→</a:t>
            </a:r>
            <a:r>
              <a:rPr lang="en-US" sz="1800" dirty="0">
                <a:solidFill>
                  <a:schemeClr val="tx1"/>
                </a:solidFill>
              </a:rPr>
              <a:t> stack is full.</a:t>
            </a:r>
            <a:endParaRPr lang="en-US" sz="1800" dirty="0">
              <a:solidFill>
                <a:schemeClr val="tx1"/>
              </a:solidFill>
            </a:endParaRPr>
          </a:p>
          <a:p>
            <a:pPr lvl="1" algn="just">
              <a:spcAft>
                <a:spcPts val="1000"/>
              </a:spcAft>
            </a:pPr>
            <a:r>
              <a:rPr lang="en-US" sz="1800" dirty="0">
                <a:solidFill>
                  <a:schemeClr val="tx1"/>
                </a:solidFill>
              </a:rPr>
              <a:t>If FULL= 0, then EMPTY =1 </a:t>
            </a:r>
            <a:r>
              <a:rPr lang="en-US" sz="1800" dirty="0">
                <a:solidFill>
                  <a:schemeClr val="tx1"/>
                </a:solidFill>
                <a:latin typeface="Franklin Gothic Book" panose="020B0503020102020204" pitchFamily="34" charset="0"/>
              </a:rPr>
              <a:t>→ </a:t>
            </a:r>
            <a:r>
              <a:rPr lang="en-US" sz="1800" dirty="0">
                <a:solidFill>
                  <a:schemeClr val="tx1"/>
                </a:solidFill>
              </a:rPr>
              <a:t>stack is empty.</a:t>
            </a:r>
            <a:endParaRPr lang="en-US" sz="1800" dirty="0">
              <a:solidFill>
                <a:schemeClr val="tx1"/>
              </a:solidFill>
            </a:endParaRPr>
          </a:p>
          <a:p>
            <a:pPr algn="just">
              <a:lnSpc>
                <a:spcPct val="100000"/>
              </a:lnSpc>
              <a:spcAft>
                <a:spcPts val="1000"/>
              </a:spcAft>
            </a:pPr>
            <a:r>
              <a:rPr lang="en-US" sz="2100" b="1" dirty="0">
                <a:solidFill>
                  <a:schemeClr val="tx1"/>
                </a:solidFill>
              </a:rPr>
              <a:t>DR is the data register</a:t>
            </a:r>
            <a:r>
              <a:rPr lang="en-US" sz="2100" dirty="0">
                <a:solidFill>
                  <a:schemeClr val="tx1"/>
                </a:solidFill>
              </a:rPr>
              <a:t> through which data is transferred to and from the stack.</a:t>
            </a:r>
            <a:endParaRPr lang="en-US" sz="2100" dirty="0">
              <a:solidFill>
                <a:schemeClr val="tx1"/>
              </a:solidFill>
            </a:endParaRPr>
          </a:p>
          <a:p>
            <a:pPr algn="just">
              <a:lnSpc>
                <a:spcPct val="100000"/>
              </a:lnSpc>
              <a:spcAft>
                <a:spcPts val="1000"/>
              </a:spcAft>
            </a:pPr>
            <a:r>
              <a:rPr lang="en-US" sz="2100" b="1" dirty="0">
                <a:solidFill>
                  <a:schemeClr val="tx1"/>
                </a:solidFill>
              </a:rPr>
              <a:t>Zero address </a:t>
            </a:r>
            <a:r>
              <a:rPr lang="en-US" sz="2100" dirty="0">
                <a:solidFill>
                  <a:schemeClr val="tx1"/>
                </a:solidFill>
              </a:rPr>
              <a:t>instructions are used in registers stack organization i.e. the address that does not contain the address of the operands.</a:t>
            </a:r>
            <a:endParaRPr lang="en-US" sz="2100" dirty="0">
              <a:solidFill>
                <a:schemeClr val="tx1"/>
              </a:solidFill>
            </a:endParaRPr>
          </a:p>
          <a:p>
            <a:pPr algn="just">
              <a:lnSpc>
                <a:spcPct val="100000"/>
              </a:lnSpc>
              <a:spcAft>
                <a:spcPts val="1000"/>
              </a:spcAft>
            </a:pPr>
            <a:r>
              <a:rPr lang="en-IN" sz="2100" dirty="0">
                <a:solidFill>
                  <a:schemeClr val="tx1"/>
                </a:solidFill>
              </a:rPr>
              <a:t>1</a:t>
            </a:r>
            <a:r>
              <a:rPr lang="en-IN" sz="2100" baseline="30000" dirty="0">
                <a:solidFill>
                  <a:schemeClr val="tx1"/>
                </a:solidFill>
              </a:rPr>
              <a:t>st</a:t>
            </a:r>
            <a:r>
              <a:rPr lang="en-IN" sz="2100" dirty="0">
                <a:solidFill>
                  <a:schemeClr val="tx1"/>
                </a:solidFill>
              </a:rPr>
              <a:t> item is stored at address 1 and last item is stored at </a:t>
            </a:r>
            <a:r>
              <a:rPr lang="en-IN" sz="2100">
                <a:solidFill>
                  <a:schemeClr val="tx1"/>
                </a:solidFill>
              </a:rPr>
              <a:t>address 0.</a:t>
            </a:r>
            <a:endParaRPr lang="en-IN" sz="2100">
              <a:solidFill>
                <a:schemeClr val="tx1"/>
              </a:solidFill>
            </a:endParaRPr>
          </a:p>
        </p:txBody>
      </p:sp>
      <p:pic>
        <p:nvPicPr>
          <p:cNvPr id="4" name="Picture 3"/>
          <p:cNvPicPr>
            <a:picLocks noChangeAspect="1"/>
          </p:cNvPicPr>
          <p:nvPr/>
        </p:nvPicPr>
        <p:blipFill rotWithShape="1">
          <a:blip r:embed="rId1"/>
          <a:srcRect l="6463" t="7381" r="5578"/>
          <a:stretch>
            <a:fillRect/>
          </a:stretch>
        </p:blipFill>
        <p:spPr>
          <a:xfrm>
            <a:off x="8170506" y="2697227"/>
            <a:ext cx="4021494" cy="26465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53373"/>
          </a:xfrm>
        </p:spPr>
        <p:txBody>
          <a:bodyPr/>
          <a:lstStyle/>
          <a:p>
            <a:pPr algn="ctr"/>
            <a:r>
              <a:rPr lang="en-IN" dirty="0">
                <a:solidFill>
                  <a:schemeClr val="tx1"/>
                </a:solidFill>
              </a:rPr>
              <a:t>Register Stack Organization</a:t>
            </a:r>
            <a:endParaRPr lang="en-IN" dirty="0">
              <a:solidFill>
                <a:schemeClr val="tx1"/>
              </a:solidFill>
            </a:endParaRPr>
          </a:p>
        </p:txBody>
      </p:sp>
      <p:sp>
        <p:nvSpPr>
          <p:cNvPr id="3" name="Text Placeholder 2"/>
          <p:cNvSpPr>
            <a:spLocks noGrp="1"/>
          </p:cNvSpPr>
          <p:nvPr>
            <p:ph type="body" idx="1"/>
          </p:nvPr>
        </p:nvSpPr>
        <p:spPr>
          <a:xfrm>
            <a:off x="721150" y="2489149"/>
            <a:ext cx="5194769" cy="557784"/>
          </a:xfrm>
        </p:spPr>
        <p:txBody>
          <a:bodyPr/>
          <a:lstStyle/>
          <a:p>
            <a:pPr algn="ctr"/>
            <a:r>
              <a:rPr lang="en-IN" b="1" dirty="0">
                <a:solidFill>
                  <a:schemeClr val="tx1"/>
                </a:solidFill>
              </a:rPr>
              <a:t>PUSH Operation</a:t>
            </a:r>
            <a:endParaRPr lang="en-IN" b="1" dirty="0">
              <a:solidFill>
                <a:schemeClr val="tx1"/>
              </a:solidFill>
            </a:endParaRPr>
          </a:p>
        </p:txBody>
      </p:sp>
      <p:sp>
        <p:nvSpPr>
          <p:cNvPr id="4" name="Content Placeholder 3"/>
          <p:cNvSpPr>
            <a:spLocks noGrp="1"/>
          </p:cNvSpPr>
          <p:nvPr>
            <p:ph sz="half" idx="2"/>
          </p:nvPr>
        </p:nvSpPr>
        <p:spPr>
          <a:xfrm>
            <a:off x="581194" y="3209732"/>
            <a:ext cx="5194766" cy="1931436"/>
          </a:xfrm>
        </p:spPr>
        <p:style>
          <a:lnRef idx="2">
            <a:schemeClr val="accent2"/>
          </a:lnRef>
          <a:fillRef idx="1">
            <a:schemeClr val="lt1"/>
          </a:fillRef>
          <a:effectRef idx="0">
            <a:schemeClr val="accent2"/>
          </a:effectRef>
          <a:fontRef idx="minor">
            <a:schemeClr val="dk1"/>
          </a:fontRef>
        </p:style>
        <p:txBody>
          <a:bodyPr>
            <a:normAutofit/>
          </a:bodyPr>
          <a:lstStyle/>
          <a:p>
            <a:pPr marL="0" indent="0" algn="just">
              <a:buNone/>
            </a:pPr>
            <a:r>
              <a:rPr lang="en-US" b="1" dirty="0">
                <a:solidFill>
                  <a:srgbClr val="FF0000"/>
                </a:solidFill>
                <a:latin typeface="Avenir Next LT Pro Light" panose="020B0304020202020204" pitchFamily="34" charset="0"/>
              </a:rPr>
              <a:t>SP ← SP+1                                 </a:t>
            </a:r>
            <a:r>
              <a:rPr lang="en-US" sz="1500" b="1" dirty="0">
                <a:solidFill>
                  <a:schemeClr val="tx1"/>
                </a:solidFill>
                <a:latin typeface="Avenir Next LT Pro Light" panose="020B0304020202020204" pitchFamily="34" charset="0"/>
              </a:rPr>
              <a:t>Increment  stack  pointer </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M[SP] ← DR                               </a:t>
            </a:r>
            <a:r>
              <a:rPr lang="en-US" sz="1500" b="1" dirty="0">
                <a:solidFill>
                  <a:schemeClr val="tx1"/>
                </a:solidFill>
                <a:latin typeface="Avenir Next LT Pro Light" panose="020B0304020202020204" pitchFamily="34" charset="0"/>
              </a:rPr>
              <a:t>Write on top of the stack </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If (SP = 0) then (FULL ← 1)      </a:t>
            </a:r>
            <a:r>
              <a:rPr lang="en-US" sz="1500" b="1" dirty="0">
                <a:solidFill>
                  <a:schemeClr val="tx1"/>
                </a:solidFill>
                <a:latin typeface="Avenir Next LT Pro Light" panose="020B0304020202020204" pitchFamily="34" charset="0"/>
              </a:rPr>
              <a:t>Check if the stack is full</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EMTY← 0                                    </a:t>
            </a:r>
            <a:r>
              <a:rPr lang="en-US" sz="1500" b="1" dirty="0">
                <a:solidFill>
                  <a:schemeClr val="tx1"/>
                </a:solidFill>
                <a:latin typeface="Avenir Next LT Pro Light" panose="020B0304020202020204" pitchFamily="34" charset="0"/>
              </a:rPr>
              <a:t>Stack is not empty</a:t>
            </a:r>
            <a:endParaRPr lang="en-US" b="1" dirty="0">
              <a:solidFill>
                <a:srgbClr val="FF0000"/>
              </a:solidFill>
              <a:latin typeface="Avenir Next LT Pro Light" panose="020B0304020202020204" pitchFamily="34" charset="0"/>
            </a:endParaRPr>
          </a:p>
          <a:p>
            <a:pPr algn="just"/>
            <a:endParaRPr lang="en-IN" dirty="0"/>
          </a:p>
        </p:txBody>
      </p:sp>
      <p:sp>
        <p:nvSpPr>
          <p:cNvPr id="5" name="Text Placeholder 4"/>
          <p:cNvSpPr>
            <a:spLocks noGrp="1"/>
          </p:cNvSpPr>
          <p:nvPr>
            <p:ph type="body" sz="quarter" idx="3"/>
          </p:nvPr>
        </p:nvSpPr>
        <p:spPr>
          <a:xfrm>
            <a:off x="6416038" y="2477694"/>
            <a:ext cx="5194770" cy="553373"/>
          </a:xfrm>
        </p:spPr>
        <p:txBody>
          <a:bodyPr/>
          <a:lstStyle/>
          <a:p>
            <a:pPr algn="ctr"/>
            <a:r>
              <a:rPr lang="en-IN" b="1" dirty="0">
                <a:solidFill>
                  <a:schemeClr val="tx1"/>
                </a:solidFill>
              </a:rPr>
              <a:t>POP Operation</a:t>
            </a:r>
            <a:endParaRPr lang="en-IN" b="1" dirty="0">
              <a:solidFill>
                <a:schemeClr val="tx1"/>
              </a:solidFill>
            </a:endParaRPr>
          </a:p>
        </p:txBody>
      </p:sp>
      <p:sp>
        <p:nvSpPr>
          <p:cNvPr id="6" name="Content Placeholder 5"/>
          <p:cNvSpPr>
            <a:spLocks noGrp="1"/>
          </p:cNvSpPr>
          <p:nvPr>
            <p:ph sz="quarter" idx="4"/>
          </p:nvPr>
        </p:nvSpPr>
        <p:spPr>
          <a:xfrm>
            <a:off x="6416037" y="3209732"/>
            <a:ext cx="5340534" cy="1931436"/>
          </a:xfrm>
        </p:spPr>
        <p:style>
          <a:lnRef idx="2">
            <a:schemeClr val="accent2"/>
          </a:lnRef>
          <a:fillRef idx="1">
            <a:schemeClr val="lt1"/>
          </a:fillRef>
          <a:effectRef idx="0">
            <a:schemeClr val="accent2"/>
          </a:effectRef>
          <a:fontRef idx="minor">
            <a:schemeClr val="dk1"/>
          </a:fontRef>
        </p:style>
        <p:txBody>
          <a:bodyPr>
            <a:normAutofit/>
          </a:bodyPr>
          <a:lstStyle/>
          <a:p>
            <a:pPr marL="0" indent="0" algn="just">
              <a:buNone/>
            </a:pPr>
            <a:r>
              <a:rPr lang="en-US" b="1" dirty="0">
                <a:solidFill>
                  <a:srgbClr val="FF0000"/>
                </a:solidFill>
                <a:latin typeface="Avenir Next LT Pro Light" panose="020B0304020202020204" pitchFamily="34" charset="0"/>
              </a:rPr>
              <a:t>DR </a:t>
            </a:r>
            <a:r>
              <a:rPr lang="en-US" b="1" dirty="0">
                <a:solidFill>
                  <a:srgbClr val="FF0000"/>
                </a:solidFill>
                <a:latin typeface="Franklin Gothic Book" panose="020B0503020102020204" pitchFamily="34" charset="0"/>
              </a:rPr>
              <a:t>← </a:t>
            </a:r>
            <a:r>
              <a:rPr lang="en-US" b="1" dirty="0">
                <a:solidFill>
                  <a:srgbClr val="FF0000"/>
                </a:solidFill>
                <a:latin typeface="Avenir Next LT Pro Light" panose="020B0304020202020204" pitchFamily="34" charset="0"/>
              </a:rPr>
              <a:t>M[SP]                        </a:t>
            </a:r>
            <a:r>
              <a:rPr lang="en-US" sz="1500" b="1" dirty="0">
                <a:solidFill>
                  <a:schemeClr val="tx1"/>
                </a:solidFill>
                <a:latin typeface="Avenir Next LT Pro Light" panose="020B0304020202020204" pitchFamily="34" charset="0"/>
              </a:rPr>
              <a:t>Read from the top of the stack </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SP</a:t>
            </a:r>
            <a:r>
              <a:rPr lang="en-US" b="1" dirty="0">
                <a:solidFill>
                  <a:srgbClr val="FF0000"/>
                </a:solidFill>
                <a:latin typeface="Franklin Gothic Book" panose="020B0503020102020204" pitchFamily="34" charset="0"/>
              </a:rPr>
              <a:t>← </a:t>
            </a:r>
            <a:r>
              <a:rPr lang="en-US" b="1" dirty="0">
                <a:solidFill>
                  <a:srgbClr val="FF0000"/>
                </a:solidFill>
                <a:latin typeface="Avenir Next LT Pro Light" panose="020B0304020202020204" pitchFamily="34" charset="0"/>
              </a:rPr>
              <a:t>SP-1                             </a:t>
            </a:r>
            <a:r>
              <a:rPr lang="en-US" sz="1500" b="1" dirty="0">
                <a:solidFill>
                  <a:schemeClr val="tx1"/>
                </a:solidFill>
                <a:latin typeface="Avenir Next LT Pro Light" panose="020B0304020202020204" pitchFamily="34" charset="0"/>
              </a:rPr>
              <a:t>Decrement the stack pointer</a:t>
            </a:r>
            <a:endParaRPr lang="en-US" b="1" dirty="0">
              <a:solidFill>
                <a:srgbClr val="FF0000"/>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If (SP=0) then (EMTY</a:t>
            </a:r>
            <a:r>
              <a:rPr lang="en-US" b="1" dirty="0">
                <a:solidFill>
                  <a:srgbClr val="FF0000"/>
                </a:solidFill>
                <a:latin typeface="Franklin Gothic Book" panose="020B0503020102020204" pitchFamily="34" charset="0"/>
              </a:rPr>
              <a:t>←</a:t>
            </a:r>
            <a:r>
              <a:rPr lang="en-US" b="1" dirty="0">
                <a:solidFill>
                  <a:srgbClr val="FF0000"/>
                </a:solidFill>
                <a:latin typeface="Avenir Next LT Pro Light" panose="020B0304020202020204" pitchFamily="34" charset="0"/>
              </a:rPr>
              <a:t>1)  </a:t>
            </a:r>
            <a:r>
              <a:rPr lang="en-US" sz="1500" b="1" dirty="0">
                <a:solidFill>
                  <a:schemeClr val="tx1"/>
                </a:solidFill>
                <a:latin typeface="Avenir Next LT Pro Light" panose="020B0304020202020204" pitchFamily="34" charset="0"/>
              </a:rPr>
              <a:t>Check if the stack is empty</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FULL </a:t>
            </a:r>
            <a:r>
              <a:rPr lang="en-US" b="1" dirty="0">
                <a:solidFill>
                  <a:srgbClr val="FF0000"/>
                </a:solidFill>
                <a:latin typeface="Franklin Gothic Book" panose="020B0503020102020204" pitchFamily="34" charset="0"/>
              </a:rPr>
              <a:t>← </a:t>
            </a:r>
            <a:r>
              <a:rPr lang="en-US" b="1" dirty="0">
                <a:solidFill>
                  <a:srgbClr val="FF0000"/>
                </a:solidFill>
                <a:latin typeface="Avenir Next LT Pro Light" panose="020B0304020202020204" pitchFamily="34" charset="0"/>
              </a:rPr>
              <a:t>0                              </a:t>
            </a:r>
            <a:r>
              <a:rPr lang="en-US" b="1" dirty="0">
                <a:solidFill>
                  <a:schemeClr val="tx1"/>
                </a:solidFill>
                <a:latin typeface="Avenir Next LT Pro Light" panose="020B0304020202020204" pitchFamily="34" charset="0"/>
              </a:rPr>
              <a:t>Stack is not full</a:t>
            </a:r>
            <a:endParaRPr lang="en-US" b="1" dirty="0">
              <a:solidFill>
                <a:schemeClr val="tx1"/>
              </a:solidFill>
              <a:latin typeface="Avenir Next LT Pro Light" panose="020B0304020202020204" pitchFamily="34" charset="0"/>
            </a:endParaRPr>
          </a:p>
        </p:txBody>
      </p:sp>
      <p:sp>
        <p:nvSpPr>
          <p:cNvPr id="7" name="Content Placeholder 3"/>
          <p:cNvSpPr txBox="1"/>
          <p:nvPr/>
        </p:nvSpPr>
        <p:spPr>
          <a:xfrm>
            <a:off x="651707" y="1342263"/>
            <a:ext cx="2528221" cy="1250812"/>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fontScale="77500" lnSpcReduction="20000"/>
          </a:bodyPr>
          <a:lstStyle/>
          <a:p>
            <a:pPr marL="0" marR="0" lvl="0" indent="0" algn="just" defTabSz="457200" rtl="0" eaLnBrk="1" fontAlgn="auto" latinLnBrk="0" hangingPunct="1">
              <a:lnSpc>
                <a:spcPct val="110000"/>
              </a:lnSpc>
              <a:spcBef>
                <a:spcPct val="20000"/>
              </a:spcBef>
              <a:spcAft>
                <a:spcPts val="600"/>
              </a:spcAft>
              <a:buClr>
                <a:schemeClr val="accent1"/>
              </a:buClr>
              <a:buSzPct val="92000"/>
              <a:buFont typeface="Wingdings 2" panose="05020102010507070707" pitchFamily="18" charset="2"/>
              <a:buNone/>
              <a:defRPr/>
            </a:pPr>
            <a:r>
              <a:rPr kumimoji="0" lang="en-US" sz="1700" b="1" i="0" u="none" strike="noStrike" kern="1200" cap="none" spc="0" normalizeH="0" baseline="0" noProof="0" dirty="0">
                <a:ln>
                  <a:noFill/>
                </a:ln>
                <a:solidFill>
                  <a:srgbClr val="FF0000"/>
                </a:solidFill>
                <a:effectLst/>
                <a:uLnTx/>
                <a:uFillTx/>
                <a:latin typeface="Avenir Next LT Pro Light" panose="020B0304020202020204" pitchFamily="34" charset="0"/>
                <a:ea typeface="+mn-ea"/>
                <a:cs typeface="+mn-cs"/>
              </a:rPr>
              <a:t>For</a:t>
            </a:r>
            <a:r>
              <a:rPr kumimoji="0" lang="en-US" sz="1700" b="1" i="0" u="none" strike="noStrike" kern="1200" cap="none" spc="0" normalizeH="0" noProof="0" dirty="0">
                <a:ln>
                  <a:noFill/>
                </a:ln>
                <a:solidFill>
                  <a:srgbClr val="FF0000"/>
                </a:solidFill>
                <a:effectLst/>
                <a:uLnTx/>
                <a:uFillTx/>
                <a:latin typeface="Avenir Next LT Pro Light" panose="020B0304020202020204" pitchFamily="34" charset="0"/>
                <a:ea typeface="+mn-ea"/>
                <a:cs typeface="+mn-cs"/>
              </a:rPr>
              <a:t> PUSH Operation initially:</a:t>
            </a:r>
            <a:endParaRPr kumimoji="0" lang="en-US" sz="1700" b="1" i="0" u="none" strike="noStrike" kern="1200" cap="none" spc="0" normalizeH="0" noProof="0" dirty="0">
              <a:ln>
                <a:noFill/>
              </a:ln>
              <a:solidFill>
                <a:srgbClr val="FF0000"/>
              </a:solidFill>
              <a:effectLst/>
              <a:uLnTx/>
              <a:uFillTx/>
              <a:latin typeface="Avenir Next LT Pro Light" panose="020B0304020202020204" pitchFamily="34" charset="0"/>
              <a:ea typeface="+mn-ea"/>
              <a:cs typeface="+mn-cs"/>
            </a:endParaRPr>
          </a:p>
          <a:p>
            <a:pPr lvl="0" algn="just" defTabSz="457200">
              <a:lnSpc>
                <a:spcPct val="110000"/>
              </a:lnSpc>
              <a:spcBef>
                <a:spcPct val="20000"/>
              </a:spcBef>
              <a:spcAft>
                <a:spcPts val="600"/>
              </a:spcAft>
              <a:buClr>
                <a:schemeClr val="accent1"/>
              </a:buClr>
              <a:buSzPct val="92000"/>
            </a:pPr>
            <a:r>
              <a:rPr kumimoji="0" lang="en-US" sz="1700" b="1" i="0" u="none" strike="noStrike" kern="1200" cap="none" spc="0" normalizeH="0" noProof="0" dirty="0">
                <a:ln>
                  <a:noFill/>
                </a:ln>
                <a:solidFill>
                  <a:srgbClr val="FF0000"/>
                </a:solidFill>
                <a:effectLst/>
                <a:uLnTx/>
                <a:uFillTx/>
                <a:latin typeface="Avenir Next LT Pro Light" panose="020B0304020202020204" pitchFamily="34" charset="0"/>
                <a:ea typeface="+mn-ea"/>
                <a:cs typeface="+mn-cs"/>
              </a:rPr>
              <a:t> </a:t>
            </a:r>
            <a:r>
              <a:rPr lang="en-US" sz="1600" b="1" dirty="0">
                <a:solidFill>
                  <a:srgbClr val="FF0000"/>
                </a:solidFill>
                <a:latin typeface="Avenir Next LT Pro Light" panose="020B0304020202020204" pitchFamily="34" charset="0"/>
              </a:rPr>
              <a:t>SP← 0</a:t>
            </a:r>
            <a:endParaRPr lang="en-US" sz="1600" b="1" dirty="0">
              <a:solidFill>
                <a:srgbClr val="FF0000"/>
              </a:solidFill>
              <a:latin typeface="Avenir Next LT Pro Light" panose="020B0304020202020204" pitchFamily="34" charset="0"/>
            </a:endParaRPr>
          </a:p>
          <a:p>
            <a:pPr lvl="0" algn="just" defTabSz="457200">
              <a:lnSpc>
                <a:spcPct val="110000"/>
              </a:lnSpc>
              <a:spcBef>
                <a:spcPct val="20000"/>
              </a:spcBef>
              <a:spcAft>
                <a:spcPts val="600"/>
              </a:spcAft>
              <a:buClr>
                <a:schemeClr val="accent1"/>
              </a:buClr>
              <a:buSzPct val="92000"/>
            </a:pPr>
            <a:r>
              <a:rPr lang="en-US" sz="1600" b="1" dirty="0">
                <a:solidFill>
                  <a:srgbClr val="FF0000"/>
                </a:solidFill>
                <a:latin typeface="Avenir Next LT Pro Light" panose="020B0304020202020204" pitchFamily="34" charset="0"/>
              </a:rPr>
              <a:t>FULL← 0 </a:t>
            </a:r>
            <a:endParaRPr lang="en-US" sz="1600" b="1" dirty="0">
              <a:solidFill>
                <a:srgbClr val="FF0000"/>
              </a:solidFill>
              <a:latin typeface="Avenir Next LT Pro Light" panose="020B0304020202020204" pitchFamily="34" charset="0"/>
            </a:endParaRPr>
          </a:p>
          <a:p>
            <a:pPr lvl="0" algn="just" defTabSz="457200">
              <a:lnSpc>
                <a:spcPct val="110000"/>
              </a:lnSpc>
              <a:spcBef>
                <a:spcPct val="20000"/>
              </a:spcBef>
              <a:spcAft>
                <a:spcPts val="600"/>
              </a:spcAft>
              <a:buClr>
                <a:schemeClr val="accent1"/>
              </a:buClr>
              <a:buSzPct val="92000"/>
            </a:pPr>
            <a:r>
              <a:rPr lang="en-US" sz="1600" b="1" dirty="0">
                <a:solidFill>
                  <a:srgbClr val="FF0000"/>
                </a:solidFill>
                <a:latin typeface="Avenir Next LT Pro Light" panose="020B0304020202020204" pitchFamily="34" charset="0"/>
              </a:rPr>
              <a:t>EMTY← 1 </a:t>
            </a:r>
            <a:endParaRPr kumimoji="0" lang="en-US" sz="1700" b="1" i="0" u="none" strike="noStrike" kern="1200" cap="none" spc="0" normalizeH="0" noProof="0" dirty="0">
              <a:ln>
                <a:noFill/>
              </a:ln>
              <a:solidFill>
                <a:srgbClr val="FF0000"/>
              </a:solidFill>
              <a:effectLst/>
              <a:uLnTx/>
              <a:uFillTx/>
              <a:latin typeface="Avenir Next LT Pro Light" panose="020B0304020202020204" pitchFamily="34" charset="0"/>
              <a:ea typeface="+mn-ea"/>
              <a:cs typeface="+mn-cs"/>
            </a:endParaRPr>
          </a:p>
          <a:p>
            <a:pPr marL="0" marR="0" lvl="0" indent="0" algn="just" defTabSz="457200" rtl="0" eaLnBrk="1" fontAlgn="auto" latinLnBrk="0" hangingPunct="1">
              <a:lnSpc>
                <a:spcPct val="110000"/>
              </a:lnSpc>
              <a:spcBef>
                <a:spcPct val="20000"/>
              </a:spcBef>
              <a:spcAft>
                <a:spcPts val="600"/>
              </a:spcAft>
              <a:buClr>
                <a:schemeClr val="accent1"/>
              </a:buClr>
              <a:buSzPct val="92000"/>
              <a:buFont typeface="Wingdings 2" panose="05020102010507070707" pitchFamily="18" charset="2"/>
              <a:buNone/>
              <a:defRPr/>
            </a:pPr>
            <a:endParaRPr kumimoji="0" lang="en-US" sz="1700" b="1" i="0" u="none" strike="noStrike" kern="1200" cap="none" spc="0" normalizeH="0" baseline="0" noProof="0" dirty="0">
              <a:ln>
                <a:noFill/>
              </a:ln>
              <a:solidFill>
                <a:srgbClr val="FF0000"/>
              </a:solidFill>
              <a:effectLst/>
              <a:uLnTx/>
              <a:uFillTx/>
              <a:latin typeface="Avenir Next LT Pro Light" panose="020B0304020202020204" pitchFamily="34" charset="0"/>
              <a:ea typeface="+mn-ea"/>
              <a:cs typeface="+mn-cs"/>
            </a:endParaRPr>
          </a:p>
          <a:p>
            <a:pPr marL="306070" marR="0" lvl="0" indent="-306070" algn="just" defTabSz="457200" rtl="0" eaLnBrk="1" fontAlgn="auto" latinLnBrk="0" hangingPunct="1">
              <a:lnSpc>
                <a:spcPct val="110000"/>
              </a:lnSpc>
              <a:spcBef>
                <a:spcPct val="20000"/>
              </a:spcBef>
              <a:spcAft>
                <a:spcPts val="600"/>
              </a:spcAft>
              <a:buClr>
                <a:schemeClr val="accent1"/>
              </a:buClr>
              <a:buSzPct val="92000"/>
              <a:buFont typeface="Wingdings 2" panose="05020102010507070707" pitchFamily="18" charset="2"/>
              <a:buChar char=""/>
              <a:defRPr/>
            </a:pPr>
            <a:endParaRPr kumimoji="0" lang="en-IN" sz="17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Memory Stack Organization</a:t>
            </a:r>
            <a:endParaRPr lang="en-IN" dirty="0">
              <a:solidFill>
                <a:schemeClr val="tx1"/>
              </a:solidFill>
            </a:endParaRPr>
          </a:p>
        </p:txBody>
      </p:sp>
      <p:sp>
        <p:nvSpPr>
          <p:cNvPr id="5" name="Content Placeholder 2"/>
          <p:cNvSpPr>
            <a:spLocks noGrp="1"/>
          </p:cNvSpPr>
          <p:nvPr>
            <p:ph idx="1"/>
          </p:nvPr>
        </p:nvSpPr>
        <p:spPr>
          <a:xfrm>
            <a:off x="158738" y="1306286"/>
            <a:ext cx="7947037" cy="5243804"/>
          </a:xfrm>
        </p:spPr>
        <p:txBody>
          <a:bodyPr>
            <a:normAutofit/>
          </a:bodyPr>
          <a:lstStyle/>
          <a:p>
            <a:pPr algn="just">
              <a:lnSpc>
                <a:spcPct val="100000"/>
              </a:lnSpc>
              <a:spcAft>
                <a:spcPts val="1000"/>
              </a:spcAft>
            </a:pPr>
            <a:r>
              <a:rPr lang="en-US" sz="2000" dirty="0">
                <a:solidFill>
                  <a:schemeClr val="tx1"/>
                </a:solidFill>
              </a:rPr>
              <a:t>A stack may be implemented in a computer's random access memory (RAM). </a:t>
            </a:r>
            <a:endParaRPr lang="en-US" sz="2000" dirty="0">
              <a:solidFill>
                <a:schemeClr val="tx1"/>
              </a:solidFill>
            </a:endParaRPr>
          </a:p>
          <a:p>
            <a:pPr algn="just">
              <a:lnSpc>
                <a:spcPct val="100000"/>
              </a:lnSpc>
              <a:spcAft>
                <a:spcPts val="1000"/>
              </a:spcAft>
            </a:pPr>
            <a:r>
              <a:rPr lang="en-US" sz="2000" dirty="0">
                <a:solidFill>
                  <a:schemeClr val="tx1"/>
                </a:solidFill>
              </a:rPr>
              <a:t>A stack is implemented in the CPU by allocating a portion of memory to a stack operation and utilizing a processor register as a stack pointer. The stack pointer is a CPU register that specifies the stack's initial memory address.</a:t>
            </a:r>
            <a:endParaRPr lang="en-US" sz="2000" dirty="0">
              <a:solidFill>
                <a:schemeClr val="tx1"/>
              </a:solidFill>
            </a:endParaRPr>
          </a:p>
          <a:p>
            <a:pPr algn="just">
              <a:lnSpc>
                <a:spcPct val="100000"/>
              </a:lnSpc>
              <a:spcAft>
                <a:spcPts val="1000"/>
              </a:spcAft>
            </a:pPr>
            <a:r>
              <a:rPr lang="en-US" sz="2000" dirty="0">
                <a:solidFill>
                  <a:schemeClr val="tx1"/>
                </a:solidFill>
              </a:rPr>
              <a:t>The RAM is divided into three logical parts:</a:t>
            </a:r>
            <a:endParaRPr lang="en-US" sz="2000" dirty="0">
              <a:solidFill>
                <a:schemeClr val="tx1"/>
              </a:solidFill>
            </a:endParaRPr>
          </a:p>
          <a:p>
            <a:pPr lvl="1" algn="just">
              <a:spcAft>
                <a:spcPts val="1000"/>
              </a:spcAft>
            </a:pPr>
            <a:r>
              <a:rPr lang="en-US" sz="1700" b="1" dirty="0">
                <a:solidFill>
                  <a:schemeClr val="tx1"/>
                </a:solidFill>
              </a:rPr>
              <a:t>Program: </a:t>
            </a:r>
            <a:r>
              <a:rPr lang="en-US" sz="1700" dirty="0">
                <a:solidFill>
                  <a:schemeClr val="tx1"/>
                </a:solidFill>
              </a:rPr>
              <a:t>The logical part of RAM where programs are stored.</a:t>
            </a:r>
            <a:endParaRPr lang="en-US" sz="1700" dirty="0">
              <a:solidFill>
                <a:schemeClr val="tx1"/>
              </a:solidFill>
            </a:endParaRPr>
          </a:p>
          <a:p>
            <a:pPr lvl="1" algn="just">
              <a:spcAft>
                <a:spcPts val="1000"/>
              </a:spcAft>
            </a:pPr>
            <a:r>
              <a:rPr lang="en-US" sz="1700" b="1" dirty="0">
                <a:solidFill>
                  <a:schemeClr val="tx1"/>
                </a:solidFill>
              </a:rPr>
              <a:t>Data: </a:t>
            </a:r>
            <a:r>
              <a:rPr lang="en-US" sz="1700" dirty="0">
                <a:solidFill>
                  <a:schemeClr val="tx1"/>
                </a:solidFill>
              </a:rPr>
              <a:t>It is the logical part of the RAM where data(operands) are stored.</a:t>
            </a:r>
            <a:endParaRPr lang="en-US" sz="1700" dirty="0">
              <a:solidFill>
                <a:schemeClr val="tx1"/>
              </a:solidFill>
            </a:endParaRPr>
          </a:p>
          <a:p>
            <a:pPr lvl="1" algn="just">
              <a:spcAft>
                <a:spcPts val="1000"/>
              </a:spcAft>
            </a:pPr>
            <a:r>
              <a:rPr lang="en-US" sz="1700" b="1" dirty="0">
                <a:solidFill>
                  <a:schemeClr val="tx1"/>
                </a:solidFill>
              </a:rPr>
              <a:t>Stack: </a:t>
            </a:r>
            <a:r>
              <a:rPr lang="en-US" sz="1700" dirty="0">
                <a:solidFill>
                  <a:schemeClr val="tx1"/>
                </a:solidFill>
              </a:rPr>
              <a:t>It is the part of RAM used to implement stack.</a:t>
            </a:r>
            <a:endParaRPr lang="en-US" sz="1700" dirty="0">
              <a:solidFill>
                <a:schemeClr val="tx1"/>
              </a:solidFill>
            </a:endParaRPr>
          </a:p>
        </p:txBody>
      </p:sp>
      <p:pic>
        <p:nvPicPr>
          <p:cNvPr id="7" name="Picture 6"/>
          <p:cNvPicPr>
            <a:picLocks noChangeAspect="1"/>
          </p:cNvPicPr>
          <p:nvPr/>
        </p:nvPicPr>
        <p:blipFill>
          <a:blip r:embed="rId1"/>
          <a:stretch>
            <a:fillRect/>
          </a:stretch>
        </p:blipFill>
        <p:spPr>
          <a:xfrm>
            <a:off x="8210939" y="1670180"/>
            <a:ext cx="3822323" cy="377889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53373"/>
          </a:xfrm>
        </p:spPr>
        <p:txBody>
          <a:bodyPr/>
          <a:lstStyle/>
          <a:p>
            <a:pPr algn="ctr"/>
            <a:r>
              <a:rPr lang="en-IN" dirty="0">
                <a:solidFill>
                  <a:schemeClr val="tx1"/>
                </a:solidFill>
              </a:rPr>
              <a:t>memory Stack Organization</a:t>
            </a:r>
            <a:endParaRPr lang="en-IN" dirty="0">
              <a:solidFill>
                <a:schemeClr val="tx1"/>
              </a:solidFill>
            </a:endParaRPr>
          </a:p>
        </p:txBody>
      </p:sp>
      <p:sp>
        <p:nvSpPr>
          <p:cNvPr id="3" name="Text Placeholder 2"/>
          <p:cNvSpPr>
            <a:spLocks noGrp="1"/>
          </p:cNvSpPr>
          <p:nvPr>
            <p:ph type="body" idx="1"/>
          </p:nvPr>
        </p:nvSpPr>
        <p:spPr>
          <a:xfrm>
            <a:off x="721150" y="1947973"/>
            <a:ext cx="5194769" cy="557784"/>
          </a:xfrm>
        </p:spPr>
        <p:txBody>
          <a:bodyPr/>
          <a:lstStyle/>
          <a:p>
            <a:pPr algn="ctr"/>
            <a:r>
              <a:rPr lang="en-IN" b="1" dirty="0">
                <a:solidFill>
                  <a:schemeClr val="tx1"/>
                </a:solidFill>
              </a:rPr>
              <a:t>PUSH Operation</a:t>
            </a:r>
            <a:endParaRPr lang="en-IN" b="1" dirty="0">
              <a:solidFill>
                <a:schemeClr val="tx1"/>
              </a:solidFill>
            </a:endParaRPr>
          </a:p>
        </p:txBody>
      </p:sp>
      <p:sp>
        <p:nvSpPr>
          <p:cNvPr id="4" name="Content Placeholder 3"/>
          <p:cNvSpPr>
            <a:spLocks noGrp="1"/>
          </p:cNvSpPr>
          <p:nvPr>
            <p:ph sz="half" idx="2"/>
          </p:nvPr>
        </p:nvSpPr>
        <p:spPr>
          <a:xfrm>
            <a:off x="581194" y="2668557"/>
            <a:ext cx="5194766" cy="905068"/>
          </a:xfrm>
        </p:spPr>
        <p:style>
          <a:lnRef idx="2">
            <a:schemeClr val="accent2"/>
          </a:lnRef>
          <a:fillRef idx="1">
            <a:schemeClr val="lt1"/>
          </a:fillRef>
          <a:effectRef idx="0">
            <a:schemeClr val="accent2"/>
          </a:effectRef>
          <a:fontRef idx="minor">
            <a:schemeClr val="dk1"/>
          </a:fontRef>
        </p:style>
        <p:txBody>
          <a:bodyPr>
            <a:normAutofit/>
          </a:bodyPr>
          <a:lstStyle/>
          <a:p>
            <a:pPr marL="0" indent="0" algn="just">
              <a:buNone/>
            </a:pPr>
            <a:r>
              <a:rPr lang="en-US" b="1" dirty="0">
                <a:solidFill>
                  <a:srgbClr val="FF0000"/>
                </a:solidFill>
                <a:latin typeface="Avenir Next LT Pro Light" panose="020B0304020202020204" pitchFamily="34" charset="0"/>
              </a:rPr>
              <a:t>SP ← SP -1                                </a:t>
            </a:r>
            <a:r>
              <a:rPr lang="en-US" sz="1500" b="1" dirty="0">
                <a:solidFill>
                  <a:schemeClr val="tx1"/>
                </a:solidFill>
                <a:latin typeface="Avenir Next LT Pro Light" panose="020B0304020202020204" pitchFamily="34" charset="0"/>
              </a:rPr>
              <a:t>Decrement  stack  pointer </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M[SP] ← DR                               </a:t>
            </a:r>
            <a:r>
              <a:rPr lang="en-US" sz="1500" b="1" dirty="0">
                <a:solidFill>
                  <a:schemeClr val="tx1"/>
                </a:solidFill>
                <a:latin typeface="Avenir Next LT Pro Light" panose="020B0304020202020204" pitchFamily="34" charset="0"/>
              </a:rPr>
              <a:t>Write on top of the stack </a:t>
            </a:r>
            <a:endParaRPr lang="en-US" sz="1500" b="1" dirty="0">
              <a:solidFill>
                <a:schemeClr val="tx1"/>
              </a:solidFill>
              <a:latin typeface="Avenir Next LT Pro Light" panose="020B0304020202020204" pitchFamily="34" charset="0"/>
            </a:endParaRPr>
          </a:p>
        </p:txBody>
      </p:sp>
      <p:sp>
        <p:nvSpPr>
          <p:cNvPr id="5" name="Text Placeholder 4"/>
          <p:cNvSpPr>
            <a:spLocks noGrp="1"/>
          </p:cNvSpPr>
          <p:nvPr>
            <p:ph type="body" sz="quarter" idx="3"/>
          </p:nvPr>
        </p:nvSpPr>
        <p:spPr>
          <a:xfrm>
            <a:off x="6416038" y="1936518"/>
            <a:ext cx="5194770" cy="553373"/>
          </a:xfrm>
        </p:spPr>
        <p:txBody>
          <a:bodyPr/>
          <a:lstStyle/>
          <a:p>
            <a:pPr algn="ctr"/>
            <a:r>
              <a:rPr lang="en-IN" b="1" dirty="0">
                <a:solidFill>
                  <a:schemeClr val="tx1"/>
                </a:solidFill>
              </a:rPr>
              <a:t>POP Operation</a:t>
            </a:r>
            <a:endParaRPr lang="en-IN" b="1" dirty="0">
              <a:solidFill>
                <a:schemeClr val="tx1"/>
              </a:solidFill>
            </a:endParaRPr>
          </a:p>
        </p:txBody>
      </p:sp>
      <p:sp>
        <p:nvSpPr>
          <p:cNvPr id="6" name="Content Placeholder 5"/>
          <p:cNvSpPr>
            <a:spLocks noGrp="1"/>
          </p:cNvSpPr>
          <p:nvPr>
            <p:ph sz="quarter" idx="4"/>
          </p:nvPr>
        </p:nvSpPr>
        <p:spPr>
          <a:xfrm>
            <a:off x="6416038" y="2573420"/>
            <a:ext cx="5340534" cy="1000205"/>
          </a:xfrm>
        </p:spPr>
        <p:style>
          <a:lnRef idx="2">
            <a:schemeClr val="accent2"/>
          </a:lnRef>
          <a:fillRef idx="1">
            <a:schemeClr val="lt1"/>
          </a:fillRef>
          <a:effectRef idx="0">
            <a:schemeClr val="accent2"/>
          </a:effectRef>
          <a:fontRef idx="minor">
            <a:schemeClr val="dk1"/>
          </a:fontRef>
        </p:style>
        <p:txBody>
          <a:bodyPr>
            <a:normAutofit/>
          </a:bodyPr>
          <a:lstStyle/>
          <a:p>
            <a:pPr marL="0" indent="0" algn="just">
              <a:buNone/>
            </a:pPr>
            <a:r>
              <a:rPr lang="en-US" b="1" dirty="0">
                <a:solidFill>
                  <a:srgbClr val="FF0000"/>
                </a:solidFill>
                <a:latin typeface="Avenir Next LT Pro Light" panose="020B0304020202020204" pitchFamily="34" charset="0"/>
              </a:rPr>
              <a:t>DR </a:t>
            </a:r>
            <a:r>
              <a:rPr lang="en-US" b="1" dirty="0">
                <a:solidFill>
                  <a:srgbClr val="FF0000"/>
                </a:solidFill>
                <a:latin typeface="Franklin Gothic Book" panose="020B0503020102020204" pitchFamily="34" charset="0"/>
              </a:rPr>
              <a:t>← </a:t>
            </a:r>
            <a:r>
              <a:rPr lang="en-US" b="1" dirty="0">
                <a:solidFill>
                  <a:srgbClr val="FF0000"/>
                </a:solidFill>
                <a:latin typeface="Avenir Next LT Pro Light" panose="020B0304020202020204" pitchFamily="34" charset="0"/>
              </a:rPr>
              <a:t>M[SP]                        </a:t>
            </a:r>
            <a:r>
              <a:rPr lang="en-US" sz="1500" b="1" dirty="0">
                <a:solidFill>
                  <a:schemeClr val="tx1"/>
                </a:solidFill>
                <a:latin typeface="Avenir Next LT Pro Light" panose="020B0304020202020204" pitchFamily="34" charset="0"/>
              </a:rPr>
              <a:t>Read from the top of the stack </a:t>
            </a:r>
            <a:endParaRPr lang="en-US" sz="1500" b="1" dirty="0">
              <a:solidFill>
                <a:schemeClr val="tx1"/>
              </a:solidFill>
              <a:latin typeface="Avenir Next LT Pro Light" panose="020B0304020202020204" pitchFamily="34" charset="0"/>
            </a:endParaRPr>
          </a:p>
          <a:p>
            <a:pPr marL="0" indent="0" algn="just">
              <a:buNone/>
            </a:pPr>
            <a:r>
              <a:rPr lang="en-US" b="1" dirty="0">
                <a:solidFill>
                  <a:srgbClr val="FF0000"/>
                </a:solidFill>
                <a:latin typeface="Avenir Next LT Pro Light" panose="020B0304020202020204" pitchFamily="34" charset="0"/>
              </a:rPr>
              <a:t>SP</a:t>
            </a:r>
            <a:r>
              <a:rPr lang="en-US" b="1" dirty="0">
                <a:solidFill>
                  <a:srgbClr val="FF0000"/>
                </a:solidFill>
                <a:latin typeface="Franklin Gothic Book" panose="020B0503020102020204" pitchFamily="34" charset="0"/>
              </a:rPr>
              <a:t>← </a:t>
            </a:r>
            <a:r>
              <a:rPr lang="en-US" b="1" dirty="0">
                <a:solidFill>
                  <a:srgbClr val="FF0000"/>
                </a:solidFill>
                <a:latin typeface="Avenir Next LT Pro Light" panose="020B0304020202020204" pitchFamily="34" charset="0"/>
              </a:rPr>
              <a:t>SP + 1                          </a:t>
            </a:r>
            <a:r>
              <a:rPr lang="en-US" sz="1500" b="1" dirty="0">
                <a:solidFill>
                  <a:schemeClr val="tx1"/>
                </a:solidFill>
                <a:latin typeface="Avenir Next LT Pro Light" panose="020B0304020202020204" pitchFamily="34" charset="0"/>
              </a:rPr>
              <a:t>Increment the stack pointer</a:t>
            </a:r>
            <a:endParaRPr lang="en-US" b="1" dirty="0">
              <a:solidFill>
                <a:srgbClr val="FF0000"/>
              </a:solidFill>
              <a:latin typeface="Avenir Next LT Pro Light" panose="020B0304020202020204" pitchFamily="34" charset="0"/>
            </a:endParaRPr>
          </a:p>
        </p:txBody>
      </p:sp>
      <p:sp>
        <p:nvSpPr>
          <p:cNvPr id="7" name="Content Placeholder 3"/>
          <p:cNvSpPr txBox="1"/>
          <p:nvPr/>
        </p:nvSpPr>
        <p:spPr>
          <a:xfrm>
            <a:off x="581192" y="4136573"/>
            <a:ext cx="11175379" cy="136375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dk1"/>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dk1"/>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dk1"/>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dk1"/>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dk1"/>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dk1"/>
                </a:solidFill>
                <a:latin typeface="+mn-lt"/>
                <a:ea typeface="+mn-ea"/>
                <a:cs typeface="+mn-cs"/>
              </a:defRPr>
            </a:lvl9pPr>
          </a:lstStyle>
          <a:p>
            <a:pPr algn="just">
              <a:buFont typeface="Wingdings" panose="05000000000000000000" pitchFamily="2" charset="2"/>
              <a:buChar char="§"/>
            </a:pPr>
            <a:r>
              <a:rPr lang="en-US" dirty="0">
                <a:solidFill>
                  <a:schemeClr val="tx1"/>
                </a:solidFill>
              </a:rPr>
              <a:t>The</a:t>
            </a:r>
            <a:r>
              <a:rPr lang="en-US" b="1" dirty="0">
                <a:solidFill>
                  <a:schemeClr val="tx1"/>
                </a:solidFill>
              </a:rPr>
              <a:t> upper limit register </a:t>
            </a:r>
            <a:r>
              <a:rPr lang="en-US" dirty="0">
                <a:solidFill>
                  <a:schemeClr val="tx1"/>
                </a:solidFill>
              </a:rPr>
              <a:t>and </a:t>
            </a:r>
            <a:r>
              <a:rPr lang="en-US" b="1" dirty="0">
                <a:solidFill>
                  <a:schemeClr val="tx1"/>
                </a:solidFill>
              </a:rPr>
              <a:t>lower limit register </a:t>
            </a:r>
            <a:r>
              <a:rPr lang="en-US" dirty="0">
                <a:solidFill>
                  <a:schemeClr val="tx1"/>
                </a:solidFill>
              </a:rPr>
              <a:t>are used to check the stack’s overflow (Full) and underflow (Empty).</a:t>
            </a:r>
            <a:endParaRPr lang="en-US" dirty="0">
              <a:solidFill>
                <a:schemeClr val="tx1"/>
              </a:solidFill>
            </a:endParaRPr>
          </a:p>
          <a:p>
            <a:pPr algn="just">
              <a:buFont typeface="Wingdings" panose="05000000000000000000" pitchFamily="2" charset="2"/>
              <a:buChar char="§"/>
            </a:pPr>
            <a:r>
              <a:rPr lang="en-US" dirty="0">
                <a:solidFill>
                  <a:schemeClr val="tx1"/>
                </a:solidFill>
              </a:rPr>
              <a:t>Most computers do not provide hardware to check stack overflow (full stack) or underflow (empty stack). It must be done in the software</a:t>
            </a:r>
            <a:endParaRPr lang="en-US"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Reverse Polish Notation</a:t>
            </a:r>
            <a:endParaRPr lang="en-IN" dirty="0">
              <a:solidFill>
                <a:schemeClr val="tx1"/>
              </a:solidFill>
            </a:endParaRPr>
          </a:p>
        </p:txBody>
      </p:sp>
      <p:sp>
        <p:nvSpPr>
          <p:cNvPr id="5" name="Content Placeholder 2"/>
          <p:cNvSpPr>
            <a:spLocks noGrp="1"/>
          </p:cNvSpPr>
          <p:nvPr>
            <p:ph idx="1"/>
          </p:nvPr>
        </p:nvSpPr>
        <p:spPr>
          <a:xfrm>
            <a:off x="158738" y="1306286"/>
            <a:ext cx="11452071" cy="2916579"/>
          </a:xfrm>
          <a:ln>
            <a:round/>
          </a:ln>
        </p:spPr>
        <p:style>
          <a:lnRef idx="2">
            <a:schemeClr val="accent2"/>
          </a:lnRef>
          <a:fillRef idx="1">
            <a:schemeClr val="lt1"/>
          </a:fillRef>
          <a:effectRef idx="0">
            <a:schemeClr val="accent2"/>
          </a:effectRef>
          <a:fontRef idx="minor">
            <a:schemeClr val="dk1"/>
          </a:fontRef>
        </p:style>
        <p:txBody>
          <a:bodyPr>
            <a:normAutofit/>
          </a:bodyPr>
          <a:lstStyle/>
          <a:p>
            <a:pPr marL="0" indent="0" algn="ctr">
              <a:lnSpc>
                <a:spcPct val="100000"/>
              </a:lnSpc>
              <a:spcAft>
                <a:spcPts val="1000"/>
              </a:spcAft>
              <a:buNone/>
            </a:pPr>
            <a:r>
              <a:rPr lang="en-US" sz="2000" b="1" dirty="0">
                <a:solidFill>
                  <a:schemeClr val="tx1"/>
                </a:solidFill>
              </a:rPr>
              <a:t>Introduction</a:t>
            </a:r>
            <a:endParaRPr lang="en-US" sz="2000" b="1" dirty="0">
              <a:solidFill>
                <a:schemeClr val="tx1"/>
              </a:solidFill>
            </a:endParaRPr>
          </a:p>
          <a:p>
            <a:pPr algn="just">
              <a:lnSpc>
                <a:spcPct val="100000"/>
              </a:lnSpc>
              <a:spcAft>
                <a:spcPts val="1000"/>
              </a:spcAft>
            </a:pPr>
            <a:r>
              <a:rPr lang="en-US" sz="2000" dirty="0">
                <a:solidFill>
                  <a:schemeClr val="tx1"/>
                </a:solidFill>
              </a:rPr>
              <a:t>The stack organization is very effective in evaluating the arithmetic expression.</a:t>
            </a:r>
            <a:endParaRPr lang="en-US" sz="2000" dirty="0">
              <a:solidFill>
                <a:schemeClr val="tx1"/>
              </a:solidFill>
            </a:endParaRPr>
          </a:p>
          <a:p>
            <a:pPr algn="just">
              <a:lnSpc>
                <a:spcPct val="100000"/>
              </a:lnSpc>
              <a:spcAft>
                <a:spcPts val="1000"/>
              </a:spcAft>
            </a:pPr>
            <a:r>
              <a:rPr lang="en-US" sz="2000" dirty="0">
                <a:solidFill>
                  <a:schemeClr val="tx1"/>
                </a:solidFill>
              </a:rPr>
              <a:t>Computers found difficulties in evaluating common arithmetic mathematical expressions because they are represented in </a:t>
            </a:r>
            <a:r>
              <a:rPr lang="en-US" sz="2000" b="1" dirty="0">
                <a:solidFill>
                  <a:schemeClr val="tx1"/>
                </a:solidFill>
              </a:rPr>
              <a:t>“Infix notation” </a:t>
            </a:r>
            <a:r>
              <a:rPr lang="en-US" sz="2000" dirty="0">
                <a:solidFill>
                  <a:schemeClr val="tx1"/>
                </a:solidFill>
              </a:rPr>
              <a:t>(</a:t>
            </a:r>
            <a:r>
              <a:rPr lang="en-US" sz="2000" dirty="0" err="1">
                <a:solidFill>
                  <a:schemeClr val="tx1"/>
                </a:solidFill>
              </a:rPr>
              <a:t>Eg.</a:t>
            </a:r>
            <a:r>
              <a:rPr lang="en-US" sz="2000" dirty="0">
                <a:solidFill>
                  <a:schemeClr val="tx1"/>
                </a:solidFill>
              </a:rPr>
              <a:t> A+B*C+D).</a:t>
            </a:r>
            <a:endParaRPr lang="en-US" sz="2000" dirty="0">
              <a:solidFill>
                <a:schemeClr val="tx1"/>
              </a:solidFill>
            </a:endParaRPr>
          </a:p>
          <a:p>
            <a:pPr algn="just">
              <a:lnSpc>
                <a:spcPct val="100000"/>
              </a:lnSpc>
              <a:spcAft>
                <a:spcPts val="1000"/>
              </a:spcAft>
            </a:pPr>
            <a:r>
              <a:rPr lang="en-US" sz="2000" dirty="0">
                <a:solidFill>
                  <a:schemeClr val="tx1"/>
                </a:solidFill>
              </a:rPr>
              <a:t>The </a:t>
            </a:r>
            <a:r>
              <a:rPr lang="en-US" sz="2000" b="1" dirty="0">
                <a:solidFill>
                  <a:schemeClr val="tx1"/>
                </a:solidFill>
              </a:rPr>
              <a:t>Polish mathematician Lukasiewicz </a:t>
            </a:r>
            <a:r>
              <a:rPr lang="en-US" sz="2000" dirty="0">
                <a:solidFill>
                  <a:schemeClr val="tx1"/>
                </a:solidFill>
              </a:rPr>
              <a:t>demonstrated that arithmetic expressions can be represented in </a:t>
            </a:r>
            <a:r>
              <a:rPr lang="en-US" sz="2000" b="1" dirty="0">
                <a:solidFill>
                  <a:schemeClr val="tx1"/>
                </a:solidFill>
              </a:rPr>
              <a:t>prefix notation.</a:t>
            </a:r>
            <a:endParaRPr lang="en-US" sz="2000" dirty="0">
              <a:solidFill>
                <a:schemeClr val="tx1"/>
              </a:solidFill>
            </a:endParaRPr>
          </a:p>
        </p:txBody>
      </p:sp>
      <p:sp>
        <p:nvSpPr>
          <p:cNvPr id="3" name="Content Placeholder 2"/>
          <p:cNvSpPr txBox="1"/>
          <p:nvPr/>
        </p:nvSpPr>
        <p:spPr>
          <a:xfrm>
            <a:off x="158738" y="4505498"/>
            <a:ext cx="11452071" cy="2031077"/>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100000"/>
              </a:lnSpc>
              <a:spcAft>
                <a:spcPts val="1000"/>
              </a:spcAft>
              <a:buFont typeface="Wingdings 2" panose="05020102010507070707" pitchFamily="18" charset="2"/>
              <a:buNone/>
            </a:pPr>
            <a:r>
              <a:rPr lang="en-US" sz="2000" b="1" dirty="0">
                <a:solidFill>
                  <a:schemeClr val="tx1"/>
                </a:solidFill>
              </a:rPr>
              <a:t>Types of Notations</a:t>
            </a:r>
            <a:endParaRPr lang="en-US" sz="2000" b="1" dirty="0">
              <a:solidFill>
                <a:schemeClr val="tx1"/>
              </a:solidFill>
            </a:endParaRPr>
          </a:p>
          <a:p>
            <a:pPr algn="just">
              <a:lnSpc>
                <a:spcPct val="100000"/>
              </a:lnSpc>
              <a:spcAft>
                <a:spcPts val="1000"/>
              </a:spcAft>
            </a:pPr>
            <a:r>
              <a:rPr lang="en-US" sz="2000" dirty="0">
                <a:solidFill>
                  <a:schemeClr val="tx1"/>
                </a:solidFill>
              </a:rPr>
              <a:t>Infix notation (</a:t>
            </a:r>
            <a:r>
              <a:rPr lang="en-US" sz="2000" dirty="0" err="1">
                <a:solidFill>
                  <a:schemeClr val="tx1"/>
                </a:solidFill>
              </a:rPr>
              <a:t>Eg.</a:t>
            </a:r>
            <a:r>
              <a:rPr lang="en-US" sz="2000" dirty="0">
                <a:solidFill>
                  <a:schemeClr val="tx1"/>
                </a:solidFill>
              </a:rPr>
              <a:t> A+B)</a:t>
            </a:r>
            <a:endParaRPr lang="en-US" sz="2000" dirty="0">
              <a:solidFill>
                <a:schemeClr val="tx1"/>
              </a:solidFill>
            </a:endParaRPr>
          </a:p>
          <a:p>
            <a:pPr algn="just">
              <a:lnSpc>
                <a:spcPct val="100000"/>
              </a:lnSpc>
              <a:spcAft>
                <a:spcPts val="1000"/>
              </a:spcAft>
            </a:pPr>
            <a:r>
              <a:rPr lang="en-US" sz="2000" dirty="0">
                <a:solidFill>
                  <a:schemeClr val="tx1"/>
                </a:solidFill>
              </a:rPr>
              <a:t>Prefix notation or Polish notation (</a:t>
            </a:r>
            <a:r>
              <a:rPr lang="en-US" sz="2000" dirty="0" err="1">
                <a:solidFill>
                  <a:schemeClr val="tx1"/>
                </a:solidFill>
              </a:rPr>
              <a:t>Eg.</a:t>
            </a:r>
            <a:r>
              <a:rPr lang="en-US" sz="2000" dirty="0">
                <a:solidFill>
                  <a:schemeClr val="tx1"/>
                </a:solidFill>
              </a:rPr>
              <a:t> +AB)</a:t>
            </a:r>
            <a:endParaRPr lang="en-US" sz="2000" dirty="0">
              <a:solidFill>
                <a:schemeClr val="tx1"/>
              </a:solidFill>
            </a:endParaRPr>
          </a:p>
          <a:p>
            <a:pPr algn="just">
              <a:lnSpc>
                <a:spcPct val="100000"/>
              </a:lnSpc>
              <a:spcAft>
                <a:spcPts val="1000"/>
              </a:spcAft>
            </a:pPr>
            <a:r>
              <a:rPr lang="en-US" sz="2000" dirty="0">
                <a:solidFill>
                  <a:schemeClr val="tx1"/>
                </a:solidFill>
              </a:rPr>
              <a:t>Postfix notations or Reverse Polish Notation (</a:t>
            </a:r>
            <a:r>
              <a:rPr lang="en-US" sz="2000" dirty="0" err="1">
                <a:solidFill>
                  <a:schemeClr val="tx1"/>
                </a:solidFill>
              </a:rPr>
              <a:t>Eg.</a:t>
            </a:r>
            <a:r>
              <a:rPr lang="en-US" sz="2000" dirty="0">
                <a:solidFill>
                  <a:schemeClr val="tx1"/>
                </a:solidFill>
              </a:rPr>
              <a:t> AB+)</a:t>
            </a:r>
            <a:endParaRPr lang="en-US" sz="2000" dirty="0">
              <a:solidFill>
                <a:schemeClr val="tx1"/>
              </a:solidFill>
            </a:endParaRPr>
          </a:p>
        </p:txBody>
      </p:sp>
      <p:sp>
        <p:nvSpPr>
          <p:cNvPr id="6" name="Right Brace 5"/>
          <p:cNvSpPr/>
          <p:nvPr/>
        </p:nvSpPr>
        <p:spPr>
          <a:xfrm>
            <a:off x="5156718" y="5244256"/>
            <a:ext cx="401216" cy="59715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TextBox 7"/>
          <p:cNvSpPr txBox="1"/>
          <p:nvPr/>
        </p:nvSpPr>
        <p:spPr>
          <a:xfrm>
            <a:off x="5548811" y="5237291"/>
            <a:ext cx="1959428" cy="584775"/>
          </a:xfrm>
          <a:prstGeom prst="rect">
            <a:avLst/>
          </a:prstGeom>
          <a:noFill/>
        </p:spPr>
        <p:txBody>
          <a:bodyPr wrap="square" rtlCol="0">
            <a:spAutoFit/>
          </a:bodyPr>
          <a:lstStyle/>
          <a:p>
            <a:pPr algn="just"/>
            <a:r>
              <a:rPr lang="en-IN" sz="1600" dirty="0">
                <a:solidFill>
                  <a:srgbClr val="7030A0"/>
                </a:solidFill>
              </a:rPr>
              <a:t>Used by general register organization</a:t>
            </a:r>
            <a:endParaRPr lang="en-IN" sz="1600" dirty="0">
              <a:solidFill>
                <a:srgbClr val="7030A0"/>
              </a:solidFill>
            </a:endParaRPr>
          </a:p>
        </p:txBody>
      </p:sp>
      <p:sp>
        <p:nvSpPr>
          <p:cNvPr id="9" name="Right Brace 8"/>
          <p:cNvSpPr/>
          <p:nvPr/>
        </p:nvSpPr>
        <p:spPr>
          <a:xfrm>
            <a:off x="6321490" y="6054327"/>
            <a:ext cx="207035" cy="431876"/>
          </a:xfrm>
          <a:prstGeom prst="rightBrace">
            <a:avLst>
              <a:gd name="adj1" fmla="val 2500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p:cNvSpPr txBox="1"/>
          <p:nvPr/>
        </p:nvSpPr>
        <p:spPr>
          <a:xfrm>
            <a:off x="6652727" y="6016667"/>
            <a:ext cx="1959428" cy="584775"/>
          </a:xfrm>
          <a:prstGeom prst="rect">
            <a:avLst/>
          </a:prstGeom>
          <a:noFill/>
        </p:spPr>
        <p:txBody>
          <a:bodyPr wrap="square" rtlCol="0">
            <a:spAutoFit/>
          </a:bodyPr>
          <a:lstStyle/>
          <a:p>
            <a:pPr algn="just"/>
            <a:r>
              <a:rPr lang="en-IN" sz="1600" dirty="0">
                <a:solidFill>
                  <a:srgbClr val="7030A0"/>
                </a:solidFill>
              </a:rPr>
              <a:t>Used by </a:t>
            </a:r>
            <a:r>
              <a:rPr lang="en-IN" sz="1600" b="1" dirty="0">
                <a:solidFill>
                  <a:srgbClr val="7030A0"/>
                </a:solidFill>
              </a:rPr>
              <a:t>stack </a:t>
            </a:r>
            <a:r>
              <a:rPr lang="en-IN" sz="1600" dirty="0">
                <a:solidFill>
                  <a:srgbClr val="7030A0"/>
                </a:solidFill>
              </a:rPr>
              <a:t>organization</a:t>
            </a:r>
            <a:endParaRPr lang="en-IN" sz="1600" dirty="0">
              <a:solidFill>
                <a:srgbClr val="7030A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Reverse Polish Notation</a:t>
            </a:r>
            <a:endParaRPr lang="en-IN" dirty="0">
              <a:solidFill>
                <a:schemeClr val="tx1"/>
              </a:solidFill>
            </a:endParaRPr>
          </a:p>
        </p:txBody>
      </p:sp>
      <p:sp>
        <p:nvSpPr>
          <p:cNvPr id="5" name="Content Placeholder 2"/>
          <p:cNvSpPr>
            <a:spLocks noGrp="1"/>
          </p:cNvSpPr>
          <p:nvPr>
            <p:ph idx="1"/>
          </p:nvPr>
        </p:nvSpPr>
        <p:spPr>
          <a:xfrm>
            <a:off x="158738" y="1306286"/>
            <a:ext cx="11452071" cy="2916579"/>
          </a:xfrm>
          <a:ln>
            <a:round/>
          </a:ln>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lgn="just">
              <a:lnSpc>
                <a:spcPct val="100000"/>
              </a:lnSpc>
              <a:spcAft>
                <a:spcPts val="1000"/>
              </a:spcAft>
            </a:pPr>
            <a:r>
              <a:rPr lang="en-US" sz="2000" dirty="0">
                <a:solidFill>
                  <a:schemeClr val="tx1"/>
                </a:solidFill>
              </a:rPr>
              <a:t>Reverse Polish notation (RPN) is a method for conveying mathematical expressions without the use of </a:t>
            </a:r>
            <a:r>
              <a:rPr lang="en-US" sz="2000" b="1" dirty="0">
                <a:solidFill>
                  <a:schemeClr val="tx1"/>
                </a:solidFill>
              </a:rPr>
              <a:t>separators</a:t>
            </a:r>
            <a:r>
              <a:rPr lang="en-US" sz="2000" dirty="0">
                <a:solidFill>
                  <a:schemeClr val="tx1"/>
                </a:solidFill>
              </a:rPr>
              <a:t> such as brackets and parentheses.</a:t>
            </a:r>
            <a:endParaRPr lang="en-US" sz="2000" dirty="0">
              <a:solidFill>
                <a:schemeClr val="tx1"/>
              </a:solidFill>
            </a:endParaRPr>
          </a:p>
          <a:p>
            <a:pPr algn="just">
              <a:lnSpc>
                <a:spcPct val="100000"/>
              </a:lnSpc>
              <a:spcAft>
                <a:spcPts val="1000"/>
              </a:spcAft>
            </a:pPr>
            <a:r>
              <a:rPr lang="en-US" sz="2000" dirty="0">
                <a:solidFill>
                  <a:schemeClr val="tx1"/>
                </a:solidFill>
              </a:rPr>
              <a:t>In this notation, the operators follow their operands, hence removing the need for the brackets to define evaluation priority.</a:t>
            </a:r>
            <a:endParaRPr lang="en-US" sz="2000" dirty="0">
              <a:solidFill>
                <a:schemeClr val="tx1"/>
              </a:solidFill>
            </a:endParaRPr>
          </a:p>
          <a:p>
            <a:pPr algn="just">
              <a:lnSpc>
                <a:spcPct val="100000"/>
              </a:lnSpc>
              <a:spcAft>
                <a:spcPts val="1000"/>
              </a:spcAft>
            </a:pPr>
            <a:r>
              <a:rPr lang="en-US" sz="2000" dirty="0">
                <a:solidFill>
                  <a:schemeClr val="tx1"/>
                </a:solidFill>
              </a:rPr>
              <a:t>The operation is read from left to right but execution is done every time an operator is reached.</a:t>
            </a:r>
            <a:endParaRPr lang="en-US" sz="2000" dirty="0">
              <a:solidFill>
                <a:schemeClr val="tx1"/>
              </a:solidFill>
            </a:endParaRPr>
          </a:p>
          <a:p>
            <a:pPr algn="just">
              <a:lnSpc>
                <a:spcPct val="100000"/>
              </a:lnSpc>
              <a:spcAft>
                <a:spcPts val="1000"/>
              </a:spcAft>
            </a:pPr>
            <a:r>
              <a:rPr lang="en-US" sz="2000" dirty="0">
                <a:solidFill>
                  <a:schemeClr val="tx1"/>
                </a:solidFill>
              </a:rPr>
              <a:t>This notation is suited for </a:t>
            </a:r>
            <a:r>
              <a:rPr lang="en-US" sz="2000" b="1" dirty="0">
                <a:solidFill>
                  <a:schemeClr val="tx1"/>
                </a:solidFill>
              </a:rPr>
              <a:t>computers and calculators </a:t>
            </a:r>
            <a:r>
              <a:rPr lang="en-US" sz="2000" dirty="0">
                <a:solidFill>
                  <a:schemeClr val="tx1"/>
                </a:solidFill>
              </a:rPr>
              <a:t>since there are fewer characters to track and fewer operations to execute.</a:t>
            </a:r>
            <a:endParaRPr lang="en-US" sz="2000" dirty="0">
              <a:solidFill>
                <a:schemeClr val="tx1"/>
              </a:solidFill>
            </a:endParaRPr>
          </a:p>
          <a:p>
            <a:pPr algn="just">
              <a:lnSpc>
                <a:spcPct val="100000"/>
              </a:lnSpc>
              <a:spcAft>
                <a:spcPts val="1000"/>
              </a:spcAft>
            </a:pPr>
            <a:r>
              <a:rPr lang="en-US" sz="2000" dirty="0">
                <a:solidFill>
                  <a:schemeClr val="tx1"/>
                </a:solidFill>
              </a:rPr>
              <a:t>Reverse Polish notation is also known as postfix notation </a:t>
            </a:r>
            <a:endParaRPr lang="en-US" sz="2000" dirty="0">
              <a:solidFill>
                <a:schemeClr val="tx1"/>
              </a:solidFill>
            </a:endParaRPr>
          </a:p>
        </p:txBody>
      </p:sp>
      <p:sp>
        <p:nvSpPr>
          <p:cNvPr id="3" name="Content Placeholder 2"/>
          <p:cNvSpPr txBox="1"/>
          <p:nvPr/>
        </p:nvSpPr>
        <p:spPr>
          <a:xfrm>
            <a:off x="158738" y="4505498"/>
            <a:ext cx="11452071" cy="2031077"/>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100000"/>
              </a:lnSpc>
              <a:spcAft>
                <a:spcPts val="1000"/>
              </a:spcAft>
              <a:buFont typeface="Wingdings 2" panose="05020102010507070707" pitchFamily="18" charset="2"/>
              <a:buNone/>
            </a:pPr>
            <a:r>
              <a:rPr lang="en-US" sz="2000" b="1" dirty="0">
                <a:solidFill>
                  <a:schemeClr val="tx1"/>
                </a:solidFill>
              </a:rPr>
              <a:t>Example:</a:t>
            </a:r>
            <a:endParaRPr lang="en-US" sz="2000" b="1" dirty="0">
              <a:solidFill>
                <a:schemeClr val="tx1"/>
              </a:solidFill>
            </a:endParaRPr>
          </a:p>
          <a:p>
            <a:pPr algn="just">
              <a:lnSpc>
                <a:spcPct val="100000"/>
              </a:lnSpc>
              <a:spcAft>
                <a:spcPts val="1000"/>
              </a:spcAft>
            </a:pPr>
            <a:r>
              <a:rPr lang="en-US" sz="2000" dirty="0">
                <a:solidFill>
                  <a:schemeClr val="tx1"/>
                </a:solidFill>
              </a:rPr>
              <a:t>(A+B)*(C*(D+E)+F)</a:t>
            </a:r>
            <a:endParaRPr lang="en-US" sz="2000" dirty="0">
              <a:solidFill>
                <a:schemeClr val="tx1"/>
              </a:solidFill>
            </a:endParaRPr>
          </a:p>
          <a:p>
            <a:pPr algn="just">
              <a:lnSpc>
                <a:spcPct val="100000"/>
              </a:lnSpc>
              <a:spcAft>
                <a:spcPts val="1000"/>
              </a:spcAft>
            </a:pPr>
            <a:r>
              <a:rPr lang="en-US" sz="2000" dirty="0">
                <a:solidFill>
                  <a:schemeClr val="tx1"/>
                </a:solidFill>
              </a:rPr>
              <a:t>RPN is  AB+ DE+C*F+*</a:t>
            </a:r>
            <a:endParaRPr lang="en-US" sz="20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Evaluation of Arithmetic Expression</a:t>
            </a:r>
            <a:endParaRPr lang="en-IN" dirty="0">
              <a:solidFill>
                <a:schemeClr val="tx1"/>
              </a:solidFill>
            </a:endParaRPr>
          </a:p>
        </p:txBody>
      </p:sp>
      <p:sp>
        <p:nvSpPr>
          <p:cNvPr id="5" name="Content Placeholder 2"/>
          <p:cNvSpPr>
            <a:spLocks noGrp="1"/>
          </p:cNvSpPr>
          <p:nvPr>
            <p:ph idx="1"/>
          </p:nvPr>
        </p:nvSpPr>
        <p:spPr>
          <a:xfrm>
            <a:off x="158738" y="1306286"/>
            <a:ext cx="11452071" cy="1403663"/>
          </a:xfrm>
          <a:ln>
            <a:round/>
          </a:ln>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00000"/>
              </a:lnSpc>
              <a:spcAft>
                <a:spcPts val="1000"/>
              </a:spcAft>
            </a:pPr>
            <a:r>
              <a:rPr lang="en-US" sz="2000" b="1" dirty="0">
                <a:solidFill>
                  <a:schemeClr val="tx2"/>
                </a:solidFill>
              </a:rPr>
              <a:t>Let us consider an arithmetic expression: </a:t>
            </a:r>
            <a:r>
              <a:rPr lang="en-US" sz="2000" b="1" dirty="0">
                <a:solidFill>
                  <a:srgbClr val="FF0000"/>
                </a:solidFill>
              </a:rPr>
              <a:t>(3*4) + (5*6)</a:t>
            </a:r>
            <a:r>
              <a:rPr lang="en-US" sz="2000" b="1" dirty="0">
                <a:solidFill>
                  <a:schemeClr val="tx1"/>
                </a:solidFill>
              </a:rPr>
              <a:t>.</a:t>
            </a:r>
            <a:endParaRPr lang="en-US" sz="2000" b="1" dirty="0">
              <a:solidFill>
                <a:schemeClr val="tx1"/>
              </a:solidFill>
            </a:endParaRPr>
          </a:p>
          <a:p>
            <a:pPr algn="just">
              <a:lnSpc>
                <a:spcPct val="100000"/>
              </a:lnSpc>
              <a:spcAft>
                <a:spcPts val="1000"/>
              </a:spcAft>
            </a:pPr>
            <a:r>
              <a:rPr lang="en-US" sz="2000" b="1" dirty="0">
                <a:solidFill>
                  <a:schemeClr val="tx1"/>
                </a:solidFill>
              </a:rPr>
              <a:t>In Reverse Polish Notation: 34*56*+</a:t>
            </a:r>
            <a:endParaRPr lang="en-US" sz="2000" b="1" dirty="0">
              <a:solidFill>
                <a:srgbClr val="FF0000"/>
              </a:solidFill>
            </a:endParaRPr>
          </a:p>
        </p:txBody>
      </p:sp>
      <p:sp>
        <p:nvSpPr>
          <p:cNvPr id="3" name="Content Placeholder 2"/>
          <p:cNvSpPr txBox="1"/>
          <p:nvPr/>
        </p:nvSpPr>
        <p:spPr>
          <a:xfrm>
            <a:off x="158738" y="3092336"/>
            <a:ext cx="11452071" cy="3444240"/>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100000"/>
              </a:lnSpc>
              <a:spcAft>
                <a:spcPts val="1000"/>
              </a:spcAft>
              <a:buFont typeface="Wingdings 2" panose="05020102010507070707" pitchFamily="18" charset="2"/>
              <a:buNone/>
            </a:pPr>
            <a:r>
              <a:rPr lang="en-US" sz="2000" b="1" dirty="0">
                <a:solidFill>
                  <a:schemeClr val="tx1"/>
                </a:solidFill>
              </a:rPr>
              <a:t>Rules</a:t>
            </a:r>
            <a:endParaRPr lang="en-US" sz="2000" b="1" dirty="0">
              <a:solidFill>
                <a:schemeClr val="tx1"/>
              </a:solidFill>
            </a:endParaRPr>
          </a:p>
          <a:p>
            <a:pPr algn="just">
              <a:lnSpc>
                <a:spcPct val="100000"/>
              </a:lnSpc>
              <a:spcAft>
                <a:spcPts val="1000"/>
              </a:spcAft>
            </a:pPr>
            <a:r>
              <a:rPr lang="en-US" sz="2000" dirty="0">
                <a:solidFill>
                  <a:schemeClr val="tx1"/>
                </a:solidFill>
              </a:rPr>
              <a:t>In RPN, the numbers and operators are listed one after another, and an operator always acts on the </a:t>
            </a:r>
            <a:r>
              <a:rPr lang="en-US" sz="2000" b="1" dirty="0">
                <a:solidFill>
                  <a:schemeClr val="tx1"/>
                </a:solidFill>
              </a:rPr>
              <a:t>most recent number </a:t>
            </a:r>
            <a:r>
              <a:rPr lang="en-US" sz="2000" dirty="0">
                <a:solidFill>
                  <a:schemeClr val="tx1"/>
                </a:solidFill>
              </a:rPr>
              <a:t>in the list.</a:t>
            </a:r>
            <a:endParaRPr lang="en-US" sz="2000" dirty="0">
              <a:solidFill>
                <a:schemeClr val="tx1"/>
              </a:solidFill>
            </a:endParaRPr>
          </a:p>
          <a:p>
            <a:pPr algn="just">
              <a:lnSpc>
                <a:spcPct val="100000"/>
              </a:lnSpc>
              <a:spcAft>
                <a:spcPts val="1000"/>
              </a:spcAft>
            </a:pPr>
            <a:r>
              <a:rPr lang="en-US" sz="2000" dirty="0">
                <a:solidFill>
                  <a:schemeClr val="tx1"/>
                </a:solidFill>
              </a:rPr>
              <a:t>The numbers can be thought of as forming a stack, and the most recent number goes on the top of the stack.</a:t>
            </a:r>
            <a:endParaRPr lang="en-US" sz="2000" dirty="0">
              <a:solidFill>
                <a:schemeClr val="tx1"/>
              </a:solidFill>
            </a:endParaRPr>
          </a:p>
          <a:p>
            <a:pPr algn="just">
              <a:lnSpc>
                <a:spcPct val="100000"/>
              </a:lnSpc>
              <a:spcAft>
                <a:spcPts val="1000"/>
              </a:spcAft>
            </a:pPr>
            <a:r>
              <a:rPr lang="en-US" sz="2000" dirty="0">
                <a:solidFill>
                  <a:schemeClr val="tx1"/>
                </a:solidFill>
              </a:rPr>
              <a:t>An operator takes the appropriate number of arguments from the top of the stack and replaces them with the result of the operation.</a:t>
            </a:r>
            <a:endParaRPr lang="en-US" sz="20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Evaluation of Arithmetic Expression</a:t>
            </a:r>
            <a:endParaRPr lang="en-IN" dirty="0">
              <a:solidFill>
                <a:schemeClr val="tx1"/>
              </a:solidFill>
            </a:endParaRPr>
          </a:p>
        </p:txBody>
      </p:sp>
      <p:sp>
        <p:nvSpPr>
          <p:cNvPr id="5" name="Content Placeholder 2"/>
          <p:cNvSpPr>
            <a:spLocks noGrp="1"/>
          </p:cNvSpPr>
          <p:nvPr>
            <p:ph idx="1"/>
          </p:nvPr>
        </p:nvSpPr>
        <p:spPr>
          <a:xfrm>
            <a:off x="158738" y="1306286"/>
            <a:ext cx="11452071" cy="1403663"/>
          </a:xfrm>
          <a:ln>
            <a:round/>
          </a:ln>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00000"/>
              </a:lnSpc>
              <a:spcAft>
                <a:spcPts val="1000"/>
              </a:spcAft>
            </a:pPr>
            <a:r>
              <a:rPr lang="en-US" sz="2000" b="1" dirty="0">
                <a:solidFill>
                  <a:schemeClr val="tx2"/>
                </a:solidFill>
              </a:rPr>
              <a:t>Let us consider an arithmetic expression: </a:t>
            </a:r>
            <a:r>
              <a:rPr lang="en-US" sz="2000" b="1" dirty="0">
                <a:solidFill>
                  <a:srgbClr val="FF0000"/>
                </a:solidFill>
              </a:rPr>
              <a:t>(3*4) + (5*6)</a:t>
            </a:r>
            <a:r>
              <a:rPr lang="en-US" sz="2000" b="1" dirty="0">
                <a:solidFill>
                  <a:schemeClr val="tx1"/>
                </a:solidFill>
              </a:rPr>
              <a:t>.</a:t>
            </a:r>
            <a:endParaRPr lang="en-US" sz="2000" b="1" dirty="0">
              <a:solidFill>
                <a:schemeClr val="tx1"/>
              </a:solidFill>
            </a:endParaRPr>
          </a:p>
          <a:p>
            <a:pPr algn="just">
              <a:lnSpc>
                <a:spcPct val="100000"/>
              </a:lnSpc>
              <a:spcAft>
                <a:spcPts val="1000"/>
              </a:spcAft>
            </a:pPr>
            <a:r>
              <a:rPr lang="en-US" sz="2000" b="1" dirty="0">
                <a:solidFill>
                  <a:schemeClr val="tx1"/>
                </a:solidFill>
              </a:rPr>
              <a:t>In Reverse Polish Notation: 34*56*+</a:t>
            </a:r>
            <a:endParaRPr lang="en-US" sz="2000" b="1" dirty="0">
              <a:solidFill>
                <a:srgbClr val="FF0000"/>
              </a:solidFill>
            </a:endParaRPr>
          </a:p>
        </p:txBody>
      </p:sp>
      <p:sp>
        <p:nvSpPr>
          <p:cNvPr id="3" name="Content Placeholder 2"/>
          <p:cNvSpPr txBox="1"/>
          <p:nvPr/>
        </p:nvSpPr>
        <p:spPr>
          <a:xfrm>
            <a:off x="158738" y="3092336"/>
            <a:ext cx="11452071" cy="532013"/>
          </a:xfrm>
          <a:prstGeom prst="rect">
            <a:avLst/>
          </a:prstGeom>
        </p:spPr>
        <p:txBody>
          <a:bodyPr vert="horz" lIns="91440" tIns="45720" rIns="91440" bIns="45720" rtlCol="0" anchor="ctr">
            <a:normAutofit/>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100000"/>
              </a:lnSpc>
              <a:spcAft>
                <a:spcPts val="1000"/>
              </a:spcAft>
              <a:buFont typeface="Wingdings 2" panose="05020102010507070707" pitchFamily="18" charset="2"/>
              <a:buNone/>
            </a:pPr>
            <a:r>
              <a:rPr lang="en-US" sz="2000" b="1" dirty="0">
                <a:solidFill>
                  <a:schemeClr val="tx1"/>
                </a:solidFill>
              </a:rPr>
              <a:t>Stack representation</a:t>
            </a:r>
            <a:endParaRPr lang="en-US" sz="2000" b="1" dirty="0">
              <a:solidFill>
                <a:schemeClr val="tx1"/>
              </a:solidFill>
            </a:endParaRPr>
          </a:p>
        </p:txBody>
      </p:sp>
      <p:graphicFrame>
        <p:nvGraphicFramePr>
          <p:cNvPr id="4" name="Table 5"/>
          <p:cNvGraphicFramePr>
            <a:graphicFrameLocks noGrp="1"/>
          </p:cNvGraphicFramePr>
          <p:nvPr/>
        </p:nvGraphicFramePr>
        <p:xfrm>
          <a:off x="1324843" y="4206730"/>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endParaRPr lang="en-IN" dirty="0"/>
                    </a:p>
                  </a:txBody>
                  <a:tcPr/>
                </a:tc>
              </a:tr>
              <a:tr h="607537">
                <a:tc>
                  <a:txBody>
                    <a:bodyPr/>
                    <a:lstStyle/>
                    <a:p>
                      <a:endParaRPr lang="en-IN"/>
                    </a:p>
                  </a:txBody>
                  <a:tcPr/>
                </a:tc>
              </a:tr>
              <a:tr h="607537">
                <a:tc>
                  <a:txBody>
                    <a:bodyPr/>
                    <a:lstStyle/>
                    <a:p>
                      <a:endParaRPr lang="en-IN"/>
                    </a:p>
                  </a:txBody>
                  <a:tcPr/>
                </a:tc>
              </a:tr>
              <a:tr h="607537">
                <a:tc>
                  <a:txBody>
                    <a:bodyPr/>
                    <a:lstStyle/>
                    <a:p>
                      <a:pPr algn="ctr"/>
                      <a:r>
                        <a:rPr lang="en-IN" sz="2000" b="1" dirty="0">
                          <a:solidFill>
                            <a:srgbClr val="FF0000"/>
                          </a:solidFill>
                        </a:rPr>
                        <a:t>3</a:t>
                      </a:r>
                      <a:endParaRPr lang="en-IN" sz="2000" b="1" dirty="0">
                        <a:solidFill>
                          <a:srgbClr val="FF0000"/>
                        </a:solidFill>
                      </a:endParaRPr>
                    </a:p>
                  </a:txBody>
                  <a:tcPr anchor="ctr"/>
                </a:tc>
              </a:tr>
            </a:tbl>
          </a:graphicData>
        </a:graphic>
      </p:graphicFrame>
      <p:graphicFrame>
        <p:nvGraphicFramePr>
          <p:cNvPr id="6" name="Table 5"/>
          <p:cNvGraphicFramePr>
            <a:graphicFrameLocks noGrp="1"/>
          </p:cNvGraphicFramePr>
          <p:nvPr/>
        </p:nvGraphicFramePr>
        <p:xfrm>
          <a:off x="2565759" y="4206730"/>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endParaRPr lang="en-IN" dirty="0"/>
                    </a:p>
                  </a:txBody>
                  <a:tcPr/>
                </a:tc>
              </a:tr>
              <a:tr h="607537">
                <a:tc>
                  <a:txBody>
                    <a:bodyPr/>
                    <a:lstStyle/>
                    <a:p>
                      <a:endParaRPr lang="en-IN"/>
                    </a:p>
                  </a:txBody>
                  <a:tcPr/>
                </a:tc>
              </a:tr>
              <a:tr h="607537">
                <a:tc>
                  <a:txBody>
                    <a:bodyPr/>
                    <a:lstStyle/>
                    <a:p>
                      <a:pPr algn="ctr"/>
                      <a:r>
                        <a:rPr lang="en-IN" sz="2000" b="1" dirty="0">
                          <a:solidFill>
                            <a:srgbClr val="FF0000"/>
                          </a:solidFill>
                        </a:rPr>
                        <a:t>4</a:t>
                      </a:r>
                      <a:endParaRPr lang="en-IN" sz="2000" b="1" dirty="0">
                        <a:solidFill>
                          <a:srgbClr val="FF0000"/>
                        </a:solidFill>
                      </a:endParaRPr>
                    </a:p>
                  </a:txBody>
                  <a:tcPr anchor="ctr"/>
                </a:tc>
              </a:tr>
              <a:tr h="607537">
                <a:tc>
                  <a:txBody>
                    <a:bodyPr/>
                    <a:lstStyle/>
                    <a:p>
                      <a:pPr algn="ctr"/>
                      <a:r>
                        <a:rPr lang="en-IN" sz="2000" b="1" dirty="0">
                          <a:solidFill>
                            <a:srgbClr val="FF0000"/>
                          </a:solidFill>
                        </a:rPr>
                        <a:t>3</a:t>
                      </a:r>
                      <a:endParaRPr lang="en-IN" sz="2000" b="1" dirty="0">
                        <a:solidFill>
                          <a:srgbClr val="FF0000"/>
                        </a:solidFill>
                      </a:endParaRPr>
                    </a:p>
                  </a:txBody>
                  <a:tcPr anchor="ctr"/>
                </a:tc>
              </a:tr>
            </a:tbl>
          </a:graphicData>
        </a:graphic>
      </p:graphicFrame>
      <p:graphicFrame>
        <p:nvGraphicFramePr>
          <p:cNvPr id="7" name="Table 5"/>
          <p:cNvGraphicFramePr>
            <a:graphicFrameLocks noGrp="1"/>
          </p:cNvGraphicFramePr>
          <p:nvPr/>
        </p:nvGraphicFramePr>
        <p:xfrm>
          <a:off x="3833994" y="4191522"/>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pPr algn="ctr"/>
                      <a:endParaRPr lang="en-IN" sz="2000" dirty="0">
                        <a:solidFill>
                          <a:srgbClr val="FF0000"/>
                        </a:solidFill>
                      </a:endParaRPr>
                    </a:p>
                  </a:txBody>
                  <a:tcPr anchor="ctr"/>
                </a:tc>
              </a:tr>
              <a:tr h="607537">
                <a:tc>
                  <a:txBody>
                    <a:bodyPr/>
                    <a:lstStyle/>
                    <a:p>
                      <a:pPr algn="ctr"/>
                      <a:endParaRPr lang="en-IN" sz="2000">
                        <a:solidFill>
                          <a:srgbClr val="FF0000"/>
                        </a:solidFill>
                      </a:endParaRPr>
                    </a:p>
                  </a:txBody>
                  <a:tcPr anchor="ctr"/>
                </a:tc>
              </a:tr>
              <a:tr h="607537">
                <a:tc>
                  <a:txBody>
                    <a:bodyPr/>
                    <a:lstStyle/>
                    <a:p>
                      <a:pPr algn="ctr"/>
                      <a:endParaRPr lang="en-IN" sz="2000">
                        <a:solidFill>
                          <a:srgbClr val="FF0000"/>
                        </a:solidFill>
                      </a:endParaRPr>
                    </a:p>
                  </a:txBody>
                  <a:tcPr anchor="ctr"/>
                </a:tc>
              </a:tr>
              <a:tr h="607537">
                <a:tc>
                  <a:txBody>
                    <a:bodyPr/>
                    <a:lstStyle/>
                    <a:p>
                      <a:pPr algn="ctr"/>
                      <a:r>
                        <a:rPr lang="en-IN" sz="2000" dirty="0">
                          <a:solidFill>
                            <a:srgbClr val="FF0000"/>
                          </a:solidFill>
                        </a:rPr>
                        <a:t>12</a:t>
                      </a:r>
                      <a:endParaRPr lang="en-IN" sz="2000" dirty="0">
                        <a:solidFill>
                          <a:srgbClr val="FF0000"/>
                        </a:solidFill>
                      </a:endParaRPr>
                    </a:p>
                  </a:txBody>
                  <a:tcPr anchor="ctr"/>
                </a:tc>
              </a:tr>
            </a:tbl>
          </a:graphicData>
        </a:graphic>
      </p:graphicFrame>
      <p:graphicFrame>
        <p:nvGraphicFramePr>
          <p:cNvPr id="8" name="Table 5"/>
          <p:cNvGraphicFramePr>
            <a:graphicFrameLocks noGrp="1"/>
          </p:cNvGraphicFramePr>
          <p:nvPr/>
        </p:nvGraphicFramePr>
        <p:xfrm>
          <a:off x="5145385" y="4186720"/>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pPr algn="ctr"/>
                      <a:endParaRPr lang="en-IN" sz="2000" b="1" dirty="0">
                        <a:solidFill>
                          <a:srgbClr val="FF0000"/>
                        </a:solidFill>
                      </a:endParaRPr>
                    </a:p>
                  </a:txBody>
                  <a:tcPr anchor="ctr"/>
                </a:tc>
              </a:tr>
              <a:tr h="607537">
                <a:tc>
                  <a:txBody>
                    <a:bodyPr/>
                    <a:lstStyle/>
                    <a:p>
                      <a:pPr algn="ctr"/>
                      <a:endParaRPr lang="en-IN" sz="2000" b="1" dirty="0">
                        <a:solidFill>
                          <a:srgbClr val="FF0000"/>
                        </a:solidFill>
                      </a:endParaRPr>
                    </a:p>
                  </a:txBody>
                  <a:tcPr anchor="ctr"/>
                </a:tc>
              </a:tr>
              <a:tr h="607537">
                <a:tc>
                  <a:txBody>
                    <a:bodyPr/>
                    <a:lstStyle/>
                    <a:p>
                      <a:pPr algn="ctr"/>
                      <a:r>
                        <a:rPr lang="en-IN" sz="2000" b="1" dirty="0">
                          <a:solidFill>
                            <a:srgbClr val="FF0000"/>
                          </a:solidFill>
                        </a:rPr>
                        <a:t>5</a:t>
                      </a:r>
                      <a:endParaRPr lang="en-IN" sz="2000" b="1" dirty="0">
                        <a:solidFill>
                          <a:srgbClr val="FF0000"/>
                        </a:solidFill>
                      </a:endParaRPr>
                    </a:p>
                  </a:txBody>
                  <a:tcPr anchor="ctr"/>
                </a:tc>
              </a:tr>
              <a:tr h="607537">
                <a:tc>
                  <a:txBody>
                    <a:bodyPr/>
                    <a:lstStyle/>
                    <a:p>
                      <a:pPr algn="ctr"/>
                      <a:r>
                        <a:rPr lang="en-IN" sz="2000" b="1" dirty="0">
                          <a:solidFill>
                            <a:srgbClr val="FF0000"/>
                          </a:solidFill>
                        </a:rPr>
                        <a:t>12</a:t>
                      </a:r>
                      <a:endParaRPr lang="en-IN" sz="2000" b="1" dirty="0">
                        <a:solidFill>
                          <a:srgbClr val="FF0000"/>
                        </a:solidFill>
                      </a:endParaRPr>
                    </a:p>
                  </a:txBody>
                  <a:tcPr anchor="ctr"/>
                </a:tc>
              </a:tr>
            </a:tbl>
          </a:graphicData>
        </a:graphic>
      </p:graphicFrame>
      <p:graphicFrame>
        <p:nvGraphicFramePr>
          <p:cNvPr id="9" name="Table 5"/>
          <p:cNvGraphicFramePr>
            <a:graphicFrameLocks noGrp="1"/>
          </p:cNvGraphicFramePr>
          <p:nvPr/>
        </p:nvGraphicFramePr>
        <p:xfrm>
          <a:off x="6442585" y="4185800"/>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endParaRPr lang="en-IN" dirty="0"/>
                    </a:p>
                  </a:txBody>
                  <a:tcPr/>
                </a:tc>
              </a:tr>
              <a:tr h="607537">
                <a:tc>
                  <a:txBody>
                    <a:bodyPr/>
                    <a:lstStyle/>
                    <a:p>
                      <a:pPr algn="ctr"/>
                      <a:r>
                        <a:rPr lang="en-IN" sz="2000" dirty="0">
                          <a:solidFill>
                            <a:srgbClr val="FF0000"/>
                          </a:solidFill>
                        </a:rPr>
                        <a:t>6</a:t>
                      </a:r>
                      <a:endParaRPr lang="en-IN" sz="2000" dirty="0">
                        <a:solidFill>
                          <a:srgbClr val="FF0000"/>
                        </a:solidFill>
                      </a:endParaRPr>
                    </a:p>
                  </a:txBody>
                  <a:tcPr anchor="ctr"/>
                </a:tc>
              </a:tr>
              <a:tr h="607537">
                <a:tc>
                  <a:txBody>
                    <a:bodyPr/>
                    <a:lstStyle/>
                    <a:p>
                      <a:pPr algn="ctr"/>
                      <a:r>
                        <a:rPr lang="en-IN" sz="2000" b="1" dirty="0">
                          <a:solidFill>
                            <a:srgbClr val="FF0000"/>
                          </a:solidFill>
                        </a:rPr>
                        <a:t>5</a:t>
                      </a:r>
                      <a:endParaRPr lang="en-IN" sz="2000" b="1" dirty="0">
                        <a:solidFill>
                          <a:srgbClr val="FF0000"/>
                        </a:solidFill>
                      </a:endParaRPr>
                    </a:p>
                  </a:txBody>
                  <a:tcPr anchor="ctr"/>
                </a:tc>
              </a:tr>
              <a:tr h="607537">
                <a:tc>
                  <a:txBody>
                    <a:bodyPr/>
                    <a:lstStyle/>
                    <a:p>
                      <a:pPr algn="ctr"/>
                      <a:r>
                        <a:rPr lang="en-IN" sz="2000" b="1" dirty="0">
                          <a:solidFill>
                            <a:srgbClr val="FF0000"/>
                          </a:solidFill>
                        </a:rPr>
                        <a:t>12</a:t>
                      </a:r>
                      <a:endParaRPr lang="en-IN" sz="2000" b="1" dirty="0">
                        <a:solidFill>
                          <a:srgbClr val="FF0000"/>
                        </a:solidFill>
                      </a:endParaRPr>
                    </a:p>
                  </a:txBody>
                  <a:tcPr anchor="ctr"/>
                </a:tc>
              </a:tr>
            </a:tbl>
          </a:graphicData>
        </a:graphic>
      </p:graphicFrame>
      <p:graphicFrame>
        <p:nvGraphicFramePr>
          <p:cNvPr id="10" name="Table 5"/>
          <p:cNvGraphicFramePr>
            <a:graphicFrameLocks noGrp="1"/>
          </p:cNvGraphicFramePr>
          <p:nvPr/>
        </p:nvGraphicFramePr>
        <p:xfrm>
          <a:off x="7850446" y="4189253"/>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pPr algn="ctr"/>
                      <a:endParaRPr lang="en-IN" sz="2000" b="0" dirty="0"/>
                    </a:p>
                  </a:txBody>
                  <a:tcPr anchor="ctr"/>
                </a:tc>
              </a:tr>
              <a:tr h="607537">
                <a:tc>
                  <a:txBody>
                    <a:bodyPr/>
                    <a:lstStyle/>
                    <a:p>
                      <a:pPr algn="ctr"/>
                      <a:endParaRPr lang="en-IN" sz="2000" b="0"/>
                    </a:p>
                  </a:txBody>
                  <a:tcPr anchor="ctr"/>
                </a:tc>
              </a:tr>
              <a:tr h="607537">
                <a:tc>
                  <a:txBody>
                    <a:bodyPr/>
                    <a:lstStyle/>
                    <a:p>
                      <a:pPr algn="ctr"/>
                      <a:r>
                        <a:rPr lang="en-IN" sz="2000" b="1" dirty="0">
                          <a:solidFill>
                            <a:srgbClr val="FF0000"/>
                          </a:solidFill>
                        </a:rPr>
                        <a:t>30</a:t>
                      </a:r>
                      <a:endParaRPr lang="en-IN" sz="2000" b="1" dirty="0">
                        <a:solidFill>
                          <a:srgbClr val="FF0000"/>
                        </a:solidFill>
                      </a:endParaRPr>
                    </a:p>
                  </a:txBody>
                  <a:tcPr anchor="ctr"/>
                </a:tc>
              </a:tr>
              <a:tr h="607537">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sz="2000" b="0" dirty="0">
                          <a:solidFill>
                            <a:srgbClr val="FF0000"/>
                          </a:solidFill>
                        </a:rPr>
                        <a:t>12</a:t>
                      </a:r>
                      <a:endParaRPr lang="en-IN" sz="2000" b="0" dirty="0">
                        <a:solidFill>
                          <a:srgbClr val="FF0000"/>
                        </a:solidFill>
                      </a:endParaRPr>
                    </a:p>
                  </a:txBody>
                  <a:tcPr anchor="ctr"/>
                </a:tc>
              </a:tr>
            </a:tbl>
          </a:graphicData>
        </a:graphic>
      </p:graphicFrame>
      <p:graphicFrame>
        <p:nvGraphicFramePr>
          <p:cNvPr id="11" name="Table 5"/>
          <p:cNvGraphicFramePr>
            <a:graphicFrameLocks noGrp="1"/>
          </p:cNvGraphicFramePr>
          <p:nvPr/>
        </p:nvGraphicFramePr>
        <p:xfrm>
          <a:off x="9258307" y="4180541"/>
          <a:ext cx="910705" cy="2430148"/>
        </p:xfrm>
        <a:graphic>
          <a:graphicData uri="http://schemas.openxmlformats.org/drawingml/2006/table">
            <a:tbl>
              <a:tblPr firstRow="1" bandRow="1">
                <a:tableStyleId>{0505E3EF-67EA-436B-97B2-0124C06EBD24}</a:tableStyleId>
              </a:tblPr>
              <a:tblGrid>
                <a:gridCol w="910705"/>
              </a:tblGrid>
              <a:tr h="607537">
                <a:tc>
                  <a:txBody>
                    <a:bodyPr/>
                    <a:lstStyle/>
                    <a:p>
                      <a:endParaRPr lang="en-IN" dirty="0"/>
                    </a:p>
                  </a:txBody>
                  <a:tcPr/>
                </a:tc>
              </a:tr>
              <a:tr h="607537">
                <a:tc>
                  <a:txBody>
                    <a:bodyPr/>
                    <a:lstStyle/>
                    <a:p>
                      <a:endParaRPr lang="en-IN"/>
                    </a:p>
                  </a:txBody>
                  <a:tcPr/>
                </a:tc>
              </a:tr>
              <a:tr h="607537">
                <a:tc>
                  <a:txBody>
                    <a:bodyPr/>
                    <a:lstStyle/>
                    <a:p>
                      <a:endParaRPr lang="en-IN"/>
                    </a:p>
                  </a:txBody>
                  <a:tcPr/>
                </a:tc>
              </a:tr>
              <a:tr h="607537">
                <a:tc>
                  <a:txBody>
                    <a:bodyPr/>
                    <a:lstStyle/>
                    <a:p>
                      <a:pPr algn="ctr"/>
                      <a:r>
                        <a:rPr lang="en-IN" sz="2000" b="1" dirty="0">
                          <a:solidFill>
                            <a:srgbClr val="FF0000"/>
                          </a:solidFill>
                        </a:rPr>
                        <a:t>42</a:t>
                      </a:r>
                      <a:endParaRPr lang="en-IN" sz="2000" b="1" dirty="0">
                        <a:solidFill>
                          <a:srgbClr val="FF0000"/>
                        </a:solidFill>
                      </a:endParaRPr>
                    </a:p>
                  </a:txBody>
                  <a:tcPr anchor="ctr"/>
                </a:tc>
              </a:tr>
            </a:tbl>
          </a:graphicData>
        </a:graphic>
      </p:graphicFrame>
      <p:graphicFrame>
        <p:nvGraphicFramePr>
          <p:cNvPr id="13" name="Table 13"/>
          <p:cNvGraphicFramePr>
            <a:graphicFrameLocks noGrp="1"/>
          </p:cNvGraphicFramePr>
          <p:nvPr/>
        </p:nvGraphicFramePr>
        <p:xfrm>
          <a:off x="1404234" y="3596814"/>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3</a:t>
                      </a:r>
                      <a:endParaRPr lang="en-IN" dirty="0"/>
                    </a:p>
                  </a:txBody>
                  <a:tcPr anchor="ctr"/>
                </a:tc>
              </a:tr>
            </a:tbl>
          </a:graphicData>
        </a:graphic>
      </p:graphicFrame>
      <p:graphicFrame>
        <p:nvGraphicFramePr>
          <p:cNvPr id="14" name="Table 13"/>
          <p:cNvGraphicFramePr>
            <a:graphicFrameLocks noGrp="1"/>
          </p:cNvGraphicFramePr>
          <p:nvPr/>
        </p:nvGraphicFramePr>
        <p:xfrm>
          <a:off x="2651515" y="3573489"/>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4</a:t>
                      </a:r>
                      <a:endParaRPr lang="en-IN" dirty="0"/>
                    </a:p>
                  </a:txBody>
                  <a:tcPr anchor="ctr"/>
                </a:tc>
              </a:tr>
            </a:tbl>
          </a:graphicData>
        </a:graphic>
      </p:graphicFrame>
      <p:graphicFrame>
        <p:nvGraphicFramePr>
          <p:cNvPr id="15" name="Table 14"/>
          <p:cNvGraphicFramePr>
            <a:graphicFrameLocks noGrp="1"/>
          </p:cNvGraphicFramePr>
          <p:nvPr/>
        </p:nvGraphicFramePr>
        <p:xfrm>
          <a:off x="3919750" y="3571729"/>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a:t>
                      </a:r>
                      <a:endParaRPr lang="en-IN" dirty="0"/>
                    </a:p>
                  </a:txBody>
                  <a:tcPr anchor="ctr"/>
                </a:tc>
              </a:tr>
            </a:tbl>
          </a:graphicData>
        </a:graphic>
      </p:graphicFrame>
      <p:graphicFrame>
        <p:nvGraphicFramePr>
          <p:cNvPr id="16" name="Table 15"/>
          <p:cNvGraphicFramePr>
            <a:graphicFrameLocks noGrp="1"/>
          </p:cNvGraphicFramePr>
          <p:nvPr/>
        </p:nvGraphicFramePr>
        <p:xfrm>
          <a:off x="5231141" y="3596814"/>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5</a:t>
                      </a:r>
                      <a:endParaRPr lang="en-IN" dirty="0"/>
                    </a:p>
                  </a:txBody>
                  <a:tcPr anchor="ctr"/>
                </a:tc>
              </a:tr>
            </a:tbl>
          </a:graphicData>
        </a:graphic>
      </p:graphicFrame>
      <p:graphicFrame>
        <p:nvGraphicFramePr>
          <p:cNvPr id="17" name="Table 16"/>
          <p:cNvGraphicFramePr>
            <a:graphicFrameLocks noGrp="1"/>
          </p:cNvGraphicFramePr>
          <p:nvPr/>
        </p:nvGraphicFramePr>
        <p:xfrm>
          <a:off x="6528341" y="3571729"/>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6</a:t>
                      </a:r>
                      <a:endParaRPr lang="en-IN" dirty="0"/>
                    </a:p>
                  </a:txBody>
                  <a:tcPr anchor="ctr"/>
                </a:tc>
              </a:tr>
            </a:tbl>
          </a:graphicData>
        </a:graphic>
      </p:graphicFrame>
      <p:graphicFrame>
        <p:nvGraphicFramePr>
          <p:cNvPr id="18" name="Table 17"/>
          <p:cNvGraphicFramePr>
            <a:graphicFrameLocks noGrp="1"/>
          </p:cNvGraphicFramePr>
          <p:nvPr/>
        </p:nvGraphicFramePr>
        <p:xfrm>
          <a:off x="7936202" y="3590925"/>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a:t>
                      </a:r>
                      <a:endParaRPr lang="en-IN" dirty="0"/>
                    </a:p>
                  </a:txBody>
                  <a:tcPr anchor="ctr"/>
                </a:tc>
              </a:tr>
            </a:tbl>
          </a:graphicData>
        </a:graphic>
      </p:graphicFrame>
      <p:graphicFrame>
        <p:nvGraphicFramePr>
          <p:cNvPr id="19" name="Table 18"/>
          <p:cNvGraphicFramePr>
            <a:graphicFrameLocks noGrp="1"/>
          </p:cNvGraphicFramePr>
          <p:nvPr/>
        </p:nvGraphicFramePr>
        <p:xfrm>
          <a:off x="9344063" y="3544699"/>
          <a:ext cx="739192" cy="370840"/>
        </p:xfrm>
        <a:graphic>
          <a:graphicData uri="http://schemas.openxmlformats.org/drawingml/2006/table">
            <a:tbl>
              <a:tblPr firstRow="1" bandRow="1">
                <a:tableStyleId>{8799B23B-EC83-4686-B30A-512413B5E67A}</a:tableStyleId>
              </a:tblPr>
              <a:tblGrid>
                <a:gridCol w="739192"/>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dirty="0"/>
                        <a:t>+</a:t>
                      </a:r>
                      <a:endParaRPr lang="en-IN" dirty="0"/>
                    </a:p>
                  </a:txBody>
                  <a:tcPr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Processor Organization</a:t>
            </a:r>
            <a:endParaRPr lang="en-IN" dirty="0">
              <a:solidFill>
                <a:schemeClr val="tx1"/>
              </a:solidFill>
            </a:endParaRPr>
          </a:p>
        </p:txBody>
      </p:sp>
      <p:sp>
        <p:nvSpPr>
          <p:cNvPr id="5" name="Content Placeholder 2"/>
          <p:cNvSpPr>
            <a:spLocks noGrp="1"/>
          </p:cNvSpPr>
          <p:nvPr>
            <p:ph idx="1"/>
          </p:nvPr>
        </p:nvSpPr>
        <p:spPr>
          <a:xfrm>
            <a:off x="581193" y="1362270"/>
            <a:ext cx="11177956" cy="5243804"/>
          </a:xfrm>
        </p:spPr>
        <p:txBody>
          <a:bodyPr>
            <a:normAutofit/>
          </a:bodyPr>
          <a:lstStyle/>
          <a:p>
            <a:pPr algn="just">
              <a:lnSpc>
                <a:spcPct val="100000"/>
              </a:lnSpc>
              <a:spcAft>
                <a:spcPts val="1000"/>
              </a:spcAft>
            </a:pPr>
            <a:r>
              <a:rPr lang="en-US" sz="2000" dirty="0">
                <a:solidFill>
                  <a:schemeClr val="tx1"/>
                </a:solidFill>
              </a:rPr>
              <a:t>In general, most processors are organized in one of three ways:</a:t>
            </a:r>
            <a:endParaRPr lang="en-US" sz="2000" dirty="0">
              <a:solidFill>
                <a:schemeClr val="tx1"/>
              </a:solidFill>
            </a:endParaRPr>
          </a:p>
          <a:p>
            <a:pPr lvl="1" algn="just">
              <a:spcAft>
                <a:spcPts val="1000"/>
              </a:spcAft>
            </a:pPr>
            <a:r>
              <a:rPr lang="en-US" sz="1800" b="1" dirty="0">
                <a:solidFill>
                  <a:schemeClr val="tx1"/>
                </a:solidFill>
              </a:rPr>
              <a:t>Single register (Accumulator) organization</a:t>
            </a:r>
            <a:endParaRPr lang="en-US" sz="1800" b="1" dirty="0">
              <a:solidFill>
                <a:schemeClr val="tx1"/>
              </a:solidFill>
            </a:endParaRPr>
          </a:p>
          <a:p>
            <a:pPr lvl="2" algn="just">
              <a:spcAft>
                <a:spcPts val="1000"/>
              </a:spcAft>
            </a:pPr>
            <a:r>
              <a:rPr lang="en-US" sz="1500" dirty="0">
                <a:solidFill>
                  <a:schemeClr val="tx1"/>
                </a:solidFill>
              </a:rPr>
              <a:t>Basic Computer is a good example </a:t>
            </a:r>
            <a:endParaRPr lang="en-US" sz="1500" dirty="0">
              <a:solidFill>
                <a:schemeClr val="tx1"/>
              </a:solidFill>
            </a:endParaRPr>
          </a:p>
          <a:p>
            <a:pPr lvl="2" algn="just">
              <a:spcAft>
                <a:spcPts val="1000"/>
              </a:spcAft>
            </a:pPr>
            <a:r>
              <a:rPr lang="en-US" sz="1500" dirty="0">
                <a:solidFill>
                  <a:schemeClr val="tx1"/>
                </a:solidFill>
              </a:rPr>
              <a:t>Accumulator is the only general-purpose register</a:t>
            </a:r>
            <a:endParaRPr lang="en-US" sz="1500" dirty="0">
              <a:solidFill>
                <a:schemeClr val="tx1"/>
              </a:solidFill>
            </a:endParaRPr>
          </a:p>
          <a:p>
            <a:pPr lvl="1" algn="just">
              <a:spcAft>
                <a:spcPts val="1000"/>
              </a:spcAft>
            </a:pPr>
            <a:r>
              <a:rPr lang="en-US" sz="1800" b="1" dirty="0">
                <a:solidFill>
                  <a:schemeClr val="tx1"/>
                </a:solidFill>
              </a:rPr>
              <a:t>General register organization</a:t>
            </a:r>
            <a:endParaRPr lang="en-US" sz="1800" b="1" dirty="0">
              <a:solidFill>
                <a:schemeClr val="tx1"/>
              </a:solidFill>
            </a:endParaRPr>
          </a:p>
          <a:p>
            <a:pPr lvl="2" algn="just">
              <a:spcAft>
                <a:spcPts val="1000"/>
              </a:spcAft>
            </a:pPr>
            <a:r>
              <a:rPr lang="en-US" sz="1500" dirty="0">
                <a:solidFill>
                  <a:schemeClr val="tx1"/>
                </a:solidFill>
              </a:rPr>
              <a:t>Used by most modern computer processors </a:t>
            </a:r>
            <a:endParaRPr lang="en-US" sz="1500" dirty="0">
              <a:solidFill>
                <a:schemeClr val="tx1"/>
              </a:solidFill>
            </a:endParaRPr>
          </a:p>
          <a:p>
            <a:pPr lvl="2" algn="just">
              <a:spcAft>
                <a:spcPts val="1000"/>
              </a:spcAft>
            </a:pPr>
            <a:r>
              <a:rPr lang="en-US" sz="1500" dirty="0">
                <a:solidFill>
                  <a:schemeClr val="tx1"/>
                </a:solidFill>
              </a:rPr>
              <a:t>Any of the registers can be used as the source or destination for computer operations</a:t>
            </a:r>
            <a:endParaRPr lang="en-US" sz="1500" dirty="0">
              <a:solidFill>
                <a:schemeClr val="tx1"/>
              </a:solidFill>
            </a:endParaRPr>
          </a:p>
          <a:p>
            <a:pPr lvl="1" algn="just">
              <a:spcAft>
                <a:spcPts val="1000"/>
              </a:spcAft>
            </a:pPr>
            <a:r>
              <a:rPr lang="en-US" sz="1800" b="1" dirty="0">
                <a:solidFill>
                  <a:schemeClr val="tx1"/>
                </a:solidFill>
              </a:rPr>
              <a:t>Stack organization</a:t>
            </a:r>
            <a:endParaRPr lang="en-US" sz="1800" b="1" dirty="0">
              <a:solidFill>
                <a:schemeClr val="tx1"/>
              </a:solidFill>
            </a:endParaRPr>
          </a:p>
          <a:p>
            <a:pPr lvl="2" algn="just">
              <a:spcAft>
                <a:spcPts val="1000"/>
              </a:spcAft>
            </a:pPr>
            <a:r>
              <a:rPr lang="en-US" sz="1500" dirty="0">
                <a:solidFill>
                  <a:schemeClr val="tx1"/>
                </a:solidFill>
              </a:rPr>
              <a:t>All operations are done using the hardware stack</a:t>
            </a:r>
            <a:endParaRPr lang="en-US" sz="1500" dirty="0">
              <a:solidFill>
                <a:schemeClr val="tx1"/>
              </a:solidFill>
            </a:endParaRPr>
          </a:p>
          <a:p>
            <a:pPr lvl="2" algn="just">
              <a:spcAft>
                <a:spcPts val="1000"/>
              </a:spcAft>
            </a:pPr>
            <a:r>
              <a:rPr lang="en-US" sz="1500" dirty="0">
                <a:solidFill>
                  <a:schemeClr val="tx1"/>
                </a:solidFill>
              </a:rPr>
              <a:t>For example, an OR instruction will pop the two top elements from the stack, do a logical OR on them, and push the result on the stack</a:t>
            </a:r>
            <a:endParaRPr lang="en-US" sz="1500"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726409"/>
            <a:ext cx="11029616" cy="988332"/>
          </a:xfrm>
        </p:spPr>
        <p:txBody>
          <a:bodyPr/>
          <a:lstStyle/>
          <a:p>
            <a:pPr algn="ctr"/>
            <a:r>
              <a:rPr lang="en-IN" dirty="0">
                <a:solidFill>
                  <a:schemeClr val="tx1"/>
                </a:solidFill>
              </a:rPr>
              <a:t>3. </a:t>
            </a:r>
            <a:r>
              <a:rPr lang="en-US" sz="2800" dirty="0">
                <a:solidFill>
                  <a:schemeClr val="tx1"/>
                </a:solidFill>
              </a:rPr>
              <a:t>Instruction format </a:t>
            </a:r>
            <a:endParaRPr lang="en-IN"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Instruction Format</a:t>
            </a:r>
            <a:endParaRPr lang="en-IN" dirty="0">
              <a:solidFill>
                <a:schemeClr val="tx1"/>
              </a:solidFill>
            </a:endParaRPr>
          </a:p>
        </p:txBody>
      </p:sp>
      <p:sp>
        <p:nvSpPr>
          <p:cNvPr id="5" name="Content Placeholder 2"/>
          <p:cNvSpPr>
            <a:spLocks noGrp="1"/>
          </p:cNvSpPr>
          <p:nvPr>
            <p:ph idx="1"/>
          </p:nvPr>
        </p:nvSpPr>
        <p:spPr>
          <a:xfrm>
            <a:off x="581193" y="1362270"/>
            <a:ext cx="11177956" cy="5243804"/>
          </a:xfrm>
        </p:spPr>
        <p:txBody>
          <a:bodyPr>
            <a:normAutofit lnSpcReduction="10000"/>
          </a:bodyPr>
          <a:lstStyle/>
          <a:p>
            <a:pPr algn="just">
              <a:lnSpc>
                <a:spcPct val="100000"/>
              </a:lnSpc>
              <a:spcAft>
                <a:spcPts val="1000"/>
              </a:spcAft>
            </a:pPr>
            <a:r>
              <a:rPr lang="en-US" sz="2000" dirty="0">
                <a:solidFill>
                  <a:schemeClr val="tx1"/>
                </a:solidFill>
              </a:rPr>
              <a:t>In computer architecture, the </a:t>
            </a:r>
            <a:r>
              <a:rPr lang="en-US" sz="2000" dirty="0">
                <a:solidFill>
                  <a:srgbClr val="FF0000"/>
                </a:solidFill>
              </a:rPr>
              <a:t>instruction format </a:t>
            </a:r>
            <a:r>
              <a:rPr lang="en-US" sz="2000" dirty="0">
                <a:solidFill>
                  <a:schemeClr val="tx1"/>
                </a:solidFill>
              </a:rPr>
              <a:t>is defined as a standard machine instruction format that can be directly decoded and executed by the central processing unit ( CPU ). </a:t>
            </a:r>
            <a:endParaRPr lang="en-US" sz="2000" dirty="0">
              <a:solidFill>
                <a:schemeClr val="tx1"/>
              </a:solidFill>
            </a:endParaRPr>
          </a:p>
          <a:p>
            <a:pPr algn="just">
              <a:lnSpc>
                <a:spcPct val="100000"/>
              </a:lnSpc>
              <a:spcAft>
                <a:spcPts val="1000"/>
              </a:spcAft>
            </a:pPr>
            <a:r>
              <a:rPr lang="en-US" sz="2000" dirty="0">
                <a:solidFill>
                  <a:schemeClr val="tx1"/>
                </a:solidFill>
              </a:rPr>
              <a:t>The instruction format is simply a sequence of bits ( binary 0 or 1 ) contained in a machine instruction that defines the layout of the instruction. </a:t>
            </a:r>
            <a:endParaRPr lang="en-US" sz="2000" dirty="0">
              <a:solidFill>
                <a:schemeClr val="tx1"/>
              </a:solidFill>
            </a:endParaRPr>
          </a:p>
          <a:p>
            <a:pPr algn="just">
              <a:lnSpc>
                <a:spcPct val="100000"/>
              </a:lnSpc>
              <a:spcAft>
                <a:spcPts val="1000"/>
              </a:spcAft>
            </a:pPr>
            <a:r>
              <a:rPr lang="en-US" sz="2000" dirty="0">
                <a:solidFill>
                  <a:schemeClr val="tx1"/>
                </a:solidFill>
              </a:rPr>
              <a:t>The machine instruction contains the number of bits (patterns of 0 and 1 ). These bits are grouped together and called fields. </a:t>
            </a:r>
            <a:endParaRPr lang="en-US" sz="2000" dirty="0">
              <a:solidFill>
                <a:schemeClr val="tx1"/>
              </a:solidFill>
            </a:endParaRPr>
          </a:p>
          <a:p>
            <a:pPr algn="just">
              <a:lnSpc>
                <a:spcPct val="100000"/>
              </a:lnSpc>
              <a:spcAft>
                <a:spcPts val="1000"/>
              </a:spcAft>
            </a:pPr>
            <a:r>
              <a:rPr lang="en-US" sz="2000" dirty="0">
                <a:solidFill>
                  <a:schemeClr val="tx1"/>
                </a:solidFill>
              </a:rPr>
              <a:t>Each field of the machine instruction provides specific information to the CPU regarding the operation to be performed and the location of the data. </a:t>
            </a:r>
            <a:endParaRPr lang="en-US" sz="2000" dirty="0">
              <a:solidFill>
                <a:schemeClr val="tx1"/>
              </a:solidFill>
            </a:endParaRPr>
          </a:p>
          <a:p>
            <a:pPr algn="just">
              <a:lnSpc>
                <a:spcPct val="100000"/>
              </a:lnSpc>
              <a:spcAft>
                <a:spcPts val="1000"/>
              </a:spcAft>
            </a:pPr>
            <a:r>
              <a:rPr lang="en-US" sz="2000" dirty="0">
                <a:solidFill>
                  <a:schemeClr val="tx1"/>
                </a:solidFill>
              </a:rPr>
              <a:t>A instruction is of various lengths depending upon the number of addresses it contains. Generally, CPU organizations are of three types on the basis of the number of address fields:</a:t>
            </a:r>
            <a:endParaRPr lang="en-US" sz="2000" dirty="0">
              <a:solidFill>
                <a:schemeClr val="tx1"/>
              </a:solidFill>
            </a:endParaRPr>
          </a:p>
          <a:p>
            <a:pPr marL="666750" lvl="1" indent="-342900" algn="just">
              <a:spcAft>
                <a:spcPts val="1000"/>
              </a:spcAft>
              <a:buFont typeface="+mj-lt"/>
              <a:buAutoNum type="arabicPeriod"/>
            </a:pPr>
            <a:r>
              <a:rPr lang="en-US" sz="1700" dirty="0">
                <a:solidFill>
                  <a:schemeClr val="tx1"/>
                </a:solidFill>
              </a:rPr>
              <a:t>Single Accumulator organization</a:t>
            </a:r>
            <a:endParaRPr lang="en-US" sz="1700" dirty="0">
              <a:solidFill>
                <a:schemeClr val="tx1"/>
              </a:solidFill>
            </a:endParaRPr>
          </a:p>
          <a:p>
            <a:pPr marL="666750" lvl="1" indent="-342900" algn="just">
              <a:spcAft>
                <a:spcPts val="1000"/>
              </a:spcAft>
              <a:buFont typeface="+mj-lt"/>
              <a:buAutoNum type="arabicPeriod"/>
            </a:pPr>
            <a:r>
              <a:rPr lang="en-US" sz="1700" dirty="0">
                <a:solidFill>
                  <a:schemeClr val="tx1"/>
                </a:solidFill>
              </a:rPr>
              <a:t>General register organization</a:t>
            </a:r>
            <a:endParaRPr lang="en-US" sz="1700" dirty="0">
              <a:solidFill>
                <a:schemeClr val="tx1"/>
              </a:solidFill>
            </a:endParaRPr>
          </a:p>
          <a:p>
            <a:pPr marL="666750" lvl="1" indent="-342900" algn="just">
              <a:spcAft>
                <a:spcPts val="1000"/>
              </a:spcAft>
              <a:buFont typeface="+mj-lt"/>
              <a:buAutoNum type="arabicPeriod"/>
            </a:pPr>
            <a:r>
              <a:rPr lang="en-US" sz="1700" dirty="0">
                <a:solidFill>
                  <a:schemeClr val="tx1"/>
                </a:solidFill>
              </a:rPr>
              <a:t>Stack organization</a:t>
            </a:r>
            <a:endParaRPr lang="en-US" sz="1700" dirty="0">
              <a:solidFill>
                <a:schemeClr val="tx1"/>
              </a:solidFill>
            </a:endParaRPr>
          </a:p>
          <a:p>
            <a:pPr algn="just">
              <a:lnSpc>
                <a:spcPct val="100000"/>
              </a:lnSpc>
              <a:spcAft>
                <a:spcPts val="1000"/>
              </a:spcAft>
            </a:pPr>
            <a:endParaRPr lang="en-US" sz="20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627022"/>
            <a:ext cx="11029616" cy="427338"/>
          </a:xfrm>
        </p:spPr>
        <p:txBody>
          <a:bodyPr>
            <a:normAutofit fontScale="90000"/>
          </a:bodyPr>
          <a:lstStyle/>
          <a:p>
            <a:pPr algn="ctr"/>
            <a:r>
              <a:rPr lang="en-IN" dirty="0">
                <a:solidFill>
                  <a:schemeClr val="tx1"/>
                </a:solidFill>
              </a:rPr>
              <a:t> CPU Organization</a:t>
            </a:r>
            <a:endParaRPr lang="en-IN" dirty="0">
              <a:solidFill>
                <a:schemeClr val="tx1"/>
              </a:solidFill>
            </a:endParaRPr>
          </a:p>
        </p:txBody>
      </p:sp>
      <p:sp>
        <p:nvSpPr>
          <p:cNvPr id="5" name="Content Placeholder 2"/>
          <p:cNvSpPr>
            <a:spLocks noGrp="1"/>
          </p:cNvSpPr>
          <p:nvPr>
            <p:ph idx="1"/>
          </p:nvPr>
        </p:nvSpPr>
        <p:spPr>
          <a:xfrm>
            <a:off x="581193" y="1147665"/>
            <a:ext cx="11177956" cy="5355771"/>
          </a:xfrm>
        </p:spPr>
        <p:txBody>
          <a:bodyPr>
            <a:normAutofit fontScale="77500" lnSpcReduction="20000"/>
          </a:bodyPr>
          <a:lstStyle/>
          <a:p>
            <a:pPr marL="269875" indent="-269875" algn="just">
              <a:lnSpc>
                <a:spcPct val="100000"/>
              </a:lnSpc>
              <a:spcAft>
                <a:spcPts val="1000"/>
              </a:spcAft>
              <a:buFont typeface="+mj-lt"/>
              <a:buAutoNum type="arabicPeriod"/>
            </a:pPr>
            <a:r>
              <a:rPr lang="en-US" sz="2000" b="1" dirty="0">
                <a:solidFill>
                  <a:schemeClr val="tx1"/>
                </a:solidFill>
              </a:rPr>
              <a:t>Single Accumulator Organization</a:t>
            </a:r>
            <a:endParaRPr lang="en-US" sz="2000" b="1" dirty="0">
              <a:solidFill>
                <a:schemeClr val="tx1"/>
              </a:solidFill>
            </a:endParaRPr>
          </a:p>
          <a:p>
            <a:pPr lvl="1" algn="just">
              <a:spcAft>
                <a:spcPts val="1000"/>
              </a:spcAft>
            </a:pPr>
            <a:r>
              <a:rPr lang="en-US" sz="1900" dirty="0">
                <a:solidFill>
                  <a:schemeClr val="tx1"/>
                </a:solidFill>
              </a:rPr>
              <a:t>All the operations on a system are performed with an implied accumulator register. The instruction format in this type of computer uses one address field. </a:t>
            </a:r>
            <a:endParaRPr lang="en-US" sz="1900" dirty="0">
              <a:solidFill>
                <a:schemeClr val="tx1"/>
              </a:solidFill>
            </a:endParaRPr>
          </a:p>
          <a:p>
            <a:pPr lvl="1" algn="just">
              <a:spcAft>
                <a:spcPts val="1000"/>
              </a:spcAft>
            </a:pPr>
            <a:r>
              <a:rPr lang="en-US" sz="1900" dirty="0">
                <a:solidFill>
                  <a:schemeClr val="tx1"/>
                </a:solidFill>
              </a:rPr>
              <a:t>For example, the instruction for arithmetic addition is defined by an assembly language instruction ‘ADD.’  Where X is the operand’s address, the ADD instruction results in the operation. </a:t>
            </a:r>
            <a:endParaRPr lang="en-US" sz="1900" dirty="0">
              <a:solidFill>
                <a:schemeClr val="tx1"/>
              </a:solidFill>
            </a:endParaRPr>
          </a:p>
          <a:p>
            <a:pPr marL="1296035" lvl="4" indent="0" algn="just">
              <a:spcAft>
                <a:spcPts val="1000"/>
              </a:spcAft>
              <a:buNone/>
            </a:pPr>
            <a:r>
              <a:rPr lang="en-US" sz="1900" dirty="0">
                <a:solidFill>
                  <a:schemeClr val="tx1"/>
                </a:solidFill>
              </a:rPr>
              <a:t>AC ← AC + M[X].</a:t>
            </a:r>
            <a:endParaRPr lang="en-US" sz="1900" dirty="0">
              <a:solidFill>
                <a:schemeClr val="tx1"/>
              </a:solidFill>
            </a:endParaRPr>
          </a:p>
          <a:p>
            <a:pPr lvl="1" algn="just">
              <a:spcAft>
                <a:spcPts val="1600"/>
              </a:spcAft>
            </a:pPr>
            <a:r>
              <a:rPr lang="en-US" sz="1900" dirty="0">
                <a:solidFill>
                  <a:schemeClr val="tx1"/>
                </a:solidFill>
              </a:rPr>
              <a:t>AC is the accumulator register, and M[X] symbolizes the memory word located at address X. </a:t>
            </a:r>
            <a:endParaRPr lang="en-US" sz="1900" b="1" dirty="0">
              <a:solidFill>
                <a:schemeClr val="tx1"/>
              </a:solidFill>
            </a:endParaRPr>
          </a:p>
          <a:p>
            <a:pPr marL="269875" indent="-269875" algn="just">
              <a:lnSpc>
                <a:spcPct val="100000"/>
              </a:lnSpc>
              <a:spcAft>
                <a:spcPts val="1000"/>
              </a:spcAft>
              <a:buFont typeface="+mj-lt"/>
              <a:buAutoNum type="arabicPeriod"/>
            </a:pPr>
            <a:r>
              <a:rPr lang="en-US" sz="2000" b="1" dirty="0">
                <a:solidFill>
                  <a:schemeClr val="tx1"/>
                </a:solidFill>
              </a:rPr>
              <a:t>General Register Organization</a:t>
            </a:r>
            <a:endParaRPr lang="en-US" sz="2000" b="1" dirty="0">
              <a:solidFill>
                <a:schemeClr val="tx1"/>
              </a:solidFill>
            </a:endParaRPr>
          </a:p>
          <a:p>
            <a:pPr lvl="1" algn="just">
              <a:spcAft>
                <a:spcPts val="1000"/>
              </a:spcAft>
            </a:pPr>
            <a:r>
              <a:rPr lang="en-US" sz="1900" dirty="0">
                <a:solidFill>
                  <a:schemeClr val="tx1"/>
                </a:solidFill>
              </a:rPr>
              <a:t>The general register type computers employ two or three address fields in their instruction format. Each address field specifies a processor register or a memory. </a:t>
            </a:r>
            <a:endParaRPr lang="en-US" sz="1900" dirty="0">
              <a:solidFill>
                <a:schemeClr val="tx1"/>
              </a:solidFill>
            </a:endParaRPr>
          </a:p>
          <a:p>
            <a:pPr lvl="1" algn="just">
              <a:spcAft>
                <a:spcPts val="1000"/>
              </a:spcAft>
            </a:pPr>
            <a:r>
              <a:rPr lang="en-US" sz="1900" dirty="0">
                <a:solidFill>
                  <a:schemeClr val="tx1"/>
                </a:solidFill>
              </a:rPr>
              <a:t>An instruction symbolized by ADD R1, X specifies the operation R1 ← R1 + M [X]. </a:t>
            </a:r>
            <a:endParaRPr lang="en-US" sz="1900" dirty="0">
              <a:solidFill>
                <a:schemeClr val="tx1"/>
              </a:solidFill>
            </a:endParaRPr>
          </a:p>
          <a:p>
            <a:pPr lvl="1" algn="just">
              <a:spcAft>
                <a:spcPts val="1000"/>
              </a:spcAft>
            </a:pPr>
            <a:r>
              <a:rPr lang="en-US" sz="1900" dirty="0">
                <a:solidFill>
                  <a:schemeClr val="tx1"/>
                </a:solidFill>
              </a:rPr>
              <a:t>This instruction has two address fields: register R1 and memory address X.  </a:t>
            </a:r>
            <a:endParaRPr lang="en-US" sz="1900" dirty="0">
              <a:solidFill>
                <a:schemeClr val="tx1"/>
              </a:solidFill>
            </a:endParaRPr>
          </a:p>
          <a:p>
            <a:pPr marL="269875" indent="-269875" algn="just">
              <a:lnSpc>
                <a:spcPct val="100000"/>
              </a:lnSpc>
              <a:spcAft>
                <a:spcPts val="1000"/>
              </a:spcAft>
              <a:buFont typeface="+mj-lt"/>
              <a:buAutoNum type="arabicPeriod"/>
            </a:pPr>
            <a:r>
              <a:rPr lang="en-US" sz="2000" b="1" dirty="0">
                <a:solidFill>
                  <a:schemeClr val="tx1"/>
                </a:solidFill>
              </a:rPr>
              <a:t>Stack Organization</a:t>
            </a:r>
            <a:endParaRPr lang="en-US" sz="2000" b="1" dirty="0">
              <a:solidFill>
                <a:schemeClr val="tx1"/>
              </a:solidFill>
            </a:endParaRPr>
          </a:p>
          <a:p>
            <a:pPr lvl="1" algn="just">
              <a:spcAft>
                <a:spcPts val="1000"/>
              </a:spcAft>
            </a:pPr>
            <a:r>
              <a:rPr lang="en-US" sz="1900" dirty="0">
                <a:solidFill>
                  <a:schemeClr val="tx1"/>
                </a:solidFill>
              </a:rPr>
              <a:t>A computer with a stack organization has PUSH and POP instructions that require an address field.  Hence, the instruction PUSH X pushes the word at address X to the top of the stack. The stack pointer updates automatically. </a:t>
            </a:r>
            <a:endParaRPr lang="en-US" sz="1900" dirty="0">
              <a:solidFill>
                <a:schemeClr val="tx1"/>
              </a:solidFill>
            </a:endParaRPr>
          </a:p>
          <a:p>
            <a:pPr lvl="1" algn="just">
              <a:spcAft>
                <a:spcPts val="1000"/>
              </a:spcAft>
            </a:pPr>
            <a:r>
              <a:rPr lang="en-US" sz="1900" dirty="0">
                <a:solidFill>
                  <a:schemeClr val="tx1"/>
                </a:solidFill>
              </a:rPr>
              <a:t>In stack-organized computers, the operation type instructions don’t require an address field as the operation is performed on the two items on the top of the stack.</a:t>
            </a:r>
            <a:endParaRPr lang="en-US" sz="1900"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73991"/>
          </a:xfrm>
        </p:spPr>
        <p:txBody>
          <a:bodyPr>
            <a:normAutofit fontScale="90000"/>
          </a:bodyPr>
          <a:lstStyle/>
          <a:p>
            <a:pPr algn="ctr"/>
            <a:r>
              <a:rPr lang="en-IN" dirty="0">
                <a:solidFill>
                  <a:schemeClr val="tx1"/>
                </a:solidFill>
              </a:rPr>
              <a:t>Instruction Format Representation</a:t>
            </a:r>
            <a:endParaRPr lang="en-IN" dirty="0">
              <a:solidFill>
                <a:schemeClr val="tx1"/>
              </a:solidFill>
            </a:endParaRPr>
          </a:p>
        </p:txBody>
      </p:sp>
      <p:sp>
        <p:nvSpPr>
          <p:cNvPr id="5" name="Content Placeholder 2"/>
          <p:cNvSpPr>
            <a:spLocks noGrp="1"/>
          </p:cNvSpPr>
          <p:nvPr>
            <p:ph idx="1"/>
          </p:nvPr>
        </p:nvSpPr>
        <p:spPr>
          <a:xfrm>
            <a:off x="581193" y="1362270"/>
            <a:ext cx="11177956" cy="1455575"/>
          </a:xfrm>
        </p:spPr>
        <p:txBody>
          <a:bodyPr>
            <a:normAutofit/>
          </a:bodyPr>
          <a:lstStyle/>
          <a:p>
            <a:pPr algn="just">
              <a:lnSpc>
                <a:spcPct val="100000"/>
              </a:lnSpc>
              <a:spcAft>
                <a:spcPts val="1000"/>
              </a:spcAft>
            </a:pPr>
            <a:r>
              <a:rPr lang="en-US" sz="2000" dirty="0">
                <a:solidFill>
                  <a:schemeClr val="tx1"/>
                </a:solidFill>
              </a:rPr>
              <a:t>Instruction format is a sequence of bits contained int the machine instruction that defines the layout of an instruction.</a:t>
            </a:r>
            <a:endParaRPr lang="en-US" sz="2000" dirty="0">
              <a:solidFill>
                <a:schemeClr val="tx1"/>
              </a:solidFill>
            </a:endParaRPr>
          </a:p>
        </p:txBody>
      </p:sp>
      <p:pic>
        <p:nvPicPr>
          <p:cNvPr id="6" name="Picture 5"/>
          <p:cNvPicPr>
            <a:picLocks noChangeAspect="1"/>
          </p:cNvPicPr>
          <p:nvPr/>
        </p:nvPicPr>
        <p:blipFill>
          <a:blip r:embed="rId1"/>
          <a:stretch>
            <a:fillRect/>
          </a:stretch>
        </p:blipFill>
        <p:spPr>
          <a:xfrm>
            <a:off x="158621" y="2565060"/>
            <a:ext cx="12192000" cy="389258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869618"/>
            <a:ext cx="11029616" cy="427338"/>
          </a:xfrm>
        </p:spPr>
        <p:txBody>
          <a:bodyPr>
            <a:normAutofit fontScale="90000"/>
          </a:bodyPr>
          <a:lstStyle/>
          <a:p>
            <a:pPr algn="ctr"/>
            <a:r>
              <a:rPr lang="en-IN" dirty="0">
                <a:solidFill>
                  <a:schemeClr val="tx1"/>
                </a:solidFill>
              </a:rPr>
              <a:t>Instruction Format Type</a:t>
            </a:r>
            <a:endParaRPr lang="en-IN" dirty="0">
              <a:solidFill>
                <a:schemeClr val="tx1"/>
              </a:solidFill>
            </a:endParaRPr>
          </a:p>
        </p:txBody>
      </p:sp>
      <p:sp>
        <p:nvSpPr>
          <p:cNvPr id="5" name="Content Placeholder 2"/>
          <p:cNvSpPr>
            <a:spLocks noGrp="1"/>
          </p:cNvSpPr>
          <p:nvPr>
            <p:ph idx="1"/>
          </p:nvPr>
        </p:nvSpPr>
        <p:spPr>
          <a:xfrm>
            <a:off x="581193" y="1446245"/>
            <a:ext cx="11177956" cy="5057191"/>
          </a:xfrm>
        </p:spPr>
        <p:txBody>
          <a:bodyPr>
            <a:normAutofit/>
          </a:bodyPr>
          <a:lstStyle/>
          <a:p>
            <a:pPr algn="just">
              <a:lnSpc>
                <a:spcPct val="100000"/>
              </a:lnSpc>
              <a:spcAft>
                <a:spcPts val="1000"/>
              </a:spcAft>
            </a:pPr>
            <a:r>
              <a:rPr lang="en-US" sz="2000" dirty="0">
                <a:solidFill>
                  <a:schemeClr val="tx1"/>
                </a:solidFill>
              </a:rPr>
              <a:t>The set of instructions that manages the operation codes is called the format of instruction. The design of bits in instruction is supported by the format of instruction. </a:t>
            </a:r>
            <a:endParaRPr lang="en-US" sz="2000" dirty="0">
              <a:solidFill>
                <a:schemeClr val="tx1"/>
              </a:solidFill>
            </a:endParaRPr>
          </a:p>
          <a:p>
            <a:pPr algn="just">
              <a:lnSpc>
                <a:spcPct val="100000"/>
              </a:lnSpc>
              <a:spcAft>
                <a:spcPts val="1000"/>
              </a:spcAft>
            </a:pPr>
            <a:r>
              <a:rPr lang="en-US" sz="2000" dirty="0">
                <a:solidFill>
                  <a:schemeClr val="tx1"/>
                </a:solidFill>
              </a:rPr>
              <a:t>The length of instruction is generally preserved in multiples of character, which is 8 bits. Depending upon the number of addresses, the format of instruction is of variable length.</a:t>
            </a:r>
            <a:endParaRPr lang="en-US" sz="2000" dirty="0">
              <a:solidFill>
                <a:schemeClr val="tx1"/>
              </a:solidFill>
            </a:endParaRPr>
          </a:p>
          <a:p>
            <a:pPr algn="just">
              <a:lnSpc>
                <a:spcPct val="100000"/>
              </a:lnSpc>
              <a:spcAft>
                <a:spcPts val="1000"/>
              </a:spcAft>
            </a:pPr>
            <a:r>
              <a:rPr lang="en-US" sz="2000" dirty="0">
                <a:solidFill>
                  <a:schemeClr val="tx1"/>
                </a:solidFill>
              </a:rPr>
              <a:t> </a:t>
            </a:r>
            <a:r>
              <a:rPr lang="en-US" sz="2000" dirty="0">
                <a:solidFill>
                  <a:srgbClr val="FF0000"/>
                </a:solidFill>
              </a:rPr>
              <a:t>Types of instruction format include:</a:t>
            </a:r>
            <a:endParaRPr lang="en-US" sz="1700" b="1" dirty="0">
              <a:solidFill>
                <a:srgbClr val="FF0000"/>
              </a:solidFill>
            </a:endParaRPr>
          </a:p>
          <a:p>
            <a:pPr marL="593725" lvl="1" indent="-269875" algn="just">
              <a:spcAft>
                <a:spcPts val="1000"/>
              </a:spcAft>
              <a:buFont typeface="+mj-lt"/>
              <a:buAutoNum type="arabicPeriod"/>
            </a:pPr>
            <a:r>
              <a:rPr lang="en-US" sz="1700" b="1" dirty="0">
                <a:solidFill>
                  <a:schemeClr val="tx1"/>
                </a:solidFill>
              </a:rPr>
              <a:t> Zero(0) Address Instruction format</a:t>
            </a:r>
            <a:endParaRPr lang="en-US" sz="1700" b="1" dirty="0">
              <a:solidFill>
                <a:schemeClr val="tx1"/>
              </a:solidFill>
            </a:endParaRPr>
          </a:p>
          <a:p>
            <a:pPr marL="593725" lvl="1" indent="-269875" algn="just">
              <a:spcAft>
                <a:spcPts val="1000"/>
              </a:spcAft>
              <a:buFont typeface="+mj-lt"/>
              <a:buAutoNum type="arabicPeriod"/>
            </a:pPr>
            <a:r>
              <a:rPr lang="en-US" sz="1700" b="1" dirty="0">
                <a:solidFill>
                  <a:schemeClr val="tx1"/>
                </a:solidFill>
              </a:rPr>
              <a:t>One(1) Address Instruction format</a:t>
            </a:r>
            <a:endParaRPr lang="en-US" sz="1700" b="1" dirty="0">
              <a:solidFill>
                <a:schemeClr val="tx1"/>
              </a:solidFill>
            </a:endParaRPr>
          </a:p>
          <a:p>
            <a:pPr marL="593725" lvl="1" indent="-269875" algn="just">
              <a:spcAft>
                <a:spcPts val="1000"/>
              </a:spcAft>
              <a:buFont typeface="+mj-lt"/>
              <a:buAutoNum type="arabicPeriod"/>
            </a:pPr>
            <a:r>
              <a:rPr lang="en-US" sz="1700" b="1" dirty="0">
                <a:solidFill>
                  <a:schemeClr val="tx1"/>
                </a:solidFill>
              </a:rPr>
              <a:t>Two(2) Address Instruction format</a:t>
            </a:r>
            <a:endParaRPr lang="en-US" sz="1700" b="1" dirty="0">
              <a:solidFill>
                <a:schemeClr val="tx1"/>
              </a:solidFill>
            </a:endParaRPr>
          </a:p>
          <a:p>
            <a:pPr marL="593725" lvl="1" indent="-269875" algn="just">
              <a:spcAft>
                <a:spcPts val="1000"/>
              </a:spcAft>
              <a:buFont typeface="+mj-lt"/>
              <a:buAutoNum type="arabicPeriod"/>
            </a:pPr>
            <a:r>
              <a:rPr lang="en-US" sz="1700" b="1" dirty="0">
                <a:solidFill>
                  <a:schemeClr val="tx1"/>
                </a:solidFill>
              </a:rPr>
              <a:t>Three(3) Address Instruction format</a:t>
            </a:r>
            <a:endParaRPr lang="en-US" sz="1600"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1018907"/>
            <a:ext cx="11029616" cy="427338"/>
          </a:xfrm>
        </p:spPr>
        <p:txBody>
          <a:bodyPr>
            <a:normAutofit fontScale="90000"/>
          </a:bodyPr>
          <a:lstStyle/>
          <a:p>
            <a:pPr marL="593725" lvl="1" indent="-269875" algn="ctr">
              <a:spcAft>
                <a:spcPts val="1000"/>
              </a:spcAft>
              <a:buFont typeface="+mj-lt"/>
              <a:buAutoNum type="arabicPeriod"/>
            </a:pPr>
            <a:r>
              <a:rPr lang="en-US" sz="2800" b="1" dirty="0">
                <a:solidFill>
                  <a:schemeClr val="tx1"/>
                </a:solidFill>
              </a:rPr>
              <a:t> ZERO (0) ADDRESS INSTRUCTION FORMAT</a:t>
            </a:r>
            <a:endParaRPr lang="en-US" sz="2800" b="1" dirty="0">
              <a:solidFill>
                <a:schemeClr val="tx1"/>
              </a:solidFill>
            </a:endParaRPr>
          </a:p>
        </p:txBody>
      </p:sp>
      <p:sp>
        <p:nvSpPr>
          <p:cNvPr id="5" name="Content Placeholder 2"/>
          <p:cNvSpPr>
            <a:spLocks noGrp="1"/>
          </p:cNvSpPr>
          <p:nvPr>
            <p:ph idx="1"/>
          </p:nvPr>
        </p:nvSpPr>
        <p:spPr>
          <a:xfrm>
            <a:off x="380223" y="1618861"/>
            <a:ext cx="7200538" cy="2160037"/>
          </a:xfrm>
        </p:spPr>
        <p:txBody>
          <a:bodyPr>
            <a:normAutofit fontScale="92500" lnSpcReduction="10000"/>
          </a:bodyPr>
          <a:lstStyle/>
          <a:p>
            <a:pPr algn="just">
              <a:lnSpc>
                <a:spcPct val="100000"/>
              </a:lnSpc>
              <a:spcAft>
                <a:spcPts val="1000"/>
              </a:spcAft>
            </a:pPr>
            <a:r>
              <a:rPr lang="en-US" sz="2000" dirty="0">
                <a:solidFill>
                  <a:schemeClr val="tx1"/>
                </a:solidFill>
              </a:rPr>
              <a:t>This instruction does not have an operand field, and the location of operands is implicitly represented. </a:t>
            </a:r>
            <a:endParaRPr lang="en-US" sz="2000" dirty="0">
              <a:solidFill>
                <a:schemeClr val="tx1"/>
              </a:solidFill>
            </a:endParaRPr>
          </a:p>
          <a:p>
            <a:pPr algn="just">
              <a:lnSpc>
                <a:spcPct val="100000"/>
              </a:lnSpc>
              <a:spcAft>
                <a:spcPts val="1000"/>
              </a:spcAft>
            </a:pPr>
            <a:r>
              <a:rPr lang="en-US" sz="2000" dirty="0">
                <a:solidFill>
                  <a:schemeClr val="tx1"/>
                </a:solidFill>
              </a:rPr>
              <a:t>The stack-organized computer system supports these instructions. </a:t>
            </a:r>
            <a:endParaRPr lang="en-US" sz="2000" dirty="0">
              <a:solidFill>
                <a:schemeClr val="tx1"/>
              </a:solidFill>
            </a:endParaRPr>
          </a:p>
          <a:p>
            <a:pPr algn="just">
              <a:lnSpc>
                <a:spcPct val="100000"/>
              </a:lnSpc>
              <a:spcAft>
                <a:spcPts val="1000"/>
              </a:spcAft>
            </a:pPr>
            <a:r>
              <a:rPr lang="en-US" sz="2000" dirty="0">
                <a:solidFill>
                  <a:schemeClr val="tx1"/>
                </a:solidFill>
              </a:rPr>
              <a:t>To evaluate the arithmetic expression, it is required to convert it into reverse Polish notation.</a:t>
            </a:r>
            <a:endParaRPr lang="en-US" sz="1600" dirty="0">
              <a:solidFill>
                <a:schemeClr val="tx1"/>
              </a:solidFill>
            </a:endParaRPr>
          </a:p>
        </p:txBody>
      </p:sp>
      <p:graphicFrame>
        <p:nvGraphicFramePr>
          <p:cNvPr id="7" name="Table 7"/>
          <p:cNvGraphicFramePr>
            <a:graphicFrameLocks noGrp="1"/>
          </p:cNvGraphicFramePr>
          <p:nvPr/>
        </p:nvGraphicFramePr>
        <p:xfrm>
          <a:off x="7996334" y="2266876"/>
          <a:ext cx="4040156" cy="427338"/>
        </p:xfrm>
        <a:graphic>
          <a:graphicData uri="http://schemas.openxmlformats.org/drawingml/2006/table">
            <a:tbl>
              <a:tblPr firstRow="1" bandRow="1">
                <a:tableStyleId>{BC89EF96-8CEA-46FF-86C4-4CE0E7609802}</a:tableStyleId>
              </a:tblPr>
              <a:tblGrid>
                <a:gridCol w="2020078"/>
                <a:gridCol w="2020078"/>
              </a:tblGrid>
              <a:tr h="427338">
                <a:tc>
                  <a:txBody>
                    <a:bodyPr/>
                    <a:lstStyle/>
                    <a:p>
                      <a:pPr algn="ctr"/>
                      <a:r>
                        <a:rPr lang="en-IN" dirty="0"/>
                        <a:t>MODE</a:t>
                      </a:r>
                      <a:endParaRPr lang="en-IN" dirty="0"/>
                    </a:p>
                  </a:txBody>
                  <a:tcPr anchor="ctr"/>
                </a:tc>
                <a:tc>
                  <a:txBody>
                    <a:bodyPr/>
                    <a:lstStyle/>
                    <a:p>
                      <a:pPr algn="ctr"/>
                      <a:r>
                        <a:rPr lang="en-IN" dirty="0"/>
                        <a:t>OPCODE</a:t>
                      </a:r>
                      <a:endParaRPr lang="en-IN" dirty="0"/>
                    </a:p>
                  </a:txBody>
                  <a:tcPr anchor="ctr"/>
                </a:tc>
              </a:tr>
            </a:tbl>
          </a:graphicData>
        </a:graphic>
      </p:graphicFrame>
      <p:sp>
        <p:nvSpPr>
          <p:cNvPr id="12" name="TextBox 11"/>
          <p:cNvSpPr txBox="1"/>
          <p:nvPr/>
        </p:nvSpPr>
        <p:spPr>
          <a:xfrm>
            <a:off x="581191" y="4116198"/>
            <a:ext cx="5715777" cy="923330"/>
          </a:xfrm>
          <a:prstGeom prst="rect">
            <a:avLst/>
          </a:prstGeom>
          <a:noFill/>
        </p:spPr>
        <p:txBody>
          <a:bodyPr wrap="square">
            <a:spAutoFit/>
          </a:bodyPr>
          <a:lstStyle/>
          <a:p>
            <a:pPr marL="285750" indent="-285750" algn="just">
              <a:buFont typeface="Arial" panose="020B0604020202090204" pitchFamily="34" charset="0"/>
              <a:buChar char="•"/>
            </a:pPr>
            <a:r>
              <a:rPr lang="en-US" b="1" dirty="0"/>
              <a:t>Example: </a:t>
            </a:r>
            <a:r>
              <a:rPr lang="en-US" dirty="0"/>
              <a:t>Consider the below operations, which show how X = (A + B) ∗ (C + D) expression will be written for a stack-organized computer. </a:t>
            </a:r>
            <a:endParaRPr lang="en-IN" dirty="0"/>
          </a:p>
        </p:txBody>
      </p:sp>
      <p:sp>
        <p:nvSpPr>
          <p:cNvPr id="13" name="Rectangle 5"/>
          <p:cNvSpPr>
            <a:spLocks noChangeArrowheads="1"/>
          </p:cNvSpPr>
          <p:nvPr/>
        </p:nvSpPr>
        <p:spPr bwMode="auto">
          <a:xfrm>
            <a:off x="7893699" y="3514845"/>
            <a:ext cx="4142791" cy="286854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0" rIns="0" bIns="0" numCol="1" anchor="ctr" anchorCtr="0" compatLnSpc="1">
            <a:spAutoFit/>
          </a:bodyPr>
          <a:lstStyle/>
          <a:p>
            <a:pPr eaLnBrk="0" fontAlgn="base" hangingPunct="0">
              <a:lnSpc>
                <a:spcPct val="150000"/>
              </a:lnSpc>
              <a:spcBef>
                <a:spcPct val="0"/>
              </a:spcBef>
              <a:spcAft>
                <a:spcPct val="0"/>
              </a:spcAft>
            </a:pPr>
            <a:r>
              <a:rPr kumimoji="0" lang="en-US" altLang="en-US" sz="1400" b="1" i="0" u="none" strike="noStrike" cap="none" normalizeH="0" baseline="0" dirty="0">
                <a:ln>
                  <a:noFill/>
                </a:ln>
                <a:solidFill>
                  <a:srgbClr val="343434"/>
                </a:solidFill>
                <a:effectLst/>
                <a:latin typeface="var(--app-font)"/>
              </a:rPr>
              <a:t>TOS: Top of the Stack </a:t>
            </a:r>
            <a:endParaRPr kumimoji="0" lang="en-US" altLang="en-US" sz="1400" b="1"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PUSH   A            TOS ← A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PUSH   B             TOS ← B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ADD                    TOS ← (A + B)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PUSH   C             TOS ← C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PUSH   D             TOS ← D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ADD                     TOS ← (C + D) </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MUL                     TOS ← (C + D) ∗ (A + B)</a:t>
            </a:r>
            <a:endParaRPr kumimoji="0" lang="en-US" altLang="en-US" sz="1400" b="0" i="0" u="none" strike="noStrike" cap="none" normalizeH="0" baseline="0" dirty="0">
              <a:ln>
                <a:noFill/>
              </a:ln>
              <a:solidFill>
                <a:srgbClr val="343434"/>
              </a:solidFill>
              <a:effectLst/>
              <a:latin typeface="var(--app-font)"/>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rgbClr val="343434"/>
                </a:solidFill>
                <a:effectLst/>
                <a:latin typeface="var(--app-font)"/>
              </a:rPr>
              <a:t>POP     X               M [X] ← TOS </a:t>
            </a:r>
            <a:endParaRPr kumimoji="0" lang="en-US" altLang="en-US" sz="14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1018907"/>
            <a:ext cx="11029616" cy="427338"/>
          </a:xfrm>
        </p:spPr>
        <p:txBody>
          <a:bodyPr>
            <a:normAutofit fontScale="90000"/>
          </a:bodyPr>
          <a:lstStyle/>
          <a:p>
            <a:pPr marL="838200" lvl="1" indent="-514350" algn="ctr">
              <a:spcAft>
                <a:spcPts val="1000"/>
              </a:spcAft>
              <a:buFont typeface="+mj-lt"/>
              <a:buAutoNum type="arabicPeriod" startAt="2"/>
            </a:pPr>
            <a:r>
              <a:rPr lang="en-US" sz="2800" b="1" dirty="0">
                <a:solidFill>
                  <a:schemeClr val="tx1"/>
                </a:solidFill>
              </a:rPr>
              <a:t>ONE (1) ADDRESS INSTRUCTION FORMAT</a:t>
            </a:r>
            <a:endParaRPr lang="en-US" sz="2800" b="1" dirty="0">
              <a:solidFill>
                <a:schemeClr val="tx1"/>
              </a:solidFill>
            </a:endParaRPr>
          </a:p>
        </p:txBody>
      </p:sp>
      <p:sp>
        <p:nvSpPr>
          <p:cNvPr id="5" name="Content Placeholder 2"/>
          <p:cNvSpPr>
            <a:spLocks noGrp="1"/>
          </p:cNvSpPr>
          <p:nvPr>
            <p:ph idx="1"/>
          </p:nvPr>
        </p:nvSpPr>
        <p:spPr>
          <a:xfrm>
            <a:off x="380223" y="1618861"/>
            <a:ext cx="7200538" cy="2160037"/>
          </a:xfrm>
        </p:spPr>
        <p:txBody>
          <a:bodyPr>
            <a:normAutofit fontScale="92500" lnSpcReduction="20000"/>
          </a:bodyPr>
          <a:lstStyle/>
          <a:p>
            <a:pPr algn="just">
              <a:lnSpc>
                <a:spcPct val="100000"/>
              </a:lnSpc>
              <a:spcAft>
                <a:spcPts val="1000"/>
              </a:spcAft>
            </a:pPr>
            <a:r>
              <a:rPr lang="en-US" sz="2000" dirty="0">
                <a:solidFill>
                  <a:schemeClr val="tx1"/>
                </a:solidFill>
              </a:rPr>
              <a:t>The instruction format in which the instruction uses only one address field is called the one address instruction format</a:t>
            </a:r>
            <a:endParaRPr lang="en-US" sz="2000" dirty="0">
              <a:solidFill>
                <a:schemeClr val="tx1"/>
              </a:solidFill>
            </a:endParaRPr>
          </a:p>
          <a:p>
            <a:pPr algn="just">
              <a:lnSpc>
                <a:spcPct val="100000"/>
              </a:lnSpc>
              <a:spcAft>
                <a:spcPts val="1000"/>
              </a:spcAft>
            </a:pPr>
            <a:r>
              <a:rPr lang="en-US" sz="2000" dirty="0">
                <a:solidFill>
                  <a:schemeClr val="tx1"/>
                </a:solidFill>
              </a:rPr>
              <a:t>In this type of instruction format, one operand is in the accumulator and the other is in the memory location</a:t>
            </a:r>
            <a:endParaRPr lang="en-US" sz="2000" dirty="0">
              <a:solidFill>
                <a:schemeClr val="tx1"/>
              </a:solidFill>
            </a:endParaRPr>
          </a:p>
          <a:p>
            <a:pPr algn="just">
              <a:lnSpc>
                <a:spcPct val="100000"/>
              </a:lnSpc>
              <a:spcAft>
                <a:spcPts val="1000"/>
              </a:spcAft>
            </a:pPr>
            <a:r>
              <a:rPr lang="en-US" sz="2000" dirty="0">
                <a:solidFill>
                  <a:schemeClr val="tx1"/>
                </a:solidFill>
              </a:rPr>
              <a:t>It has only one operand</a:t>
            </a:r>
            <a:endParaRPr lang="en-US" sz="2000" dirty="0">
              <a:solidFill>
                <a:schemeClr val="tx1"/>
              </a:solidFill>
            </a:endParaRPr>
          </a:p>
          <a:p>
            <a:pPr algn="just">
              <a:lnSpc>
                <a:spcPct val="100000"/>
              </a:lnSpc>
              <a:spcAft>
                <a:spcPts val="1000"/>
              </a:spcAft>
            </a:pPr>
            <a:r>
              <a:rPr lang="en-US" sz="2000" dirty="0">
                <a:solidFill>
                  <a:schemeClr val="tx1"/>
                </a:solidFill>
              </a:rPr>
              <a:t>It has two special instructions LOAD and STORE</a:t>
            </a:r>
            <a:endParaRPr lang="en-US" sz="1600" dirty="0">
              <a:solidFill>
                <a:schemeClr val="tx1"/>
              </a:solidFill>
            </a:endParaRPr>
          </a:p>
        </p:txBody>
      </p:sp>
      <p:graphicFrame>
        <p:nvGraphicFramePr>
          <p:cNvPr id="7" name="Table 7"/>
          <p:cNvGraphicFramePr>
            <a:graphicFrameLocks noGrp="1"/>
          </p:cNvGraphicFramePr>
          <p:nvPr/>
        </p:nvGraphicFramePr>
        <p:xfrm>
          <a:off x="7996334" y="2266876"/>
          <a:ext cx="4040157" cy="427338"/>
        </p:xfrm>
        <a:graphic>
          <a:graphicData uri="http://schemas.openxmlformats.org/drawingml/2006/table">
            <a:tbl>
              <a:tblPr firstRow="1" bandRow="1">
                <a:tableStyleId>{BC89EF96-8CEA-46FF-86C4-4CE0E7609802}</a:tableStyleId>
              </a:tblPr>
              <a:tblGrid>
                <a:gridCol w="1346719"/>
                <a:gridCol w="1346719"/>
                <a:gridCol w="1346719"/>
              </a:tblGrid>
              <a:tr h="427338">
                <a:tc>
                  <a:txBody>
                    <a:bodyPr/>
                    <a:lstStyle/>
                    <a:p>
                      <a:pPr algn="ctr"/>
                      <a:r>
                        <a:rPr lang="en-IN" dirty="0"/>
                        <a:t>MODE</a:t>
                      </a:r>
                      <a:endParaRPr lang="en-IN" dirty="0"/>
                    </a:p>
                  </a:txBody>
                  <a:tcPr anchor="ctr"/>
                </a:tc>
                <a:tc>
                  <a:txBody>
                    <a:bodyPr/>
                    <a:lstStyle/>
                    <a:p>
                      <a:pPr algn="ctr"/>
                      <a:r>
                        <a:rPr lang="en-IN" dirty="0"/>
                        <a:t>OPCODE</a:t>
                      </a:r>
                      <a:endParaRPr lang="en-IN" dirty="0"/>
                    </a:p>
                  </a:txBody>
                  <a:tcPr anchor="ctr"/>
                </a:tc>
                <a:tc>
                  <a:txBody>
                    <a:bodyPr/>
                    <a:lstStyle/>
                    <a:p>
                      <a:pPr algn="ctr"/>
                      <a:r>
                        <a:rPr lang="en-IN" dirty="0"/>
                        <a:t>OPERAND</a:t>
                      </a:r>
                      <a:endParaRPr lang="en-IN" dirty="0"/>
                    </a:p>
                  </a:txBody>
                  <a:tcPr anchor="ctr"/>
                </a:tc>
              </a:tr>
            </a:tbl>
          </a:graphicData>
        </a:graphic>
      </p:graphicFrame>
      <p:sp>
        <p:nvSpPr>
          <p:cNvPr id="12" name="TextBox 11"/>
          <p:cNvSpPr txBox="1"/>
          <p:nvPr/>
        </p:nvSpPr>
        <p:spPr>
          <a:xfrm>
            <a:off x="429644" y="4123538"/>
            <a:ext cx="6717384" cy="2585323"/>
          </a:xfrm>
          <a:prstGeom prst="rect">
            <a:avLst/>
          </a:prstGeom>
          <a:noFill/>
        </p:spPr>
        <p:txBody>
          <a:bodyPr wrap="square">
            <a:spAutoFit/>
          </a:bodyPr>
          <a:lstStyle/>
          <a:p>
            <a:pPr marL="285750" indent="-285750" algn="just">
              <a:buFont typeface="Wingdings" panose="05000000000000000000" pitchFamily="2" charset="2"/>
              <a:buChar char="§"/>
            </a:pPr>
            <a:r>
              <a:rPr lang="en-US" b="1" dirty="0"/>
              <a:t>Example: </a:t>
            </a:r>
            <a:r>
              <a:rPr lang="en-US" dirty="0"/>
              <a:t>The program to evaluate X = (A + B) ∗ (C + D) is as follows:</a:t>
            </a:r>
            <a:endParaRPr lang="en-US" dirty="0"/>
          </a:p>
          <a:p>
            <a:pPr algn="just"/>
            <a:endParaRPr lang="en-US" dirty="0"/>
          </a:p>
          <a:p>
            <a:pPr marL="285750" indent="-285750" algn="just">
              <a:buFont typeface="Arial" panose="020B0604020202090204" pitchFamily="34" charset="0"/>
              <a:buChar char="•"/>
            </a:pPr>
            <a:r>
              <a:rPr lang="en-US" b="1" dirty="0"/>
              <a:t>LOAD: </a:t>
            </a:r>
            <a:r>
              <a:rPr lang="en-US" dirty="0"/>
              <a:t>This is used to transfer the data to the accumulator.</a:t>
            </a:r>
            <a:endParaRPr lang="en-US" dirty="0"/>
          </a:p>
          <a:p>
            <a:pPr marL="285750" indent="-285750" algn="just">
              <a:buFont typeface="Arial" panose="020B0604020202090204" pitchFamily="34" charset="0"/>
              <a:buChar char="•"/>
            </a:pPr>
            <a:r>
              <a:rPr lang="en-US" b="1" dirty="0"/>
              <a:t>STORE</a:t>
            </a:r>
            <a:r>
              <a:rPr lang="en-US" dirty="0"/>
              <a:t>: This is used to move the data from the accumulator to the memory.</a:t>
            </a:r>
            <a:endParaRPr lang="en-US" dirty="0"/>
          </a:p>
          <a:p>
            <a:pPr marL="742950" lvl="1" indent="-285750" algn="just">
              <a:buFont typeface="Arial" panose="020B0604020202090204" pitchFamily="34" charset="0"/>
              <a:buChar char="•"/>
            </a:pPr>
            <a:r>
              <a:rPr lang="en-US" dirty="0"/>
              <a:t>M[ ] is any memory location.  </a:t>
            </a:r>
            <a:endParaRPr lang="en-US" dirty="0"/>
          </a:p>
          <a:p>
            <a:pPr marL="742950" lvl="1" indent="-285750" algn="just">
              <a:buFont typeface="Arial" panose="020B0604020202090204" pitchFamily="34" charset="0"/>
              <a:buChar char="•"/>
            </a:pPr>
            <a:r>
              <a:rPr lang="en-US" dirty="0"/>
              <a:t>M[T] addresses a temporary memory location for storing the intermediate result. </a:t>
            </a:r>
            <a:endParaRPr lang="en-IN" dirty="0"/>
          </a:p>
        </p:txBody>
      </p:sp>
      <p:graphicFrame>
        <p:nvGraphicFramePr>
          <p:cNvPr id="3" name="Table 3"/>
          <p:cNvGraphicFramePr>
            <a:graphicFrameLocks noGrp="1"/>
          </p:cNvGraphicFramePr>
          <p:nvPr/>
        </p:nvGraphicFramePr>
        <p:xfrm>
          <a:off x="7456611" y="4032033"/>
          <a:ext cx="3824099" cy="2676828"/>
        </p:xfrm>
        <a:graphic>
          <a:graphicData uri="http://schemas.openxmlformats.org/drawingml/2006/table">
            <a:tbl>
              <a:tblPr firstRow="1" bandRow="1">
                <a:tableStyleId>{5940675A-B579-460E-94D1-54222C63F5DA}</a:tableStyleId>
              </a:tblPr>
              <a:tblGrid>
                <a:gridCol w="995010"/>
                <a:gridCol w="669957"/>
                <a:gridCol w="2159132"/>
              </a:tblGrid>
              <a:tr h="382404">
                <a:tc>
                  <a:txBody>
                    <a:bodyPr/>
                    <a:lstStyle/>
                    <a:p>
                      <a:r>
                        <a:rPr lang="en-IN" dirty="0"/>
                        <a:t>LOAD</a:t>
                      </a: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r>
                        <a:rPr lang="en-IN" dirty="0"/>
                        <a:t>A</a:t>
                      </a:r>
                      <a:endParaRPr lang="en-IN"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IN" dirty="0"/>
                        <a:t>AC ← M [A]</a:t>
                      </a: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B</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AC ← A [C] + M [B]</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STORE</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T</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M [T] ← AC</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LOAD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C</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AC ← M [C] </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D</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AC ← AC + M [D]</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MUL</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T</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AC ← AC ∗ M [T]</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STORE</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IN" dirty="0"/>
                        <a:t>X</a:t>
                      </a:r>
                      <a:endParaRPr lang="en-IN"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dirty="0"/>
                        <a:t>M [X] ← AC</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1018907"/>
            <a:ext cx="11029616" cy="427338"/>
          </a:xfrm>
        </p:spPr>
        <p:txBody>
          <a:bodyPr>
            <a:normAutofit fontScale="90000"/>
          </a:bodyPr>
          <a:lstStyle/>
          <a:p>
            <a:pPr marL="838200" lvl="1" indent="-514350" algn="ctr">
              <a:spcAft>
                <a:spcPts val="1000"/>
              </a:spcAft>
              <a:buFont typeface="+mj-lt"/>
              <a:buAutoNum type="arabicPeriod" startAt="3"/>
            </a:pPr>
            <a:r>
              <a:rPr lang="en-US" sz="2800" b="1" dirty="0">
                <a:solidFill>
                  <a:schemeClr val="tx1"/>
                </a:solidFill>
              </a:rPr>
              <a:t>TWO (2) ADDRESS INSTRUCTION FORMAT</a:t>
            </a:r>
            <a:endParaRPr lang="en-US" sz="2800" b="1" dirty="0">
              <a:solidFill>
                <a:schemeClr val="tx1"/>
              </a:solidFill>
            </a:endParaRPr>
          </a:p>
        </p:txBody>
      </p:sp>
      <p:sp>
        <p:nvSpPr>
          <p:cNvPr id="5" name="Content Placeholder 2"/>
          <p:cNvSpPr>
            <a:spLocks noGrp="1"/>
          </p:cNvSpPr>
          <p:nvPr>
            <p:ph idx="1"/>
          </p:nvPr>
        </p:nvSpPr>
        <p:spPr>
          <a:xfrm>
            <a:off x="380223" y="1618861"/>
            <a:ext cx="7200538" cy="2160037"/>
          </a:xfrm>
        </p:spPr>
        <p:txBody>
          <a:bodyPr>
            <a:normAutofit fontScale="70000" lnSpcReduction="20000"/>
          </a:bodyPr>
          <a:lstStyle/>
          <a:p>
            <a:pPr algn="just">
              <a:lnSpc>
                <a:spcPct val="100000"/>
              </a:lnSpc>
              <a:spcAft>
                <a:spcPts val="1000"/>
              </a:spcAft>
            </a:pPr>
            <a:r>
              <a:rPr lang="en-US" sz="2000" dirty="0">
                <a:solidFill>
                  <a:schemeClr val="tx1"/>
                </a:solidFill>
              </a:rPr>
              <a:t>The instruction format in which the instruction uses only two address fields is called the two-address instruction format</a:t>
            </a:r>
            <a:endParaRPr lang="en-US" sz="2000" dirty="0">
              <a:solidFill>
                <a:schemeClr val="tx1"/>
              </a:solidFill>
            </a:endParaRPr>
          </a:p>
          <a:p>
            <a:pPr algn="just">
              <a:lnSpc>
                <a:spcPct val="100000"/>
              </a:lnSpc>
              <a:spcAft>
                <a:spcPts val="1000"/>
              </a:spcAft>
            </a:pPr>
            <a:r>
              <a:rPr lang="en-US" sz="2000" dirty="0">
                <a:solidFill>
                  <a:schemeClr val="tx1"/>
                </a:solidFill>
              </a:rPr>
              <a:t>This type of instruction format is the most commonly used instruction format</a:t>
            </a:r>
            <a:endParaRPr lang="en-US" sz="2000" dirty="0">
              <a:solidFill>
                <a:schemeClr val="tx1"/>
              </a:solidFill>
            </a:endParaRPr>
          </a:p>
          <a:p>
            <a:pPr algn="just">
              <a:lnSpc>
                <a:spcPct val="100000"/>
              </a:lnSpc>
              <a:spcAft>
                <a:spcPts val="1000"/>
              </a:spcAft>
            </a:pPr>
            <a:r>
              <a:rPr lang="en-US" sz="2000" dirty="0">
                <a:solidFill>
                  <a:schemeClr val="tx1"/>
                </a:solidFill>
              </a:rPr>
              <a:t>As in one address instruction format, the result is stored in the accumulator only, but in two addresses instruction format the result can be stored in different locations</a:t>
            </a:r>
            <a:endParaRPr lang="en-US" sz="2000" dirty="0">
              <a:solidFill>
                <a:schemeClr val="tx1"/>
              </a:solidFill>
            </a:endParaRPr>
          </a:p>
          <a:p>
            <a:pPr algn="just">
              <a:lnSpc>
                <a:spcPct val="100000"/>
              </a:lnSpc>
              <a:spcAft>
                <a:spcPts val="1000"/>
              </a:spcAft>
            </a:pPr>
            <a:r>
              <a:rPr lang="en-US" sz="2000" dirty="0">
                <a:solidFill>
                  <a:schemeClr val="tx1"/>
                </a:solidFill>
              </a:rPr>
              <a:t>This type of instruction format has two operands</a:t>
            </a:r>
            <a:endParaRPr lang="en-US" sz="2000" dirty="0">
              <a:solidFill>
                <a:schemeClr val="tx1"/>
              </a:solidFill>
            </a:endParaRPr>
          </a:p>
          <a:p>
            <a:pPr algn="just">
              <a:lnSpc>
                <a:spcPct val="100000"/>
              </a:lnSpc>
              <a:spcAft>
                <a:spcPts val="1000"/>
              </a:spcAft>
            </a:pPr>
            <a:r>
              <a:rPr lang="en-US" sz="2000" dirty="0">
                <a:solidFill>
                  <a:schemeClr val="tx1"/>
                </a:solidFill>
              </a:rPr>
              <a:t>It requires shorter assembly language instructions</a:t>
            </a:r>
            <a:endParaRPr lang="en-US" sz="1600" dirty="0">
              <a:solidFill>
                <a:schemeClr val="tx1"/>
              </a:solidFill>
            </a:endParaRPr>
          </a:p>
        </p:txBody>
      </p:sp>
      <p:graphicFrame>
        <p:nvGraphicFramePr>
          <p:cNvPr id="7" name="Table 7"/>
          <p:cNvGraphicFramePr>
            <a:graphicFrameLocks noGrp="1"/>
          </p:cNvGraphicFramePr>
          <p:nvPr/>
        </p:nvGraphicFramePr>
        <p:xfrm>
          <a:off x="7456611" y="2014950"/>
          <a:ext cx="4611240" cy="427338"/>
        </p:xfrm>
        <a:graphic>
          <a:graphicData uri="http://schemas.openxmlformats.org/drawingml/2006/table">
            <a:tbl>
              <a:tblPr firstRow="1" bandRow="1">
                <a:tableStyleId>{BC89EF96-8CEA-46FF-86C4-4CE0E7609802}</a:tableStyleId>
              </a:tblPr>
              <a:tblGrid>
                <a:gridCol w="1152810"/>
                <a:gridCol w="1152810"/>
                <a:gridCol w="1152810"/>
                <a:gridCol w="1152810"/>
              </a:tblGrid>
              <a:tr h="427338">
                <a:tc>
                  <a:txBody>
                    <a:bodyPr/>
                    <a:lstStyle/>
                    <a:p>
                      <a:pPr algn="ctr"/>
                      <a:r>
                        <a:rPr lang="en-IN" sz="1500" dirty="0"/>
                        <a:t>MODE</a:t>
                      </a:r>
                      <a:endParaRPr lang="en-IN" sz="1500" dirty="0"/>
                    </a:p>
                  </a:txBody>
                  <a:tcPr anchor="ctr"/>
                </a:tc>
                <a:tc>
                  <a:txBody>
                    <a:bodyPr/>
                    <a:lstStyle/>
                    <a:p>
                      <a:pPr algn="ctr"/>
                      <a:r>
                        <a:rPr lang="en-IN" sz="1500" dirty="0"/>
                        <a:t>OPCODE</a:t>
                      </a:r>
                      <a:endParaRPr lang="en-IN" sz="1500" dirty="0"/>
                    </a:p>
                  </a:txBody>
                  <a:tcPr anchor="ctr"/>
                </a:tc>
                <a:tc>
                  <a:txBody>
                    <a:bodyPr/>
                    <a:lstStyle/>
                    <a:p>
                      <a:pPr algn="ctr"/>
                      <a:r>
                        <a:rPr lang="en-IN" sz="1500" dirty="0"/>
                        <a:t>OPERAND 1</a:t>
                      </a:r>
                      <a:endParaRPr lang="en-IN" sz="1500"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sz="1500" dirty="0"/>
                        <a:t>OPERAND 2</a:t>
                      </a:r>
                      <a:endParaRPr lang="en-IN" sz="1500" dirty="0"/>
                    </a:p>
                  </a:txBody>
                  <a:tcPr anchor="ctr"/>
                </a:tc>
              </a:tr>
            </a:tbl>
          </a:graphicData>
        </a:graphic>
      </p:graphicFrame>
      <p:sp>
        <p:nvSpPr>
          <p:cNvPr id="12" name="TextBox 11"/>
          <p:cNvSpPr txBox="1"/>
          <p:nvPr/>
        </p:nvSpPr>
        <p:spPr>
          <a:xfrm>
            <a:off x="581191" y="4116198"/>
            <a:ext cx="5715777" cy="1754326"/>
          </a:xfrm>
          <a:prstGeom prst="rect">
            <a:avLst/>
          </a:prstGeom>
          <a:noFill/>
        </p:spPr>
        <p:txBody>
          <a:bodyPr wrap="square">
            <a:spAutoFit/>
          </a:bodyPr>
          <a:lstStyle/>
          <a:p>
            <a:pPr marL="285750" indent="-285750" algn="just">
              <a:buFont typeface="Arial" panose="020B0604020202090204" pitchFamily="34" charset="0"/>
              <a:buChar char="•"/>
            </a:pPr>
            <a:r>
              <a:rPr lang="en-US" b="1" dirty="0"/>
              <a:t>Example: </a:t>
            </a:r>
            <a:r>
              <a:rPr lang="en-US" dirty="0"/>
              <a:t>The program to evaluate X = (A + B) ∗ (C + D) is as follows:</a:t>
            </a:r>
            <a:endParaRPr lang="en-US" dirty="0"/>
          </a:p>
          <a:p>
            <a:pPr marL="285750" indent="-285750" algn="just">
              <a:buFont typeface="Arial" panose="020B0604020202090204" pitchFamily="34" charset="0"/>
              <a:buChar char="•"/>
            </a:pPr>
            <a:endParaRPr lang="en-US" dirty="0"/>
          </a:p>
          <a:p>
            <a:pPr marL="742950" lvl="1" indent="-285750" algn="just">
              <a:buFont typeface="Arial" panose="020B0604020202090204" pitchFamily="34" charset="0"/>
              <a:buChar char="•"/>
            </a:pPr>
            <a:r>
              <a:rPr lang="en-US" dirty="0"/>
              <a:t>The </a:t>
            </a:r>
            <a:r>
              <a:rPr lang="en-US" b="1" dirty="0"/>
              <a:t>MOV</a:t>
            </a:r>
            <a:r>
              <a:rPr lang="en-US" dirty="0"/>
              <a:t> instruction transfers the operands to the memory from the processor registers. R1, R2 registers.</a:t>
            </a:r>
            <a:endParaRPr lang="en-IN" dirty="0"/>
          </a:p>
        </p:txBody>
      </p:sp>
      <p:graphicFrame>
        <p:nvGraphicFramePr>
          <p:cNvPr id="3" name="Table 3"/>
          <p:cNvGraphicFramePr>
            <a:graphicFrameLocks noGrp="1"/>
          </p:cNvGraphicFramePr>
          <p:nvPr/>
        </p:nvGraphicFramePr>
        <p:xfrm>
          <a:off x="7456611" y="4032033"/>
          <a:ext cx="4480465" cy="2294424"/>
        </p:xfrm>
        <a:graphic>
          <a:graphicData uri="http://schemas.openxmlformats.org/drawingml/2006/table">
            <a:tbl>
              <a:tblPr firstRow="1" bandRow="1">
                <a:tableStyleId>{5940675A-B579-460E-94D1-54222C63F5DA}</a:tableStyleId>
              </a:tblPr>
              <a:tblGrid>
                <a:gridCol w="1165793"/>
                <a:gridCol w="1200799"/>
                <a:gridCol w="2113873"/>
              </a:tblGrid>
              <a:tr h="382404">
                <a:tc>
                  <a:txBody>
                    <a:bodyPr/>
                    <a:lstStyle/>
                    <a:p>
                      <a:r>
                        <a:rPr lang="en-IN" dirty="0"/>
                        <a:t>MOV</a:t>
                      </a: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r>
                        <a:rPr lang="en-IN" dirty="0"/>
                        <a:t>R1, A</a:t>
                      </a:r>
                      <a:endParaRPr lang="en-IN"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IN" dirty="0"/>
                        <a:t>R1 ← M [A]</a:t>
                      </a: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R1, B</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R1 ← R1 + M [B]</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MOV</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R2, C</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R2 ← M [C]</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R2, D</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R2 ← R2 + M [D]</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MUL</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R1, R2</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R1 ← R1 ∗ R2</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MOV</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IN" dirty="0"/>
                        <a:t>X, R1</a:t>
                      </a:r>
                      <a:endParaRPr lang="en-IN"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dirty="0"/>
                        <a:t>M [X] ← R1</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1018907"/>
            <a:ext cx="11029616" cy="427338"/>
          </a:xfrm>
        </p:spPr>
        <p:txBody>
          <a:bodyPr>
            <a:normAutofit fontScale="90000"/>
          </a:bodyPr>
          <a:lstStyle/>
          <a:p>
            <a:pPr marL="838200" lvl="1" indent="-514350" algn="ctr">
              <a:spcAft>
                <a:spcPts val="1000"/>
              </a:spcAft>
              <a:buFont typeface="+mj-lt"/>
              <a:buAutoNum type="arabicPeriod" startAt="4"/>
            </a:pPr>
            <a:r>
              <a:rPr lang="en-US" sz="2800" b="1" dirty="0">
                <a:solidFill>
                  <a:schemeClr val="tx1"/>
                </a:solidFill>
              </a:rPr>
              <a:t>THREE (3) ADDRESS INSTRUCTION FORMAT</a:t>
            </a:r>
            <a:endParaRPr lang="en-US" sz="2800" b="1" dirty="0">
              <a:solidFill>
                <a:schemeClr val="tx1"/>
              </a:solidFill>
            </a:endParaRPr>
          </a:p>
        </p:txBody>
      </p:sp>
      <p:sp>
        <p:nvSpPr>
          <p:cNvPr id="5" name="Content Placeholder 2"/>
          <p:cNvSpPr>
            <a:spLocks noGrp="1"/>
          </p:cNvSpPr>
          <p:nvPr>
            <p:ph idx="1"/>
          </p:nvPr>
        </p:nvSpPr>
        <p:spPr>
          <a:xfrm>
            <a:off x="380223" y="1618862"/>
            <a:ext cx="11395010" cy="1862280"/>
          </a:xfrm>
        </p:spPr>
        <p:txBody>
          <a:bodyPr>
            <a:normAutofit/>
          </a:bodyPr>
          <a:lstStyle/>
          <a:p>
            <a:pPr algn="just">
              <a:lnSpc>
                <a:spcPct val="100000"/>
              </a:lnSpc>
              <a:spcAft>
                <a:spcPts val="1000"/>
              </a:spcAft>
            </a:pPr>
            <a:r>
              <a:rPr lang="en-US" sz="1800" dirty="0">
                <a:solidFill>
                  <a:schemeClr val="tx1"/>
                </a:solidFill>
              </a:rPr>
              <a:t>The instruction format in which the instruction uses the three address fields is called the three-address instruction format.</a:t>
            </a:r>
            <a:endParaRPr lang="en-US" sz="1800" dirty="0">
              <a:solidFill>
                <a:schemeClr val="tx1"/>
              </a:solidFill>
            </a:endParaRPr>
          </a:p>
          <a:p>
            <a:pPr algn="just">
              <a:lnSpc>
                <a:spcPct val="100000"/>
              </a:lnSpc>
              <a:spcAft>
                <a:spcPts val="1000"/>
              </a:spcAft>
            </a:pPr>
            <a:r>
              <a:rPr lang="en-US" sz="1800" dirty="0">
                <a:solidFill>
                  <a:schemeClr val="tx1"/>
                </a:solidFill>
              </a:rPr>
              <a:t>The format of a three-address instruction requires three operand fields. These three fields can be either memory addresses or registers</a:t>
            </a:r>
            <a:endParaRPr lang="en-US" sz="1800" dirty="0">
              <a:solidFill>
                <a:schemeClr val="tx1"/>
              </a:solidFill>
            </a:endParaRPr>
          </a:p>
          <a:p>
            <a:pPr algn="just">
              <a:lnSpc>
                <a:spcPct val="100000"/>
              </a:lnSpc>
              <a:spcAft>
                <a:spcPts val="1000"/>
              </a:spcAft>
            </a:pPr>
            <a:r>
              <a:rPr lang="en-US" sz="1800" dirty="0">
                <a:solidFill>
                  <a:schemeClr val="tx1"/>
                </a:solidFill>
              </a:rPr>
              <a:t>It requires shorter assembly language instructions</a:t>
            </a:r>
            <a:endParaRPr lang="en-US" sz="1800" dirty="0">
              <a:solidFill>
                <a:schemeClr val="tx1"/>
              </a:solidFill>
            </a:endParaRPr>
          </a:p>
        </p:txBody>
      </p:sp>
      <p:graphicFrame>
        <p:nvGraphicFramePr>
          <p:cNvPr id="7" name="Table 7"/>
          <p:cNvGraphicFramePr>
            <a:graphicFrameLocks noGrp="1"/>
          </p:cNvGraphicFramePr>
          <p:nvPr/>
        </p:nvGraphicFramePr>
        <p:xfrm>
          <a:off x="3304489" y="3621993"/>
          <a:ext cx="5942145" cy="427338"/>
        </p:xfrm>
        <a:graphic>
          <a:graphicData uri="http://schemas.openxmlformats.org/drawingml/2006/table">
            <a:tbl>
              <a:tblPr firstRow="1" bandRow="1">
                <a:tableStyleId>{BC89EF96-8CEA-46FF-86C4-4CE0E7609802}</a:tableStyleId>
              </a:tblPr>
              <a:tblGrid>
                <a:gridCol w="1188429"/>
                <a:gridCol w="1188429"/>
                <a:gridCol w="1188429"/>
                <a:gridCol w="1188429"/>
                <a:gridCol w="1188429"/>
              </a:tblGrid>
              <a:tr h="427338">
                <a:tc>
                  <a:txBody>
                    <a:bodyPr/>
                    <a:lstStyle/>
                    <a:p>
                      <a:pPr algn="ctr"/>
                      <a:r>
                        <a:rPr lang="en-IN" sz="1500" dirty="0"/>
                        <a:t>MODE</a:t>
                      </a:r>
                      <a:endParaRPr lang="en-IN" sz="1500" dirty="0"/>
                    </a:p>
                  </a:txBody>
                  <a:tcPr anchor="ctr"/>
                </a:tc>
                <a:tc>
                  <a:txBody>
                    <a:bodyPr/>
                    <a:lstStyle/>
                    <a:p>
                      <a:pPr algn="ctr"/>
                      <a:r>
                        <a:rPr lang="en-IN" sz="1500" dirty="0"/>
                        <a:t>OPCODE</a:t>
                      </a:r>
                      <a:endParaRPr lang="en-IN" sz="1500" dirty="0"/>
                    </a:p>
                  </a:txBody>
                  <a:tcPr anchor="ctr"/>
                </a:tc>
                <a:tc>
                  <a:txBody>
                    <a:bodyPr/>
                    <a:lstStyle/>
                    <a:p>
                      <a:pPr algn="ctr"/>
                      <a:r>
                        <a:rPr lang="en-IN" sz="1500" dirty="0"/>
                        <a:t>OPERAND 1</a:t>
                      </a:r>
                      <a:endParaRPr lang="en-IN" sz="1500"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sz="1500" dirty="0"/>
                        <a:t>OPERAND 2</a:t>
                      </a:r>
                      <a:endParaRPr lang="en-IN" sz="1500"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sz="1500" dirty="0"/>
                        <a:t>OPERAND 3</a:t>
                      </a:r>
                      <a:endParaRPr lang="en-IN" sz="1500" dirty="0"/>
                    </a:p>
                  </a:txBody>
                  <a:tcPr anchor="ctr"/>
                </a:tc>
              </a:tr>
            </a:tbl>
          </a:graphicData>
        </a:graphic>
      </p:graphicFrame>
      <p:sp>
        <p:nvSpPr>
          <p:cNvPr id="12" name="TextBox 11"/>
          <p:cNvSpPr txBox="1"/>
          <p:nvPr/>
        </p:nvSpPr>
        <p:spPr>
          <a:xfrm>
            <a:off x="221602" y="4327448"/>
            <a:ext cx="6291165" cy="2031325"/>
          </a:xfrm>
          <a:prstGeom prst="rect">
            <a:avLst/>
          </a:prstGeom>
          <a:noFill/>
        </p:spPr>
        <p:txBody>
          <a:bodyPr wrap="square">
            <a:spAutoFit/>
          </a:bodyPr>
          <a:lstStyle/>
          <a:p>
            <a:pPr marL="285750" indent="-285750" algn="just">
              <a:buFont typeface="Arial" panose="020B0604020202090204" pitchFamily="34" charset="0"/>
              <a:buChar char="•"/>
            </a:pPr>
            <a:r>
              <a:rPr lang="en-US" b="1" dirty="0"/>
              <a:t>Example: </a:t>
            </a:r>
            <a:r>
              <a:rPr lang="en-US" dirty="0"/>
              <a:t>The program to evaluate X = (A + B) ∗ (C + D) is as follows:</a:t>
            </a:r>
            <a:endParaRPr lang="en-US" dirty="0"/>
          </a:p>
          <a:p>
            <a:pPr marL="742950" lvl="1" indent="-285750" algn="just">
              <a:buFont typeface="Arial" panose="020B0604020202090204" pitchFamily="34" charset="0"/>
              <a:buChar char="•"/>
            </a:pPr>
            <a:r>
              <a:rPr lang="en-US" dirty="0"/>
              <a:t>Two processor registers, R1 and R2. </a:t>
            </a:r>
            <a:endParaRPr lang="en-US" dirty="0"/>
          </a:p>
          <a:p>
            <a:pPr marL="742950" lvl="1" indent="-285750" algn="just">
              <a:buFont typeface="Arial" panose="020B0604020202090204" pitchFamily="34" charset="0"/>
              <a:buChar char="•"/>
            </a:pPr>
            <a:r>
              <a:rPr lang="en-US" dirty="0"/>
              <a:t>The symbol M [A] denotes the operand at memory address symbolized by A. The operand1 and operand2 contain the data or address that the CPU will operate. Operand 3 contains the result’s address.</a:t>
            </a:r>
            <a:endParaRPr lang="en-IN" dirty="0"/>
          </a:p>
        </p:txBody>
      </p:sp>
      <p:graphicFrame>
        <p:nvGraphicFramePr>
          <p:cNvPr id="3" name="Table 3"/>
          <p:cNvGraphicFramePr>
            <a:graphicFrameLocks noGrp="1"/>
          </p:cNvGraphicFramePr>
          <p:nvPr/>
        </p:nvGraphicFramePr>
        <p:xfrm>
          <a:off x="7294768" y="4769504"/>
          <a:ext cx="4480465" cy="1147212"/>
        </p:xfrm>
        <a:graphic>
          <a:graphicData uri="http://schemas.openxmlformats.org/drawingml/2006/table">
            <a:tbl>
              <a:tblPr firstRow="1" bandRow="1">
                <a:tableStyleId>{5940675A-B579-460E-94D1-54222C63F5DA}</a:tableStyleId>
              </a:tblPr>
              <a:tblGrid>
                <a:gridCol w="1165793"/>
                <a:gridCol w="1200799"/>
                <a:gridCol w="2113873"/>
              </a:tblGrid>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r>
                        <a:rPr lang="en-IN" dirty="0"/>
                        <a:t>R1, A, B</a:t>
                      </a:r>
                      <a:endParaRPr lang="en-IN"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IN" dirty="0"/>
                        <a:t>R1 ← M[A] + M [B]</a:t>
                      </a: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82404">
                <a:tc>
                  <a:txBody>
                    <a:bodyPr/>
                    <a:lstStyle/>
                    <a:p>
                      <a:r>
                        <a:rPr lang="en-IN" dirty="0"/>
                        <a:t>ADD</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dirty="0"/>
                        <a:t>R2, C, D</a:t>
                      </a:r>
                      <a:endParaRPr lang="en-IN"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IN" dirty="0"/>
                        <a:t>R2 ← M[C] + M [D]</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382404">
                <a:tc>
                  <a:txBody>
                    <a:bodyPr/>
                    <a:lstStyle/>
                    <a:p>
                      <a:r>
                        <a:rPr lang="en-IN" dirty="0"/>
                        <a:t>MUL</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IN" dirty="0"/>
                        <a:t>X, R1, R2</a:t>
                      </a:r>
                      <a:endParaRPr lang="en-IN"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dirty="0"/>
                        <a:t>M [X] ← R1 ∗ R2</a:t>
                      </a:r>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857038"/>
            <a:ext cx="11029616" cy="988332"/>
          </a:xfrm>
        </p:spPr>
        <p:txBody>
          <a:bodyPr/>
          <a:lstStyle/>
          <a:p>
            <a:pPr algn="ctr"/>
            <a:r>
              <a:rPr lang="en-US" dirty="0">
                <a:solidFill>
                  <a:schemeClr val="tx1"/>
                </a:solidFill>
              </a:rPr>
              <a:t>4</a:t>
            </a:r>
            <a:r>
              <a:rPr lang="en-US" sz="2800" dirty="0">
                <a:solidFill>
                  <a:schemeClr val="tx1"/>
                </a:solidFill>
              </a:rPr>
              <a:t>. Addressing Modes</a:t>
            </a:r>
            <a:endParaRPr lang="en-IN"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Addressing modes</a:t>
            </a:r>
            <a:endParaRPr lang="en-IN" dirty="0">
              <a:solidFill>
                <a:schemeClr val="tx1"/>
              </a:solidFill>
            </a:endParaRPr>
          </a:p>
        </p:txBody>
      </p:sp>
      <p:sp>
        <p:nvSpPr>
          <p:cNvPr id="5" name="Content Placeholder 2"/>
          <p:cNvSpPr>
            <a:spLocks noGrp="1"/>
          </p:cNvSpPr>
          <p:nvPr>
            <p:ph idx="1"/>
          </p:nvPr>
        </p:nvSpPr>
        <p:spPr>
          <a:xfrm>
            <a:off x="581193" y="1548882"/>
            <a:ext cx="11177956" cy="5085183"/>
          </a:xfrm>
        </p:spPr>
        <p:txBody>
          <a:bodyPr>
            <a:normAutofit/>
          </a:bodyPr>
          <a:lstStyle/>
          <a:p>
            <a:pPr algn="just">
              <a:lnSpc>
                <a:spcPct val="150000"/>
              </a:lnSpc>
              <a:spcAft>
                <a:spcPts val="1000"/>
              </a:spcAft>
            </a:pPr>
            <a:r>
              <a:rPr lang="en-US" sz="2000" dirty="0">
                <a:solidFill>
                  <a:schemeClr val="tx1"/>
                </a:solidFill>
              </a:rPr>
              <a:t>The operation field of an instruction specifies the operation to be performed. This operation will be executed on some data which is stored in computer registers or the main memory. </a:t>
            </a:r>
            <a:endParaRPr lang="en-US" sz="2000" dirty="0">
              <a:solidFill>
                <a:schemeClr val="tx1"/>
              </a:solidFill>
            </a:endParaRPr>
          </a:p>
          <a:p>
            <a:pPr algn="just">
              <a:lnSpc>
                <a:spcPct val="150000"/>
              </a:lnSpc>
              <a:spcAft>
                <a:spcPts val="1000"/>
              </a:spcAft>
            </a:pPr>
            <a:r>
              <a:rPr lang="en-US" sz="2000" dirty="0">
                <a:solidFill>
                  <a:schemeClr val="tx1"/>
                </a:solidFill>
              </a:rPr>
              <a:t>Addressing modes define the rules and mechanisms by which the processor calculates the effective memory address or operand location for data operations.</a:t>
            </a:r>
            <a:endParaRPr lang="en-US" sz="2000" dirty="0">
              <a:solidFill>
                <a:schemeClr val="tx1"/>
              </a:solidFill>
            </a:endParaRPr>
          </a:p>
          <a:p>
            <a:pPr algn="just">
              <a:lnSpc>
                <a:spcPct val="150000"/>
              </a:lnSpc>
              <a:spcAft>
                <a:spcPts val="1000"/>
              </a:spcAft>
            </a:pPr>
            <a:r>
              <a:rPr lang="en-US" sz="2000" dirty="0">
                <a:solidFill>
                  <a:schemeClr val="tx1"/>
                </a:solidFill>
              </a:rPr>
              <a:t>The way any operand is selected during the program execution is dependent on the addressing mode of the instruction. The purpose of using addressing modes is as follows:</a:t>
            </a:r>
            <a:endParaRPr lang="en-US" sz="2000" dirty="0">
              <a:solidFill>
                <a:schemeClr val="tx1"/>
              </a:solidFill>
            </a:endParaRPr>
          </a:p>
          <a:p>
            <a:pPr marL="781050" lvl="1" indent="-457200" algn="just">
              <a:lnSpc>
                <a:spcPct val="150000"/>
              </a:lnSpc>
              <a:spcAft>
                <a:spcPts val="1000"/>
              </a:spcAft>
              <a:buFont typeface="+mj-lt"/>
              <a:buAutoNum type="arabicPeriod"/>
            </a:pPr>
            <a:r>
              <a:rPr lang="en-US" sz="1800" dirty="0">
                <a:solidFill>
                  <a:schemeClr val="tx1"/>
                </a:solidFill>
              </a:rPr>
              <a:t>To give the programming versatility to the user.</a:t>
            </a:r>
            <a:endParaRPr lang="en-US" sz="1800" dirty="0">
              <a:solidFill>
                <a:schemeClr val="tx1"/>
              </a:solidFill>
            </a:endParaRPr>
          </a:p>
          <a:p>
            <a:pPr marL="781050" lvl="1" indent="-457200" algn="just">
              <a:lnSpc>
                <a:spcPct val="150000"/>
              </a:lnSpc>
              <a:spcAft>
                <a:spcPts val="1000"/>
              </a:spcAft>
              <a:buFont typeface="+mj-lt"/>
              <a:buAutoNum type="arabicPeriod"/>
            </a:pPr>
            <a:r>
              <a:rPr lang="en-US" sz="1800" dirty="0">
                <a:solidFill>
                  <a:schemeClr val="tx1"/>
                </a:solidFill>
              </a:rPr>
              <a:t>To reduce the number of bits in addressing the field of instruction.</a:t>
            </a:r>
            <a:endParaRPr lang="en-US" sz="1800" dirty="0">
              <a:solidFill>
                <a:schemeClr val="tx1"/>
              </a:solidFill>
            </a:endParaRPr>
          </a:p>
          <a:p>
            <a:pPr algn="just">
              <a:lnSpc>
                <a:spcPct val="150000"/>
              </a:lnSpc>
              <a:spcAft>
                <a:spcPts val="1000"/>
              </a:spcAft>
            </a:pPr>
            <a:endParaRPr lang="en-US" sz="2000"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p:cNvGraphicFramePr>
            <a:graphicFrameLocks noGrp="1"/>
          </p:cNvGraphicFramePr>
          <p:nvPr/>
        </p:nvGraphicFramePr>
        <p:xfrm>
          <a:off x="581193" y="3214394"/>
          <a:ext cx="2801257" cy="473991"/>
        </p:xfrm>
        <a:graphic>
          <a:graphicData uri="http://schemas.openxmlformats.org/drawingml/2006/table">
            <a:tbl>
              <a:tblPr firstRow="1" bandRow="1">
                <a:tableStyleId>{BC89EF96-8CEA-46FF-86C4-4CE0E7609802}</a:tableStyleId>
              </a:tblPr>
              <a:tblGrid>
                <a:gridCol w="2801257"/>
              </a:tblGrid>
              <a:tr h="473991">
                <a:tc>
                  <a:txBody>
                    <a:bodyPr/>
                    <a:lstStyle/>
                    <a:p>
                      <a:pPr algn="ctr"/>
                      <a:r>
                        <a:rPr lang="en-IN" dirty="0"/>
                        <a:t>Types of Addressing Modes</a:t>
                      </a:r>
                      <a:endParaRPr lang="en-IN" dirty="0"/>
                    </a:p>
                  </a:txBody>
                  <a:tcPr anchor="ctr"/>
                </a:tc>
              </a:tr>
            </a:tbl>
          </a:graphicData>
        </a:graphic>
      </p:graphicFrame>
      <p:graphicFrame>
        <p:nvGraphicFramePr>
          <p:cNvPr id="9" name="Table 7"/>
          <p:cNvGraphicFramePr>
            <a:graphicFrameLocks noGrp="1"/>
          </p:cNvGraphicFramePr>
          <p:nvPr/>
        </p:nvGraphicFramePr>
        <p:xfrm>
          <a:off x="6008292" y="3029889"/>
          <a:ext cx="3835477" cy="365761"/>
        </p:xfrm>
        <a:graphic>
          <a:graphicData uri="http://schemas.openxmlformats.org/drawingml/2006/table">
            <a:tbl>
              <a:tblPr firstRow="1" bandRow="1">
                <a:tableStyleId>{BC89EF96-8CEA-46FF-86C4-4CE0E7609802}</a:tableStyleId>
              </a:tblPr>
              <a:tblGrid>
                <a:gridCol w="3835477"/>
              </a:tblGrid>
              <a:tr h="365761">
                <a:tc>
                  <a:txBody>
                    <a:bodyPr/>
                    <a:lstStyle/>
                    <a:p>
                      <a:pPr algn="l"/>
                      <a:r>
                        <a:rPr lang="en-IN" dirty="0"/>
                        <a:t>6 Auto-Decrement Addressing Modes</a:t>
                      </a:r>
                      <a:endParaRPr lang="en-IN" dirty="0"/>
                    </a:p>
                  </a:txBody>
                  <a:tcPr anchor="ctr"/>
                </a:tc>
              </a:tr>
            </a:tbl>
          </a:graphicData>
        </a:graphic>
      </p:graphicFrame>
      <p:graphicFrame>
        <p:nvGraphicFramePr>
          <p:cNvPr id="10" name="Table 7"/>
          <p:cNvGraphicFramePr>
            <a:graphicFrameLocks noGrp="1"/>
          </p:cNvGraphicFramePr>
          <p:nvPr/>
        </p:nvGraphicFramePr>
        <p:xfrm>
          <a:off x="6008294" y="2606749"/>
          <a:ext cx="3835479" cy="365760"/>
        </p:xfrm>
        <a:graphic>
          <a:graphicData uri="http://schemas.openxmlformats.org/drawingml/2006/table">
            <a:tbl>
              <a:tblPr firstRow="1" bandRow="1">
                <a:tableStyleId>{BC89EF96-8CEA-46FF-86C4-4CE0E7609802}</a:tableStyleId>
              </a:tblPr>
              <a:tblGrid>
                <a:gridCol w="3835479"/>
              </a:tblGrid>
              <a:tr h="294611">
                <a:tc>
                  <a:txBody>
                    <a:bodyPr/>
                    <a:lstStyle/>
                    <a:p>
                      <a:pPr algn="l"/>
                      <a:r>
                        <a:rPr lang="en-IN" dirty="0"/>
                        <a:t>5 Auto-Increment Addressing Modes</a:t>
                      </a:r>
                      <a:endParaRPr lang="en-IN" dirty="0"/>
                    </a:p>
                  </a:txBody>
                  <a:tcPr anchor="ctr"/>
                </a:tc>
              </a:tr>
            </a:tbl>
          </a:graphicData>
        </a:graphic>
      </p:graphicFrame>
      <p:graphicFrame>
        <p:nvGraphicFramePr>
          <p:cNvPr id="11" name="Table 7"/>
          <p:cNvGraphicFramePr>
            <a:graphicFrameLocks noGrp="1"/>
          </p:cNvGraphicFramePr>
          <p:nvPr/>
        </p:nvGraphicFramePr>
        <p:xfrm>
          <a:off x="6008294" y="2183609"/>
          <a:ext cx="3835485" cy="365760"/>
        </p:xfrm>
        <a:graphic>
          <a:graphicData uri="http://schemas.openxmlformats.org/drawingml/2006/table">
            <a:tbl>
              <a:tblPr firstRow="1" bandRow="1">
                <a:tableStyleId>{BC89EF96-8CEA-46FF-86C4-4CE0E7609802}</a:tableStyleId>
              </a:tblPr>
              <a:tblGrid>
                <a:gridCol w="3835485"/>
              </a:tblGrid>
              <a:tr h="269634">
                <a:tc>
                  <a:txBody>
                    <a:bodyPr/>
                    <a:lstStyle/>
                    <a:p>
                      <a:pPr algn="l"/>
                      <a:r>
                        <a:rPr lang="en-IN" dirty="0"/>
                        <a:t>4 Register Indirect Addressing Modes</a:t>
                      </a:r>
                      <a:endParaRPr lang="en-IN" dirty="0"/>
                    </a:p>
                  </a:txBody>
                  <a:tcPr anchor="ctr"/>
                </a:tc>
              </a:tr>
            </a:tbl>
          </a:graphicData>
        </a:graphic>
      </p:graphicFrame>
      <p:graphicFrame>
        <p:nvGraphicFramePr>
          <p:cNvPr id="12" name="Table 7"/>
          <p:cNvGraphicFramePr>
            <a:graphicFrameLocks noGrp="1"/>
          </p:cNvGraphicFramePr>
          <p:nvPr/>
        </p:nvGraphicFramePr>
        <p:xfrm>
          <a:off x="6008294" y="1760918"/>
          <a:ext cx="3835489" cy="365760"/>
        </p:xfrm>
        <a:graphic>
          <a:graphicData uri="http://schemas.openxmlformats.org/drawingml/2006/table">
            <a:tbl>
              <a:tblPr firstRow="1" bandRow="1">
                <a:tableStyleId>{BC89EF96-8CEA-46FF-86C4-4CE0E7609802}</a:tableStyleId>
              </a:tblPr>
              <a:tblGrid>
                <a:gridCol w="3835489"/>
              </a:tblGrid>
              <a:tr h="365760">
                <a:tc>
                  <a:txBody>
                    <a:bodyPr/>
                    <a:lstStyle/>
                    <a:p>
                      <a:pPr algn="l"/>
                      <a:r>
                        <a:rPr lang="en-IN" dirty="0"/>
                        <a:t>3  Register Direct Addressing Modes</a:t>
                      </a:r>
                      <a:endParaRPr lang="en-IN" dirty="0"/>
                    </a:p>
                  </a:txBody>
                  <a:tcPr anchor="ctr"/>
                </a:tc>
              </a:tr>
            </a:tbl>
          </a:graphicData>
        </a:graphic>
      </p:graphicFrame>
      <p:graphicFrame>
        <p:nvGraphicFramePr>
          <p:cNvPr id="13" name="Table 7"/>
          <p:cNvGraphicFramePr>
            <a:graphicFrameLocks noGrp="1"/>
          </p:cNvGraphicFramePr>
          <p:nvPr/>
        </p:nvGraphicFramePr>
        <p:xfrm>
          <a:off x="6008294" y="1356202"/>
          <a:ext cx="3835495" cy="365761"/>
        </p:xfrm>
        <a:graphic>
          <a:graphicData uri="http://schemas.openxmlformats.org/drawingml/2006/table">
            <a:tbl>
              <a:tblPr firstRow="1" bandRow="1">
                <a:tableStyleId>{BC89EF96-8CEA-46FF-86C4-4CE0E7609802}</a:tableStyleId>
              </a:tblPr>
              <a:tblGrid>
                <a:gridCol w="3835495"/>
              </a:tblGrid>
              <a:tr h="365761">
                <a:tc>
                  <a:txBody>
                    <a:bodyPr/>
                    <a:lstStyle/>
                    <a:p>
                      <a:pPr algn="l"/>
                      <a:r>
                        <a:rPr lang="en-IN" dirty="0"/>
                        <a:t>2  Immediate Addressing Modes</a:t>
                      </a:r>
                      <a:endParaRPr lang="en-IN" dirty="0"/>
                    </a:p>
                  </a:txBody>
                  <a:tcPr anchor="ctr"/>
                </a:tc>
              </a:tr>
            </a:tbl>
          </a:graphicData>
        </a:graphic>
      </p:graphicFrame>
      <p:graphicFrame>
        <p:nvGraphicFramePr>
          <p:cNvPr id="14" name="Table 7"/>
          <p:cNvGraphicFramePr>
            <a:graphicFrameLocks noGrp="1"/>
          </p:cNvGraphicFramePr>
          <p:nvPr/>
        </p:nvGraphicFramePr>
        <p:xfrm>
          <a:off x="6008295" y="951487"/>
          <a:ext cx="3835499" cy="365760"/>
        </p:xfrm>
        <a:graphic>
          <a:graphicData uri="http://schemas.openxmlformats.org/drawingml/2006/table">
            <a:tbl>
              <a:tblPr firstRow="1" bandRow="1">
                <a:tableStyleId>{BC89EF96-8CEA-46FF-86C4-4CE0E7609802}</a:tableStyleId>
              </a:tblPr>
              <a:tblGrid>
                <a:gridCol w="3835499"/>
              </a:tblGrid>
              <a:tr h="317463">
                <a:tc>
                  <a:txBody>
                    <a:bodyPr/>
                    <a:lstStyle/>
                    <a:p>
                      <a:pPr algn="l"/>
                      <a:r>
                        <a:rPr lang="en-IN" dirty="0"/>
                        <a:t>1  Implied/Implicit Addressing Modes</a:t>
                      </a:r>
                      <a:endParaRPr lang="en-IN" dirty="0"/>
                    </a:p>
                  </a:txBody>
                  <a:tcPr anchor="ctr"/>
                </a:tc>
              </a:tr>
            </a:tbl>
          </a:graphicData>
        </a:graphic>
      </p:graphicFrame>
      <p:graphicFrame>
        <p:nvGraphicFramePr>
          <p:cNvPr id="24" name="Table 7"/>
          <p:cNvGraphicFramePr>
            <a:graphicFrameLocks noGrp="1"/>
          </p:cNvGraphicFramePr>
          <p:nvPr/>
        </p:nvGraphicFramePr>
        <p:xfrm>
          <a:off x="6008290" y="5108292"/>
          <a:ext cx="3835465" cy="365761"/>
        </p:xfrm>
        <a:graphic>
          <a:graphicData uri="http://schemas.openxmlformats.org/drawingml/2006/table">
            <a:tbl>
              <a:tblPr firstRow="1" bandRow="1">
                <a:tableStyleId>{BC89EF96-8CEA-46FF-86C4-4CE0E7609802}</a:tableStyleId>
              </a:tblPr>
              <a:tblGrid>
                <a:gridCol w="3835465"/>
              </a:tblGrid>
              <a:tr h="365761">
                <a:tc>
                  <a:txBody>
                    <a:bodyPr/>
                    <a:lstStyle/>
                    <a:p>
                      <a:pPr algn="just"/>
                      <a:r>
                        <a:rPr lang="en-IN" dirty="0"/>
                        <a:t>11 Indexed Addressing Modes</a:t>
                      </a:r>
                      <a:endParaRPr lang="en-IN" dirty="0"/>
                    </a:p>
                  </a:txBody>
                  <a:tcPr anchor="ctr"/>
                </a:tc>
              </a:tr>
            </a:tbl>
          </a:graphicData>
        </a:graphic>
      </p:graphicFrame>
      <p:graphicFrame>
        <p:nvGraphicFramePr>
          <p:cNvPr id="25" name="Table 7"/>
          <p:cNvGraphicFramePr>
            <a:graphicFrameLocks noGrp="1"/>
          </p:cNvGraphicFramePr>
          <p:nvPr/>
        </p:nvGraphicFramePr>
        <p:xfrm>
          <a:off x="6008292" y="4685152"/>
          <a:ext cx="3835466" cy="365760"/>
        </p:xfrm>
        <a:graphic>
          <a:graphicData uri="http://schemas.openxmlformats.org/drawingml/2006/table">
            <a:tbl>
              <a:tblPr firstRow="1" bandRow="1">
                <a:tableStyleId>{BC89EF96-8CEA-46FF-86C4-4CE0E7609802}</a:tableStyleId>
              </a:tblPr>
              <a:tblGrid>
                <a:gridCol w="3835466"/>
              </a:tblGrid>
              <a:tr h="294611">
                <a:tc>
                  <a:txBody>
                    <a:bodyPr/>
                    <a:lstStyle/>
                    <a:p>
                      <a:pPr algn="just"/>
                      <a:r>
                        <a:rPr lang="en-IN" dirty="0"/>
                        <a:t>10 Relative Addressing Modes</a:t>
                      </a:r>
                      <a:endParaRPr lang="en-IN" dirty="0"/>
                    </a:p>
                  </a:txBody>
                  <a:tcPr anchor="ctr"/>
                </a:tc>
              </a:tr>
            </a:tbl>
          </a:graphicData>
        </a:graphic>
      </p:graphicFrame>
      <p:graphicFrame>
        <p:nvGraphicFramePr>
          <p:cNvPr id="26" name="Table 7"/>
          <p:cNvGraphicFramePr>
            <a:graphicFrameLocks noGrp="1"/>
          </p:cNvGraphicFramePr>
          <p:nvPr/>
        </p:nvGraphicFramePr>
        <p:xfrm>
          <a:off x="6008292" y="4262012"/>
          <a:ext cx="3835470" cy="365760"/>
        </p:xfrm>
        <a:graphic>
          <a:graphicData uri="http://schemas.openxmlformats.org/drawingml/2006/table">
            <a:tbl>
              <a:tblPr firstRow="1" bandRow="1">
                <a:tableStyleId>{BC89EF96-8CEA-46FF-86C4-4CE0E7609802}</a:tableStyleId>
              </a:tblPr>
              <a:tblGrid>
                <a:gridCol w="3835470"/>
              </a:tblGrid>
              <a:tr h="269634">
                <a:tc>
                  <a:txBody>
                    <a:bodyPr/>
                    <a:lstStyle/>
                    <a:p>
                      <a:pPr algn="just"/>
                      <a:r>
                        <a:rPr lang="en-IN" dirty="0"/>
                        <a:t>9 Displacement Addressing Modes</a:t>
                      </a:r>
                      <a:endParaRPr lang="en-IN" dirty="0"/>
                    </a:p>
                  </a:txBody>
                  <a:tcPr anchor="ctr"/>
                </a:tc>
              </a:tr>
            </a:tbl>
          </a:graphicData>
        </a:graphic>
      </p:graphicFrame>
      <p:graphicFrame>
        <p:nvGraphicFramePr>
          <p:cNvPr id="27" name="Table 7"/>
          <p:cNvGraphicFramePr>
            <a:graphicFrameLocks noGrp="1"/>
          </p:cNvGraphicFramePr>
          <p:nvPr/>
        </p:nvGraphicFramePr>
        <p:xfrm>
          <a:off x="6008292" y="3839321"/>
          <a:ext cx="3835473" cy="365760"/>
        </p:xfrm>
        <a:graphic>
          <a:graphicData uri="http://schemas.openxmlformats.org/drawingml/2006/table">
            <a:tbl>
              <a:tblPr firstRow="1" bandRow="1">
                <a:tableStyleId>{BC89EF96-8CEA-46FF-86C4-4CE0E7609802}</a:tableStyleId>
              </a:tblPr>
              <a:tblGrid>
                <a:gridCol w="3835473"/>
              </a:tblGrid>
              <a:tr h="365760">
                <a:tc>
                  <a:txBody>
                    <a:bodyPr/>
                    <a:lstStyle/>
                    <a:p>
                      <a:pPr algn="just"/>
                      <a:r>
                        <a:rPr lang="en-IN" dirty="0"/>
                        <a:t>8 Indirect Addressing Modes</a:t>
                      </a:r>
                      <a:endParaRPr lang="en-IN" dirty="0"/>
                    </a:p>
                  </a:txBody>
                  <a:tcPr anchor="ctr"/>
                </a:tc>
              </a:tr>
            </a:tbl>
          </a:graphicData>
        </a:graphic>
      </p:graphicFrame>
      <p:graphicFrame>
        <p:nvGraphicFramePr>
          <p:cNvPr id="28" name="Table 7"/>
          <p:cNvGraphicFramePr>
            <a:graphicFrameLocks noGrp="1"/>
          </p:cNvGraphicFramePr>
          <p:nvPr/>
        </p:nvGraphicFramePr>
        <p:xfrm>
          <a:off x="6008292" y="3434605"/>
          <a:ext cx="3835475" cy="365761"/>
        </p:xfrm>
        <a:graphic>
          <a:graphicData uri="http://schemas.openxmlformats.org/drawingml/2006/table">
            <a:tbl>
              <a:tblPr firstRow="1" bandRow="1">
                <a:tableStyleId>{BC89EF96-8CEA-46FF-86C4-4CE0E7609802}</a:tableStyleId>
              </a:tblPr>
              <a:tblGrid>
                <a:gridCol w="3835475"/>
              </a:tblGrid>
              <a:tr h="365761">
                <a:tc>
                  <a:txBody>
                    <a:bodyPr/>
                    <a:lstStyle/>
                    <a:p>
                      <a:pPr algn="l"/>
                      <a:r>
                        <a:rPr lang="en-IN" dirty="0"/>
                        <a:t>7 Direct Addressing Modes</a:t>
                      </a:r>
                      <a:endParaRPr lang="en-IN" dirty="0"/>
                    </a:p>
                  </a:txBody>
                  <a:tcPr anchor="ctr"/>
                </a:tc>
              </a:tr>
            </a:tbl>
          </a:graphicData>
        </a:graphic>
      </p:graphicFrame>
      <p:graphicFrame>
        <p:nvGraphicFramePr>
          <p:cNvPr id="29" name="Table 7"/>
          <p:cNvGraphicFramePr>
            <a:graphicFrameLocks noGrp="1"/>
          </p:cNvGraphicFramePr>
          <p:nvPr/>
        </p:nvGraphicFramePr>
        <p:xfrm>
          <a:off x="6008290" y="5546349"/>
          <a:ext cx="3835464" cy="365761"/>
        </p:xfrm>
        <a:graphic>
          <a:graphicData uri="http://schemas.openxmlformats.org/drawingml/2006/table">
            <a:tbl>
              <a:tblPr firstRow="1" bandRow="1">
                <a:tableStyleId>{BC89EF96-8CEA-46FF-86C4-4CE0E7609802}</a:tableStyleId>
              </a:tblPr>
              <a:tblGrid>
                <a:gridCol w="3835464"/>
              </a:tblGrid>
              <a:tr h="365761">
                <a:tc>
                  <a:txBody>
                    <a:bodyPr/>
                    <a:lstStyle/>
                    <a:p>
                      <a:pPr algn="just"/>
                      <a:r>
                        <a:rPr lang="en-IN" dirty="0"/>
                        <a:t>12 Base Register Addressing Modes</a:t>
                      </a:r>
                      <a:endParaRPr lang="en-IN" dirty="0"/>
                    </a:p>
                  </a:txBody>
                  <a:tcPr anchor="ctr"/>
                </a:tc>
              </a:tr>
            </a:tbl>
          </a:graphicData>
        </a:graphic>
      </p:graphicFrame>
      <p:graphicFrame>
        <p:nvGraphicFramePr>
          <p:cNvPr id="30" name="Table 7"/>
          <p:cNvGraphicFramePr>
            <a:graphicFrameLocks noGrp="1"/>
          </p:cNvGraphicFramePr>
          <p:nvPr/>
        </p:nvGraphicFramePr>
        <p:xfrm>
          <a:off x="6008290" y="5989348"/>
          <a:ext cx="3835460" cy="365761"/>
        </p:xfrm>
        <a:graphic>
          <a:graphicData uri="http://schemas.openxmlformats.org/drawingml/2006/table">
            <a:tbl>
              <a:tblPr firstRow="1" bandRow="1">
                <a:tableStyleId>{BC89EF96-8CEA-46FF-86C4-4CE0E7609802}</a:tableStyleId>
              </a:tblPr>
              <a:tblGrid>
                <a:gridCol w="3835460"/>
              </a:tblGrid>
              <a:tr h="365761">
                <a:tc>
                  <a:txBody>
                    <a:bodyPr/>
                    <a:lstStyle/>
                    <a:p>
                      <a:pPr algn="just"/>
                      <a:r>
                        <a:rPr lang="en-IN" dirty="0"/>
                        <a:t>13 Stack Addressing Modes</a:t>
                      </a:r>
                      <a:endParaRPr lang="en-IN" dirty="0"/>
                    </a:p>
                  </a:txBody>
                  <a:tcPr anchor="ctr"/>
                </a:tc>
              </a:tr>
            </a:tbl>
          </a:graphicData>
        </a:graphic>
      </p:graphicFrame>
      <p:cxnSp>
        <p:nvCxnSpPr>
          <p:cNvPr id="32" name="Straight Connector 31"/>
          <p:cNvCxnSpPr/>
          <p:nvPr/>
        </p:nvCxnSpPr>
        <p:spPr>
          <a:xfrm>
            <a:off x="3382450" y="3451389"/>
            <a:ext cx="1096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478694" y="1134367"/>
            <a:ext cx="0" cy="5037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14" idx="1"/>
          </p:cNvCxnSpPr>
          <p:nvPr/>
        </p:nvCxnSpPr>
        <p:spPr>
          <a:xfrm>
            <a:off x="4478694" y="1134367"/>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475890" y="2366489"/>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475890" y="2789629"/>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475891" y="3212769"/>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475891" y="3617485"/>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475891" y="4022201"/>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475892" y="4431594"/>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475893" y="4868032"/>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475893" y="5291172"/>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475893" y="5729229"/>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475893" y="6171371"/>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475890" y="1539082"/>
            <a:ext cx="15296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475890" y="1943798"/>
            <a:ext cx="152960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4"/>
          <a:ext cx="3061060" cy="317464"/>
        </p:xfrm>
        <a:graphic>
          <a:graphicData uri="http://schemas.openxmlformats.org/drawingml/2006/table">
            <a:tbl>
              <a:tblPr firstRow="1" bandRow="1">
                <a:tableStyleId>{B301B821-A1FF-4177-AEE7-76D212191A09}</a:tableStyleId>
              </a:tblPr>
              <a:tblGrid>
                <a:gridCol w="3061060"/>
              </a:tblGrid>
              <a:tr h="317464">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{B301B821-A1FF-4177-AEE7-76D212191A09}</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825551" y="811763"/>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1. Implied/Implicit Addressing Modes:</a:t>
            </a:r>
            <a:endParaRPr lang="en-US" b="1" dirty="0"/>
          </a:p>
          <a:p>
            <a:pPr marL="285750" indent="-285750" algn="just">
              <a:buClr>
                <a:schemeClr val="accent2"/>
              </a:buClr>
              <a:buFont typeface="Wingdings" panose="05000000000000000000" pitchFamily="2" charset="2"/>
              <a:buChar char="§"/>
            </a:pPr>
            <a:r>
              <a:rPr lang="en-US" dirty="0"/>
              <a:t>Address of the operands is specified implicitly in the definition of the instruction.</a:t>
            </a:r>
            <a:endParaRPr lang="en-US" dirty="0"/>
          </a:p>
          <a:p>
            <a:pPr marL="285750" indent="-285750" algn="just">
              <a:buClr>
                <a:schemeClr val="accent2"/>
              </a:buClr>
              <a:buFont typeface="Wingdings" panose="05000000000000000000" pitchFamily="2" charset="2"/>
              <a:buChar char="§"/>
            </a:pPr>
            <a:r>
              <a:rPr lang="en-US" dirty="0"/>
              <a:t>All registers, reference the instructions that use an accumulator, and Zero-address instructions in a stack-organized computer are implied addressing mode instructions.</a:t>
            </a:r>
            <a:endParaRPr lang="en-US" dirty="0"/>
          </a:p>
          <a:p>
            <a:pPr marL="285750" indent="-285750" algn="just">
              <a:buClr>
                <a:schemeClr val="accent2"/>
              </a:buClr>
              <a:buFont typeface="Wingdings" panose="05000000000000000000" pitchFamily="2" charset="2"/>
              <a:buChar char="§"/>
            </a:pPr>
            <a:r>
              <a:rPr lang="en-US" dirty="0"/>
              <a:t>EA = AC, or EA = Stack[SP]</a:t>
            </a:r>
            <a:endParaRPr lang="en-US" dirty="0"/>
          </a:p>
          <a:p>
            <a:pPr marL="285750" indent="-285750" algn="just">
              <a:buClr>
                <a:schemeClr val="accent2"/>
              </a:buClr>
              <a:buFont typeface="Wingdings" panose="05000000000000000000" pitchFamily="2" charset="2"/>
              <a:buChar char="§"/>
            </a:pPr>
            <a:endParaRPr lang="en-US"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dirty="0">
                <a:solidFill>
                  <a:srgbClr val="FF0000"/>
                </a:solidFill>
              </a:rPr>
              <a:t>CMA, CLA, PUSH, POP, etc.</a:t>
            </a:r>
            <a:endParaRPr lang="en-US" dirty="0">
              <a:solidFill>
                <a:srgbClr val="FF0000"/>
              </a:solidFill>
            </a:endParaRPr>
          </a:p>
          <a:p>
            <a:pPr marL="285750" indent="-285750" algn="just">
              <a:buClr>
                <a:schemeClr val="accent2"/>
              </a:buClr>
              <a:buFont typeface="Wingdings" panose="05000000000000000000" pitchFamily="2" charset="2"/>
              <a:buChar char="§"/>
            </a:pPr>
            <a:endParaRPr lang="en-US" dirty="0"/>
          </a:p>
        </p:txBody>
      </p:sp>
      <p:sp>
        <p:nvSpPr>
          <p:cNvPr id="16" name="Rectangle 15"/>
          <p:cNvSpPr/>
          <p:nvPr/>
        </p:nvSpPr>
        <p:spPr>
          <a:xfrm>
            <a:off x="3825551" y="3592522"/>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2. Immediate Addressing Modes</a:t>
            </a:r>
            <a:endParaRPr lang="en-IN" b="1" dirty="0"/>
          </a:p>
          <a:p>
            <a:pPr marL="285750" indent="-285750" algn="just">
              <a:buClr>
                <a:schemeClr val="accent2"/>
              </a:buClr>
              <a:buFont typeface="Wingdings" panose="05000000000000000000" pitchFamily="2" charset="2"/>
              <a:buChar char="§"/>
            </a:pPr>
            <a:r>
              <a:rPr lang="en-US" dirty="0"/>
              <a:t>The operand is defined in the instruction itself which is used to perform a specified operation.</a:t>
            </a:r>
            <a:endParaRPr lang="en-US" b="1" dirty="0"/>
          </a:p>
          <a:p>
            <a:pPr marL="285750" indent="-285750" algn="just">
              <a:buClr>
                <a:schemeClr val="accent2"/>
              </a:buClr>
              <a:buFont typeface="Wingdings" panose="05000000000000000000" pitchFamily="2" charset="2"/>
              <a:buChar char="§"/>
            </a:pPr>
            <a:r>
              <a:rPr lang="en-US" dirty="0"/>
              <a:t>Instruction has an operand field instead of an address field. </a:t>
            </a:r>
            <a:endParaRPr lang="en-US" dirty="0"/>
          </a:p>
          <a:p>
            <a:pPr marL="285750" indent="-285750" algn="just">
              <a:buClr>
                <a:schemeClr val="accent2"/>
              </a:buClr>
              <a:buFont typeface="Wingdings" panose="05000000000000000000" pitchFamily="2" charset="2"/>
              <a:buChar char="§"/>
            </a:pPr>
            <a:r>
              <a:rPr lang="en-US" dirty="0"/>
              <a:t>Help initialize registers to a constant value.</a:t>
            </a:r>
            <a:endParaRPr lang="en-US" dirty="0"/>
          </a:p>
          <a:p>
            <a:pPr marL="285750" indent="-285750" algn="just">
              <a:buClr>
                <a:schemeClr val="accent2"/>
              </a:buClr>
              <a:buFont typeface="Wingdings" panose="05000000000000000000" pitchFamily="2" charset="2"/>
              <a:buChar char="§"/>
            </a:pPr>
            <a:endParaRPr lang="en-US"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dirty="0">
                <a:solidFill>
                  <a:srgbClr val="FF0000"/>
                </a:solidFill>
              </a:rPr>
              <a:t>ADD 8 will increment the value stored in the accumulator by 8.</a:t>
            </a:r>
            <a:endParaRPr lang="en-US" dirty="0">
              <a:solidFill>
                <a:srgbClr val="FF0000"/>
              </a:solidFill>
            </a:endParaRPr>
          </a:p>
          <a:p>
            <a:pPr marL="285750" indent="-285750" algn="just">
              <a:buClr>
                <a:schemeClr val="accent2"/>
              </a:buClr>
              <a:buFont typeface="Wingdings" panose="05000000000000000000" pitchFamily="2" charset="2"/>
              <a:buChar char="§"/>
            </a:pPr>
            <a:endParaRPr lang="en-US" dirty="0"/>
          </a:p>
          <a:p>
            <a:pPr algn="just">
              <a:buClr>
                <a:schemeClr val="accent2"/>
              </a:buClr>
            </a:pPr>
            <a:endParaRPr lang="en-US" dirty="0"/>
          </a:p>
          <a:p>
            <a:pPr marL="285750" indent="-285750" algn="just">
              <a:buClr>
                <a:schemeClr val="accent2"/>
              </a:buClr>
              <a:buFont typeface="Wingdings" panose="05000000000000000000" pitchFamily="2" charset="2"/>
              <a:buChar char="§"/>
            </a:pPr>
            <a:endParaRPr lang="en-IN" dirty="0"/>
          </a:p>
        </p:txBody>
      </p:sp>
      <p:cxnSp>
        <p:nvCxnSpPr>
          <p:cNvPr id="18" name="Connector: Elbow 17"/>
          <p:cNvCxnSpPr>
            <a:stCxn id="7" idx="3"/>
            <a:endCxn id="15" idx="1"/>
          </p:cNvCxnSpPr>
          <p:nvPr/>
        </p:nvCxnSpPr>
        <p:spPr>
          <a:xfrm>
            <a:off x="3153747" y="1128879"/>
            <a:ext cx="671804" cy="121298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p:cNvCxnSpPr>
            <a:stCxn id="6" idx="3"/>
            <a:endCxn id="16" idx="1"/>
          </p:cNvCxnSpPr>
          <p:nvPr/>
        </p:nvCxnSpPr>
        <p:spPr>
          <a:xfrm>
            <a:off x="3153747" y="1533596"/>
            <a:ext cx="671804" cy="3589029"/>
          </a:xfrm>
          <a:prstGeom prst="bentConnector3">
            <a:avLst>
              <a:gd name="adj1" fmla="val 29167"/>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Table 7"/>
          <p:cNvGraphicFramePr>
            <a:graphicFrameLocks noGrp="1"/>
          </p:cNvGraphicFramePr>
          <p:nvPr/>
        </p:nvGraphicFramePr>
        <p:xfrm>
          <a:off x="5962260" y="5847989"/>
          <a:ext cx="4040156" cy="685800"/>
        </p:xfrm>
        <a:graphic>
          <a:graphicData uri="http://schemas.openxmlformats.org/drawingml/2006/table">
            <a:tbl>
              <a:tblPr firstRow="1" bandRow="1">
                <a:tableStyleId>{BC89EF96-8CEA-46FF-86C4-4CE0E7609802}</a:tableStyleId>
              </a:tblPr>
              <a:tblGrid>
                <a:gridCol w="2020078"/>
                <a:gridCol w="2020078"/>
              </a:tblGrid>
              <a:tr h="0">
                <a:tc gridSpan="2">
                  <a:txBody>
                    <a:bodyPr/>
                    <a:lstStyle/>
                    <a:p>
                      <a:pPr algn="ctr"/>
                      <a:r>
                        <a:rPr lang="en-IN" sz="1600" dirty="0"/>
                        <a:t>Instruction </a:t>
                      </a:r>
                      <a:endParaRPr lang="en-IN" sz="1600" dirty="0"/>
                    </a:p>
                  </a:txBody>
                  <a:tcPr anchor="ctr"/>
                </a:tc>
                <a:tc hMerge="1">
                  <a:tcPr anchor="ctr"/>
                </a:tc>
              </a:tr>
              <a:tr h="261875">
                <a:tc>
                  <a:txBody>
                    <a:bodyPr/>
                    <a:lstStyle/>
                    <a:p>
                      <a:pPr algn="ctr"/>
                      <a:r>
                        <a:rPr lang="en-IN" sz="1700" b="1" dirty="0"/>
                        <a:t>OPCODE</a:t>
                      </a:r>
                      <a:endParaRPr lang="en-IN" sz="1700" b="1" dirty="0"/>
                    </a:p>
                  </a:txBody>
                  <a:tcPr anchor="ctr"/>
                </a:tc>
                <a:tc>
                  <a:txBody>
                    <a:bodyPr/>
                    <a:lstStyle/>
                    <a:p>
                      <a:pPr algn="ctr"/>
                      <a:r>
                        <a:rPr lang="en-IN" sz="1700" b="1" dirty="0"/>
                        <a:t>OPERAND</a:t>
                      </a:r>
                      <a:endParaRPr lang="en-IN" sz="1700" b="1" dirty="0"/>
                    </a:p>
                  </a:txBody>
                  <a:tcPr anchor="ctr"/>
                </a:tc>
              </a:tr>
            </a:tbl>
          </a:graphicData>
        </a:graphic>
      </p:graphicFrame>
      <p:graphicFrame>
        <p:nvGraphicFramePr>
          <p:cNvPr id="32" name="Table 7"/>
          <p:cNvGraphicFramePr>
            <a:graphicFrameLocks noGrp="1"/>
          </p:cNvGraphicFramePr>
          <p:nvPr/>
        </p:nvGraphicFramePr>
        <p:xfrm>
          <a:off x="8366451" y="2814517"/>
          <a:ext cx="2020078" cy="685800"/>
        </p:xfrm>
        <a:graphic>
          <a:graphicData uri="http://schemas.openxmlformats.org/drawingml/2006/table">
            <a:tbl>
              <a:tblPr firstRow="1" bandRow="1">
                <a:tableStyleId>{BC89EF96-8CEA-46FF-86C4-4CE0E7609802}</a:tableStyleId>
              </a:tblPr>
              <a:tblGrid>
                <a:gridCol w="2020078"/>
              </a:tblGrid>
              <a:tr h="0">
                <a:tc>
                  <a:txBody>
                    <a:bodyPr/>
                    <a:lstStyle/>
                    <a:p>
                      <a:pPr algn="ctr"/>
                      <a:r>
                        <a:rPr lang="en-IN" sz="1600" dirty="0"/>
                        <a:t>Instruction </a:t>
                      </a:r>
                      <a:endParaRPr lang="en-IN" sz="1600" dirty="0"/>
                    </a:p>
                  </a:txBody>
                  <a:tcPr anchor="ctr"/>
                </a:tc>
              </a:tr>
              <a:tr h="261875">
                <a:tc>
                  <a:txBody>
                    <a:bodyPr/>
                    <a:lstStyle/>
                    <a:p>
                      <a:pPr algn="ctr"/>
                      <a:r>
                        <a:rPr lang="en-IN" sz="1700" b="1" dirty="0"/>
                        <a:t>OPCODE</a:t>
                      </a:r>
                      <a:endParaRPr lang="en-IN" sz="1700" b="1" dirty="0"/>
                    </a:p>
                  </a:txBody>
                  <a:tcPr anchor="ct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{B301B821-A1FF-4177-AEE7-76D212191A09}</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{B301B821-A1FF-4177-AEE7-76D212191A09}</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825551" y="811763"/>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3. Register Direct Addressing Modes:</a:t>
            </a:r>
            <a:endParaRPr lang="en-US" b="1" dirty="0"/>
          </a:p>
          <a:p>
            <a:pPr marL="285750" indent="-285750" algn="just">
              <a:buClr>
                <a:schemeClr val="accent2"/>
              </a:buClr>
              <a:buFont typeface="Wingdings" panose="05000000000000000000" pitchFamily="2" charset="2"/>
              <a:buChar char="§"/>
            </a:pPr>
            <a:r>
              <a:rPr lang="en-US" sz="1700" dirty="0"/>
              <a:t>Address specified in the instruction is the register address.</a:t>
            </a:r>
            <a:endParaRPr lang="en-US" sz="1700" dirty="0"/>
          </a:p>
          <a:p>
            <a:pPr marL="285750" indent="-285750" algn="just">
              <a:buClr>
                <a:schemeClr val="accent2"/>
              </a:buClr>
              <a:buFont typeface="Wingdings" panose="05000000000000000000" pitchFamily="2" charset="2"/>
              <a:buChar char="§"/>
            </a:pPr>
            <a:r>
              <a:rPr lang="en-US" sz="1700" dirty="0"/>
              <a:t>Designated operand need to be in a register.</a:t>
            </a:r>
            <a:endParaRPr lang="en-US" sz="1700" dirty="0"/>
          </a:p>
          <a:p>
            <a:pPr marL="285750" indent="-285750" algn="just">
              <a:buClr>
                <a:schemeClr val="accent2"/>
              </a:buClr>
              <a:buFont typeface="Wingdings" panose="05000000000000000000" pitchFamily="2" charset="2"/>
              <a:buChar char="§"/>
            </a:pPr>
            <a:r>
              <a:rPr lang="en-US" sz="1700" dirty="0"/>
              <a:t>Shorter address than the memory address. Faster to acquire an operand than the memory addressing.</a:t>
            </a:r>
            <a:endParaRPr lang="en-US" sz="1700" dirty="0"/>
          </a:p>
          <a:p>
            <a:pPr marL="285750" indent="-285750" algn="just">
              <a:buClr>
                <a:schemeClr val="accent2"/>
              </a:buClr>
              <a:buFont typeface="Wingdings" panose="05000000000000000000" pitchFamily="2" charset="2"/>
              <a:buChar char="§"/>
            </a:pPr>
            <a:r>
              <a:rPr lang="en-US" sz="1700" dirty="0"/>
              <a:t>Saving address field in the instruction.</a:t>
            </a:r>
            <a:endParaRPr lang="en-US" sz="1700" dirty="0"/>
          </a:p>
          <a:p>
            <a:pPr marL="285750" indent="-285750" algn="just">
              <a:buClr>
                <a:schemeClr val="accent2"/>
              </a:buClr>
              <a:buFont typeface="Wingdings" panose="05000000000000000000" pitchFamily="2" charset="2"/>
              <a:buChar char="§"/>
            </a:pPr>
            <a:r>
              <a:rPr lang="en-US" sz="1700" dirty="0"/>
              <a:t>EA = IR(R) (</a:t>
            </a:r>
            <a:r>
              <a:rPr lang="en-US" sz="1700" b="1" dirty="0"/>
              <a:t>IR(R): </a:t>
            </a:r>
            <a:r>
              <a:rPr lang="en-US" sz="1700" dirty="0"/>
              <a:t>Register field of IR)</a:t>
            </a:r>
            <a:endParaRPr lang="en-US" sz="1700" dirty="0"/>
          </a:p>
          <a:p>
            <a:pPr marL="285750" indent="-285750" algn="just">
              <a:buClr>
                <a:schemeClr val="accent2"/>
              </a:buClr>
              <a:buFont typeface="Wingdings" panose="05000000000000000000" pitchFamily="2" charset="2"/>
              <a:buChar char="§"/>
            </a:pPr>
            <a:endParaRPr lang="en-US" sz="1700" b="1" dirty="0"/>
          </a:p>
          <a:p>
            <a:pPr marL="285750" indent="-285750" algn="just">
              <a:buClr>
                <a:schemeClr val="accent2"/>
              </a:buClr>
              <a:buFont typeface="Wingdings" panose="05000000000000000000" pitchFamily="2" charset="2"/>
              <a:buChar char="§"/>
            </a:pPr>
            <a:r>
              <a:rPr lang="en-US" sz="1700" b="1" dirty="0">
                <a:solidFill>
                  <a:srgbClr val="FF0000"/>
                </a:solidFill>
              </a:rPr>
              <a:t>Example: </a:t>
            </a:r>
            <a:r>
              <a:rPr lang="en-US" sz="1700" dirty="0">
                <a:solidFill>
                  <a:srgbClr val="FF0000"/>
                </a:solidFill>
              </a:rPr>
              <a:t>MOV R1, 35H</a:t>
            </a: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IN" sz="1700" dirty="0"/>
          </a:p>
        </p:txBody>
      </p:sp>
      <p:sp>
        <p:nvSpPr>
          <p:cNvPr id="16" name="Rectangle 15"/>
          <p:cNvSpPr/>
          <p:nvPr/>
        </p:nvSpPr>
        <p:spPr>
          <a:xfrm>
            <a:off x="3825551" y="3592522"/>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4. Register Indirect Addressing Modes</a:t>
            </a:r>
            <a:endParaRPr lang="en-IN" b="1" dirty="0"/>
          </a:p>
          <a:p>
            <a:pPr marL="285750" indent="-285750" algn="just">
              <a:buClr>
                <a:schemeClr val="accent2"/>
              </a:buClr>
              <a:buFont typeface="Wingdings" panose="05000000000000000000" pitchFamily="2" charset="2"/>
              <a:buChar char="§"/>
            </a:pPr>
            <a:r>
              <a:rPr lang="en-US" sz="1700" dirty="0"/>
              <a:t>The instruction defines a register in the CPU that stores the effective address of the operand in memory. </a:t>
            </a:r>
            <a:endParaRPr lang="en-US" sz="1700" dirty="0"/>
          </a:p>
          <a:p>
            <a:pPr marL="285750" indent="-285750" algn="just">
              <a:buClr>
                <a:schemeClr val="accent2"/>
              </a:buClr>
              <a:buFont typeface="Wingdings" panose="05000000000000000000" pitchFamily="2" charset="2"/>
              <a:buChar char="§"/>
            </a:pPr>
            <a:r>
              <a:rPr lang="en-US" sz="1700" dirty="0"/>
              <a:t>Only one reference to the memory is required to fetch the operand. The specified register contains the address of the operand instead of the operand.</a:t>
            </a:r>
            <a:endParaRPr lang="en-US" sz="1700" dirty="0"/>
          </a:p>
          <a:p>
            <a:pPr marL="285750" indent="-285750" algn="just">
              <a:buClr>
                <a:schemeClr val="accent2"/>
              </a:buClr>
              <a:buFont typeface="Wingdings" panose="05000000000000000000" pitchFamily="2" charset="2"/>
              <a:buChar char="§"/>
            </a:pPr>
            <a:endParaRPr lang="en-US" b="1"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dirty="0">
                <a:solidFill>
                  <a:srgbClr val="FF0000"/>
                </a:solidFill>
              </a:rPr>
              <a:t>MOV R1, [R2]</a:t>
            </a:r>
            <a:endParaRPr lang="en-US" dirty="0">
              <a:solidFill>
                <a:srgbClr val="FF0000"/>
              </a:solidFill>
            </a:endParaRPr>
          </a:p>
          <a:p>
            <a:pPr marL="285750" indent="-285750" algn="just">
              <a:buClr>
                <a:schemeClr val="accent2"/>
              </a:buClr>
              <a:buFont typeface="Wingdings" panose="05000000000000000000" pitchFamily="2" charset="2"/>
              <a:buChar char="§"/>
            </a:pPr>
            <a:endParaRPr lang="en-US" dirty="0"/>
          </a:p>
          <a:p>
            <a:pPr algn="just">
              <a:buClr>
                <a:schemeClr val="accent2"/>
              </a:buClr>
            </a:pPr>
            <a:endParaRPr lang="en-US" dirty="0"/>
          </a:p>
          <a:p>
            <a:pPr algn="just">
              <a:buClr>
                <a:schemeClr val="accent2"/>
              </a:buClr>
            </a:pPr>
            <a:endParaRPr lang="en-US" dirty="0"/>
          </a:p>
          <a:p>
            <a:pPr marL="285750" indent="-285750" algn="just">
              <a:buClr>
                <a:schemeClr val="accent2"/>
              </a:buClr>
              <a:buFont typeface="Wingdings" panose="05000000000000000000" pitchFamily="2" charset="2"/>
              <a:buChar char="§"/>
            </a:pPr>
            <a:endParaRPr lang="en-IN" dirty="0"/>
          </a:p>
        </p:txBody>
      </p:sp>
      <p:cxnSp>
        <p:nvCxnSpPr>
          <p:cNvPr id="17" name="Connector: Elbow 16"/>
          <p:cNvCxnSpPr>
            <a:stCxn id="5" idx="3"/>
            <a:endCxn id="15" idx="1"/>
          </p:cNvCxnSpPr>
          <p:nvPr/>
        </p:nvCxnSpPr>
        <p:spPr>
          <a:xfrm>
            <a:off x="3153747" y="1962459"/>
            <a:ext cx="671804" cy="37940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p:cNvCxnSpPr>
            <a:stCxn id="4" idx="3"/>
            <a:endCxn id="16" idx="1"/>
          </p:cNvCxnSpPr>
          <p:nvPr/>
        </p:nvCxnSpPr>
        <p:spPr>
          <a:xfrm>
            <a:off x="3153747" y="2354670"/>
            <a:ext cx="671804" cy="2767955"/>
          </a:xfrm>
          <a:prstGeom prst="bentConnector3">
            <a:avLst>
              <a:gd name="adj1" fmla="val 27778"/>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AutoShape 2" descr="Register Direct Addressing Mode"/>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26" name="Picture 25"/>
          <p:cNvPicPr>
            <a:picLocks noChangeAspect="1"/>
          </p:cNvPicPr>
          <p:nvPr/>
        </p:nvPicPr>
        <p:blipFill>
          <a:blip r:embed="rId1"/>
          <a:stretch>
            <a:fillRect/>
          </a:stretch>
        </p:blipFill>
        <p:spPr>
          <a:xfrm>
            <a:off x="8207144" y="2186819"/>
            <a:ext cx="3223539" cy="1394581"/>
          </a:xfrm>
          <a:prstGeom prst="rect">
            <a:avLst/>
          </a:prstGeom>
        </p:spPr>
      </p:pic>
      <p:pic>
        <p:nvPicPr>
          <p:cNvPr id="28" name="Picture 27"/>
          <p:cNvPicPr>
            <a:picLocks noChangeAspect="1"/>
          </p:cNvPicPr>
          <p:nvPr/>
        </p:nvPicPr>
        <p:blipFill>
          <a:blip r:embed="rId2"/>
          <a:stretch>
            <a:fillRect/>
          </a:stretch>
        </p:blipFill>
        <p:spPr>
          <a:xfrm>
            <a:off x="7948041" y="5290635"/>
            <a:ext cx="3482642" cy="128027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{B301B821-A1FF-4177-AEE7-76D212191A09}</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{B301B821-A1FF-4177-AEE7-76D212191A09}</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825551" y="811763"/>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5. Auto-Increment Addressing Modes:</a:t>
            </a:r>
            <a:endParaRPr lang="en-US" b="1" dirty="0"/>
          </a:p>
          <a:p>
            <a:pPr marL="285750" indent="-285750" algn="just">
              <a:buClr>
                <a:schemeClr val="accent2"/>
              </a:buClr>
              <a:buFont typeface="Wingdings" panose="05000000000000000000" pitchFamily="2" charset="2"/>
              <a:buChar char="§"/>
            </a:pPr>
            <a:r>
              <a:rPr lang="en-US" sz="1700" dirty="0"/>
              <a:t>When the address in the register is used to access memory, the value in the register is incremented by 1 automatically.</a:t>
            </a:r>
            <a:endParaRPr lang="en-US" sz="1700" dirty="0"/>
          </a:p>
          <a:p>
            <a:pPr marL="285750" indent="-285750" algn="just">
              <a:buClr>
                <a:schemeClr val="accent2"/>
              </a:buClr>
              <a:buFont typeface="Wingdings" panose="05000000000000000000" pitchFamily="2" charset="2"/>
              <a:buChar char="§"/>
            </a:pPr>
            <a:r>
              <a:rPr lang="en-US" sz="1700" b="1" dirty="0"/>
              <a:t>EA = content of the register</a:t>
            </a:r>
            <a:endParaRPr lang="en-US" sz="1700" b="1" dirty="0"/>
          </a:p>
          <a:p>
            <a:pPr marL="285750" indent="-285750" algn="just">
              <a:buClr>
                <a:schemeClr val="accent2"/>
              </a:buClr>
              <a:buFont typeface="Wingdings" panose="05000000000000000000" pitchFamily="2" charset="2"/>
              <a:buChar char="§"/>
            </a:pPr>
            <a:endParaRPr lang="en-US" sz="1700" b="1" dirty="0"/>
          </a:p>
          <a:p>
            <a:pPr marL="285750" indent="-285750" algn="just">
              <a:buClr>
                <a:schemeClr val="accent2"/>
              </a:buClr>
              <a:buFont typeface="Wingdings" panose="05000000000000000000" pitchFamily="2" charset="2"/>
              <a:buChar char="§"/>
            </a:pPr>
            <a:r>
              <a:rPr lang="en-US" sz="1700" b="1" dirty="0">
                <a:solidFill>
                  <a:srgbClr val="FF0000"/>
                </a:solidFill>
              </a:rPr>
              <a:t>Example: </a:t>
            </a:r>
            <a:r>
              <a:rPr lang="en-US" sz="1700" dirty="0">
                <a:solidFill>
                  <a:srgbClr val="FF0000"/>
                </a:solidFill>
              </a:rPr>
              <a:t>INC R1</a:t>
            </a: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IN" sz="1700" dirty="0"/>
          </a:p>
        </p:txBody>
      </p:sp>
      <p:sp>
        <p:nvSpPr>
          <p:cNvPr id="16" name="Rectangle 15"/>
          <p:cNvSpPr/>
          <p:nvPr/>
        </p:nvSpPr>
        <p:spPr>
          <a:xfrm>
            <a:off x="3825551" y="3592522"/>
            <a:ext cx="7884368"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6. Auto-Decrement Addressing Modes</a:t>
            </a:r>
            <a:endParaRPr lang="en-IN" b="1" dirty="0"/>
          </a:p>
          <a:p>
            <a:pPr marL="285750" indent="-285750" algn="just">
              <a:buClr>
                <a:schemeClr val="accent2"/>
              </a:buClr>
              <a:buFont typeface="Wingdings" panose="05000000000000000000" pitchFamily="2" charset="2"/>
              <a:buChar char="§"/>
            </a:pPr>
            <a:r>
              <a:rPr lang="en-US" sz="1700" dirty="0"/>
              <a:t>When the address in the register is used to access memory, the value in the register is decremented by 1 automatically.</a:t>
            </a:r>
            <a:endParaRPr lang="en-US" sz="1700" dirty="0"/>
          </a:p>
          <a:p>
            <a:pPr marL="285750" indent="-285750" algn="just">
              <a:buClr>
                <a:schemeClr val="accent2"/>
              </a:buClr>
              <a:buFont typeface="Wingdings" panose="05000000000000000000" pitchFamily="2" charset="2"/>
              <a:buChar char="§"/>
            </a:pPr>
            <a:r>
              <a:rPr lang="en-US" sz="1800" b="1" dirty="0"/>
              <a:t>EA = content of the register</a:t>
            </a:r>
            <a:endParaRPr lang="en-US" sz="1800" b="1" dirty="0"/>
          </a:p>
          <a:p>
            <a:pPr marL="285750" indent="-285750" algn="just">
              <a:buClr>
                <a:schemeClr val="accent2"/>
              </a:buClr>
              <a:buFont typeface="Wingdings" panose="05000000000000000000" pitchFamily="2" charset="2"/>
              <a:buChar char="§"/>
            </a:pPr>
            <a:endParaRPr lang="en-US" b="1"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dirty="0">
                <a:solidFill>
                  <a:srgbClr val="FF0000"/>
                </a:solidFill>
              </a:rPr>
              <a:t>DEC R1</a:t>
            </a:r>
            <a:endParaRPr lang="en-US" dirty="0">
              <a:solidFill>
                <a:srgbClr val="FF0000"/>
              </a:solidFill>
            </a:endParaRPr>
          </a:p>
          <a:p>
            <a:pPr marL="285750" indent="-285750" algn="just">
              <a:buClr>
                <a:schemeClr val="accent2"/>
              </a:buClr>
              <a:buFont typeface="Wingdings" panose="05000000000000000000" pitchFamily="2" charset="2"/>
              <a:buChar char="§"/>
            </a:pPr>
            <a:endParaRPr lang="en-US" dirty="0"/>
          </a:p>
          <a:p>
            <a:pPr algn="just">
              <a:buClr>
                <a:schemeClr val="accent2"/>
              </a:buClr>
            </a:pPr>
            <a:endParaRPr lang="en-US" dirty="0"/>
          </a:p>
          <a:p>
            <a:pPr algn="just">
              <a:buClr>
                <a:schemeClr val="accent2"/>
              </a:buClr>
            </a:pPr>
            <a:endParaRPr lang="en-US" dirty="0"/>
          </a:p>
          <a:p>
            <a:pPr marL="285750" indent="-285750" algn="just">
              <a:buClr>
                <a:schemeClr val="accent2"/>
              </a:buClr>
              <a:buFont typeface="Wingdings" panose="05000000000000000000" pitchFamily="2" charset="2"/>
              <a:buChar char="§"/>
            </a:pPr>
            <a:endParaRPr lang="en-IN" dirty="0"/>
          </a:p>
        </p:txBody>
      </p:sp>
      <p:cxnSp>
        <p:nvCxnSpPr>
          <p:cNvPr id="17" name="Connector: Elbow 16"/>
          <p:cNvCxnSpPr>
            <a:stCxn id="3" idx="3"/>
            <a:endCxn id="15" idx="1"/>
          </p:cNvCxnSpPr>
          <p:nvPr/>
        </p:nvCxnSpPr>
        <p:spPr>
          <a:xfrm flipV="1">
            <a:off x="3153747" y="2341866"/>
            <a:ext cx="671804" cy="43594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p:cNvCxnSpPr>
            <a:stCxn id="2" idx="3"/>
            <a:endCxn id="16" idx="1"/>
          </p:cNvCxnSpPr>
          <p:nvPr/>
        </p:nvCxnSpPr>
        <p:spPr>
          <a:xfrm>
            <a:off x="3153745" y="3231430"/>
            <a:ext cx="671806" cy="1891195"/>
          </a:xfrm>
          <a:prstGeom prst="bentConnector3">
            <a:avLst>
              <a:gd name="adj1" fmla="val 30556"/>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1"/>
          <a:stretch>
            <a:fillRect/>
          </a:stretch>
        </p:blipFill>
        <p:spPr>
          <a:xfrm>
            <a:off x="8057668" y="1546220"/>
            <a:ext cx="3604743" cy="2027235"/>
          </a:xfrm>
          <a:prstGeom prst="rect">
            <a:avLst/>
          </a:prstGeom>
        </p:spPr>
      </p:pic>
      <p:pic>
        <p:nvPicPr>
          <p:cNvPr id="29" name="Picture 28"/>
          <p:cNvPicPr>
            <a:picLocks noChangeAspect="1"/>
          </p:cNvPicPr>
          <p:nvPr/>
        </p:nvPicPr>
        <p:blipFill>
          <a:blip r:embed="rId2"/>
          <a:stretch>
            <a:fillRect/>
          </a:stretch>
        </p:blipFill>
        <p:spPr>
          <a:xfrm>
            <a:off x="8057668" y="4537285"/>
            <a:ext cx="3604743" cy="207566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9038253" y="578499"/>
            <a:ext cx="3061060" cy="3014023"/>
          </a:xfrm>
          <a:prstGeom prst="rect">
            <a:avLst/>
          </a:prstGeom>
          <a:solidFill>
            <a:schemeClr val="lt1">
              <a:alpha val="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just">
              <a:buClr>
                <a:schemeClr val="accent2"/>
              </a:buClr>
            </a:pPr>
            <a:endParaRPr lang="en-US" sz="1700" dirty="0"/>
          </a:p>
          <a:p>
            <a:pPr marL="285750" indent="-285750" algn="just">
              <a:buClr>
                <a:schemeClr val="accent2"/>
              </a:buClr>
              <a:buFont typeface="Wingdings" panose="05000000000000000000" pitchFamily="2" charset="2"/>
              <a:buChar char="§"/>
            </a:pPr>
            <a:endParaRPr lang="en-IN" sz="1700" dirty="0"/>
          </a:p>
        </p:txBody>
      </p:sp>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{B301B821-A1FF-4177-AEE7-76D212191A09}</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{B301B821-A1FF-4177-AEE7-76D212191A09}</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433666" y="578499"/>
            <a:ext cx="5604590" cy="3293470"/>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7. Direct Addressing Modes:</a:t>
            </a:r>
            <a:endParaRPr lang="en-US" b="1" dirty="0"/>
          </a:p>
          <a:p>
            <a:pPr marL="285750" indent="-285750" algn="just">
              <a:buClr>
                <a:schemeClr val="accent2"/>
              </a:buClr>
              <a:buFont typeface="Wingdings" panose="05000000000000000000" pitchFamily="2" charset="2"/>
              <a:buChar char="§"/>
            </a:pPr>
            <a:r>
              <a:rPr lang="en-US" sz="1700" dirty="0"/>
              <a:t>The effective address of the operand resides in the address field of the instruction.</a:t>
            </a:r>
            <a:endParaRPr lang="en-US" sz="1700" dirty="0"/>
          </a:p>
          <a:p>
            <a:pPr marL="285750" indent="-285750" algn="just">
              <a:buClr>
                <a:schemeClr val="accent2"/>
              </a:buClr>
              <a:buFont typeface="Wingdings" panose="05000000000000000000" pitchFamily="2" charset="2"/>
              <a:buChar char="§"/>
            </a:pPr>
            <a:r>
              <a:rPr lang="en-US" sz="1700" dirty="0"/>
              <a:t>The operand resides in the memory, and the address field of the instruction gives its address. </a:t>
            </a:r>
            <a:endParaRPr lang="en-US" sz="1700" dirty="0"/>
          </a:p>
          <a:p>
            <a:pPr marL="285750" indent="-285750" algn="just">
              <a:buClr>
                <a:schemeClr val="accent2"/>
              </a:buClr>
              <a:buFont typeface="Wingdings" panose="05000000000000000000" pitchFamily="2" charset="2"/>
              <a:buChar char="§"/>
            </a:pPr>
            <a:r>
              <a:rPr lang="en-US" sz="1700" dirty="0"/>
              <a:t>Only one reference to the memory is required to fetch the operand.</a:t>
            </a:r>
            <a:endParaRPr lang="en-US" sz="1700" dirty="0"/>
          </a:p>
          <a:p>
            <a:pPr marL="285750" indent="-285750" algn="just">
              <a:buClr>
                <a:schemeClr val="accent2"/>
              </a:buClr>
              <a:buFont typeface="Wingdings" panose="05000000000000000000" pitchFamily="2" charset="2"/>
              <a:buChar char="§"/>
            </a:pPr>
            <a:r>
              <a:rPr lang="en-US" sz="1700" dirty="0"/>
              <a:t>Also known as absolute addressing mode.</a:t>
            </a:r>
            <a:endParaRPr lang="en-US" sz="1700" dirty="0"/>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r>
              <a:rPr lang="en-US" sz="1700" b="1" dirty="0">
                <a:solidFill>
                  <a:srgbClr val="FF0000"/>
                </a:solidFill>
              </a:rPr>
              <a:t>Example: </a:t>
            </a:r>
            <a:r>
              <a:rPr lang="en-US" sz="1700" dirty="0">
                <a:solidFill>
                  <a:srgbClr val="FF0000"/>
                </a:solidFill>
              </a:rPr>
              <a:t>ADD, [1000H]</a:t>
            </a: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IN" sz="1700" dirty="0"/>
          </a:p>
        </p:txBody>
      </p:sp>
      <p:sp>
        <p:nvSpPr>
          <p:cNvPr id="16" name="Rectangle 15"/>
          <p:cNvSpPr/>
          <p:nvPr/>
        </p:nvSpPr>
        <p:spPr>
          <a:xfrm>
            <a:off x="3433663" y="3592522"/>
            <a:ext cx="5604590"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8. Indirect Addressing Modes</a:t>
            </a:r>
            <a:endParaRPr lang="en-IN" b="1" dirty="0"/>
          </a:p>
          <a:p>
            <a:pPr marL="285750" indent="-285750" algn="just">
              <a:buClr>
                <a:schemeClr val="accent2"/>
              </a:buClr>
              <a:buFont typeface="Wingdings" panose="05000000000000000000" pitchFamily="2" charset="2"/>
              <a:buChar char="§"/>
            </a:pPr>
            <a:r>
              <a:rPr lang="en-US" sz="1700" dirty="0"/>
              <a:t>The address field of the instruction gives the address of the memory location that contains the effective address of the operand. </a:t>
            </a:r>
            <a:endParaRPr lang="en-US" sz="1700" dirty="0"/>
          </a:p>
          <a:p>
            <a:pPr marL="285750" indent="-285750" algn="just">
              <a:buClr>
                <a:schemeClr val="accent2"/>
              </a:buClr>
              <a:buFont typeface="Wingdings" panose="05000000000000000000" pitchFamily="2" charset="2"/>
              <a:buChar char="§"/>
            </a:pPr>
            <a:r>
              <a:rPr lang="en-US" sz="1700" dirty="0"/>
              <a:t>Two references to the memory are required to fetch the operand</a:t>
            </a:r>
            <a:endParaRPr lang="en-US" sz="1700" dirty="0"/>
          </a:p>
          <a:p>
            <a:pPr marL="285750" indent="-285750" algn="just">
              <a:buClr>
                <a:schemeClr val="accent2"/>
              </a:buClr>
              <a:buFont typeface="Wingdings" panose="05000000000000000000" pitchFamily="2" charset="2"/>
              <a:buChar char="§"/>
            </a:pPr>
            <a:r>
              <a:rPr lang="en-US" sz="1700" dirty="0"/>
              <a:t>This addressing mode slows down the execution as it requires multiple memory lookups to find the operand.</a:t>
            </a:r>
            <a:endParaRPr lang="en-US" sz="1700" dirty="0"/>
          </a:p>
          <a:p>
            <a:pPr marL="285750" indent="-285750" algn="just">
              <a:buClr>
                <a:schemeClr val="accent2"/>
              </a:buClr>
              <a:buFont typeface="Wingdings" panose="05000000000000000000" pitchFamily="2" charset="2"/>
              <a:buChar char="§"/>
            </a:pPr>
            <a:endParaRPr lang="en-US" b="1"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dirty="0">
                <a:solidFill>
                  <a:srgbClr val="FF0000"/>
                </a:solidFill>
              </a:rPr>
              <a:t>ADD M</a:t>
            </a:r>
            <a:endParaRPr lang="en-US" dirty="0"/>
          </a:p>
        </p:txBody>
      </p:sp>
      <p:cxnSp>
        <p:nvCxnSpPr>
          <p:cNvPr id="17" name="Connector: Elbow 16"/>
          <p:cNvCxnSpPr>
            <a:stCxn id="12" idx="3"/>
            <a:endCxn id="15" idx="1"/>
          </p:cNvCxnSpPr>
          <p:nvPr/>
        </p:nvCxnSpPr>
        <p:spPr>
          <a:xfrm flipV="1">
            <a:off x="3153745" y="2225234"/>
            <a:ext cx="279921" cy="14109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p:cNvCxnSpPr>
            <a:stCxn id="11" idx="3"/>
            <a:endCxn id="16" idx="1"/>
          </p:cNvCxnSpPr>
          <p:nvPr/>
        </p:nvCxnSpPr>
        <p:spPr>
          <a:xfrm>
            <a:off x="3153745" y="4040862"/>
            <a:ext cx="279918" cy="10817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1"/>
          <a:stretch>
            <a:fillRect/>
          </a:stretch>
        </p:blipFill>
        <p:spPr>
          <a:xfrm>
            <a:off x="9100767" y="862394"/>
            <a:ext cx="3001347" cy="2446232"/>
          </a:xfrm>
          <a:prstGeom prst="rect">
            <a:avLst/>
          </a:prstGeom>
        </p:spPr>
      </p:pic>
      <p:sp>
        <p:nvSpPr>
          <p:cNvPr id="31" name="Rectangle 30"/>
          <p:cNvSpPr/>
          <p:nvPr/>
        </p:nvSpPr>
        <p:spPr>
          <a:xfrm>
            <a:off x="9038252" y="3615613"/>
            <a:ext cx="3061060" cy="3037114"/>
          </a:xfrm>
          <a:prstGeom prst="rect">
            <a:avLst/>
          </a:prstGeom>
          <a:solidFill>
            <a:schemeClr val="lt1">
              <a:alpha val="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just">
              <a:buClr>
                <a:schemeClr val="accent2"/>
              </a:buClr>
            </a:pPr>
            <a:endParaRPr lang="en-US" sz="1700" dirty="0"/>
          </a:p>
          <a:p>
            <a:pPr marL="285750" indent="-285750" algn="just">
              <a:buClr>
                <a:schemeClr val="accent2"/>
              </a:buClr>
              <a:buFont typeface="Wingdings" panose="05000000000000000000" pitchFamily="2" charset="2"/>
              <a:buChar char="§"/>
            </a:pPr>
            <a:endParaRPr lang="en-IN" sz="1700" dirty="0"/>
          </a:p>
        </p:txBody>
      </p:sp>
      <p:pic>
        <p:nvPicPr>
          <p:cNvPr id="34" name="Picture 33"/>
          <p:cNvPicPr>
            <a:picLocks noChangeAspect="1"/>
          </p:cNvPicPr>
          <p:nvPr/>
        </p:nvPicPr>
        <p:blipFill>
          <a:blip r:embed="rId2"/>
          <a:stretch>
            <a:fillRect/>
          </a:stretch>
        </p:blipFill>
        <p:spPr>
          <a:xfrm>
            <a:off x="9100766" y="4251852"/>
            <a:ext cx="2967361" cy="185036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{B301B821-A1FF-4177-AEE7-76D212191A09}</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{B301B821-A1FF-4177-AEE7-76D212191A09}</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433665" y="578499"/>
            <a:ext cx="8528179" cy="3293470"/>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9. Displacement Addressing Modes:</a:t>
            </a:r>
            <a:endParaRPr lang="en-US" b="1" dirty="0"/>
          </a:p>
          <a:p>
            <a:pPr marL="285750" indent="-285750" algn="just">
              <a:buClr>
                <a:schemeClr val="accent2"/>
              </a:buClr>
              <a:buFont typeface="Wingdings" panose="05000000000000000000" pitchFamily="2" charset="2"/>
              <a:buChar char="§"/>
            </a:pPr>
            <a:r>
              <a:rPr lang="en-US" sz="1700" dirty="0"/>
              <a:t>The displacement is added to the instruction’s address part to obtain the effective address of the operand.</a:t>
            </a:r>
            <a:endParaRPr lang="en-US" sz="1700" dirty="0"/>
          </a:p>
          <a:p>
            <a:pPr marL="285750" indent="-285750" algn="just">
              <a:buClr>
                <a:schemeClr val="accent2"/>
              </a:buClr>
              <a:buFont typeface="Wingdings" panose="05000000000000000000" pitchFamily="2" charset="2"/>
              <a:buChar char="§"/>
            </a:pPr>
            <a:r>
              <a:rPr lang="en-US" sz="1700" b="1" dirty="0"/>
              <a:t>EA = A + (R) </a:t>
            </a:r>
            <a:r>
              <a:rPr lang="en-US" sz="1700" dirty="0"/>
              <a:t>Here, the address field holds two values, A: Base value R: displacement value.</a:t>
            </a:r>
            <a:endParaRPr lang="en-US" sz="1700" dirty="0"/>
          </a:p>
          <a:p>
            <a:pPr algn="just">
              <a:buClr>
                <a:schemeClr val="accent2"/>
              </a:buClr>
            </a:pPr>
            <a:endParaRPr lang="en-US" sz="1700" dirty="0"/>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r>
              <a:rPr lang="en-US" sz="1700" b="1" dirty="0">
                <a:solidFill>
                  <a:srgbClr val="FF0000"/>
                </a:solidFill>
              </a:rPr>
              <a:t>Example: </a:t>
            </a:r>
            <a:r>
              <a:rPr lang="en-US" sz="1700" dirty="0">
                <a:solidFill>
                  <a:srgbClr val="FF0000"/>
                </a:solidFill>
              </a:rPr>
              <a:t>MOV R1, [1000H+09H]</a:t>
            </a: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IN" sz="1700" dirty="0"/>
          </a:p>
        </p:txBody>
      </p:sp>
      <p:sp>
        <p:nvSpPr>
          <p:cNvPr id="16" name="Rectangle 15"/>
          <p:cNvSpPr/>
          <p:nvPr/>
        </p:nvSpPr>
        <p:spPr>
          <a:xfrm>
            <a:off x="3433662" y="3592522"/>
            <a:ext cx="8528179"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10. Relative Addressing Modes</a:t>
            </a:r>
            <a:endParaRPr lang="en-IN" b="1" dirty="0"/>
          </a:p>
          <a:p>
            <a:pPr marL="285750" indent="-285750" algn="just">
              <a:buClr>
                <a:schemeClr val="accent2"/>
              </a:buClr>
              <a:buFont typeface="Wingdings" panose="05000000000000000000" pitchFamily="2" charset="2"/>
              <a:buChar char="§"/>
            </a:pPr>
            <a:r>
              <a:rPr lang="en-US" sz="1700" dirty="0"/>
              <a:t>This mode is another version of the displacement address mode. The program counter’s content is added to the instruction’s address part to obtain the effective address.</a:t>
            </a:r>
            <a:endParaRPr lang="en-US" sz="1700" dirty="0"/>
          </a:p>
          <a:p>
            <a:pPr marL="285750" indent="-285750" algn="just">
              <a:buClr>
                <a:schemeClr val="accent2"/>
              </a:buClr>
              <a:buFont typeface="Wingdings" panose="05000000000000000000" pitchFamily="2" charset="2"/>
              <a:buChar char="§"/>
            </a:pPr>
            <a:r>
              <a:rPr lang="en-US" sz="1700" b="1" dirty="0"/>
              <a:t>EA = A + (PC) </a:t>
            </a:r>
            <a:r>
              <a:rPr lang="en-US" sz="1700" dirty="0"/>
              <a:t>Here, EA: Effective address, PC: program counter.</a:t>
            </a:r>
            <a:endParaRPr lang="en-US" sz="1700" dirty="0"/>
          </a:p>
          <a:p>
            <a:pPr algn="just">
              <a:buClr>
                <a:schemeClr val="accent2"/>
              </a:buClr>
            </a:pPr>
            <a:r>
              <a:rPr lang="en-US" sz="1700" b="1" dirty="0"/>
              <a:t>       </a:t>
            </a:r>
            <a:r>
              <a:rPr lang="en-US" sz="1700" b="1" dirty="0">
                <a:solidFill>
                  <a:srgbClr val="0070C0"/>
                </a:solidFill>
              </a:rPr>
              <a:t>     ( Often used with Branch type instructions )</a:t>
            </a:r>
            <a:endParaRPr lang="en-US" sz="1700" b="1" dirty="0">
              <a:solidFill>
                <a:srgbClr val="0070C0"/>
              </a:solidFill>
            </a:endParaRPr>
          </a:p>
          <a:p>
            <a:pPr marL="285750" indent="-285750" algn="just">
              <a:buClr>
                <a:schemeClr val="accent2"/>
              </a:buClr>
              <a:buFont typeface="Wingdings" panose="05000000000000000000" pitchFamily="2" charset="2"/>
              <a:buChar char="§"/>
            </a:pPr>
            <a:endParaRPr lang="en-US" b="1"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sz="1800" dirty="0">
                <a:solidFill>
                  <a:srgbClr val="FF0000"/>
                </a:solidFill>
              </a:rPr>
              <a:t>MOV R1, [SI+PC]</a:t>
            </a:r>
            <a:endParaRPr lang="en-US" sz="1800" dirty="0">
              <a:solidFill>
                <a:srgbClr val="FF0000"/>
              </a:solidFill>
            </a:endParaRPr>
          </a:p>
          <a:p>
            <a:pPr algn="just">
              <a:buClr>
                <a:schemeClr val="accent2"/>
              </a:buClr>
            </a:pPr>
            <a:endParaRPr lang="en-US" dirty="0">
              <a:solidFill>
                <a:srgbClr val="FF0000"/>
              </a:solidFill>
            </a:endParaRPr>
          </a:p>
          <a:p>
            <a:pPr marL="285750" indent="-285750" algn="just">
              <a:buClr>
                <a:schemeClr val="accent2"/>
              </a:buClr>
              <a:buFont typeface="Wingdings" panose="05000000000000000000" pitchFamily="2" charset="2"/>
              <a:buChar char="§"/>
            </a:pPr>
            <a:r>
              <a:rPr lang="en-US" sz="1600" dirty="0"/>
              <a:t>The instruction’s address is usually a signed number.</a:t>
            </a:r>
            <a:endParaRPr lang="en-US" sz="1600" dirty="0"/>
          </a:p>
          <a:p>
            <a:pPr marL="285750" indent="-285750" algn="just">
              <a:buClr>
                <a:schemeClr val="accent2"/>
              </a:buClr>
              <a:buFont typeface="Wingdings" panose="05000000000000000000" pitchFamily="2" charset="2"/>
              <a:buChar char="§"/>
            </a:pPr>
            <a:endParaRPr lang="en-US" dirty="0"/>
          </a:p>
        </p:txBody>
      </p:sp>
      <p:cxnSp>
        <p:nvCxnSpPr>
          <p:cNvPr id="17" name="Connector: Elbow 16"/>
          <p:cNvCxnSpPr>
            <a:stCxn id="10" idx="3"/>
            <a:endCxn id="15" idx="1"/>
          </p:cNvCxnSpPr>
          <p:nvPr/>
        </p:nvCxnSpPr>
        <p:spPr>
          <a:xfrm flipV="1">
            <a:off x="3153745" y="2225234"/>
            <a:ext cx="279920" cy="220783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p:cNvCxnSpPr>
            <a:stCxn id="9" idx="3"/>
            <a:endCxn id="16" idx="1"/>
          </p:cNvCxnSpPr>
          <p:nvPr/>
        </p:nvCxnSpPr>
        <p:spPr>
          <a:xfrm>
            <a:off x="3153745" y="4856213"/>
            <a:ext cx="279917" cy="2664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nvPicPr>
        <p:blipFill>
          <a:blip r:embed="rId1"/>
          <a:stretch>
            <a:fillRect/>
          </a:stretch>
        </p:blipFill>
        <p:spPr>
          <a:xfrm>
            <a:off x="7072604" y="1779578"/>
            <a:ext cx="4683967" cy="1673687"/>
          </a:xfrm>
          <a:prstGeom prst="rect">
            <a:avLst/>
          </a:prstGeom>
        </p:spPr>
      </p:pic>
      <p:pic>
        <p:nvPicPr>
          <p:cNvPr id="32" name="Picture 31"/>
          <p:cNvPicPr>
            <a:picLocks noChangeAspect="1"/>
          </p:cNvPicPr>
          <p:nvPr/>
        </p:nvPicPr>
        <p:blipFill>
          <a:blip r:embed="rId2"/>
          <a:stretch>
            <a:fillRect/>
          </a:stretch>
        </p:blipFill>
        <p:spPr>
          <a:xfrm>
            <a:off x="8462865" y="4935893"/>
            <a:ext cx="3498977" cy="168534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{B301B821-A1FF-4177-AEE7-76D212191A09}</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{B301B821-A1FF-4177-AEE7-76D212191A09}</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433665" y="578499"/>
            <a:ext cx="8528179" cy="3293470"/>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11. Indexed Addressing Modes:</a:t>
            </a:r>
            <a:endParaRPr lang="en-US" b="1" dirty="0"/>
          </a:p>
          <a:p>
            <a:pPr marL="285750" indent="-285750" algn="just">
              <a:buClr>
                <a:schemeClr val="accent2"/>
              </a:buClr>
              <a:buFont typeface="Wingdings" panose="05000000000000000000" pitchFamily="2" charset="2"/>
              <a:buChar char="§"/>
            </a:pPr>
            <a:r>
              <a:rPr lang="en-US" sz="1700" dirty="0"/>
              <a:t>The index register’s content is added to the instruction’s address to obtain the effective address. </a:t>
            </a:r>
            <a:endParaRPr lang="en-US" sz="1700" dirty="0"/>
          </a:p>
          <a:p>
            <a:pPr marL="285750" indent="-285750" algn="just">
              <a:buClr>
                <a:schemeClr val="accent2"/>
              </a:buClr>
              <a:buFont typeface="Wingdings" panose="05000000000000000000" pitchFamily="2" charset="2"/>
              <a:buChar char="§"/>
            </a:pPr>
            <a:r>
              <a:rPr lang="en-US" sz="1700" dirty="0"/>
              <a:t>EA = content of index register + Instruction address part</a:t>
            </a:r>
            <a:endParaRPr lang="en-US" sz="1700" dirty="0"/>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r>
              <a:rPr lang="en-US" sz="1700" b="1" dirty="0">
                <a:solidFill>
                  <a:srgbClr val="FF0000"/>
                </a:solidFill>
              </a:rPr>
              <a:t>Example: </a:t>
            </a:r>
            <a:r>
              <a:rPr lang="en-US" sz="1700" dirty="0">
                <a:solidFill>
                  <a:srgbClr val="FF0000"/>
                </a:solidFill>
              </a:rPr>
              <a:t>MOV R1, [SI + 1000H].</a:t>
            </a: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solidFill>
                <a:srgbClr val="FF0000"/>
              </a:solidFill>
            </a:endParaRPr>
          </a:p>
          <a:p>
            <a:pPr marL="285750" indent="-285750" algn="just">
              <a:buClr>
                <a:schemeClr val="accent2"/>
              </a:buClr>
              <a:buFont typeface="Wingdings" panose="05000000000000000000" pitchFamily="2" charset="2"/>
              <a:buChar char="§"/>
            </a:pPr>
            <a:endParaRPr lang="en-US" sz="1700" dirty="0"/>
          </a:p>
          <a:p>
            <a:pPr marL="285750" indent="-285750" algn="just">
              <a:buClr>
                <a:schemeClr val="accent2"/>
              </a:buClr>
              <a:buFont typeface="Wingdings" panose="05000000000000000000" pitchFamily="2" charset="2"/>
              <a:buChar char="§"/>
            </a:pPr>
            <a:endParaRPr lang="en-IN" sz="1700" dirty="0"/>
          </a:p>
        </p:txBody>
      </p:sp>
      <p:sp>
        <p:nvSpPr>
          <p:cNvPr id="16" name="Rectangle 15"/>
          <p:cNvSpPr/>
          <p:nvPr/>
        </p:nvSpPr>
        <p:spPr>
          <a:xfrm>
            <a:off x="3433662" y="3592522"/>
            <a:ext cx="8528179" cy="3060205"/>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pPr>
            <a:r>
              <a:rPr lang="en-IN" b="1" dirty="0"/>
              <a:t>12. Base Register Addressing Modes</a:t>
            </a:r>
            <a:endParaRPr lang="en-IN" b="1" dirty="0"/>
          </a:p>
          <a:p>
            <a:pPr marL="285750" indent="-285750" algn="just">
              <a:buClr>
                <a:schemeClr val="accent2"/>
              </a:buClr>
              <a:buFont typeface="Wingdings" panose="05000000000000000000" pitchFamily="2" charset="2"/>
              <a:buChar char="§"/>
            </a:pPr>
            <a:r>
              <a:rPr lang="en-US" sz="1700" dirty="0"/>
              <a:t>This mode is another version of the displacement address mode. To obtain the effective address, the base register’s content is added to the instruction’s address.</a:t>
            </a:r>
            <a:endParaRPr lang="en-US" sz="1700" dirty="0"/>
          </a:p>
          <a:p>
            <a:pPr marL="285750" indent="-285750" algn="just">
              <a:buClr>
                <a:schemeClr val="accent2"/>
              </a:buClr>
              <a:buFont typeface="Wingdings" panose="05000000000000000000" pitchFamily="2" charset="2"/>
              <a:buChar char="§"/>
            </a:pPr>
            <a:r>
              <a:rPr lang="en-US" sz="1700" b="1" dirty="0"/>
              <a:t>EA = A + (R)</a:t>
            </a:r>
            <a:r>
              <a:rPr lang="en-US" sz="1700" dirty="0"/>
              <a:t> </a:t>
            </a:r>
            <a:endParaRPr lang="en-US" sz="1700" dirty="0"/>
          </a:p>
          <a:p>
            <a:pPr marL="742950" lvl="1" indent="-285750" algn="just">
              <a:buClr>
                <a:schemeClr val="accent2"/>
              </a:buClr>
              <a:buFont typeface="Wingdings" panose="05000000000000000000" pitchFamily="2" charset="2"/>
              <a:buChar char="§"/>
            </a:pPr>
            <a:r>
              <a:rPr lang="en-US" sz="1700" dirty="0"/>
              <a:t>A: Instruction address, </a:t>
            </a:r>
            <a:endParaRPr lang="en-US" sz="1700" dirty="0"/>
          </a:p>
          <a:p>
            <a:pPr marL="742950" lvl="1" indent="-285750" algn="just">
              <a:buClr>
                <a:schemeClr val="accent2"/>
              </a:buClr>
              <a:buFont typeface="Wingdings" panose="05000000000000000000" pitchFamily="2" charset="2"/>
              <a:buChar char="§"/>
            </a:pPr>
            <a:r>
              <a:rPr lang="en-US" sz="1700" dirty="0"/>
              <a:t>R: Pointer to the base address. </a:t>
            </a:r>
            <a:endParaRPr lang="en-US" sz="1700" b="1" dirty="0"/>
          </a:p>
          <a:p>
            <a:pPr marL="285750" indent="-285750" algn="just">
              <a:buClr>
                <a:schemeClr val="accent2"/>
              </a:buClr>
              <a:buFont typeface="Wingdings" panose="05000000000000000000" pitchFamily="2" charset="2"/>
              <a:buChar char="§"/>
            </a:pPr>
            <a:endParaRPr lang="en-US" b="1" dirty="0"/>
          </a:p>
          <a:p>
            <a:pPr marL="285750" indent="-285750" algn="just">
              <a:buClr>
                <a:schemeClr val="accent2"/>
              </a:buClr>
              <a:buFont typeface="Wingdings" panose="05000000000000000000" pitchFamily="2" charset="2"/>
              <a:buChar char="§"/>
            </a:pPr>
            <a:r>
              <a:rPr lang="en-US" b="1" dirty="0">
                <a:solidFill>
                  <a:srgbClr val="FF0000"/>
                </a:solidFill>
              </a:rPr>
              <a:t>Example: </a:t>
            </a:r>
            <a:r>
              <a:rPr lang="en-US" sz="1800" dirty="0">
                <a:solidFill>
                  <a:srgbClr val="FF0000"/>
                </a:solidFill>
              </a:rPr>
              <a:t>MOV R1, [</a:t>
            </a:r>
            <a:r>
              <a:rPr lang="en-US" dirty="0">
                <a:solidFill>
                  <a:srgbClr val="FF0000"/>
                </a:solidFill>
              </a:rPr>
              <a:t>1000H</a:t>
            </a:r>
            <a:r>
              <a:rPr lang="en-US" sz="1800" dirty="0">
                <a:solidFill>
                  <a:srgbClr val="FF0000"/>
                </a:solidFill>
              </a:rPr>
              <a:t>+BX]</a:t>
            </a:r>
            <a:endParaRPr lang="en-US" sz="1800" dirty="0">
              <a:solidFill>
                <a:srgbClr val="FF0000"/>
              </a:solidFill>
            </a:endParaRPr>
          </a:p>
          <a:p>
            <a:pPr marL="285750" indent="-285750" algn="just">
              <a:buClr>
                <a:schemeClr val="accent2"/>
              </a:buClr>
              <a:buFont typeface="Wingdings" panose="05000000000000000000" pitchFamily="2" charset="2"/>
              <a:buChar char="§"/>
            </a:pPr>
            <a:endParaRPr lang="en-US" dirty="0"/>
          </a:p>
        </p:txBody>
      </p:sp>
      <p:cxnSp>
        <p:nvCxnSpPr>
          <p:cNvPr id="17" name="Connector: Elbow 16"/>
          <p:cNvCxnSpPr>
            <a:stCxn id="8" idx="3"/>
            <a:endCxn id="15" idx="1"/>
          </p:cNvCxnSpPr>
          <p:nvPr/>
        </p:nvCxnSpPr>
        <p:spPr>
          <a:xfrm flipV="1">
            <a:off x="3153743" y="2225234"/>
            <a:ext cx="279922" cy="3084599"/>
          </a:xfrm>
          <a:prstGeom prst="bentConnector3">
            <a:avLst>
              <a:gd name="adj1" fmla="val 333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p:cNvCxnSpPr>
            <a:stCxn id="13" idx="3"/>
            <a:endCxn id="16" idx="1"/>
          </p:cNvCxnSpPr>
          <p:nvPr/>
        </p:nvCxnSpPr>
        <p:spPr>
          <a:xfrm flipV="1">
            <a:off x="3153743" y="5122625"/>
            <a:ext cx="279919" cy="625265"/>
          </a:xfrm>
          <a:prstGeom prst="bentConnector3">
            <a:avLst>
              <a:gd name="adj1" fmla="val 66667"/>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1"/>
          <a:stretch>
            <a:fillRect/>
          </a:stretch>
        </p:blipFill>
        <p:spPr>
          <a:xfrm>
            <a:off x="8238947" y="1779579"/>
            <a:ext cx="3470972" cy="1737511"/>
          </a:xfrm>
          <a:prstGeom prst="rect">
            <a:avLst/>
          </a:prstGeom>
        </p:spPr>
      </p:pic>
      <p:pic>
        <p:nvPicPr>
          <p:cNvPr id="26" name="Picture 25"/>
          <p:cNvPicPr>
            <a:picLocks noChangeAspect="1"/>
          </p:cNvPicPr>
          <p:nvPr/>
        </p:nvPicPr>
        <p:blipFill>
          <a:blip r:embed="rId2"/>
          <a:stretch>
            <a:fillRect/>
          </a:stretch>
        </p:blipFill>
        <p:spPr>
          <a:xfrm>
            <a:off x="8054523" y="4734118"/>
            <a:ext cx="3839820" cy="179699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7"/>
          <p:cNvGraphicFramePr>
            <a:graphicFrameLocks noGrp="1"/>
          </p:cNvGraphicFramePr>
          <p:nvPr/>
        </p:nvGraphicFramePr>
        <p:xfrm>
          <a:off x="92684" y="304855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6 Auto-Decrement Addressing Modes</a:t>
                      </a:r>
                      <a:endParaRPr lang="en-IN" sz="1400" dirty="0"/>
                    </a:p>
                  </a:txBody>
                  <a:tcPr anchor="ctr"/>
                </a:tc>
              </a:tr>
            </a:tbl>
          </a:graphicData>
        </a:graphic>
      </p:graphicFrame>
      <p:graphicFrame>
        <p:nvGraphicFramePr>
          <p:cNvPr id="3" name="Table 7"/>
          <p:cNvGraphicFramePr>
            <a:graphicFrameLocks noGrp="1"/>
          </p:cNvGraphicFramePr>
          <p:nvPr/>
        </p:nvGraphicFramePr>
        <p:xfrm>
          <a:off x="92686" y="2625410"/>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l"/>
                      <a:r>
                        <a:rPr lang="en-IN" sz="1400" dirty="0"/>
                        <a:t>5 Auto-Increment Addressing Modes</a:t>
                      </a:r>
                      <a:endParaRPr lang="en-IN" sz="1400" dirty="0"/>
                    </a:p>
                  </a:txBody>
                  <a:tcPr anchor="ctr"/>
                </a:tc>
              </a:tr>
            </a:tbl>
          </a:graphicData>
        </a:graphic>
      </p:graphicFrame>
      <p:graphicFrame>
        <p:nvGraphicFramePr>
          <p:cNvPr id="4" name="Table 7"/>
          <p:cNvGraphicFramePr>
            <a:graphicFrameLocks noGrp="1"/>
          </p:cNvGraphicFramePr>
          <p:nvPr/>
        </p:nvGraphicFramePr>
        <p:xfrm>
          <a:off x="92686" y="2202270"/>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l"/>
                      <a:r>
                        <a:rPr lang="en-IN" sz="1400" dirty="0"/>
                        <a:t>4 Register Indirect Addressing Modes</a:t>
                      </a:r>
                      <a:endParaRPr lang="en-IN" sz="1400" dirty="0"/>
                    </a:p>
                  </a:txBody>
                  <a:tcPr anchor="ctr"/>
                </a:tc>
              </a:tr>
            </a:tbl>
          </a:graphicData>
        </a:graphic>
      </p:graphicFrame>
      <p:graphicFrame>
        <p:nvGraphicFramePr>
          <p:cNvPr id="5" name="Table 7"/>
          <p:cNvGraphicFramePr>
            <a:graphicFrameLocks noGrp="1"/>
          </p:cNvGraphicFramePr>
          <p:nvPr/>
        </p:nvGraphicFramePr>
        <p:xfrm>
          <a:off x="92687" y="1779579"/>
          <a:ext cx="3061060" cy="365760"/>
        </p:xfrm>
        <a:graphic>
          <a:graphicData uri="http://schemas.openxmlformats.org/drawingml/2006/table">
            <a:tbl>
              <a:tblPr firstRow="1" bandRow="1">
                <a:tableStyleId>{BC89EF96-8CEA-46FF-86C4-4CE0E7609802}</a:tableStyleId>
              </a:tblPr>
              <a:tblGrid>
                <a:gridCol w="3061060"/>
              </a:tblGrid>
              <a:tr h="365760">
                <a:tc>
                  <a:txBody>
                    <a:bodyPr/>
                    <a:lstStyle/>
                    <a:p>
                      <a:pPr algn="l"/>
                      <a:r>
                        <a:rPr lang="en-IN" sz="1400" dirty="0"/>
                        <a:t>3  Register Direct Addressing Modes</a:t>
                      </a:r>
                      <a:endParaRPr lang="en-IN" sz="1400" dirty="0"/>
                    </a:p>
                  </a:txBody>
                  <a:tcPr anchor="ctr"/>
                </a:tc>
              </a:tr>
            </a:tbl>
          </a:graphicData>
        </a:graphic>
      </p:graphicFrame>
      <p:graphicFrame>
        <p:nvGraphicFramePr>
          <p:cNvPr id="6" name="Table 7"/>
          <p:cNvGraphicFramePr>
            <a:graphicFrameLocks noGrp="1"/>
          </p:cNvGraphicFramePr>
          <p:nvPr/>
        </p:nvGraphicFramePr>
        <p:xfrm>
          <a:off x="92687" y="1374863"/>
          <a:ext cx="3061060" cy="365761"/>
        </p:xfrm>
        <a:graphic>
          <a:graphicData uri="http://schemas.openxmlformats.org/drawingml/2006/table">
            <a:tbl>
              <a:tblPr firstRow="1" bandRow="1">
                <a:tableStyleId>{BC89EF96-8CEA-46FF-86C4-4CE0E7609802}</a:tableStyleId>
              </a:tblPr>
              <a:tblGrid>
                <a:gridCol w="3061060"/>
              </a:tblGrid>
              <a:tr h="365761">
                <a:tc>
                  <a:txBody>
                    <a:bodyPr/>
                    <a:lstStyle/>
                    <a:p>
                      <a:pPr algn="l"/>
                      <a:r>
                        <a:rPr lang="en-IN" sz="1400" dirty="0"/>
                        <a:t>2  Immediate Addressing Modes</a:t>
                      </a:r>
                      <a:endParaRPr lang="en-IN" sz="1400" dirty="0"/>
                    </a:p>
                  </a:txBody>
                  <a:tcPr anchor="ctr"/>
                </a:tc>
              </a:tr>
            </a:tbl>
          </a:graphicData>
        </a:graphic>
      </p:graphicFrame>
      <p:graphicFrame>
        <p:nvGraphicFramePr>
          <p:cNvPr id="7" name="Table 7"/>
          <p:cNvGraphicFramePr>
            <a:graphicFrameLocks noGrp="1"/>
          </p:cNvGraphicFramePr>
          <p:nvPr/>
        </p:nvGraphicFramePr>
        <p:xfrm>
          <a:off x="92687" y="970148"/>
          <a:ext cx="3061060" cy="317463"/>
        </p:xfrm>
        <a:graphic>
          <a:graphicData uri="http://schemas.openxmlformats.org/drawingml/2006/table">
            <a:tbl>
              <a:tblPr firstRow="1" bandRow="1">
                <a:tableStyleId>{BC89EF96-8CEA-46FF-86C4-4CE0E7609802}</a:tableStyleId>
              </a:tblPr>
              <a:tblGrid>
                <a:gridCol w="3061060"/>
              </a:tblGrid>
              <a:tr h="317463">
                <a:tc>
                  <a:txBody>
                    <a:bodyPr/>
                    <a:lstStyle/>
                    <a:p>
                      <a:pPr algn="l"/>
                      <a:r>
                        <a:rPr lang="en-IN" sz="1400" dirty="0"/>
                        <a:t>1  Implied/Implicit Addressing Modes</a:t>
                      </a:r>
                      <a:endParaRPr lang="en-IN" sz="1400" dirty="0"/>
                    </a:p>
                  </a:txBody>
                  <a:tcPr anchor="ctr"/>
                </a:tc>
              </a:tr>
            </a:tbl>
          </a:graphicData>
        </a:graphic>
      </p:graphicFrame>
      <p:graphicFrame>
        <p:nvGraphicFramePr>
          <p:cNvPr id="8" name="Table 7"/>
          <p:cNvGraphicFramePr>
            <a:graphicFrameLocks noGrp="1"/>
          </p:cNvGraphicFramePr>
          <p:nvPr/>
        </p:nvGraphicFramePr>
        <p:xfrm>
          <a:off x="92682" y="5126953"/>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11 Indexed Addressing Modes</a:t>
                      </a:r>
                      <a:endParaRPr lang="en-IN" sz="1400" dirty="0"/>
                    </a:p>
                  </a:txBody>
                  <a:tcPr anchor="ctr"/>
                </a:tc>
              </a:tr>
            </a:tbl>
          </a:graphicData>
        </a:graphic>
      </p:graphicFrame>
      <p:graphicFrame>
        <p:nvGraphicFramePr>
          <p:cNvPr id="9" name="Table 7"/>
          <p:cNvGraphicFramePr>
            <a:graphicFrameLocks noGrp="1"/>
          </p:cNvGraphicFramePr>
          <p:nvPr/>
        </p:nvGraphicFramePr>
        <p:xfrm>
          <a:off x="92684" y="4703813"/>
          <a:ext cx="3061061" cy="304800"/>
        </p:xfrm>
        <a:graphic>
          <a:graphicData uri="http://schemas.openxmlformats.org/drawingml/2006/table">
            <a:tbl>
              <a:tblPr firstRow="1" bandRow="1">
                <a:tableStyleId>{BC89EF96-8CEA-46FF-86C4-4CE0E7609802}</a:tableStyleId>
              </a:tblPr>
              <a:tblGrid>
                <a:gridCol w="3061061"/>
              </a:tblGrid>
              <a:tr h="294611">
                <a:tc>
                  <a:txBody>
                    <a:bodyPr/>
                    <a:lstStyle/>
                    <a:p>
                      <a:pPr algn="just"/>
                      <a:r>
                        <a:rPr lang="en-IN" sz="1400" dirty="0"/>
                        <a:t>10 Relative Addressing Modes</a:t>
                      </a:r>
                      <a:endParaRPr lang="en-IN" sz="1400" dirty="0"/>
                    </a:p>
                  </a:txBody>
                  <a:tcPr anchor="ctr"/>
                </a:tc>
              </a:tr>
            </a:tbl>
          </a:graphicData>
        </a:graphic>
      </p:graphicFrame>
      <p:graphicFrame>
        <p:nvGraphicFramePr>
          <p:cNvPr id="10" name="Table 7"/>
          <p:cNvGraphicFramePr>
            <a:graphicFrameLocks noGrp="1"/>
          </p:cNvGraphicFramePr>
          <p:nvPr/>
        </p:nvGraphicFramePr>
        <p:xfrm>
          <a:off x="92684" y="4280673"/>
          <a:ext cx="3061061" cy="304800"/>
        </p:xfrm>
        <a:graphic>
          <a:graphicData uri="http://schemas.openxmlformats.org/drawingml/2006/table">
            <a:tbl>
              <a:tblPr firstRow="1" bandRow="1">
                <a:tableStyleId>{BC89EF96-8CEA-46FF-86C4-4CE0E7609802}</a:tableStyleId>
              </a:tblPr>
              <a:tblGrid>
                <a:gridCol w="3061061"/>
              </a:tblGrid>
              <a:tr h="269634">
                <a:tc>
                  <a:txBody>
                    <a:bodyPr/>
                    <a:lstStyle/>
                    <a:p>
                      <a:pPr algn="just"/>
                      <a:r>
                        <a:rPr lang="en-IN" sz="1400" dirty="0"/>
                        <a:t>9 Displacement Addressing Modes</a:t>
                      </a:r>
                      <a:endParaRPr lang="en-IN" sz="1400" dirty="0"/>
                    </a:p>
                  </a:txBody>
                  <a:tcPr anchor="ctr"/>
                </a:tc>
              </a:tr>
            </a:tbl>
          </a:graphicData>
        </a:graphic>
      </p:graphicFrame>
      <p:graphicFrame>
        <p:nvGraphicFramePr>
          <p:cNvPr id="11" name="Table 7"/>
          <p:cNvGraphicFramePr>
            <a:graphicFrameLocks noGrp="1"/>
          </p:cNvGraphicFramePr>
          <p:nvPr/>
        </p:nvGraphicFramePr>
        <p:xfrm>
          <a:off x="92684" y="3857982"/>
          <a:ext cx="3061061" cy="365760"/>
        </p:xfrm>
        <a:graphic>
          <a:graphicData uri="http://schemas.openxmlformats.org/drawingml/2006/table">
            <a:tbl>
              <a:tblPr firstRow="1" bandRow="1">
                <a:tableStyleId>{BC89EF96-8CEA-46FF-86C4-4CE0E7609802}</a:tableStyleId>
              </a:tblPr>
              <a:tblGrid>
                <a:gridCol w="3061061"/>
              </a:tblGrid>
              <a:tr h="365760">
                <a:tc>
                  <a:txBody>
                    <a:bodyPr/>
                    <a:lstStyle/>
                    <a:p>
                      <a:pPr algn="just"/>
                      <a:r>
                        <a:rPr lang="en-IN" sz="1400" dirty="0"/>
                        <a:t>8 Indirect Addressing Modes</a:t>
                      </a:r>
                      <a:endParaRPr lang="en-IN" sz="1400" dirty="0"/>
                    </a:p>
                  </a:txBody>
                  <a:tcPr anchor="ctr"/>
                </a:tc>
              </a:tr>
            </a:tbl>
          </a:graphicData>
        </a:graphic>
      </p:graphicFrame>
      <p:graphicFrame>
        <p:nvGraphicFramePr>
          <p:cNvPr id="12" name="Table 7"/>
          <p:cNvGraphicFramePr>
            <a:graphicFrameLocks noGrp="1"/>
          </p:cNvGraphicFramePr>
          <p:nvPr/>
        </p:nvGraphicFramePr>
        <p:xfrm>
          <a:off x="92684" y="3453266"/>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l"/>
                      <a:r>
                        <a:rPr lang="en-IN" sz="1400" dirty="0"/>
                        <a:t>7 Direct Addressing Modes</a:t>
                      </a:r>
                      <a:endParaRPr lang="en-IN" sz="1400" dirty="0"/>
                    </a:p>
                  </a:txBody>
                  <a:tcPr anchor="ctr"/>
                </a:tc>
              </a:tr>
            </a:tbl>
          </a:graphicData>
        </a:graphic>
      </p:graphicFrame>
      <p:graphicFrame>
        <p:nvGraphicFramePr>
          <p:cNvPr id="13" name="Table 7"/>
          <p:cNvGraphicFramePr>
            <a:graphicFrameLocks noGrp="1"/>
          </p:cNvGraphicFramePr>
          <p:nvPr/>
        </p:nvGraphicFramePr>
        <p:xfrm>
          <a:off x="92682" y="5565010"/>
          <a:ext cx="3061061" cy="365761"/>
        </p:xfrm>
        <a:graphic>
          <a:graphicData uri="http://schemas.openxmlformats.org/drawingml/2006/table">
            <a:tbl>
              <a:tblPr firstRow="1" bandRow="1">
                <a:tableStyleId>{BC89EF96-8CEA-46FF-86C4-4CE0E7609802}</a:tableStyleId>
              </a:tblPr>
              <a:tblGrid>
                <a:gridCol w="3061061"/>
              </a:tblGrid>
              <a:tr h="365761">
                <a:tc>
                  <a:txBody>
                    <a:bodyPr/>
                    <a:lstStyle/>
                    <a:p>
                      <a:pPr algn="just"/>
                      <a:r>
                        <a:rPr lang="en-IN" sz="1400" dirty="0"/>
                        <a:t>12 Base Register Addressing Modes</a:t>
                      </a:r>
                      <a:endParaRPr lang="en-IN" sz="1400" dirty="0"/>
                    </a:p>
                  </a:txBody>
                  <a:tcPr anchor="ctr"/>
                </a:tc>
              </a:tr>
            </a:tbl>
          </a:graphicData>
        </a:graphic>
      </p:graphicFrame>
      <p:graphicFrame>
        <p:nvGraphicFramePr>
          <p:cNvPr id="14" name="Table 7"/>
          <p:cNvGraphicFramePr>
            <a:graphicFrameLocks noGrp="1"/>
          </p:cNvGraphicFramePr>
          <p:nvPr/>
        </p:nvGraphicFramePr>
        <p:xfrm>
          <a:off x="92682" y="6008009"/>
          <a:ext cx="3061061" cy="365761"/>
        </p:xfrm>
        <a:graphic>
          <a:graphicData uri="http://schemas.openxmlformats.org/drawingml/2006/table">
            <a:tbl>
              <a:tblPr firstRow="1" bandRow="1">
                <a:tableStyleId>{B301B821-A1FF-4177-AEE7-76D212191A09}</a:tableStyleId>
              </a:tblPr>
              <a:tblGrid>
                <a:gridCol w="3061061"/>
              </a:tblGrid>
              <a:tr h="365761">
                <a:tc>
                  <a:txBody>
                    <a:bodyPr/>
                    <a:lstStyle/>
                    <a:p>
                      <a:pPr algn="just"/>
                      <a:r>
                        <a:rPr lang="en-IN" sz="1400" dirty="0"/>
                        <a:t>13 Stack Addressing Modes</a:t>
                      </a:r>
                      <a:endParaRPr lang="en-IN" sz="1400" dirty="0"/>
                    </a:p>
                  </a:txBody>
                  <a:tcPr anchor="ctr"/>
                </a:tc>
              </a:tr>
            </a:tbl>
          </a:graphicData>
        </a:graphic>
      </p:graphicFrame>
      <p:sp>
        <p:nvSpPr>
          <p:cNvPr id="15" name="Rectangle 14"/>
          <p:cNvSpPr/>
          <p:nvPr/>
        </p:nvSpPr>
        <p:spPr>
          <a:xfrm>
            <a:off x="3433665" y="998943"/>
            <a:ext cx="8528179" cy="2413181"/>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13. Stack Addressing Modes:</a:t>
            </a:r>
            <a:endParaRPr lang="en-US" b="1" dirty="0"/>
          </a:p>
          <a:p>
            <a:pPr marL="285750" indent="-285750" algn="just">
              <a:lnSpc>
                <a:spcPct val="150000"/>
              </a:lnSpc>
              <a:buClr>
                <a:schemeClr val="accent2"/>
              </a:buClr>
              <a:buFont typeface="Wingdings" panose="05000000000000000000" pitchFamily="2" charset="2"/>
              <a:buChar char="§"/>
            </a:pPr>
            <a:r>
              <a:rPr lang="en-US" sz="1700" dirty="0"/>
              <a:t>In this mode, the operand is at the top of the stack.</a:t>
            </a:r>
            <a:endParaRPr lang="en-US" sz="1700" dirty="0"/>
          </a:p>
          <a:p>
            <a:pPr marL="285750" indent="-285750" algn="just">
              <a:lnSpc>
                <a:spcPct val="150000"/>
              </a:lnSpc>
              <a:buClr>
                <a:schemeClr val="accent2"/>
              </a:buClr>
              <a:buFont typeface="Wingdings" panose="05000000000000000000" pitchFamily="2" charset="2"/>
              <a:buChar char="§"/>
            </a:pPr>
            <a:r>
              <a:rPr lang="en-US" sz="1700" dirty="0"/>
              <a:t>For example: ADD, this instruction will POP the top two items from the stack, add them, and will then PUSH the result to the top of the stack.</a:t>
            </a:r>
            <a:endParaRPr lang="en-US" sz="1700" dirty="0"/>
          </a:p>
          <a:p>
            <a:pPr marL="285750" indent="-285750" algn="just">
              <a:lnSpc>
                <a:spcPct val="150000"/>
              </a:lnSpc>
              <a:buClr>
                <a:schemeClr val="accent2"/>
              </a:buClr>
              <a:buFont typeface="Wingdings" panose="05000000000000000000" pitchFamily="2" charset="2"/>
              <a:buChar char="§"/>
            </a:pPr>
            <a:r>
              <a:rPr lang="en-US" sz="1700" dirty="0"/>
              <a:t>It helps in reducing the number of bits in the instruction's addressing field.</a:t>
            </a:r>
            <a:endParaRPr lang="en-US" sz="1700" dirty="0"/>
          </a:p>
          <a:p>
            <a:pPr marL="285750" indent="-285750" algn="just">
              <a:lnSpc>
                <a:spcPct val="150000"/>
              </a:lnSpc>
              <a:buClr>
                <a:schemeClr val="accent2"/>
              </a:buClr>
              <a:buFont typeface="Wingdings" panose="05000000000000000000" pitchFamily="2" charset="2"/>
              <a:buChar char="§"/>
            </a:pPr>
            <a:r>
              <a:rPr lang="en-US" sz="1700" dirty="0"/>
              <a:t>It facilitates pointers, indexing of data, and counters for loop controls.</a:t>
            </a:r>
            <a:endParaRPr lang="en-US" sz="1700" dirty="0"/>
          </a:p>
        </p:txBody>
      </p:sp>
      <p:cxnSp>
        <p:nvCxnSpPr>
          <p:cNvPr id="17" name="Connector: Elbow 16"/>
          <p:cNvCxnSpPr>
            <a:stCxn id="14" idx="3"/>
            <a:endCxn id="15" idx="1"/>
          </p:cNvCxnSpPr>
          <p:nvPr/>
        </p:nvCxnSpPr>
        <p:spPr>
          <a:xfrm flipV="1">
            <a:off x="3153743" y="2205534"/>
            <a:ext cx="279922" cy="398535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475377" y="3777708"/>
            <a:ext cx="6131663" cy="2413181"/>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just">
              <a:spcAft>
                <a:spcPts val="1000"/>
              </a:spcAft>
              <a:buClr>
                <a:schemeClr val="accent2"/>
              </a:buClr>
            </a:pPr>
            <a:r>
              <a:rPr lang="en-US" b="1" dirty="0"/>
              <a:t>The difference between the two Indexed Addressing Mode and Base Register Addressing Mode is in the way they are computed. An index register is assumed to hold an index number that is relative to the address part of the instruction. A base register is assumed to hold a base address and the address field of the instruction gives displacement relative to this base address. Base register addressing mode is used in computers to facilitate the relocation of programs in memory.</a:t>
            </a:r>
            <a:endParaRPr 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Applications of Addressing modes</a:t>
            </a:r>
            <a:endParaRPr lang="en-IN" dirty="0">
              <a:solidFill>
                <a:schemeClr val="tx1"/>
              </a:solidFill>
            </a:endParaRPr>
          </a:p>
        </p:txBody>
      </p:sp>
      <p:graphicFrame>
        <p:nvGraphicFramePr>
          <p:cNvPr id="6" name="Table 6"/>
          <p:cNvGraphicFramePr>
            <a:graphicFrameLocks noGrp="1"/>
          </p:cNvGraphicFramePr>
          <p:nvPr/>
        </p:nvGraphicFramePr>
        <p:xfrm>
          <a:off x="2032000" y="1652727"/>
          <a:ext cx="9155404" cy="4160520"/>
        </p:xfrm>
        <a:graphic>
          <a:graphicData uri="http://schemas.openxmlformats.org/drawingml/2006/table">
            <a:tbl>
              <a:tblPr firstRow="1" bandRow="1">
                <a:tableStyleId>{5C22544A-7EE6-4342-B048-85BDC9FD1C3A}</a:tableStyleId>
              </a:tblPr>
              <a:tblGrid>
                <a:gridCol w="3557037"/>
                <a:gridCol w="5598367"/>
              </a:tblGrid>
              <a:tr h="370840">
                <a:tc>
                  <a:txBody>
                    <a:bodyPr/>
                    <a:lstStyle/>
                    <a:p>
                      <a:pPr algn="ctr"/>
                      <a:r>
                        <a:rPr lang="en-IN">
                          <a:solidFill>
                            <a:srgbClr val="000000"/>
                          </a:solidFill>
                          <a:effectLst/>
                        </a:rPr>
                        <a:t>Addressing Mode</a:t>
                      </a:r>
                      <a:endParaRPr lang="en-IN">
                        <a:effectLst/>
                      </a:endParaRPr>
                    </a:p>
                  </a:txBody>
                  <a:tcPr anchor="ctr"/>
                </a:tc>
                <a:tc>
                  <a:txBody>
                    <a:bodyPr/>
                    <a:lstStyle/>
                    <a:p>
                      <a:pPr algn="ctr"/>
                      <a:r>
                        <a:rPr lang="en-IN">
                          <a:solidFill>
                            <a:srgbClr val="000000"/>
                          </a:solidFill>
                          <a:effectLst/>
                        </a:rPr>
                        <a:t>Applications</a:t>
                      </a:r>
                      <a:endParaRPr lang="en-IN">
                        <a:effectLst/>
                      </a:endParaRPr>
                    </a:p>
                  </a:txBody>
                  <a:tcPr anchor="ctr"/>
                </a:tc>
              </a:tr>
              <a:tr h="370840">
                <a:tc>
                  <a:txBody>
                    <a:bodyPr/>
                    <a:lstStyle/>
                    <a:p>
                      <a:r>
                        <a:rPr lang="en-IN">
                          <a:solidFill>
                            <a:srgbClr val="000000"/>
                          </a:solidFill>
                          <a:effectLst/>
                        </a:rPr>
                        <a:t>Immediate Addressing Mode</a:t>
                      </a:r>
                      <a:endParaRPr lang="en-IN">
                        <a:effectLst/>
                      </a:endParaRPr>
                    </a:p>
                  </a:txBody>
                  <a:tcPr marL="60960" marR="60960" marT="30480" marB="30480" anchor="ctr"/>
                </a:tc>
                <a:tc>
                  <a:txBody>
                    <a:bodyPr/>
                    <a:lstStyle/>
                    <a:p>
                      <a:pPr algn="just"/>
                      <a:r>
                        <a:rPr lang="en-US">
                          <a:solidFill>
                            <a:srgbClr val="000000"/>
                          </a:solidFill>
                          <a:effectLst/>
                        </a:rPr>
                        <a:t>Initialize the register to a constant value.</a:t>
                      </a:r>
                      <a:endParaRPr lang="en-US">
                        <a:effectLst/>
                      </a:endParaRPr>
                    </a:p>
                  </a:txBody>
                  <a:tcPr marL="60960" marR="60960" marT="30480" marB="30480" anchor="ctr"/>
                </a:tc>
              </a:tr>
              <a:tr h="370840">
                <a:tc>
                  <a:txBody>
                    <a:bodyPr/>
                    <a:lstStyle/>
                    <a:p>
                      <a:r>
                        <a:rPr lang="en-US" dirty="0">
                          <a:solidFill>
                            <a:srgbClr val="000000"/>
                          </a:solidFill>
                          <a:effectLst/>
                        </a:rPr>
                        <a:t>Direct Addressing Modes</a:t>
                      </a:r>
                      <a:endParaRPr lang="en-US" dirty="0">
                        <a:solidFill>
                          <a:srgbClr val="000000"/>
                        </a:solidFill>
                        <a:effectLst/>
                      </a:endParaRPr>
                    </a:p>
                    <a:p>
                      <a:r>
                        <a:rPr lang="en-US" dirty="0">
                          <a:solidFill>
                            <a:srgbClr val="000000"/>
                          </a:solidFill>
                          <a:effectLst/>
                        </a:rPr>
                        <a:t>Register Direct Addressing Mode</a:t>
                      </a:r>
                      <a:endParaRPr lang="en-US" dirty="0">
                        <a:effectLst/>
                      </a:endParaRPr>
                    </a:p>
                  </a:txBody>
                  <a:tcPr marL="60960" marR="60960" marT="30480" marB="30480" anchor="ctr"/>
                </a:tc>
                <a:tc>
                  <a:txBody>
                    <a:bodyPr/>
                    <a:lstStyle/>
                    <a:p>
                      <a:pPr algn="just"/>
                      <a:r>
                        <a:rPr lang="en-US">
                          <a:solidFill>
                            <a:srgbClr val="000000"/>
                          </a:solidFill>
                          <a:effectLst/>
                        </a:rPr>
                        <a:t>Helps access static data and implement variables.</a:t>
                      </a:r>
                      <a:endParaRPr lang="en-US">
                        <a:effectLst/>
                      </a:endParaRPr>
                    </a:p>
                  </a:txBody>
                  <a:tcPr marL="60960" marR="60960" marT="30480" marB="30480" anchor="ctr"/>
                </a:tc>
              </a:tr>
              <a:tr h="370840">
                <a:tc>
                  <a:txBody>
                    <a:bodyPr/>
                    <a:lstStyle/>
                    <a:p>
                      <a:r>
                        <a:rPr lang="en-US" dirty="0">
                          <a:solidFill>
                            <a:srgbClr val="000000"/>
                          </a:solidFill>
                          <a:effectLst/>
                        </a:rPr>
                        <a:t>Indirect Addressing Modes</a:t>
                      </a:r>
                      <a:endParaRPr lang="en-US" dirty="0">
                        <a:solidFill>
                          <a:srgbClr val="000000"/>
                        </a:solidFill>
                        <a:effectLst/>
                      </a:endParaRPr>
                    </a:p>
                    <a:p>
                      <a:r>
                        <a:rPr lang="en-US" dirty="0">
                          <a:solidFill>
                            <a:srgbClr val="000000"/>
                          </a:solidFill>
                          <a:effectLst/>
                        </a:rPr>
                        <a:t>Register Indirect Addressing Mode</a:t>
                      </a:r>
                      <a:endParaRPr lang="en-US" dirty="0">
                        <a:effectLst/>
                      </a:endParaRPr>
                    </a:p>
                  </a:txBody>
                  <a:tcPr marL="60960" marR="60960" marT="30480" marB="30480" anchor="ctr"/>
                </a:tc>
                <a:tc>
                  <a:txBody>
                    <a:bodyPr/>
                    <a:lstStyle/>
                    <a:p>
                      <a:pPr algn="just"/>
                      <a:r>
                        <a:rPr lang="en-US">
                          <a:solidFill>
                            <a:srgbClr val="000000"/>
                          </a:solidFill>
                          <a:effectLst/>
                        </a:rPr>
                        <a:t>Helps implement pointers and pass arrays as parameters.</a:t>
                      </a:r>
                      <a:endParaRPr lang="en-US">
                        <a:effectLst/>
                      </a:endParaRPr>
                    </a:p>
                  </a:txBody>
                  <a:tcPr marL="60960" marR="60960" marT="30480" marB="30480" anchor="ctr"/>
                </a:tc>
              </a:tr>
              <a:tr h="370840">
                <a:tc>
                  <a:txBody>
                    <a:bodyPr/>
                    <a:lstStyle/>
                    <a:p>
                      <a:r>
                        <a:rPr lang="en-IN">
                          <a:solidFill>
                            <a:srgbClr val="000000"/>
                          </a:solidFill>
                          <a:effectLst/>
                        </a:rPr>
                        <a:t>Relative Addressing Mode</a:t>
                      </a:r>
                      <a:endParaRPr lang="en-IN">
                        <a:effectLst/>
                      </a:endParaRPr>
                    </a:p>
                  </a:txBody>
                  <a:tcPr marL="60960" marR="60960" marT="30480" marB="30480" anchor="ctr"/>
                </a:tc>
                <a:tc>
                  <a:txBody>
                    <a:bodyPr/>
                    <a:lstStyle/>
                    <a:p>
                      <a:pPr algn="just"/>
                      <a:r>
                        <a:rPr lang="en-US">
                          <a:solidFill>
                            <a:srgbClr val="000000"/>
                          </a:solidFill>
                          <a:effectLst/>
                        </a:rPr>
                        <a:t>Helps in program relocation at runtime. And in changing the sequence of instructions during execution.</a:t>
                      </a:r>
                      <a:endParaRPr lang="en-US">
                        <a:effectLst/>
                      </a:endParaRPr>
                    </a:p>
                  </a:txBody>
                  <a:tcPr marL="60960" marR="60960" marT="30480" marB="30480" anchor="ctr"/>
                </a:tc>
              </a:tr>
              <a:tr h="370840">
                <a:tc>
                  <a:txBody>
                    <a:bodyPr/>
                    <a:lstStyle/>
                    <a:p>
                      <a:r>
                        <a:rPr lang="en-IN">
                          <a:solidFill>
                            <a:srgbClr val="000000"/>
                          </a:solidFill>
                          <a:effectLst/>
                        </a:rPr>
                        <a:t>Index Addressing Mode</a:t>
                      </a:r>
                      <a:endParaRPr lang="en-IN">
                        <a:effectLst/>
                      </a:endParaRPr>
                    </a:p>
                  </a:txBody>
                  <a:tcPr marL="60960" marR="60960" marT="30480" marB="30480" anchor="ctr"/>
                </a:tc>
                <a:tc>
                  <a:txBody>
                    <a:bodyPr/>
                    <a:lstStyle/>
                    <a:p>
                      <a:pPr algn="just"/>
                      <a:r>
                        <a:rPr lang="en-US">
                          <a:solidFill>
                            <a:srgbClr val="000000"/>
                          </a:solidFill>
                          <a:effectLst/>
                        </a:rPr>
                        <a:t>Helps in the array and record implementation. </a:t>
                      </a:r>
                      <a:endParaRPr lang="en-US">
                        <a:effectLst/>
                      </a:endParaRPr>
                    </a:p>
                  </a:txBody>
                  <a:tcPr marL="60960" marR="60960" marT="30480" marB="30480" anchor="ctr"/>
                </a:tc>
              </a:tr>
              <a:tr h="370840">
                <a:tc>
                  <a:txBody>
                    <a:bodyPr/>
                    <a:lstStyle/>
                    <a:p>
                      <a:r>
                        <a:rPr lang="en-IN">
                          <a:solidFill>
                            <a:srgbClr val="000000"/>
                          </a:solidFill>
                          <a:effectLst/>
                        </a:rPr>
                        <a:t>Base Register Addressing Mode</a:t>
                      </a:r>
                      <a:endParaRPr lang="en-IN">
                        <a:effectLst/>
                      </a:endParaRPr>
                    </a:p>
                  </a:txBody>
                  <a:tcPr marL="60960" marR="60960" marT="30480" marB="30480" anchor="ctr"/>
                </a:tc>
                <a:tc>
                  <a:txBody>
                    <a:bodyPr/>
                    <a:lstStyle/>
                    <a:p>
                      <a:pPr algn="just"/>
                      <a:r>
                        <a:rPr lang="en-US">
                          <a:solidFill>
                            <a:srgbClr val="000000"/>
                          </a:solidFill>
                          <a:effectLst/>
                        </a:rPr>
                        <a:t>Helps in writing relocatable code and handling recursive procedures. </a:t>
                      </a:r>
                      <a:endParaRPr lang="en-US">
                        <a:effectLst/>
                      </a:endParaRPr>
                    </a:p>
                  </a:txBody>
                  <a:tcPr marL="60960" marR="60960" marT="30480" marB="30480" anchor="ctr"/>
                </a:tc>
              </a:tr>
              <a:tr h="370840">
                <a:tc>
                  <a:txBody>
                    <a:bodyPr/>
                    <a:lstStyle/>
                    <a:p>
                      <a:r>
                        <a:rPr lang="en-US" dirty="0">
                          <a:solidFill>
                            <a:srgbClr val="000000"/>
                          </a:solidFill>
                          <a:effectLst/>
                        </a:rPr>
                        <a:t>Auto-Increment Addressing Mode</a:t>
                      </a:r>
                      <a:endParaRPr lang="en-US" dirty="0">
                        <a:solidFill>
                          <a:srgbClr val="000000"/>
                        </a:solidFill>
                        <a:effectLst/>
                      </a:endParaRPr>
                    </a:p>
                    <a:p>
                      <a:r>
                        <a:rPr lang="en-US" dirty="0">
                          <a:solidFill>
                            <a:srgbClr val="000000"/>
                          </a:solidFill>
                          <a:effectLst/>
                        </a:rPr>
                        <a:t>Auto-Decrement Addressing Mode</a:t>
                      </a:r>
                      <a:endParaRPr lang="en-US" dirty="0">
                        <a:effectLst/>
                      </a:endParaRPr>
                    </a:p>
                  </a:txBody>
                  <a:tcPr marL="60960" marR="60960" marT="30480" marB="30480" anchor="ctr"/>
                </a:tc>
                <a:tc>
                  <a:txBody>
                    <a:bodyPr/>
                    <a:lstStyle/>
                    <a:p>
                      <a:pPr algn="just"/>
                      <a:r>
                        <a:rPr lang="en-US" dirty="0">
                          <a:solidFill>
                            <a:srgbClr val="000000"/>
                          </a:solidFill>
                          <a:effectLst/>
                        </a:rPr>
                        <a:t>Helps implements loops and stacks.</a:t>
                      </a:r>
                      <a:endParaRPr lang="en-US" dirty="0">
                        <a:effectLst/>
                      </a:endParaRPr>
                    </a:p>
                  </a:txBody>
                  <a:tcPr marL="60960" marR="60960" marT="30480" marB="30480" anchor="ct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Advantages of Addressing modes</a:t>
            </a:r>
            <a:endParaRPr lang="en-IN" dirty="0">
              <a:solidFill>
                <a:schemeClr val="tx1"/>
              </a:solidFill>
            </a:endParaRPr>
          </a:p>
        </p:txBody>
      </p:sp>
      <p:sp>
        <p:nvSpPr>
          <p:cNvPr id="5" name="Content Placeholder 2"/>
          <p:cNvSpPr>
            <a:spLocks noGrp="1"/>
          </p:cNvSpPr>
          <p:nvPr>
            <p:ph idx="1"/>
          </p:nvPr>
        </p:nvSpPr>
        <p:spPr>
          <a:xfrm>
            <a:off x="581193" y="1548883"/>
            <a:ext cx="11177956" cy="4579460"/>
          </a:xfrm>
        </p:spPr>
        <p:txBody>
          <a:bodyPr>
            <a:normAutofit/>
          </a:bodyPr>
          <a:lstStyle/>
          <a:p>
            <a:pPr algn="just">
              <a:lnSpc>
                <a:spcPct val="150000"/>
              </a:lnSpc>
              <a:spcAft>
                <a:spcPts val="1000"/>
              </a:spcAft>
            </a:pPr>
            <a:r>
              <a:rPr lang="en-US" sz="2000" dirty="0">
                <a:solidFill>
                  <a:schemeClr val="tx1"/>
                </a:solidFill>
              </a:rPr>
              <a:t>They improve performance by efficiently utilizing the CPU cache and reducing the memory read latency.</a:t>
            </a:r>
            <a:endParaRPr lang="en-US" sz="2000" dirty="0">
              <a:solidFill>
                <a:schemeClr val="tx1"/>
              </a:solidFill>
            </a:endParaRPr>
          </a:p>
          <a:p>
            <a:pPr algn="just">
              <a:lnSpc>
                <a:spcPct val="150000"/>
              </a:lnSpc>
              <a:spcAft>
                <a:spcPts val="1000"/>
              </a:spcAft>
            </a:pPr>
            <a:r>
              <a:rPr lang="en-US" sz="2000" dirty="0">
                <a:solidFill>
                  <a:schemeClr val="tx1"/>
                </a:solidFill>
              </a:rPr>
              <a:t>Addressing Modes are used for implementing complex data structures in memory as they provide mechanisms such as indexing.</a:t>
            </a:r>
            <a:endParaRPr lang="en-US" sz="2000" dirty="0">
              <a:solidFill>
                <a:schemeClr val="tx1"/>
              </a:solidFill>
            </a:endParaRPr>
          </a:p>
          <a:p>
            <a:pPr algn="just">
              <a:lnSpc>
                <a:spcPct val="150000"/>
              </a:lnSpc>
              <a:spcAft>
                <a:spcPts val="1000"/>
              </a:spcAft>
            </a:pPr>
            <a:r>
              <a:rPr lang="en-US" sz="2000" dirty="0">
                <a:solidFill>
                  <a:schemeClr val="tx1"/>
                </a:solidFill>
              </a:rPr>
              <a:t>Program sizes can be reduced drastically as the code can be compacted which allows faster execution of instructions.</a:t>
            </a:r>
            <a:endParaRPr lang="en-US" sz="2000" dirty="0">
              <a:solidFill>
                <a:schemeClr val="tx1"/>
              </a:solidFill>
            </a:endParaRPr>
          </a:p>
          <a:p>
            <a:pPr algn="just">
              <a:lnSpc>
                <a:spcPct val="150000"/>
              </a:lnSpc>
              <a:spcAft>
                <a:spcPts val="1000"/>
              </a:spcAft>
            </a:pPr>
            <a:r>
              <a:rPr lang="en-US" sz="2000" dirty="0">
                <a:solidFill>
                  <a:schemeClr val="tx1"/>
                </a:solidFill>
              </a:rPr>
              <a:t>Addressing modes give you the flexibility to use different ways of specifying the address of operands in your instructions.</a:t>
            </a:r>
            <a:endParaRPr lang="en-US" sz="2000"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Example: Addressing modes</a:t>
            </a:r>
            <a:endParaRPr lang="en-IN" dirty="0">
              <a:solidFill>
                <a:schemeClr val="tx1"/>
              </a:solidFill>
            </a:endParaRPr>
          </a:p>
        </p:txBody>
      </p:sp>
      <p:sp>
        <p:nvSpPr>
          <p:cNvPr id="5" name="Content Placeholder 2"/>
          <p:cNvSpPr>
            <a:spLocks noGrp="1"/>
          </p:cNvSpPr>
          <p:nvPr>
            <p:ph idx="1"/>
          </p:nvPr>
        </p:nvSpPr>
        <p:spPr>
          <a:xfrm>
            <a:off x="581193" y="1548882"/>
            <a:ext cx="6472750" cy="4851917"/>
          </a:xfrm>
        </p:spPr>
        <p:txBody>
          <a:bodyPr>
            <a:normAutofit fontScale="77500" lnSpcReduction="20000"/>
          </a:bodyPr>
          <a:lstStyle/>
          <a:p>
            <a:pPr algn="just">
              <a:lnSpc>
                <a:spcPct val="150000"/>
              </a:lnSpc>
              <a:spcAft>
                <a:spcPts val="1000"/>
              </a:spcAft>
            </a:pPr>
            <a:r>
              <a:rPr lang="en-US" sz="2000" dirty="0">
                <a:solidFill>
                  <a:schemeClr val="tx1"/>
                </a:solidFill>
              </a:rPr>
              <a:t>To show the differences between the various modes, we will show the effect of the addressing modes on the instruction defined in Fig.</a:t>
            </a:r>
            <a:endParaRPr lang="en-US" sz="2000" dirty="0">
              <a:solidFill>
                <a:schemeClr val="tx1"/>
              </a:solidFill>
            </a:endParaRPr>
          </a:p>
          <a:p>
            <a:pPr algn="just">
              <a:lnSpc>
                <a:spcPct val="150000"/>
              </a:lnSpc>
              <a:spcAft>
                <a:spcPts val="1000"/>
              </a:spcAft>
            </a:pPr>
            <a:r>
              <a:rPr lang="en-US" sz="2000" dirty="0">
                <a:solidFill>
                  <a:schemeClr val="tx1"/>
                </a:solidFill>
              </a:rPr>
              <a:t>The two-word instruction at addresses 200 and 201 is a "load to AC" instruction with an address field equal to 500.</a:t>
            </a:r>
            <a:endParaRPr lang="en-US" sz="2000" dirty="0">
              <a:solidFill>
                <a:schemeClr val="tx1"/>
              </a:solidFill>
            </a:endParaRPr>
          </a:p>
          <a:p>
            <a:pPr algn="just">
              <a:lnSpc>
                <a:spcPct val="150000"/>
              </a:lnSpc>
              <a:spcAft>
                <a:spcPts val="1000"/>
              </a:spcAft>
            </a:pPr>
            <a:r>
              <a:rPr lang="en-US" sz="2000" dirty="0">
                <a:solidFill>
                  <a:schemeClr val="tx1"/>
                </a:solidFill>
              </a:rPr>
              <a:t>The first word of the instruction specifies the operation code and mode, and the second word specifies the address part.</a:t>
            </a:r>
            <a:endParaRPr lang="en-US" sz="2000" dirty="0">
              <a:solidFill>
                <a:schemeClr val="tx1"/>
              </a:solidFill>
            </a:endParaRPr>
          </a:p>
          <a:p>
            <a:pPr algn="just">
              <a:lnSpc>
                <a:spcPct val="150000"/>
              </a:lnSpc>
              <a:spcAft>
                <a:spcPts val="1000"/>
              </a:spcAft>
            </a:pPr>
            <a:r>
              <a:rPr lang="en-US" sz="2000" dirty="0">
                <a:solidFill>
                  <a:schemeClr val="tx1"/>
                </a:solidFill>
              </a:rPr>
              <a:t>PC has the value 200 for fetching this instruction. The content of processor register R1 is 400, and the content of an index register XR is 100.</a:t>
            </a:r>
            <a:endParaRPr lang="en-US" sz="2000" dirty="0">
              <a:solidFill>
                <a:schemeClr val="tx1"/>
              </a:solidFill>
            </a:endParaRPr>
          </a:p>
          <a:p>
            <a:pPr algn="just">
              <a:lnSpc>
                <a:spcPct val="150000"/>
              </a:lnSpc>
              <a:spcAft>
                <a:spcPts val="1000"/>
              </a:spcAft>
            </a:pPr>
            <a:r>
              <a:rPr lang="en-US" sz="2000" dirty="0">
                <a:solidFill>
                  <a:schemeClr val="tx1"/>
                </a:solidFill>
              </a:rPr>
              <a:t>AC receives the operand after the instruction is executed. The figure lists a few pertinent addresses and shows the memory content at each of these addresses.</a:t>
            </a:r>
            <a:endParaRPr lang="en-US" sz="2000" dirty="0">
              <a:solidFill>
                <a:schemeClr val="tx1"/>
              </a:solidFill>
            </a:endParaRPr>
          </a:p>
        </p:txBody>
      </p:sp>
      <p:pic>
        <p:nvPicPr>
          <p:cNvPr id="4" name="Picture 3"/>
          <p:cNvPicPr>
            <a:picLocks noChangeAspect="1"/>
          </p:cNvPicPr>
          <p:nvPr/>
        </p:nvPicPr>
        <p:blipFill>
          <a:blip r:embed="rId1"/>
          <a:stretch>
            <a:fillRect/>
          </a:stretch>
        </p:blipFill>
        <p:spPr>
          <a:xfrm>
            <a:off x="7119257" y="1548883"/>
            <a:ext cx="4889241" cy="469329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81193" y="729658"/>
            <a:ext cx="11029616" cy="529975"/>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a:solidFill>
                  <a:schemeClr val="tx1"/>
                </a:solidFill>
              </a:rPr>
              <a:t>Example: Addressing modes</a:t>
            </a:r>
            <a:endParaRPr lang="en-IN" dirty="0">
              <a:solidFill>
                <a:schemeClr val="tx1"/>
              </a:solidFill>
            </a:endParaRPr>
          </a:p>
        </p:txBody>
      </p:sp>
      <p:pic>
        <p:nvPicPr>
          <p:cNvPr id="4" name="Picture 3"/>
          <p:cNvPicPr>
            <a:picLocks noChangeAspect="1"/>
          </p:cNvPicPr>
          <p:nvPr/>
        </p:nvPicPr>
        <p:blipFill>
          <a:blip r:embed="rId1"/>
          <a:stretch>
            <a:fillRect/>
          </a:stretch>
        </p:blipFill>
        <p:spPr>
          <a:xfrm>
            <a:off x="1873898" y="1427584"/>
            <a:ext cx="8444204" cy="489857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857038"/>
            <a:ext cx="11029616" cy="988332"/>
          </a:xfrm>
        </p:spPr>
        <p:txBody>
          <a:bodyPr/>
          <a:lstStyle/>
          <a:p>
            <a:pPr algn="ctr"/>
            <a:r>
              <a:rPr lang="en-US" sz="2800" dirty="0">
                <a:solidFill>
                  <a:schemeClr val="tx1"/>
                </a:solidFill>
              </a:rPr>
              <a:t>5. Data transfer and manipulation</a:t>
            </a:r>
            <a:endParaRPr lang="en-IN"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Introduction</a:t>
            </a:r>
            <a:endParaRPr lang="en-IN" dirty="0">
              <a:solidFill>
                <a:schemeClr val="tx1"/>
              </a:solidFill>
            </a:endParaRPr>
          </a:p>
        </p:txBody>
      </p:sp>
      <p:sp>
        <p:nvSpPr>
          <p:cNvPr id="5" name="Content Placeholder 2"/>
          <p:cNvSpPr>
            <a:spLocks noGrp="1"/>
          </p:cNvSpPr>
          <p:nvPr>
            <p:ph idx="1"/>
          </p:nvPr>
        </p:nvSpPr>
        <p:spPr>
          <a:xfrm>
            <a:off x="581193" y="1548883"/>
            <a:ext cx="6771329" cy="4579460"/>
          </a:xfrm>
        </p:spPr>
        <p:txBody>
          <a:bodyPr>
            <a:normAutofit/>
          </a:bodyPr>
          <a:lstStyle/>
          <a:p>
            <a:pPr algn="just">
              <a:lnSpc>
                <a:spcPct val="150000"/>
              </a:lnSpc>
              <a:spcAft>
                <a:spcPts val="1000"/>
              </a:spcAft>
            </a:pPr>
            <a:r>
              <a:rPr lang="en-US" sz="2000" b="1" dirty="0">
                <a:solidFill>
                  <a:schemeClr val="tx1"/>
                </a:solidFill>
              </a:rPr>
              <a:t>Opcode: </a:t>
            </a:r>
            <a:r>
              <a:rPr lang="en-US" sz="2000" dirty="0">
                <a:solidFill>
                  <a:schemeClr val="tx1"/>
                </a:solidFill>
              </a:rPr>
              <a:t>Operation codes are known as opcodes. The first component of an instruction, known as an opcode, instructs the computer on what task to carry out.</a:t>
            </a:r>
            <a:endParaRPr lang="en-US" sz="2000" dirty="0">
              <a:solidFill>
                <a:schemeClr val="tx1"/>
              </a:solidFill>
            </a:endParaRPr>
          </a:p>
          <a:p>
            <a:pPr algn="just">
              <a:lnSpc>
                <a:spcPct val="150000"/>
              </a:lnSpc>
              <a:spcAft>
                <a:spcPts val="1000"/>
              </a:spcAft>
            </a:pPr>
            <a:r>
              <a:rPr lang="en-US" sz="2000" b="1" dirty="0">
                <a:solidFill>
                  <a:schemeClr val="tx1"/>
                </a:solidFill>
              </a:rPr>
              <a:t>Operand:</a:t>
            </a:r>
            <a:r>
              <a:rPr lang="en-US" sz="2000" dirty="0">
                <a:solidFill>
                  <a:schemeClr val="tx1"/>
                </a:solidFill>
              </a:rPr>
              <a:t> The second component of an instruction, known as an operand, instructs the computer where to locate or store the data or instructions.</a:t>
            </a:r>
            <a:endParaRPr lang="en-US" sz="2000" dirty="0">
              <a:solidFill>
                <a:schemeClr val="tx1"/>
              </a:solidFill>
            </a:endParaRPr>
          </a:p>
        </p:txBody>
      </p:sp>
      <p:pic>
        <p:nvPicPr>
          <p:cNvPr id="6" name="Picture 5"/>
          <p:cNvPicPr>
            <a:picLocks noChangeAspect="1"/>
          </p:cNvPicPr>
          <p:nvPr/>
        </p:nvPicPr>
        <p:blipFill>
          <a:blip r:embed="rId1">
            <a:extLst>
              <a:ext uri="{BEBA8EAE-BF5A-486C-A8C5-ECC9F3942E4B}">
                <a14:imgProps xmlns:a14="http://schemas.microsoft.com/office/drawing/2010/main">
                  <a14:imgLayer r:embed="rId2">
                    <a14:imgEffect>
                      <a14:colorTemperature colorTemp="7200"/>
                    </a14:imgEffect>
                  </a14:imgLayer>
                </a14:imgProps>
              </a:ext>
            </a:extLst>
          </a:blip>
          <a:stretch>
            <a:fillRect/>
          </a:stretch>
        </p:blipFill>
        <p:spPr>
          <a:xfrm>
            <a:off x="7352522" y="2177026"/>
            <a:ext cx="4671465" cy="313209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Types of Instructions</a:t>
            </a:r>
            <a:endParaRPr lang="en-IN" dirty="0">
              <a:solidFill>
                <a:schemeClr val="tx1"/>
              </a:solidFill>
            </a:endParaRPr>
          </a:p>
        </p:txBody>
      </p:sp>
      <p:sp>
        <p:nvSpPr>
          <p:cNvPr id="5" name="Content Placeholder 2"/>
          <p:cNvSpPr>
            <a:spLocks noGrp="1"/>
          </p:cNvSpPr>
          <p:nvPr>
            <p:ph idx="1"/>
          </p:nvPr>
        </p:nvSpPr>
        <p:spPr>
          <a:xfrm>
            <a:off x="581193" y="1548883"/>
            <a:ext cx="9411893" cy="4579460"/>
          </a:xfrm>
        </p:spPr>
        <p:txBody>
          <a:bodyPr>
            <a:normAutofit/>
          </a:bodyPr>
          <a:lstStyle/>
          <a:p>
            <a:pPr algn="just">
              <a:lnSpc>
                <a:spcPct val="150000"/>
              </a:lnSpc>
              <a:spcAft>
                <a:spcPts val="1000"/>
              </a:spcAft>
            </a:pPr>
            <a:r>
              <a:rPr lang="en-US" sz="2000" dirty="0">
                <a:solidFill>
                  <a:schemeClr val="tx1"/>
                </a:solidFill>
              </a:rPr>
              <a:t>There are certain basic operations included in every computer's instructions set. The computer instructions are classified into three categories: </a:t>
            </a:r>
            <a:endParaRPr lang="en-US" sz="2000" b="1" dirty="0">
              <a:solidFill>
                <a:schemeClr val="tx1"/>
              </a:solidFill>
            </a:endParaRPr>
          </a:p>
          <a:p>
            <a:pPr lvl="1" algn="just">
              <a:lnSpc>
                <a:spcPct val="150000"/>
              </a:lnSpc>
              <a:spcAft>
                <a:spcPts val="1000"/>
              </a:spcAft>
            </a:pPr>
            <a:r>
              <a:rPr lang="en-US" sz="1700" b="1" dirty="0">
                <a:solidFill>
                  <a:schemeClr val="tx1"/>
                </a:solidFill>
              </a:rPr>
              <a:t>Data Transfer Instructions</a:t>
            </a:r>
            <a:endParaRPr lang="en-US" sz="1700" b="1" dirty="0">
              <a:solidFill>
                <a:schemeClr val="tx1"/>
              </a:solidFill>
            </a:endParaRPr>
          </a:p>
          <a:p>
            <a:pPr lvl="1" algn="just">
              <a:lnSpc>
                <a:spcPct val="150000"/>
              </a:lnSpc>
              <a:spcAft>
                <a:spcPts val="1000"/>
              </a:spcAft>
            </a:pPr>
            <a:r>
              <a:rPr lang="en-US" sz="1700" b="1" dirty="0">
                <a:solidFill>
                  <a:schemeClr val="tx1"/>
                </a:solidFill>
              </a:rPr>
              <a:t>Data Manipulation Instructions</a:t>
            </a:r>
            <a:endParaRPr lang="en-US" sz="1700" b="1" dirty="0">
              <a:solidFill>
                <a:schemeClr val="tx1"/>
              </a:solidFill>
            </a:endParaRPr>
          </a:p>
          <a:p>
            <a:pPr lvl="1" algn="just">
              <a:lnSpc>
                <a:spcPct val="150000"/>
              </a:lnSpc>
              <a:spcAft>
                <a:spcPts val="1000"/>
              </a:spcAft>
            </a:pPr>
            <a:r>
              <a:rPr lang="en-US" sz="1700" b="1" dirty="0">
                <a:solidFill>
                  <a:schemeClr val="tx1"/>
                </a:solidFill>
              </a:rPr>
              <a:t>Program Control Instructions</a:t>
            </a:r>
            <a:endParaRPr lang="en-US" sz="1700"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Data Transfer Instructions</a:t>
            </a:r>
            <a:endParaRPr lang="en-IN" dirty="0">
              <a:solidFill>
                <a:schemeClr val="tx1"/>
              </a:solidFill>
            </a:endParaRPr>
          </a:p>
        </p:txBody>
      </p:sp>
      <p:sp>
        <p:nvSpPr>
          <p:cNvPr id="5" name="Content Placeholder 2"/>
          <p:cNvSpPr>
            <a:spLocks noGrp="1"/>
          </p:cNvSpPr>
          <p:nvPr>
            <p:ph idx="1"/>
          </p:nvPr>
        </p:nvSpPr>
        <p:spPr>
          <a:xfrm>
            <a:off x="581193" y="1548883"/>
            <a:ext cx="6752668" cy="4579460"/>
          </a:xfrm>
        </p:spPr>
        <p:txBody>
          <a:bodyPr>
            <a:normAutofit/>
          </a:bodyPr>
          <a:lstStyle/>
          <a:p>
            <a:pPr algn="just">
              <a:lnSpc>
                <a:spcPct val="150000"/>
              </a:lnSpc>
              <a:spcAft>
                <a:spcPts val="1000"/>
              </a:spcAft>
            </a:pPr>
            <a:r>
              <a:rPr lang="en-US" sz="2000" dirty="0">
                <a:solidFill>
                  <a:schemeClr val="tx1"/>
                </a:solidFill>
              </a:rPr>
              <a:t>Data transfer instructions move data from one location to another, without changing the binary information content. They are also called </a:t>
            </a:r>
            <a:r>
              <a:rPr lang="en-US" sz="2000" b="1" dirty="0">
                <a:solidFill>
                  <a:srgbClr val="FF0000"/>
                </a:solidFill>
              </a:rPr>
              <a:t>copy instructions</a:t>
            </a:r>
            <a:r>
              <a:rPr lang="en-US" sz="2000" dirty="0">
                <a:solidFill>
                  <a:schemeClr val="tx1"/>
                </a:solidFill>
              </a:rPr>
              <a:t>.</a:t>
            </a:r>
            <a:endParaRPr lang="en-US" sz="2000" dirty="0">
              <a:solidFill>
                <a:schemeClr val="tx1"/>
              </a:solidFill>
            </a:endParaRPr>
          </a:p>
          <a:p>
            <a:pPr algn="just">
              <a:lnSpc>
                <a:spcPct val="150000"/>
              </a:lnSpc>
              <a:spcAft>
                <a:spcPts val="1000"/>
              </a:spcAft>
            </a:pPr>
            <a:r>
              <a:rPr lang="en-US" sz="2000" dirty="0">
                <a:solidFill>
                  <a:schemeClr val="tx1"/>
                </a:solidFill>
              </a:rPr>
              <a:t>Typically the transfers are between </a:t>
            </a:r>
            <a:r>
              <a:rPr lang="en-US" sz="2000" b="1" dirty="0">
                <a:solidFill>
                  <a:srgbClr val="FF0000"/>
                </a:solidFill>
              </a:rPr>
              <a:t>memory and processor registers</a:t>
            </a:r>
            <a:r>
              <a:rPr lang="en-US" sz="2000" dirty="0">
                <a:solidFill>
                  <a:schemeClr val="tx1"/>
                </a:solidFill>
              </a:rPr>
              <a:t>, between </a:t>
            </a:r>
            <a:r>
              <a:rPr lang="en-US" sz="2000" b="1" dirty="0">
                <a:solidFill>
                  <a:srgbClr val="FF0000"/>
                </a:solidFill>
              </a:rPr>
              <a:t>processor registers and input and output registers</a:t>
            </a:r>
            <a:r>
              <a:rPr lang="en-US" sz="2000" dirty="0">
                <a:solidFill>
                  <a:schemeClr val="tx1"/>
                </a:solidFill>
              </a:rPr>
              <a:t>, and among the </a:t>
            </a:r>
            <a:r>
              <a:rPr lang="en-US" sz="2000" b="1" dirty="0">
                <a:solidFill>
                  <a:srgbClr val="FF0000"/>
                </a:solidFill>
              </a:rPr>
              <a:t>processor registers themselves</a:t>
            </a:r>
            <a:r>
              <a:rPr lang="en-US" sz="2000" dirty="0">
                <a:solidFill>
                  <a:schemeClr val="tx1"/>
                </a:solidFill>
              </a:rPr>
              <a:t>. </a:t>
            </a:r>
            <a:endParaRPr lang="en-US" sz="2000" dirty="0">
              <a:solidFill>
                <a:schemeClr val="tx1"/>
              </a:solidFill>
            </a:endParaRPr>
          </a:p>
        </p:txBody>
      </p:sp>
      <p:pic>
        <p:nvPicPr>
          <p:cNvPr id="7" name="Picture 6"/>
          <p:cNvPicPr>
            <a:picLocks noChangeAspect="1"/>
          </p:cNvPicPr>
          <p:nvPr/>
        </p:nvPicPr>
        <p:blipFill>
          <a:blip r:embed="rId1"/>
          <a:stretch>
            <a:fillRect/>
          </a:stretch>
        </p:blipFill>
        <p:spPr>
          <a:xfrm>
            <a:off x="7776616" y="2141350"/>
            <a:ext cx="3970625" cy="318643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Data Transfer Instructions </a:t>
            </a:r>
            <a:endParaRPr lang="en-IN" dirty="0">
              <a:solidFill>
                <a:schemeClr val="tx1"/>
              </a:solidFill>
            </a:endParaRPr>
          </a:p>
        </p:txBody>
      </p:sp>
      <p:sp>
        <p:nvSpPr>
          <p:cNvPr id="5" name="Content Placeholder 2"/>
          <p:cNvSpPr>
            <a:spLocks noGrp="1"/>
          </p:cNvSpPr>
          <p:nvPr>
            <p:ph idx="1"/>
          </p:nvPr>
        </p:nvSpPr>
        <p:spPr>
          <a:xfrm>
            <a:off x="581192" y="1548883"/>
            <a:ext cx="10634203" cy="592467"/>
          </a:xfrm>
        </p:spPr>
        <p:txBody>
          <a:bodyPr>
            <a:normAutofit/>
          </a:bodyPr>
          <a:lstStyle/>
          <a:p>
            <a:pPr algn="just">
              <a:lnSpc>
                <a:spcPct val="150000"/>
              </a:lnSpc>
              <a:spcAft>
                <a:spcPts val="1000"/>
              </a:spcAft>
            </a:pPr>
            <a:r>
              <a:rPr lang="en-US" sz="2000" b="1" dirty="0">
                <a:solidFill>
                  <a:srgbClr val="FF0000"/>
                </a:solidFill>
              </a:rPr>
              <a:t>With different Addressing Modes: </a:t>
            </a:r>
            <a:r>
              <a:rPr lang="en-US" sz="2000" dirty="0">
                <a:solidFill>
                  <a:srgbClr val="FF0000"/>
                </a:solidFill>
              </a:rPr>
              <a:t>Eight addressing modes for Load instruction</a:t>
            </a:r>
            <a:endParaRPr lang="en-US" sz="2000" b="1" dirty="0">
              <a:solidFill>
                <a:srgbClr val="FF0000"/>
              </a:solidFill>
            </a:endParaRPr>
          </a:p>
        </p:txBody>
      </p:sp>
      <p:pic>
        <p:nvPicPr>
          <p:cNvPr id="4" name="Picture 3"/>
          <p:cNvPicPr>
            <a:picLocks noChangeAspect="1"/>
          </p:cNvPicPr>
          <p:nvPr/>
        </p:nvPicPr>
        <p:blipFill>
          <a:blip r:embed="rId1"/>
          <a:stretch>
            <a:fillRect/>
          </a:stretch>
        </p:blipFill>
        <p:spPr>
          <a:xfrm>
            <a:off x="2621903" y="2257275"/>
            <a:ext cx="7427166" cy="361167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Data Manipulation Instructions</a:t>
            </a:r>
            <a:endParaRPr lang="en-IN" dirty="0">
              <a:solidFill>
                <a:schemeClr val="tx1"/>
              </a:solidFill>
            </a:endParaRPr>
          </a:p>
        </p:txBody>
      </p:sp>
      <p:sp>
        <p:nvSpPr>
          <p:cNvPr id="5" name="Content Placeholder 2"/>
          <p:cNvSpPr>
            <a:spLocks noGrp="1"/>
          </p:cNvSpPr>
          <p:nvPr>
            <p:ph idx="1"/>
          </p:nvPr>
        </p:nvSpPr>
        <p:spPr>
          <a:xfrm>
            <a:off x="581192" y="1548883"/>
            <a:ext cx="10727509" cy="4579460"/>
          </a:xfrm>
        </p:spPr>
        <p:txBody>
          <a:bodyPr>
            <a:normAutofit/>
          </a:bodyPr>
          <a:lstStyle/>
          <a:p>
            <a:pPr algn="just">
              <a:lnSpc>
                <a:spcPct val="150000"/>
              </a:lnSpc>
              <a:spcAft>
                <a:spcPts val="1000"/>
              </a:spcAft>
            </a:pPr>
            <a:r>
              <a:rPr lang="en-US" sz="2000" dirty="0">
                <a:solidFill>
                  <a:schemeClr val="tx1"/>
                </a:solidFill>
              </a:rPr>
              <a:t>Data manipulation instructions are those instructions that manipulate or change the content of the data/registers/memory. </a:t>
            </a:r>
            <a:endParaRPr lang="en-US" sz="2000" dirty="0">
              <a:solidFill>
                <a:schemeClr val="tx1"/>
              </a:solidFill>
            </a:endParaRPr>
          </a:p>
          <a:p>
            <a:pPr algn="just">
              <a:lnSpc>
                <a:spcPct val="150000"/>
              </a:lnSpc>
              <a:spcAft>
                <a:spcPts val="1000"/>
              </a:spcAft>
            </a:pPr>
            <a:r>
              <a:rPr lang="en-US" sz="2000" dirty="0">
                <a:solidFill>
                  <a:schemeClr val="tx1"/>
                </a:solidFill>
              </a:rPr>
              <a:t>It performs operations on data and provides the computational capabilities of the Computer.</a:t>
            </a:r>
            <a:endParaRPr lang="en-US" sz="2000" dirty="0">
              <a:solidFill>
                <a:schemeClr val="tx1"/>
              </a:solidFill>
            </a:endParaRPr>
          </a:p>
          <a:p>
            <a:pPr algn="just">
              <a:lnSpc>
                <a:spcPct val="150000"/>
              </a:lnSpc>
              <a:spcAft>
                <a:spcPts val="1000"/>
              </a:spcAft>
            </a:pPr>
            <a:r>
              <a:rPr lang="en-US" sz="2000" dirty="0">
                <a:solidFill>
                  <a:schemeClr val="tx1"/>
                </a:solidFill>
              </a:rPr>
              <a:t>Data manipulation instructions can be categorized into three parts:</a:t>
            </a:r>
            <a:endParaRPr lang="en-US" sz="2000" dirty="0">
              <a:solidFill>
                <a:schemeClr val="tx1"/>
              </a:solidFill>
            </a:endParaRPr>
          </a:p>
          <a:p>
            <a:pPr marL="666750" lvl="1" indent="-342900" algn="just">
              <a:lnSpc>
                <a:spcPct val="150000"/>
              </a:lnSpc>
              <a:spcAft>
                <a:spcPts val="1000"/>
              </a:spcAft>
              <a:buFont typeface="+mj-lt"/>
              <a:buAutoNum type="arabicPeriod"/>
            </a:pPr>
            <a:r>
              <a:rPr lang="en-US" sz="1700" dirty="0">
                <a:solidFill>
                  <a:schemeClr val="tx1"/>
                </a:solidFill>
              </a:rPr>
              <a:t>Arithmetic instruction </a:t>
            </a:r>
            <a:endParaRPr lang="en-US" sz="1700" dirty="0">
              <a:solidFill>
                <a:schemeClr val="tx1"/>
              </a:solidFill>
            </a:endParaRPr>
          </a:p>
          <a:p>
            <a:pPr marL="666750" lvl="1" indent="-342900" algn="just">
              <a:lnSpc>
                <a:spcPct val="150000"/>
              </a:lnSpc>
              <a:spcAft>
                <a:spcPts val="1000"/>
              </a:spcAft>
              <a:buFont typeface="+mj-lt"/>
              <a:buAutoNum type="arabicPeriod"/>
            </a:pPr>
            <a:r>
              <a:rPr lang="en-US" sz="1700" dirty="0">
                <a:solidFill>
                  <a:schemeClr val="tx1"/>
                </a:solidFill>
              </a:rPr>
              <a:t>Logical and bit manipulation instructions </a:t>
            </a:r>
            <a:endParaRPr lang="en-US" sz="1700" dirty="0">
              <a:solidFill>
                <a:schemeClr val="tx1"/>
              </a:solidFill>
            </a:endParaRPr>
          </a:p>
          <a:p>
            <a:pPr marL="666750" lvl="1" indent="-342900" algn="just">
              <a:lnSpc>
                <a:spcPct val="150000"/>
              </a:lnSpc>
              <a:spcAft>
                <a:spcPts val="1000"/>
              </a:spcAft>
              <a:buFont typeface="+mj-lt"/>
              <a:buAutoNum type="arabicPeriod"/>
            </a:pPr>
            <a:r>
              <a:rPr lang="en-US" sz="1700" dirty="0">
                <a:solidFill>
                  <a:schemeClr val="tx1"/>
                </a:solidFill>
              </a:rPr>
              <a:t>Shift instructions </a:t>
            </a:r>
            <a:endParaRPr lang="en-US" sz="1700" dirty="0">
              <a:solidFill>
                <a:schemeClr val="tx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1. Arithmetic Instructions</a:t>
            </a:r>
            <a:endParaRPr lang="en-IN" dirty="0">
              <a:solidFill>
                <a:schemeClr val="tx1"/>
              </a:solidFill>
            </a:endParaRPr>
          </a:p>
        </p:txBody>
      </p:sp>
      <p:sp>
        <p:nvSpPr>
          <p:cNvPr id="5" name="Content Placeholder 2"/>
          <p:cNvSpPr>
            <a:spLocks noGrp="1"/>
          </p:cNvSpPr>
          <p:nvPr>
            <p:ph idx="1"/>
          </p:nvPr>
        </p:nvSpPr>
        <p:spPr>
          <a:xfrm>
            <a:off x="581193" y="1548883"/>
            <a:ext cx="4289388" cy="4579460"/>
          </a:xfrm>
        </p:spPr>
        <p:txBody>
          <a:bodyPr>
            <a:normAutofit/>
          </a:bodyPr>
          <a:lstStyle/>
          <a:p>
            <a:pPr algn="just">
              <a:lnSpc>
                <a:spcPct val="150000"/>
              </a:lnSpc>
              <a:spcAft>
                <a:spcPts val="1000"/>
              </a:spcAft>
            </a:pPr>
            <a:r>
              <a:rPr lang="en-US" sz="2000" dirty="0">
                <a:solidFill>
                  <a:schemeClr val="tx1"/>
                </a:solidFill>
              </a:rPr>
              <a:t>Arithmetic instructions include increment, decrement, add, subtract, multiply, divide, add with Carry, subtract with Borrow, and negate that is (2’s) two's complement. If there’s a negative number, it is considered as negate (so two's complement). </a:t>
            </a:r>
            <a:endParaRPr lang="en-US" sz="1700" dirty="0">
              <a:solidFill>
                <a:schemeClr val="tx1"/>
              </a:solidFill>
            </a:endParaRPr>
          </a:p>
        </p:txBody>
      </p:sp>
      <p:graphicFrame>
        <p:nvGraphicFramePr>
          <p:cNvPr id="3" name="Table 3"/>
          <p:cNvGraphicFramePr>
            <a:graphicFrameLocks noGrp="1"/>
          </p:cNvGraphicFramePr>
          <p:nvPr/>
        </p:nvGraphicFramePr>
        <p:xfrm>
          <a:off x="6326155" y="1830662"/>
          <a:ext cx="4599992" cy="4297680"/>
        </p:xfrm>
        <a:graphic>
          <a:graphicData uri="http://schemas.openxmlformats.org/drawingml/2006/table">
            <a:tbl>
              <a:tblPr firstRow="1" bandRow="1">
                <a:tableStyleId>{5C22544A-7EE6-4342-B048-85BDC9FD1C3A}</a:tableStyleId>
              </a:tblPr>
              <a:tblGrid>
                <a:gridCol w="2299996"/>
                <a:gridCol w="2299996"/>
              </a:tblGrid>
              <a:tr h="370840">
                <a:tc>
                  <a:txBody>
                    <a:bodyPr/>
                    <a:lstStyle/>
                    <a:p>
                      <a:pPr algn="ctr"/>
                      <a:r>
                        <a:rPr lang="en-IN" b="1" dirty="0">
                          <a:solidFill>
                            <a:srgbClr val="000000"/>
                          </a:solidFill>
                          <a:effectLst/>
                        </a:rPr>
                        <a:t>Name</a:t>
                      </a:r>
                      <a:endParaRPr lang="en-IN" b="0" dirty="0">
                        <a:effectLst/>
                      </a:endParaRPr>
                    </a:p>
                  </a:txBody>
                  <a:tcPr marL="101600" marR="101600" marT="101600" marB="101600" anchor="ctr"/>
                </a:tc>
                <a:tc>
                  <a:txBody>
                    <a:bodyPr/>
                    <a:lstStyle/>
                    <a:p>
                      <a:pPr algn="ctr"/>
                      <a:r>
                        <a:rPr lang="en-IN" b="1">
                          <a:solidFill>
                            <a:srgbClr val="000000"/>
                          </a:solidFill>
                          <a:effectLst/>
                        </a:rPr>
                        <a:t>Mnemonic</a:t>
                      </a:r>
                      <a:endParaRPr lang="en-IN" b="0">
                        <a:effectLst/>
                      </a:endParaRPr>
                    </a:p>
                  </a:txBody>
                  <a:tcPr marL="101600" marR="101600" marT="101600" marB="101600" anchor="ctr"/>
                </a:tc>
              </a:tr>
              <a:tr h="370840">
                <a:tc>
                  <a:txBody>
                    <a:bodyPr/>
                    <a:lstStyle/>
                    <a:p>
                      <a:pPr algn="ctr"/>
                      <a:r>
                        <a:rPr lang="en-IN" b="0">
                          <a:solidFill>
                            <a:srgbClr val="000000"/>
                          </a:solidFill>
                          <a:effectLst/>
                        </a:rPr>
                        <a:t>Increment</a:t>
                      </a:r>
                      <a:endParaRPr lang="en-IN" b="0">
                        <a:effectLst/>
                      </a:endParaRPr>
                    </a:p>
                  </a:txBody>
                  <a:tcPr marL="101600" marR="101600" marT="101600" marB="101600" anchor="ctr"/>
                </a:tc>
                <a:tc>
                  <a:txBody>
                    <a:bodyPr/>
                    <a:lstStyle/>
                    <a:p>
                      <a:pPr algn="ctr"/>
                      <a:r>
                        <a:rPr lang="en-IN" b="0">
                          <a:solidFill>
                            <a:srgbClr val="000000"/>
                          </a:solidFill>
                          <a:effectLst/>
                        </a:rPr>
                        <a:t>INC</a:t>
                      </a:r>
                      <a:endParaRPr lang="en-IN" b="0">
                        <a:effectLst/>
                      </a:endParaRPr>
                    </a:p>
                  </a:txBody>
                  <a:tcPr marL="101600" marR="101600" marT="101600" marB="101600" anchor="ctr"/>
                </a:tc>
              </a:tr>
              <a:tr h="370840">
                <a:tc>
                  <a:txBody>
                    <a:bodyPr/>
                    <a:lstStyle/>
                    <a:p>
                      <a:pPr algn="ctr"/>
                      <a:r>
                        <a:rPr lang="en-IN" b="0">
                          <a:solidFill>
                            <a:srgbClr val="000000"/>
                          </a:solidFill>
                          <a:effectLst/>
                        </a:rPr>
                        <a:t>Decrement</a:t>
                      </a:r>
                      <a:endParaRPr lang="en-IN" b="0">
                        <a:effectLst/>
                      </a:endParaRPr>
                    </a:p>
                  </a:txBody>
                  <a:tcPr marL="101600" marR="101600" marT="101600" marB="101600" anchor="ctr"/>
                </a:tc>
                <a:tc>
                  <a:txBody>
                    <a:bodyPr/>
                    <a:lstStyle/>
                    <a:p>
                      <a:pPr algn="ctr"/>
                      <a:r>
                        <a:rPr lang="en-IN" b="0">
                          <a:solidFill>
                            <a:srgbClr val="000000"/>
                          </a:solidFill>
                          <a:effectLst/>
                        </a:rPr>
                        <a:t>DEC</a:t>
                      </a:r>
                      <a:endParaRPr lang="en-IN" b="0">
                        <a:effectLst/>
                      </a:endParaRPr>
                    </a:p>
                  </a:txBody>
                  <a:tcPr marL="101600" marR="101600" marT="101600" marB="101600" anchor="ctr"/>
                </a:tc>
              </a:tr>
              <a:tr h="370840">
                <a:tc>
                  <a:txBody>
                    <a:bodyPr/>
                    <a:lstStyle/>
                    <a:p>
                      <a:pPr algn="ctr"/>
                      <a:r>
                        <a:rPr lang="en-IN" b="0">
                          <a:solidFill>
                            <a:srgbClr val="000000"/>
                          </a:solidFill>
                          <a:effectLst/>
                        </a:rPr>
                        <a:t>Add</a:t>
                      </a:r>
                      <a:endParaRPr lang="en-IN" b="0">
                        <a:effectLst/>
                      </a:endParaRPr>
                    </a:p>
                  </a:txBody>
                  <a:tcPr marL="101600" marR="101600" marT="101600" marB="101600" anchor="ctr"/>
                </a:tc>
                <a:tc>
                  <a:txBody>
                    <a:bodyPr/>
                    <a:lstStyle/>
                    <a:p>
                      <a:pPr algn="ctr"/>
                      <a:r>
                        <a:rPr lang="en-IN" b="0">
                          <a:solidFill>
                            <a:srgbClr val="000000"/>
                          </a:solidFill>
                          <a:effectLst/>
                        </a:rPr>
                        <a:t>ADD</a:t>
                      </a:r>
                      <a:endParaRPr lang="en-IN" b="0">
                        <a:effectLst/>
                      </a:endParaRPr>
                    </a:p>
                  </a:txBody>
                  <a:tcPr marL="101600" marR="101600" marT="101600" marB="101600" anchor="ctr"/>
                </a:tc>
              </a:tr>
              <a:tr h="370840">
                <a:tc>
                  <a:txBody>
                    <a:bodyPr/>
                    <a:lstStyle/>
                    <a:p>
                      <a:pPr algn="ctr"/>
                      <a:r>
                        <a:rPr lang="en-IN" b="0">
                          <a:solidFill>
                            <a:srgbClr val="000000"/>
                          </a:solidFill>
                          <a:effectLst/>
                        </a:rPr>
                        <a:t>Subtract</a:t>
                      </a:r>
                      <a:endParaRPr lang="en-IN" b="0">
                        <a:effectLst/>
                      </a:endParaRPr>
                    </a:p>
                  </a:txBody>
                  <a:tcPr marL="101600" marR="101600" marT="101600" marB="101600" anchor="ctr"/>
                </a:tc>
                <a:tc>
                  <a:txBody>
                    <a:bodyPr/>
                    <a:lstStyle/>
                    <a:p>
                      <a:pPr algn="ctr"/>
                      <a:r>
                        <a:rPr lang="en-IN" b="0">
                          <a:solidFill>
                            <a:srgbClr val="000000"/>
                          </a:solidFill>
                          <a:effectLst/>
                        </a:rPr>
                        <a:t>SUB</a:t>
                      </a:r>
                      <a:endParaRPr lang="en-IN" b="0">
                        <a:effectLst/>
                      </a:endParaRPr>
                    </a:p>
                  </a:txBody>
                  <a:tcPr marL="101600" marR="101600" marT="101600" marB="101600" anchor="ctr"/>
                </a:tc>
              </a:tr>
              <a:tr h="370840">
                <a:tc>
                  <a:txBody>
                    <a:bodyPr/>
                    <a:lstStyle/>
                    <a:p>
                      <a:pPr algn="ctr"/>
                      <a:r>
                        <a:rPr lang="en-IN" b="0">
                          <a:solidFill>
                            <a:srgbClr val="000000"/>
                          </a:solidFill>
                          <a:effectLst/>
                        </a:rPr>
                        <a:t>Multiply</a:t>
                      </a:r>
                      <a:endParaRPr lang="en-IN" b="0">
                        <a:effectLst/>
                      </a:endParaRPr>
                    </a:p>
                  </a:txBody>
                  <a:tcPr marL="101600" marR="101600" marT="101600" marB="101600" anchor="ctr"/>
                </a:tc>
                <a:tc>
                  <a:txBody>
                    <a:bodyPr/>
                    <a:lstStyle/>
                    <a:p>
                      <a:pPr algn="ctr"/>
                      <a:r>
                        <a:rPr lang="en-IN" b="0">
                          <a:solidFill>
                            <a:srgbClr val="000000"/>
                          </a:solidFill>
                          <a:effectLst/>
                        </a:rPr>
                        <a:t>MUL</a:t>
                      </a:r>
                      <a:endParaRPr lang="en-IN" b="0">
                        <a:effectLst/>
                      </a:endParaRPr>
                    </a:p>
                  </a:txBody>
                  <a:tcPr marL="101600" marR="101600" marT="101600" marB="101600" anchor="ctr"/>
                </a:tc>
              </a:tr>
              <a:tr h="370840">
                <a:tc>
                  <a:txBody>
                    <a:bodyPr/>
                    <a:lstStyle/>
                    <a:p>
                      <a:pPr algn="ctr"/>
                      <a:r>
                        <a:rPr lang="en-IN" b="0">
                          <a:solidFill>
                            <a:srgbClr val="000000"/>
                          </a:solidFill>
                          <a:effectLst/>
                        </a:rPr>
                        <a:t>Divide</a:t>
                      </a:r>
                      <a:endParaRPr lang="en-IN" b="0">
                        <a:effectLst/>
                      </a:endParaRPr>
                    </a:p>
                  </a:txBody>
                  <a:tcPr marL="101600" marR="101600" marT="101600" marB="101600" anchor="ctr"/>
                </a:tc>
                <a:tc>
                  <a:txBody>
                    <a:bodyPr/>
                    <a:lstStyle/>
                    <a:p>
                      <a:pPr algn="ctr"/>
                      <a:r>
                        <a:rPr lang="en-IN" b="0">
                          <a:solidFill>
                            <a:srgbClr val="000000"/>
                          </a:solidFill>
                          <a:effectLst/>
                        </a:rPr>
                        <a:t>DIV</a:t>
                      </a:r>
                      <a:endParaRPr lang="en-IN" b="0">
                        <a:effectLst/>
                      </a:endParaRPr>
                    </a:p>
                  </a:txBody>
                  <a:tcPr marL="101600" marR="101600" marT="101600" marB="101600" anchor="ctr"/>
                </a:tc>
              </a:tr>
              <a:tr h="370840">
                <a:tc>
                  <a:txBody>
                    <a:bodyPr/>
                    <a:lstStyle/>
                    <a:p>
                      <a:pPr algn="ctr"/>
                      <a:r>
                        <a:rPr lang="en-IN" b="0">
                          <a:solidFill>
                            <a:srgbClr val="000000"/>
                          </a:solidFill>
                          <a:effectLst/>
                        </a:rPr>
                        <a:t>Add with carry</a:t>
                      </a:r>
                      <a:endParaRPr lang="en-IN" b="0">
                        <a:effectLst/>
                      </a:endParaRPr>
                    </a:p>
                  </a:txBody>
                  <a:tcPr marL="101600" marR="101600" marT="101600" marB="101600" anchor="ctr"/>
                </a:tc>
                <a:tc>
                  <a:txBody>
                    <a:bodyPr/>
                    <a:lstStyle/>
                    <a:p>
                      <a:pPr algn="ctr"/>
                      <a:r>
                        <a:rPr lang="en-IN" b="0">
                          <a:solidFill>
                            <a:srgbClr val="000000"/>
                          </a:solidFill>
                          <a:effectLst/>
                        </a:rPr>
                        <a:t>ADDC</a:t>
                      </a:r>
                      <a:endParaRPr lang="en-IN" b="0">
                        <a:effectLst/>
                      </a:endParaRPr>
                    </a:p>
                  </a:txBody>
                  <a:tcPr marL="101600" marR="101600" marT="101600" marB="101600" anchor="ctr"/>
                </a:tc>
              </a:tr>
              <a:tr h="370840">
                <a:tc>
                  <a:txBody>
                    <a:bodyPr/>
                    <a:lstStyle/>
                    <a:p>
                      <a:pPr algn="ctr"/>
                      <a:r>
                        <a:rPr lang="en-IN" b="0">
                          <a:solidFill>
                            <a:srgbClr val="000000"/>
                          </a:solidFill>
                          <a:effectLst/>
                        </a:rPr>
                        <a:t>Subtract with borrow</a:t>
                      </a:r>
                      <a:endParaRPr lang="en-IN" b="0">
                        <a:effectLst/>
                      </a:endParaRPr>
                    </a:p>
                  </a:txBody>
                  <a:tcPr marL="101600" marR="101600" marT="101600" marB="101600" anchor="ctr"/>
                </a:tc>
                <a:tc>
                  <a:txBody>
                    <a:bodyPr/>
                    <a:lstStyle/>
                    <a:p>
                      <a:pPr algn="ctr"/>
                      <a:r>
                        <a:rPr lang="en-IN" b="0" dirty="0">
                          <a:solidFill>
                            <a:srgbClr val="000000"/>
                          </a:solidFill>
                          <a:effectLst/>
                        </a:rPr>
                        <a:t>SUBB</a:t>
                      </a:r>
                      <a:endParaRPr lang="en-IN" b="0" dirty="0">
                        <a:effectLst/>
                      </a:endParaRPr>
                    </a:p>
                  </a:txBody>
                  <a:tcPr marL="101600" marR="101600" marT="101600" marB="101600" anchor="ct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2. Logical and bit manipulation instructions </a:t>
            </a:r>
            <a:endParaRPr lang="en-IN" dirty="0">
              <a:solidFill>
                <a:schemeClr val="tx1"/>
              </a:solidFill>
            </a:endParaRPr>
          </a:p>
        </p:txBody>
      </p:sp>
      <p:sp>
        <p:nvSpPr>
          <p:cNvPr id="5" name="Content Placeholder 2"/>
          <p:cNvSpPr>
            <a:spLocks noGrp="1"/>
          </p:cNvSpPr>
          <p:nvPr>
            <p:ph idx="1"/>
          </p:nvPr>
        </p:nvSpPr>
        <p:spPr>
          <a:xfrm>
            <a:off x="581193" y="1548883"/>
            <a:ext cx="4858554" cy="4579460"/>
          </a:xfrm>
        </p:spPr>
        <p:txBody>
          <a:bodyPr>
            <a:normAutofit/>
          </a:bodyPr>
          <a:lstStyle/>
          <a:p>
            <a:pPr algn="just">
              <a:lnSpc>
                <a:spcPct val="150000"/>
              </a:lnSpc>
              <a:spcAft>
                <a:spcPts val="1000"/>
              </a:spcAft>
            </a:pPr>
            <a:r>
              <a:rPr lang="en-US" sz="2000" dirty="0">
                <a:solidFill>
                  <a:schemeClr val="tx1"/>
                </a:solidFill>
              </a:rPr>
              <a:t>These logical instructions consider each operand bit individually and treat it as a Boolean variable. </a:t>
            </a:r>
            <a:endParaRPr lang="en-US" sz="2000" dirty="0">
              <a:solidFill>
                <a:schemeClr val="tx1"/>
              </a:solidFill>
            </a:endParaRPr>
          </a:p>
          <a:p>
            <a:pPr algn="just">
              <a:lnSpc>
                <a:spcPct val="150000"/>
              </a:lnSpc>
              <a:spcAft>
                <a:spcPts val="1000"/>
              </a:spcAft>
            </a:pPr>
            <a:r>
              <a:rPr lang="en-US" sz="2000" dirty="0">
                <a:solidFill>
                  <a:schemeClr val="tx1"/>
                </a:solidFill>
              </a:rPr>
              <a:t>Basically, logical instructions help perform binary operations on strings of bits stored in registers. </a:t>
            </a:r>
            <a:endParaRPr lang="en-US" sz="1700" dirty="0">
              <a:solidFill>
                <a:schemeClr val="tx1"/>
              </a:solidFill>
            </a:endParaRPr>
          </a:p>
        </p:txBody>
      </p:sp>
      <p:graphicFrame>
        <p:nvGraphicFramePr>
          <p:cNvPr id="3" name="Table 3"/>
          <p:cNvGraphicFramePr>
            <a:graphicFrameLocks noGrp="1"/>
          </p:cNvGraphicFramePr>
          <p:nvPr/>
        </p:nvGraphicFramePr>
        <p:xfrm>
          <a:off x="6643397" y="1410130"/>
          <a:ext cx="4599992" cy="5252720"/>
        </p:xfrm>
        <a:graphic>
          <a:graphicData uri="http://schemas.openxmlformats.org/drawingml/2006/table">
            <a:tbl>
              <a:tblPr firstRow="1" bandRow="1">
                <a:tableStyleId>{5C22544A-7EE6-4342-B048-85BDC9FD1C3A}</a:tableStyleId>
              </a:tblPr>
              <a:tblGrid>
                <a:gridCol w="2299996"/>
                <a:gridCol w="2299996"/>
              </a:tblGrid>
              <a:tr h="370840">
                <a:tc>
                  <a:txBody>
                    <a:bodyPr/>
                    <a:lstStyle/>
                    <a:p>
                      <a:pPr algn="ctr"/>
                      <a:r>
                        <a:rPr lang="en-IN" b="1">
                          <a:solidFill>
                            <a:srgbClr val="000000"/>
                          </a:solidFill>
                          <a:effectLst/>
                        </a:rPr>
                        <a:t>Name</a:t>
                      </a:r>
                      <a:endParaRPr lang="en-IN" b="0">
                        <a:effectLst/>
                      </a:endParaRPr>
                    </a:p>
                  </a:txBody>
                  <a:tcPr marL="101600" marR="101600" marT="101600" marB="101600" anchor="ctr"/>
                </a:tc>
                <a:tc>
                  <a:txBody>
                    <a:bodyPr/>
                    <a:lstStyle/>
                    <a:p>
                      <a:pPr algn="ctr"/>
                      <a:r>
                        <a:rPr lang="en-IN" b="1">
                          <a:solidFill>
                            <a:srgbClr val="000000"/>
                          </a:solidFill>
                          <a:effectLst/>
                        </a:rPr>
                        <a:t>Mnemonic</a:t>
                      </a:r>
                      <a:endParaRPr lang="en-IN" b="0">
                        <a:effectLst/>
                      </a:endParaRPr>
                    </a:p>
                  </a:txBody>
                  <a:tcPr marL="101600" marR="101600" marT="101600" marB="101600" anchor="ctr"/>
                </a:tc>
              </a:tr>
              <a:tr h="370840">
                <a:tc>
                  <a:txBody>
                    <a:bodyPr/>
                    <a:lstStyle/>
                    <a:p>
                      <a:pPr algn="ctr"/>
                      <a:r>
                        <a:rPr lang="en-IN" b="0">
                          <a:solidFill>
                            <a:srgbClr val="000000"/>
                          </a:solidFill>
                          <a:effectLst/>
                        </a:rPr>
                        <a:t>Clear</a:t>
                      </a:r>
                      <a:endParaRPr lang="en-IN" b="0">
                        <a:effectLst/>
                      </a:endParaRPr>
                    </a:p>
                  </a:txBody>
                  <a:tcPr marL="101600" marR="101600" marT="101600" marB="101600" anchor="ctr"/>
                </a:tc>
                <a:tc>
                  <a:txBody>
                    <a:bodyPr/>
                    <a:lstStyle/>
                    <a:p>
                      <a:pPr algn="ctr"/>
                      <a:r>
                        <a:rPr lang="en-IN" b="0">
                          <a:solidFill>
                            <a:srgbClr val="000000"/>
                          </a:solidFill>
                          <a:effectLst/>
                        </a:rPr>
                        <a:t>CLR</a:t>
                      </a:r>
                      <a:endParaRPr lang="en-IN" b="0">
                        <a:effectLst/>
                      </a:endParaRPr>
                    </a:p>
                  </a:txBody>
                  <a:tcPr marL="101600" marR="101600" marT="101600" marB="101600" anchor="ctr"/>
                </a:tc>
              </a:tr>
              <a:tr h="370840">
                <a:tc>
                  <a:txBody>
                    <a:bodyPr/>
                    <a:lstStyle/>
                    <a:p>
                      <a:pPr algn="ctr"/>
                      <a:r>
                        <a:rPr lang="en-IN" b="0">
                          <a:solidFill>
                            <a:srgbClr val="000000"/>
                          </a:solidFill>
                          <a:effectLst/>
                        </a:rPr>
                        <a:t>Complement</a:t>
                      </a:r>
                      <a:endParaRPr lang="en-IN" b="0">
                        <a:effectLst/>
                      </a:endParaRPr>
                    </a:p>
                  </a:txBody>
                  <a:tcPr marL="101600" marR="101600" marT="101600" marB="101600" anchor="ctr"/>
                </a:tc>
                <a:tc>
                  <a:txBody>
                    <a:bodyPr/>
                    <a:lstStyle/>
                    <a:p>
                      <a:pPr algn="ctr"/>
                      <a:r>
                        <a:rPr lang="en-IN" b="0">
                          <a:solidFill>
                            <a:srgbClr val="000000"/>
                          </a:solidFill>
                          <a:effectLst/>
                        </a:rPr>
                        <a:t>COM</a:t>
                      </a:r>
                      <a:endParaRPr lang="en-IN" b="0">
                        <a:effectLst/>
                      </a:endParaRPr>
                    </a:p>
                  </a:txBody>
                  <a:tcPr marL="101600" marR="101600" marT="101600" marB="101600" anchor="ctr"/>
                </a:tc>
              </a:tr>
              <a:tr h="370840">
                <a:tc>
                  <a:txBody>
                    <a:bodyPr/>
                    <a:lstStyle/>
                    <a:p>
                      <a:pPr algn="ctr"/>
                      <a:r>
                        <a:rPr lang="en-IN" b="0">
                          <a:solidFill>
                            <a:srgbClr val="000000"/>
                          </a:solidFill>
                          <a:effectLst/>
                        </a:rPr>
                        <a:t>AND</a:t>
                      </a:r>
                      <a:endParaRPr lang="en-IN" b="0">
                        <a:effectLst/>
                      </a:endParaRPr>
                    </a:p>
                  </a:txBody>
                  <a:tcPr marL="101600" marR="101600" marT="101600" marB="101600" anchor="ctr"/>
                </a:tc>
                <a:tc>
                  <a:txBody>
                    <a:bodyPr/>
                    <a:lstStyle/>
                    <a:p>
                      <a:pPr algn="ctr"/>
                      <a:r>
                        <a:rPr lang="en-IN" b="0">
                          <a:solidFill>
                            <a:srgbClr val="000000"/>
                          </a:solidFill>
                          <a:effectLst/>
                        </a:rPr>
                        <a:t>AND</a:t>
                      </a:r>
                      <a:endParaRPr lang="en-IN" b="0">
                        <a:effectLst/>
                      </a:endParaRPr>
                    </a:p>
                  </a:txBody>
                  <a:tcPr marL="101600" marR="101600" marT="101600" marB="101600" anchor="ctr"/>
                </a:tc>
              </a:tr>
              <a:tr h="370840">
                <a:tc>
                  <a:txBody>
                    <a:bodyPr/>
                    <a:lstStyle/>
                    <a:p>
                      <a:pPr algn="ctr"/>
                      <a:r>
                        <a:rPr lang="en-IN" b="0">
                          <a:solidFill>
                            <a:srgbClr val="000000"/>
                          </a:solidFill>
                          <a:effectLst/>
                        </a:rPr>
                        <a:t>OR</a:t>
                      </a:r>
                      <a:endParaRPr lang="en-IN" b="0">
                        <a:effectLst/>
                      </a:endParaRPr>
                    </a:p>
                  </a:txBody>
                  <a:tcPr marL="101600" marR="101600" marT="101600" marB="101600" anchor="ctr"/>
                </a:tc>
                <a:tc>
                  <a:txBody>
                    <a:bodyPr/>
                    <a:lstStyle/>
                    <a:p>
                      <a:pPr algn="ctr"/>
                      <a:r>
                        <a:rPr lang="en-IN" b="0">
                          <a:solidFill>
                            <a:srgbClr val="000000"/>
                          </a:solidFill>
                          <a:effectLst/>
                        </a:rPr>
                        <a:t>OR</a:t>
                      </a:r>
                      <a:endParaRPr lang="en-IN" b="0">
                        <a:effectLst/>
                      </a:endParaRPr>
                    </a:p>
                  </a:txBody>
                  <a:tcPr marL="101600" marR="101600" marT="101600" marB="101600" anchor="ctr"/>
                </a:tc>
              </a:tr>
              <a:tr h="370840">
                <a:tc>
                  <a:txBody>
                    <a:bodyPr/>
                    <a:lstStyle/>
                    <a:p>
                      <a:pPr algn="ctr"/>
                      <a:r>
                        <a:rPr lang="en-IN" b="0">
                          <a:solidFill>
                            <a:srgbClr val="000000"/>
                          </a:solidFill>
                          <a:effectLst/>
                        </a:rPr>
                        <a:t>Exclusive-OR</a:t>
                      </a:r>
                      <a:endParaRPr lang="en-IN" b="0">
                        <a:effectLst/>
                      </a:endParaRPr>
                    </a:p>
                  </a:txBody>
                  <a:tcPr marL="101600" marR="101600" marT="101600" marB="101600" anchor="ctr"/>
                </a:tc>
                <a:tc>
                  <a:txBody>
                    <a:bodyPr/>
                    <a:lstStyle/>
                    <a:p>
                      <a:pPr algn="ctr"/>
                      <a:r>
                        <a:rPr lang="en-IN" b="0">
                          <a:solidFill>
                            <a:srgbClr val="000000"/>
                          </a:solidFill>
                          <a:effectLst/>
                        </a:rPr>
                        <a:t>XOR</a:t>
                      </a:r>
                      <a:endParaRPr lang="en-IN" b="0">
                        <a:effectLst/>
                      </a:endParaRPr>
                    </a:p>
                  </a:txBody>
                  <a:tcPr marL="101600" marR="101600" marT="101600" marB="101600" anchor="ctr"/>
                </a:tc>
              </a:tr>
              <a:tr h="370840">
                <a:tc>
                  <a:txBody>
                    <a:bodyPr/>
                    <a:lstStyle/>
                    <a:p>
                      <a:pPr algn="ctr"/>
                      <a:r>
                        <a:rPr lang="en-IN" b="0">
                          <a:solidFill>
                            <a:srgbClr val="000000"/>
                          </a:solidFill>
                          <a:effectLst/>
                        </a:rPr>
                        <a:t>Clear carry</a:t>
                      </a:r>
                      <a:endParaRPr lang="en-IN" b="0">
                        <a:effectLst/>
                      </a:endParaRPr>
                    </a:p>
                  </a:txBody>
                  <a:tcPr marL="101600" marR="101600" marT="101600" marB="101600" anchor="ctr"/>
                </a:tc>
                <a:tc>
                  <a:txBody>
                    <a:bodyPr/>
                    <a:lstStyle/>
                    <a:p>
                      <a:pPr algn="ctr"/>
                      <a:r>
                        <a:rPr lang="en-IN" b="0">
                          <a:solidFill>
                            <a:srgbClr val="000000"/>
                          </a:solidFill>
                          <a:effectLst/>
                        </a:rPr>
                        <a:t>CLRC</a:t>
                      </a:r>
                      <a:endParaRPr lang="en-IN" b="0">
                        <a:effectLst/>
                      </a:endParaRPr>
                    </a:p>
                  </a:txBody>
                  <a:tcPr marL="101600" marR="101600" marT="101600" marB="101600" anchor="ctr"/>
                </a:tc>
              </a:tr>
              <a:tr h="370840">
                <a:tc>
                  <a:txBody>
                    <a:bodyPr/>
                    <a:lstStyle/>
                    <a:p>
                      <a:pPr algn="ctr"/>
                      <a:r>
                        <a:rPr lang="en-IN" b="0">
                          <a:solidFill>
                            <a:srgbClr val="000000"/>
                          </a:solidFill>
                          <a:effectLst/>
                        </a:rPr>
                        <a:t>Set Carry</a:t>
                      </a:r>
                      <a:endParaRPr lang="en-IN" b="0">
                        <a:effectLst/>
                      </a:endParaRPr>
                    </a:p>
                  </a:txBody>
                  <a:tcPr marL="101600" marR="101600" marT="101600" marB="101600" anchor="ctr"/>
                </a:tc>
                <a:tc>
                  <a:txBody>
                    <a:bodyPr/>
                    <a:lstStyle/>
                    <a:p>
                      <a:pPr algn="ctr"/>
                      <a:r>
                        <a:rPr lang="en-IN" b="0">
                          <a:solidFill>
                            <a:srgbClr val="000000"/>
                          </a:solidFill>
                          <a:effectLst/>
                        </a:rPr>
                        <a:t>SETC</a:t>
                      </a:r>
                      <a:endParaRPr lang="en-IN" b="0">
                        <a:effectLst/>
                      </a:endParaRPr>
                    </a:p>
                  </a:txBody>
                  <a:tcPr marL="101600" marR="101600" marT="101600" marB="101600" anchor="ctr"/>
                </a:tc>
              </a:tr>
              <a:tr h="370840">
                <a:tc>
                  <a:txBody>
                    <a:bodyPr/>
                    <a:lstStyle/>
                    <a:p>
                      <a:pPr algn="ctr"/>
                      <a:r>
                        <a:rPr lang="en-IN" b="0">
                          <a:solidFill>
                            <a:srgbClr val="000000"/>
                          </a:solidFill>
                          <a:effectLst/>
                        </a:rPr>
                        <a:t>Complement Carry</a:t>
                      </a:r>
                      <a:endParaRPr lang="en-IN" b="0">
                        <a:effectLst/>
                      </a:endParaRPr>
                    </a:p>
                  </a:txBody>
                  <a:tcPr marL="101600" marR="101600" marT="101600" marB="101600" anchor="ctr"/>
                </a:tc>
                <a:tc>
                  <a:txBody>
                    <a:bodyPr/>
                    <a:lstStyle/>
                    <a:p>
                      <a:pPr algn="ctr"/>
                      <a:r>
                        <a:rPr lang="en-IN" b="0">
                          <a:solidFill>
                            <a:srgbClr val="000000"/>
                          </a:solidFill>
                          <a:effectLst/>
                        </a:rPr>
                        <a:t>COMC</a:t>
                      </a:r>
                      <a:endParaRPr lang="en-IN" b="0">
                        <a:effectLst/>
                      </a:endParaRPr>
                    </a:p>
                  </a:txBody>
                  <a:tcPr marL="101600" marR="101600" marT="101600" marB="101600" anchor="ctr"/>
                </a:tc>
              </a:tr>
              <a:tr h="370840">
                <a:tc>
                  <a:txBody>
                    <a:bodyPr/>
                    <a:lstStyle/>
                    <a:p>
                      <a:pPr algn="ctr"/>
                      <a:r>
                        <a:rPr lang="en-IN" b="0">
                          <a:solidFill>
                            <a:srgbClr val="000000"/>
                          </a:solidFill>
                          <a:effectLst/>
                        </a:rPr>
                        <a:t>Enable Interrupt</a:t>
                      </a:r>
                      <a:endParaRPr lang="en-IN" b="0">
                        <a:effectLst/>
                      </a:endParaRPr>
                    </a:p>
                  </a:txBody>
                  <a:tcPr marL="101600" marR="101600" marT="101600" marB="101600" anchor="ctr"/>
                </a:tc>
                <a:tc>
                  <a:txBody>
                    <a:bodyPr/>
                    <a:lstStyle/>
                    <a:p>
                      <a:pPr algn="ctr"/>
                      <a:r>
                        <a:rPr lang="en-IN" b="0">
                          <a:solidFill>
                            <a:srgbClr val="000000"/>
                          </a:solidFill>
                          <a:effectLst/>
                        </a:rPr>
                        <a:t>EI</a:t>
                      </a:r>
                      <a:endParaRPr lang="en-IN" b="0">
                        <a:effectLst/>
                      </a:endParaRPr>
                    </a:p>
                  </a:txBody>
                  <a:tcPr marL="101600" marR="101600" marT="101600" marB="101600" anchor="ctr"/>
                </a:tc>
              </a:tr>
              <a:tr h="370840">
                <a:tc>
                  <a:txBody>
                    <a:bodyPr/>
                    <a:lstStyle/>
                    <a:p>
                      <a:pPr algn="ctr"/>
                      <a:r>
                        <a:rPr lang="en-IN" b="0">
                          <a:solidFill>
                            <a:srgbClr val="000000"/>
                          </a:solidFill>
                          <a:effectLst/>
                        </a:rPr>
                        <a:t>Disable Interrupt</a:t>
                      </a:r>
                      <a:endParaRPr lang="en-IN" b="0">
                        <a:effectLst/>
                      </a:endParaRPr>
                    </a:p>
                  </a:txBody>
                  <a:tcPr marL="101600" marR="101600" marT="101600" marB="101600" anchor="ctr"/>
                </a:tc>
                <a:tc>
                  <a:txBody>
                    <a:bodyPr/>
                    <a:lstStyle/>
                    <a:p>
                      <a:pPr algn="ctr"/>
                      <a:r>
                        <a:rPr lang="en-IN" b="0" dirty="0">
                          <a:solidFill>
                            <a:srgbClr val="000000"/>
                          </a:solidFill>
                          <a:effectLst/>
                        </a:rPr>
                        <a:t>DI</a:t>
                      </a:r>
                      <a:endParaRPr lang="en-IN" b="0" dirty="0">
                        <a:effectLst/>
                      </a:endParaRPr>
                    </a:p>
                  </a:txBody>
                  <a:tcPr marL="101600" marR="101600" marT="101600" marB="101600" anchor="ct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3. </a:t>
            </a:r>
            <a:r>
              <a:rPr lang="en-US" sz="2800" dirty="0">
                <a:solidFill>
                  <a:schemeClr val="tx1"/>
                </a:solidFill>
              </a:rPr>
              <a:t>Shift instructions </a:t>
            </a:r>
            <a:endParaRPr lang="en-IN" dirty="0">
              <a:solidFill>
                <a:schemeClr val="tx1"/>
              </a:solidFill>
            </a:endParaRPr>
          </a:p>
        </p:txBody>
      </p:sp>
      <p:sp>
        <p:nvSpPr>
          <p:cNvPr id="5" name="Content Placeholder 2"/>
          <p:cNvSpPr>
            <a:spLocks noGrp="1"/>
          </p:cNvSpPr>
          <p:nvPr>
            <p:ph idx="1"/>
          </p:nvPr>
        </p:nvSpPr>
        <p:spPr>
          <a:xfrm>
            <a:off x="326571" y="1418254"/>
            <a:ext cx="6615404" cy="5057190"/>
          </a:xfrm>
        </p:spPr>
        <p:txBody>
          <a:bodyPr>
            <a:normAutofit/>
          </a:bodyPr>
          <a:lstStyle/>
          <a:p>
            <a:pPr algn="just">
              <a:lnSpc>
                <a:spcPct val="150000"/>
              </a:lnSpc>
              <a:spcAft>
                <a:spcPts val="1000"/>
              </a:spcAft>
            </a:pPr>
            <a:r>
              <a:rPr lang="en-US" sz="2000" dirty="0">
                <a:solidFill>
                  <a:schemeClr val="tx1"/>
                </a:solidFill>
              </a:rPr>
              <a:t>Shift instructions allow the bits of a memory byte or register to be shifted one-bit place to the right or the left. </a:t>
            </a:r>
            <a:endParaRPr lang="en-US" sz="2000" dirty="0">
              <a:solidFill>
                <a:schemeClr val="tx1"/>
              </a:solidFill>
            </a:endParaRPr>
          </a:p>
          <a:p>
            <a:pPr algn="just">
              <a:lnSpc>
                <a:spcPct val="150000"/>
              </a:lnSpc>
              <a:spcAft>
                <a:spcPts val="1000"/>
              </a:spcAft>
            </a:pPr>
            <a:r>
              <a:rPr lang="en-US" sz="2000" dirty="0">
                <a:solidFill>
                  <a:schemeClr val="tx1"/>
                </a:solidFill>
              </a:rPr>
              <a:t>There are basically two types of shift instructions — </a:t>
            </a:r>
            <a:r>
              <a:rPr lang="en-US" sz="2000" b="1" dirty="0">
                <a:solidFill>
                  <a:schemeClr val="tx1"/>
                </a:solidFill>
              </a:rPr>
              <a:t>arithmetic and logical</a:t>
            </a:r>
            <a:r>
              <a:rPr lang="en-US" sz="2000" dirty="0">
                <a:solidFill>
                  <a:schemeClr val="tx1"/>
                </a:solidFill>
              </a:rPr>
              <a:t>. </a:t>
            </a:r>
            <a:endParaRPr lang="en-US" sz="2000" dirty="0">
              <a:solidFill>
                <a:schemeClr val="tx1"/>
              </a:solidFill>
            </a:endParaRPr>
          </a:p>
          <a:p>
            <a:pPr lvl="1" algn="just">
              <a:lnSpc>
                <a:spcPct val="150000"/>
              </a:lnSpc>
              <a:spcAft>
                <a:spcPts val="1000"/>
              </a:spcAft>
            </a:pPr>
            <a:r>
              <a:rPr lang="en-US" sz="1800" b="1" dirty="0">
                <a:solidFill>
                  <a:schemeClr val="tx1"/>
                </a:solidFill>
              </a:rPr>
              <a:t>Arithmetic shifts </a:t>
            </a:r>
            <a:r>
              <a:rPr lang="en-US" sz="1800" dirty="0">
                <a:solidFill>
                  <a:schemeClr val="tx1"/>
                </a:solidFill>
              </a:rPr>
              <a:t>consider the contents of the memory byte or register to be a signed number. So, when the shift is made, the number is arithmetically divided by two (right shift) or multiplied by two (left shift). </a:t>
            </a:r>
            <a:endParaRPr lang="en-US" sz="1800" dirty="0">
              <a:solidFill>
                <a:schemeClr val="tx1"/>
              </a:solidFill>
            </a:endParaRPr>
          </a:p>
          <a:p>
            <a:pPr lvl="1" algn="just">
              <a:lnSpc>
                <a:spcPct val="150000"/>
              </a:lnSpc>
              <a:spcAft>
                <a:spcPts val="1000"/>
              </a:spcAft>
            </a:pPr>
            <a:r>
              <a:rPr lang="en-US" sz="1800" b="1" dirty="0">
                <a:solidFill>
                  <a:schemeClr val="tx1"/>
                </a:solidFill>
              </a:rPr>
              <a:t>Logical shifts </a:t>
            </a:r>
            <a:r>
              <a:rPr lang="en-US" sz="1800" dirty="0">
                <a:solidFill>
                  <a:schemeClr val="tx1"/>
                </a:solidFill>
              </a:rPr>
              <a:t>consider the contents of the register or memory byte to be just a bit pattern when the shift is made.</a:t>
            </a:r>
            <a:endParaRPr lang="en-US" sz="1800" dirty="0">
              <a:solidFill>
                <a:schemeClr val="tx1"/>
              </a:solidFill>
            </a:endParaRPr>
          </a:p>
        </p:txBody>
      </p:sp>
      <p:graphicFrame>
        <p:nvGraphicFramePr>
          <p:cNvPr id="4" name="Table 3"/>
          <p:cNvGraphicFramePr>
            <a:graphicFrameLocks noGrp="1"/>
          </p:cNvGraphicFramePr>
          <p:nvPr/>
        </p:nvGraphicFramePr>
        <p:xfrm>
          <a:off x="7193902" y="1928638"/>
          <a:ext cx="4851920" cy="4297680"/>
        </p:xfrm>
        <a:graphic>
          <a:graphicData uri="http://schemas.openxmlformats.org/drawingml/2006/table">
            <a:tbl>
              <a:tblPr firstRow="1" bandRow="1">
                <a:tableStyleId>{5C22544A-7EE6-4342-B048-85BDC9FD1C3A}</a:tableStyleId>
              </a:tblPr>
              <a:tblGrid>
                <a:gridCol w="2789853"/>
                <a:gridCol w="2062067"/>
              </a:tblGrid>
              <a:tr h="370840">
                <a:tc>
                  <a:txBody>
                    <a:bodyPr/>
                    <a:lstStyle/>
                    <a:p>
                      <a:pPr algn="ctr"/>
                      <a:r>
                        <a:rPr lang="en-IN" b="1">
                          <a:solidFill>
                            <a:srgbClr val="000000"/>
                          </a:solidFill>
                          <a:effectLst/>
                        </a:rPr>
                        <a:t>Name</a:t>
                      </a:r>
                      <a:endParaRPr lang="en-IN" b="0">
                        <a:effectLst/>
                      </a:endParaRPr>
                    </a:p>
                  </a:txBody>
                  <a:tcPr marL="101600" marR="101600" marT="101600" marB="101600" anchor="ctr"/>
                </a:tc>
                <a:tc>
                  <a:txBody>
                    <a:bodyPr/>
                    <a:lstStyle/>
                    <a:p>
                      <a:pPr algn="ctr"/>
                      <a:r>
                        <a:rPr lang="en-IN" b="1">
                          <a:solidFill>
                            <a:srgbClr val="000000"/>
                          </a:solidFill>
                          <a:effectLst/>
                        </a:rPr>
                        <a:t>Mnemonic</a:t>
                      </a:r>
                      <a:endParaRPr lang="en-IN" b="0">
                        <a:effectLst/>
                      </a:endParaRPr>
                    </a:p>
                  </a:txBody>
                  <a:tcPr marL="101600" marR="101600" marT="101600" marB="101600" anchor="ctr"/>
                </a:tc>
              </a:tr>
              <a:tr h="370840">
                <a:tc>
                  <a:txBody>
                    <a:bodyPr/>
                    <a:lstStyle/>
                    <a:p>
                      <a:pPr algn="just"/>
                      <a:r>
                        <a:rPr lang="en-IN" b="0">
                          <a:solidFill>
                            <a:srgbClr val="000000"/>
                          </a:solidFill>
                          <a:effectLst/>
                        </a:rPr>
                        <a:t>Logical Shift Right</a:t>
                      </a:r>
                      <a:endParaRPr lang="en-IN" b="0">
                        <a:effectLst/>
                      </a:endParaRPr>
                    </a:p>
                  </a:txBody>
                  <a:tcPr marL="101600" marR="101600" marT="101600" marB="101600" anchor="ctr"/>
                </a:tc>
                <a:tc>
                  <a:txBody>
                    <a:bodyPr/>
                    <a:lstStyle/>
                    <a:p>
                      <a:pPr algn="ctr"/>
                      <a:r>
                        <a:rPr lang="en-IN" b="0">
                          <a:solidFill>
                            <a:srgbClr val="000000"/>
                          </a:solidFill>
                          <a:effectLst/>
                        </a:rPr>
                        <a:t>SHR</a:t>
                      </a:r>
                      <a:endParaRPr lang="en-IN" b="0">
                        <a:effectLst/>
                      </a:endParaRPr>
                    </a:p>
                  </a:txBody>
                  <a:tcPr marL="101600" marR="101600" marT="101600" marB="101600" anchor="ctr"/>
                </a:tc>
              </a:tr>
              <a:tr h="370840">
                <a:tc>
                  <a:txBody>
                    <a:bodyPr/>
                    <a:lstStyle/>
                    <a:p>
                      <a:pPr algn="just"/>
                      <a:r>
                        <a:rPr lang="en-IN" b="0">
                          <a:solidFill>
                            <a:srgbClr val="000000"/>
                          </a:solidFill>
                          <a:effectLst/>
                        </a:rPr>
                        <a:t>Logical Shift Left</a:t>
                      </a:r>
                      <a:endParaRPr lang="en-IN" b="0">
                        <a:effectLst/>
                      </a:endParaRPr>
                    </a:p>
                  </a:txBody>
                  <a:tcPr marL="101600" marR="101600" marT="101600" marB="101600" anchor="ctr"/>
                </a:tc>
                <a:tc>
                  <a:txBody>
                    <a:bodyPr/>
                    <a:lstStyle/>
                    <a:p>
                      <a:pPr algn="ctr"/>
                      <a:r>
                        <a:rPr lang="en-IN" b="0">
                          <a:solidFill>
                            <a:srgbClr val="000000"/>
                          </a:solidFill>
                          <a:effectLst/>
                        </a:rPr>
                        <a:t>SHL</a:t>
                      </a:r>
                      <a:endParaRPr lang="en-IN" b="0">
                        <a:effectLst/>
                      </a:endParaRPr>
                    </a:p>
                  </a:txBody>
                  <a:tcPr marL="101600" marR="101600" marT="101600" marB="101600" anchor="ctr"/>
                </a:tc>
              </a:tr>
              <a:tr h="370840">
                <a:tc>
                  <a:txBody>
                    <a:bodyPr/>
                    <a:lstStyle/>
                    <a:p>
                      <a:pPr algn="just"/>
                      <a:r>
                        <a:rPr lang="en-IN" b="0">
                          <a:solidFill>
                            <a:srgbClr val="000000"/>
                          </a:solidFill>
                          <a:effectLst/>
                        </a:rPr>
                        <a:t>Arithmetic Shift Right</a:t>
                      </a:r>
                      <a:endParaRPr lang="en-IN" b="0">
                        <a:effectLst/>
                      </a:endParaRPr>
                    </a:p>
                  </a:txBody>
                  <a:tcPr marL="101600" marR="101600" marT="101600" marB="101600" anchor="ctr"/>
                </a:tc>
                <a:tc>
                  <a:txBody>
                    <a:bodyPr/>
                    <a:lstStyle/>
                    <a:p>
                      <a:pPr algn="ctr"/>
                      <a:r>
                        <a:rPr lang="en-IN" b="0">
                          <a:solidFill>
                            <a:srgbClr val="000000"/>
                          </a:solidFill>
                          <a:effectLst/>
                        </a:rPr>
                        <a:t>SHRA</a:t>
                      </a:r>
                      <a:endParaRPr lang="en-IN" b="0">
                        <a:effectLst/>
                      </a:endParaRPr>
                    </a:p>
                  </a:txBody>
                  <a:tcPr marL="101600" marR="101600" marT="101600" marB="101600" anchor="ctr"/>
                </a:tc>
              </a:tr>
              <a:tr h="370840">
                <a:tc>
                  <a:txBody>
                    <a:bodyPr/>
                    <a:lstStyle/>
                    <a:p>
                      <a:pPr algn="just"/>
                      <a:r>
                        <a:rPr lang="en-IN" b="0">
                          <a:solidFill>
                            <a:srgbClr val="000000"/>
                          </a:solidFill>
                          <a:effectLst/>
                        </a:rPr>
                        <a:t>Arithmetic Shift Left</a:t>
                      </a:r>
                      <a:endParaRPr lang="en-IN" b="0">
                        <a:effectLst/>
                      </a:endParaRPr>
                    </a:p>
                  </a:txBody>
                  <a:tcPr marL="101600" marR="101600" marT="101600" marB="101600" anchor="ctr"/>
                </a:tc>
                <a:tc>
                  <a:txBody>
                    <a:bodyPr/>
                    <a:lstStyle/>
                    <a:p>
                      <a:pPr algn="ctr"/>
                      <a:r>
                        <a:rPr lang="en-IN" b="0">
                          <a:solidFill>
                            <a:srgbClr val="000000"/>
                          </a:solidFill>
                          <a:effectLst/>
                        </a:rPr>
                        <a:t>SHLA</a:t>
                      </a:r>
                      <a:endParaRPr lang="en-IN" b="0">
                        <a:effectLst/>
                      </a:endParaRPr>
                    </a:p>
                  </a:txBody>
                  <a:tcPr marL="101600" marR="101600" marT="101600" marB="101600" anchor="ctr"/>
                </a:tc>
              </a:tr>
              <a:tr h="370840">
                <a:tc>
                  <a:txBody>
                    <a:bodyPr/>
                    <a:lstStyle/>
                    <a:p>
                      <a:pPr algn="just"/>
                      <a:r>
                        <a:rPr lang="en-IN" b="0">
                          <a:solidFill>
                            <a:srgbClr val="000000"/>
                          </a:solidFill>
                          <a:effectLst/>
                        </a:rPr>
                        <a:t>Rotate Right</a:t>
                      </a:r>
                      <a:endParaRPr lang="en-IN" b="0">
                        <a:effectLst/>
                      </a:endParaRPr>
                    </a:p>
                  </a:txBody>
                  <a:tcPr marL="101600" marR="101600" marT="101600" marB="101600" anchor="ctr"/>
                </a:tc>
                <a:tc>
                  <a:txBody>
                    <a:bodyPr/>
                    <a:lstStyle/>
                    <a:p>
                      <a:pPr algn="ctr"/>
                      <a:r>
                        <a:rPr lang="en-IN" b="0">
                          <a:solidFill>
                            <a:srgbClr val="000000"/>
                          </a:solidFill>
                          <a:effectLst/>
                        </a:rPr>
                        <a:t>ROR</a:t>
                      </a:r>
                      <a:endParaRPr lang="en-IN" b="0">
                        <a:effectLst/>
                      </a:endParaRPr>
                    </a:p>
                  </a:txBody>
                  <a:tcPr marL="101600" marR="101600" marT="101600" marB="101600" anchor="ctr"/>
                </a:tc>
              </a:tr>
              <a:tr h="370840">
                <a:tc>
                  <a:txBody>
                    <a:bodyPr/>
                    <a:lstStyle/>
                    <a:p>
                      <a:pPr algn="just"/>
                      <a:r>
                        <a:rPr lang="en-IN" b="0">
                          <a:solidFill>
                            <a:srgbClr val="000000"/>
                          </a:solidFill>
                          <a:effectLst/>
                        </a:rPr>
                        <a:t>Rotate Left</a:t>
                      </a:r>
                      <a:endParaRPr lang="en-IN" b="0">
                        <a:effectLst/>
                      </a:endParaRPr>
                    </a:p>
                  </a:txBody>
                  <a:tcPr marL="101600" marR="101600" marT="101600" marB="101600" anchor="ctr"/>
                </a:tc>
                <a:tc>
                  <a:txBody>
                    <a:bodyPr/>
                    <a:lstStyle/>
                    <a:p>
                      <a:pPr algn="ctr"/>
                      <a:r>
                        <a:rPr lang="en-IN" b="0">
                          <a:solidFill>
                            <a:srgbClr val="000000"/>
                          </a:solidFill>
                          <a:effectLst/>
                        </a:rPr>
                        <a:t>ROL</a:t>
                      </a:r>
                      <a:endParaRPr lang="en-IN" b="0">
                        <a:effectLst/>
                      </a:endParaRPr>
                    </a:p>
                  </a:txBody>
                  <a:tcPr marL="101600" marR="101600" marT="101600" marB="101600" anchor="ctr"/>
                </a:tc>
              </a:tr>
              <a:tr h="370840">
                <a:tc>
                  <a:txBody>
                    <a:bodyPr/>
                    <a:lstStyle/>
                    <a:p>
                      <a:pPr algn="just"/>
                      <a:r>
                        <a:rPr lang="en-IN" b="0" dirty="0">
                          <a:solidFill>
                            <a:srgbClr val="000000"/>
                          </a:solidFill>
                          <a:effectLst/>
                        </a:rPr>
                        <a:t>Rotate Right through carry</a:t>
                      </a:r>
                      <a:endParaRPr lang="en-IN" b="0" dirty="0">
                        <a:effectLst/>
                      </a:endParaRPr>
                    </a:p>
                  </a:txBody>
                  <a:tcPr marL="101600" marR="101600" marT="101600" marB="101600" anchor="ctr"/>
                </a:tc>
                <a:tc>
                  <a:txBody>
                    <a:bodyPr/>
                    <a:lstStyle/>
                    <a:p>
                      <a:pPr algn="ctr"/>
                      <a:r>
                        <a:rPr lang="en-IN" b="0">
                          <a:solidFill>
                            <a:srgbClr val="000000"/>
                          </a:solidFill>
                          <a:effectLst/>
                        </a:rPr>
                        <a:t>RORC</a:t>
                      </a:r>
                      <a:endParaRPr lang="en-IN" b="0">
                        <a:effectLst/>
                      </a:endParaRPr>
                    </a:p>
                  </a:txBody>
                  <a:tcPr marL="101600" marR="101600" marT="101600" marB="101600" anchor="ctr"/>
                </a:tc>
              </a:tr>
              <a:tr h="370840">
                <a:tc>
                  <a:txBody>
                    <a:bodyPr/>
                    <a:lstStyle/>
                    <a:p>
                      <a:pPr algn="just"/>
                      <a:r>
                        <a:rPr lang="en-IN" b="0" dirty="0">
                          <a:solidFill>
                            <a:srgbClr val="000000"/>
                          </a:solidFill>
                          <a:effectLst/>
                        </a:rPr>
                        <a:t>Rotate Left through carry</a:t>
                      </a:r>
                      <a:endParaRPr lang="en-IN" b="0" dirty="0">
                        <a:effectLst/>
                      </a:endParaRPr>
                    </a:p>
                  </a:txBody>
                  <a:tcPr marL="101600" marR="101600" marT="101600" marB="101600" anchor="ctr"/>
                </a:tc>
                <a:tc>
                  <a:txBody>
                    <a:bodyPr/>
                    <a:lstStyle/>
                    <a:p>
                      <a:pPr algn="ctr"/>
                      <a:r>
                        <a:rPr lang="en-IN" b="0" dirty="0">
                          <a:solidFill>
                            <a:srgbClr val="000000"/>
                          </a:solidFill>
                          <a:effectLst/>
                        </a:rPr>
                        <a:t>ROLC</a:t>
                      </a:r>
                      <a:endParaRPr lang="en-IN" b="0" dirty="0">
                        <a:effectLst/>
                      </a:endParaRPr>
                    </a:p>
                  </a:txBody>
                  <a:tcPr marL="101600" marR="101600" marT="101600" marB="101600" anchor="ct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857038"/>
            <a:ext cx="11029616" cy="988332"/>
          </a:xfrm>
        </p:spPr>
        <p:txBody>
          <a:bodyPr/>
          <a:lstStyle/>
          <a:p>
            <a:pPr algn="ctr"/>
            <a:r>
              <a:rPr lang="en-US" dirty="0">
                <a:solidFill>
                  <a:schemeClr val="tx1"/>
                </a:solidFill>
              </a:rPr>
              <a:t>6</a:t>
            </a:r>
            <a:r>
              <a:rPr lang="en-US" sz="2800" dirty="0">
                <a:solidFill>
                  <a:schemeClr val="tx1"/>
                </a:solidFill>
              </a:rPr>
              <a:t>. Program Control</a:t>
            </a:r>
            <a:endParaRPr lang="en-IN" dirty="0">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Program control Instructions</a:t>
            </a:r>
            <a:endParaRPr lang="en-IN" dirty="0">
              <a:solidFill>
                <a:schemeClr val="tx1"/>
              </a:solidFill>
            </a:endParaRPr>
          </a:p>
        </p:txBody>
      </p:sp>
      <p:sp>
        <p:nvSpPr>
          <p:cNvPr id="5" name="Content Placeholder 2"/>
          <p:cNvSpPr>
            <a:spLocks noGrp="1"/>
          </p:cNvSpPr>
          <p:nvPr>
            <p:ph idx="1"/>
          </p:nvPr>
        </p:nvSpPr>
        <p:spPr>
          <a:xfrm>
            <a:off x="581192" y="1548883"/>
            <a:ext cx="10727509" cy="4982546"/>
          </a:xfrm>
        </p:spPr>
        <p:txBody>
          <a:bodyPr>
            <a:normAutofit fontScale="77500" lnSpcReduction="20000"/>
          </a:bodyPr>
          <a:lstStyle/>
          <a:p>
            <a:pPr algn="just">
              <a:lnSpc>
                <a:spcPct val="150000"/>
              </a:lnSpc>
              <a:spcAft>
                <a:spcPts val="1000"/>
              </a:spcAft>
            </a:pPr>
            <a:r>
              <a:rPr lang="en-US" sz="2000" dirty="0">
                <a:solidFill>
                  <a:schemeClr val="tx1"/>
                </a:solidFill>
              </a:rPr>
              <a:t>Program control instructions modify or change the flow of a program. </a:t>
            </a:r>
            <a:endParaRPr lang="en-US" sz="2000" dirty="0">
              <a:solidFill>
                <a:schemeClr val="tx1"/>
              </a:solidFill>
            </a:endParaRPr>
          </a:p>
          <a:p>
            <a:pPr algn="just">
              <a:lnSpc>
                <a:spcPct val="150000"/>
              </a:lnSpc>
              <a:spcAft>
                <a:spcPts val="1000"/>
              </a:spcAft>
            </a:pPr>
            <a:r>
              <a:rPr lang="en-US" sz="2000" dirty="0">
                <a:solidFill>
                  <a:schemeClr val="tx1"/>
                </a:solidFill>
              </a:rPr>
              <a:t>It is the instruction that alters the sequence of the program's execution, which means it changes the value of the program counter, due to which the execution of the program changes. </a:t>
            </a:r>
            <a:endParaRPr lang="en-US" sz="2000" dirty="0">
              <a:solidFill>
                <a:schemeClr val="tx1"/>
              </a:solidFill>
            </a:endParaRPr>
          </a:p>
          <a:p>
            <a:pPr algn="just">
              <a:lnSpc>
                <a:spcPct val="150000"/>
              </a:lnSpc>
              <a:spcAft>
                <a:spcPts val="1000"/>
              </a:spcAft>
            </a:pPr>
            <a:r>
              <a:rPr lang="en-US" sz="2000" b="1" dirty="0">
                <a:solidFill>
                  <a:schemeClr val="tx1"/>
                </a:solidFill>
              </a:rPr>
              <a:t>Features:</a:t>
            </a:r>
            <a:endParaRPr lang="en-US" sz="2000" dirty="0">
              <a:solidFill>
                <a:schemeClr val="tx1"/>
              </a:solidFill>
            </a:endParaRPr>
          </a:p>
          <a:p>
            <a:pPr lvl="1" algn="just">
              <a:lnSpc>
                <a:spcPct val="150000"/>
              </a:lnSpc>
              <a:spcAft>
                <a:spcPts val="1000"/>
              </a:spcAft>
            </a:pPr>
            <a:r>
              <a:rPr lang="en-US" sz="1800" dirty="0">
                <a:solidFill>
                  <a:schemeClr val="tx1"/>
                </a:solidFill>
              </a:rPr>
              <a:t>These instructions cause a change in the sequence of the execution of the instruction.</a:t>
            </a:r>
            <a:endParaRPr lang="en-US" sz="1800" dirty="0">
              <a:solidFill>
                <a:schemeClr val="tx1"/>
              </a:solidFill>
            </a:endParaRPr>
          </a:p>
          <a:p>
            <a:pPr lvl="1" algn="just">
              <a:lnSpc>
                <a:spcPct val="150000"/>
              </a:lnSpc>
              <a:spcAft>
                <a:spcPts val="1000"/>
              </a:spcAft>
            </a:pPr>
            <a:r>
              <a:rPr lang="en-US" sz="1800" dirty="0">
                <a:solidFill>
                  <a:schemeClr val="tx1"/>
                </a:solidFill>
              </a:rPr>
              <a:t>This change can be through a condition or sometimes unconditional.</a:t>
            </a:r>
            <a:endParaRPr lang="en-US" sz="1800" dirty="0">
              <a:solidFill>
                <a:schemeClr val="tx1"/>
              </a:solidFill>
            </a:endParaRPr>
          </a:p>
          <a:p>
            <a:pPr lvl="1" algn="just">
              <a:lnSpc>
                <a:spcPct val="150000"/>
              </a:lnSpc>
              <a:spcAft>
                <a:spcPts val="1000"/>
              </a:spcAft>
            </a:pPr>
            <a:r>
              <a:rPr lang="en-US" sz="1800" dirty="0">
                <a:solidFill>
                  <a:schemeClr val="tx1"/>
                </a:solidFill>
              </a:rPr>
              <a:t>Flags represent the conditions.</a:t>
            </a:r>
            <a:endParaRPr lang="en-US" sz="1800" dirty="0">
              <a:solidFill>
                <a:schemeClr val="tx1"/>
              </a:solidFill>
            </a:endParaRPr>
          </a:p>
          <a:p>
            <a:pPr lvl="1" algn="just">
              <a:lnSpc>
                <a:spcPct val="150000"/>
              </a:lnSpc>
              <a:spcAft>
                <a:spcPts val="1000"/>
              </a:spcAft>
            </a:pPr>
            <a:r>
              <a:rPr lang="en-US" sz="1800" dirty="0">
                <a:solidFill>
                  <a:schemeClr val="tx1"/>
                </a:solidFill>
              </a:rPr>
              <a:t>Flag-Control Instructions.</a:t>
            </a:r>
            <a:endParaRPr lang="en-US" sz="1800" dirty="0">
              <a:solidFill>
                <a:schemeClr val="tx1"/>
              </a:solidFill>
            </a:endParaRPr>
          </a:p>
          <a:p>
            <a:pPr lvl="1" algn="just">
              <a:lnSpc>
                <a:spcPct val="150000"/>
              </a:lnSpc>
              <a:spcAft>
                <a:spcPts val="1000"/>
              </a:spcAft>
            </a:pPr>
            <a:r>
              <a:rPr lang="en-US" sz="1800" dirty="0">
                <a:solidFill>
                  <a:schemeClr val="tx1"/>
                </a:solidFill>
              </a:rPr>
              <a:t>Control Flow and the Jump Instructions include jumps, calls, returns, interrupts, and machine control instructions.</a:t>
            </a:r>
            <a:endParaRPr lang="en-US" sz="1800" dirty="0">
              <a:solidFill>
                <a:schemeClr val="tx1"/>
              </a:solidFill>
            </a:endParaRPr>
          </a:p>
          <a:p>
            <a:pPr lvl="1" algn="just">
              <a:lnSpc>
                <a:spcPct val="150000"/>
              </a:lnSpc>
              <a:spcAft>
                <a:spcPts val="1000"/>
              </a:spcAft>
            </a:pPr>
            <a:r>
              <a:rPr lang="en-US" sz="1800" dirty="0">
                <a:solidFill>
                  <a:schemeClr val="tx1"/>
                </a:solidFill>
              </a:rPr>
              <a:t>Subroutine and Subroutine-Handling Instructions.</a:t>
            </a:r>
            <a:endParaRPr lang="en-US" sz="1800" dirty="0">
              <a:solidFill>
                <a:schemeClr val="tx1"/>
              </a:solidFill>
            </a:endParaRPr>
          </a:p>
          <a:p>
            <a:pPr lvl="1" algn="just">
              <a:lnSpc>
                <a:spcPct val="150000"/>
              </a:lnSpc>
              <a:spcAft>
                <a:spcPts val="1000"/>
              </a:spcAft>
            </a:pPr>
            <a:r>
              <a:rPr lang="en-US" sz="1800" dirty="0">
                <a:solidFill>
                  <a:schemeClr val="tx1"/>
                </a:solidFill>
              </a:rPr>
              <a:t>Loop and Loop-Handling Instructions.</a:t>
            </a:r>
            <a:endParaRPr lang="en-US" sz="1800" dirty="0">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Program control Instructions</a:t>
            </a:r>
            <a:endParaRPr lang="en-IN" dirty="0">
              <a:solidFill>
                <a:schemeClr val="tx1"/>
              </a:solidFill>
            </a:endParaRPr>
          </a:p>
        </p:txBody>
      </p:sp>
      <p:pic>
        <p:nvPicPr>
          <p:cNvPr id="10242" name="Picture 2" descr="Program Control Instructions - Coding Ninjas"/>
          <p:cNvPicPr>
            <a:picLocks noChangeAspect="1" noChangeArrowheads="1"/>
          </p:cNvPicPr>
          <p:nvPr/>
        </p:nvPicPr>
        <p:blipFill rotWithShape="1">
          <a:blip r:embed="rId1">
            <a:extLst>
              <a:ext uri="{28A0092B-C50C-407E-A947-70E740481C1C}">
                <a14:useLocalDpi xmlns:a14="http://schemas.microsoft.com/office/drawing/2010/main" val="0"/>
              </a:ext>
            </a:extLst>
          </a:blip>
          <a:srcRect b="10797"/>
          <a:stretch>
            <a:fillRect/>
          </a:stretch>
        </p:blipFill>
        <p:spPr bwMode="auto">
          <a:xfrm>
            <a:off x="0" y="1673290"/>
            <a:ext cx="12192000" cy="4214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543046"/>
            <a:ext cx="11029616" cy="529975"/>
          </a:xfrm>
        </p:spPr>
        <p:txBody>
          <a:bodyPr>
            <a:normAutofit/>
          </a:bodyPr>
          <a:lstStyle/>
          <a:p>
            <a:pPr algn="ctr"/>
            <a:r>
              <a:rPr lang="en-IN" dirty="0">
                <a:solidFill>
                  <a:schemeClr val="tx1"/>
                </a:solidFill>
              </a:rPr>
              <a:t>Program control Instructions</a:t>
            </a:r>
            <a:endParaRPr lang="en-IN" dirty="0">
              <a:solidFill>
                <a:schemeClr val="tx1"/>
              </a:solidFill>
            </a:endParaRPr>
          </a:p>
        </p:txBody>
      </p:sp>
      <p:graphicFrame>
        <p:nvGraphicFramePr>
          <p:cNvPr id="3" name="Table 3"/>
          <p:cNvGraphicFramePr>
            <a:graphicFrameLocks noGrp="1"/>
          </p:cNvGraphicFramePr>
          <p:nvPr/>
        </p:nvGraphicFramePr>
        <p:xfrm>
          <a:off x="289250" y="1054359"/>
          <a:ext cx="11636106" cy="5278120"/>
        </p:xfrm>
        <a:graphic>
          <a:graphicData uri="http://schemas.openxmlformats.org/drawingml/2006/table">
            <a:tbl>
              <a:tblPr firstRow="1" bandRow="1">
                <a:tableStyleId>{5C22544A-7EE6-4342-B048-85BDC9FD1C3A}</a:tableStyleId>
              </a:tblPr>
              <a:tblGrid>
                <a:gridCol w="1875452"/>
                <a:gridCol w="9760654"/>
              </a:tblGrid>
              <a:tr h="370840">
                <a:tc>
                  <a:txBody>
                    <a:bodyPr/>
                    <a:lstStyle/>
                    <a:p>
                      <a:pPr algn="ctr" fontAlgn="t"/>
                      <a:r>
                        <a:rPr lang="en-IN" b="1" dirty="0">
                          <a:solidFill>
                            <a:srgbClr val="000000"/>
                          </a:solidFill>
                          <a:effectLst/>
                        </a:rPr>
                        <a:t>Program Control Instructions</a:t>
                      </a:r>
                      <a:endParaRPr lang="en-IN" b="1" dirty="0">
                        <a:effectLst/>
                      </a:endParaRPr>
                    </a:p>
                  </a:txBody>
                  <a:tcPr marL="63500" marR="63500" marT="63500" marB="63500"/>
                </a:tc>
                <a:tc>
                  <a:txBody>
                    <a:bodyPr/>
                    <a:lstStyle/>
                    <a:p>
                      <a:pPr algn="ctr" fontAlgn="t"/>
                      <a:r>
                        <a:rPr lang="en-IN" b="1" dirty="0">
                          <a:solidFill>
                            <a:srgbClr val="000000"/>
                          </a:solidFill>
                          <a:effectLst/>
                        </a:rPr>
                        <a:t>Description</a:t>
                      </a:r>
                      <a:endParaRPr lang="en-IN" b="1" dirty="0">
                        <a:effectLst/>
                      </a:endParaRPr>
                    </a:p>
                  </a:txBody>
                  <a:tcPr marL="63500" marR="63500" marT="63500" marB="63500"/>
                </a:tc>
              </a:tr>
              <a:tr h="370840">
                <a:tc>
                  <a:txBody>
                    <a:bodyPr/>
                    <a:lstStyle/>
                    <a:p>
                      <a:pPr algn="ctr" fontAlgn="t"/>
                      <a:r>
                        <a:rPr lang="en-IN" b="1" dirty="0">
                          <a:solidFill>
                            <a:srgbClr val="000000"/>
                          </a:solidFill>
                          <a:effectLst/>
                        </a:rPr>
                        <a:t>Branch (BR) </a:t>
                      </a:r>
                      <a:endParaRPr lang="en-IN" b="0" dirty="0">
                        <a:effectLst/>
                      </a:endParaRPr>
                    </a:p>
                  </a:txBody>
                  <a:tcPr marL="63500" marR="63500" marT="63500" marB="63500"/>
                </a:tc>
                <a:tc>
                  <a:txBody>
                    <a:bodyPr/>
                    <a:lstStyle/>
                    <a:p>
                      <a:pPr fontAlgn="t"/>
                      <a:r>
                        <a:rPr lang="en-US">
                          <a:solidFill>
                            <a:srgbClr val="0E101A"/>
                          </a:solidFill>
                          <a:effectLst/>
                        </a:rPr>
                        <a:t>Branch which means it is an unconditional jump. It is unconditional branching wherever we specify the address we need to branch.</a:t>
                      </a:r>
                      <a:endParaRPr lang="en-US">
                        <a:effectLst/>
                      </a:endParaRPr>
                    </a:p>
                  </a:txBody>
                  <a:tcPr marL="63500" marR="63500" marT="63500" marB="63500"/>
                </a:tc>
              </a:tr>
              <a:tr h="370840">
                <a:tc>
                  <a:txBody>
                    <a:bodyPr/>
                    <a:lstStyle/>
                    <a:p>
                      <a:pPr algn="ctr" fontAlgn="t"/>
                      <a:r>
                        <a:rPr lang="en-IN" b="1">
                          <a:solidFill>
                            <a:srgbClr val="000000"/>
                          </a:solidFill>
                          <a:effectLst/>
                        </a:rPr>
                        <a:t>Skip (SKP) </a:t>
                      </a:r>
                      <a:endParaRPr lang="en-IN" b="0">
                        <a:effectLst/>
                      </a:endParaRPr>
                    </a:p>
                  </a:txBody>
                  <a:tcPr marL="63500" marR="63500" marT="63500" marB="63500"/>
                </a:tc>
                <a:tc>
                  <a:txBody>
                    <a:bodyPr/>
                    <a:lstStyle/>
                    <a:p>
                      <a:pPr fontAlgn="t"/>
                      <a:r>
                        <a:rPr lang="en-US" b="0" dirty="0">
                          <a:solidFill>
                            <a:srgbClr val="0E101A"/>
                          </a:solidFill>
                          <a:effectLst/>
                        </a:rPr>
                        <a:t>Skip instructions is used to skip one(next) instruction. It can be conditional or unconditional. It does not need an address field. In the case of conditional skip instruction, the combination of conditional skip and an unconditional branch can be used as a replacement for the conditional branch.</a:t>
                      </a:r>
                      <a:r>
                        <a:rPr lang="en-US" b="0" dirty="0">
                          <a:effectLst/>
                        </a:rPr>
                        <a:t> </a:t>
                      </a:r>
                      <a:endParaRPr lang="en-US" b="0" dirty="0">
                        <a:effectLst/>
                      </a:endParaRPr>
                    </a:p>
                  </a:txBody>
                  <a:tcPr marL="63500" marR="63500" marT="63500" marB="63500"/>
                </a:tc>
              </a:tr>
              <a:tr h="370840">
                <a:tc>
                  <a:txBody>
                    <a:bodyPr/>
                    <a:lstStyle/>
                    <a:p>
                      <a:pPr algn="ctr" fontAlgn="t"/>
                      <a:r>
                        <a:rPr lang="en-IN" b="1">
                          <a:solidFill>
                            <a:srgbClr val="000000"/>
                          </a:solidFill>
                          <a:effectLst/>
                        </a:rPr>
                        <a:t>Jump (JMP)</a:t>
                      </a:r>
                      <a:endParaRPr lang="en-IN" b="0">
                        <a:effectLst/>
                      </a:endParaRPr>
                    </a:p>
                  </a:txBody>
                  <a:tcPr marL="63500" marR="63500" marT="63500" marB="63500"/>
                </a:tc>
                <a:tc>
                  <a:txBody>
                    <a:bodyPr/>
                    <a:lstStyle/>
                    <a:p>
                      <a:pPr fontAlgn="t"/>
                      <a:r>
                        <a:rPr lang="en-US" b="0" dirty="0">
                          <a:solidFill>
                            <a:srgbClr val="0E101A"/>
                          </a:solidFill>
                          <a:effectLst/>
                        </a:rPr>
                        <a:t>The jump instruction transfers the program sequence to the memory address given in the operand based on the specified flag.</a:t>
                      </a:r>
                      <a:endParaRPr lang="en-US" b="0" dirty="0">
                        <a:effectLst/>
                      </a:endParaRPr>
                    </a:p>
                    <a:p>
                      <a:pPr fontAlgn="t"/>
                      <a:r>
                        <a:rPr lang="en-US" b="0" dirty="0">
                          <a:effectLst/>
                        </a:rPr>
                        <a:t> </a:t>
                      </a:r>
                      <a:endParaRPr lang="en-US" b="0" dirty="0">
                        <a:effectLst/>
                      </a:endParaRPr>
                    </a:p>
                  </a:txBody>
                  <a:tcPr marL="63500" marR="63500" marT="63500" marB="63500"/>
                </a:tc>
              </a:tr>
              <a:tr h="370840">
                <a:tc>
                  <a:txBody>
                    <a:bodyPr/>
                    <a:lstStyle/>
                    <a:p>
                      <a:pPr algn="ctr" fontAlgn="t"/>
                      <a:r>
                        <a:rPr lang="en-IN" b="1">
                          <a:solidFill>
                            <a:srgbClr val="000000"/>
                          </a:solidFill>
                          <a:effectLst/>
                        </a:rPr>
                        <a:t>Compare (CMP)</a:t>
                      </a:r>
                      <a:endParaRPr lang="en-IN" b="0">
                        <a:effectLst/>
                      </a:endParaRPr>
                    </a:p>
                  </a:txBody>
                  <a:tcPr marL="63500" marR="63500" marT="63500" marB="63500"/>
                </a:tc>
                <a:tc>
                  <a:txBody>
                    <a:bodyPr/>
                    <a:lstStyle/>
                    <a:p>
                      <a:pPr fontAlgn="t"/>
                      <a:r>
                        <a:rPr lang="en-US" dirty="0">
                          <a:solidFill>
                            <a:srgbClr val="0E101A"/>
                          </a:solidFill>
                          <a:effectLst/>
                        </a:rPr>
                        <a:t>The Compare instruction performs a comparison via a subtraction, with difference not retained. CMP compares register sized values, with one exception.</a:t>
                      </a:r>
                      <a:endParaRPr lang="en-US" dirty="0">
                        <a:effectLst/>
                      </a:endParaRPr>
                    </a:p>
                  </a:txBody>
                  <a:tcPr marL="63500" marR="63500" marT="63500" marB="63500"/>
                </a:tc>
              </a:tr>
              <a:tr h="0">
                <a:tc>
                  <a:txBody>
                    <a:bodyPr/>
                    <a:lstStyle/>
                    <a:p>
                      <a:pPr algn="ctr" fontAlgn="t"/>
                      <a:r>
                        <a:rPr lang="en-IN" b="1">
                          <a:solidFill>
                            <a:srgbClr val="0E101A"/>
                          </a:solidFill>
                          <a:effectLst/>
                        </a:rPr>
                        <a:t>CALL and RETURN</a:t>
                      </a:r>
                      <a:endParaRPr lang="en-IN" b="0">
                        <a:effectLst/>
                      </a:endParaRPr>
                    </a:p>
                  </a:txBody>
                  <a:tcPr marL="63500" marR="63500" marT="63500" marB="63500"/>
                </a:tc>
                <a:tc>
                  <a:txBody>
                    <a:bodyPr/>
                    <a:lstStyle/>
                    <a:p>
                      <a:pPr fontAlgn="t"/>
                      <a:r>
                        <a:rPr lang="en-US" b="0" dirty="0">
                          <a:solidFill>
                            <a:srgbClr val="0E101A"/>
                          </a:solidFill>
                          <a:effectLst/>
                        </a:rPr>
                        <a:t>The CALL and RETURN instructions interrupt the flow of a program by passing control to an internal or external subroutine. An external subroutine is another program. The RETURN instruction returns control from a subroutine back to the calling program and optionally returns a value.</a:t>
                      </a:r>
                      <a:r>
                        <a:rPr lang="en-US" b="0" dirty="0">
                          <a:effectLst/>
                        </a:rPr>
                        <a:t> </a:t>
                      </a:r>
                      <a:endParaRPr lang="en-US" b="0" dirty="0">
                        <a:effectLst/>
                      </a:endParaRPr>
                    </a:p>
                  </a:txBody>
                  <a:tcPr marL="63500" marR="63500" marT="63500" marB="63500"/>
                </a:tc>
              </a:tr>
              <a:tr h="370840">
                <a:tc>
                  <a:txBody>
                    <a:bodyPr/>
                    <a:lstStyle/>
                    <a:p>
                      <a:pPr algn="ctr" fontAlgn="t"/>
                      <a:r>
                        <a:rPr lang="en-IN" b="1">
                          <a:solidFill>
                            <a:srgbClr val="000000"/>
                          </a:solidFill>
                          <a:effectLst/>
                        </a:rPr>
                        <a:t>  TEST</a:t>
                      </a:r>
                      <a:endParaRPr lang="en-IN" b="0">
                        <a:effectLst/>
                      </a:endParaRPr>
                    </a:p>
                  </a:txBody>
                  <a:tcPr marL="63500" marR="63500" marT="63500" marB="63500"/>
                </a:tc>
                <a:tc>
                  <a:txBody>
                    <a:bodyPr/>
                    <a:lstStyle/>
                    <a:p>
                      <a:pPr fontAlgn="t"/>
                      <a:r>
                        <a:rPr lang="en-US" b="0" dirty="0">
                          <a:solidFill>
                            <a:srgbClr val="0E101A"/>
                          </a:solidFill>
                          <a:effectLst/>
                        </a:rPr>
                        <a:t>TEST instructions perform the AND of two operands without retaining the result, and so on.</a:t>
                      </a:r>
                      <a:endParaRPr lang="en-US" b="0" dirty="0">
                        <a:effectLst/>
                      </a:endParaRPr>
                    </a:p>
                  </a:txBody>
                  <a:tcPr marL="63500" marR="63500" marT="63500" marB="63500"/>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Status Bit Conditions/ Flag, Processor Status Word</a:t>
            </a:r>
            <a:endParaRPr lang="en-IN" dirty="0">
              <a:solidFill>
                <a:schemeClr val="tx1"/>
              </a:solidFill>
            </a:endParaRPr>
          </a:p>
        </p:txBody>
      </p:sp>
      <p:sp>
        <p:nvSpPr>
          <p:cNvPr id="5" name="Content Placeholder 2"/>
          <p:cNvSpPr>
            <a:spLocks noGrp="1"/>
          </p:cNvSpPr>
          <p:nvPr>
            <p:ph idx="1"/>
          </p:nvPr>
        </p:nvSpPr>
        <p:spPr>
          <a:xfrm>
            <a:off x="581192" y="1548883"/>
            <a:ext cx="10727509" cy="998374"/>
          </a:xfrm>
        </p:spPr>
        <p:txBody>
          <a:bodyPr>
            <a:normAutofit/>
          </a:bodyPr>
          <a:lstStyle/>
          <a:p>
            <a:pPr algn="just">
              <a:lnSpc>
                <a:spcPct val="150000"/>
              </a:lnSpc>
              <a:spcAft>
                <a:spcPts val="1000"/>
              </a:spcAft>
            </a:pPr>
            <a:r>
              <a:rPr lang="en-US" sz="2000" dirty="0">
                <a:solidFill>
                  <a:schemeClr val="tx1"/>
                </a:solidFill>
              </a:rPr>
              <a:t>To check different conditions for branching instructions like CMP (compare) or TEST can be used. Certain status bit conditions are set as a result of these operations.</a:t>
            </a:r>
            <a:endParaRPr lang="en-US" sz="1800" dirty="0">
              <a:solidFill>
                <a:schemeClr val="tx1"/>
              </a:solidFill>
            </a:endParaRPr>
          </a:p>
        </p:txBody>
      </p:sp>
      <p:graphicFrame>
        <p:nvGraphicFramePr>
          <p:cNvPr id="6" name="Table 6"/>
          <p:cNvGraphicFramePr>
            <a:graphicFrameLocks noGrp="1"/>
          </p:cNvGraphicFramePr>
          <p:nvPr/>
        </p:nvGraphicFramePr>
        <p:xfrm>
          <a:off x="2032000" y="2651087"/>
          <a:ext cx="8128000" cy="370840"/>
        </p:xfrm>
        <a:graphic>
          <a:graphicData uri="http://schemas.openxmlformats.org/drawingml/2006/table">
            <a:tbl>
              <a:tblPr firstRow="1" bandRow="1">
                <a:tableStyleId>{BC89EF96-8CEA-46FF-86C4-4CE0E7609802}</a:tableStyleId>
              </a:tblPr>
              <a:tblGrid>
                <a:gridCol w="2032000"/>
                <a:gridCol w="2032000"/>
                <a:gridCol w="2032000"/>
                <a:gridCol w="2032000"/>
              </a:tblGrid>
              <a:tr h="370840">
                <a:tc>
                  <a:txBody>
                    <a:bodyPr/>
                    <a:lstStyle/>
                    <a:p>
                      <a:pPr algn="ctr"/>
                      <a:r>
                        <a:rPr lang="en-IN" dirty="0"/>
                        <a:t>V</a:t>
                      </a:r>
                      <a:endParaRPr lang="en-IN" dirty="0"/>
                    </a:p>
                  </a:txBody>
                  <a:tcPr anchor="ctr"/>
                </a:tc>
                <a:tc>
                  <a:txBody>
                    <a:bodyPr/>
                    <a:lstStyle/>
                    <a:p>
                      <a:pPr algn="ctr"/>
                      <a:r>
                        <a:rPr lang="en-IN" dirty="0"/>
                        <a:t>Z</a:t>
                      </a:r>
                      <a:endParaRPr lang="en-IN" dirty="0"/>
                    </a:p>
                  </a:txBody>
                  <a:tcPr anchor="ctr"/>
                </a:tc>
                <a:tc>
                  <a:txBody>
                    <a:bodyPr/>
                    <a:lstStyle/>
                    <a:p>
                      <a:pPr algn="ctr"/>
                      <a:r>
                        <a:rPr lang="en-IN" dirty="0"/>
                        <a:t>S</a:t>
                      </a:r>
                      <a:endParaRPr lang="en-IN" dirty="0"/>
                    </a:p>
                  </a:txBody>
                  <a:tcPr anchor="ctr"/>
                </a:tc>
                <a:tc>
                  <a:txBody>
                    <a:bodyPr/>
                    <a:lstStyle/>
                    <a:p>
                      <a:pPr algn="ctr"/>
                      <a:r>
                        <a:rPr lang="en-IN" dirty="0"/>
                        <a:t>C</a:t>
                      </a:r>
                      <a:endParaRPr lang="en-IN" dirty="0"/>
                    </a:p>
                  </a:txBody>
                  <a:tcPr anchor="ctr"/>
                </a:tc>
              </a:tr>
            </a:tbl>
          </a:graphicData>
        </a:graphic>
      </p:graphicFrame>
      <p:sp>
        <p:nvSpPr>
          <p:cNvPr id="7" name="Content Placeholder 2"/>
          <p:cNvSpPr txBox="1"/>
          <p:nvPr/>
        </p:nvSpPr>
        <p:spPr>
          <a:xfrm>
            <a:off x="658947" y="3256982"/>
            <a:ext cx="10727509" cy="2368782"/>
          </a:xfrm>
          <a:prstGeom prst="rect">
            <a:avLst/>
          </a:prstGeom>
        </p:spPr>
        <p:txBody>
          <a:bodyPr vert="horz" lIns="91440" tIns="45720" rIns="91440" bIns="45720" rtlCol="0" anchor="ctr">
            <a:normAutofit fontScale="85000" lnSpcReduction="10000"/>
          </a:bodyPr>
          <a:lst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lnSpc>
                <a:spcPct val="150000"/>
              </a:lnSpc>
              <a:spcAft>
                <a:spcPts val="1000"/>
              </a:spcAft>
            </a:pPr>
            <a:r>
              <a:rPr lang="en-US" sz="2000" dirty="0">
                <a:solidFill>
                  <a:schemeClr val="tx1"/>
                </a:solidFill>
              </a:rPr>
              <a:t>Status bits mean that the value will be either 0 or 1 as it is a bit. We have four status bits:</a:t>
            </a:r>
            <a:endParaRPr lang="en-US" sz="2000" dirty="0">
              <a:solidFill>
                <a:schemeClr val="tx1"/>
              </a:solidFill>
            </a:endParaRPr>
          </a:p>
          <a:p>
            <a:pPr lvl="1" algn="just">
              <a:lnSpc>
                <a:spcPct val="150000"/>
              </a:lnSpc>
              <a:spcAft>
                <a:spcPts val="1000"/>
              </a:spcAft>
            </a:pPr>
            <a:r>
              <a:rPr lang="en-US" sz="1700" b="1" dirty="0">
                <a:solidFill>
                  <a:schemeClr val="tx1"/>
                </a:solidFill>
              </a:rPr>
              <a:t>"V" stands for Overflow: </a:t>
            </a:r>
            <a:r>
              <a:rPr lang="en-US" sz="1700" dirty="0">
                <a:solidFill>
                  <a:schemeClr val="tx1"/>
                </a:solidFill>
              </a:rPr>
              <a:t>based on certain bits, i.e., if extra bits are generated into our operation</a:t>
            </a:r>
            <a:r>
              <a:rPr lang="en-US" sz="1700" b="1" dirty="0">
                <a:solidFill>
                  <a:schemeClr val="tx1"/>
                </a:solidFill>
              </a:rPr>
              <a:t>.</a:t>
            </a:r>
            <a:endParaRPr lang="en-US" sz="1700" b="1" dirty="0">
              <a:solidFill>
                <a:schemeClr val="tx1"/>
              </a:solidFill>
            </a:endParaRPr>
          </a:p>
          <a:p>
            <a:pPr lvl="1" algn="just">
              <a:lnSpc>
                <a:spcPct val="150000"/>
              </a:lnSpc>
              <a:spcAft>
                <a:spcPts val="1000"/>
              </a:spcAft>
            </a:pPr>
            <a:r>
              <a:rPr lang="en-US" sz="1700" dirty="0">
                <a:solidFill>
                  <a:schemeClr val="tx1"/>
                </a:solidFill>
              </a:rPr>
              <a:t> </a:t>
            </a:r>
            <a:r>
              <a:rPr lang="en-US" sz="1700" b="1" dirty="0">
                <a:solidFill>
                  <a:schemeClr val="tx1"/>
                </a:solidFill>
              </a:rPr>
              <a:t>"Z" stands for Zero: </a:t>
            </a:r>
            <a:r>
              <a:rPr lang="en-US" sz="1700" dirty="0">
                <a:solidFill>
                  <a:schemeClr val="tx1"/>
                </a:solidFill>
              </a:rPr>
              <a:t>If the output of the ALU(Arithmetic Logic Unit) is 0, then the Z flag is set to 1, otherwise, it is set to 0.</a:t>
            </a:r>
            <a:r>
              <a:rPr lang="en-US" sz="1700" b="1" dirty="0">
                <a:solidFill>
                  <a:schemeClr val="tx1"/>
                </a:solidFill>
              </a:rPr>
              <a:t> </a:t>
            </a:r>
            <a:endParaRPr lang="en-US" sz="1700" b="1" dirty="0">
              <a:solidFill>
                <a:schemeClr val="tx1"/>
              </a:solidFill>
            </a:endParaRPr>
          </a:p>
          <a:p>
            <a:pPr lvl="1" algn="just">
              <a:lnSpc>
                <a:spcPct val="150000"/>
              </a:lnSpc>
              <a:spcAft>
                <a:spcPts val="1000"/>
              </a:spcAft>
            </a:pPr>
            <a:r>
              <a:rPr lang="en-US" sz="1700" b="1" dirty="0">
                <a:solidFill>
                  <a:schemeClr val="tx1"/>
                </a:solidFill>
              </a:rPr>
              <a:t>"S" stands for the Sign bit: </a:t>
            </a:r>
            <a:r>
              <a:rPr lang="en-US" sz="1700" dirty="0">
                <a:solidFill>
                  <a:schemeClr val="tx1"/>
                </a:solidFill>
              </a:rPr>
              <a:t>If the number is positive, the Sign(S) flag is 0, and if the number is negative, the Sign flag is 1.</a:t>
            </a:r>
            <a:endParaRPr lang="en-US" sz="1700" dirty="0">
              <a:solidFill>
                <a:schemeClr val="tx1"/>
              </a:solidFill>
            </a:endParaRPr>
          </a:p>
          <a:p>
            <a:pPr lvl="1" algn="just">
              <a:lnSpc>
                <a:spcPct val="150000"/>
              </a:lnSpc>
              <a:spcAft>
                <a:spcPts val="1000"/>
              </a:spcAft>
            </a:pPr>
            <a:r>
              <a:rPr lang="en-US" sz="1700" b="1" dirty="0">
                <a:solidFill>
                  <a:schemeClr val="tx1"/>
                </a:solidFill>
              </a:rPr>
              <a:t> "C" stands for Carry: </a:t>
            </a:r>
            <a:r>
              <a:rPr lang="en-US" sz="1700" dirty="0">
                <a:solidFill>
                  <a:schemeClr val="tx1"/>
                </a:solidFill>
              </a:rPr>
              <a:t>if the output of the ALU operation generates Carry, then C is set to 1, else C is set to 0.</a:t>
            </a:r>
            <a:endParaRPr lang="en-US" sz="1500" dirty="0">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Status Bit Conditions/ Flag, Processor Status Word</a:t>
            </a:r>
            <a:endParaRPr lang="en-IN" dirty="0">
              <a:solidFill>
                <a:schemeClr val="tx1"/>
              </a:solidFill>
            </a:endParaRPr>
          </a:p>
        </p:txBody>
      </p:sp>
      <p:pic>
        <p:nvPicPr>
          <p:cNvPr id="9" name="Picture 8"/>
          <p:cNvPicPr>
            <a:picLocks noChangeAspect="1"/>
          </p:cNvPicPr>
          <p:nvPr/>
        </p:nvPicPr>
        <p:blipFill>
          <a:blip r:embed="rId1"/>
          <a:stretch>
            <a:fillRect/>
          </a:stretch>
        </p:blipFill>
        <p:spPr>
          <a:xfrm>
            <a:off x="2985796" y="1912488"/>
            <a:ext cx="5523721" cy="355525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1. Conditional Branch Instructions</a:t>
            </a:r>
            <a:endParaRPr lang="en-IN" dirty="0">
              <a:solidFill>
                <a:schemeClr val="tx1"/>
              </a:solidFill>
            </a:endParaRPr>
          </a:p>
        </p:txBody>
      </p:sp>
      <p:sp>
        <p:nvSpPr>
          <p:cNvPr id="5" name="Content Placeholder 2"/>
          <p:cNvSpPr>
            <a:spLocks noGrp="1"/>
          </p:cNvSpPr>
          <p:nvPr>
            <p:ph idx="1"/>
          </p:nvPr>
        </p:nvSpPr>
        <p:spPr>
          <a:xfrm>
            <a:off x="581193" y="1548883"/>
            <a:ext cx="6220824" cy="4579460"/>
          </a:xfrm>
        </p:spPr>
        <p:txBody>
          <a:bodyPr>
            <a:normAutofit/>
          </a:bodyPr>
          <a:lstStyle/>
          <a:p>
            <a:pPr algn="just">
              <a:lnSpc>
                <a:spcPct val="150000"/>
              </a:lnSpc>
              <a:spcAft>
                <a:spcPts val="1000"/>
              </a:spcAft>
            </a:pPr>
            <a:r>
              <a:rPr lang="en-US" sz="1800" dirty="0">
                <a:solidFill>
                  <a:schemeClr val="tx1"/>
                </a:solidFill>
              </a:rPr>
              <a:t>A conditional branch instruction is basically used to examine the values that are stored in the condition code register to examine whether the specific condition exists and to branch if it does. </a:t>
            </a:r>
            <a:endParaRPr lang="en-US" sz="1800" dirty="0">
              <a:solidFill>
                <a:schemeClr val="tx1"/>
              </a:solidFill>
            </a:endParaRPr>
          </a:p>
          <a:p>
            <a:pPr algn="just">
              <a:lnSpc>
                <a:spcPct val="150000"/>
              </a:lnSpc>
              <a:spcAft>
                <a:spcPts val="1000"/>
              </a:spcAft>
            </a:pPr>
            <a:r>
              <a:rPr lang="en-US" sz="1800" dirty="0">
                <a:solidFill>
                  <a:schemeClr val="tx1"/>
                </a:solidFill>
              </a:rPr>
              <a:t>Each conditional branch instruction tests for a different combination of Status bits for a condition.</a:t>
            </a:r>
            <a:endParaRPr lang="en-US" sz="1800" dirty="0">
              <a:solidFill>
                <a:schemeClr val="tx1"/>
              </a:solidFill>
            </a:endParaRPr>
          </a:p>
        </p:txBody>
      </p:sp>
      <p:pic>
        <p:nvPicPr>
          <p:cNvPr id="6" name="Picture 5"/>
          <p:cNvPicPr>
            <a:picLocks noChangeAspect="1"/>
          </p:cNvPicPr>
          <p:nvPr/>
        </p:nvPicPr>
        <p:blipFill>
          <a:blip r:embed="rId1"/>
          <a:stretch>
            <a:fillRect/>
          </a:stretch>
        </p:blipFill>
        <p:spPr>
          <a:xfrm>
            <a:off x="7262667" y="1536818"/>
            <a:ext cx="4701947" cy="516680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2. </a:t>
            </a:r>
            <a:r>
              <a:rPr lang="en-US" dirty="0">
                <a:solidFill>
                  <a:schemeClr val="tx1"/>
                </a:solidFill>
              </a:rPr>
              <a:t>SUBROUTINE CALL AND RETURN</a:t>
            </a:r>
            <a:endParaRPr lang="en-IN" dirty="0">
              <a:solidFill>
                <a:schemeClr val="tx1"/>
              </a:solidFill>
            </a:endParaRPr>
          </a:p>
        </p:txBody>
      </p:sp>
      <p:sp>
        <p:nvSpPr>
          <p:cNvPr id="5" name="Content Placeholder 2"/>
          <p:cNvSpPr>
            <a:spLocks noGrp="1"/>
          </p:cNvSpPr>
          <p:nvPr>
            <p:ph idx="1"/>
          </p:nvPr>
        </p:nvSpPr>
        <p:spPr>
          <a:xfrm>
            <a:off x="581193" y="1548883"/>
            <a:ext cx="10648782" cy="4579460"/>
          </a:xfrm>
        </p:spPr>
        <p:txBody>
          <a:bodyPr>
            <a:normAutofit/>
          </a:bodyPr>
          <a:lstStyle/>
          <a:p>
            <a:pPr algn="just">
              <a:lnSpc>
                <a:spcPct val="150000"/>
              </a:lnSpc>
              <a:spcAft>
                <a:spcPts val="1000"/>
              </a:spcAft>
            </a:pPr>
            <a:r>
              <a:rPr lang="en-US" sz="1800" dirty="0">
                <a:solidFill>
                  <a:schemeClr val="tx1"/>
                </a:solidFill>
              </a:rPr>
              <a:t>Subroutine is a self-contained sequence of instructions that performs a given computational task.</a:t>
            </a:r>
            <a:endParaRPr lang="en-US" sz="1800" dirty="0">
              <a:solidFill>
                <a:schemeClr val="tx1"/>
              </a:solidFill>
            </a:endParaRPr>
          </a:p>
          <a:p>
            <a:pPr algn="just">
              <a:lnSpc>
                <a:spcPct val="150000"/>
              </a:lnSpc>
              <a:spcAft>
                <a:spcPts val="1000"/>
              </a:spcAft>
            </a:pPr>
            <a:r>
              <a:rPr lang="en-US" sz="1800" dirty="0">
                <a:solidFill>
                  <a:schemeClr val="tx1"/>
                </a:solidFill>
              </a:rPr>
              <a:t>It may be called many times at various points in the main program.</a:t>
            </a:r>
            <a:endParaRPr lang="en-US" sz="1800" dirty="0">
              <a:solidFill>
                <a:schemeClr val="tx1"/>
              </a:solidFill>
            </a:endParaRPr>
          </a:p>
          <a:p>
            <a:pPr algn="just">
              <a:lnSpc>
                <a:spcPct val="150000"/>
              </a:lnSpc>
              <a:spcAft>
                <a:spcPts val="1000"/>
              </a:spcAft>
            </a:pPr>
            <a:r>
              <a:rPr lang="en-US" sz="1800" dirty="0">
                <a:solidFill>
                  <a:schemeClr val="tx1"/>
                </a:solidFill>
              </a:rPr>
              <a:t>When called, branches to 1</a:t>
            </a:r>
            <a:r>
              <a:rPr lang="en-US" sz="1800" baseline="30000" dirty="0">
                <a:solidFill>
                  <a:schemeClr val="tx1"/>
                </a:solidFill>
              </a:rPr>
              <a:t>st</a:t>
            </a:r>
            <a:r>
              <a:rPr lang="en-US" sz="1800" dirty="0">
                <a:solidFill>
                  <a:schemeClr val="tx1"/>
                </a:solidFill>
              </a:rPr>
              <a:t> line of the subroutine and at the end, returned to the main program.</a:t>
            </a:r>
            <a:endParaRPr lang="en-US" sz="1800" dirty="0">
              <a:solidFill>
                <a:schemeClr val="tx1"/>
              </a:solidFill>
            </a:endParaRPr>
          </a:p>
          <a:p>
            <a:pPr algn="just">
              <a:lnSpc>
                <a:spcPct val="150000"/>
              </a:lnSpc>
              <a:spcAft>
                <a:spcPts val="1000"/>
              </a:spcAft>
            </a:pPr>
            <a:r>
              <a:rPr lang="en-US" sz="1800" dirty="0">
                <a:solidFill>
                  <a:schemeClr val="tx1"/>
                </a:solidFill>
              </a:rPr>
              <a:t>Different names for the instruction that transfers program control to a subroutine</a:t>
            </a:r>
            <a:endParaRPr lang="en-US" sz="1800" dirty="0">
              <a:solidFill>
                <a:schemeClr val="tx1"/>
              </a:solidFill>
            </a:endParaRPr>
          </a:p>
          <a:p>
            <a:pPr lvl="1" algn="just">
              <a:lnSpc>
                <a:spcPct val="150000"/>
              </a:lnSpc>
              <a:spcAft>
                <a:spcPts val="1000"/>
              </a:spcAft>
            </a:pPr>
            <a:r>
              <a:rPr lang="en-US" sz="1600" dirty="0">
                <a:solidFill>
                  <a:schemeClr val="tx1"/>
                </a:solidFill>
              </a:rPr>
              <a:t>Call subroutine</a:t>
            </a:r>
            <a:endParaRPr lang="en-US" sz="1600" dirty="0">
              <a:solidFill>
                <a:schemeClr val="tx1"/>
              </a:solidFill>
            </a:endParaRPr>
          </a:p>
          <a:p>
            <a:pPr lvl="1" algn="just">
              <a:lnSpc>
                <a:spcPct val="150000"/>
              </a:lnSpc>
              <a:spcAft>
                <a:spcPts val="1000"/>
              </a:spcAft>
            </a:pPr>
            <a:r>
              <a:rPr lang="en-US" sz="1600" dirty="0">
                <a:solidFill>
                  <a:schemeClr val="tx1"/>
                </a:solidFill>
              </a:rPr>
              <a:t>Jump to subroutine</a:t>
            </a:r>
            <a:endParaRPr lang="en-US" sz="1600" dirty="0">
              <a:solidFill>
                <a:schemeClr val="tx1"/>
              </a:solidFill>
            </a:endParaRPr>
          </a:p>
          <a:p>
            <a:pPr lvl="1" algn="just">
              <a:lnSpc>
                <a:spcPct val="150000"/>
              </a:lnSpc>
              <a:spcAft>
                <a:spcPts val="1000"/>
              </a:spcAft>
            </a:pPr>
            <a:r>
              <a:rPr lang="en-US" sz="1600" dirty="0">
                <a:solidFill>
                  <a:schemeClr val="tx1"/>
                </a:solidFill>
              </a:rPr>
              <a:t>Branch to a subroutine</a:t>
            </a:r>
            <a:endParaRPr lang="en-US" sz="1600" dirty="0">
              <a:solidFill>
                <a:schemeClr val="tx1"/>
              </a:solidFill>
            </a:endParaRPr>
          </a:p>
          <a:p>
            <a:pPr lvl="1" algn="just">
              <a:lnSpc>
                <a:spcPct val="150000"/>
              </a:lnSpc>
              <a:spcAft>
                <a:spcPts val="1000"/>
              </a:spcAft>
            </a:pPr>
            <a:r>
              <a:rPr lang="en-US" sz="1600" dirty="0">
                <a:solidFill>
                  <a:schemeClr val="tx1"/>
                </a:solidFill>
              </a:rPr>
              <a:t>Branch and save the return address</a:t>
            </a:r>
            <a:endParaRPr lang="en-US" sz="1600" dirty="0">
              <a:solidFill>
                <a:schemeClr val="tx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2. </a:t>
            </a:r>
            <a:r>
              <a:rPr lang="en-US" dirty="0">
                <a:solidFill>
                  <a:schemeClr val="tx1"/>
                </a:solidFill>
              </a:rPr>
              <a:t>SUBROUTINE CALL AND RETURN</a:t>
            </a:r>
            <a:endParaRPr lang="en-IN" dirty="0">
              <a:solidFill>
                <a:schemeClr val="tx1"/>
              </a:solidFill>
            </a:endParaRPr>
          </a:p>
        </p:txBody>
      </p:sp>
      <p:sp>
        <p:nvSpPr>
          <p:cNvPr id="5" name="Content Placeholder 2"/>
          <p:cNvSpPr>
            <a:spLocks noGrp="1"/>
          </p:cNvSpPr>
          <p:nvPr>
            <p:ph idx="1"/>
          </p:nvPr>
        </p:nvSpPr>
        <p:spPr>
          <a:xfrm>
            <a:off x="581193" y="1548883"/>
            <a:ext cx="10648782" cy="4709042"/>
          </a:xfrm>
        </p:spPr>
        <p:txBody>
          <a:bodyPr>
            <a:normAutofit/>
          </a:bodyPr>
          <a:lstStyle/>
          <a:p>
            <a:pPr algn="just">
              <a:lnSpc>
                <a:spcPct val="150000"/>
              </a:lnSpc>
              <a:spcAft>
                <a:spcPts val="1000"/>
              </a:spcAft>
            </a:pPr>
            <a:r>
              <a:rPr lang="en-US" sz="2000" b="1" dirty="0">
                <a:solidFill>
                  <a:schemeClr val="tx1"/>
                </a:solidFill>
              </a:rPr>
              <a:t>Two Most Important Operations are Implied:</a:t>
            </a:r>
            <a:endParaRPr lang="en-US" sz="2000" b="1" dirty="0">
              <a:solidFill>
                <a:schemeClr val="tx1"/>
              </a:solidFill>
            </a:endParaRPr>
          </a:p>
          <a:p>
            <a:pPr lvl="1" algn="just">
              <a:lnSpc>
                <a:spcPct val="150000"/>
              </a:lnSpc>
              <a:spcAft>
                <a:spcPts val="1000"/>
              </a:spcAft>
            </a:pPr>
            <a:r>
              <a:rPr lang="en-US" sz="1800" dirty="0">
                <a:solidFill>
                  <a:schemeClr val="tx1"/>
                </a:solidFill>
              </a:rPr>
              <a:t>Branch to the beginning of the Subroutine - Same as the Branch or Conditional Branch.</a:t>
            </a:r>
            <a:endParaRPr lang="en-US" sz="1800" dirty="0">
              <a:solidFill>
                <a:schemeClr val="tx1"/>
              </a:solidFill>
            </a:endParaRPr>
          </a:p>
          <a:p>
            <a:pPr lvl="1" algn="just">
              <a:lnSpc>
                <a:spcPct val="150000"/>
              </a:lnSpc>
              <a:spcAft>
                <a:spcPts val="1000"/>
              </a:spcAft>
            </a:pPr>
            <a:r>
              <a:rPr lang="en-US" sz="1800" dirty="0">
                <a:solidFill>
                  <a:schemeClr val="tx1"/>
                </a:solidFill>
              </a:rPr>
              <a:t>Save the Return Address to get the address of the location in the Calling Program upon exit from the Subroutine</a:t>
            </a:r>
            <a:endParaRPr lang="en-US" sz="1800" dirty="0">
              <a:solidFill>
                <a:schemeClr val="tx1"/>
              </a:solidFill>
            </a:endParaRPr>
          </a:p>
          <a:p>
            <a:pPr algn="just">
              <a:lnSpc>
                <a:spcPct val="150000"/>
              </a:lnSpc>
              <a:spcAft>
                <a:spcPts val="1000"/>
              </a:spcAft>
            </a:pPr>
            <a:r>
              <a:rPr lang="en-US" sz="2000" b="1" dirty="0">
                <a:solidFill>
                  <a:schemeClr val="tx1"/>
                </a:solidFill>
              </a:rPr>
              <a:t>Locations for storing Return Address</a:t>
            </a:r>
            <a:endParaRPr lang="en-US" sz="2000" b="1" dirty="0">
              <a:solidFill>
                <a:schemeClr val="tx1"/>
              </a:solidFill>
            </a:endParaRPr>
          </a:p>
          <a:p>
            <a:pPr lvl="1" algn="just">
              <a:lnSpc>
                <a:spcPct val="110000"/>
              </a:lnSpc>
              <a:spcAft>
                <a:spcPts val="1000"/>
              </a:spcAft>
            </a:pPr>
            <a:r>
              <a:rPr lang="en-US" sz="1800" dirty="0">
                <a:solidFill>
                  <a:schemeClr val="tx1"/>
                </a:solidFill>
              </a:rPr>
              <a:t>Fixed Location in the subroutine (Memory)</a:t>
            </a:r>
            <a:endParaRPr lang="en-US" sz="1800" dirty="0">
              <a:solidFill>
                <a:schemeClr val="tx1"/>
              </a:solidFill>
            </a:endParaRPr>
          </a:p>
          <a:p>
            <a:pPr lvl="1" algn="just">
              <a:lnSpc>
                <a:spcPct val="110000"/>
              </a:lnSpc>
              <a:spcAft>
                <a:spcPts val="1000"/>
              </a:spcAft>
            </a:pPr>
            <a:r>
              <a:rPr lang="en-US" sz="1800" dirty="0">
                <a:solidFill>
                  <a:schemeClr val="tx1"/>
                </a:solidFill>
              </a:rPr>
              <a:t>Fixed Location in memory</a:t>
            </a:r>
            <a:endParaRPr lang="en-US" sz="1800" dirty="0">
              <a:solidFill>
                <a:schemeClr val="tx1"/>
              </a:solidFill>
            </a:endParaRPr>
          </a:p>
          <a:p>
            <a:pPr lvl="1" algn="just">
              <a:lnSpc>
                <a:spcPct val="110000"/>
              </a:lnSpc>
              <a:spcAft>
                <a:spcPts val="1000"/>
              </a:spcAft>
            </a:pPr>
            <a:r>
              <a:rPr lang="en-US" sz="1800" dirty="0">
                <a:solidFill>
                  <a:schemeClr val="tx1"/>
                </a:solidFill>
              </a:rPr>
              <a:t>In a processor Register</a:t>
            </a:r>
            <a:endParaRPr lang="en-US" sz="1800" dirty="0">
              <a:solidFill>
                <a:schemeClr val="tx1"/>
              </a:solidFill>
            </a:endParaRPr>
          </a:p>
          <a:p>
            <a:pPr lvl="1" algn="just">
              <a:lnSpc>
                <a:spcPct val="110000"/>
              </a:lnSpc>
              <a:spcAft>
                <a:spcPts val="1000"/>
              </a:spcAft>
            </a:pPr>
            <a:r>
              <a:rPr lang="en-US" sz="1800" dirty="0">
                <a:solidFill>
                  <a:schemeClr val="tx1"/>
                </a:solidFill>
              </a:rPr>
              <a:t>In memory stack - </a:t>
            </a:r>
            <a:r>
              <a:rPr lang="en-US" sz="1800" b="1" dirty="0">
                <a:solidFill>
                  <a:schemeClr val="tx1"/>
                </a:solidFill>
              </a:rPr>
              <a:t>most efficient way</a:t>
            </a:r>
            <a:endParaRPr lang="en-US" sz="1800" b="1" dirty="0">
              <a:solidFill>
                <a:schemeClr val="tx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2. </a:t>
            </a:r>
            <a:r>
              <a:rPr lang="en-US" dirty="0">
                <a:solidFill>
                  <a:schemeClr val="tx1"/>
                </a:solidFill>
              </a:rPr>
              <a:t>SUBROUTINE CALL AND RETURN</a:t>
            </a:r>
            <a:endParaRPr lang="en-IN" dirty="0">
              <a:solidFill>
                <a:schemeClr val="tx1"/>
              </a:solidFill>
            </a:endParaRPr>
          </a:p>
        </p:txBody>
      </p:sp>
      <p:sp>
        <p:nvSpPr>
          <p:cNvPr id="5" name="Content Placeholder 2"/>
          <p:cNvSpPr>
            <a:spLocks noGrp="1"/>
          </p:cNvSpPr>
          <p:nvPr>
            <p:ph idx="1"/>
          </p:nvPr>
        </p:nvSpPr>
        <p:spPr>
          <a:xfrm>
            <a:off x="581193" y="1548883"/>
            <a:ext cx="10648782" cy="879992"/>
          </a:xfrm>
        </p:spPr>
        <p:txBody>
          <a:bodyPr>
            <a:normAutofit/>
          </a:bodyPr>
          <a:lstStyle/>
          <a:p>
            <a:pPr algn="just">
              <a:lnSpc>
                <a:spcPct val="150000"/>
              </a:lnSpc>
              <a:spcAft>
                <a:spcPts val="1000"/>
              </a:spcAft>
            </a:pPr>
            <a:r>
              <a:rPr lang="en-US" sz="2000" b="1" dirty="0">
                <a:solidFill>
                  <a:schemeClr val="tx1"/>
                </a:solidFill>
              </a:rPr>
              <a:t>In Memory Stack</a:t>
            </a:r>
            <a:endParaRPr lang="en-US" sz="2000" b="1" dirty="0">
              <a:solidFill>
                <a:schemeClr val="tx1"/>
              </a:solidFill>
            </a:endParaRPr>
          </a:p>
        </p:txBody>
      </p:sp>
      <p:pic>
        <p:nvPicPr>
          <p:cNvPr id="4" name="Picture 3"/>
          <p:cNvPicPr>
            <a:picLocks noChangeAspect="1"/>
          </p:cNvPicPr>
          <p:nvPr/>
        </p:nvPicPr>
        <p:blipFill>
          <a:blip r:embed="rId1"/>
          <a:stretch>
            <a:fillRect/>
          </a:stretch>
        </p:blipFill>
        <p:spPr>
          <a:xfrm>
            <a:off x="3594643" y="2251608"/>
            <a:ext cx="2126164" cy="235478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3. </a:t>
            </a:r>
            <a:r>
              <a:rPr lang="en-US" dirty="0">
                <a:solidFill>
                  <a:schemeClr val="tx1"/>
                </a:solidFill>
              </a:rPr>
              <a:t>Program Interrupt</a:t>
            </a:r>
            <a:endParaRPr lang="en-IN" dirty="0">
              <a:solidFill>
                <a:schemeClr val="tx1"/>
              </a:solidFill>
            </a:endParaRPr>
          </a:p>
        </p:txBody>
      </p:sp>
      <p:sp>
        <p:nvSpPr>
          <p:cNvPr id="5" name="Content Placeholder 2"/>
          <p:cNvSpPr>
            <a:spLocks noGrp="1"/>
          </p:cNvSpPr>
          <p:nvPr>
            <p:ph idx="1"/>
          </p:nvPr>
        </p:nvSpPr>
        <p:spPr>
          <a:xfrm>
            <a:off x="195262" y="1655991"/>
            <a:ext cx="6091238" cy="4316184"/>
          </a:xfrm>
        </p:spPr>
        <p:txBody>
          <a:bodyPr>
            <a:normAutofit fontScale="92500"/>
          </a:bodyPr>
          <a:lstStyle/>
          <a:p>
            <a:pPr algn="just">
              <a:lnSpc>
                <a:spcPct val="150000"/>
              </a:lnSpc>
              <a:spcAft>
                <a:spcPts val="1000"/>
              </a:spcAft>
            </a:pPr>
            <a:r>
              <a:rPr lang="en-US" sz="2000" dirty="0">
                <a:solidFill>
                  <a:schemeClr val="tx1"/>
                </a:solidFill>
              </a:rPr>
              <a:t>An interrupt is a signal emitted by a device attached to a computer or from a program within the computer.</a:t>
            </a:r>
            <a:endParaRPr lang="en-US" sz="2000" dirty="0">
              <a:solidFill>
                <a:schemeClr val="tx1"/>
              </a:solidFill>
            </a:endParaRPr>
          </a:p>
          <a:p>
            <a:pPr algn="just">
              <a:lnSpc>
                <a:spcPct val="150000"/>
              </a:lnSpc>
              <a:spcAft>
                <a:spcPts val="1000"/>
              </a:spcAft>
            </a:pPr>
            <a:r>
              <a:rPr lang="en-US" sz="2000" dirty="0">
                <a:solidFill>
                  <a:schemeClr val="tx1"/>
                </a:solidFill>
              </a:rPr>
              <a:t>An interrupt temporarily stops or terminates a service or a current process.</a:t>
            </a:r>
            <a:endParaRPr lang="en-US" sz="2000" dirty="0">
              <a:solidFill>
                <a:schemeClr val="tx1"/>
              </a:solidFill>
            </a:endParaRPr>
          </a:p>
          <a:p>
            <a:pPr algn="just">
              <a:lnSpc>
                <a:spcPct val="150000"/>
              </a:lnSpc>
              <a:spcAft>
                <a:spcPts val="1000"/>
              </a:spcAft>
            </a:pPr>
            <a:r>
              <a:rPr lang="en-US" sz="2000" b="1" dirty="0">
                <a:solidFill>
                  <a:schemeClr val="tx1"/>
                </a:solidFill>
              </a:rPr>
              <a:t>Types of Interrupts:</a:t>
            </a:r>
            <a:endParaRPr lang="en-US" sz="2000" b="1" dirty="0">
              <a:solidFill>
                <a:schemeClr val="tx1"/>
              </a:solidFill>
            </a:endParaRPr>
          </a:p>
          <a:p>
            <a:pPr lvl="1" algn="just">
              <a:lnSpc>
                <a:spcPct val="150000"/>
              </a:lnSpc>
              <a:spcAft>
                <a:spcPts val="1000"/>
              </a:spcAft>
            </a:pPr>
            <a:r>
              <a:rPr lang="en-US" sz="1700" b="1" dirty="0">
                <a:solidFill>
                  <a:schemeClr val="tx1"/>
                </a:solidFill>
              </a:rPr>
              <a:t>External interrupts</a:t>
            </a:r>
            <a:endParaRPr lang="en-US" sz="1700" b="1" dirty="0">
              <a:solidFill>
                <a:schemeClr val="tx1"/>
              </a:solidFill>
            </a:endParaRPr>
          </a:p>
          <a:p>
            <a:pPr lvl="1" algn="just">
              <a:lnSpc>
                <a:spcPct val="150000"/>
              </a:lnSpc>
              <a:spcAft>
                <a:spcPts val="1000"/>
              </a:spcAft>
            </a:pPr>
            <a:r>
              <a:rPr lang="en-US" sz="1700" b="1" dirty="0">
                <a:solidFill>
                  <a:schemeClr val="tx1"/>
                </a:solidFill>
              </a:rPr>
              <a:t>Internal interrupts</a:t>
            </a:r>
            <a:endParaRPr lang="en-US" sz="1700" b="1" dirty="0">
              <a:solidFill>
                <a:schemeClr val="tx1"/>
              </a:solidFill>
            </a:endParaRPr>
          </a:p>
          <a:p>
            <a:pPr lvl="1" algn="just">
              <a:lnSpc>
                <a:spcPct val="150000"/>
              </a:lnSpc>
              <a:spcAft>
                <a:spcPts val="1000"/>
              </a:spcAft>
            </a:pPr>
            <a:r>
              <a:rPr lang="en-US" sz="1700" b="1" dirty="0">
                <a:solidFill>
                  <a:schemeClr val="tx1"/>
                </a:solidFill>
              </a:rPr>
              <a:t>Software interrupts</a:t>
            </a:r>
            <a:endParaRPr lang="en-US" sz="1700" b="1" dirty="0">
              <a:solidFill>
                <a:schemeClr val="tx1"/>
              </a:solidFill>
            </a:endParaRPr>
          </a:p>
        </p:txBody>
      </p:sp>
      <p:pic>
        <p:nvPicPr>
          <p:cNvPr id="12292" name="Picture 4" descr="Interrupts in Computer Architectu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24071" y="1657350"/>
            <a:ext cx="5534025" cy="4314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3. </a:t>
            </a:r>
            <a:r>
              <a:rPr lang="en-US" dirty="0">
                <a:solidFill>
                  <a:schemeClr val="tx1"/>
                </a:solidFill>
              </a:rPr>
              <a:t>Program Interrupt</a:t>
            </a:r>
            <a:endParaRPr lang="en-IN" dirty="0">
              <a:solidFill>
                <a:schemeClr val="tx1"/>
              </a:solidFill>
            </a:endParaRPr>
          </a:p>
        </p:txBody>
      </p:sp>
      <p:pic>
        <p:nvPicPr>
          <p:cNvPr id="13314" name="Picture 2" descr="Interrupts Categoriza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5012" y="1259633"/>
            <a:ext cx="8181975" cy="5505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IN" dirty="0">
                <a:solidFill>
                  <a:schemeClr val="tx1"/>
                </a:solidFill>
              </a:rPr>
              <a:t>3. </a:t>
            </a:r>
            <a:r>
              <a:rPr lang="en-US" dirty="0">
                <a:solidFill>
                  <a:schemeClr val="tx1"/>
                </a:solidFill>
              </a:rPr>
              <a:t>Interrupt Procedure</a:t>
            </a:r>
            <a:endParaRPr lang="en-IN" dirty="0">
              <a:solidFill>
                <a:schemeClr val="tx1"/>
              </a:solidFill>
            </a:endParaRPr>
          </a:p>
        </p:txBody>
      </p:sp>
      <p:sp>
        <p:nvSpPr>
          <p:cNvPr id="5" name="Content Placeholder 2"/>
          <p:cNvSpPr>
            <a:spLocks noGrp="1"/>
          </p:cNvSpPr>
          <p:nvPr>
            <p:ph idx="1"/>
          </p:nvPr>
        </p:nvSpPr>
        <p:spPr>
          <a:xfrm>
            <a:off x="195261" y="1557338"/>
            <a:ext cx="6605589" cy="5072062"/>
          </a:xfrm>
        </p:spPr>
        <p:txBody>
          <a:bodyPr>
            <a:normAutofit fontScale="70000" lnSpcReduction="20000"/>
          </a:bodyPr>
          <a:lstStyle/>
          <a:p>
            <a:pPr algn="just">
              <a:lnSpc>
                <a:spcPct val="150000"/>
              </a:lnSpc>
              <a:spcAft>
                <a:spcPts val="1000"/>
              </a:spcAft>
            </a:pPr>
            <a:r>
              <a:rPr lang="en-US" sz="2000" dirty="0">
                <a:solidFill>
                  <a:schemeClr val="tx1"/>
                </a:solidFill>
              </a:rPr>
              <a:t>Step 1 − First device issues interrupt to CPU.</a:t>
            </a:r>
            <a:endParaRPr lang="en-US" sz="2000" dirty="0">
              <a:solidFill>
                <a:schemeClr val="tx1"/>
              </a:solidFill>
            </a:endParaRPr>
          </a:p>
          <a:p>
            <a:pPr algn="just">
              <a:lnSpc>
                <a:spcPct val="150000"/>
              </a:lnSpc>
              <a:spcAft>
                <a:spcPts val="1000"/>
              </a:spcAft>
            </a:pPr>
            <a:r>
              <a:rPr lang="en-US" sz="2000" dirty="0">
                <a:solidFill>
                  <a:schemeClr val="tx1"/>
                </a:solidFill>
              </a:rPr>
              <a:t>Step 2 − Then, the CPU finishes the execution of the current instruction.</a:t>
            </a:r>
            <a:endParaRPr lang="en-US" sz="2000" dirty="0">
              <a:solidFill>
                <a:schemeClr val="tx1"/>
              </a:solidFill>
            </a:endParaRPr>
          </a:p>
          <a:p>
            <a:pPr algn="just">
              <a:lnSpc>
                <a:spcPct val="150000"/>
              </a:lnSpc>
              <a:spcAft>
                <a:spcPts val="1000"/>
              </a:spcAft>
            </a:pPr>
            <a:r>
              <a:rPr lang="en-US" sz="2000" dirty="0">
                <a:solidFill>
                  <a:schemeClr val="tx1"/>
                </a:solidFill>
              </a:rPr>
              <a:t>Step 3 − CPU tests for pending interrupt requests. If there is one, it sends an acknowledgment to the device which removes its interrupt signal.</a:t>
            </a:r>
            <a:endParaRPr lang="en-US" sz="2000" dirty="0">
              <a:solidFill>
                <a:schemeClr val="tx1"/>
              </a:solidFill>
            </a:endParaRPr>
          </a:p>
          <a:p>
            <a:pPr algn="just">
              <a:lnSpc>
                <a:spcPct val="150000"/>
              </a:lnSpc>
              <a:spcAft>
                <a:spcPts val="1000"/>
              </a:spcAft>
            </a:pPr>
            <a:r>
              <a:rPr lang="en-US" sz="2000" dirty="0">
                <a:solidFill>
                  <a:schemeClr val="tx1"/>
                </a:solidFill>
              </a:rPr>
              <a:t>Step 4 − CPU saves program status word onto the control stack.</a:t>
            </a:r>
            <a:endParaRPr lang="en-US" sz="2000" dirty="0">
              <a:solidFill>
                <a:schemeClr val="tx1"/>
              </a:solidFill>
            </a:endParaRPr>
          </a:p>
          <a:p>
            <a:pPr algn="just">
              <a:lnSpc>
                <a:spcPct val="150000"/>
              </a:lnSpc>
              <a:spcAft>
                <a:spcPts val="1000"/>
              </a:spcAft>
            </a:pPr>
            <a:r>
              <a:rPr lang="en-US" sz="2000" dirty="0">
                <a:solidFill>
                  <a:schemeClr val="tx1"/>
                </a:solidFill>
              </a:rPr>
              <a:t>Step 5 − CPU loads the location of the interrupt handler into the PC register.</a:t>
            </a:r>
            <a:endParaRPr lang="en-US" sz="2000" dirty="0">
              <a:solidFill>
                <a:schemeClr val="tx1"/>
              </a:solidFill>
            </a:endParaRPr>
          </a:p>
          <a:p>
            <a:pPr algn="just">
              <a:lnSpc>
                <a:spcPct val="150000"/>
              </a:lnSpc>
              <a:spcAft>
                <a:spcPts val="1000"/>
              </a:spcAft>
            </a:pPr>
            <a:r>
              <a:rPr lang="en-US" sz="2000" dirty="0">
                <a:solidFill>
                  <a:schemeClr val="tx1"/>
                </a:solidFill>
              </a:rPr>
              <a:t>Step 6 − Save the contents of all registers from the control stack into memory.</a:t>
            </a:r>
            <a:endParaRPr lang="en-US" sz="2000" dirty="0">
              <a:solidFill>
                <a:schemeClr val="tx1"/>
              </a:solidFill>
            </a:endParaRPr>
          </a:p>
          <a:p>
            <a:pPr algn="just">
              <a:lnSpc>
                <a:spcPct val="150000"/>
              </a:lnSpc>
              <a:spcAft>
                <a:spcPts val="1000"/>
              </a:spcAft>
            </a:pPr>
            <a:r>
              <a:rPr lang="en-US" sz="2000" dirty="0">
                <a:solidFill>
                  <a:schemeClr val="tx1"/>
                </a:solidFill>
              </a:rPr>
              <a:t>Step 7 − Find out the cause of interrupt, or interrupt type, or invokes the appropriate routine.</a:t>
            </a:r>
            <a:endParaRPr lang="en-US" sz="2000" dirty="0">
              <a:solidFill>
                <a:schemeClr val="tx1"/>
              </a:solidFill>
            </a:endParaRPr>
          </a:p>
          <a:p>
            <a:pPr algn="just">
              <a:lnSpc>
                <a:spcPct val="150000"/>
              </a:lnSpc>
              <a:spcAft>
                <a:spcPts val="1000"/>
              </a:spcAft>
            </a:pPr>
            <a:r>
              <a:rPr lang="en-US" sz="2000" dirty="0">
                <a:solidFill>
                  <a:schemeClr val="tx1"/>
                </a:solidFill>
              </a:rPr>
              <a:t>Step 8 − Restore saved registers from the stack.</a:t>
            </a:r>
            <a:endParaRPr lang="en-US" sz="2000" dirty="0">
              <a:solidFill>
                <a:schemeClr val="tx1"/>
              </a:solidFill>
            </a:endParaRPr>
          </a:p>
          <a:p>
            <a:pPr algn="just">
              <a:lnSpc>
                <a:spcPct val="150000"/>
              </a:lnSpc>
              <a:spcAft>
                <a:spcPts val="1000"/>
              </a:spcAft>
            </a:pPr>
            <a:r>
              <a:rPr lang="en-US" sz="2000" dirty="0">
                <a:solidFill>
                  <a:schemeClr val="tx1"/>
                </a:solidFill>
              </a:rPr>
              <a:t>Step 9 − Restore the PC to dispatch the original process</a:t>
            </a:r>
            <a:endParaRPr lang="en-US" sz="1700" b="1" dirty="0">
              <a:solidFill>
                <a:schemeClr val="tx1"/>
              </a:solidFill>
            </a:endParaRPr>
          </a:p>
        </p:txBody>
      </p:sp>
      <p:pic>
        <p:nvPicPr>
          <p:cNvPr id="14338" name="Picture 2" descr="Instruction Cycle with Interrupt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7000" y="2757488"/>
            <a:ext cx="5715000" cy="2543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857038"/>
            <a:ext cx="11029616" cy="988332"/>
          </a:xfrm>
        </p:spPr>
        <p:txBody>
          <a:bodyPr/>
          <a:lstStyle/>
          <a:p>
            <a:pPr algn="ctr"/>
            <a:r>
              <a:rPr lang="en-US" dirty="0">
                <a:solidFill>
                  <a:schemeClr val="tx1"/>
                </a:solidFill>
              </a:rPr>
              <a:t>7. RISC, and CISC</a:t>
            </a:r>
            <a:endParaRPr lang="en-US" dirty="0">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US" dirty="0">
                <a:solidFill>
                  <a:schemeClr val="tx1"/>
                </a:solidFill>
              </a:rPr>
              <a:t>Reduced Instruction Set Computer Processor (RISC)</a:t>
            </a:r>
            <a:endParaRPr lang="en-IN" dirty="0">
              <a:solidFill>
                <a:schemeClr val="tx1"/>
              </a:solidFill>
            </a:endParaRPr>
          </a:p>
        </p:txBody>
      </p:sp>
      <p:sp>
        <p:nvSpPr>
          <p:cNvPr id="5" name="Content Placeholder 2"/>
          <p:cNvSpPr>
            <a:spLocks noGrp="1"/>
          </p:cNvSpPr>
          <p:nvPr>
            <p:ph idx="1"/>
          </p:nvPr>
        </p:nvSpPr>
        <p:spPr>
          <a:xfrm>
            <a:off x="423861" y="1566863"/>
            <a:ext cx="6605589" cy="5072062"/>
          </a:xfrm>
        </p:spPr>
        <p:txBody>
          <a:bodyPr>
            <a:normAutofit fontScale="85000" lnSpcReduction="10000"/>
          </a:bodyPr>
          <a:lstStyle/>
          <a:p>
            <a:pPr algn="just">
              <a:lnSpc>
                <a:spcPct val="150000"/>
              </a:lnSpc>
              <a:spcAft>
                <a:spcPts val="1000"/>
              </a:spcAft>
            </a:pPr>
            <a:r>
              <a:rPr lang="en-US" sz="2000" dirty="0">
                <a:solidFill>
                  <a:schemeClr val="tx1"/>
                </a:solidFill>
              </a:rPr>
              <a:t>RISC is a microprocessor architecture that uses a simple set of instructions that can be substantially modified. </a:t>
            </a:r>
            <a:endParaRPr lang="en-US" sz="2000" dirty="0">
              <a:solidFill>
                <a:schemeClr val="tx1"/>
              </a:solidFill>
            </a:endParaRPr>
          </a:p>
          <a:p>
            <a:pPr algn="just">
              <a:lnSpc>
                <a:spcPct val="150000"/>
              </a:lnSpc>
              <a:spcAft>
                <a:spcPts val="1000"/>
              </a:spcAft>
            </a:pPr>
            <a:r>
              <a:rPr lang="en-US" sz="2000" dirty="0">
                <a:solidFill>
                  <a:schemeClr val="tx1"/>
                </a:solidFill>
              </a:rPr>
              <a:t>It is designed to reduce the time it takes for instructions to execute by optimizing and reducing the number of instructions. It means that each instruction cycle has only one clock per cycle, and each cycle consists of three parameters: fetch, decode, and execute. </a:t>
            </a:r>
            <a:endParaRPr lang="en-US" sz="2000" dirty="0">
              <a:solidFill>
                <a:schemeClr val="tx1"/>
              </a:solidFill>
            </a:endParaRPr>
          </a:p>
          <a:p>
            <a:pPr algn="just">
              <a:lnSpc>
                <a:spcPct val="150000"/>
              </a:lnSpc>
              <a:spcAft>
                <a:spcPts val="1000"/>
              </a:spcAft>
            </a:pPr>
            <a:r>
              <a:rPr lang="en-US" sz="2000" dirty="0">
                <a:solidFill>
                  <a:schemeClr val="tx1"/>
                </a:solidFill>
              </a:rPr>
              <a:t>The RISC processor can also combine multiple complex instructions into a simple one. RISC chips require several transistors, making them less expensive to develop and reducing instruction execution time.</a:t>
            </a:r>
            <a:endParaRPr lang="en-US" sz="2000" dirty="0">
              <a:solidFill>
                <a:schemeClr val="tx1"/>
              </a:solidFill>
            </a:endParaRPr>
          </a:p>
          <a:p>
            <a:pPr algn="just">
              <a:lnSpc>
                <a:spcPct val="150000"/>
              </a:lnSpc>
              <a:spcAft>
                <a:spcPts val="1000"/>
              </a:spcAft>
            </a:pPr>
            <a:r>
              <a:rPr lang="en-US" sz="2000" dirty="0">
                <a:solidFill>
                  <a:schemeClr val="tx1"/>
                </a:solidFill>
              </a:rPr>
              <a:t>Examples of RISC processors are PowerPC, Microchip PIC, SUN's SPARC, RISC-V.</a:t>
            </a:r>
            <a:endParaRPr lang="en-US" sz="1700" b="1" dirty="0">
              <a:solidFill>
                <a:schemeClr val="tx1"/>
              </a:solidFill>
            </a:endParaRPr>
          </a:p>
        </p:txBody>
      </p:sp>
      <p:pic>
        <p:nvPicPr>
          <p:cNvPr id="4" name="Picture 3"/>
          <p:cNvPicPr>
            <a:picLocks noChangeAspect="1"/>
          </p:cNvPicPr>
          <p:nvPr/>
        </p:nvPicPr>
        <p:blipFill>
          <a:blip r:embed="rId1"/>
          <a:stretch>
            <a:fillRect/>
          </a:stretch>
        </p:blipFill>
        <p:spPr>
          <a:xfrm>
            <a:off x="7810361" y="2095501"/>
            <a:ext cx="3495814" cy="3133724"/>
          </a:xfrm>
          <a:prstGeom prst="rect">
            <a:avLst/>
          </a:prstGeom>
        </p:spPr>
      </p:pic>
      <p:sp>
        <p:nvSpPr>
          <p:cNvPr id="6" name="TextBox 5"/>
          <p:cNvSpPr txBox="1"/>
          <p:nvPr/>
        </p:nvSpPr>
        <p:spPr>
          <a:xfrm>
            <a:off x="8562975" y="5524500"/>
            <a:ext cx="2143125" cy="369332"/>
          </a:xfrm>
          <a:prstGeom prst="rect">
            <a:avLst/>
          </a:prstGeom>
          <a:noFill/>
        </p:spPr>
        <p:txBody>
          <a:bodyPr wrap="square" rtlCol="0">
            <a:spAutoFit/>
          </a:bodyPr>
          <a:lstStyle/>
          <a:p>
            <a:pPr algn="ctr"/>
            <a:r>
              <a:rPr lang="en-IN" b="1" i="0" dirty="0">
                <a:solidFill>
                  <a:srgbClr val="36393E"/>
                </a:solidFill>
                <a:effectLst/>
                <a:latin typeface="Muli"/>
              </a:rPr>
              <a:t>RISC Architecture</a:t>
            </a:r>
            <a:endParaRPr lang="en-I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US" dirty="0">
                <a:solidFill>
                  <a:schemeClr val="tx1"/>
                </a:solidFill>
              </a:rPr>
              <a:t>Features of RISC Processor </a:t>
            </a:r>
            <a:endParaRPr lang="en-IN" dirty="0">
              <a:solidFill>
                <a:schemeClr val="tx1"/>
              </a:solidFill>
            </a:endParaRPr>
          </a:p>
        </p:txBody>
      </p:sp>
      <p:sp>
        <p:nvSpPr>
          <p:cNvPr id="5" name="Content Placeholder 2"/>
          <p:cNvSpPr>
            <a:spLocks noGrp="1"/>
          </p:cNvSpPr>
          <p:nvPr>
            <p:ph idx="1"/>
          </p:nvPr>
        </p:nvSpPr>
        <p:spPr>
          <a:xfrm>
            <a:off x="423861" y="1566863"/>
            <a:ext cx="11029616" cy="5072062"/>
          </a:xfrm>
        </p:spPr>
        <p:txBody>
          <a:bodyPr>
            <a:normAutofit/>
          </a:bodyPr>
          <a:lstStyle/>
          <a:p>
            <a:pPr algn="just">
              <a:lnSpc>
                <a:spcPct val="150000"/>
              </a:lnSpc>
              <a:spcAft>
                <a:spcPts val="1000"/>
              </a:spcAft>
            </a:pPr>
            <a:r>
              <a:rPr lang="en-US" sz="2000" dirty="0">
                <a:solidFill>
                  <a:schemeClr val="tx1"/>
                </a:solidFill>
              </a:rPr>
              <a:t>RISC processors use one clock per cycle (CPI) to execute each instruction in a computer. Each CPI also comprises the methods for fetching, decoding, and executing computer instructions.</a:t>
            </a:r>
            <a:endParaRPr lang="en-US" sz="2000" dirty="0">
              <a:solidFill>
                <a:schemeClr val="tx1"/>
              </a:solidFill>
            </a:endParaRPr>
          </a:p>
          <a:p>
            <a:pPr algn="just">
              <a:lnSpc>
                <a:spcPct val="150000"/>
              </a:lnSpc>
              <a:spcAft>
                <a:spcPts val="1000"/>
              </a:spcAft>
            </a:pPr>
            <a:r>
              <a:rPr lang="en-US" sz="2000" dirty="0">
                <a:solidFill>
                  <a:schemeClr val="tx1"/>
                </a:solidFill>
              </a:rPr>
              <a:t>Multiple registers in RISC processors allow them to hold instructions, reply fast to the computer, and interact with computer memory as little as possible.</a:t>
            </a:r>
            <a:endParaRPr lang="en-US" sz="2000" dirty="0">
              <a:solidFill>
                <a:schemeClr val="tx1"/>
              </a:solidFill>
            </a:endParaRPr>
          </a:p>
          <a:p>
            <a:pPr algn="just">
              <a:lnSpc>
                <a:spcPct val="150000"/>
              </a:lnSpc>
              <a:spcAft>
                <a:spcPts val="1000"/>
              </a:spcAft>
            </a:pPr>
            <a:r>
              <a:rPr lang="en-US" sz="2000" dirty="0">
                <a:solidFill>
                  <a:schemeClr val="tx1"/>
                </a:solidFill>
              </a:rPr>
              <a:t>The RISC processors use the pipelining technique to execute multiple parts or stages of instructions to perform more efficiently.</a:t>
            </a:r>
            <a:endParaRPr lang="en-US" sz="2000" dirty="0">
              <a:solidFill>
                <a:schemeClr val="tx1"/>
              </a:solidFill>
            </a:endParaRPr>
          </a:p>
          <a:p>
            <a:pPr algn="just">
              <a:lnSpc>
                <a:spcPct val="150000"/>
              </a:lnSpc>
              <a:spcAft>
                <a:spcPts val="1000"/>
              </a:spcAft>
            </a:pPr>
            <a:r>
              <a:rPr lang="en-US" sz="2000" dirty="0">
                <a:solidFill>
                  <a:schemeClr val="tx1"/>
                </a:solidFill>
              </a:rPr>
              <a:t>RISC has a simple addressing mode and fixed instruction length for the pipeline execution.</a:t>
            </a:r>
            <a:endParaRPr lang="en-US" sz="2000" dirty="0">
              <a:solidFill>
                <a:schemeClr val="tx1"/>
              </a:solidFill>
            </a:endParaRPr>
          </a:p>
          <a:p>
            <a:pPr algn="just">
              <a:lnSpc>
                <a:spcPct val="150000"/>
              </a:lnSpc>
              <a:spcAft>
                <a:spcPts val="1000"/>
              </a:spcAft>
            </a:pPr>
            <a:r>
              <a:rPr lang="en-US" sz="2000" dirty="0">
                <a:solidFill>
                  <a:schemeClr val="tx1"/>
                </a:solidFill>
              </a:rPr>
              <a:t>5.) It uses LOAD and STORE instructions to access the memory location.</a:t>
            </a:r>
            <a:endParaRPr lang="en-US" sz="1700" b="1" dirty="0">
              <a:solidFill>
                <a:schemeClr val="tx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US" dirty="0">
                <a:solidFill>
                  <a:schemeClr val="tx1"/>
                </a:solidFill>
              </a:rPr>
              <a:t>Complex Instruction Set Computer (CISC)</a:t>
            </a:r>
            <a:endParaRPr lang="en-IN" dirty="0">
              <a:solidFill>
                <a:schemeClr val="tx1"/>
              </a:solidFill>
            </a:endParaRPr>
          </a:p>
        </p:txBody>
      </p:sp>
      <p:sp>
        <p:nvSpPr>
          <p:cNvPr id="5" name="Content Placeholder 2"/>
          <p:cNvSpPr>
            <a:spLocks noGrp="1"/>
          </p:cNvSpPr>
          <p:nvPr>
            <p:ph idx="1"/>
          </p:nvPr>
        </p:nvSpPr>
        <p:spPr>
          <a:xfrm>
            <a:off x="423860" y="1566863"/>
            <a:ext cx="7481889" cy="5072062"/>
          </a:xfrm>
        </p:spPr>
        <p:txBody>
          <a:bodyPr>
            <a:normAutofit fontScale="85000" lnSpcReduction="10000"/>
          </a:bodyPr>
          <a:lstStyle/>
          <a:p>
            <a:pPr algn="just">
              <a:lnSpc>
                <a:spcPct val="150000"/>
              </a:lnSpc>
              <a:spcAft>
                <a:spcPts val="1000"/>
              </a:spcAft>
            </a:pPr>
            <a:r>
              <a:rPr lang="en-US" sz="2000" dirty="0">
                <a:solidFill>
                  <a:schemeClr val="tx1"/>
                </a:solidFill>
              </a:rPr>
              <a:t>Intel developed the CISC processor. </a:t>
            </a:r>
            <a:endParaRPr lang="en-US" sz="2000" dirty="0">
              <a:solidFill>
                <a:schemeClr val="tx1"/>
              </a:solidFill>
            </a:endParaRPr>
          </a:p>
          <a:p>
            <a:pPr algn="just">
              <a:lnSpc>
                <a:spcPct val="150000"/>
              </a:lnSpc>
              <a:spcAft>
                <a:spcPts val="1000"/>
              </a:spcAft>
            </a:pPr>
            <a:r>
              <a:rPr lang="en-US" sz="2000" dirty="0">
                <a:solidFill>
                  <a:schemeClr val="tx1"/>
                </a:solidFill>
              </a:rPr>
              <a:t>It has an extensive collection of complex instructions that range from simple to very complex and specializes in the assembly language level, which takes a long time to execute the instructions. </a:t>
            </a:r>
            <a:endParaRPr lang="en-US" sz="2000" dirty="0">
              <a:solidFill>
                <a:schemeClr val="tx1"/>
              </a:solidFill>
            </a:endParaRPr>
          </a:p>
          <a:p>
            <a:pPr algn="just">
              <a:lnSpc>
                <a:spcPct val="150000"/>
              </a:lnSpc>
              <a:spcAft>
                <a:spcPts val="1000"/>
              </a:spcAft>
            </a:pPr>
            <a:r>
              <a:rPr lang="en-US" sz="2000" dirty="0">
                <a:solidFill>
                  <a:schemeClr val="tx1"/>
                </a:solidFill>
              </a:rPr>
              <a:t>CISC approaches reducing the number of instructions on each program and ignoring the number of cycles per instruction. </a:t>
            </a:r>
            <a:endParaRPr lang="en-US" sz="2000" dirty="0">
              <a:solidFill>
                <a:schemeClr val="tx1"/>
              </a:solidFill>
            </a:endParaRPr>
          </a:p>
          <a:p>
            <a:pPr algn="just">
              <a:lnSpc>
                <a:spcPct val="150000"/>
              </a:lnSpc>
              <a:spcAft>
                <a:spcPts val="1000"/>
              </a:spcAft>
            </a:pPr>
            <a:r>
              <a:rPr lang="en-US" sz="2000" dirty="0">
                <a:solidFill>
                  <a:schemeClr val="tx1"/>
                </a:solidFill>
              </a:rPr>
              <a:t>It emphasizes building complex instructions directly in the hardware because the hardware is always faster than the software. </a:t>
            </a:r>
            <a:endParaRPr lang="en-US" sz="2000" dirty="0">
              <a:solidFill>
                <a:schemeClr val="tx1"/>
              </a:solidFill>
            </a:endParaRPr>
          </a:p>
          <a:p>
            <a:pPr algn="just">
              <a:lnSpc>
                <a:spcPct val="150000"/>
              </a:lnSpc>
              <a:spcAft>
                <a:spcPts val="1000"/>
              </a:spcAft>
            </a:pPr>
            <a:r>
              <a:rPr lang="en-US" sz="2000" dirty="0">
                <a:solidFill>
                  <a:schemeClr val="tx1"/>
                </a:solidFill>
              </a:rPr>
              <a:t>CISC chips are relatively slower than RISC chips but use little instructions.</a:t>
            </a:r>
            <a:endParaRPr lang="en-US" sz="2000" dirty="0">
              <a:solidFill>
                <a:schemeClr val="tx1"/>
              </a:solidFill>
            </a:endParaRPr>
          </a:p>
          <a:p>
            <a:pPr algn="just">
              <a:lnSpc>
                <a:spcPct val="150000"/>
              </a:lnSpc>
              <a:spcAft>
                <a:spcPts val="1000"/>
              </a:spcAft>
            </a:pPr>
            <a:r>
              <a:rPr lang="en-US" sz="2000" b="1" dirty="0">
                <a:solidFill>
                  <a:schemeClr val="tx1"/>
                </a:solidFill>
              </a:rPr>
              <a:t>Examples</a:t>
            </a:r>
            <a:r>
              <a:rPr lang="en-US" sz="2000" dirty="0">
                <a:solidFill>
                  <a:schemeClr val="tx1"/>
                </a:solidFill>
              </a:rPr>
              <a:t> of CISC processors are AMD, Intel x86, and the System/360.</a:t>
            </a:r>
            <a:endParaRPr lang="en-US" sz="1700" b="1" dirty="0">
              <a:solidFill>
                <a:schemeClr val="tx1"/>
              </a:solidFill>
            </a:endParaRPr>
          </a:p>
        </p:txBody>
      </p:sp>
      <p:sp>
        <p:nvSpPr>
          <p:cNvPr id="6" name="TextBox 5"/>
          <p:cNvSpPr txBox="1"/>
          <p:nvPr/>
        </p:nvSpPr>
        <p:spPr>
          <a:xfrm>
            <a:off x="8562975" y="5524500"/>
            <a:ext cx="2143125" cy="369332"/>
          </a:xfrm>
          <a:prstGeom prst="rect">
            <a:avLst/>
          </a:prstGeom>
          <a:noFill/>
        </p:spPr>
        <p:txBody>
          <a:bodyPr wrap="square" rtlCol="0">
            <a:spAutoFit/>
          </a:bodyPr>
          <a:lstStyle/>
          <a:p>
            <a:pPr algn="ctr"/>
            <a:r>
              <a:rPr lang="en-IN" b="1" dirty="0">
                <a:solidFill>
                  <a:srgbClr val="36393E"/>
                </a:solidFill>
                <a:latin typeface="Muli"/>
              </a:rPr>
              <a:t>C</a:t>
            </a:r>
            <a:r>
              <a:rPr lang="en-IN" b="1" i="0" dirty="0">
                <a:solidFill>
                  <a:srgbClr val="36393E"/>
                </a:solidFill>
                <a:effectLst/>
                <a:latin typeface="Muli"/>
              </a:rPr>
              <a:t>ISC Architecture</a:t>
            </a:r>
            <a:endParaRPr lang="en-IN" dirty="0"/>
          </a:p>
        </p:txBody>
      </p:sp>
      <p:pic>
        <p:nvPicPr>
          <p:cNvPr id="7" name="Picture 6"/>
          <p:cNvPicPr>
            <a:picLocks noChangeAspect="1"/>
          </p:cNvPicPr>
          <p:nvPr/>
        </p:nvPicPr>
        <p:blipFill>
          <a:blip r:embed="rId1"/>
          <a:stretch>
            <a:fillRect/>
          </a:stretch>
        </p:blipFill>
        <p:spPr>
          <a:xfrm>
            <a:off x="8147520" y="2310644"/>
            <a:ext cx="3802710" cy="278916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US" dirty="0">
                <a:solidFill>
                  <a:schemeClr val="tx1"/>
                </a:solidFill>
              </a:rPr>
              <a:t>Features of CISC Processor </a:t>
            </a:r>
            <a:endParaRPr lang="en-IN" dirty="0">
              <a:solidFill>
                <a:schemeClr val="tx1"/>
              </a:solidFill>
            </a:endParaRPr>
          </a:p>
        </p:txBody>
      </p:sp>
      <p:sp>
        <p:nvSpPr>
          <p:cNvPr id="5" name="Content Placeholder 2"/>
          <p:cNvSpPr>
            <a:spLocks noGrp="1"/>
          </p:cNvSpPr>
          <p:nvPr>
            <p:ph idx="1"/>
          </p:nvPr>
        </p:nvSpPr>
        <p:spPr>
          <a:xfrm>
            <a:off x="423861" y="1566863"/>
            <a:ext cx="11029616" cy="5072062"/>
          </a:xfrm>
        </p:spPr>
        <p:txBody>
          <a:bodyPr>
            <a:normAutofit/>
          </a:bodyPr>
          <a:lstStyle/>
          <a:p>
            <a:pPr algn="just">
              <a:lnSpc>
                <a:spcPct val="150000"/>
              </a:lnSpc>
              <a:spcAft>
                <a:spcPts val="1000"/>
              </a:spcAft>
            </a:pPr>
            <a:r>
              <a:rPr lang="en-US" sz="2000" dirty="0">
                <a:solidFill>
                  <a:schemeClr val="tx1"/>
                </a:solidFill>
              </a:rPr>
              <a:t>CISC may take longer than a single clock cycle to execute the code.</a:t>
            </a:r>
            <a:endParaRPr lang="en-US" sz="2000" dirty="0">
              <a:solidFill>
                <a:schemeClr val="tx1"/>
              </a:solidFill>
            </a:endParaRPr>
          </a:p>
          <a:p>
            <a:pPr algn="just">
              <a:lnSpc>
                <a:spcPct val="150000"/>
              </a:lnSpc>
              <a:spcAft>
                <a:spcPts val="1000"/>
              </a:spcAft>
            </a:pPr>
            <a:r>
              <a:rPr lang="en-US" sz="2000" dirty="0">
                <a:solidFill>
                  <a:schemeClr val="tx1"/>
                </a:solidFill>
              </a:rPr>
              <a:t>The length of the code is short, so it requires minimal RAM.</a:t>
            </a:r>
            <a:endParaRPr lang="en-US" sz="2000" dirty="0">
              <a:solidFill>
                <a:schemeClr val="tx1"/>
              </a:solidFill>
            </a:endParaRPr>
          </a:p>
          <a:p>
            <a:pPr algn="just">
              <a:lnSpc>
                <a:spcPct val="150000"/>
              </a:lnSpc>
              <a:spcAft>
                <a:spcPts val="1000"/>
              </a:spcAft>
            </a:pPr>
            <a:r>
              <a:rPr lang="en-US" sz="2000" dirty="0">
                <a:solidFill>
                  <a:schemeClr val="tx1"/>
                </a:solidFill>
              </a:rPr>
              <a:t>It provides more accessible programming in assembly language.</a:t>
            </a:r>
            <a:endParaRPr lang="en-US" sz="2000" dirty="0">
              <a:solidFill>
                <a:schemeClr val="tx1"/>
              </a:solidFill>
            </a:endParaRPr>
          </a:p>
          <a:p>
            <a:pPr algn="just">
              <a:lnSpc>
                <a:spcPct val="150000"/>
              </a:lnSpc>
              <a:spcAft>
                <a:spcPts val="1000"/>
              </a:spcAft>
            </a:pPr>
            <a:r>
              <a:rPr lang="en-US" sz="2000" dirty="0">
                <a:solidFill>
                  <a:schemeClr val="tx1"/>
                </a:solidFill>
              </a:rPr>
              <a:t>It focuses on creating instructions on hardware rather than software because they are faster to develop.</a:t>
            </a:r>
            <a:endParaRPr lang="en-US" sz="2000" dirty="0">
              <a:solidFill>
                <a:schemeClr val="tx1"/>
              </a:solidFill>
            </a:endParaRPr>
          </a:p>
          <a:p>
            <a:pPr algn="just">
              <a:lnSpc>
                <a:spcPct val="150000"/>
              </a:lnSpc>
              <a:spcAft>
                <a:spcPts val="1000"/>
              </a:spcAft>
            </a:pPr>
            <a:r>
              <a:rPr lang="en-US" sz="2000" dirty="0">
                <a:solidFill>
                  <a:schemeClr val="tx1"/>
                </a:solidFill>
              </a:rPr>
              <a:t>5.) It comprises fewer registers and more addressing nodes, typically 5 to 20.</a:t>
            </a:r>
            <a:endParaRPr lang="en-US" sz="1700" b="1" dirty="0">
              <a:solidFill>
                <a:schemeClr val="tx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529975"/>
          </a:xfrm>
        </p:spPr>
        <p:txBody>
          <a:bodyPr>
            <a:normAutofit/>
          </a:bodyPr>
          <a:lstStyle/>
          <a:p>
            <a:pPr algn="ctr"/>
            <a:r>
              <a:rPr lang="en-US" dirty="0">
                <a:solidFill>
                  <a:schemeClr val="tx1"/>
                </a:solidFill>
              </a:rPr>
              <a:t>Difference Between RISC And CISC</a:t>
            </a:r>
            <a:endParaRPr lang="en-IN" dirty="0">
              <a:solidFill>
                <a:schemeClr val="tx1"/>
              </a:solidFill>
            </a:endParaRPr>
          </a:p>
        </p:txBody>
      </p:sp>
      <p:pic>
        <p:nvPicPr>
          <p:cNvPr id="7" name="Picture 6"/>
          <p:cNvPicPr>
            <a:picLocks noChangeAspect="1"/>
          </p:cNvPicPr>
          <p:nvPr/>
        </p:nvPicPr>
        <p:blipFill>
          <a:blip r:embed="rId1"/>
          <a:stretch>
            <a:fillRect/>
          </a:stretch>
        </p:blipFill>
        <p:spPr>
          <a:xfrm>
            <a:off x="2276476" y="1259633"/>
            <a:ext cx="7610474" cy="5391150"/>
          </a:xfrm>
          <a:prstGeom prst="rect">
            <a:avLst/>
          </a:prstGeom>
        </p:spPr>
      </p:pic>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c="http://schemas.microsoft.com/office/infopath/2007/PartnerControls" xmlns:p="http://schemas.microsoft.com/office/2006/metadata/properties" xmlns:xsi="http://www.w3.org/2001/XMLSchema-instance">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ma:contentTypeName="Document" ma:versionID="a410dd7f93c95333ffa1b60ed6adedd1" ma:contentTypeDescription="Create a new document." ct:_="" ma:contentTypeVersion="12" ma:contentTypeScope="" ma:_="" ma:contentTypeID="0x01010079F111ED35F8CC479449609E8A0923A6">
  <xsd:schema xmlns:ns2="71af3243-3dd4-4a8d-8c0d-dd76da1f02a5" xmlns:ns3="16c05727-aa75-4e4a-9b5f-8a80a1165891" xmlns:xsd="http://www.w3.org/2001/XMLSchema" xmlns:xs="http://www.w3.org/2001/XMLSchema" xmlns:p="http://schemas.microsoft.com/office/2006/metadata/properties" targetNamespace="http://schemas.microsoft.com/office/2006/metadata/properties" ns2:_="" ma:root="true" ma:fieldsID="a936d9baba76aa3866493feff160faab" ns3:_="">
    <xsd:import namespace="71af3243-3dd4-4a8d-8c0d-dd76da1f02a5"/>
    <xsd:import namespace="16c05727-aa75-4e4a-9b5f-8a80a1165891"/>
    <xsd:element name="properties">
      <xsd:complexType>
        <xsd:sequence>
          <xsd:element name="documentManagement">
            <xsd:complexType>
              <xsd:all>
                <xsd:element minOccurs="0" ref="ns2:MediaServiceMetadata"/>
                <xsd:element minOccurs="0" ref="ns2:MediaServiceFastMetadata"/>
                <xsd:element minOccurs="0" ref="ns2:MediaServiceOCR"/>
                <xsd:element minOccurs="0" ref="ns2:MediaServiceAutoTags"/>
                <xsd:element minOccurs="0" ref="ns2:MediaServiceEventHashCode"/>
                <xsd:element minOccurs="0" ref="ns2:MediaServiceGenerationTime"/>
                <xsd:element minOccurs="0" ref="ns3:SharedWithUsers"/>
                <xsd:element minOccurs="0" ref="ns3:SharedWithDetails"/>
                <xsd:element minOccurs="0" ref="ns2:MediaServiceAutoKeyPoints"/>
                <xsd:element minOccurs="0" ref="ns2:MediaServiceKeyPoints"/>
                <xsd:element minOccurs="0" ref="ns2:MediaServiceDateTaken"/>
                <xsd:element minOccurs="0" ref="ns2:Status"/>
              </xsd:all>
            </xsd:complexType>
          </xsd:element>
        </xsd:sequence>
      </xsd:complexType>
    </xsd:element>
  </xsd:schema>
  <xsd:schema xmlns:pc="http://schemas.microsoft.com/office/infopath/2007/PartnerControls" xmlns:xsd="http://www.w3.org/2001/XMLSchema" xmlns:xs="http://www.w3.org/2001/XMLSchema" xmlns:dms="http://schemas.microsoft.com/office/2006/documentManagement/types" elementFormDefault="qualified" targetNamespace="71af3243-3dd4-4a8d-8c0d-dd76da1f02a5">
    <xsd:import namespace="http://schemas.microsoft.com/office/2006/documentManagement/types"/>
    <xsd:import namespace="http://schemas.microsoft.com/office/infopath/2007/PartnerControls"/>
    <xsd:element ma:internalName="MediaServiceMetadata" ma:index="8" name="MediaServiceMetadata" ma:hidden="true" ma:readOnly="true" nillable="true" ma:displayName="MediaServiceMetadata">
      <xsd:simpleType>
        <xsd:restriction base="dms:Note"/>
      </xsd:simpleType>
    </xsd:element>
    <xsd:element ma:internalName="MediaServiceFastMetadata" ma:index="9" name="MediaServiceFastMetadata" ma:hidden="true" ma:readOnly="true" nillable="true" ma:displayName="MediaServiceFastMetadata">
      <xsd:simpleType>
        <xsd:restriction base="dms:Note"/>
      </xsd:simpleType>
    </xsd:element>
    <xsd:element ma:internalName="MediaServiceOCR" ma:index="10" name="MediaServiceOCR" ma:readOnly="true" nillable="true" ma:displayName="MediaServiceOCR">
      <xsd:simpleType>
        <xsd:restriction base="dms:Note">
          <xsd:maxLength value="255"/>
        </xsd:restriction>
      </xsd:simpleType>
    </xsd:element>
    <xsd:element ma:internalName="MediaServiceAutoTags" ma:index="11" name="MediaServiceAutoTags" ma:readOnly="true" nillable="true" ma:displayName="MediaServiceAutoTags">
      <xsd:simpleType>
        <xsd:restriction base="dms:Text"/>
      </xsd:simpleType>
    </xsd:element>
    <xsd:element ma:internalName="MediaServiceEventHashCode" ma:index="12" name="MediaServiceEventHashCode" ma:hidden="true" ma:readOnly="true" nillable="true" ma:displayName="MediaServiceEventHashCode">
      <xsd:simpleType>
        <xsd:restriction base="dms:Text"/>
      </xsd:simpleType>
    </xsd:element>
    <xsd:element ma:internalName="MediaServiceGenerationTime" ma:index="13" name="MediaServiceGenerationTime" ma:hidden="true" ma:readOnly="true" nillable="true" ma:displayName="MediaServiceGenerationTime">
      <xsd:simpleType>
        <xsd:restriction base="dms:Text"/>
      </xsd:simpleType>
    </xsd:element>
    <xsd:element ma:internalName="MediaServiceAutoKeyPoints" ma:index="16" name="MediaServiceAutoKeyPoints" ma:hidden="true" ma:readOnly="true" nillable="true" ma:displayName="MediaServiceAutoKeyPoints">
      <xsd:simpleType>
        <xsd:restriction base="dms:Note"/>
      </xsd:simpleType>
    </xsd:element>
    <xsd:element ma:internalName="MediaServiceKeyPoints" ma:index="17" name="MediaServiceKeyPoints" ma:readOnly="false" nillable="true" ma:displayName="KeyPoints">
      <xsd:simpleType>
        <xsd:restriction base="dms:Note">
          <xsd:maxLength value="255"/>
        </xsd:restriction>
      </xsd:simpleType>
    </xsd:element>
    <xsd:element ma:internalName="MediaServiceDateTaken" ma:index="18" name="MediaServiceDateTaken" ma:hidden="true" ma:readOnly="true" nillable="true" ma:displayName="MediaServiceDateTaken">
      <xsd:simpleType>
        <xsd:restriction base="dms:Text"/>
      </xsd:simpleType>
    </xsd:element>
    <xsd:element ma:internalName="Status" ma:index="19" ma:format="Dropdown" name="Status" ma:default="Not started" nillable="true" ma:displayName="Status">
      <xsd:simpleType>
        <xsd:restriction base="dms:Choice">
          <xsd:enumeration value="Not started"/>
          <xsd:enumeration value="In Progress"/>
          <xsd:enumeration value="Completed"/>
        </xsd:restriction>
      </xsd:simpleType>
    </xsd:element>
  </xsd:schema>
  <xsd:schema xmlns:pc="http://schemas.microsoft.com/office/infopath/2007/PartnerControls" xmlns:xsd="http://www.w3.org/2001/XMLSchema" xmlns:xs="http://www.w3.org/2001/XMLSchema" xmlns:dms="http://schemas.microsoft.com/office/2006/documentManagement/types" elementFormDefault="qualified" targetNamespace="16c05727-aa75-4e4a-9b5f-8a80a1165891">
    <xsd:import namespace="http://schemas.microsoft.com/office/2006/documentManagement/types"/>
    <xsd:import namespace="http://schemas.microsoft.com/office/infopath/2007/PartnerControls"/>
    <xsd:element ma:internalName="SharedWithUsers" ma:index="14" name="SharedWithUsers" ma:readOnly="true" nillable="true" ma:displayName="Shared With">
      <xsd:complexType>
        <xsd:complexContent>
          <xsd:extension base="dms:UserMulti">
            <xsd:sequence>
              <xsd:element name="UserInfo" maxOccurs="unbounded" minOccurs="0">
                <xsd:complexType>
                  <xsd:sequence>
                    <xsd:element name="DisplayName" minOccurs="0" type="xsd:string"/>
                    <xsd:element name="AccountId" minOccurs="0" type="dms:UserId" nillable="true"/>
                    <xsd:element name="AccountType" minOccurs="0" type="xsd:string"/>
                  </xsd:sequence>
                </xsd:complexType>
              </xsd:element>
            </xsd:sequence>
          </xsd:extension>
        </xsd:complexContent>
      </xsd:complexType>
    </xsd:element>
    <xsd:element ma:internalName="SharedWithDetails" ma:index="15" name="SharedWithDetails" ma:readOnly="true" nillable="true" ma:displayName="Shared With Details">
      <xsd:simpleType>
        <xsd:restriction base="dms:Note">
          <xsd:maxLength value="255"/>
        </xsd:restriction>
      </xsd:simpleType>
    </xsd:element>
  </xsd:schema>
  <xsd:schema xmlns:dc="http://purl.org/dc/elements/1.1/" xmlns:odoc="http://schemas.microsoft.com/internal/obd" xmlns="http://schemas.openxmlformats.org/package/2006/metadata/core-properties" xmlns:xsd="http://www.w3.org/2001/XMLSchema" xmlns:dcterms="http://purl.org/dc/terms/" xmlns:xsi="http://www.w3.org/2001/XMLSchema-instance" elementFormDefault="qualified" blockDefault="#all" targetNamespace="http://schemas.openxmlformats.org/package/2006/metadata/core-properties" attributeFormDefault="unqualified">
    <xsd:import schemaLocation="http://dublincore.org/schemas/xmls/qdc/2003/04/02/dc.xsd" namespace="http://purl.org/dc/elements/1.1/"/>
    <xsd:import schemaLocation="http://dublincore.org/schemas/xmls/qdc/2003/04/02/dcterms.xsd" namespace="http://purl.org/dc/terms/"/>
    <xsd:element name="coreProperties" type="CT_coreProperties"/>
    <xsd:complexType name="CT_coreProperties">
      <xsd:all>
        <xsd:element maxOccurs="1" minOccurs="0" ref="dc:creator"/>
        <xsd:element maxOccurs="1" minOccurs="0" ref="dcterms:created"/>
        <xsd:element maxOccurs="1" minOccurs="0" ref="dc:identifier"/>
        <xsd:element ma:index="0" name="contentType" maxOccurs="1" minOccurs="0" type="xsd:string" ma:displayName="Content Type"/>
        <xsd:element ma:index="4" maxOccurs="1" minOccurs="0" ref="dc:title" ma:displayName="Title"/>
        <xsd:element maxOccurs="1" minOccurs="0" ref="dc:subject"/>
        <xsd:element maxOccurs="1" minOccurs="0" ref="dc:description"/>
        <xsd:element name="keywords" maxOccurs="1" minOccurs="0" type="xsd:string"/>
        <xsd:element maxOccurs="1" minOccurs="0" ref="dc:language"/>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maxOccurs="1" minOccurs="0" ref="dcterms:modified"/>
        <xsd:element name="contentStatus" maxOccurs="1" minOccurs="0" type="xsd:string"/>
      </xsd:all>
    </xsd:complexType>
  </xsd:schema>
  <xs:schema xmlns:pc="http://schemas.microsoft.com/office/infopath/2007/PartnerControls" xmlns:xs="http://www.w3.org/2001/XMLSchema" elementFormDefault="qualified" targetNamespace="http://schemas.microsoft.com/office/infopath/2007/PartnerControls" attributeFormDefault="un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41E7CA09-9778-4414-AE97-8064B12DA30E}">
  <ds:schemaRefs/>
</ds:datastoreItem>
</file>

<file path=customXml/itemProps3.xml><?xml version="1.0" encoding="utf-8"?>
<ds:datastoreItem xmlns:ds="http://schemas.openxmlformats.org/officeDocument/2006/customXml" ds:itemID="{927BD4C1-B6B1-4715-ABF9-E660A51A4EA0}">
  <ds:schemaRefs/>
</ds:datastoreItem>
</file>

<file path=docProps/app.xml><?xml version="1.0" encoding="utf-8"?>
<Properties xmlns="http://schemas.openxmlformats.org/officeDocument/2006/extended-properties" xmlns:vt="http://schemas.openxmlformats.org/officeDocument/2006/docPropsVTypes">
  <Template>{2411A837-5673-435A-A064-DF4DA52C5F02}tf33552983_win32</Template>
  <TotalTime>0</TotalTime>
  <Words>36444</Words>
  <Application>WPS Presentation</Application>
  <PresentationFormat>Widescreen</PresentationFormat>
  <Paragraphs>1485</Paragraphs>
  <Slides>75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75</vt:i4>
      </vt:variant>
    </vt:vector>
  </HeadingPairs>
  <TitlesOfParts>
    <vt:vector size="93" baseType="lpstr">
      <vt:lpstr>Arial</vt:lpstr>
      <vt:lpstr>SimSun</vt:lpstr>
      <vt:lpstr>Wingdings</vt:lpstr>
      <vt:lpstr>Wingdings 2</vt:lpstr>
      <vt:lpstr>Franklin Gothic Book</vt:lpstr>
      <vt:lpstr>苹方-简</vt:lpstr>
      <vt:lpstr>Muli</vt:lpstr>
      <vt:lpstr>Thonburi</vt:lpstr>
      <vt:lpstr>Franklin Gothic Demi</vt:lpstr>
      <vt:lpstr>Microsoft YaHei</vt:lpstr>
      <vt:lpstr>汉仪旗黑</vt:lpstr>
      <vt:lpstr>Arial Unicode MS</vt:lpstr>
      <vt:lpstr>Calibri</vt:lpstr>
      <vt:lpstr>Helvetica Neue</vt:lpstr>
      <vt:lpstr>Avenir Next LT Pro Light</vt:lpstr>
      <vt:lpstr>var(--app-font)</vt:lpstr>
      <vt:lpstr>宋体-简</vt:lpstr>
      <vt:lpstr>DividendVTI</vt:lpstr>
      <vt:lpstr>Central Processing Unit</vt:lpstr>
      <vt:lpstr>Content</vt:lpstr>
      <vt:lpstr>1. General register organization</vt:lpstr>
      <vt:lpstr>Introduction</vt:lpstr>
      <vt:lpstr>Introduction</vt:lpstr>
      <vt:lpstr>General Register Organization</vt:lpstr>
      <vt:lpstr>General Register Organization</vt:lpstr>
      <vt:lpstr>A Bus organization for seven CPU registers</vt:lpstr>
      <vt:lpstr>Control Word Format</vt:lpstr>
      <vt:lpstr>Control Word Format</vt:lpstr>
      <vt:lpstr>Micro-Operations at ALU</vt:lpstr>
      <vt:lpstr>2. Stack organization</vt:lpstr>
      <vt:lpstr>Stack organization</vt:lpstr>
      <vt:lpstr>Stack in Computer architecture</vt:lpstr>
      <vt:lpstr>Register Stack Organization</vt:lpstr>
      <vt:lpstr>Register Stack Organization</vt:lpstr>
      <vt:lpstr>Register Stack Organization</vt:lpstr>
      <vt:lpstr>Memory Stack Organization</vt:lpstr>
      <vt:lpstr>memory Stack Organization</vt:lpstr>
      <vt:lpstr>Reverse Polish Notation</vt:lpstr>
      <vt:lpstr>Reverse Polish Notation</vt:lpstr>
      <vt:lpstr>Evaluation of Arithmetic Expression</vt:lpstr>
      <vt:lpstr>Evaluation of Arithmetic Expression</vt:lpstr>
      <vt:lpstr>Processor Organization</vt:lpstr>
      <vt:lpstr>3. Instruction format </vt:lpstr>
      <vt:lpstr>Instruction Format</vt:lpstr>
      <vt:lpstr> CPU Organization</vt:lpstr>
      <vt:lpstr>Instruction Format Representation</vt:lpstr>
      <vt:lpstr>Instruction Format Type</vt:lpstr>
      <vt:lpstr> ZERO (0) ADDRESS INSTRUCTION FORMAT</vt:lpstr>
      <vt:lpstr>ONE (1) ADDRESS INSTRUCTION FORMAT</vt:lpstr>
      <vt:lpstr>TWO (2) ADDRESS INSTRUCTION FORMAT</vt:lpstr>
      <vt:lpstr>THREE (3) ADDRESS INSTRUCTION FORMAT</vt:lpstr>
      <vt:lpstr>4. Addressing Modes</vt:lpstr>
      <vt:lpstr>Addressing modes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Applications of Addressing modes</vt:lpstr>
      <vt:lpstr>Advantages of Addressing modes</vt:lpstr>
      <vt:lpstr>Example: Addressing modes</vt:lpstr>
      <vt:lpstr>PowerPoint 演示文稿</vt:lpstr>
      <vt:lpstr>5. Data transfer and manipulation</vt:lpstr>
      <vt:lpstr>Introduction</vt:lpstr>
      <vt:lpstr>Types of Instructions</vt:lpstr>
      <vt:lpstr>Data Transfer Instructions</vt:lpstr>
      <vt:lpstr>Data Transfer Instructions </vt:lpstr>
      <vt:lpstr>Data Manipulation Instructions</vt:lpstr>
      <vt:lpstr>1. Arithmetic Instructions</vt:lpstr>
      <vt:lpstr>2. Logical and bit manipulation instructions </vt:lpstr>
      <vt:lpstr>3. Shift instructions </vt:lpstr>
      <vt:lpstr>6. Program Control</vt:lpstr>
      <vt:lpstr>Program control Instructions</vt:lpstr>
      <vt:lpstr>Program control Instructions</vt:lpstr>
      <vt:lpstr>Program control Instructions</vt:lpstr>
      <vt:lpstr>Status Bit Conditions/ Flag, Processor Status Word</vt:lpstr>
      <vt:lpstr>Status Bit Conditions/ Flag, Processor Status Word</vt:lpstr>
      <vt:lpstr>1. Conditional Branch Instructions</vt:lpstr>
      <vt:lpstr>2. SUBROUTINE CALL AND RETURN</vt:lpstr>
      <vt:lpstr>2. SUBROUTINE CALL AND RETURN</vt:lpstr>
      <vt:lpstr>2. SUBROUTINE CALL AND RETURN</vt:lpstr>
      <vt:lpstr>3. Program Interrupt</vt:lpstr>
      <vt:lpstr>3. Program Interrupt</vt:lpstr>
      <vt:lpstr>3. Interrupt Procedure</vt:lpstr>
      <vt:lpstr>7. RISC, and CISC</vt:lpstr>
      <vt:lpstr>Reduced Instruction Set Computer Processor (RISC)</vt:lpstr>
      <vt:lpstr>Features of RISC Processor </vt:lpstr>
      <vt:lpstr>Complex Instruction Set Computer (CISC)</vt:lpstr>
      <vt:lpstr>Features of CISC Processor </vt:lpstr>
      <vt:lpstr>Difference Between RISC And CISC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Processing Unit</dc:title>
  <dc:creator>ANCHIT LAKHANPAL</dc:creator>
  <cp:lastModifiedBy>mehulgupta</cp:lastModifiedBy>
  <cp:revision>69</cp:revision>
  <dcterms:created xsi:type="dcterms:W3CDTF">2025-12-16T11:49:18Z</dcterms:created>
  <dcterms:modified xsi:type="dcterms:W3CDTF">2025-12-16T11:49:18Z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FA8EE9F6969362CC3E4741693DB28F0A_42</vt:lpwstr>
  </property>
  <property fmtid="{D5CDD505-2E9C-101B-9397-08002B2CF9AE}" pid="4" name="KSOProductBuildVer">
    <vt:lpwstr>1033-12.1.22533.22533</vt:lpwstr>
  </property>
</Properties>
</file>