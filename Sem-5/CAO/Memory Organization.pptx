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0" dirty="0"/>
              <a:t>C</a:t>
            </a:r>
            <a:r>
              <a:rPr spc="-15" dirty="0"/>
              <a:t>o</a:t>
            </a:r>
            <a:r>
              <a:rPr spc="-5" dirty="0"/>
              <a:t>m</a:t>
            </a:r>
            <a:r>
              <a:rPr spc="-20" dirty="0"/>
              <a:t>pu</a:t>
            </a:r>
            <a:r>
              <a:rPr spc="-15" dirty="0"/>
              <a:t>te</a:t>
            </a:r>
            <a:r>
              <a:rPr spc="-5" dirty="0"/>
              <a:t>r</a:t>
            </a:r>
            <a:r>
              <a:rPr spc="-114" dirty="0"/>
              <a:t> </a:t>
            </a:r>
            <a:r>
              <a:rPr spc="-10" dirty="0"/>
              <a:t>A</a:t>
            </a:r>
            <a:r>
              <a:rPr spc="5" dirty="0"/>
              <a:t>r</a:t>
            </a:r>
            <a:r>
              <a:rPr spc="-15" dirty="0"/>
              <a:t>c</a:t>
            </a:r>
            <a:r>
              <a:rPr spc="-20" dirty="0"/>
              <a:t>h</a:t>
            </a:r>
            <a:r>
              <a:rPr spc="-5" dirty="0"/>
              <a:t>i</a:t>
            </a:r>
            <a:r>
              <a:rPr spc="-20" dirty="0"/>
              <a:t>t</a:t>
            </a:r>
            <a:r>
              <a:rPr spc="-15" dirty="0"/>
              <a:t>ect</a:t>
            </a:r>
            <a:r>
              <a:rPr spc="-20" dirty="0"/>
              <a:t>u</a:t>
            </a:r>
            <a:r>
              <a:rPr dirty="0"/>
              <a:t>r</a:t>
            </a:r>
            <a:r>
              <a:rPr spc="-15" dirty="0"/>
              <a:t>e</a:t>
            </a:r>
            <a:r>
              <a:rPr spc="-5" dirty="0"/>
              <a:t>s</a:t>
            </a:r>
            <a:r>
              <a:rPr spc="-6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-5" dirty="0"/>
              <a:t>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5" dirty="0"/>
              <a:t>Computer</a:t>
            </a:r>
            <a:r>
              <a:rPr spc="-7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0" dirty="0"/>
              <a:t>C</a:t>
            </a:r>
            <a:r>
              <a:rPr spc="-15" dirty="0"/>
              <a:t>o</a:t>
            </a:r>
            <a:r>
              <a:rPr spc="-5" dirty="0"/>
              <a:t>m</a:t>
            </a:r>
            <a:r>
              <a:rPr spc="-20" dirty="0"/>
              <a:t>pu</a:t>
            </a:r>
            <a:r>
              <a:rPr spc="-15" dirty="0"/>
              <a:t>te</a:t>
            </a:r>
            <a:r>
              <a:rPr spc="-5" dirty="0"/>
              <a:t>r</a:t>
            </a:r>
            <a:r>
              <a:rPr spc="-114" dirty="0"/>
              <a:t> </a:t>
            </a:r>
            <a:r>
              <a:rPr spc="-10" dirty="0"/>
              <a:t>A</a:t>
            </a:r>
            <a:r>
              <a:rPr spc="5" dirty="0"/>
              <a:t>r</a:t>
            </a:r>
            <a:r>
              <a:rPr spc="-15" dirty="0"/>
              <a:t>c</a:t>
            </a:r>
            <a:r>
              <a:rPr spc="-20" dirty="0"/>
              <a:t>h</a:t>
            </a:r>
            <a:r>
              <a:rPr spc="-5" dirty="0"/>
              <a:t>i</a:t>
            </a:r>
            <a:r>
              <a:rPr spc="-20" dirty="0"/>
              <a:t>t</a:t>
            </a:r>
            <a:r>
              <a:rPr spc="-15" dirty="0"/>
              <a:t>ect</a:t>
            </a:r>
            <a:r>
              <a:rPr spc="-20" dirty="0"/>
              <a:t>u</a:t>
            </a:r>
            <a:r>
              <a:rPr dirty="0"/>
              <a:t>r</a:t>
            </a:r>
            <a:r>
              <a:rPr spc="-15" dirty="0"/>
              <a:t>e</a:t>
            </a:r>
            <a:r>
              <a:rPr spc="-5" dirty="0"/>
              <a:t>s</a:t>
            </a:r>
            <a:r>
              <a:rPr spc="-6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-5" dirty="0"/>
              <a:t>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5" dirty="0"/>
              <a:t>Computer</a:t>
            </a:r>
            <a:r>
              <a:rPr spc="-7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0" dirty="0"/>
              <a:t>C</a:t>
            </a:r>
            <a:r>
              <a:rPr spc="-15" dirty="0"/>
              <a:t>o</a:t>
            </a:r>
            <a:r>
              <a:rPr spc="-5" dirty="0"/>
              <a:t>m</a:t>
            </a:r>
            <a:r>
              <a:rPr spc="-20" dirty="0"/>
              <a:t>pu</a:t>
            </a:r>
            <a:r>
              <a:rPr spc="-15" dirty="0"/>
              <a:t>te</a:t>
            </a:r>
            <a:r>
              <a:rPr spc="-5" dirty="0"/>
              <a:t>r</a:t>
            </a:r>
            <a:r>
              <a:rPr spc="-114" dirty="0"/>
              <a:t> </a:t>
            </a:r>
            <a:r>
              <a:rPr spc="-10" dirty="0"/>
              <a:t>A</a:t>
            </a:r>
            <a:r>
              <a:rPr spc="5" dirty="0"/>
              <a:t>r</a:t>
            </a:r>
            <a:r>
              <a:rPr spc="-15" dirty="0"/>
              <a:t>c</a:t>
            </a:r>
            <a:r>
              <a:rPr spc="-20" dirty="0"/>
              <a:t>h</a:t>
            </a:r>
            <a:r>
              <a:rPr spc="-5" dirty="0"/>
              <a:t>i</a:t>
            </a:r>
            <a:r>
              <a:rPr spc="-20" dirty="0"/>
              <a:t>t</a:t>
            </a:r>
            <a:r>
              <a:rPr spc="-15" dirty="0"/>
              <a:t>ect</a:t>
            </a:r>
            <a:r>
              <a:rPr spc="-20" dirty="0"/>
              <a:t>u</a:t>
            </a:r>
            <a:r>
              <a:rPr dirty="0"/>
              <a:t>r</a:t>
            </a:r>
            <a:r>
              <a:rPr spc="-15" dirty="0"/>
              <a:t>e</a:t>
            </a:r>
            <a:r>
              <a:rPr spc="-5" dirty="0"/>
              <a:t>s</a:t>
            </a:r>
            <a:r>
              <a:rPr spc="-6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-5" dirty="0"/>
              <a:t>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5" dirty="0"/>
              <a:t>Computer</a:t>
            </a:r>
            <a:r>
              <a:rPr spc="-7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0" dirty="0"/>
              <a:t>C</a:t>
            </a:r>
            <a:r>
              <a:rPr spc="-15" dirty="0"/>
              <a:t>o</a:t>
            </a:r>
            <a:r>
              <a:rPr spc="-5" dirty="0"/>
              <a:t>m</a:t>
            </a:r>
            <a:r>
              <a:rPr spc="-20" dirty="0"/>
              <a:t>pu</a:t>
            </a:r>
            <a:r>
              <a:rPr spc="-15" dirty="0"/>
              <a:t>te</a:t>
            </a:r>
            <a:r>
              <a:rPr spc="-5" dirty="0"/>
              <a:t>r</a:t>
            </a:r>
            <a:r>
              <a:rPr spc="-114" dirty="0"/>
              <a:t> </a:t>
            </a:r>
            <a:r>
              <a:rPr spc="-10" dirty="0"/>
              <a:t>A</a:t>
            </a:r>
            <a:r>
              <a:rPr spc="5" dirty="0"/>
              <a:t>r</a:t>
            </a:r>
            <a:r>
              <a:rPr spc="-15" dirty="0"/>
              <a:t>c</a:t>
            </a:r>
            <a:r>
              <a:rPr spc="-20" dirty="0"/>
              <a:t>h</a:t>
            </a:r>
            <a:r>
              <a:rPr spc="-5" dirty="0"/>
              <a:t>i</a:t>
            </a:r>
            <a:r>
              <a:rPr spc="-20" dirty="0"/>
              <a:t>t</a:t>
            </a:r>
            <a:r>
              <a:rPr spc="-15" dirty="0"/>
              <a:t>ect</a:t>
            </a:r>
            <a:r>
              <a:rPr spc="-20" dirty="0"/>
              <a:t>u</a:t>
            </a:r>
            <a:r>
              <a:rPr dirty="0"/>
              <a:t>r</a:t>
            </a:r>
            <a:r>
              <a:rPr spc="-15" dirty="0"/>
              <a:t>e</a:t>
            </a:r>
            <a:r>
              <a:rPr spc="-5" dirty="0"/>
              <a:t>s</a:t>
            </a:r>
            <a:r>
              <a:rPr spc="-6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-5" dirty="0"/>
              <a:t>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5" dirty="0"/>
              <a:t>Computer</a:t>
            </a:r>
            <a:r>
              <a:rPr spc="-7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0" dirty="0"/>
              <a:t>C</a:t>
            </a:r>
            <a:r>
              <a:rPr spc="-15" dirty="0"/>
              <a:t>o</a:t>
            </a:r>
            <a:r>
              <a:rPr spc="-5" dirty="0"/>
              <a:t>m</a:t>
            </a:r>
            <a:r>
              <a:rPr spc="-20" dirty="0"/>
              <a:t>pu</a:t>
            </a:r>
            <a:r>
              <a:rPr spc="-15" dirty="0"/>
              <a:t>te</a:t>
            </a:r>
            <a:r>
              <a:rPr spc="-5" dirty="0"/>
              <a:t>r</a:t>
            </a:r>
            <a:r>
              <a:rPr spc="-114" dirty="0"/>
              <a:t> </a:t>
            </a:r>
            <a:r>
              <a:rPr spc="-10" dirty="0"/>
              <a:t>A</a:t>
            </a:r>
            <a:r>
              <a:rPr spc="5" dirty="0"/>
              <a:t>r</a:t>
            </a:r>
            <a:r>
              <a:rPr spc="-15" dirty="0"/>
              <a:t>c</a:t>
            </a:r>
            <a:r>
              <a:rPr spc="-20" dirty="0"/>
              <a:t>h</a:t>
            </a:r>
            <a:r>
              <a:rPr spc="-5" dirty="0"/>
              <a:t>i</a:t>
            </a:r>
            <a:r>
              <a:rPr spc="-20" dirty="0"/>
              <a:t>t</a:t>
            </a:r>
            <a:r>
              <a:rPr spc="-15" dirty="0"/>
              <a:t>ect</a:t>
            </a:r>
            <a:r>
              <a:rPr spc="-20" dirty="0"/>
              <a:t>u</a:t>
            </a:r>
            <a:r>
              <a:rPr dirty="0"/>
              <a:t>r</a:t>
            </a:r>
            <a:r>
              <a:rPr spc="-15" dirty="0"/>
              <a:t>e</a:t>
            </a:r>
            <a:r>
              <a:rPr spc="-5" dirty="0"/>
              <a:t>s</a:t>
            </a:r>
            <a:r>
              <a:rPr spc="-6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-5" dirty="0"/>
              <a:t>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5" dirty="0"/>
              <a:t>Computer</a:t>
            </a:r>
            <a:r>
              <a:rPr spc="-7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5545" y="282702"/>
            <a:ext cx="697290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458" y="3250514"/>
            <a:ext cx="8419083" cy="2987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54545" y="6592298"/>
            <a:ext cx="238061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0" dirty="0"/>
              <a:t>C</a:t>
            </a:r>
            <a:r>
              <a:rPr spc="-15" dirty="0"/>
              <a:t>o</a:t>
            </a:r>
            <a:r>
              <a:rPr spc="-5" dirty="0"/>
              <a:t>m</a:t>
            </a:r>
            <a:r>
              <a:rPr spc="-20" dirty="0"/>
              <a:t>pu</a:t>
            </a:r>
            <a:r>
              <a:rPr spc="-15" dirty="0"/>
              <a:t>te</a:t>
            </a:r>
            <a:r>
              <a:rPr spc="-5" dirty="0"/>
              <a:t>r</a:t>
            </a:r>
            <a:r>
              <a:rPr spc="-114" dirty="0"/>
              <a:t> </a:t>
            </a:r>
            <a:r>
              <a:rPr spc="-10" dirty="0"/>
              <a:t>A</a:t>
            </a:r>
            <a:r>
              <a:rPr spc="5" dirty="0"/>
              <a:t>r</a:t>
            </a:r>
            <a:r>
              <a:rPr spc="-15" dirty="0"/>
              <a:t>c</a:t>
            </a:r>
            <a:r>
              <a:rPr spc="-20" dirty="0"/>
              <a:t>h</a:t>
            </a:r>
            <a:r>
              <a:rPr spc="-5" dirty="0"/>
              <a:t>i</a:t>
            </a:r>
            <a:r>
              <a:rPr spc="-20" dirty="0"/>
              <a:t>t</a:t>
            </a:r>
            <a:r>
              <a:rPr spc="-15" dirty="0"/>
              <a:t>ect</a:t>
            </a:r>
            <a:r>
              <a:rPr spc="-20" dirty="0"/>
              <a:t>u</a:t>
            </a:r>
            <a:r>
              <a:rPr dirty="0"/>
              <a:t>r</a:t>
            </a:r>
            <a:r>
              <a:rPr spc="-15" dirty="0"/>
              <a:t>e</a:t>
            </a:r>
            <a:r>
              <a:rPr spc="-5" dirty="0"/>
              <a:t>s</a:t>
            </a:r>
            <a:r>
              <a:rPr spc="-6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-5" dirty="0"/>
              <a:t>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0868" y="6624301"/>
            <a:ext cx="197802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39"/>
              </a:lnSpc>
            </a:pPr>
            <a:r>
              <a:rPr spc="-15" dirty="0"/>
              <a:t>Computer</a:t>
            </a:r>
            <a:r>
              <a:rPr spc="-7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image" Target="../media/image5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4" y="257935"/>
            <a:ext cx="8915400" cy="6081159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61413" y="1578355"/>
            <a:ext cx="3604260" cy="308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6210" algn="l"/>
              </a:tabLst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Hierarchy</a:t>
            </a:r>
            <a:endParaRPr sz="1800">
              <a:latin typeface="Arial"/>
              <a:cs typeface="Arial"/>
            </a:endParaRPr>
          </a:p>
          <a:p>
            <a:pPr marL="155575" indent="-143510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156210" algn="l"/>
              </a:tabLst>
            </a:pPr>
            <a:r>
              <a:rPr sz="1800" b="1" dirty="0">
                <a:latin typeface="Arial"/>
                <a:cs typeface="Arial"/>
              </a:rPr>
              <a:t>Main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146685" indent="-134620">
              <a:lnSpc>
                <a:spcPct val="100000"/>
              </a:lnSpc>
              <a:spcBef>
                <a:spcPts val="1510"/>
              </a:spcBef>
              <a:buFont typeface="Arial MT"/>
              <a:buChar char="•"/>
              <a:tabLst>
                <a:tab pos="147320" algn="l"/>
              </a:tabLst>
            </a:pPr>
            <a:r>
              <a:rPr sz="1800" b="1" spc="-5" dirty="0">
                <a:latin typeface="Arial"/>
                <a:cs typeface="Arial"/>
              </a:rPr>
              <a:t>Auxiliary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146685" indent="-134620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147320" algn="l"/>
              </a:tabLst>
            </a:pPr>
            <a:r>
              <a:rPr sz="1800" b="1" spc="-5" dirty="0">
                <a:latin typeface="Arial"/>
                <a:cs typeface="Arial"/>
              </a:rPr>
              <a:t>Associative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155575" indent="-143510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156210" algn="l"/>
              </a:tabLst>
            </a:pPr>
            <a:r>
              <a:rPr sz="1800" b="1" spc="-5" dirty="0">
                <a:latin typeface="Arial"/>
                <a:cs typeface="Arial"/>
              </a:rPr>
              <a:t>Ca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he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em</a:t>
            </a:r>
            <a:r>
              <a:rPr sz="1800" b="1" spc="-5" dirty="0">
                <a:latin typeface="Arial"/>
                <a:cs typeface="Arial"/>
              </a:rPr>
              <a:t>ory</a:t>
            </a:r>
            <a:endParaRPr sz="1800">
              <a:latin typeface="Arial"/>
              <a:cs typeface="Arial"/>
            </a:endParaRPr>
          </a:p>
          <a:p>
            <a:pPr marL="155575" indent="-143510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156210" algn="l"/>
              </a:tabLst>
            </a:pPr>
            <a:r>
              <a:rPr sz="1800" b="1" spc="-30" dirty="0">
                <a:latin typeface="Arial"/>
                <a:cs typeface="Arial"/>
              </a:rPr>
              <a:t>V</a:t>
            </a:r>
            <a:r>
              <a:rPr sz="1800" b="1" dirty="0">
                <a:latin typeface="Arial"/>
                <a:cs typeface="Arial"/>
              </a:rPr>
              <a:t>irtual</a:t>
            </a:r>
            <a:r>
              <a:rPr sz="1800" b="1" spc="-1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emory</a:t>
            </a:r>
            <a:endParaRPr sz="1800">
              <a:latin typeface="Arial"/>
              <a:cs typeface="Arial"/>
            </a:endParaRPr>
          </a:p>
          <a:p>
            <a:pPr marL="155575" indent="-143510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156210" algn="l"/>
              </a:tabLst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Management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77452" y="497685"/>
            <a:ext cx="3906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5115" algn="l"/>
              </a:tabLst>
            </a:pPr>
            <a:r>
              <a:rPr u="sng" spc="-5" dirty="0"/>
              <a:t>MEMORY	</a:t>
            </a:r>
            <a:r>
              <a:rPr u="sng" spc="-15" dirty="0"/>
              <a:t>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97251" y="272922"/>
            <a:ext cx="3360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1940" algn="l"/>
              </a:tabLst>
            </a:pPr>
            <a:r>
              <a:rPr sz="2400" b="1" u="sng" spc="-25" dirty="0">
                <a:latin typeface="Arial"/>
                <a:cs typeface="Arial"/>
              </a:rPr>
              <a:t>MEMORY	</a:t>
            </a:r>
            <a:r>
              <a:rPr sz="2400" b="1" u="sng" spc="-20" dirty="0">
                <a:latin typeface="Arial"/>
                <a:cs typeface="Arial"/>
              </a:rPr>
              <a:t>HIERARCHY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6255" y="1920239"/>
            <a:ext cx="1152525" cy="36576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R="66040" algn="ctr">
              <a:lnSpc>
                <a:spcPts val="1370"/>
              </a:lnSpc>
              <a:spcBef>
                <a:spcPts val="135"/>
              </a:spcBef>
            </a:pPr>
            <a:r>
              <a:rPr sz="1200" b="1" spc="-5" dirty="0">
                <a:latin typeface="Arial"/>
                <a:cs typeface="Arial"/>
              </a:rPr>
              <a:t>Magnetic</a:t>
            </a:r>
            <a:endParaRPr sz="1200">
              <a:latin typeface="Arial"/>
              <a:cs typeface="Arial"/>
            </a:endParaRPr>
          </a:p>
          <a:p>
            <a:pPr marR="32384" algn="ctr">
              <a:lnSpc>
                <a:spcPts val="1370"/>
              </a:lnSpc>
            </a:pPr>
            <a:r>
              <a:rPr sz="1200" b="1" dirty="0">
                <a:latin typeface="Arial"/>
                <a:cs typeface="Arial"/>
              </a:rPr>
              <a:t>tapes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6255" y="2420111"/>
            <a:ext cx="1152525" cy="35687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208915">
              <a:lnSpc>
                <a:spcPts val="1320"/>
              </a:lnSpc>
              <a:spcBef>
                <a:spcPts val="130"/>
              </a:spcBef>
            </a:pPr>
            <a:r>
              <a:rPr sz="1200" b="1" spc="-5" dirty="0">
                <a:latin typeface="Arial"/>
                <a:cs typeface="Arial"/>
              </a:rPr>
              <a:t>Magnetic</a:t>
            </a:r>
            <a:endParaRPr sz="1200">
              <a:latin typeface="Arial"/>
              <a:cs typeface="Arial"/>
            </a:endParaRPr>
          </a:p>
          <a:p>
            <a:pPr marL="382270">
              <a:lnSpc>
                <a:spcPts val="1320"/>
              </a:lnSpc>
            </a:pPr>
            <a:r>
              <a:rPr sz="1200" b="1" dirty="0">
                <a:latin typeface="Arial"/>
                <a:cs typeface="Arial"/>
              </a:rPr>
              <a:t>disks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46120" y="1950720"/>
            <a:ext cx="1149350" cy="63436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Times New Roman"/>
              <a:cs typeface="Times New Roman"/>
            </a:endParaRPr>
          </a:p>
          <a:p>
            <a:pPr marL="158115" marR="244475" indent="310515">
              <a:lnSpc>
                <a:spcPts val="1300"/>
              </a:lnSpc>
            </a:pPr>
            <a:r>
              <a:rPr sz="1200" b="1" spc="-10" dirty="0">
                <a:latin typeface="Arial"/>
                <a:cs typeface="Arial"/>
              </a:rPr>
              <a:t>I/O 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cess</a:t>
            </a:r>
            <a:r>
              <a:rPr sz="1200" b="1" spc="-15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6120" y="2764535"/>
            <a:ext cx="1149350" cy="64643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337820">
              <a:lnSpc>
                <a:spcPct val="100000"/>
              </a:lnSpc>
              <a:spcBef>
                <a:spcPts val="795"/>
              </a:spcBef>
            </a:pPr>
            <a:r>
              <a:rPr sz="1200" b="1" spc="-10" dirty="0">
                <a:latin typeface="Arial"/>
                <a:cs typeface="Arial"/>
              </a:rPr>
              <a:t>CPU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2342" y="3042665"/>
            <a:ext cx="9791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835" algn="l"/>
              </a:tabLst>
            </a:pP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64479" y="1950720"/>
            <a:ext cx="1085215" cy="63436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237490" marR="248920" indent="91440">
              <a:lnSpc>
                <a:spcPts val="1200"/>
              </a:lnSpc>
            </a:pPr>
            <a:r>
              <a:rPr sz="1200" b="1" spc="-5" dirty="0">
                <a:latin typeface="Arial"/>
                <a:cs typeface="Arial"/>
              </a:rPr>
              <a:t>Main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2120" y="2987039"/>
            <a:ext cx="765175" cy="36576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81280" marR="85090" indent="57785">
              <a:lnSpc>
                <a:spcPct val="78300"/>
              </a:lnSpc>
              <a:spcBef>
                <a:spcPts val="445"/>
              </a:spcBef>
            </a:pPr>
            <a:r>
              <a:rPr sz="1200" b="1" spc="-5" dirty="0">
                <a:latin typeface="Arial"/>
                <a:cs typeface="Arial"/>
              </a:rPr>
              <a:t>Cache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3030" y="1713738"/>
            <a:ext cx="1294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-5" dirty="0">
                <a:latin typeface="Arial"/>
                <a:cs typeface="Arial"/>
              </a:rPr>
              <a:t>x</a:t>
            </a:r>
            <a:r>
              <a:rPr sz="1200" b="1" dirty="0">
                <a:latin typeface="Arial"/>
                <a:cs typeface="Arial"/>
              </a:rPr>
              <a:t>il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59735" y="2121407"/>
            <a:ext cx="3508375" cy="1109980"/>
            <a:chOff x="2459735" y="2121407"/>
            <a:chExt cx="3508375" cy="110998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5911" y="2148839"/>
              <a:ext cx="134112" cy="731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9735" y="2148839"/>
              <a:ext cx="134112" cy="7315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572511" y="2182367"/>
              <a:ext cx="570230" cy="0"/>
            </a:xfrm>
            <a:custGeom>
              <a:avLst/>
              <a:gdLst/>
              <a:ahLst/>
              <a:cxnLst/>
              <a:rect l="l" t="t" r="r" b="b"/>
              <a:pathLst>
                <a:path w="570230">
                  <a:moveTo>
                    <a:pt x="0" y="0"/>
                  </a:moveTo>
                  <a:lnTo>
                    <a:pt x="569976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5911" y="2474975"/>
              <a:ext cx="134112" cy="731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59735" y="2474975"/>
              <a:ext cx="134112" cy="7315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63367" y="2508503"/>
              <a:ext cx="582295" cy="0"/>
            </a:xfrm>
            <a:custGeom>
              <a:avLst/>
              <a:gdLst/>
              <a:ahLst/>
              <a:cxnLst/>
              <a:rect l="l" t="t" r="r" b="b"/>
              <a:pathLst>
                <a:path w="582294">
                  <a:moveTo>
                    <a:pt x="0" y="0"/>
                  </a:moveTo>
                  <a:lnTo>
                    <a:pt x="581787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30367" y="2121407"/>
              <a:ext cx="131063" cy="731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6551" y="2121407"/>
              <a:ext cx="131063" cy="7315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35423" y="2154935"/>
              <a:ext cx="692150" cy="0"/>
            </a:xfrm>
            <a:custGeom>
              <a:avLst/>
              <a:gdLst/>
              <a:ahLst/>
              <a:cxnLst/>
              <a:rect l="l" t="t" r="r" b="b"/>
              <a:pathLst>
                <a:path w="692150">
                  <a:moveTo>
                    <a:pt x="0" y="0"/>
                  </a:moveTo>
                  <a:lnTo>
                    <a:pt x="691641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4271" y="2401823"/>
              <a:ext cx="131063" cy="7010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968239" y="2435351"/>
              <a:ext cx="265430" cy="533400"/>
            </a:xfrm>
            <a:custGeom>
              <a:avLst/>
              <a:gdLst/>
              <a:ahLst/>
              <a:cxnLst/>
              <a:rect l="l" t="t" r="r" b="b"/>
              <a:pathLst>
                <a:path w="265429" h="533400">
                  <a:moveTo>
                    <a:pt x="0" y="0"/>
                  </a:moveTo>
                  <a:lnTo>
                    <a:pt x="265175" y="0"/>
                  </a:lnTo>
                </a:path>
                <a:path w="265429" h="533400">
                  <a:moveTo>
                    <a:pt x="4699" y="4825"/>
                  </a:moveTo>
                  <a:lnTo>
                    <a:pt x="4699" y="533146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16551" y="2944367"/>
              <a:ext cx="131063" cy="7315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517135" y="2974847"/>
              <a:ext cx="472440" cy="0"/>
            </a:xfrm>
            <a:custGeom>
              <a:avLst/>
              <a:gdLst/>
              <a:ahLst/>
              <a:cxnLst/>
              <a:rect l="l" t="t" r="r" b="b"/>
              <a:pathLst>
                <a:path w="472439">
                  <a:moveTo>
                    <a:pt x="472439" y="0"/>
                  </a:moveTo>
                  <a:lnTo>
                    <a:pt x="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59" y="3157727"/>
              <a:ext cx="134112" cy="731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16551" y="3157727"/>
              <a:ext cx="131063" cy="731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61303" y="2587751"/>
              <a:ext cx="106679" cy="38709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361944" y="3700271"/>
            <a:ext cx="1167765" cy="21082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50"/>
              </a:spcBef>
            </a:pPr>
            <a:r>
              <a:rPr sz="1200" b="1" dirty="0">
                <a:latin typeface="Arial"/>
                <a:cs typeface="Arial"/>
              </a:rPr>
              <a:t>Register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06495" y="4230623"/>
            <a:ext cx="1490980" cy="21082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15"/>
              </a:spcBef>
            </a:pPr>
            <a:r>
              <a:rPr sz="1200" b="1" spc="-5" dirty="0">
                <a:latin typeface="Arial"/>
                <a:cs typeface="Arial"/>
              </a:rPr>
              <a:t>Cache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09415" y="3913632"/>
            <a:ext cx="500380" cy="835660"/>
            <a:chOff x="3709415" y="3913632"/>
            <a:chExt cx="500380" cy="835660"/>
          </a:xfrm>
        </p:grpSpPr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09415" y="3913632"/>
              <a:ext cx="106679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2607" y="3913632"/>
              <a:ext cx="106679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09415" y="4447032"/>
              <a:ext cx="106679" cy="30175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2607" y="4447032"/>
              <a:ext cx="106679" cy="301751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965704" y="4764023"/>
            <a:ext cx="1969135" cy="30226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315"/>
              </a:spcBef>
            </a:pPr>
            <a:r>
              <a:rPr sz="1200" b="1" spc="-5" dirty="0">
                <a:latin typeface="Arial"/>
                <a:cs typeface="Arial"/>
              </a:rPr>
              <a:t>Main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Memory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709415" y="5071871"/>
            <a:ext cx="500380" cy="1003300"/>
            <a:chOff x="3709415" y="5071871"/>
            <a:chExt cx="500380" cy="1003300"/>
          </a:xfrm>
        </p:grpSpPr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09415" y="5071871"/>
              <a:ext cx="106679" cy="30175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02607" y="5071871"/>
              <a:ext cx="106679" cy="30175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09415" y="5772911"/>
              <a:ext cx="106679" cy="30175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02607" y="5772911"/>
              <a:ext cx="106679" cy="30175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2727960" y="5385815"/>
            <a:ext cx="2444750" cy="38100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605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ic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</a:t>
            </a:r>
            <a:r>
              <a:rPr sz="1200" b="1" dirty="0">
                <a:latin typeface="Arial"/>
                <a:cs typeface="Arial"/>
              </a:rPr>
              <a:t>isk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90216" y="6089903"/>
            <a:ext cx="2923540" cy="40259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923290">
              <a:lnSpc>
                <a:spcPct val="100000"/>
              </a:lnSpc>
              <a:spcBef>
                <a:spcPts val="640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ic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90" dirty="0">
                <a:latin typeface="Arial"/>
                <a:cs typeface="Arial"/>
              </a:rPr>
              <a:t>T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p</a:t>
            </a:r>
            <a:r>
              <a:rPr sz="1200" b="1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1440" y="950449"/>
            <a:ext cx="7672070" cy="568744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198120" algn="ctr">
              <a:lnSpc>
                <a:spcPts val="2135"/>
              </a:lnSpc>
              <a:spcBef>
                <a:spcPts val="234"/>
              </a:spcBef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Hierarchy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obtain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highest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possible</a:t>
            </a:r>
            <a:endParaRPr sz="1800" dirty="0">
              <a:latin typeface="Arial"/>
              <a:cs typeface="Arial"/>
            </a:endParaRPr>
          </a:p>
          <a:p>
            <a:pPr marL="198120" algn="ctr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access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speed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while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minimizing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total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cost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490206" y="1270"/>
            <a:ext cx="15595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80" dirty="0">
                <a:latin typeface="Arial"/>
                <a:cs typeface="Arial"/>
              </a:rPr>
              <a:t> </a:t>
            </a:r>
            <a:r>
              <a:rPr sz="1400" b="1" i="1" spc="-5" dirty="0">
                <a:latin typeface="Arial"/>
                <a:cs typeface="Arial"/>
              </a:rPr>
              <a:t>Hi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8106" y="183374"/>
            <a:ext cx="2334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0755" algn="l"/>
              </a:tabLst>
            </a:pPr>
            <a:r>
              <a:rPr sz="2400" b="1" u="sng" dirty="0">
                <a:latin typeface="Arial"/>
                <a:cs typeface="Arial"/>
              </a:rPr>
              <a:t>M</a:t>
            </a:r>
            <a:r>
              <a:rPr sz="2400" b="1" u="sng" spc="-85" dirty="0">
                <a:latin typeface="Arial"/>
                <a:cs typeface="Arial"/>
              </a:rPr>
              <a:t>A</a:t>
            </a:r>
            <a:r>
              <a:rPr sz="2400" b="1" u="sng" dirty="0">
                <a:latin typeface="Arial"/>
                <a:cs typeface="Arial"/>
              </a:rPr>
              <a:t>IN	MEMO</a:t>
            </a:r>
            <a:r>
              <a:rPr sz="2400" b="1" u="sng" spc="-105" dirty="0">
                <a:latin typeface="Arial"/>
                <a:cs typeface="Arial"/>
              </a:rPr>
              <a:t>R</a:t>
            </a:r>
            <a:r>
              <a:rPr sz="2400" b="1" u="sng" dirty="0">
                <a:latin typeface="Arial"/>
                <a:cs typeface="Arial"/>
              </a:rPr>
              <a:t>Y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769" y="846264"/>
            <a:ext cx="2304415" cy="6851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 spc="-30" dirty="0">
                <a:latin typeface="Arial"/>
                <a:cs typeface="Arial"/>
              </a:rPr>
              <a:t>RAM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ROM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Chips</a:t>
            </a:r>
            <a:endParaRPr sz="180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434"/>
              </a:spcBef>
            </a:pPr>
            <a:r>
              <a:rPr sz="1800" b="1" spc="-55" dirty="0">
                <a:latin typeface="Arial"/>
                <a:cs typeface="Arial"/>
              </a:rPr>
              <a:t>Typical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RAM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072" y="4727575"/>
            <a:ext cx="1896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Arial"/>
                <a:cs typeface="Arial"/>
              </a:rPr>
              <a:t>Typical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ROM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2702" y="1785366"/>
            <a:ext cx="972185" cy="100139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19050" algn="r">
              <a:lnSpc>
                <a:spcPct val="100000"/>
              </a:lnSpc>
              <a:spcBef>
                <a:spcPts val="195"/>
              </a:spcBef>
            </a:pP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spc="-2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ip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sel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R="19050" algn="r">
              <a:lnSpc>
                <a:spcPts val="1430"/>
              </a:lnSpc>
              <a:spcBef>
                <a:spcPts val="95"/>
              </a:spcBef>
            </a:pP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spc="-2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ip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sel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R="41275" algn="r">
              <a:lnSpc>
                <a:spcPts val="1430"/>
              </a:lnSpc>
            </a:pPr>
            <a:r>
              <a:rPr sz="1200" b="1" dirty="0">
                <a:latin typeface="Arial"/>
                <a:cs typeface="Arial"/>
              </a:rPr>
              <a:t>Read</a:t>
            </a:r>
            <a:endParaRPr sz="1200">
              <a:latin typeface="Arial"/>
              <a:cs typeface="Arial"/>
            </a:endParaRPr>
          </a:p>
          <a:p>
            <a:pPr marL="12700" marR="5080" indent="535940" algn="r">
              <a:lnSpc>
                <a:spcPts val="1630"/>
              </a:lnSpc>
              <a:spcBef>
                <a:spcPts val="20"/>
              </a:spcBef>
            </a:pPr>
            <a:r>
              <a:rPr sz="1200" b="1" spc="-15" dirty="0">
                <a:latin typeface="Arial"/>
                <a:cs typeface="Arial"/>
              </a:rPr>
              <a:t>Write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7</a:t>
            </a:r>
            <a:r>
              <a:rPr sz="1200" b="1" spc="5" dirty="0">
                <a:latin typeface="Arial"/>
                <a:cs typeface="Arial"/>
              </a:rPr>
              <a:t>-b</a:t>
            </a:r>
            <a:r>
              <a:rPr sz="1200" b="1" dirty="0">
                <a:latin typeface="Arial"/>
                <a:cs typeface="Arial"/>
              </a:rPr>
              <a:t>it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98642" y="2101977"/>
            <a:ext cx="549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940" algn="l"/>
              </a:tabLst>
            </a:pP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362388" y="1697037"/>
          <a:ext cx="1887220" cy="1146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 marL="101600" marR="1131570">
                        <a:lnSpc>
                          <a:spcPct val="106700"/>
                        </a:lnSpc>
                        <a:spcBef>
                          <a:spcPts val="459"/>
                        </a:spcBef>
                      </a:pPr>
                      <a:r>
                        <a:rPr sz="1200" b="1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</a:t>
                      </a:r>
                      <a:r>
                        <a:rPr sz="1200" b="1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1600">
                        <a:lnSpc>
                          <a:spcPts val="1030"/>
                        </a:lnSpc>
                        <a:tabLst>
                          <a:tab pos="738505" algn="l"/>
                        </a:tabLst>
                      </a:pP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00" b="1" baseline="-20833" dirty="0">
                          <a:latin typeface="Arial"/>
                          <a:cs typeface="Arial"/>
                        </a:rPr>
                        <a:t>D	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2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1600">
                        <a:lnSpc>
                          <a:spcPts val="1390"/>
                        </a:lnSpc>
                        <a:tabLst>
                          <a:tab pos="830580" algn="l"/>
                        </a:tabLst>
                      </a:pPr>
                      <a:r>
                        <a:rPr sz="1800" b="1" spc="-7" baseline="-30092" dirty="0">
                          <a:latin typeface="Arial"/>
                          <a:cs typeface="Arial"/>
                        </a:rPr>
                        <a:t>WR	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RAM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1200" b="1" spc="-5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2593657" y="2252472"/>
            <a:ext cx="3392804" cy="3359150"/>
            <a:chOff x="2593657" y="2252472"/>
            <a:chExt cx="3392804" cy="335915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8255" y="2252472"/>
              <a:ext cx="128015" cy="883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7424" y="2252472"/>
              <a:ext cx="128015" cy="883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06040" y="5394960"/>
              <a:ext cx="332105" cy="204470"/>
            </a:xfrm>
            <a:custGeom>
              <a:avLst/>
              <a:gdLst/>
              <a:ahLst/>
              <a:cxnLst/>
              <a:rect l="l" t="t" r="r" b="b"/>
              <a:pathLst>
                <a:path w="332105" h="204470">
                  <a:moveTo>
                    <a:pt x="0" y="0"/>
                  </a:moveTo>
                  <a:lnTo>
                    <a:pt x="331851" y="0"/>
                  </a:lnTo>
                </a:path>
                <a:path w="332105" h="204470">
                  <a:moveTo>
                    <a:pt x="0" y="204152"/>
                  </a:moveTo>
                  <a:lnTo>
                    <a:pt x="331851" y="20415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55867" y="2190369"/>
            <a:ext cx="1003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8</a:t>
            </a:r>
            <a:r>
              <a:rPr sz="1200" b="1" spc="5" dirty="0">
                <a:latin typeface="Arial"/>
                <a:cs typeface="Arial"/>
              </a:rPr>
              <a:t>-</a:t>
            </a:r>
            <a:r>
              <a:rPr sz="1200" b="1" spc="10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it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d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-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311400" y="3331464"/>
          <a:ext cx="4951092" cy="125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4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0594">
                <a:tc>
                  <a:txBody>
                    <a:bodyPr/>
                    <a:lstStyle/>
                    <a:p>
                      <a:pPr marL="60325" algn="ctr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CS1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CS2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algn="ctr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WR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200"/>
                        </a:lnSpc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12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12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12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bus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434">
                <a:tc>
                  <a:txBody>
                    <a:bodyPr/>
                    <a:lstStyle/>
                    <a:p>
                      <a:pPr marL="52069" algn="ct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 algn="ct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Inhibit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32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High-impedence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878">
                <a:tc>
                  <a:txBody>
                    <a:bodyPr/>
                    <a:lstStyle/>
                    <a:p>
                      <a:pPr marL="52069" algn="ctr">
                        <a:lnSpc>
                          <a:spcPts val="1310"/>
                        </a:lnSpc>
                        <a:spcBef>
                          <a:spcPts val="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102870" algn="ctr">
                        <a:lnSpc>
                          <a:spcPts val="1310"/>
                        </a:lnSpc>
                        <a:spcBef>
                          <a:spcPts val="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ts val="1310"/>
                        </a:lnSpc>
                        <a:spcBef>
                          <a:spcPts val="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310"/>
                        </a:lnSpc>
                        <a:spcBef>
                          <a:spcPts val="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ts val="128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Inhibit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28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High-impedence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074">
                <a:tc>
                  <a:txBody>
                    <a:bodyPr/>
                    <a:lstStyle/>
                    <a:p>
                      <a:pPr marL="52069" algn="ctr">
                        <a:lnSpc>
                          <a:spcPts val="132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2069" algn="ctr">
                        <a:lnSpc>
                          <a:spcPts val="12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2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90500">
                        <a:lnSpc>
                          <a:spcPts val="12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32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0825">
                        <a:lnSpc>
                          <a:spcPts val="12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32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350" algn="ctr">
                        <a:lnSpc>
                          <a:spcPts val="12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9720" marR="614680">
                        <a:lnSpc>
                          <a:spcPts val="130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nh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it 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Write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6370" marR="365125">
                        <a:lnSpc>
                          <a:spcPts val="130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High-impedence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60">
                <a:tc>
                  <a:txBody>
                    <a:bodyPr/>
                    <a:lstStyle/>
                    <a:p>
                      <a:pPr marL="52069" algn="ctr">
                        <a:lnSpc>
                          <a:spcPts val="137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2069" algn="ctr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137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90500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37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0825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37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2065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720" marR="614680">
                        <a:lnSpc>
                          <a:spcPts val="1300"/>
                        </a:lnSpc>
                        <a:spcBef>
                          <a:spcPts val="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Read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nh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29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Output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RAM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66370">
                        <a:lnSpc>
                          <a:spcPts val="141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High-impedence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622805" y="5252059"/>
            <a:ext cx="951865" cy="4400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spc="-2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ip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spc="-2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ip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06039" y="6205728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5">
                <a:moveTo>
                  <a:pt x="0" y="0"/>
                </a:moveTo>
                <a:lnTo>
                  <a:pt x="331851" y="0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22805" y="6088176"/>
            <a:ext cx="974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9</a:t>
            </a:r>
            <a:r>
              <a:rPr sz="1200" b="1" spc="5" dirty="0">
                <a:latin typeface="Arial"/>
                <a:cs typeface="Arial"/>
              </a:rPr>
              <a:t>-b</a:t>
            </a:r>
            <a:r>
              <a:rPr sz="1200" b="1" dirty="0">
                <a:latin typeface="Arial"/>
                <a:cs typeface="Arial"/>
              </a:rPr>
              <a:t>it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dd</a:t>
            </a:r>
            <a:r>
              <a:rPr sz="1200" b="1" spc="-1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27552" y="5227361"/>
            <a:ext cx="308610" cy="4337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spc="-2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r>
              <a:rPr sz="1200" b="1" spc="-5" dirty="0">
                <a:latin typeface="Arial"/>
                <a:cs typeface="Arial"/>
              </a:rPr>
              <a:t>C</a:t>
            </a: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40126" y="6100978"/>
            <a:ext cx="3479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5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D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18229" y="5622747"/>
            <a:ext cx="1339850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70"/>
              </a:lnSpc>
              <a:spcBef>
                <a:spcPts val="100"/>
              </a:spcBef>
              <a:tabLst>
                <a:tab pos="727075" algn="l"/>
                <a:tab pos="1326515" algn="l"/>
              </a:tabLst>
            </a:pPr>
            <a:r>
              <a:rPr sz="1200" b="1" spc="-5" dirty="0">
                <a:latin typeface="Arial"/>
                <a:cs typeface="Arial"/>
              </a:rPr>
              <a:t>512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x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8</a:t>
            </a:r>
            <a:r>
              <a:rPr sz="1200" b="1" dirty="0">
                <a:latin typeface="Arial"/>
                <a:cs typeface="Arial"/>
              </a:rPr>
              <a:t>	</a:t>
            </a: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200">
              <a:latin typeface="Arial"/>
              <a:cs typeface="Arial"/>
            </a:endParaRPr>
          </a:p>
          <a:p>
            <a:pPr marL="88265">
              <a:lnSpc>
                <a:spcPts val="1370"/>
              </a:lnSpc>
            </a:pPr>
            <a:r>
              <a:rPr sz="1200" b="1" dirty="0">
                <a:latin typeface="Arial"/>
                <a:cs typeface="Arial"/>
              </a:rPr>
              <a:t>ROM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04744" y="5187696"/>
            <a:ext cx="2072639" cy="1225550"/>
            <a:chOff x="2904744" y="5187696"/>
            <a:chExt cx="2072639" cy="1225550"/>
          </a:xfrm>
        </p:grpSpPr>
        <p:sp>
          <p:nvSpPr>
            <p:cNvPr id="26" name="object 26"/>
            <p:cNvSpPr/>
            <p:nvPr/>
          </p:nvSpPr>
          <p:spPr>
            <a:xfrm>
              <a:off x="2916936" y="5199888"/>
              <a:ext cx="1411605" cy="1201420"/>
            </a:xfrm>
            <a:custGeom>
              <a:avLst/>
              <a:gdLst/>
              <a:ahLst/>
              <a:cxnLst/>
              <a:rect l="l" t="t" r="r" b="b"/>
              <a:pathLst>
                <a:path w="1411604" h="1201420">
                  <a:moveTo>
                    <a:pt x="0" y="1200912"/>
                  </a:moveTo>
                  <a:lnTo>
                    <a:pt x="1411224" y="1200912"/>
                  </a:lnTo>
                  <a:lnTo>
                    <a:pt x="1411224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8511" y="5745480"/>
              <a:ext cx="118872" cy="9144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023616" y="5492496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10">
                  <a:moveTo>
                    <a:pt x="0" y="0"/>
                  </a:moveTo>
                  <a:lnTo>
                    <a:pt x="295656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47234" y="5670905"/>
            <a:ext cx="1003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8</a:t>
            </a:r>
            <a:r>
              <a:rPr sz="1200" b="1" spc="5" dirty="0">
                <a:latin typeface="Arial"/>
                <a:cs typeface="Arial"/>
              </a:rPr>
              <a:t>-b</a:t>
            </a:r>
            <a:r>
              <a:rPr sz="1200" b="1" dirty="0">
                <a:latin typeface="Arial"/>
                <a:cs typeface="Arial"/>
              </a:rPr>
              <a:t>it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d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-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07781" y="1270"/>
            <a:ext cx="11480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ain</a:t>
            </a:r>
            <a:r>
              <a:rPr sz="1400" b="1" i="1" spc="-9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44158" y="891286"/>
            <a:ext cx="1440815" cy="658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35" dirty="0">
                <a:latin typeface="Arial"/>
                <a:cs typeface="Arial"/>
              </a:rPr>
              <a:t>T</a:t>
            </a:r>
            <a:r>
              <a:rPr sz="1400" b="1" spc="-85" dirty="0">
                <a:latin typeface="Arial"/>
                <a:cs typeface="Arial"/>
              </a:rPr>
              <a:t>y</a:t>
            </a:r>
            <a:r>
              <a:rPr sz="1400" b="1" spc="-40" dirty="0">
                <a:latin typeface="Arial"/>
                <a:cs typeface="Arial"/>
              </a:rPr>
              <a:t>p</a:t>
            </a:r>
            <a:r>
              <a:rPr sz="1400" b="1" spc="-35" dirty="0">
                <a:latin typeface="Arial"/>
                <a:cs typeface="Arial"/>
              </a:rPr>
              <a:t>e</a:t>
            </a:r>
            <a:r>
              <a:rPr sz="1400" b="1" spc="-5" dirty="0">
                <a:latin typeface="Arial"/>
                <a:cs typeface="Arial"/>
              </a:rPr>
              <a:t>s</a:t>
            </a:r>
            <a:r>
              <a:rPr sz="1400" b="1" spc="-20" dirty="0">
                <a:latin typeface="Arial"/>
                <a:cs typeface="Arial"/>
              </a:rPr>
              <a:t> o</a:t>
            </a:r>
            <a:r>
              <a:rPr sz="1400" b="1" spc="-5" dirty="0">
                <a:latin typeface="Arial"/>
                <a:cs typeface="Arial"/>
              </a:rPr>
              <a:t>f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M</a:t>
            </a:r>
            <a:r>
              <a:rPr sz="1400" b="1" spc="-15" dirty="0">
                <a:latin typeface="Arial"/>
                <a:cs typeface="Arial"/>
              </a:rPr>
              <a:t>e</a:t>
            </a:r>
            <a:r>
              <a:rPr sz="1400" b="1" spc="-5" dirty="0">
                <a:latin typeface="Arial"/>
                <a:cs typeface="Arial"/>
              </a:rPr>
              <a:t>m</a:t>
            </a:r>
            <a:r>
              <a:rPr sz="1400" b="1" spc="-20" dirty="0">
                <a:latin typeface="Arial"/>
                <a:cs typeface="Arial"/>
              </a:rPr>
              <a:t>o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  <a:p>
            <a:pPr marL="186690" indent="-174625">
              <a:lnSpc>
                <a:spcPts val="1645"/>
              </a:lnSpc>
              <a:spcBef>
                <a:spcPts val="25"/>
              </a:spcBef>
              <a:buFont typeface="Arial MT"/>
              <a:buChar char="•"/>
              <a:tabLst>
                <a:tab pos="187325" algn="l"/>
              </a:tabLst>
            </a:pPr>
            <a:r>
              <a:rPr sz="1400" b="1" spc="-10" dirty="0">
                <a:latin typeface="Arial"/>
                <a:cs typeface="Arial"/>
              </a:rPr>
              <a:t>Static</a:t>
            </a:r>
            <a:endParaRPr sz="1400">
              <a:latin typeface="Arial"/>
              <a:cs typeface="Arial"/>
            </a:endParaRPr>
          </a:p>
          <a:p>
            <a:pPr marL="186690" indent="-174625">
              <a:lnSpc>
                <a:spcPts val="1645"/>
              </a:lnSpc>
              <a:buFont typeface="Arial MT"/>
              <a:buChar char="•"/>
              <a:tabLst>
                <a:tab pos="187325" algn="l"/>
              </a:tabLst>
            </a:pPr>
            <a:r>
              <a:rPr sz="1400" b="1" spc="-15" dirty="0">
                <a:latin typeface="Arial"/>
                <a:cs typeface="Arial"/>
              </a:rPr>
              <a:t>Dynamic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03289" y="5055489"/>
            <a:ext cx="180086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1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Uses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of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ROM</a:t>
            </a:r>
            <a:endParaRPr sz="1400">
              <a:latin typeface="Arial"/>
              <a:cs typeface="Arial"/>
            </a:endParaRPr>
          </a:p>
          <a:p>
            <a:pPr marL="299085" indent="-287020">
              <a:lnSpc>
                <a:spcPts val="161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-15" dirty="0">
                <a:latin typeface="Arial"/>
                <a:cs typeface="Arial"/>
              </a:rPr>
              <a:t>Bootstrap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Loader</a:t>
            </a:r>
            <a:endParaRPr sz="14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-10" dirty="0">
                <a:latin typeface="Arial"/>
                <a:cs typeface="Arial"/>
              </a:rPr>
              <a:t>C</a:t>
            </a:r>
            <a:r>
              <a:rPr sz="1400" b="1" spc="-15" dirty="0">
                <a:latin typeface="Arial"/>
                <a:cs typeface="Arial"/>
              </a:rPr>
              <a:t>o</a:t>
            </a:r>
            <a:r>
              <a:rPr sz="1400" b="1" spc="-5" dirty="0">
                <a:latin typeface="Arial"/>
                <a:cs typeface="Arial"/>
              </a:rPr>
              <a:t>m</a:t>
            </a:r>
            <a:r>
              <a:rPr sz="1400" b="1" spc="-20" dirty="0">
                <a:latin typeface="Arial"/>
                <a:cs typeface="Arial"/>
              </a:rPr>
              <a:t>pu</a:t>
            </a:r>
            <a:r>
              <a:rPr sz="1400" b="1" spc="-15" dirty="0">
                <a:latin typeface="Arial"/>
                <a:cs typeface="Arial"/>
              </a:rPr>
              <a:t>te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S</a:t>
            </a:r>
            <a:r>
              <a:rPr sz="1400" b="1" spc="-15" dirty="0">
                <a:latin typeface="Arial"/>
                <a:cs typeface="Arial"/>
              </a:rPr>
              <a:t>ta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15" dirty="0">
                <a:latin typeface="Arial"/>
                <a:cs typeface="Arial"/>
              </a:rPr>
              <a:t>t</a:t>
            </a:r>
            <a:r>
              <a:rPr sz="1400" b="1" spc="-20" dirty="0">
                <a:latin typeface="Arial"/>
                <a:cs typeface="Arial"/>
              </a:rPr>
              <a:t>u</a:t>
            </a:r>
            <a:r>
              <a:rPr sz="1400" b="1" spc="-5" dirty="0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41475" y="2135251"/>
          <a:ext cx="4829171" cy="15589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3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39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20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16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2349">
                <a:tc row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Component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ts val="1180"/>
                        </a:lnSpc>
                        <a:spcBef>
                          <a:spcPts val="7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Hexa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10">
                  <a:txBody>
                    <a:bodyPr/>
                    <a:lstStyle/>
                    <a:p>
                      <a:pPr marL="7543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dd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ess</a:t>
                      </a:r>
                      <a:r>
                        <a:rPr sz="12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6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address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691">
                <a:tc>
                  <a:txBody>
                    <a:bodyPr/>
                    <a:lstStyle/>
                    <a:p>
                      <a:pPr marL="149860">
                        <a:lnSpc>
                          <a:spcPts val="1375"/>
                        </a:lnSpc>
                        <a:spcBef>
                          <a:spcPts val="185"/>
                        </a:spcBef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RAM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375"/>
                        </a:lnSpc>
                        <a:spcBef>
                          <a:spcPts val="18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0000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007F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>
                  <a:txBody>
                    <a:bodyPr/>
                    <a:lstStyle/>
                    <a:p>
                      <a:pPr marL="257175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7175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7175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7175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7175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6675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6675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6675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6675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6675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109855">
                        <a:lnSpc>
                          <a:spcPts val="1370"/>
                        </a:lnSpc>
                        <a:spcBef>
                          <a:spcPts val="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9855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9855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9855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9855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6675" marR="53340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9850" marR="50165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6675" marR="95885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109220" marR="53340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9850" marR="50165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6675" marR="50800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67945" marR="179705" algn="just">
                        <a:lnSpc>
                          <a:spcPct val="92100"/>
                        </a:lnSpc>
                        <a:spcBef>
                          <a:spcPts val="2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x  x  x  x  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339">
                <a:tc>
                  <a:txBody>
                    <a:bodyPr/>
                    <a:lstStyle/>
                    <a:p>
                      <a:pPr marL="149860">
                        <a:lnSpc>
                          <a:spcPts val="1290"/>
                        </a:lnSpc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RAM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ts val="129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0080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00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281">
                <a:tc>
                  <a:txBody>
                    <a:bodyPr/>
                    <a:lstStyle/>
                    <a:p>
                      <a:pPr marL="149860">
                        <a:lnSpc>
                          <a:spcPts val="1295"/>
                        </a:lnSpc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RAM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2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0100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017F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801">
                <a:tc>
                  <a:txBody>
                    <a:bodyPr/>
                    <a:lstStyle/>
                    <a:p>
                      <a:pPr marL="149860">
                        <a:lnSpc>
                          <a:spcPts val="1345"/>
                        </a:lnSpc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RAM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34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0180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1F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637">
                <a:tc>
                  <a:txBody>
                    <a:bodyPr/>
                    <a:lstStyle/>
                    <a:p>
                      <a:pPr marL="149860">
                        <a:lnSpc>
                          <a:spcPts val="140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ROM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ts val="140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0200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3F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F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53516" y="4157217"/>
            <a:ext cx="5638165" cy="21907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R="2593975" algn="ctr">
              <a:lnSpc>
                <a:spcPct val="100000"/>
              </a:lnSpc>
              <a:spcBef>
                <a:spcPts val="530"/>
              </a:spcBef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Connection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CPU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135"/>
              </a:lnSpc>
              <a:spcBef>
                <a:spcPts val="430"/>
              </a:spcBef>
              <a:tabLst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-	</a:t>
            </a:r>
            <a:r>
              <a:rPr sz="1800" b="1" spc="-30" dirty="0">
                <a:latin typeface="Arial"/>
                <a:cs typeface="Arial"/>
              </a:rPr>
              <a:t>RAM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ROM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connected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CPU</a:t>
            </a:r>
            <a:endParaRPr sz="1800">
              <a:latin typeface="Arial"/>
              <a:cs typeface="Arial"/>
            </a:endParaRPr>
          </a:p>
          <a:p>
            <a:pPr marR="462280" algn="ctr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through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address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buses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Arial"/>
              <a:cs typeface="Arial"/>
            </a:endParaRPr>
          </a:p>
          <a:p>
            <a:pPr marL="613410" marR="5080" indent="-189230">
              <a:lnSpc>
                <a:spcPct val="90000"/>
              </a:lnSpc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5" dirty="0">
                <a:latin typeface="Arial"/>
                <a:cs typeface="Arial"/>
              </a:rPr>
              <a:t>low-order </a:t>
            </a:r>
            <a:r>
              <a:rPr sz="1800" b="1" dirty="0">
                <a:latin typeface="Arial"/>
                <a:cs typeface="Arial"/>
              </a:rPr>
              <a:t>lines in the address bus select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byte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within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other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lines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address bus select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particular chip through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select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773" y="278638"/>
            <a:ext cx="5720715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2135">
              <a:lnSpc>
                <a:spcPct val="100000"/>
              </a:lnSpc>
              <a:spcBef>
                <a:spcPts val="100"/>
              </a:spcBef>
              <a:tabLst>
                <a:tab pos="3384550" algn="l"/>
                <a:tab pos="5043170" algn="l"/>
              </a:tabLst>
            </a:pPr>
            <a:r>
              <a:rPr sz="2400" b="1" u="sng" dirty="0">
                <a:latin typeface="Arial"/>
                <a:cs typeface="Arial"/>
              </a:rPr>
              <a:t>ME</a:t>
            </a:r>
            <a:r>
              <a:rPr sz="2400" b="1" u="sng" spc="-10" dirty="0">
                <a:latin typeface="Arial"/>
                <a:cs typeface="Arial"/>
              </a:rPr>
              <a:t>M</a:t>
            </a:r>
            <a:r>
              <a:rPr sz="2400" b="1" u="sng" spc="5" dirty="0">
                <a:latin typeface="Arial"/>
                <a:cs typeface="Arial"/>
              </a:rPr>
              <a:t>O</a:t>
            </a:r>
            <a:r>
              <a:rPr sz="2400" b="1" u="sng" spc="-105" dirty="0">
                <a:latin typeface="Arial"/>
                <a:cs typeface="Arial"/>
              </a:rPr>
              <a:t>R</a:t>
            </a:r>
            <a:r>
              <a:rPr sz="2400" b="1" u="sng" spc="-5" dirty="0">
                <a:latin typeface="Arial"/>
                <a:cs typeface="Arial"/>
              </a:rPr>
              <a:t>Y</a:t>
            </a:r>
            <a:r>
              <a:rPr sz="2400" b="1" u="sng" dirty="0">
                <a:latin typeface="Arial"/>
                <a:cs typeface="Arial"/>
              </a:rPr>
              <a:t>	</a:t>
            </a:r>
            <a:r>
              <a:rPr sz="2400" b="1" u="sng" spc="-85" dirty="0">
                <a:latin typeface="Arial"/>
                <a:cs typeface="Arial"/>
              </a:rPr>
              <a:t>A</a:t>
            </a:r>
            <a:r>
              <a:rPr sz="2400" b="1" u="sng" spc="-35" dirty="0">
                <a:latin typeface="Arial"/>
                <a:cs typeface="Arial"/>
              </a:rPr>
              <a:t>D</a:t>
            </a:r>
            <a:r>
              <a:rPr sz="2400" b="1" u="sng" spc="-10" dirty="0">
                <a:latin typeface="Arial"/>
                <a:cs typeface="Arial"/>
              </a:rPr>
              <a:t>D</a:t>
            </a:r>
            <a:r>
              <a:rPr sz="2400" b="1" u="sng" spc="-35" dirty="0">
                <a:latin typeface="Arial"/>
                <a:cs typeface="Arial"/>
              </a:rPr>
              <a:t>R</a:t>
            </a:r>
            <a:r>
              <a:rPr sz="2400" b="1" u="sng" spc="5" dirty="0">
                <a:latin typeface="Arial"/>
                <a:cs typeface="Arial"/>
              </a:rPr>
              <a:t>ES</a:t>
            </a:r>
            <a:r>
              <a:rPr sz="2400" b="1" u="sng" dirty="0">
                <a:latin typeface="Arial"/>
                <a:cs typeface="Arial"/>
              </a:rPr>
              <a:t>S	</a:t>
            </a:r>
            <a:r>
              <a:rPr sz="2400" b="1" u="sng" spc="-10" dirty="0">
                <a:latin typeface="Arial"/>
                <a:cs typeface="Arial"/>
              </a:rPr>
              <a:t>M</a:t>
            </a:r>
            <a:r>
              <a:rPr sz="2400" b="1" u="sng" spc="-105" dirty="0">
                <a:latin typeface="Arial"/>
                <a:cs typeface="Arial"/>
              </a:rPr>
              <a:t>A</a:t>
            </a:r>
            <a:r>
              <a:rPr sz="2400" b="1" u="sng" dirty="0">
                <a:latin typeface="Arial"/>
                <a:cs typeface="Arial"/>
              </a:rPr>
              <a:t>P</a:t>
            </a:r>
            <a:endParaRPr sz="2400" u="sng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space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assignment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each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chip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800" b="1" dirty="0">
                <a:latin typeface="Arial"/>
                <a:cs typeface="Arial"/>
              </a:rPr>
              <a:t>Example:</a:t>
            </a:r>
            <a:r>
              <a:rPr sz="1800" b="1" spc="4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512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bytes</a:t>
            </a:r>
            <a:r>
              <a:rPr sz="1800" b="1" spc="4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RAM</a:t>
            </a:r>
            <a:r>
              <a:rPr sz="1800" b="1" spc="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512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bytes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ROM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2559" y="1270"/>
            <a:ext cx="11480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in</a:t>
            </a:r>
            <a:r>
              <a:rPr sz="1400" b="1" i="1" spc="-9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10004" y="268351"/>
            <a:ext cx="5608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  <a:tab pos="2823845" algn="l"/>
                <a:tab pos="4363085" algn="l"/>
                <a:tab pos="4951730" algn="l"/>
              </a:tabLst>
            </a:pPr>
            <a:r>
              <a:rPr sz="2400" b="1" u="sng" spc="-5" dirty="0">
                <a:latin typeface="Arial"/>
                <a:cs typeface="Arial"/>
              </a:rPr>
              <a:t>CO</a:t>
            </a:r>
            <a:r>
              <a:rPr sz="2400" b="1" u="sng" spc="-10" dirty="0">
                <a:latin typeface="Arial"/>
                <a:cs typeface="Arial"/>
              </a:rPr>
              <a:t>N</a:t>
            </a:r>
            <a:r>
              <a:rPr sz="2400" b="1" u="sng" spc="-35" dirty="0">
                <a:latin typeface="Arial"/>
                <a:cs typeface="Arial"/>
              </a:rPr>
              <a:t>N</a:t>
            </a:r>
            <a:r>
              <a:rPr sz="2400" b="1" u="sng" spc="10" dirty="0">
                <a:latin typeface="Arial"/>
                <a:cs typeface="Arial"/>
              </a:rPr>
              <a:t>E</a:t>
            </a:r>
            <a:r>
              <a:rPr sz="2400" b="1" u="sng" spc="-35" dirty="0">
                <a:latin typeface="Arial"/>
                <a:cs typeface="Arial"/>
              </a:rPr>
              <a:t>C</a:t>
            </a:r>
            <a:r>
              <a:rPr sz="2400" b="1" u="sng" spc="-5" dirty="0">
                <a:latin typeface="Arial"/>
                <a:cs typeface="Arial"/>
              </a:rPr>
              <a:t>TION	</a:t>
            </a:r>
            <a:r>
              <a:rPr sz="2400" b="1" u="sng" dirty="0">
                <a:latin typeface="Arial"/>
                <a:cs typeface="Arial"/>
              </a:rPr>
              <a:t>O</a:t>
            </a:r>
            <a:r>
              <a:rPr sz="2400" b="1" u="sng" spc="-5" dirty="0">
                <a:latin typeface="Arial"/>
                <a:cs typeface="Arial"/>
              </a:rPr>
              <a:t>F	</a:t>
            </a:r>
            <a:r>
              <a:rPr sz="2400" b="1" u="sng" spc="-15" dirty="0">
                <a:latin typeface="Arial"/>
                <a:cs typeface="Arial"/>
              </a:rPr>
              <a:t>M</a:t>
            </a:r>
            <a:r>
              <a:rPr sz="2400" b="1" u="sng" spc="-5" dirty="0">
                <a:latin typeface="Arial"/>
                <a:cs typeface="Arial"/>
              </a:rPr>
              <a:t>E</a:t>
            </a:r>
            <a:r>
              <a:rPr sz="2400" b="1" u="sng" spc="-15" dirty="0">
                <a:latin typeface="Arial"/>
                <a:cs typeface="Arial"/>
              </a:rPr>
              <a:t>M</a:t>
            </a:r>
            <a:r>
              <a:rPr sz="2400" b="1" u="sng" spc="-5" dirty="0">
                <a:latin typeface="Arial"/>
                <a:cs typeface="Arial"/>
              </a:rPr>
              <a:t>O</a:t>
            </a:r>
            <a:r>
              <a:rPr sz="2400" b="1" u="sng" spc="-105" dirty="0">
                <a:latin typeface="Arial"/>
                <a:cs typeface="Arial"/>
              </a:rPr>
              <a:t>R</a:t>
            </a:r>
            <a:r>
              <a:rPr sz="2400" b="1" u="sng" spc="-5" dirty="0">
                <a:latin typeface="Arial"/>
                <a:cs typeface="Arial"/>
              </a:rPr>
              <a:t>Y	</a:t>
            </a:r>
            <a:r>
              <a:rPr sz="2400" b="1" u="sng" spc="-55" dirty="0">
                <a:latin typeface="Arial"/>
                <a:cs typeface="Arial"/>
              </a:rPr>
              <a:t>T</a:t>
            </a:r>
            <a:r>
              <a:rPr sz="2400" b="1" u="sng" spc="-5" dirty="0">
                <a:latin typeface="Arial"/>
                <a:cs typeface="Arial"/>
              </a:rPr>
              <a:t>O	CPU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07781" y="1270"/>
            <a:ext cx="11480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ain</a:t>
            </a:r>
            <a:r>
              <a:rPr sz="1400" b="1" i="1" spc="-9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C8C1B00D-E029-65E4-684D-650717BFA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822417"/>
            <a:ext cx="6383781" cy="5580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75610" y="288163"/>
            <a:ext cx="3194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3085" algn="l"/>
              </a:tabLst>
            </a:pPr>
            <a:r>
              <a:rPr sz="2400" b="1" u="sng" spc="-30" dirty="0">
                <a:latin typeface="Arial"/>
                <a:cs typeface="Arial"/>
              </a:rPr>
              <a:t>AUXILIARY	</a:t>
            </a:r>
            <a:r>
              <a:rPr sz="2400" b="1" u="sng" spc="-25" dirty="0">
                <a:latin typeface="Arial"/>
                <a:cs typeface="Arial"/>
              </a:rPr>
              <a:t>MEMORY</a:t>
            </a:r>
            <a:endParaRPr sz="2400" u="sng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21801" y="1804225"/>
            <a:ext cx="3188335" cy="1445260"/>
            <a:chOff x="2221801" y="1804225"/>
            <a:chExt cx="3188335" cy="1445260"/>
          </a:xfrm>
        </p:grpSpPr>
        <p:sp>
          <p:nvSpPr>
            <p:cNvPr id="9" name="object 9"/>
            <p:cNvSpPr/>
            <p:nvPr/>
          </p:nvSpPr>
          <p:spPr>
            <a:xfrm>
              <a:off x="2234184" y="1816608"/>
              <a:ext cx="3163570" cy="1420495"/>
            </a:xfrm>
            <a:custGeom>
              <a:avLst/>
              <a:gdLst/>
              <a:ahLst/>
              <a:cxnLst/>
              <a:rect l="l" t="t" r="r" b="b"/>
              <a:pathLst>
                <a:path w="3163570" h="1420495">
                  <a:moveTo>
                    <a:pt x="404622" y="0"/>
                  </a:moveTo>
                  <a:lnTo>
                    <a:pt x="2060067" y="70865"/>
                  </a:lnTo>
                  <a:lnTo>
                    <a:pt x="2611882" y="212597"/>
                  </a:lnTo>
                  <a:lnTo>
                    <a:pt x="3163570" y="425195"/>
                  </a:lnTo>
                </a:path>
                <a:path w="3163570" h="1420495">
                  <a:moveTo>
                    <a:pt x="246888" y="211200"/>
                  </a:moveTo>
                  <a:lnTo>
                    <a:pt x="2059940" y="282193"/>
                  </a:lnTo>
                  <a:lnTo>
                    <a:pt x="2611882" y="424052"/>
                  </a:lnTo>
                  <a:lnTo>
                    <a:pt x="3005836" y="565912"/>
                  </a:lnTo>
                </a:path>
                <a:path w="3163570" h="1420495">
                  <a:moveTo>
                    <a:pt x="3163570" y="424561"/>
                  </a:moveTo>
                  <a:lnTo>
                    <a:pt x="3005836" y="566419"/>
                  </a:lnTo>
                  <a:lnTo>
                    <a:pt x="2453894" y="708278"/>
                  </a:lnTo>
                  <a:lnTo>
                    <a:pt x="1980692" y="779271"/>
                  </a:lnTo>
                </a:path>
                <a:path w="3163570" h="1420495">
                  <a:moveTo>
                    <a:pt x="3163570" y="424561"/>
                  </a:moveTo>
                  <a:lnTo>
                    <a:pt x="3163570" y="707516"/>
                  </a:lnTo>
                  <a:lnTo>
                    <a:pt x="3084830" y="778255"/>
                  </a:lnTo>
                  <a:lnTo>
                    <a:pt x="2454148" y="919733"/>
                  </a:lnTo>
                  <a:lnTo>
                    <a:pt x="1902206" y="990600"/>
                  </a:lnTo>
                  <a:lnTo>
                    <a:pt x="1271524" y="990600"/>
                  </a:lnTo>
                </a:path>
                <a:path w="3163570" h="1420495">
                  <a:moveTo>
                    <a:pt x="1981327" y="778637"/>
                  </a:moveTo>
                  <a:lnTo>
                    <a:pt x="1271524" y="778637"/>
                  </a:lnTo>
                  <a:lnTo>
                    <a:pt x="1034923" y="849376"/>
                  </a:lnTo>
                  <a:lnTo>
                    <a:pt x="956056" y="920114"/>
                  </a:lnTo>
                </a:path>
                <a:path w="3163570" h="1420495">
                  <a:moveTo>
                    <a:pt x="1297940" y="1003426"/>
                  </a:moveTo>
                  <a:lnTo>
                    <a:pt x="1180465" y="1063625"/>
                  </a:lnTo>
                </a:path>
                <a:path w="3163570" h="1420495">
                  <a:moveTo>
                    <a:pt x="963168" y="932688"/>
                  </a:moveTo>
                  <a:lnTo>
                    <a:pt x="963168" y="1194562"/>
                  </a:lnTo>
                </a:path>
                <a:path w="3163570" h="1420495">
                  <a:moveTo>
                    <a:pt x="957072" y="923543"/>
                  </a:moveTo>
                  <a:lnTo>
                    <a:pt x="1272286" y="1064132"/>
                  </a:lnTo>
                  <a:lnTo>
                    <a:pt x="1587627" y="1134490"/>
                  </a:lnTo>
                  <a:lnTo>
                    <a:pt x="2691257" y="1204721"/>
                  </a:lnTo>
                </a:path>
                <a:path w="3163570" h="1420495">
                  <a:moveTo>
                    <a:pt x="957072" y="1204087"/>
                  </a:moveTo>
                  <a:lnTo>
                    <a:pt x="1272286" y="1346200"/>
                  </a:lnTo>
                  <a:lnTo>
                    <a:pt x="1666367" y="1417319"/>
                  </a:lnTo>
                  <a:lnTo>
                    <a:pt x="2375916" y="1417319"/>
                  </a:lnTo>
                </a:path>
                <a:path w="3163570" h="1420495">
                  <a:moveTo>
                    <a:pt x="2715768" y="1216152"/>
                  </a:moveTo>
                  <a:lnTo>
                    <a:pt x="2362200" y="1416939"/>
                  </a:lnTo>
                </a:path>
                <a:path w="3163570" h="1420495">
                  <a:moveTo>
                    <a:pt x="2768600" y="1203959"/>
                  </a:moveTo>
                  <a:lnTo>
                    <a:pt x="2453640" y="1420114"/>
                  </a:lnTo>
                  <a:lnTo>
                    <a:pt x="2926080" y="1420114"/>
                  </a:lnTo>
                </a:path>
                <a:path w="3163570" h="1420495">
                  <a:moveTo>
                    <a:pt x="18923" y="9525"/>
                  </a:moveTo>
                  <a:lnTo>
                    <a:pt x="18923" y="199897"/>
                  </a:lnTo>
                </a:path>
                <a:path w="3163570" h="1420495">
                  <a:moveTo>
                    <a:pt x="354457" y="9525"/>
                  </a:moveTo>
                  <a:lnTo>
                    <a:pt x="157607" y="210565"/>
                  </a:lnTo>
                </a:path>
                <a:path w="3163570" h="1420495">
                  <a:moveTo>
                    <a:pt x="432689" y="9525"/>
                  </a:moveTo>
                  <a:lnTo>
                    <a:pt x="235966" y="210565"/>
                  </a:lnTo>
                </a:path>
                <a:path w="3163570" h="1420495">
                  <a:moveTo>
                    <a:pt x="341376" y="3047"/>
                  </a:moveTo>
                  <a:lnTo>
                    <a:pt x="0" y="3047"/>
                  </a:lnTo>
                </a:path>
                <a:path w="3163570" h="1420495">
                  <a:moveTo>
                    <a:pt x="183769" y="216915"/>
                  </a:moveTo>
                  <a:lnTo>
                    <a:pt x="0" y="216915"/>
                  </a:lnTo>
                </a:path>
                <a:path w="3163570" h="1420495">
                  <a:moveTo>
                    <a:pt x="807339" y="9525"/>
                  </a:moveTo>
                  <a:lnTo>
                    <a:pt x="807339" y="199897"/>
                  </a:lnTo>
                </a:path>
                <a:path w="3163570" h="1420495">
                  <a:moveTo>
                    <a:pt x="1043305" y="80009"/>
                  </a:moveTo>
                  <a:lnTo>
                    <a:pt x="1043305" y="199897"/>
                  </a:lnTo>
                </a:path>
                <a:path w="3163570" h="1420495">
                  <a:moveTo>
                    <a:pt x="1280414" y="80009"/>
                  </a:moveTo>
                  <a:lnTo>
                    <a:pt x="1280414" y="199897"/>
                  </a:lnTo>
                </a:path>
                <a:path w="3163570" h="1420495">
                  <a:moveTo>
                    <a:pt x="1595628" y="80009"/>
                  </a:moveTo>
                  <a:lnTo>
                    <a:pt x="1595628" y="199897"/>
                  </a:lnTo>
                </a:path>
                <a:path w="3163570" h="1420495">
                  <a:moveTo>
                    <a:pt x="1831594" y="80009"/>
                  </a:moveTo>
                  <a:lnTo>
                    <a:pt x="1831720" y="270382"/>
                  </a:lnTo>
                </a:path>
                <a:path w="3163570" h="1420495">
                  <a:moveTo>
                    <a:pt x="2067687" y="80009"/>
                  </a:moveTo>
                  <a:lnTo>
                    <a:pt x="2067687" y="270382"/>
                  </a:lnTo>
                </a:path>
                <a:path w="3163570" h="1420495">
                  <a:moveTo>
                    <a:pt x="2304669" y="152780"/>
                  </a:moveTo>
                  <a:lnTo>
                    <a:pt x="2304669" y="340994"/>
                  </a:lnTo>
                </a:path>
                <a:path w="3163570" h="1420495">
                  <a:moveTo>
                    <a:pt x="2540635" y="223392"/>
                  </a:moveTo>
                  <a:lnTo>
                    <a:pt x="2540635" y="411606"/>
                  </a:lnTo>
                </a:path>
                <a:path w="3163570" h="1420495">
                  <a:moveTo>
                    <a:pt x="2855976" y="364489"/>
                  </a:moveTo>
                  <a:lnTo>
                    <a:pt x="2855976" y="48425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12156" y="227672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>
                  <a:moveTo>
                    <a:pt x="0" y="0"/>
                  </a:moveTo>
                  <a:lnTo>
                    <a:pt x="25400" y="0"/>
                  </a:lnTo>
                </a:path>
              </a:pathLst>
            </a:custGeom>
            <a:ln w="48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16808" y="2395728"/>
              <a:ext cx="1749425" cy="484505"/>
            </a:xfrm>
            <a:custGeom>
              <a:avLst/>
              <a:gdLst/>
              <a:ahLst/>
              <a:cxnLst/>
              <a:rect l="l" t="t" r="r" b="b"/>
              <a:pathLst>
                <a:path w="1749425" h="484505">
                  <a:moveTo>
                    <a:pt x="1749170" y="0"/>
                  </a:moveTo>
                  <a:lnTo>
                    <a:pt x="1749170" y="189737"/>
                  </a:lnTo>
                </a:path>
                <a:path w="1749425" h="484505">
                  <a:moveTo>
                    <a:pt x="1592961" y="70358"/>
                  </a:moveTo>
                  <a:lnTo>
                    <a:pt x="1592961" y="260096"/>
                  </a:lnTo>
                </a:path>
                <a:path w="1749425" h="484505">
                  <a:moveTo>
                    <a:pt x="1356232" y="140716"/>
                  </a:moveTo>
                  <a:lnTo>
                    <a:pt x="1356232" y="330581"/>
                  </a:lnTo>
                </a:path>
                <a:path w="1749425" h="484505">
                  <a:moveTo>
                    <a:pt x="1120775" y="213233"/>
                  </a:moveTo>
                  <a:lnTo>
                    <a:pt x="1120775" y="330581"/>
                  </a:lnTo>
                </a:path>
                <a:path w="1749425" h="484505">
                  <a:moveTo>
                    <a:pt x="884046" y="213233"/>
                  </a:moveTo>
                  <a:lnTo>
                    <a:pt x="884046" y="400938"/>
                  </a:lnTo>
                </a:path>
                <a:path w="1749425" h="484505">
                  <a:moveTo>
                    <a:pt x="491108" y="213233"/>
                  </a:moveTo>
                  <a:lnTo>
                    <a:pt x="491108" y="400938"/>
                  </a:lnTo>
                </a:path>
                <a:path w="1749425" h="484505">
                  <a:moveTo>
                    <a:pt x="176275" y="213233"/>
                  </a:moveTo>
                  <a:lnTo>
                    <a:pt x="176275" y="400938"/>
                  </a:lnTo>
                </a:path>
                <a:path w="1749425" h="484505">
                  <a:moveTo>
                    <a:pt x="117093" y="424307"/>
                  </a:moveTo>
                  <a:lnTo>
                    <a:pt x="0" y="484124"/>
                  </a:lnTo>
                </a:path>
                <a:path w="1749425" h="484505">
                  <a:moveTo>
                    <a:pt x="18922" y="283591"/>
                  </a:moveTo>
                  <a:lnTo>
                    <a:pt x="18922" y="471297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75738" y="2451608"/>
            <a:ext cx="337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E</a:t>
            </a:r>
            <a:r>
              <a:rPr sz="1200" b="1" dirty="0"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21673" y="1660969"/>
            <a:ext cx="3030220" cy="1231900"/>
            <a:chOff x="2721673" y="1660969"/>
            <a:chExt cx="3030220" cy="1231900"/>
          </a:xfrm>
        </p:grpSpPr>
        <p:sp>
          <p:nvSpPr>
            <p:cNvPr id="14" name="object 14"/>
            <p:cNvSpPr/>
            <p:nvPr/>
          </p:nvSpPr>
          <p:spPr>
            <a:xfrm>
              <a:off x="2819399" y="1673352"/>
              <a:ext cx="2737485" cy="1207135"/>
            </a:xfrm>
            <a:custGeom>
              <a:avLst/>
              <a:gdLst/>
              <a:ahLst/>
              <a:cxnLst/>
              <a:rect l="l" t="t" r="r" b="b"/>
              <a:pathLst>
                <a:path w="2737485" h="1207135">
                  <a:moveTo>
                    <a:pt x="213360" y="70738"/>
                  </a:moveTo>
                  <a:lnTo>
                    <a:pt x="292226" y="0"/>
                  </a:lnTo>
                  <a:lnTo>
                    <a:pt x="922909" y="70738"/>
                  </a:lnTo>
                  <a:lnTo>
                    <a:pt x="1001649" y="141605"/>
                  </a:lnTo>
                </a:path>
                <a:path w="2737485" h="1207135">
                  <a:moveTo>
                    <a:pt x="1238250" y="141224"/>
                  </a:moveTo>
                  <a:lnTo>
                    <a:pt x="1317116" y="70358"/>
                  </a:lnTo>
                  <a:lnTo>
                    <a:pt x="1633220" y="141224"/>
                  </a:lnTo>
                  <a:lnTo>
                    <a:pt x="1712214" y="211962"/>
                  </a:lnTo>
                </a:path>
                <a:path w="2737485" h="1207135">
                  <a:moveTo>
                    <a:pt x="2026920" y="284225"/>
                  </a:moveTo>
                  <a:lnTo>
                    <a:pt x="2105914" y="213487"/>
                  </a:lnTo>
                  <a:lnTo>
                    <a:pt x="2263775" y="284225"/>
                  </a:lnTo>
                  <a:lnTo>
                    <a:pt x="2263775" y="355092"/>
                  </a:lnTo>
                </a:path>
                <a:path w="2737485" h="1207135">
                  <a:moveTo>
                    <a:pt x="2420874" y="993267"/>
                  </a:moveTo>
                  <a:lnTo>
                    <a:pt x="2499867" y="1063878"/>
                  </a:lnTo>
                  <a:lnTo>
                    <a:pt x="2737104" y="852043"/>
                  </a:lnTo>
                  <a:lnTo>
                    <a:pt x="2657983" y="781431"/>
                  </a:lnTo>
                </a:path>
                <a:path w="2737485" h="1207135">
                  <a:moveTo>
                    <a:pt x="2184273" y="1065402"/>
                  </a:moveTo>
                  <a:lnTo>
                    <a:pt x="2105533" y="1136269"/>
                  </a:lnTo>
                  <a:lnTo>
                    <a:pt x="1790319" y="1207008"/>
                  </a:lnTo>
                  <a:lnTo>
                    <a:pt x="1711452" y="1136269"/>
                  </a:lnTo>
                </a:path>
                <a:path w="2737485" h="1207135">
                  <a:moveTo>
                    <a:pt x="1474851" y="852551"/>
                  </a:moveTo>
                  <a:lnTo>
                    <a:pt x="1396238" y="781431"/>
                  </a:lnTo>
                  <a:lnTo>
                    <a:pt x="844803" y="781431"/>
                  </a:lnTo>
                  <a:lnTo>
                    <a:pt x="766063" y="852551"/>
                  </a:lnTo>
                </a:path>
                <a:path w="2737485" h="1207135">
                  <a:moveTo>
                    <a:pt x="0" y="935736"/>
                  </a:moveTo>
                  <a:lnTo>
                    <a:pt x="127635" y="201168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4263" y="1892808"/>
              <a:ext cx="103631" cy="17068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34055" y="2612136"/>
              <a:ext cx="758825" cy="121920"/>
            </a:xfrm>
            <a:custGeom>
              <a:avLst/>
              <a:gdLst/>
              <a:ahLst/>
              <a:cxnLst/>
              <a:rect l="l" t="t" r="r" b="b"/>
              <a:pathLst>
                <a:path w="758825" h="121919">
                  <a:moveTo>
                    <a:pt x="0" y="0"/>
                  </a:moveTo>
                  <a:lnTo>
                    <a:pt x="758444" y="121538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0127" y="2654808"/>
              <a:ext cx="192024" cy="914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48071" y="1825752"/>
              <a:ext cx="591185" cy="414655"/>
            </a:xfrm>
            <a:custGeom>
              <a:avLst/>
              <a:gdLst/>
              <a:ahLst/>
              <a:cxnLst/>
              <a:rect l="l" t="t" r="r" b="b"/>
              <a:pathLst>
                <a:path w="591185" h="414655">
                  <a:moveTo>
                    <a:pt x="590930" y="0"/>
                  </a:moveTo>
                  <a:lnTo>
                    <a:pt x="0" y="414527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6359" y="2090928"/>
              <a:ext cx="173736" cy="14630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996688" y="1741423"/>
            <a:ext cx="540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ck</a:t>
            </a:r>
            <a:r>
              <a:rPr sz="1200" b="1" spc="-1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68873" y="2594864"/>
            <a:ext cx="540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ck</a:t>
            </a:r>
            <a:r>
              <a:rPr sz="1200" b="1" spc="-1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58690" y="2808859"/>
            <a:ext cx="886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3125" algn="l"/>
              </a:tabLst>
            </a:pP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ck</a:t>
            </a:r>
            <a:r>
              <a:rPr sz="1200" b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53065" y="1932241"/>
            <a:ext cx="1128395" cy="734695"/>
            <a:chOff x="3953065" y="1932241"/>
            <a:chExt cx="1128395" cy="734695"/>
          </a:xfrm>
        </p:grpSpPr>
        <p:sp>
          <p:nvSpPr>
            <p:cNvPr id="24" name="object 24"/>
            <p:cNvSpPr/>
            <p:nvPr/>
          </p:nvSpPr>
          <p:spPr>
            <a:xfrm>
              <a:off x="3965448" y="1944624"/>
              <a:ext cx="432434" cy="320040"/>
            </a:xfrm>
            <a:custGeom>
              <a:avLst/>
              <a:gdLst/>
              <a:ahLst/>
              <a:cxnLst/>
              <a:rect l="l" t="t" r="r" b="b"/>
              <a:pathLst>
                <a:path w="432435" h="320039">
                  <a:moveTo>
                    <a:pt x="432307" y="320039"/>
                  </a:moveTo>
                  <a:lnTo>
                    <a:pt x="0" y="0"/>
                  </a:lnTo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6784" y="1962912"/>
              <a:ext cx="176784" cy="1402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84192" y="2075688"/>
              <a:ext cx="112775" cy="2618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544568" y="2401824"/>
              <a:ext cx="524510" cy="115570"/>
            </a:xfrm>
            <a:custGeom>
              <a:avLst/>
              <a:gdLst/>
              <a:ahLst/>
              <a:cxnLst/>
              <a:rect l="l" t="t" r="r" b="b"/>
              <a:pathLst>
                <a:path w="524510" h="115569">
                  <a:moveTo>
                    <a:pt x="0" y="0"/>
                  </a:moveTo>
                  <a:lnTo>
                    <a:pt x="524129" y="11531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5944" y="2432304"/>
              <a:ext cx="192024" cy="9143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379976" y="2395728"/>
              <a:ext cx="0" cy="259079"/>
            </a:xfrm>
            <a:custGeom>
              <a:avLst/>
              <a:gdLst/>
              <a:ahLst/>
              <a:cxnLst/>
              <a:rect l="l" t="t" r="r" b="b"/>
              <a:pathLst>
                <a:path h="259080">
                  <a:moveTo>
                    <a:pt x="0" y="0"/>
                  </a:moveTo>
                  <a:lnTo>
                    <a:pt x="0" y="25882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8160" y="2490216"/>
              <a:ext cx="103632" cy="17068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083305" y="1835023"/>
            <a:ext cx="4603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latin typeface="Arial"/>
                <a:cs typeface="Arial"/>
              </a:rPr>
              <a:t>R1</a:t>
            </a:r>
            <a:r>
              <a:rPr sz="1000" b="1" spc="130" dirty="0">
                <a:latin typeface="Arial"/>
                <a:cs typeface="Arial"/>
              </a:rPr>
              <a:t> </a:t>
            </a:r>
            <a:r>
              <a:rPr sz="1500" b="1" spc="-7" baseline="-25000" dirty="0">
                <a:latin typeface="Arial"/>
                <a:cs typeface="Arial"/>
              </a:rPr>
              <a:t>R2</a:t>
            </a:r>
            <a:endParaRPr sz="1500" baseline="-25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2105" y="1907793"/>
            <a:ext cx="7340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8165" algn="l"/>
              </a:tabLst>
            </a:pPr>
            <a:r>
              <a:rPr sz="1000" b="1" spc="-5" dirty="0">
                <a:latin typeface="Arial"/>
                <a:cs typeface="Arial"/>
              </a:rPr>
              <a:t>R</a:t>
            </a:r>
            <a:r>
              <a:rPr sz="1000" b="1" dirty="0">
                <a:latin typeface="Arial"/>
                <a:cs typeface="Arial"/>
              </a:rPr>
              <a:t>3	</a:t>
            </a:r>
            <a:r>
              <a:rPr sz="1000" b="1" spc="-5" dirty="0">
                <a:latin typeface="Arial"/>
                <a:cs typeface="Arial"/>
              </a:rPr>
              <a:t>R</a:t>
            </a:r>
            <a:r>
              <a:rPr sz="1000" b="1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65752" y="1978279"/>
            <a:ext cx="1879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" dirty="0">
                <a:latin typeface="Arial"/>
                <a:cs typeface="Arial"/>
              </a:rPr>
              <a:t>R5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37938" y="2119630"/>
            <a:ext cx="1885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" dirty="0">
                <a:latin typeface="Arial"/>
                <a:cs typeface="Arial"/>
              </a:rPr>
              <a:t>R</a:t>
            </a:r>
            <a:r>
              <a:rPr sz="1000" b="1" dirty="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32653" y="2404110"/>
            <a:ext cx="1873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" dirty="0">
                <a:latin typeface="Arial"/>
                <a:cs typeface="Arial"/>
              </a:rPr>
              <a:t>R1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03241" y="2547366"/>
            <a:ext cx="4076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latin typeface="Arial"/>
                <a:cs typeface="Arial"/>
              </a:rPr>
              <a:t>R3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55567" y="2239213"/>
            <a:ext cx="913130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ck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 </a:t>
            </a:r>
            <a:r>
              <a:rPr sz="1200" b="1" spc="10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I</a:t>
            </a:r>
            <a:r>
              <a:rPr sz="1200" b="1" spc="-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tabLst>
                <a:tab pos="421005" algn="l"/>
              </a:tabLst>
            </a:pPr>
            <a:r>
              <a:rPr sz="1000" b="1" dirty="0">
                <a:latin typeface="Arial"/>
                <a:cs typeface="Arial"/>
              </a:rPr>
              <a:t>R5	R4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849689" y="1444561"/>
            <a:ext cx="2639695" cy="1387475"/>
            <a:chOff x="2849689" y="1444561"/>
            <a:chExt cx="2639695" cy="1387475"/>
          </a:xfrm>
        </p:grpSpPr>
        <p:sp>
          <p:nvSpPr>
            <p:cNvPr id="39" name="object 39"/>
            <p:cNvSpPr/>
            <p:nvPr/>
          </p:nvSpPr>
          <p:spPr>
            <a:xfrm>
              <a:off x="3270503" y="1456944"/>
              <a:ext cx="2206625" cy="216535"/>
            </a:xfrm>
            <a:custGeom>
              <a:avLst/>
              <a:gdLst/>
              <a:ahLst/>
              <a:cxnLst/>
              <a:rect l="l" t="t" r="r" b="b"/>
              <a:pathLst>
                <a:path w="2206625" h="216535">
                  <a:moveTo>
                    <a:pt x="0" y="72008"/>
                  </a:moveTo>
                  <a:lnTo>
                    <a:pt x="78740" y="0"/>
                  </a:lnTo>
                  <a:lnTo>
                    <a:pt x="2127758" y="0"/>
                  </a:lnTo>
                  <a:lnTo>
                    <a:pt x="2206498" y="216153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62071" y="1837944"/>
              <a:ext cx="2456180" cy="981710"/>
            </a:xfrm>
            <a:custGeom>
              <a:avLst/>
              <a:gdLst/>
              <a:ahLst/>
              <a:cxnLst/>
              <a:rect l="l" t="t" r="r" b="b"/>
              <a:pathLst>
                <a:path w="2456179" h="981710">
                  <a:moveTo>
                    <a:pt x="1064514" y="57657"/>
                  </a:moveTo>
                  <a:lnTo>
                    <a:pt x="972057" y="93979"/>
                  </a:lnTo>
                </a:path>
                <a:path w="2456179" h="981710">
                  <a:moveTo>
                    <a:pt x="1142745" y="57657"/>
                  </a:moveTo>
                  <a:lnTo>
                    <a:pt x="946023" y="188213"/>
                  </a:lnTo>
                </a:path>
                <a:path w="2456179" h="981710">
                  <a:moveTo>
                    <a:pt x="1209039" y="70484"/>
                  </a:moveTo>
                  <a:lnTo>
                    <a:pt x="998092" y="211708"/>
                  </a:lnTo>
                </a:path>
                <a:path w="2456179" h="981710">
                  <a:moveTo>
                    <a:pt x="1222120" y="130301"/>
                  </a:moveTo>
                  <a:lnTo>
                    <a:pt x="1051432" y="224535"/>
                  </a:lnTo>
                </a:path>
                <a:path w="2456179" h="981710">
                  <a:moveTo>
                    <a:pt x="1222120" y="201040"/>
                  </a:moveTo>
                  <a:lnTo>
                    <a:pt x="1129664" y="235203"/>
                  </a:lnTo>
                </a:path>
                <a:path w="2456179" h="981710">
                  <a:moveTo>
                    <a:pt x="1760347" y="164591"/>
                  </a:moveTo>
                  <a:lnTo>
                    <a:pt x="1680972" y="201040"/>
                  </a:lnTo>
                </a:path>
                <a:path w="2456179" h="981710">
                  <a:moveTo>
                    <a:pt x="1877694" y="177545"/>
                  </a:moveTo>
                  <a:lnTo>
                    <a:pt x="1693926" y="284352"/>
                  </a:lnTo>
                </a:path>
                <a:path w="2456179" h="981710">
                  <a:moveTo>
                    <a:pt x="1904873" y="224535"/>
                  </a:moveTo>
                  <a:lnTo>
                    <a:pt x="1734312" y="331469"/>
                  </a:lnTo>
                </a:path>
                <a:path w="2456179" h="981710">
                  <a:moveTo>
                    <a:pt x="1917953" y="284352"/>
                  </a:moveTo>
                  <a:lnTo>
                    <a:pt x="1812543" y="331469"/>
                  </a:lnTo>
                </a:path>
                <a:path w="2456179" h="981710">
                  <a:moveTo>
                    <a:pt x="2324607" y="342138"/>
                  </a:moveTo>
                  <a:lnTo>
                    <a:pt x="2206116" y="401954"/>
                  </a:lnTo>
                </a:path>
                <a:path w="2456179" h="981710">
                  <a:moveTo>
                    <a:pt x="2403982" y="365632"/>
                  </a:moveTo>
                  <a:lnTo>
                    <a:pt x="2233294" y="472439"/>
                  </a:lnTo>
                </a:path>
                <a:path w="2456179" h="981710">
                  <a:moveTo>
                    <a:pt x="2456179" y="378459"/>
                  </a:moveTo>
                  <a:lnTo>
                    <a:pt x="2285491" y="496188"/>
                  </a:lnTo>
                </a:path>
                <a:path w="2456179" h="981710">
                  <a:moveTo>
                    <a:pt x="2259456" y="602995"/>
                  </a:moveTo>
                  <a:lnTo>
                    <a:pt x="2140712" y="662813"/>
                  </a:lnTo>
                </a:path>
                <a:path w="2456179" h="981710">
                  <a:moveTo>
                    <a:pt x="2324607" y="626490"/>
                  </a:moveTo>
                  <a:lnTo>
                    <a:pt x="2127757" y="756919"/>
                  </a:lnTo>
                </a:path>
                <a:path w="2456179" h="981710">
                  <a:moveTo>
                    <a:pt x="2324607" y="697102"/>
                  </a:moveTo>
                  <a:lnTo>
                    <a:pt x="2179954" y="780414"/>
                  </a:lnTo>
                </a:path>
                <a:path w="2456179" h="981710">
                  <a:moveTo>
                    <a:pt x="1536318" y="769746"/>
                  </a:moveTo>
                  <a:lnTo>
                    <a:pt x="1418843" y="827531"/>
                  </a:lnTo>
                </a:path>
                <a:path w="2456179" h="981710">
                  <a:moveTo>
                    <a:pt x="1654810" y="733425"/>
                  </a:moveTo>
                  <a:lnTo>
                    <a:pt x="1445005" y="863980"/>
                  </a:lnTo>
                </a:path>
                <a:path w="2456179" h="981710">
                  <a:moveTo>
                    <a:pt x="1693926" y="769746"/>
                  </a:moveTo>
                  <a:lnTo>
                    <a:pt x="1497076" y="900302"/>
                  </a:lnTo>
                </a:path>
                <a:path w="2456179" h="981710">
                  <a:moveTo>
                    <a:pt x="1693926" y="840358"/>
                  </a:moveTo>
                  <a:lnTo>
                    <a:pt x="1576577" y="900302"/>
                  </a:lnTo>
                </a:path>
                <a:path w="2456179" h="981710">
                  <a:moveTo>
                    <a:pt x="669670" y="769746"/>
                  </a:moveTo>
                  <a:lnTo>
                    <a:pt x="552450" y="827531"/>
                  </a:lnTo>
                </a:path>
                <a:path w="2456179" h="981710">
                  <a:moveTo>
                    <a:pt x="696976" y="803909"/>
                  </a:moveTo>
                  <a:lnTo>
                    <a:pt x="552450" y="900302"/>
                  </a:lnTo>
                </a:path>
                <a:path w="2456179" h="981710">
                  <a:moveTo>
                    <a:pt x="710056" y="863980"/>
                  </a:moveTo>
                  <a:lnTo>
                    <a:pt x="552450" y="970788"/>
                  </a:lnTo>
                </a:path>
                <a:path w="2456179" h="981710">
                  <a:moveTo>
                    <a:pt x="710056" y="934465"/>
                  </a:moveTo>
                  <a:lnTo>
                    <a:pt x="552450" y="981455"/>
                  </a:lnTo>
                </a:path>
                <a:path w="2456179" h="981710">
                  <a:moveTo>
                    <a:pt x="92455" y="0"/>
                  </a:moveTo>
                  <a:lnTo>
                    <a:pt x="0" y="46989"/>
                  </a:lnTo>
                </a:path>
                <a:path w="2456179" h="981710">
                  <a:moveTo>
                    <a:pt x="157606" y="10667"/>
                  </a:moveTo>
                  <a:lnTo>
                    <a:pt x="0" y="117475"/>
                  </a:lnTo>
                </a:path>
                <a:path w="2456179" h="981710">
                  <a:moveTo>
                    <a:pt x="170687" y="70484"/>
                  </a:moveTo>
                  <a:lnTo>
                    <a:pt x="14223" y="177545"/>
                  </a:lnTo>
                </a:path>
                <a:path w="2456179" h="981710">
                  <a:moveTo>
                    <a:pt x="157606" y="153923"/>
                  </a:moveTo>
                  <a:lnTo>
                    <a:pt x="79375" y="188213"/>
                  </a:lnTo>
                </a:path>
              </a:pathLst>
            </a:custGeom>
            <a:ln w="24384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83407" y="1825752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0"/>
                  </a:moveTo>
                  <a:lnTo>
                    <a:pt x="0" y="19177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80745" y="872133"/>
            <a:ext cx="4827270" cy="8667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Organization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Magnetic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Tapes</a:t>
            </a:r>
            <a:endParaRPr sz="1800">
              <a:latin typeface="Arial"/>
              <a:cs typeface="Arial"/>
            </a:endParaRPr>
          </a:p>
          <a:p>
            <a:pPr marR="946785" algn="r">
              <a:lnSpc>
                <a:spcPct val="100000"/>
              </a:lnSpc>
              <a:spcBef>
                <a:spcPts val="315"/>
              </a:spcBef>
            </a:pPr>
            <a:r>
              <a:rPr sz="1200" b="1" dirty="0">
                <a:latin typeface="Arial"/>
                <a:cs typeface="Arial"/>
              </a:rPr>
              <a:t>file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  <a:p>
            <a:pPr marL="2695575">
              <a:lnSpc>
                <a:spcPct val="100000"/>
              </a:lnSpc>
              <a:spcBef>
                <a:spcPts val="790"/>
              </a:spcBef>
              <a:tabLst>
                <a:tab pos="3689350" algn="l"/>
              </a:tabLst>
            </a:pPr>
            <a:r>
              <a:rPr sz="1200" b="1" dirty="0">
                <a:latin typeface="Arial"/>
                <a:cs typeface="Arial"/>
              </a:rPr>
              <a:t>block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	</a:t>
            </a:r>
            <a:r>
              <a:rPr sz="1200" b="1" dirty="0">
                <a:latin typeface="Arial"/>
                <a:cs typeface="Arial"/>
              </a:rPr>
              <a:t>block</a:t>
            </a:r>
            <a:r>
              <a:rPr sz="1200" b="1" spc="2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84341" y="1670684"/>
            <a:ext cx="337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E</a:t>
            </a:r>
            <a:r>
              <a:rPr sz="1200" b="1" dirty="0"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786001" y="3965447"/>
            <a:ext cx="3462654" cy="2517775"/>
            <a:chOff x="1786001" y="3965447"/>
            <a:chExt cx="3462654" cy="2517775"/>
          </a:xfrm>
        </p:grpSpPr>
        <p:sp>
          <p:nvSpPr>
            <p:cNvPr id="45" name="object 45"/>
            <p:cNvSpPr/>
            <p:nvPr/>
          </p:nvSpPr>
          <p:spPr>
            <a:xfrm>
              <a:off x="1812036" y="4262627"/>
              <a:ext cx="1228090" cy="759460"/>
            </a:xfrm>
            <a:custGeom>
              <a:avLst/>
              <a:gdLst/>
              <a:ahLst/>
              <a:cxnLst/>
              <a:rect l="l" t="t" r="r" b="b"/>
              <a:pathLst>
                <a:path w="1228089" h="759460">
                  <a:moveTo>
                    <a:pt x="0" y="0"/>
                  </a:moveTo>
                  <a:lnTo>
                    <a:pt x="1227963" y="1397"/>
                  </a:lnTo>
                </a:path>
                <a:path w="1228089" h="759460">
                  <a:moveTo>
                    <a:pt x="0" y="315468"/>
                  </a:moveTo>
                  <a:lnTo>
                    <a:pt x="1227963" y="316738"/>
                  </a:lnTo>
                </a:path>
                <a:path w="1228089" h="759460">
                  <a:moveTo>
                    <a:pt x="0" y="757555"/>
                  </a:moveTo>
                  <a:lnTo>
                    <a:pt x="1227963" y="758952"/>
                  </a:lnTo>
                </a:path>
              </a:pathLst>
            </a:custGeom>
            <a:ln w="518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392680" y="4072127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0"/>
                  </a:moveTo>
                  <a:lnTo>
                    <a:pt x="0" y="568960"/>
                  </a:lnTo>
                </a:path>
                <a:path h="1136650">
                  <a:moveTo>
                    <a:pt x="0" y="821182"/>
                  </a:moveTo>
                  <a:lnTo>
                    <a:pt x="0" y="113665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387981" y="4073651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945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56688" y="4072127"/>
              <a:ext cx="0" cy="1136650"/>
            </a:xfrm>
            <a:custGeom>
              <a:avLst/>
              <a:gdLst/>
              <a:ahLst/>
              <a:cxnLst/>
              <a:rect l="l" t="t" r="r" b="b"/>
              <a:pathLst>
                <a:path h="1136650">
                  <a:moveTo>
                    <a:pt x="0" y="0"/>
                  </a:moveTo>
                  <a:lnTo>
                    <a:pt x="0" y="568960"/>
                  </a:lnTo>
                </a:path>
                <a:path h="1136650">
                  <a:moveTo>
                    <a:pt x="0" y="821182"/>
                  </a:moveTo>
                  <a:lnTo>
                    <a:pt x="0" y="113665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654808" y="4139168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66498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6498" y="63896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654808" y="4139168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0" y="63896"/>
                  </a:moveTo>
                  <a:lnTo>
                    <a:pt x="66498" y="63896"/>
                  </a:lnTo>
                  <a:lnTo>
                    <a:pt x="66498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54808" y="5087149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66498" y="0"/>
                  </a:moveTo>
                  <a:lnTo>
                    <a:pt x="0" y="0"/>
                  </a:lnTo>
                  <a:lnTo>
                    <a:pt x="0" y="63842"/>
                  </a:lnTo>
                  <a:lnTo>
                    <a:pt x="66498" y="63842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54808" y="5087149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0" y="63842"/>
                  </a:moveTo>
                  <a:lnTo>
                    <a:pt x="66498" y="63842"/>
                  </a:lnTo>
                  <a:lnTo>
                    <a:pt x="66498" y="0"/>
                  </a:lnTo>
                  <a:lnTo>
                    <a:pt x="0" y="0"/>
                  </a:lnTo>
                  <a:lnTo>
                    <a:pt x="0" y="6384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54808" y="4898120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66498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6498" y="63896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4808" y="4898120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0" y="63896"/>
                  </a:moveTo>
                  <a:lnTo>
                    <a:pt x="66498" y="63896"/>
                  </a:lnTo>
                  <a:lnTo>
                    <a:pt x="66498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4808" y="4645136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66498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6498" y="63896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54808" y="4645136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0" y="63896"/>
                  </a:moveTo>
                  <a:lnTo>
                    <a:pt x="66498" y="63896"/>
                  </a:lnTo>
                  <a:lnTo>
                    <a:pt x="66498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54808" y="4456160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66498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6498" y="63896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54808" y="4456160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0" y="63896"/>
                  </a:moveTo>
                  <a:lnTo>
                    <a:pt x="66498" y="63896"/>
                  </a:lnTo>
                  <a:lnTo>
                    <a:pt x="66498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54808" y="4331237"/>
              <a:ext cx="66675" cy="60960"/>
            </a:xfrm>
            <a:custGeom>
              <a:avLst/>
              <a:gdLst/>
              <a:ahLst/>
              <a:cxnLst/>
              <a:rect l="l" t="t" r="r" b="b"/>
              <a:pathLst>
                <a:path w="66675" h="60960">
                  <a:moveTo>
                    <a:pt x="66498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6498" y="60803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51760" y="4008119"/>
              <a:ext cx="581660" cy="1200785"/>
            </a:xfrm>
            <a:custGeom>
              <a:avLst/>
              <a:gdLst/>
              <a:ahLst/>
              <a:cxnLst/>
              <a:rect l="l" t="t" r="r" b="b"/>
              <a:pathLst>
                <a:path w="581660" h="1200785">
                  <a:moveTo>
                    <a:pt x="3047" y="383920"/>
                  </a:moveTo>
                  <a:lnTo>
                    <a:pt x="69546" y="383920"/>
                  </a:lnTo>
                  <a:lnTo>
                    <a:pt x="69546" y="323117"/>
                  </a:lnTo>
                  <a:lnTo>
                    <a:pt x="3047" y="323117"/>
                  </a:lnTo>
                  <a:lnTo>
                    <a:pt x="3047" y="383920"/>
                  </a:lnTo>
                  <a:close/>
                </a:path>
                <a:path w="581660" h="1200785">
                  <a:moveTo>
                    <a:pt x="0" y="125602"/>
                  </a:moveTo>
                  <a:lnTo>
                    <a:pt x="451992" y="126999"/>
                  </a:lnTo>
                </a:path>
                <a:path w="581660" h="1200785">
                  <a:moveTo>
                    <a:pt x="64769" y="379475"/>
                  </a:moveTo>
                  <a:lnTo>
                    <a:pt x="451992" y="380745"/>
                  </a:lnTo>
                </a:path>
                <a:path w="581660" h="1200785">
                  <a:moveTo>
                    <a:pt x="64769" y="441578"/>
                  </a:moveTo>
                  <a:lnTo>
                    <a:pt x="451992" y="442975"/>
                  </a:lnTo>
                </a:path>
                <a:path w="581660" h="1200785">
                  <a:moveTo>
                    <a:pt x="64769" y="695451"/>
                  </a:moveTo>
                  <a:lnTo>
                    <a:pt x="451992" y="696721"/>
                  </a:lnTo>
                </a:path>
                <a:path w="581660" h="1200785">
                  <a:moveTo>
                    <a:pt x="72770" y="892428"/>
                  </a:moveTo>
                  <a:lnTo>
                    <a:pt x="451992" y="885824"/>
                  </a:lnTo>
                </a:path>
                <a:path w="581660" h="1200785">
                  <a:moveTo>
                    <a:pt x="64769" y="1137030"/>
                  </a:moveTo>
                  <a:lnTo>
                    <a:pt x="451992" y="1138427"/>
                  </a:lnTo>
                </a:path>
                <a:path w="581660" h="1200785">
                  <a:moveTo>
                    <a:pt x="451992" y="0"/>
                  </a:moveTo>
                  <a:lnTo>
                    <a:pt x="453389" y="1200530"/>
                  </a:lnTo>
                </a:path>
                <a:path w="581660" h="1200785">
                  <a:moveTo>
                    <a:pt x="451992" y="0"/>
                  </a:moveTo>
                  <a:lnTo>
                    <a:pt x="580263" y="1396"/>
                  </a:lnTo>
                </a:path>
                <a:path w="581660" h="1200785">
                  <a:moveTo>
                    <a:pt x="580263" y="0"/>
                  </a:moveTo>
                  <a:lnTo>
                    <a:pt x="581659" y="120053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50564" y="4262627"/>
              <a:ext cx="1231265" cy="759460"/>
            </a:xfrm>
            <a:custGeom>
              <a:avLst/>
              <a:gdLst/>
              <a:ahLst/>
              <a:cxnLst/>
              <a:rect l="l" t="t" r="r" b="b"/>
              <a:pathLst>
                <a:path w="1231264" h="759460">
                  <a:moveTo>
                    <a:pt x="0" y="0"/>
                  </a:moveTo>
                  <a:lnTo>
                    <a:pt x="1231138" y="1397"/>
                  </a:lnTo>
                </a:path>
                <a:path w="1231264" h="759460">
                  <a:moveTo>
                    <a:pt x="0" y="315468"/>
                  </a:moveTo>
                  <a:lnTo>
                    <a:pt x="1231138" y="316738"/>
                  </a:lnTo>
                </a:path>
                <a:path w="1231264" h="759460">
                  <a:moveTo>
                    <a:pt x="0" y="757555"/>
                  </a:moveTo>
                  <a:lnTo>
                    <a:pt x="1231138" y="758952"/>
                  </a:lnTo>
                </a:path>
              </a:pathLst>
            </a:custGeom>
            <a:ln w="518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31208" y="4072127"/>
              <a:ext cx="66675" cy="1136650"/>
            </a:xfrm>
            <a:custGeom>
              <a:avLst/>
              <a:gdLst/>
              <a:ahLst/>
              <a:cxnLst/>
              <a:rect l="l" t="t" r="r" b="b"/>
              <a:pathLst>
                <a:path w="66675" h="1136650">
                  <a:moveTo>
                    <a:pt x="0" y="0"/>
                  </a:moveTo>
                  <a:lnTo>
                    <a:pt x="1396" y="632333"/>
                  </a:lnTo>
                </a:path>
                <a:path w="66675" h="1136650">
                  <a:moveTo>
                    <a:pt x="0" y="821182"/>
                  </a:moveTo>
                  <a:lnTo>
                    <a:pt x="1396" y="1136650"/>
                  </a:lnTo>
                </a:path>
                <a:path w="66675" h="1136650">
                  <a:moveTo>
                    <a:pt x="65277" y="0"/>
                  </a:moveTo>
                  <a:lnTo>
                    <a:pt x="66675" y="63233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26255" y="4073651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502" y="0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95216" y="4892039"/>
              <a:ext cx="2540" cy="317500"/>
            </a:xfrm>
            <a:custGeom>
              <a:avLst/>
              <a:gdLst/>
              <a:ahLst/>
              <a:cxnLst/>
              <a:rect l="l" t="t" r="r" b="b"/>
              <a:pathLst>
                <a:path w="2539" h="317500">
                  <a:moveTo>
                    <a:pt x="0" y="0"/>
                  </a:moveTo>
                  <a:lnTo>
                    <a:pt x="2286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468368" y="4139168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68368" y="4139168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596383" y="4139168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96383" y="4139168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55464" y="4139168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55464" y="4139168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468368" y="433123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63477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3477" y="60803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68368" y="433123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0" y="60803"/>
                  </a:moveTo>
                  <a:lnTo>
                    <a:pt x="63477" y="60803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0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596383" y="433123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63477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3477" y="60803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596383" y="433123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0" y="60803"/>
                  </a:moveTo>
                  <a:lnTo>
                    <a:pt x="63477" y="60803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0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55464" y="433123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63477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3477" y="60803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55464" y="433123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0" y="60803"/>
                  </a:moveTo>
                  <a:lnTo>
                    <a:pt x="63477" y="60803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0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468368" y="445616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468368" y="445616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596383" y="445616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596383" y="445616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55464" y="445616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55464" y="445616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68368" y="4645136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68368" y="4645136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596383" y="4645136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596383" y="4645136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855464" y="4645136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855464" y="4645136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468368" y="489812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468368" y="489812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596383" y="489812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596383" y="489812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55464" y="489812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3477" y="63896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855464" y="4898120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96"/>
                  </a:moveTo>
                  <a:lnTo>
                    <a:pt x="63477" y="63896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68368" y="5087149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42"/>
                  </a:lnTo>
                  <a:lnTo>
                    <a:pt x="63477" y="63842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468368" y="5087149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42"/>
                  </a:moveTo>
                  <a:lnTo>
                    <a:pt x="63477" y="63842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4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596383" y="5087149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42"/>
                  </a:lnTo>
                  <a:lnTo>
                    <a:pt x="63477" y="63842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596383" y="5087149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0" y="63842"/>
                  </a:moveTo>
                  <a:lnTo>
                    <a:pt x="63477" y="63842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384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855464" y="5087149"/>
              <a:ext cx="63500" cy="64135"/>
            </a:xfrm>
            <a:custGeom>
              <a:avLst/>
              <a:gdLst/>
              <a:ahLst/>
              <a:cxnLst/>
              <a:rect l="l" t="t" r="r" b="b"/>
              <a:pathLst>
                <a:path w="63500" h="64135">
                  <a:moveTo>
                    <a:pt x="63477" y="0"/>
                  </a:moveTo>
                  <a:lnTo>
                    <a:pt x="0" y="0"/>
                  </a:lnTo>
                  <a:lnTo>
                    <a:pt x="0" y="63842"/>
                  </a:lnTo>
                  <a:lnTo>
                    <a:pt x="63477" y="63842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16608" y="4008119"/>
              <a:ext cx="3422650" cy="2468880"/>
            </a:xfrm>
            <a:custGeom>
              <a:avLst/>
              <a:gdLst/>
              <a:ahLst/>
              <a:cxnLst/>
              <a:rect l="l" t="t" r="r" b="b"/>
              <a:pathLst>
                <a:path w="3422650" h="2468879">
                  <a:moveTo>
                    <a:pt x="3038856" y="1142872"/>
                  </a:moveTo>
                  <a:lnTo>
                    <a:pt x="3102333" y="1142872"/>
                  </a:lnTo>
                  <a:lnTo>
                    <a:pt x="3102333" y="1079030"/>
                  </a:lnTo>
                  <a:lnTo>
                    <a:pt x="3038856" y="1079030"/>
                  </a:lnTo>
                  <a:lnTo>
                    <a:pt x="3038856" y="1142872"/>
                  </a:lnTo>
                  <a:close/>
                </a:path>
                <a:path w="3422650" h="2468879">
                  <a:moveTo>
                    <a:pt x="2645664" y="125475"/>
                  </a:moveTo>
                  <a:lnTo>
                    <a:pt x="3291458" y="126872"/>
                  </a:lnTo>
                </a:path>
                <a:path w="3422650" h="2468879">
                  <a:moveTo>
                    <a:pt x="2645664" y="379094"/>
                  </a:moveTo>
                  <a:lnTo>
                    <a:pt x="3291458" y="380364"/>
                  </a:lnTo>
                </a:path>
                <a:path w="3422650" h="2468879">
                  <a:moveTo>
                    <a:pt x="2645664" y="441070"/>
                  </a:moveTo>
                  <a:lnTo>
                    <a:pt x="3291458" y="442467"/>
                  </a:lnTo>
                </a:path>
                <a:path w="3422650" h="2468879">
                  <a:moveTo>
                    <a:pt x="2645664" y="694689"/>
                  </a:moveTo>
                  <a:lnTo>
                    <a:pt x="3291458" y="695959"/>
                  </a:lnTo>
                </a:path>
                <a:path w="3422650" h="2468879">
                  <a:moveTo>
                    <a:pt x="2645664" y="883538"/>
                  </a:moveTo>
                  <a:lnTo>
                    <a:pt x="3299459" y="876934"/>
                  </a:lnTo>
                </a:path>
                <a:path w="3422650" h="2468879">
                  <a:moveTo>
                    <a:pt x="2710434" y="1135760"/>
                  </a:moveTo>
                  <a:lnTo>
                    <a:pt x="3291458" y="1137157"/>
                  </a:lnTo>
                </a:path>
                <a:path w="3422650" h="2468879">
                  <a:moveTo>
                    <a:pt x="3291458" y="0"/>
                  </a:moveTo>
                  <a:lnTo>
                    <a:pt x="3292729" y="1262506"/>
                  </a:lnTo>
                </a:path>
                <a:path w="3422650" h="2468879">
                  <a:moveTo>
                    <a:pt x="3291458" y="0"/>
                  </a:moveTo>
                  <a:lnTo>
                    <a:pt x="3421126" y="1396"/>
                  </a:lnTo>
                </a:path>
                <a:path w="3422650" h="2468879">
                  <a:moveTo>
                    <a:pt x="3421126" y="0"/>
                  </a:moveTo>
                  <a:lnTo>
                    <a:pt x="3422523" y="1262506"/>
                  </a:lnTo>
                </a:path>
                <a:path w="3422650" h="2468879">
                  <a:moveTo>
                    <a:pt x="0" y="1868068"/>
                  </a:moveTo>
                  <a:lnTo>
                    <a:pt x="1905" y="1821167"/>
                  </a:lnTo>
                  <a:lnTo>
                    <a:pt x="7239" y="1775244"/>
                  </a:lnTo>
                  <a:lnTo>
                    <a:pt x="16256" y="1730438"/>
                  </a:lnTo>
                  <a:lnTo>
                    <a:pt x="28448" y="1686902"/>
                  </a:lnTo>
                  <a:lnTo>
                    <a:pt x="43942" y="1644738"/>
                  </a:lnTo>
                  <a:lnTo>
                    <a:pt x="62356" y="1604098"/>
                  </a:lnTo>
                  <a:lnTo>
                    <a:pt x="83819" y="1565147"/>
                  </a:lnTo>
                  <a:lnTo>
                    <a:pt x="108077" y="1527936"/>
                  </a:lnTo>
                  <a:lnTo>
                    <a:pt x="134874" y="1492630"/>
                  </a:lnTo>
                  <a:lnTo>
                    <a:pt x="164337" y="1459483"/>
                  </a:lnTo>
                  <a:lnTo>
                    <a:pt x="195961" y="1428368"/>
                  </a:lnTo>
                  <a:lnTo>
                    <a:pt x="229997" y="1399666"/>
                  </a:lnTo>
                  <a:lnTo>
                    <a:pt x="266065" y="1373504"/>
                  </a:lnTo>
                  <a:lnTo>
                    <a:pt x="304165" y="1349755"/>
                  </a:lnTo>
                  <a:lnTo>
                    <a:pt x="344043" y="1328800"/>
                  </a:lnTo>
                  <a:lnTo>
                    <a:pt x="385572" y="1310766"/>
                  </a:lnTo>
                  <a:lnTo>
                    <a:pt x="428752" y="1295653"/>
                  </a:lnTo>
                  <a:lnTo>
                    <a:pt x="473329" y="1283715"/>
                  </a:lnTo>
                  <a:lnTo>
                    <a:pt x="519175" y="1274952"/>
                  </a:lnTo>
                  <a:lnTo>
                    <a:pt x="566166" y="1269618"/>
                  </a:lnTo>
                  <a:lnTo>
                    <a:pt x="614044" y="1267840"/>
                  </a:lnTo>
                  <a:lnTo>
                    <a:pt x="662051" y="1269618"/>
                  </a:lnTo>
                  <a:lnTo>
                    <a:pt x="709041" y="1274952"/>
                  </a:lnTo>
                  <a:lnTo>
                    <a:pt x="754888" y="1283715"/>
                  </a:lnTo>
                  <a:lnTo>
                    <a:pt x="799465" y="1295653"/>
                  </a:lnTo>
                  <a:lnTo>
                    <a:pt x="842644" y="1310766"/>
                  </a:lnTo>
                  <a:lnTo>
                    <a:pt x="884174" y="1328800"/>
                  </a:lnTo>
                  <a:lnTo>
                    <a:pt x="924052" y="1349755"/>
                  </a:lnTo>
                  <a:lnTo>
                    <a:pt x="962152" y="1373504"/>
                  </a:lnTo>
                  <a:lnTo>
                    <a:pt x="998219" y="1399666"/>
                  </a:lnTo>
                  <a:lnTo>
                    <a:pt x="1032129" y="1428368"/>
                  </a:lnTo>
                  <a:lnTo>
                    <a:pt x="1063879" y="1459483"/>
                  </a:lnTo>
                  <a:lnTo>
                    <a:pt x="1093343" y="1492630"/>
                  </a:lnTo>
                  <a:lnTo>
                    <a:pt x="1120140" y="1527936"/>
                  </a:lnTo>
                  <a:lnTo>
                    <a:pt x="1144397" y="1565147"/>
                  </a:lnTo>
                  <a:lnTo>
                    <a:pt x="1165733" y="1604098"/>
                  </a:lnTo>
                  <a:lnTo>
                    <a:pt x="1184275" y="1644738"/>
                  </a:lnTo>
                  <a:lnTo>
                    <a:pt x="1199769" y="1686902"/>
                  </a:lnTo>
                  <a:lnTo>
                    <a:pt x="1211961" y="1730438"/>
                  </a:lnTo>
                  <a:lnTo>
                    <a:pt x="1220851" y="1775244"/>
                  </a:lnTo>
                  <a:lnTo>
                    <a:pt x="1226312" y="1821167"/>
                  </a:lnTo>
                  <a:lnTo>
                    <a:pt x="1228217" y="1868068"/>
                  </a:lnTo>
                  <a:lnTo>
                    <a:pt x="1226312" y="1914969"/>
                  </a:lnTo>
                  <a:lnTo>
                    <a:pt x="1220851" y="1960892"/>
                  </a:lnTo>
                  <a:lnTo>
                    <a:pt x="1211961" y="2005698"/>
                  </a:lnTo>
                  <a:lnTo>
                    <a:pt x="1199769" y="2049233"/>
                  </a:lnTo>
                  <a:lnTo>
                    <a:pt x="1184275" y="2091397"/>
                  </a:lnTo>
                  <a:lnTo>
                    <a:pt x="1165733" y="2132037"/>
                  </a:lnTo>
                  <a:lnTo>
                    <a:pt x="1144397" y="2171014"/>
                  </a:lnTo>
                  <a:lnTo>
                    <a:pt x="1120140" y="2208212"/>
                  </a:lnTo>
                  <a:lnTo>
                    <a:pt x="1093343" y="2243480"/>
                  </a:lnTo>
                  <a:lnTo>
                    <a:pt x="1063879" y="2276690"/>
                  </a:lnTo>
                  <a:lnTo>
                    <a:pt x="1032129" y="2307729"/>
                  </a:lnTo>
                  <a:lnTo>
                    <a:pt x="998219" y="2336431"/>
                  </a:lnTo>
                  <a:lnTo>
                    <a:pt x="962152" y="2362682"/>
                  </a:lnTo>
                  <a:lnTo>
                    <a:pt x="924052" y="2386342"/>
                  </a:lnTo>
                  <a:lnTo>
                    <a:pt x="884174" y="2407285"/>
                  </a:lnTo>
                  <a:lnTo>
                    <a:pt x="842644" y="2425369"/>
                  </a:lnTo>
                  <a:lnTo>
                    <a:pt x="799465" y="2440470"/>
                  </a:lnTo>
                  <a:lnTo>
                    <a:pt x="754888" y="2452446"/>
                  </a:lnTo>
                  <a:lnTo>
                    <a:pt x="709041" y="2461158"/>
                  </a:lnTo>
                  <a:lnTo>
                    <a:pt x="662051" y="2466492"/>
                  </a:lnTo>
                  <a:lnTo>
                    <a:pt x="614044" y="2468295"/>
                  </a:lnTo>
                  <a:lnTo>
                    <a:pt x="566166" y="2466492"/>
                  </a:lnTo>
                  <a:lnTo>
                    <a:pt x="519175" y="2461158"/>
                  </a:lnTo>
                  <a:lnTo>
                    <a:pt x="473329" y="2452446"/>
                  </a:lnTo>
                  <a:lnTo>
                    <a:pt x="428752" y="2440470"/>
                  </a:lnTo>
                  <a:lnTo>
                    <a:pt x="385572" y="2425369"/>
                  </a:lnTo>
                  <a:lnTo>
                    <a:pt x="344043" y="2407285"/>
                  </a:lnTo>
                  <a:lnTo>
                    <a:pt x="304165" y="2386342"/>
                  </a:lnTo>
                  <a:lnTo>
                    <a:pt x="266065" y="2362682"/>
                  </a:lnTo>
                  <a:lnTo>
                    <a:pt x="229997" y="2336431"/>
                  </a:lnTo>
                  <a:lnTo>
                    <a:pt x="195961" y="2307729"/>
                  </a:lnTo>
                  <a:lnTo>
                    <a:pt x="164337" y="2276690"/>
                  </a:lnTo>
                  <a:lnTo>
                    <a:pt x="134874" y="2243480"/>
                  </a:lnTo>
                  <a:lnTo>
                    <a:pt x="108077" y="2208212"/>
                  </a:lnTo>
                  <a:lnTo>
                    <a:pt x="83819" y="2171014"/>
                  </a:lnTo>
                  <a:lnTo>
                    <a:pt x="62356" y="2132037"/>
                  </a:lnTo>
                  <a:lnTo>
                    <a:pt x="43942" y="2091397"/>
                  </a:lnTo>
                  <a:lnTo>
                    <a:pt x="28448" y="2049233"/>
                  </a:lnTo>
                  <a:lnTo>
                    <a:pt x="16256" y="2005698"/>
                  </a:lnTo>
                  <a:lnTo>
                    <a:pt x="7239" y="1960892"/>
                  </a:lnTo>
                  <a:lnTo>
                    <a:pt x="1905" y="1914969"/>
                  </a:lnTo>
                  <a:lnTo>
                    <a:pt x="0" y="186806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139696" y="5593079"/>
              <a:ext cx="581660" cy="569595"/>
            </a:xfrm>
            <a:custGeom>
              <a:avLst/>
              <a:gdLst/>
              <a:ahLst/>
              <a:cxnLst/>
              <a:rect l="l" t="t" r="r" b="b"/>
              <a:pathLst>
                <a:path w="581660" h="569595">
                  <a:moveTo>
                    <a:pt x="0" y="284784"/>
                  </a:moveTo>
                  <a:lnTo>
                    <a:pt x="3810" y="238594"/>
                  </a:lnTo>
                  <a:lnTo>
                    <a:pt x="14859" y="194767"/>
                  </a:lnTo>
                  <a:lnTo>
                    <a:pt x="32512" y="153911"/>
                  </a:lnTo>
                  <a:lnTo>
                    <a:pt x="56134" y="116598"/>
                  </a:lnTo>
                  <a:lnTo>
                    <a:pt x="85217" y="83413"/>
                  </a:lnTo>
                  <a:lnTo>
                    <a:pt x="119126" y="54940"/>
                  </a:lnTo>
                  <a:lnTo>
                    <a:pt x="157226" y="31788"/>
                  </a:lnTo>
                  <a:lnTo>
                    <a:pt x="198881" y="14516"/>
                  </a:lnTo>
                  <a:lnTo>
                    <a:pt x="243712" y="3721"/>
                  </a:lnTo>
                  <a:lnTo>
                    <a:pt x="290830" y="0"/>
                  </a:lnTo>
                  <a:lnTo>
                    <a:pt x="338074" y="3721"/>
                  </a:lnTo>
                  <a:lnTo>
                    <a:pt x="382778" y="14516"/>
                  </a:lnTo>
                  <a:lnTo>
                    <a:pt x="424561" y="31788"/>
                  </a:lnTo>
                  <a:lnTo>
                    <a:pt x="462661" y="54940"/>
                  </a:lnTo>
                  <a:lnTo>
                    <a:pt x="496570" y="83413"/>
                  </a:lnTo>
                  <a:lnTo>
                    <a:pt x="525526" y="116598"/>
                  </a:lnTo>
                  <a:lnTo>
                    <a:pt x="549275" y="153911"/>
                  </a:lnTo>
                  <a:lnTo>
                    <a:pt x="566801" y="194767"/>
                  </a:lnTo>
                  <a:lnTo>
                    <a:pt x="577850" y="238594"/>
                  </a:lnTo>
                  <a:lnTo>
                    <a:pt x="581660" y="284784"/>
                  </a:lnTo>
                  <a:lnTo>
                    <a:pt x="577850" y="330974"/>
                  </a:lnTo>
                  <a:lnTo>
                    <a:pt x="566801" y="374802"/>
                  </a:lnTo>
                  <a:lnTo>
                    <a:pt x="549275" y="415658"/>
                  </a:lnTo>
                  <a:lnTo>
                    <a:pt x="525526" y="452983"/>
                  </a:lnTo>
                  <a:lnTo>
                    <a:pt x="496570" y="486156"/>
                  </a:lnTo>
                  <a:lnTo>
                    <a:pt x="462661" y="514629"/>
                  </a:lnTo>
                  <a:lnTo>
                    <a:pt x="424561" y="537781"/>
                  </a:lnTo>
                  <a:lnTo>
                    <a:pt x="382778" y="555053"/>
                  </a:lnTo>
                  <a:lnTo>
                    <a:pt x="338074" y="565835"/>
                  </a:lnTo>
                  <a:lnTo>
                    <a:pt x="290830" y="569569"/>
                  </a:lnTo>
                  <a:lnTo>
                    <a:pt x="243712" y="565835"/>
                  </a:lnTo>
                  <a:lnTo>
                    <a:pt x="198881" y="555053"/>
                  </a:lnTo>
                  <a:lnTo>
                    <a:pt x="157226" y="537781"/>
                  </a:lnTo>
                  <a:lnTo>
                    <a:pt x="119126" y="514629"/>
                  </a:lnTo>
                  <a:lnTo>
                    <a:pt x="85217" y="486156"/>
                  </a:lnTo>
                  <a:lnTo>
                    <a:pt x="56134" y="452983"/>
                  </a:lnTo>
                  <a:lnTo>
                    <a:pt x="32512" y="415658"/>
                  </a:lnTo>
                  <a:lnTo>
                    <a:pt x="14859" y="374802"/>
                  </a:lnTo>
                  <a:lnTo>
                    <a:pt x="3810" y="330974"/>
                  </a:lnTo>
                  <a:lnTo>
                    <a:pt x="0" y="284784"/>
                  </a:lnTo>
                  <a:close/>
                </a:path>
              </a:pathLst>
            </a:custGeom>
            <a:ln w="12191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51760" y="5903975"/>
              <a:ext cx="451484" cy="0"/>
            </a:xfrm>
            <a:custGeom>
              <a:avLst/>
              <a:gdLst/>
              <a:ahLst/>
              <a:cxnLst/>
              <a:rect l="l" t="t" r="r" b="b"/>
              <a:pathLst>
                <a:path w="451485">
                  <a:moveTo>
                    <a:pt x="450976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2864" y="5839967"/>
              <a:ext cx="140207" cy="13715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2654808" y="5907021"/>
              <a:ext cx="66675" cy="64135"/>
            </a:xfrm>
            <a:custGeom>
              <a:avLst/>
              <a:gdLst/>
              <a:ahLst/>
              <a:cxnLst/>
              <a:rect l="l" t="t" r="r" b="b"/>
              <a:pathLst>
                <a:path w="66675" h="64135">
                  <a:moveTo>
                    <a:pt x="66498" y="0"/>
                  </a:moveTo>
                  <a:lnTo>
                    <a:pt x="0" y="0"/>
                  </a:lnTo>
                  <a:lnTo>
                    <a:pt x="0" y="63896"/>
                  </a:lnTo>
                  <a:lnTo>
                    <a:pt x="66498" y="63896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96896" y="4008119"/>
              <a:ext cx="365760" cy="1963420"/>
            </a:xfrm>
            <a:custGeom>
              <a:avLst/>
              <a:gdLst/>
              <a:ahLst/>
              <a:cxnLst/>
              <a:rect l="l" t="t" r="r" b="b"/>
              <a:pathLst>
                <a:path w="365760" h="1963420">
                  <a:moveTo>
                    <a:pt x="57912" y="1962797"/>
                  </a:moveTo>
                  <a:lnTo>
                    <a:pt x="124410" y="1962797"/>
                  </a:lnTo>
                  <a:lnTo>
                    <a:pt x="124410" y="1898901"/>
                  </a:lnTo>
                  <a:lnTo>
                    <a:pt x="57912" y="1898901"/>
                  </a:lnTo>
                  <a:lnTo>
                    <a:pt x="57912" y="1962797"/>
                  </a:lnTo>
                  <a:close/>
                </a:path>
                <a:path w="365760" h="1963420">
                  <a:moveTo>
                    <a:pt x="0" y="0"/>
                  </a:moveTo>
                  <a:lnTo>
                    <a:pt x="365633" y="2285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7312" y="3965447"/>
              <a:ext cx="161544" cy="8534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32888" y="3965447"/>
              <a:ext cx="161544" cy="8534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2465832" y="5839967"/>
              <a:ext cx="497205" cy="2540"/>
            </a:xfrm>
            <a:custGeom>
              <a:avLst/>
              <a:gdLst/>
              <a:ahLst/>
              <a:cxnLst/>
              <a:rect l="l" t="t" r="r" b="b"/>
              <a:pathLst>
                <a:path w="497205" h="2539">
                  <a:moveTo>
                    <a:pt x="0" y="0"/>
                  </a:moveTo>
                  <a:lnTo>
                    <a:pt x="496824" y="210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7312" y="5797295"/>
              <a:ext cx="161544" cy="85343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04872" y="5797295"/>
              <a:ext cx="161544" cy="8839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142232" y="5657087"/>
              <a:ext cx="518159" cy="506095"/>
            </a:xfrm>
            <a:custGeom>
              <a:avLst/>
              <a:gdLst/>
              <a:ahLst/>
              <a:cxnLst/>
              <a:rect l="l" t="t" r="r" b="b"/>
              <a:pathLst>
                <a:path w="518160" h="506095">
                  <a:moveTo>
                    <a:pt x="129793" y="252844"/>
                  </a:moveTo>
                  <a:lnTo>
                    <a:pt x="140080" y="203758"/>
                  </a:lnTo>
                  <a:lnTo>
                    <a:pt x="167893" y="163677"/>
                  </a:lnTo>
                  <a:lnTo>
                    <a:pt x="209168" y="136664"/>
                  </a:lnTo>
                  <a:lnTo>
                    <a:pt x="259841" y="126746"/>
                  </a:lnTo>
                  <a:lnTo>
                    <a:pt x="310260" y="136664"/>
                  </a:lnTo>
                  <a:lnTo>
                    <a:pt x="351535" y="163677"/>
                  </a:lnTo>
                  <a:lnTo>
                    <a:pt x="379348" y="203758"/>
                  </a:lnTo>
                  <a:lnTo>
                    <a:pt x="389635" y="252844"/>
                  </a:lnTo>
                  <a:lnTo>
                    <a:pt x="379348" y="301929"/>
                  </a:lnTo>
                  <a:lnTo>
                    <a:pt x="351535" y="342011"/>
                  </a:lnTo>
                  <a:lnTo>
                    <a:pt x="310260" y="369023"/>
                  </a:lnTo>
                  <a:lnTo>
                    <a:pt x="259841" y="378929"/>
                  </a:lnTo>
                  <a:lnTo>
                    <a:pt x="209168" y="369023"/>
                  </a:lnTo>
                  <a:lnTo>
                    <a:pt x="167893" y="342011"/>
                  </a:lnTo>
                  <a:lnTo>
                    <a:pt x="140080" y="301929"/>
                  </a:lnTo>
                  <a:lnTo>
                    <a:pt x="129793" y="252844"/>
                  </a:lnTo>
                  <a:close/>
                </a:path>
                <a:path w="518160" h="506095">
                  <a:moveTo>
                    <a:pt x="0" y="252844"/>
                  </a:moveTo>
                  <a:lnTo>
                    <a:pt x="4190" y="207390"/>
                  </a:lnTo>
                  <a:lnTo>
                    <a:pt x="16255" y="164617"/>
                  </a:lnTo>
                  <a:lnTo>
                    <a:pt x="35305" y="125234"/>
                  </a:lnTo>
                  <a:lnTo>
                    <a:pt x="60959" y="89941"/>
                  </a:lnTo>
                  <a:lnTo>
                    <a:pt x="92075" y="59461"/>
                  </a:lnTo>
                  <a:lnTo>
                    <a:pt x="128269" y="34518"/>
                  </a:lnTo>
                  <a:lnTo>
                    <a:pt x="168655" y="15811"/>
                  </a:lnTo>
                  <a:lnTo>
                    <a:pt x="212470" y="4076"/>
                  </a:lnTo>
                  <a:lnTo>
                    <a:pt x="258952" y="0"/>
                  </a:lnTo>
                  <a:lnTo>
                    <a:pt x="305562" y="4076"/>
                  </a:lnTo>
                  <a:lnTo>
                    <a:pt x="349503" y="15811"/>
                  </a:lnTo>
                  <a:lnTo>
                    <a:pt x="389889" y="34518"/>
                  </a:lnTo>
                  <a:lnTo>
                    <a:pt x="425957" y="59461"/>
                  </a:lnTo>
                  <a:lnTo>
                    <a:pt x="457200" y="89941"/>
                  </a:lnTo>
                  <a:lnTo>
                    <a:pt x="482853" y="125234"/>
                  </a:lnTo>
                  <a:lnTo>
                    <a:pt x="501903" y="164617"/>
                  </a:lnTo>
                  <a:lnTo>
                    <a:pt x="513968" y="207390"/>
                  </a:lnTo>
                  <a:lnTo>
                    <a:pt x="518159" y="252844"/>
                  </a:lnTo>
                  <a:lnTo>
                    <a:pt x="513968" y="298297"/>
                  </a:lnTo>
                  <a:lnTo>
                    <a:pt x="501903" y="341071"/>
                  </a:lnTo>
                  <a:lnTo>
                    <a:pt x="482853" y="380453"/>
                  </a:lnTo>
                  <a:lnTo>
                    <a:pt x="457200" y="415747"/>
                  </a:lnTo>
                  <a:lnTo>
                    <a:pt x="425957" y="446214"/>
                  </a:lnTo>
                  <a:lnTo>
                    <a:pt x="389889" y="471157"/>
                  </a:lnTo>
                  <a:lnTo>
                    <a:pt x="349503" y="489851"/>
                  </a:lnTo>
                  <a:lnTo>
                    <a:pt x="305562" y="501599"/>
                  </a:lnTo>
                  <a:lnTo>
                    <a:pt x="258952" y="505675"/>
                  </a:lnTo>
                  <a:lnTo>
                    <a:pt x="212470" y="501599"/>
                  </a:lnTo>
                  <a:lnTo>
                    <a:pt x="168655" y="489851"/>
                  </a:lnTo>
                  <a:lnTo>
                    <a:pt x="128269" y="471157"/>
                  </a:lnTo>
                  <a:lnTo>
                    <a:pt x="92075" y="446214"/>
                  </a:lnTo>
                  <a:lnTo>
                    <a:pt x="60959" y="415747"/>
                  </a:lnTo>
                  <a:lnTo>
                    <a:pt x="35305" y="380453"/>
                  </a:lnTo>
                  <a:lnTo>
                    <a:pt x="16255" y="341071"/>
                  </a:lnTo>
                  <a:lnTo>
                    <a:pt x="4190" y="298297"/>
                  </a:lnTo>
                  <a:lnTo>
                    <a:pt x="0" y="252844"/>
                  </a:lnTo>
                  <a:close/>
                </a:path>
              </a:pathLst>
            </a:custGeom>
            <a:ln w="12192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755136" y="5276087"/>
              <a:ext cx="1228090" cy="1200785"/>
            </a:xfrm>
            <a:custGeom>
              <a:avLst/>
              <a:gdLst/>
              <a:ahLst/>
              <a:cxnLst/>
              <a:rect l="l" t="t" r="r" b="b"/>
              <a:pathLst>
                <a:path w="1228089" h="1200785">
                  <a:moveTo>
                    <a:pt x="0" y="600290"/>
                  </a:moveTo>
                  <a:lnTo>
                    <a:pt x="1904" y="553377"/>
                  </a:lnTo>
                  <a:lnTo>
                    <a:pt x="7238" y="507453"/>
                  </a:lnTo>
                  <a:lnTo>
                    <a:pt x="16255" y="462648"/>
                  </a:lnTo>
                  <a:lnTo>
                    <a:pt x="28448" y="419100"/>
                  </a:lnTo>
                  <a:lnTo>
                    <a:pt x="43941" y="376936"/>
                  </a:lnTo>
                  <a:lnTo>
                    <a:pt x="62356" y="336296"/>
                  </a:lnTo>
                  <a:lnTo>
                    <a:pt x="83819" y="297306"/>
                  </a:lnTo>
                  <a:lnTo>
                    <a:pt x="108076" y="260096"/>
                  </a:lnTo>
                  <a:lnTo>
                    <a:pt x="134874" y="224790"/>
                  </a:lnTo>
                  <a:lnTo>
                    <a:pt x="164211" y="191643"/>
                  </a:lnTo>
                  <a:lnTo>
                    <a:pt x="195961" y="160528"/>
                  </a:lnTo>
                  <a:lnTo>
                    <a:pt x="229997" y="131825"/>
                  </a:lnTo>
                  <a:lnTo>
                    <a:pt x="266064" y="105664"/>
                  </a:lnTo>
                  <a:lnTo>
                    <a:pt x="304038" y="81915"/>
                  </a:lnTo>
                  <a:lnTo>
                    <a:pt x="343915" y="60959"/>
                  </a:lnTo>
                  <a:lnTo>
                    <a:pt x="385572" y="42925"/>
                  </a:lnTo>
                  <a:lnTo>
                    <a:pt x="428625" y="27812"/>
                  </a:lnTo>
                  <a:lnTo>
                    <a:pt x="473201" y="15875"/>
                  </a:lnTo>
                  <a:lnTo>
                    <a:pt x="519049" y="7112"/>
                  </a:lnTo>
                  <a:lnTo>
                    <a:pt x="566038" y="1778"/>
                  </a:lnTo>
                  <a:lnTo>
                    <a:pt x="613917" y="0"/>
                  </a:lnTo>
                  <a:lnTo>
                    <a:pt x="661924" y="1778"/>
                  </a:lnTo>
                  <a:lnTo>
                    <a:pt x="708913" y="7112"/>
                  </a:lnTo>
                  <a:lnTo>
                    <a:pt x="754761" y="15875"/>
                  </a:lnTo>
                  <a:lnTo>
                    <a:pt x="799338" y="27812"/>
                  </a:lnTo>
                  <a:lnTo>
                    <a:pt x="842390" y="42925"/>
                  </a:lnTo>
                  <a:lnTo>
                    <a:pt x="884047" y="60959"/>
                  </a:lnTo>
                  <a:lnTo>
                    <a:pt x="923925" y="81915"/>
                  </a:lnTo>
                  <a:lnTo>
                    <a:pt x="961898" y="105664"/>
                  </a:lnTo>
                  <a:lnTo>
                    <a:pt x="997965" y="131825"/>
                  </a:lnTo>
                  <a:lnTo>
                    <a:pt x="1032001" y="160528"/>
                  </a:lnTo>
                  <a:lnTo>
                    <a:pt x="1063752" y="191643"/>
                  </a:lnTo>
                  <a:lnTo>
                    <a:pt x="1093089" y="224790"/>
                  </a:lnTo>
                  <a:lnTo>
                    <a:pt x="1119886" y="260096"/>
                  </a:lnTo>
                  <a:lnTo>
                    <a:pt x="1144142" y="297306"/>
                  </a:lnTo>
                  <a:lnTo>
                    <a:pt x="1165605" y="336296"/>
                  </a:lnTo>
                  <a:lnTo>
                    <a:pt x="1184021" y="376936"/>
                  </a:lnTo>
                  <a:lnTo>
                    <a:pt x="1199514" y="419100"/>
                  </a:lnTo>
                  <a:lnTo>
                    <a:pt x="1211706" y="462648"/>
                  </a:lnTo>
                  <a:lnTo>
                    <a:pt x="1220724" y="507453"/>
                  </a:lnTo>
                  <a:lnTo>
                    <a:pt x="1226058" y="553377"/>
                  </a:lnTo>
                  <a:lnTo>
                    <a:pt x="1227963" y="600290"/>
                  </a:lnTo>
                  <a:lnTo>
                    <a:pt x="1226058" y="647204"/>
                  </a:lnTo>
                  <a:lnTo>
                    <a:pt x="1220724" y="693127"/>
                  </a:lnTo>
                  <a:lnTo>
                    <a:pt x="1211706" y="737933"/>
                  </a:lnTo>
                  <a:lnTo>
                    <a:pt x="1199514" y="781481"/>
                  </a:lnTo>
                  <a:lnTo>
                    <a:pt x="1184021" y="823645"/>
                  </a:lnTo>
                  <a:lnTo>
                    <a:pt x="1165605" y="864285"/>
                  </a:lnTo>
                  <a:lnTo>
                    <a:pt x="1144142" y="903262"/>
                  </a:lnTo>
                  <a:lnTo>
                    <a:pt x="1119886" y="940460"/>
                  </a:lnTo>
                  <a:lnTo>
                    <a:pt x="1093089" y="975741"/>
                  </a:lnTo>
                  <a:lnTo>
                    <a:pt x="1063752" y="1008964"/>
                  </a:lnTo>
                  <a:lnTo>
                    <a:pt x="1032001" y="1039990"/>
                  </a:lnTo>
                  <a:lnTo>
                    <a:pt x="997965" y="1068705"/>
                  </a:lnTo>
                  <a:lnTo>
                    <a:pt x="961898" y="1094955"/>
                  </a:lnTo>
                  <a:lnTo>
                    <a:pt x="923925" y="1118628"/>
                  </a:lnTo>
                  <a:lnTo>
                    <a:pt x="884047" y="1139571"/>
                  </a:lnTo>
                  <a:lnTo>
                    <a:pt x="842390" y="1157655"/>
                  </a:lnTo>
                  <a:lnTo>
                    <a:pt x="799338" y="1172756"/>
                  </a:lnTo>
                  <a:lnTo>
                    <a:pt x="754761" y="1184732"/>
                  </a:lnTo>
                  <a:lnTo>
                    <a:pt x="708913" y="1193444"/>
                  </a:lnTo>
                  <a:lnTo>
                    <a:pt x="661924" y="1198778"/>
                  </a:lnTo>
                  <a:lnTo>
                    <a:pt x="613917" y="1200581"/>
                  </a:lnTo>
                  <a:lnTo>
                    <a:pt x="566038" y="1198778"/>
                  </a:lnTo>
                  <a:lnTo>
                    <a:pt x="519049" y="1193444"/>
                  </a:lnTo>
                  <a:lnTo>
                    <a:pt x="473201" y="1184732"/>
                  </a:lnTo>
                  <a:lnTo>
                    <a:pt x="428625" y="1172756"/>
                  </a:lnTo>
                  <a:lnTo>
                    <a:pt x="385572" y="1157655"/>
                  </a:lnTo>
                  <a:lnTo>
                    <a:pt x="343915" y="1139571"/>
                  </a:lnTo>
                  <a:lnTo>
                    <a:pt x="304038" y="1118628"/>
                  </a:lnTo>
                  <a:lnTo>
                    <a:pt x="266064" y="1094955"/>
                  </a:lnTo>
                  <a:lnTo>
                    <a:pt x="229997" y="1068705"/>
                  </a:lnTo>
                  <a:lnTo>
                    <a:pt x="195961" y="1039990"/>
                  </a:lnTo>
                  <a:lnTo>
                    <a:pt x="164211" y="1008964"/>
                  </a:lnTo>
                  <a:lnTo>
                    <a:pt x="134874" y="975741"/>
                  </a:lnTo>
                  <a:lnTo>
                    <a:pt x="108076" y="940460"/>
                  </a:lnTo>
                  <a:lnTo>
                    <a:pt x="83819" y="903262"/>
                  </a:lnTo>
                  <a:lnTo>
                    <a:pt x="62356" y="864285"/>
                  </a:lnTo>
                  <a:lnTo>
                    <a:pt x="43941" y="823645"/>
                  </a:lnTo>
                  <a:lnTo>
                    <a:pt x="28448" y="781481"/>
                  </a:lnTo>
                  <a:lnTo>
                    <a:pt x="16255" y="737933"/>
                  </a:lnTo>
                  <a:lnTo>
                    <a:pt x="7238" y="693127"/>
                  </a:lnTo>
                  <a:lnTo>
                    <a:pt x="1904" y="647204"/>
                  </a:lnTo>
                  <a:lnTo>
                    <a:pt x="0" y="60029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5400" y="5839967"/>
              <a:ext cx="143255" cy="137159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4462272" y="5903975"/>
              <a:ext cx="645795" cy="0"/>
            </a:xfrm>
            <a:custGeom>
              <a:avLst/>
              <a:gdLst/>
              <a:ahLst/>
              <a:cxnLst/>
              <a:rect l="l" t="t" r="r" b="b"/>
              <a:pathLst>
                <a:path w="645795">
                  <a:moveTo>
                    <a:pt x="0" y="0"/>
                  </a:moveTo>
                  <a:lnTo>
                    <a:pt x="645667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468368" y="584606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63477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3477" y="60803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468368" y="584606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0" y="60803"/>
                  </a:moveTo>
                  <a:lnTo>
                    <a:pt x="63477" y="60803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0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596383" y="584606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63477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3477" y="60803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596383" y="584606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0" y="60803"/>
                  </a:moveTo>
                  <a:lnTo>
                    <a:pt x="63477" y="60803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0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19144" y="5340095"/>
              <a:ext cx="1099820" cy="1073150"/>
            </a:xfrm>
            <a:custGeom>
              <a:avLst/>
              <a:gdLst/>
              <a:ahLst/>
              <a:cxnLst/>
              <a:rect l="l" t="t" r="r" b="b"/>
              <a:pathLst>
                <a:path w="1099820" h="1073150">
                  <a:moveTo>
                    <a:pt x="0" y="536409"/>
                  </a:moveTo>
                  <a:lnTo>
                    <a:pt x="2031" y="490131"/>
                  </a:lnTo>
                  <a:lnTo>
                    <a:pt x="8000" y="444944"/>
                  </a:lnTo>
                  <a:lnTo>
                    <a:pt x="17652" y="401015"/>
                  </a:lnTo>
                  <a:lnTo>
                    <a:pt x="30987" y="358495"/>
                  </a:lnTo>
                  <a:lnTo>
                    <a:pt x="47751" y="317563"/>
                  </a:lnTo>
                  <a:lnTo>
                    <a:pt x="67690" y="278345"/>
                  </a:lnTo>
                  <a:lnTo>
                    <a:pt x="90804" y="241045"/>
                  </a:lnTo>
                  <a:lnTo>
                    <a:pt x="116839" y="205739"/>
                  </a:lnTo>
                  <a:lnTo>
                    <a:pt x="145668" y="172719"/>
                  </a:lnTo>
                  <a:lnTo>
                    <a:pt x="177037" y="142112"/>
                  </a:lnTo>
                  <a:lnTo>
                    <a:pt x="210946" y="114045"/>
                  </a:lnTo>
                  <a:lnTo>
                    <a:pt x="247014" y="88645"/>
                  </a:lnTo>
                  <a:lnTo>
                    <a:pt x="285241" y="66039"/>
                  </a:lnTo>
                  <a:lnTo>
                    <a:pt x="325500" y="46608"/>
                  </a:lnTo>
                  <a:lnTo>
                    <a:pt x="367410" y="30225"/>
                  </a:lnTo>
                  <a:lnTo>
                    <a:pt x="410971" y="17271"/>
                  </a:lnTo>
                  <a:lnTo>
                    <a:pt x="456056" y="7746"/>
                  </a:lnTo>
                  <a:lnTo>
                    <a:pt x="502411" y="1904"/>
                  </a:lnTo>
                  <a:lnTo>
                    <a:pt x="549909" y="0"/>
                  </a:lnTo>
                  <a:lnTo>
                    <a:pt x="597280" y="1904"/>
                  </a:lnTo>
                  <a:lnTo>
                    <a:pt x="643635" y="7746"/>
                  </a:lnTo>
                  <a:lnTo>
                    <a:pt x="688720" y="17271"/>
                  </a:lnTo>
                  <a:lnTo>
                    <a:pt x="732281" y="30225"/>
                  </a:lnTo>
                  <a:lnTo>
                    <a:pt x="774318" y="46608"/>
                  </a:lnTo>
                  <a:lnTo>
                    <a:pt x="814451" y="66039"/>
                  </a:lnTo>
                  <a:lnTo>
                    <a:pt x="852677" y="88645"/>
                  </a:lnTo>
                  <a:lnTo>
                    <a:pt x="888872" y="114045"/>
                  </a:lnTo>
                  <a:lnTo>
                    <a:pt x="922654" y="142112"/>
                  </a:lnTo>
                  <a:lnTo>
                    <a:pt x="954151" y="172719"/>
                  </a:lnTo>
                  <a:lnTo>
                    <a:pt x="982979" y="205739"/>
                  </a:lnTo>
                  <a:lnTo>
                    <a:pt x="1009014" y="241045"/>
                  </a:lnTo>
                  <a:lnTo>
                    <a:pt x="1032128" y="278345"/>
                  </a:lnTo>
                  <a:lnTo>
                    <a:pt x="1052067" y="317563"/>
                  </a:lnTo>
                  <a:lnTo>
                    <a:pt x="1068831" y="358495"/>
                  </a:lnTo>
                  <a:lnTo>
                    <a:pt x="1082166" y="401015"/>
                  </a:lnTo>
                  <a:lnTo>
                    <a:pt x="1091818" y="444944"/>
                  </a:lnTo>
                  <a:lnTo>
                    <a:pt x="1097788" y="490131"/>
                  </a:lnTo>
                  <a:lnTo>
                    <a:pt x="1099819" y="536409"/>
                  </a:lnTo>
                  <a:lnTo>
                    <a:pt x="1097788" y="582688"/>
                  </a:lnTo>
                  <a:lnTo>
                    <a:pt x="1091818" y="627875"/>
                  </a:lnTo>
                  <a:lnTo>
                    <a:pt x="1082166" y="671817"/>
                  </a:lnTo>
                  <a:lnTo>
                    <a:pt x="1068831" y="714336"/>
                  </a:lnTo>
                  <a:lnTo>
                    <a:pt x="1052067" y="755281"/>
                  </a:lnTo>
                  <a:lnTo>
                    <a:pt x="1032128" y="794486"/>
                  </a:lnTo>
                  <a:lnTo>
                    <a:pt x="1009014" y="831799"/>
                  </a:lnTo>
                  <a:lnTo>
                    <a:pt x="982979" y="867041"/>
                  </a:lnTo>
                  <a:lnTo>
                    <a:pt x="954151" y="900074"/>
                  </a:lnTo>
                  <a:lnTo>
                    <a:pt x="922654" y="930719"/>
                  </a:lnTo>
                  <a:lnTo>
                    <a:pt x="888872" y="958824"/>
                  </a:lnTo>
                  <a:lnTo>
                    <a:pt x="852677" y="984224"/>
                  </a:lnTo>
                  <a:lnTo>
                    <a:pt x="814451" y="1006754"/>
                  </a:lnTo>
                  <a:lnTo>
                    <a:pt x="774318" y="1026274"/>
                  </a:lnTo>
                  <a:lnTo>
                    <a:pt x="732281" y="1042593"/>
                  </a:lnTo>
                  <a:lnTo>
                    <a:pt x="688720" y="1055573"/>
                  </a:lnTo>
                  <a:lnTo>
                    <a:pt x="643635" y="1065034"/>
                  </a:lnTo>
                  <a:lnTo>
                    <a:pt x="597280" y="1070838"/>
                  </a:lnTo>
                  <a:lnTo>
                    <a:pt x="549909" y="1072807"/>
                  </a:lnTo>
                  <a:lnTo>
                    <a:pt x="502411" y="1070838"/>
                  </a:lnTo>
                  <a:lnTo>
                    <a:pt x="456056" y="1065034"/>
                  </a:lnTo>
                  <a:lnTo>
                    <a:pt x="410971" y="1055573"/>
                  </a:lnTo>
                  <a:lnTo>
                    <a:pt x="367410" y="1042593"/>
                  </a:lnTo>
                  <a:lnTo>
                    <a:pt x="325500" y="1026274"/>
                  </a:lnTo>
                  <a:lnTo>
                    <a:pt x="285241" y="1006754"/>
                  </a:lnTo>
                  <a:lnTo>
                    <a:pt x="247014" y="984224"/>
                  </a:lnTo>
                  <a:lnTo>
                    <a:pt x="210946" y="958824"/>
                  </a:lnTo>
                  <a:lnTo>
                    <a:pt x="177037" y="930719"/>
                  </a:lnTo>
                  <a:lnTo>
                    <a:pt x="145668" y="900074"/>
                  </a:lnTo>
                  <a:lnTo>
                    <a:pt x="116839" y="867041"/>
                  </a:lnTo>
                  <a:lnTo>
                    <a:pt x="90804" y="831799"/>
                  </a:lnTo>
                  <a:lnTo>
                    <a:pt x="67690" y="794486"/>
                  </a:lnTo>
                  <a:lnTo>
                    <a:pt x="47751" y="755281"/>
                  </a:lnTo>
                  <a:lnTo>
                    <a:pt x="30987" y="714336"/>
                  </a:lnTo>
                  <a:lnTo>
                    <a:pt x="17652" y="671817"/>
                  </a:lnTo>
                  <a:lnTo>
                    <a:pt x="8000" y="627875"/>
                  </a:lnTo>
                  <a:lnTo>
                    <a:pt x="2031" y="582688"/>
                  </a:lnTo>
                  <a:lnTo>
                    <a:pt x="0" y="536409"/>
                  </a:lnTo>
                  <a:close/>
                </a:path>
              </a:pathLst>
            </a:custGeom>
            <a:ln w="12191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855464" y="584606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63477" y="0"/>
                  </a:moveTo>
                  <a:lnTo>
                    <a:pt x="0" y="0"/>
                  </a:lnTo>
                  <a:lnTo>
                    <a:pt x="0" y="60803"/>
                  </a:lnTo>
                  <a:lnTo>
                    <a:pt x="63477" y="60803"/>
                  </a:lnTo>
                  <a:lnTo>
                    <a:pt x="63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855464" y="5846067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0" y="60803"/>
                  </a:moveTo>
                  <a:lnTo>
                    <a:pt x="63477" y="60803"/>
                  </a:lnTo>
                  <a:lnTo>
                    <a:pt x="63477" y="0"/>
                  </a:lnTo>
                  <a:lnTo>
                    <a:pt x="0" y="0"/>
                  </a:lnTo>
                  <a:lnTo>
                    <a:pt x="0" y="6080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880616" y="5340095"/>
              <a:ext cx="1099820" cy="1073150"/>
            </a:xfrm>
            <a:custGeom>
              <a:avLst/>
              <a:gdLst/>
              <a:ahLst/>
              <a:cxnLst/>
              <a:rect l="l" t="t" r="r" b="b"/>
              <a:pathLst>
                <a:path w="1099820" h="1073150">
                  <a:moveTo>
                    <a:pt x="389254" y="536409"/>
                  </a:moveTo>
                  <a:lnTo>
                    <a:pt x="397382" y="486562"/>
                  </a:lnTo>
                  <a:lnTo>
                    <a:pt x="420369" y="443280"/>
                  </a:lnTo>
                  <a:lnTo>
                    <a:pt x="455294" y="409155"/>
                  </a:lnTo>
                  <a:lnTo>
                    <a:pt x="499617" y="386765"/>
                  </a:lnTo>
                  <a:lnTo>
                    <a:pt x="550544" y="378726"/>
                  </a:lnTo>
                  <a:lnTo>
                    <a:pt x="601598" y="386765"/>
                  </a:lnTo>
                  <a:lnTo>
                    <a:pt x="645921" y="409155"/>
                  </a:lnTo>
                  <a:lnTo>
                    <a:pt x="680973" y="443280"/>
                  </a:lnTo>
                  <a:lnTo>
                    <a:pt x="703833" y="486562"/>
                  </a:lnTo>
                  <a:lnTo>
                    <a:pt x="712088" y="536409"/>
                  </a:lnTo>
                  <a:lnTo>
                    <a:pt x="703833" y="586244"/>
                  </a:lnTo>
                  <a:lnTo>
                    <a:pt x="680973" y="629538"/>
                  </a:lnTo>
                  <a:lnTo>
                    <a:pt x="645921" y="663676"/>
                  </a:lnTo>
                  <a:lnTo>
                    <a:pt x="601598" y="686066"/>
                  </a:lnTo>
                  <a:lnTo>
                    <a:pt x="550544" y="694105"/>
                  </a:lnTo>
                  <a:lnTo>
                    <a:pt x="499617" y="686066"/>
                  </a:lnTo>
                  <a:lnTo>
                    <a:pt x="455294" y="663676"/>
                  </a:lnTo>
                  <a:lnTo>
                    <a:pt x="420369" y="629538"/>
                  </a:lnTo>
                  <a:lnTo>
                    <a:pt x="397382" y="586244"/>
                  </a:lnTo>
                  <a:lnTo>
                    <a:pt x="389254" y="536409"/>
                  </a:lnTo>
                  <a:close/>
                </a:path>
                <a:path w="1099820" h="1073150">
                  <a:moveTo>
                    <a:pt x="0" y="536409"/>
                  </a:moveTo>
                  <a:lnTo>
                    <a:pt x="2031" y="490131"/>
                  </a:lnTo>
                  <a:lnTo>
                    <a:pt x="8000" y="444944"/>
                  </a:lnTo>
                  <a:lnTo>
                    <a:pt x="17652" y="401015"/>
                  </a:lnTo>
                  <a:lnTo>
                    <a:pt x="30987" y="358495"/>
                  </a:lnTo>
                  <a:lnTo>
                    <a:pt x="47751" y="317563"/>
                  </a:lnTo>
                  <a:lnTo>
                    <a:pt x="67690" y="278345"/>
                  </a:lnTo>
                  <a:lnTo>
                    <a:pt x="90804" y="241045"/>
                  </a:lnTo>
                  <a:lnTo>
                    <a:pt x="116839" y="205739"/>
                  </a:lnTo>
                  <a:lnTo>
                    <a:pt x="145669" y="172719"/>
                  </a:lnTo>
                  <a:lnTo>
                    <a:pt x="177164" y="142112"/>
                  </a:lnTo>
                  <a:lnTo>
                    <a:pt x="210946" y="114045"/>
                  </a:lnTo>
                  <a:lnTo>
                    <a:pt x="247141" y="88645"/>
                  </a:lnTo>
                  <a:lnTo>
                    <a:pt x="285369" y="66039"/>
                  </a:lnTo>
                  <a:lnTo>
                    <a:pt x="325500" y="46608"/>
                  </a:lnTo>
                  <a:lnTo>
                    <a:pt x="367538" y="30225"/>
                  </a:lnTo>
                  <a:lnTo>
                    <a:pt x="411098" y="17271"/>
                  </a:lnTo>
                  <a:lnTo>
                    <a:pt x="456183" y="7746"/>
                  </a:lnTo>
                  <a:lnTo>
                    <a:pt x="502538" y="1904"/>
                  </a:lnTo>
                  <a:lnTo>
                    <a:pt x="549909" y="0"/>
                  </a:lnTo>
                  <a:lnTo>
                    <a:pt x="597407" y="1904"/>
                  </a:lnTo>
                  <a:lnTo>
                    <a:pt x="643763" y="7746"/>
                  </a:lnTo>
                  <a:lnTo>
                    <a:pt x="688847" y="17271"/>
                  </a:lnTo>
                  <a:lnTo>
                    <a:pt x="732408" y="30225"/>
                  </a:lnTo>
                  <a:lnTo>
                    <a:pt x="774319" y="46608"/>
                  </a:lnTo>
                  <a:lnTo>
                    <a:pt x="814577" y="66039"/>
                  </a:lnTo>
                  <a:lnTo>
                    <a:pt x="852804" y="88645"/>
                  </a:lnTo>
                  <a:lnTo>
                    <a:pt x="888872" y="114045"/>
                  </a:lnTo>
                  <a:lnTo>
                    <a:pt x="922782" y="142112"/>
                  </a:lnTo>
                  <a:lnTo>
                    <a:pt x="954151" y="172719"/>
                  </a:lnTo>
                  <a:lnTo>
                    <a:pt x="982979" y="205739"/>
                  </a:lnTo>
                  <a:lnTo>
                    <a:pt x="1009014" y="241045"/>
                  </a:lnTo>
                  <a:lnTo>
                    <a:pt x="1032128" y="278345"/>
                  </a:lnTo>
                  <a:lnTo>
                    <a:pt x="1052067" y="317563"/>
                  </a:lnTo>
                  <a:lnTo>
                    <a:pt x="1068832" y="358495"/>
                  </a:lnTo>
                  <a:lnTo>
                    <a:pt x="1082166" y="401015"/>
                  </a:lnTo>
                  <a:lnTo>
                    <a:pt x="1091819" y="444944"/>
                  </a:lnTo>
                  <a:lnTo>
                    <a:pt x="1097788" y="490131"/>
                  </a:lnTo>
                  <a:lnTo>
                    <a:pt x="1099820" y="536409"/>
                  </a:lnTo>
                  <a:lnTo>
                    <a:pt x="1097788" y="582688"/>
                  </a:lnTo>
                  <a:lnTo>
                    <a:pt x="1091819" y="627875"/>
                  </a:lnTo>
                  <a:lnTo>
                    <a:pt x="1082166" y="671817"/>
                  </a:lnTo>
                  <a:lnTo>
                    <a:pt x="1068832" y="714336"/>
                  </a:lnTo>
                  <a:lnTo>
                    <a:pt x="1052067" y="755281"/>
                  </a:lnTo>
                  <a:lnTo>
                    <a:pt x="1032128" y="794486"/>
                  </a:lnTo>
                  <a:lnTo>
                    <a:pt x="1009014" y="831799"/>
                  </a:lnTo>
                  <a:lnTo>
                    <a:pt x="982979" y="867041"/>
                  </a:lnTo>
                  <a:lnTo>
                    <a:pt x="954151" y="900074"/>
                  </a:lnTo>
                  <a:lnTo>
                    <a:pt x="922782" y="930719"/>
                  </a:lnTo>
                  <a:lnTo>
                    <a:pt x="888872" y="958824"/>
                  </a:lnTo>
                  <a:lnTo>
                    <a:pt x="852804" y="984224"/>
                  </a:lnTo>
                  <a:lnTo>
                    <a:pt x="814577" y="1006754"/>
                  </a:lnTo>
                  <a:lnTo>
                    <a:pt x="774319" y="1026274"/>
                  </a:lnTo>
                  <a:lnTo>
                    <a:pt x="732408" y="1042593"/>
                  </a:lnTo>
                  <a:lnTo>
                    <a:pt x="688847" y="1055573"/>
                  </a:lnTo>
                  <a:lnTo>
                    <a:pt x="643763" y="1065034"/>
                  </a:lnTo>
                  <a:lnTo>
                    <a:pt x="597407" y="1070838"/>
                  </a:lnTo>
                  <a:lnTo>
                    <a:pt x="549909" y="1072807"/>
                  </a:lnTo>
                  <a:lnTo>
                    <a:pt x="502538" y="1070838"/>
                  </a:lnTo>
                  <a:lnTo>
                    <a:pt x="456183" y="1065034"/>
                  </a:lnTo>
                  <a:lnTo>
                    <a:pt x="411098" y="1055573"/>
                  </a:lnTo>
                  <a:lnTo>
                    <a:pt x="367538" y="1042593"/>
                  </a:lnTo>
                  <a:lnTo>
                    <a:pt x="325500" y="1026274"/>
                  </a:lnTo>
                  <a:lnTo>
                    <a:pt x="285369" y="1006754"/>
                  </a:lnTo>
                  <a:lnTo>
                    <a:pt x="247141" y="984224"/>
                  </a:lnTo>
                  <a:lnTo>
                    <a:pt x="210946" y="958824"/>
                  </a:lnTo>
                  <a:lnTo>
                    <a:pt x="177164" y="930719"/>
                  </a:lnTo>
                  <a:lnTo>
                    <a:pt x="145669" y="900074"/>
                  </a:lnTo>
                  <a:lnTo>
                    <a:pt x="116839" y="867041"/>
                  </a:lnTo>
                  <a:lnTo>
                    <a:pt x="90804" y="831799"/>
                  </a:lnTo>
                  <a:lnTo>
                    <a:pt x="67690" y="794486"/>
                  </a:lnTo>
                  <a:lnTo>
                    <a:pt x="47751" y="755281"/>
                  </a:lnTo>
                  <a:lnTo>
                    <a:pt x="30987" y="714336"/>
                  </a:lnTo>
                  <a:lnTo>
                    <a:pt x="17652" y="671817"/>
                  </a:lnTo>
                  <a:lnTo>
                    <a:pt x="8000" y="627875"/>
                  </a:lnTo>
                  <a:lnTo>
                    <a:pt x="2031" y="582688"/>
                  </a:lnTo>
                  <a:lnTo>
                    <a:pt x="0" y="536409"/>
                  </a:lnTo>
                  <a:close/>
                </a:path>
              </a:pathLst>
            </a:custGeom>
            <a:ln w="12192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19984" y="6102095"/>
              <a:ext cx="256031" cy="313944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2727960" y="6083807"/>
              <a:ext cx="441959" cy="326390"/>
            </a:xfrm>
            <a:custGeom>
              <a:avLst/>
              <a:gdLst/>
              <a:ahLst/>
              <a:cxnLst/>
              <a:rect l="l" t="t" r="r" b="b"/>
              <a:pathLst>
                <a:path w="441960" h="326389">
                  <a:moveTo>
                    <a:pt x="441832" y="32584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0904" y="6041135"/>
              <a:ext cx="152400" cy="121919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2478024" y="6071615"/>
              <a:ext cx="691515" cy="338455"/>
            </a:xfrm>
            <a:custGeom>
              <a:avLst/>
              <a:gdLst/>
              <a:ahLst/>
              <a:cxnLst/>
              <a:rect l="l" t="t" r="r" b="b"/>
              <a:pathLst>
                <a:path w="691514" h="338454">
                  <a:moveTo>
                    <a:pt x="691388" y="337908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04872" y="6041135"/>
              <a:ext cx="158495" cy="103631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50920" y="6041135"/>
              <a:ext cx="265175" cy="246888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3557016" y="6071615"/>
              <a:ext cx="558165" cy="274320"/>
            </a:xfrm>
            <a:custGeom>
              <a:avLst/>
              <a:gdLst/>
              <a:ahLst/>
              <a:cxnLst/>
              <a:rect l="l" t="t" r="r" b="b"/>
              <a:pathLst>
                <a:path w="558164" h="274320">
                  <a:moveTo>
                    <a:pt x="0" y="274015"/>
                  </a:moveTo>
                  <a:lnTo>
                    <a:pt x="5577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44696" y="6041135"/>
              <a:ext cx="158496" cy="10058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3557016" y="6172199"/>
              <a:ext cx="765175" cy="173355"/>
            </a:xfrm>
            <a:custGeom>
              <a:avLst/>
              <a:gdLst/>
              <a:ahLst/>
              <a:cxnLst/>
              <a:rect l="l" t="t" r="r" b="b"/>
              <a:pathLst>
                <a:path w="765175" h="173354">
                  <a:moveTo>
                    <a:pt x="0" y="173342"/>
                  </a:moveTo>
                  <a:lnTo>
                    <a:pt x="764667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33672" y="6147815"/>
              <a:ext cx="161544" cy="85343"/>
            </a:xfrm>
            <a:prstGeom prst="rect">
              <a:avLst/>
            </a:prstGeom>
          </p:spPr>
        </p:pic>
      </p:grpSp>
      <p:sp>
        <p:nvSpPr>
          <p:cNvPr id="133" name="object 133"/>
          <p:cNvSpPr txBox="1"/>
          <p:nvPr/>
        </p:nvSpPr>
        <p:spPr>
          <a:xfrm>
            <a:off x="3193542" y="6303365"/>
            <a:ext cx="417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 dirty="0">
                <a:latin typeface="Arial"/>
                <a:cs typeface="Arial"/>
              </a:rPr>
              <a:t>T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ack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1810511" y="5084064"/>
            <a:ext cx="3179445" cy="768350"/>
            <a:chOff x="1810511" y="5084064"/>
            <a:chExt cx="3179445" cy="768350"/>
          </a:xfrm>
        </p:grpSpPr>
        <p:pic>
          <p:nvPicPr>
            <p:cNvPr id="135" name="object 1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10511" y="5084064"/>
              <a:ext cx="12191" cy="704088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38855" y="5084064"/>
              <a:ext cx="12191" cy="76809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49039" y="5084064"/>
              <a:ext cx="12191" cy="704088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80432" y="5084064"/>
              <a:ext cx="9143" cy="768096"/>
            </a:xfrm>
            <a:prstGeom prst="rect">
              <a:avLst/>
            </a:prstGeom>
          </p:spPr>
        </p:pic>
      </p:grpSp>
      <p:sp>
        <p:nvSpPr>
          <p:cNvPr id="139" name="object 139"/>
          <p:cNvSpPr txBox="1"/>
          <p:nvPr/>
        </p:nvSpPr>
        <p:spPr>
          <a:xfrm>
            <a:off x="580745" y="3315665"/>
            <a:ext cx="3348354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Organization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Disk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  <a:p>
            <a:pPr marL="1177290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Moving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Head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096258" y="3590670"/>
            <a:ext cx="1780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Fixed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Head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561833" y="1270"/>
            <a:ext cx="14897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A</a:t>
            </a:r>
            <a:r>
              <a:rPr sz="1400" b="1" i="1" spc="-15" dirty="0">
                <a:latin typeface="Arial"/>
                <a:cs typeface="Arial"/>
              </a:rPr>
              <a:t>ux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15" dirty="0">
                <a:latin typeface="Arial"/>
                <a:cs typeface="Arial"/>
              </a:rPr>
              <a:t>l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8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6644385" y="2685110"/>
            <a:ext cx="1042669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indent="-17399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6690" algn="l"/>
              </a:tabLst>
            </a:pPr>
            <a:r>
              <a:rPr sz="1100" b="1" spc="-60" dirty="0">
                <a:latin typeface="Arial"/>
                <a:cs typeface="Arial"/>
              </a:rPr>
              <a:t>A</a:t>
            </a:r>
            <a:r>
              <a:rPr sz="1100" b="1" spc="5" dirty="0">
                <a:latin typeface="Arial"/>
                <a:cs typeface="Arial"/>
              </a:rPr>
              <a:t>cce</a:t>
            </a:r>
            <a:r>
              <a:rPr sz="1100" b="1" spc="-20" dirty="0">
                <a:latin typeface="Arial"/>
                <a:cs typeface="Arial"/>
              </a:rPr>
              <a:t>s</a:t>
            </a:r>
            <a:r>
              <a:rPr sz="1100" b="1" dirty="0">
                <a:latin typeface="Arial"/>
                <a:cs typeface="Arial"/>
              </a:rPr>
              <a:t>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15" dirty="0">
                <a:latin typeface="Arial"/>
                <a:cs typeface="Arial"/>
              </a:rPr>
              <a:t>T</a:t>
            </a:r>
            <a:r>
              <a:rPr sz="1100" b="1" spc="-20" dirty="0">
                <a:latin typeface="Arial"/>
                <a:cs typeface="Arial"/>
              </a:rPr>
              <a:t>im</a:t>
            </a:r>
            <a:r>
              <a:rPr sz="1100" b="1" dirty="0"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101967" y="2846070"/>
            <a:ext cx="1109345" cy="358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indent="-173990">
              <a:lnSpc>
                <a:spcPts val="1310"/>
              </a:lnSpc>
              <a:spcBef>
                <a:spcPts val="105"/>
              </a:spcBef>
              <a:buFont typeface="Arial MT"/>
              <a:buChar char="•"/>
              <a:tabLst>
                <a:tab pos="186690" algn="l"/>
              </a:tabLst>
            </a:pPr>
            <a:r>
              <a:rPr sz="1100" b="1" spc="5" dirty="0">
                <a:latin typeface="Arial"/>
                <a:cs typeface="Arial"/>
              </a:rPr>
              <a:t>S</a:t>
            </a:r>
            <a:r>
              <a:rPr sz="1100" b="1" spc="10" dirty="0">
                <a:latin typeface="Arial"/>
                <a:cs typeface="Arial"/>
              </a:rPr>
              <a:t>ee</a:t>
            </a:r>
            <a:r>
              <a:rPr sz="1100" b="1" dirty="0">
                <a:latin typeface="Arial"/>
                <a:cs typeface="Arial"/>
              </a:rPr>
              <a:t>k</a:t>
            </a:r>
            <a:r>
              <a:rPr sz="1100" b="1" spc="-85" dirty="0">
                <a:latin typeface="Arial"/>
                <a:cs typeface="Arial"/>
              </a:rPr>
              <a:t> </a:t>
            </a:r>
            <a:r>
              <a:rPr sz="1100" b="1" spc="20" dirty="0">
                <a:latin typeface="Arial"/>
                <a:cs typeface="Arial"/>
              </a:rPr>
              <a:t>T</a:t>
            </a:r>
            <a:r>
              <a:rPr sz="1100" b="1" spc="-20" dirty="0">
                <a:latin typeface="Arial"/>
                <a:cs typeface="Arial"/>
              </a:rPr>
              <a:t>i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dirty="0"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  <a:p>
            <a:pPr marL="186055" indent="-173990">
              <a:lnSpc>
                <a:spcPts val="1310"/>
              </a:lnSpc>
              <a:buFont typeface="Arial MT"/>
              <a:buChar char="•"/>
              <a:tabLst>
                <a:tab pos="186690" algn="l"/>
              </a:tabLst>
            </a:pPr>
            <a:r>
              <a:rPr sz="1100" b="1" spc="20" dirty="0">
                <a:latin typeface="Arial"/>
                <a:cs typeface="Arial"/>
              </a:rPr>
              <a:t>T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10" dirty="0">
                <a:latin typeface="Arial"/>
                <a:cs typeface="Arial"/>
              </a:rPr>
              <a:t>a</a:t>
            </a:r>
            <a:r>
              <a:rPr sz="1100" b="1" dirty="0">
                <a:latin typeface="Arial"/>
                <a:cs typeface="Arial"/>
              </a:rPr>
              <a:t>n</a:t>
            </a:r>
            <a:r>
              <a:rPr sz="1100" b="1" spc="-15" dirty="0">
                <a:latin typeface="Arial"/>
                <a:cs typeface="Arial"/>
              </a:rPr>
              <a:t>s</a:t>
            </a:r>
            <a:r>
              <a:rPr sz="1100" b="1" spc="-10" dirty="0">
                <a:latin typeface="Arial"/>
                <a:cs typeface="Arial"/>
              </a:rPr>
              <a:t>f</a:t>
            </a:r>
            <a:r>
              <a:rPr sz="1100" b="1" spc="10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-145" dirty="0">
                <a:latin typeface="Arial"/>
                <a:cs typeface="Arial"/>
              </a:rPr>
              <a:t> </a:t>
            </a:r>
            <a:r>
              <a:rPr sz="1100" b="1" spc="20" dirty="0">
                <a:latin typeface="Arial"/>
                <a:cs typeface="Arial"/>
              </a:rPr>
              <a:t>T</a:t>
            </a:r>
            <a:r>
              <a:rPr sz="1100" b="1" spc="-20" dirty="0">
                <a:latin typeface="Arial"/>
                <a:cs typeface="Arial"/>
              </a:rPr>
              <a:t>i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dirty="0"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280784" y="1543557"/>
            <a:ext cx="2381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C</a:t>
            </a:r>
            <a:r>
              <a:rPr sz="1100" b="1" dirty="0">
                <a:latin typeface="Arial"/>
                <a:cs typeface="Arial"/>
              </a:rPr>
              <a:t>h</a:t>
            </a:r>
            <a:r>
              <a:rPr sz="1100" b="1" spc="5" dirty="0">
                <a:latin typeface="Arial"/>
                <a:cs typeface="Arial"/>
              </a:rPr>
              <a:t>a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10" dirty="0">
                <a:latin typeface="Arial"/>
                <a:cs typeface="Arial"/>
              </a:rPr>
              <a:t>a</a:t>
            </a:r>
            <a:r>
              <a:rPr sz="1100" b="1" spc="5" dirty="0">
                <a:latin typeface="Arial"/>
                <a:cs typeface="Arial"/>
              </a:rPr>
              <a:t>c</a:t>
            </a:r>
            <a:r>
              <a:rPr sz="1100" b="1" spc="-10" dirty="0">
                <a:latin typeface="Arial"/>
                <a:cs typeface="Arial"/>
              </a:rPr>
              <a:t>t</a:t>
            </a:r>
            <a:r>
              <a:rPr sz="1100" b="1" spc="5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-20" dirty="0">
                <a:latin typeface="Arial"/>
                <a:cs typeface="Arial"/>
              </a:rPr>
              <a:t>i</a:t>
            </a:r>
            <a:r>
              <a:rPr sz="1100" b="1" spc="-15" dirty="0">
                <a:latin typeface="Arial"/>
                <a:cs typeface="Arial"/>
              </a:rPr>
              <a:t>s</a:t>
            </a:r>
            <a:r>
              <a:rPr sz="1100" b="1" spc="-10" dirty="0">
                <a:latin typeface="Arial"/>
                <a:cs typeface="Arial"/>
              </a:rPr>
              <a:t>t</a:t>
            </a:r>
            <a:r>
              <a:rPr sz="1100" b="1" spc="-20" dirty="0">
                <a:latin typeface="Arial"/>
                <a:cs typeface="Arial"/>
              </a:rPr>
              <a:t>i</a:t>
            </a:r>
            <a:r>
              <a:rPr sz="1100" b="1" spc="5" dirty="0">
                <a:latin typeface="Arial"/>
                <a:cs typeface="Arial"/>
              </a:rPr>
              <a:t>c</a:t>
            </a:r>
            <a:r>
              <a:rPr sz="1100" b="1" dirty="0">
                <a:latin typeface="Arial"/>
                <a:cs typeface="Arial"/>
              </a:rPr>
              <a:t>s</a:t>
            </a:r>
            <a:r>
              <a:rPr sz="1100" b="1" spc="-9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o</a:t>
            </a:r>
            <a:r>
              <a:rPr sz="1100" b="1" dirty="0">
                <a:latin typeface="Arial"/>
                <a:cs typeface="Arial"/>
              </a:rPr>
              <a:t>f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A</a:t>
            </a:r>
            <a:r>
              <a:rPr sz="1100" b="1" dirty="0">
                <a:latin typeface="Arial"/>
                <a:cs typeface="Arial"/>
              </a:rPr>
              <a:t>u</a:t>
            </a:r>
            <a:r>
              <a:rPr sz="1100" b="1" spc="5" dirty="0">
                <a:latin typeface="Arial"/>
                <a:cs typeface="Arial"/>
              </a:rPr>
              <a:t>x</a:t>
            </a:r>
            <a:r>
              <a:rPr sz="1100" b="1" spc="-20" dirty="0">
                <a:latin typeface="Arial"/>
                <a:cs typeface="Arial"/>
              </a:rPr>
              <a:t>ili</a:t>
            </a:r>
            <a:r>
              <a:rPr sz="1100" b="1" spc="5" dirty="0">
                <a:latin typeface="Arial"/>
                <a:cs typeface="Arial"/>
              </a:rPr>
              <a:t>a</a:t>
            </a:r>
            <a:r>
              <a:rPr sz="1100" b="1" dirty="0">
                <a:latin typeface="Arial"/>
                <a:cs typeface="Arial"/>
              </a:rPr>
              <a:t>ry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M</a:t>
            </a:r>
            <a:r>
              <a:rPr sz="1100" b="1" spc="5" dirty="0">
                <a:latin typeface="Arial"/>
                <a:cs typeface="Arial"/>
              </a:rPr>
              <a:t>e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dirty="0">
                <a:latin typeface="Arial"/>
                <a:cs typeface="Arial"/>
              </a:rPr>
              <a:t>ory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6738366" y="1703577"/>
            <a:ext cx="1134110" cy="852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1310"/>
              </a:lnSpc>
              <a:spcBef>
                <a:spcPts val="105"/>
              </a:spcBef>
              <a:buAutoNum type="arabicPeriod"/>
              <a:tabLst>
                <a:tab pos="241300" algn="l"/>
              </a:tabLst>
            </a:pPr>
            <a:r>
              <a:rPr sz="1100" b="1" spc="-55" dirty="0">
                <a:latin typeface="Arial"/>
                <a:cs typeface="Arial"/>
              </a:rPr>
              <a:t>A</a:t>
            </a:r>
            <a:r>
              <a:rPr sz="1100" b="1" spc="5" dirty="0">
                <a:latin typeface="Arial"/>
                <a:cs typeface="Arial"/>
              </a:rPr>
              <a:t>cce</a:t>
            </a:r>
            <a:r>
              <a:rPr sz="1100" b="1" spc="-15" dirty="0">
                <a:latin typeface="Arial"/>
                <a:cs typeface="Arial"/>
              </a:rPr>
              <a:t>s</a:t>
            </a:r>
            <a:r>
              <a:rPr sz="1100" b="1" dirty="0">
                <a:latin typeface="Arial"/>
                <a:cs typeface="Arial"/>
              </a:rPr>
              <a:t>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M</a:t>
            </a:r>
            <a:r>
              <a:rPr sz="1100" b="1" dirty="0">
                <a:latin typeface="Arial"/>
                <a:cs typeface="Arial"/>
              </a:rPr>
              <a:t>o</a:t>
            </a:r>
            <a:r>
              <a:rPr sz="1100" b="1" spc="-10" dirty="0">
                <a:latin typeface="Arial"/>
                <a:cs typeface="Arial"/>
              </a:rPr>
              <a:t>d</a:t>
            </a:r>
            <a:r>
              <a:rPr sz="1100" b="1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  <a:p>
            <a:pPr marL="241300" indent="-228600">
              <a:lnSpc>
                <a:spcPts val="1295"/>
              </a:lnSpc>
              <a:buAutoNum type="arabicPeriod"/>
              <a:tabLst>
                <a:tab pos="241300" algn="l"/>
              </a:tabLst>
            </a:pPr>
            <a:r>
              <a:rPr sz="1100" b="1" spc="-10" dirty="0">
                <a:latin typeface="Arial"/>
                <a:cs typeface="Arial"/>
              </a:rPr>
              <a:t>Access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Time</a:t>
            </a:r>
            <a:endParaRPr sz="1100" dirty="0">
              <a:latin typeface="Arial"/>
              <a:cs typeface="Arial"/>
            </a:endParaRPr>
          </a:p>
          <a:p>
            <a:pPr marL="241300" indent="-228600">
              <a:lnSpc>
                <a:spcPts val="1295"/>
              </a:lnSpc>
              <a:buAutoNum type="arabicPeriod"/>
              <a:tabLst>
                <a:tab pos="241300" algn="l"/>
              </a:tabLst>
            </a:pPr>
            <a:r>
              <a:rPr sz="1100" b="1" spc="20" dirty="0">
                <a:latin typeface="Arial"/>
                <a:cs typeface="Arial"/>
              </a:rPr>
              <a:t>T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10" dirty="0">
                <a:latin typeface="Arial"/>
                <a:cs typeface="Arial"/>
              </a:rPr>
              <a:t>a</a:t>
            </a:r>
            <a:r>
              <a:rPr sz="1100" b="1" dirty="0">
                <a:latin typeface="Arial"/>
                <a:cs typeface="Arial"/>
              </a:rPr>
              <a:t>n</a:t>
            </a:r>
            <a:r>
              <a:rPr sz="1100" b="1" spc="-20" dirty="0">
                <a:latin typeface="Arial"/>
                <a:cs typeface="Arial"/>
              </a:rPr>
              <a:t>s</a:t>
            </a:r>
            <a:r>
              <a:rPr sz="1100" b="1" spc="-10" dirty="0">
                <a:latin typeface="Arial"/>
                <a:cs typeface="Arial"/>
              </a:rPr>
              <a:t>f</a:t>
            </a:r>
            <a:r>
              <a:rPr sz="1100" b="1" spc="5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-1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</a:t>
            </a:r>
            <a:r>
              <a:rPr sz="1100" b="1" spc="10" dirty="0">
                <a:latin typeface="Arial"/>
                <a:cs typeface="Arial"/>
              </a:rPr>
              <a:t>a</a:t>
            </a:r>
            <a:r>
              <a:rPr sz="1100" b="1" spc="-10" dirty="0">
                <a:latin typeface="Arial"/>
                <a:cs typeface="Arial"/>
              </a:rPr>
              <a:t>t</a:t>
            </a:r>
            <a:r>
              <a:rPr sz="1100" b="1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  <a:p>
            <a:pPr marL="241300" indent="-228600">
              <a:lnSpc>
                <a:spcPts val="1295"/>
              </a:lnSpc>
              <a:buAutoNum type="arabicPeriod"/>
              <a:tabLst>
                <a:tab pos="241300" algn="l"/>
              </a:tabLst>
            </a:pPr>
            <a:r>
              <a:rPr sz="1100" b="1" spc="-5" dirty="0">
                <a:latin typeface="Arial"/>
                <a:cs typeface="Arial"/>
              </a:rPr>
              <a:t>Capacity</a:t>
            </a:r>
            <a:endParaRPr sz="1100" dirty="0">
              <a:latin typeface="Arial"/>
              <a:cs typeface="Arial"/>
            </a:endParaRPr>
          </a:p>
          <a:p>
            <a:pPr marL="241300" indent="-228600">
              <a:lnSpc>
                <a:spcPts val="1310"/>
              </a:lnSpc>
              <a:buAutoNum type="arabicPeriod"/>
              <a:tabLst>
                <a:tab pos="241300" algn="l"/>
              </a:tabLst>
            </a:pPr>
            <a:r>
              <a:rPr sz="1100" b="1" spc="-10" dirty="0">
                <a:latin typeface="Arial"/>
                <a:cs typeface="Arial"/>
              </a:rPr>
              <a:t>Cost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333" y="298639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69489" y="0"/>
            <a:ext cx="3618865" cy="6946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288290" algn="ctr">
              <a:lnSpc>
                <a:spcPct val="100000"/>
              </a:lnSpc>
              <a:spcBef>
                <a:spcPts val="355"/>
              </a:spcBef>
            </a:pPr>
            <a:r>
              <a:rPr sz="1400" b="1" u="sng" spc="-5" dirty="0">
                <a:latin typeface="Arial"/>
                <a:cs typeface="Arial"/>
              </a:rPr>
              <a:t>7</a:t>
            </a:r>
            <a:endParaRPr sz="1400" u="sng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2247265" algn="l"/>
              </a:tabLst>
            </a:pPr>
            <a:r>
              <a:rPr sz="2400" b="1" u="sng" spc="-30" dirty="0">
                <a:latin typeface="Arial"/>
                <a:cs typeface="Arial"/>
              </a:rPr>
              <a:t>ASSOCIATIVE	</a:t>
            </a:r>
            <a:r>
              <a:rPr sz="2400" b="1" u="sng" spc="-25" dirty="0">
                <a:latin typeface="Arial"/>
                <a:cs typeface="Arial"/>
              </a:rPr>
              <a:t>MEMORY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872" y="852932"/>
            <a:ext cx="6915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 indent="-131445">
              <a:lnSpc>
                <a:spcPct val="100000"/>
              </a:lnSpc>
              <a:spcBef>
                <a:spcPts val="100"/>
              </a:spcBef>
              <a:buFont typeface="Arial MT"/>
              <a:buChar char="-"/>
              <a:tabLst>
                <a:tab pos="144145" algn="l"/>
              </a:tabLst>
            </a:pPr>
            <a:r>
              <a:rPr sz="1800" b="1" spc="-5" dirty="0">
                <a:latin typeface="Arial"/>
                <a:cs typeface="Arial"/>
              </a:rPr>
              <a:t>Accessed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content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rather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 </a:t>
            </a:r>
            <a:r>
              <a:rPr sz="1800" b="1" dirty="0">
                <a:latin typeface="Arial"/>
                <a:cs typeface="Arial"/>
              </a:rPr>
              <a:t>an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  <a:p>
            <a:pPr marL="143510" indent="-131445">
              <a:lnSpc>
                <a:spcPct val="100000"/>
              </a:lnSpc>
              <a:buFont typeface="Arial MT"/>
              <a:buChar char="-"/>
              <a:tabLst>
                <a:tab pos="144145" algn="l"/>
              </a:tabLst>
            </a:pP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ls</a:t>
            </a: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cal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ed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Content</a:t>
            </a:r>
            <a:r>
              <a:rPr sz="1800" b="1" spc="-155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d</a:t>
            </a:r>
            <a:r>
              <a:rPr sz="1800" b="1" spc="5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re</a:t>
            </a:r>
            <a:r>
              <a:rPr sz="1800" b="1" dirty="0">
                <a:latin typeface="Arial"/>
                <a:cs typeface="Arial"/>
              </a:rPr>
              <a:t>ssa</a:t>
            </a:r>
            <a:r>
              <a:rPr sz="1800" b="1" spc="-20" dirty="0">
                <a:latin typeface="Arial"/>
                <a:cs typeface="Arial"/>
              </a:rPr>
              <a:t>bl</a:t>
            </a:r>
            <a:r>
              <a:rPr sz="1800" b="1" spc="-5" dirty="0">
                <a:latin typeface="Arial"/>
                <a:cs typeface="Arial"/>
              </a:rPr>
              <a:t>e </a:t>
            </a:r>
            <a:r>
              <a:rPr sz="1800" b="1" spc="10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em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(</a:t>
            </a:r>
            <a:r>
              <a:rPr sz="1800" b="1" spc="-35" dirty="0">
                <a:latin typeface="Arial"/>
                <a:cs typeface="Arial"/>
              </a:rPr>
              <a:t>C</a:t>
            </a:r>
            <a:r>
              <a:rPr sz="1800" b="1" spc="-60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744" y="1588134"/>
            <a:ext cx="2520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Hard</a:t>
            </a:r>
            <a:r>
              <a:rPr sz="1800" b="1" spc="35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re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rg</a:t>
            </a:r>
            <a:r>
              <a:rPr sz="1800" b="1" dirty="0">
                <a:latin typeface="Arial"/>
                <a:cs typeface="Arial"/>
              </a:rPr>
              <a:t>an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spc="10" dirty="0">
                <a:latin typeface="Arial"/>
                <a:cs typeface="Arial"/>
              </a:rPr>
              <a:t>z</a:t>
            </a:r>
            <a:r>
              <a:rPr sz="1800" b="1" dirty="0">
                <a:latin typeface="Arial"/>
                <a:cs typeface="Arial"/>
              </a:rPr>
              <a:t>ati</a:t>
            </a:r>
            <a:r>
              <a:rPr sz="1800" b="1" spc="-20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7079" y="1749551"/>
            <a:ext cx="1649095" cy="26543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315"/>
              </a:spcBef>
            </a:pPr>
            <a:r>
              <a:rPr sz="1200" b="1" spc="-15" dirty="0">
                <a:latin typeface="Arial"/>
                <a:cs typeface="Arial"/>
              </a:rPr>
              <a:t>Argument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register(A)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7079" y="2474976"/>
            <a:ext cx="1649095" cy="25654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244"/>
              </a:spcBef>
            </a:pPr>
            <a:r>
              <a:rPr sz="1200" b="1" spc="-5" dirty="0">
                <a:latin typeface="Arial"/>
                <a:cs typeface="Arial"/>
              </a:rPr>
              <a:t>Key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er</a:t>
            </a:r>
            <a:r>
              <a:rPr sz="1200" b="1" spc="-10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(</a:t>
            </a:r>
            <a:r>
              <a:rPr sz="1200" b="1" spc="-5" dirty="0">
                <a:latin typeface="Arial"/>
                <a:cs typeface="Arial"/>
              </a:rPr>
              <a:t>K)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7079" y="3191255"/>
            <a:ext cx="1649095" cy="121348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70485" marR="107314" algn="ctr">
              <a:lnSpc>
                <a:spcPct val="103299"/>
              </a:lnSpc>
              <a:spcBef>
                <a:spcPts val="1115"/>
              </a:spcBef>
            </a:pPr>
            <a:r>
              <a:rPr sz="1200" b="1" spc="-35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ss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ci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spc="-25" dirty="0">
                <a:latin typeface="Arial"/>
                <a:cs typeface="Arial"/>
              </a:rPr>
              <a:t>v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  </a:t>
            </a:r>
            <a:r>
              <a:rPr sz="1200" b="1" spc="-10" dirty="0">
                <a:latin typeface="Arial"/>
                <a:cs typeface="Arial"/>
              </a:rPr>
              <a:t>array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logic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R="45720" algn="ctr">
              <a:lnSpc>
                <a:spcPts val="1430"/>
              </a:lnSpc>
            </a:pPr>
            <a:r>
              <a:rPr sz="1200" b="1" spc="-5" dirty="0">
                <a:latin typeface="Arial"/>
                <a:cs typeface="Arial"/>
              </a:rPr>
              <a:t>m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 marR="43180" algn="ctr">
              <a:lnSpc>
                <a:spcPts val="1430"/>
              </a:lnSpc>
            </a:pPr>
            <a:r>
              <a:rPr sz="1200" b="1" dirty="0">
                <a:latin typeface="Arial"/>
                <a:cs typeface="Arial"/>
              </a:rPr>
              <a:t>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10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er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47791" y="2792729"/>
            <a:ext cx="587375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54610">
              <a:lnSpc>
                <a:spcPts val="1200"/>
              </a:lnSpc>
              <a:spcBef>
                <a:spcPts val="340"/>
              </a:spcBef>
            </a:pPr>
            <a:r>
              <a:rPr sz="1200" b="1" spc="-5" dirty="0">
                <a:latin typeface="Arial"/>
                <a:cs typeface="Arial"/>
              </a:rPr>
              <a:t>Match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8339" y="3284601"/>
            <a:ext cx="393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32176" y="2020823"/>
            <a:ext cx="2649220" cy="2395855"/>
            <a:chOff x="2932176" y="2020823"/>
            <a:chExt cx="2649220" cy="239585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3464" y="2337815"/>
              <a:ext cx="103632" cy="1219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42232" y="2020823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h="325755">
                  <a:moveTo>
                    <a:pt x="0" y="0"/>
                  </a:moveTo>
                  <a:lnTo>
                    <a:pt x="0" y="32575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3464" y="3051047"/>
              <a:ext cx="103632" cy="1219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42232" y="2737103"/>
              <a:ext cx="0" cy="326390"/>
            </a:xfrm>
            <a:custGeom>
              <a:avLst/>
              <a:gdLst/>
              <a:ahLst/>
              <a:cxnLst/>
              <a:rect l="l" t="t" r="r" b="b"/>
              <a:pathLst>
                <a:path h="326389">
                  <a:moveTo>
                    <a:pt x="0" y="0"/>
                  </a:moveTo>
                  <a:lnTo>
                    <a:pt x="0" y="326136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1840" y="3176015"/>
              <a:ext cx="1676400" cy="12405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2872" y="3709416"/>
              <a:ext cx="128015" cy="975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59096" y="3761231"/>
              <a:ext cx="508634" cy="0"/>
            </a:xfrm>
            <a:custGeom>
              <a:avLst/>
              <a:gdLst/>
              <a:ahLst/>
              <a:cxnLst/>
              <a:rect l="l" t="t" r="r" b="b"/>
              <a:pathLst>
                <a:path w="508635">
                  <a:moveTo>
                    <a:pt x="0" y="0"/>
                  </a:moveTo>
                  <a:lnTo>
                    <a:pt x="508634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72968" y="3349751"/>
              <a:ext cx="128016" cy="975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932176" y="3401567"/>
              <a:ext cx="271780" cy="0"/>
            </a:xfrm>
            <a:custGeom>
              <a:avLst/>
              <a:gdLst/>
              <a:ahLst/>
              <a:cxnLst/>
              <a:rect l="l" t="t" r="r" b="b"/>
              <a:pathLst>
                <a:path w="271780">
                  <a:moveTo>
                    <a:pt x="0" y="0"/>
                  </a:moveTo>
                  <a:lnTo>
                    <a:pt x="271272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69920" y="3944111"/>
              <a:ext cx="125095" cy="97155"/>
            </a:xfrm>
            <a:custGeom>
              <a:avLst/>
              <a:gdLst/>
              <a:ahLst/>
              <a:cxnLst/>
              <a:rect l="l" t="t" r="r" b="b"/>
              <a:pathLst>
                <a:path w="125095" h="97154">
                  <a:moveTo>
                    <a:pt x="10794" y="0"/>
                  </a:moveTo>
                  <a:lnTo>
                    <a:pt x="6096" y="11811"/>
                  </a:lnTo>
                  <a:lnTo>
                    <a:pt x="2667" y="24130"/>
                  </a:lnTo>
                  <a:lnTo>
                    <a:pt x="635" y="36575"/>
                  </a:lnTo>
                  <a:lnTo>
                    <a:pt x="0" y="49275"/>
                  </a:lnTo>
                  <a:lnTo>
                    <a:pt x="635" y="61594"/>
                  </a:lnTo>
                  <a:lnTo>
                    <a:pt x="2540" y="73787"/>
                  </a:lnTo>
                  <a:lnTo>
                    <a:pt x="5715" y="85598"/>
                  </a:lnTo>
                  <a:lnTo>
                    <a:pt x="10160" y="97155"/>
                  </a:lnTo>
                  <a:lnTo>
                    <a:pt x="124968" y="49275"/>
                  </a:lnTo>
                  <a:lnTo>
                    <a:pt x="107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2968" y="4154423"/>
              <a:ext cx="128016" cy="9753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458339" y="3804481"/>
            <a:ext cx="784860" cy="4597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752475" algn="l"/>
              </a:tabLst>
            </a:pPr>
            <a:r>
              <a:rPr sz="1200" b="1" dirty="0">
                <a:latin typeface="Arial"/>
                <a:cs typeface="Arial"/>
              </a:rPr>
              <a:t>Read 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771525" algn="l"/>
              </a:tabLst>
            </a:pPr>
            <a:r>
              <a:rPr sz="1200" b="1" spc="-15" dirty="0">
                <a:latin typeface="Arial"/>
                <a:cs typeface="Arial"/>
              </a:rPr>
              <a:t>Write 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83935" y="3191255"/>
            <a:ext cx="363220" cy="121348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1015"/>
              </a:spcBef>
            </a:pPr>
            <a:r>
              <a:rPr sz="1200" b="1" dirty="0">
                <a:latin typeface="Arial"/>
                <a:cs typeface="Arial"/>
              </a:rPr>
              <a:t>M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2816" y="4617720"/>
            <a:ext cx="7230109" cy="181991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398145" indent="-400050">
              <a:lnSpc>
                <a:spcPts val="1885"/>
              </a:lnSpc>
              <a:spcBef>
                <a:spcPts val="190"/>
              </a:spcBef>
              <a:buFont typeface="Arial MT"/>
              <a:buChar char="-"/>
              <a:tabLst>
                <a:tab pos="398145" algn="l"/>
                <a:tab pos="398780" algn="l"/>
              </a:tabLst>
            </a:pPr>
            <a:r>
              <a:rPr sz="1800" b="1" dirty="0">
                <a:latin typeface="Arial"/>
                <a:cs typeface="Arial"/>
              </a:rPr>
              <a:t>Compare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each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CAM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parallel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endParaRPr sz="1800" dirty="0">
              <a:latin typeface="Arial"/>
              <a:cs typeface="Arial"/>
            </a:endParaRPr>
          </a:p>
          <a:p>
            <a:pPr marL="398145">
              <a:lnSpc>
                <a:spcPts val="1535"/>
              </a:lnSpc>
            </a:pPr>
            <a:r>
              <a:rPr sz="1800" b="1" dirty="0">
                <a:latin typeface="Arial"/>
                <a:cs typeface="Arial"/>
              </a:rPr>
              <a:t>content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spc="-3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rgument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</a:t>
            </a:r>
            <a:r>
              <a:rPr sz="1800" b="1" spc="5" dirty="0">
                <a:latin typeface="Arial"/>
                <a:cs typeface="Arial"/>
              </a:rPr>
              <a:t>g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10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r)</a:t>
            </a:r>
            <a:endParaRPr sz="1800" dirty="0">
              <a:latin typeface="Arial"/>
              <a:cs typeface="Arial"/>
            </a:endParaRPr>
          </a:p>
          <a:p>
            <a:pPr marL="395605" lvl="1" indent="-141605">
              <a:lnSpc>
                <a:spcPts val="1500"/>
              </a:lnSpc>
              <a:buFont typeface="Arial MT"/>
              <a:buChar char="-"/>
              <a:tabLst>
                <a:tab pos="396240" algn="l"/>
              </a:tabLst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C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M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ord[i]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,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(i)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395605" lvl="1" indent="-141605">
              <a:lnSpc>
                <a:spcPts val="1730"/>
              </a:lnSpc>
              <a:buFont typeface="Arial MT"/>
              <a:buChar char="-"/>
              <a:tabLst>
                <a:tab pos="396240" algn="l"/>
              </a:tabLst>
            </a:pPr>
            <a:r>
              <a:rPr sz="1800" b="1" dirty="0">
                <a:latin typeface="Arial"/>
                <a:cs typeface="Arial"/>
              </a:rPr>
              <a:t>Read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sequentially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accessing</a:t>
            </a:r>
            <a:r>
              <a:rPr sz="1800" b="1" spc="-30" dirty="0">
                <a:latin typeface="Arial"/>
                <a:cs typeface="Arial"/>
              </a:rPr>
              <a:t> CAM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CAM</a:t>
            </a:r>
            <a:r>
              <a:rPr sz="1800" b="1" spc="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Word(i)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dirty="0">
                <a:latin typeface="Arial"/>
                <a:cs typeface="Arial"/>
              </a:rPr>
              <a:t> M(i)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398145" marR="1537335" indent="-400050">
              <a:lnSpc>
                <a:spcPct val="75100"/>
              </a:lnSpc>
              <a:spcBef>
                <a:spcPts val="415"/>
              </a:spcBef>
              <a:buFont typeface="Arial MT"/>
              <a:buChar char="-"/>
              <a:tabLst>
                <a:tab pos="398145" algn="l"/>
                <a:tab pos="398780" algn="l"/>
              </a:tabLst>
            </a:pPr>
            <a:r>
              <a:rPr sz="1800" b="1" spc="-5" dirty="0">
                <a:latin typeface="Arial"/>
                <a:cs typeface="Arial"/>
              </a:rPr>
              <a:t>K(Key </a:t>
            </a:r>
            <a:r>
              <a:rPr sz="1800" b="1" dirty="0">
                <a:latin typeface="Arial"/>
                <a:cs typeface="Arial"/>
              </a:rPr>
              <a:t>Register) </a:t>
            </a:r>
            <a:r>
              <a:rPr sz="1800" b="1" spc="-5" dirty="0">
                <a:latin typeface="Arial"/>
                <a:cs typeface="Arial"/>
              </a:rPr>
              <a:t>provides a </a:t>
            </a:r>
            <a:r>
              <a:rPr sz="1800" b="1" dirty="0">
                <a:latin typeface="Arial"/>
                <a:cs typeface="Arial"/>
              </a:rPr>
              <a:t>mask </a:t>
            </a:r>
            <a:r>
              <a:rPr sz="1800" b="1" spc="-5" dirty="0">
                <a:latin typeface="Arial"/>
                <a:cs typeface="Arial"/>
              </a:rPr>
              <a:t>for </a:t>
            </a:r>
            <a:r>
              <a:rPr sz="1800" b="1" dirty="0">
                <a:latin typeface="Arial"/>
                <a:cs typeface="Arial"/>
              </a:rPr>
              <a:t>choosing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 particular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field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key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argument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4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(only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those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bits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argument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have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1’s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endParaRPr sz="1800" dirty="0">
              <a:latin typeface="Arial"/>
              <a:cs typeface="Arial"/>
            </a:endParaRPr>
          </a:p>
          <a:p>
            <a:pPr marL="1017269">
              <a:lnSpc>
                <a:spcPts val="1610"/>
              </a:lnSpc>
            </a:pPr>
            <a:r>
              <a:rPr sz="1800" b="1" dirty="0">
                <a:latin typeface="Arial"/>
                <a:cs typeface="Arial"/>
              </a:rPr>
              <a:t>their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corresponding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position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K</a:t>
            </a:r>
            <a:r>
              <a:rPr sz="1800" b="1" dirty="0">
                <a:latin typeface="Arial"/>
                <a:cs typeface="Arial"/>
              </a:rPr>
              <a:t> are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compared)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26883" y="1270"/>
            <a:ext cx="17240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5" dirty="0">
                <a:latin typeface="Arial"/>
                <a:cs typeface="Arial"/>
              </a:rPr>
              <a:t>Associative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85991" y="1695069"/>
            <a:ext cx="198755" cy="501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10" dirty="0">
                <a:solidFill>
                  <a:srgbClr val="006FC0"/>
                </a:solidFill>
                <a:latin typeface="Calibri"/>
                <a:cs typeface="Calibri"/>
              </a:rPr>
              <a:t>A: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50" b="1" spc="15" dirty="0">
                <a:solidFill>
                  <a:srgbClr val="006FC0"/>
                </a:solidFill>
                <a:latin typeface="Calibri"/>
                <a:cs typeface="Calibri"/>
              </a:rPr>
              <a:t>K: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1190" y="1695069"/>
            <a:ext cx="1031240" cy="501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10"/>
              </a:spcBef>
            </a:pPr>
            <a:r>
              <a:rPr sz="1550" b="1" spc="5" dirty="0">
                <a:latin typeface="Calibri"/>
                <a:cs typeface="Calibri"/>
              </a:rPr>
              <a:t>101</a:t>
            </a:r>
            <a:r>
              <a:rPr sz="1550" b="1" spc="245" dirty="0">
                <a:latin typeface="Calibri"/>
                <a:cs typeface="Calibri"/>
              </a:rPr>
              <a:t> </a:t>
            </a:r>
            <a:r>
              <a:rPr sz="1550" b="1" spc="5" dirty="0">
                <a:latin typeface="Calibri"/>
                <a:cs typeface="Calibri"/>
              </a:rPr>
              <a:t>111100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50" b="1" spc="5" dirty="0">
                <a:latin typeface="Calibri"/>
                <a:cs typeface="Calibri"/>
              </a:rPr>
              <a:t>111</a:t>
            </a:r>
            <a:r>
              <a:rPr sz="1550" b="1" spc="250" dirty="0">
                <a:latin typeface="Calibri"/>
                <a:cs typeface="Calibri"/>
              </a:rPr>
              <a:t> </a:t>
            </a:r>
            <a:r>
              <a:rPr sz="1550" b="1" spc="5" dirty="0">
                <a:latin typeface="Calibri"/>
                <a:cs typeface="Calibri"/>
              </a:rPr>
              <a:t>000000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85991" y="2167889"/>
            <a:ext cx="2635250" cy="501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20" dirty="0">
                <a:solidFill>
                  <a:srgbClr val="006FC0"/>
                </a:solidFill>
                <a:latin typeface="Calibri"/>
                <a:cs typeface="Calibri"/>
              </a:rPr>
              <a:t>Word</a:t>
            </a:r>
            <a:r>
              <a:rPr sz="155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FC0"/>
                </a:solidFill>
                <a:latin typeface="Calibri"/>
                <a:cs typeface="Calibri"/>
              </a:rPr>
              <a:t>1:</a:t>
            </a:r>
            <a:r>
              <a:rPr sz="155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550" b="1" spc="5" dirty="0">
                <a:latin typeface="Calibri"/>
                <a:cs typeface="Calibri"/>
              </a:rPr>
              <a:t>100</a:t>
            </a:r>
            <a:r>
              <a:rPr sz="1550" b="1" spc="-30" dirty="0">
                <a:latin typeface="Calibri"/>
                <a:cs typeface="Calibri"/>
              </a:rPr>
              <a:t> </a:t>
            </a:r>
            <a:r>
              <a:rPr sz="1550" b="1" spc="5" dirty="0">
                <a:latin typeface="Calibri"/>
                <a:cs typeface="Calibri"/>
              </a:rPr>
              <a:t>111100</a:t>
            </a:r>
            <a:r>
              <a:rPr sz="1550" b="1" spc="-30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(No</a:t>
            </a:r>
            <a:r>
              <a:rPr sz="1550" b="1" spc="-20" dirty="0">
                <a:latin typeface="Calibri"/>
                <a:cs typeface="Calibri"/>
              </a:rPr>
              <a:t> </a:t>
            </a:r>
            <a:r>
              <a:rPr sz="1550" b="1" spc="-5" dirty="0">
                <a:latin typeface="Calibri"/>
                <a:cs typeface="Calibri"/>
              </a:rPr>
              <a:t>Match)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50" b="1" spc="-20" dirty="0">
                <a:solidFill>
                  <a:srgbClr val="006FC0"/>
                </a:solidFill>
                <a:latin typeface="Calibri"/>
                <a:cs typeface="Calibri"/>
              </a:rPr>
              <a:t>Word</a:t>
            </a:r>
            <a:r>
              <a:rPr sz="155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FC0"/>
                </a:solidFill>
                <a:latin typeface="Calibri"/>
                <a:cs typeface="Calibri"/>
              </a:rPr>
              <a:t>2:</a:t>
            </a:r>
            <a:r>
              <a:rPr sz="155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550" b="1" spc="5" dirty="0">
                <a:latin typeface="Calibri"/>
                <a:cs typeface="Calibri"/>
              </a:rPr>
              <a:t>101</a:t>
            </a:r>
            <a:r>
              <a:rPr sz="1550" b="1" spc="-30" dirty="0">
                <a:latin typeface="Calibri"/>
                <a:cs typeface="Calibri"/>
              </a:rPr>
              <a:t> </a:t>
            </a:r>
            <a:r>
              <a:rPr sz="1550" b="1" spc="5" dirty="0">
                <a:latin typeface="Calibri"/>
                <a:cs typeface="Calibri"/>
              </a:rPr>
              <a:t>000001</a:t>
            </a:r>
            <a:r>
              <a:rPr sz="1550" b="1" spc="-25" dirty="0">
                <a:latin typeface="Calibri"/>
                <a:cs typeface="Calibri"/>
              </a:rPr>
              <a:t> </a:t>
            </a:r>
            <a:r>
              <a:rPr sz="1550" b="1" spc="-5" dirty="0">
                <a:latin typeface="Calibri"/>
                <a:cs typeface="Calibri"/>
              </a:rPr>
              <a:t>(Match)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965" y="295021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30551" y="532244"/>
            <a:ext cx="384644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30" dirty="0">
                <a:latin typeface="Arial"/>
                <a:cs typeface="Arial"/>
              </a:rPr>
              <a:t>ORGANIZATION</a:t>
            </a:r>
            <a:r>
              <a:rPr lang="en-IN" sz="2400" b="1" u="sng" spc="-30" dirty="0">
                <a:latin typeface="Arial"/>
                <a:cs typeface="Arial"/>
              </a:rPr>
              <a:t> OF CAM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26883" y="1270"/>
            <a:ext cx="17240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5" dirty="0">
                <a:latin typeface="Arial"/>
                <a:cs typeface="Arial"/>
              </a:rPr>
              <a:t>Associative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B2690A0-9F7D-3674-0448-D6834CDC3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02" y="1168439"/>
            <a:ext cx="6970927" cy="38846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10839" y="268985"/>
            <a:ext cx="1090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latin typeface="Arial"/>
                <a:cs typeface="Arial"/>
              </a:rPr>
              <a:t>M</a:t>
            </a:r>
            <a:r>
              <a:rPr sz="2400" b="1" u="sng" spc="-254" dirty="0">
                <a:latin typeface="Arial"/>
                <a:cs typeface="Arial"/>
              </a:rPr>
              <a:t>A</a:t>
            </a:r>
            <a:r>
              <a:rPr sz="2400" b="1" u="sng" spc="-5" dirty="0">
                <a:latin typeface="Arial"/>
                <a:cs typeface="Arial"/>
              </a:rPr>
              <a:t>T</a:t>
            </a:r>
            <a:r>
              <a:rPr sz="2400" b="1" u="sng" spc="-35" dirty="0">
                <a:latin typeface="Arial"/>
                <a:cs typeface="Arial"/>
              </a:rPr>
              <a:t>C</a:t>
            </a:r>
            <a:r>
              <a:rPr sz="2400" b="1" u="sng" spc="-5" dirty="0">
                <a:latin typeface="Arial"/>
                <a:cs typeface="Arial"/>
              </a:rPr>
              <a:t>H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2490" y="268985"/>
            <a:ext cx="993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5" dirty="0">
                <a:latin typeface="Arial"/>
                <a:cs typeface="Arial"/>
              </a:rPr>
              <a:t>L</a:t>
            </a:r>
            <a:r>
              <a:rPr sz="2400" b="1" u="sng" spc="5" dirty="0">
                <a:latin typeface="Arial"/>
                <a:cs typeface="Arial"/>
              </a:rPr>
              <a:t>OG</a:t>
            </a:r>
            <a:r>
              <a:rPr sz="2400" b="1" u="sng" dirty="0">
                <a:latin typeface="Arial"/>
                <a:cs typeface="Arial"/>
              </a:rPr>
              <a:t>IC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6883" y="1270"/>
            <a:ext cx="17240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5" dirty="0">
                <a:latin typeface="Arial"/>
                <a:cs typeface="Arial"/>
              </a:rPr>
              <a:t>Associative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7047" y="1058621"/>
            <a:ext cx="46863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92735" algn="l"/>
              </a:tabLst>
            </a:pPr>
            <a:r>
              <a:rPr sz="1650" spc="30" dirty="0">
                <a:latin typeface="Cambria Math"/>
                <a:cs typeface="Cambria Math"/>
              </a:rPr>
              <a:t>𝒋	</a:t>
            </a:r>
            <a:r>
              <a:rPr sz="1650" spc="25" dirty="0">
                <a:latin typeface="Cambria Math"/>
                <a:cs typeface="Cambria Math"/>
              </a:rPr>
              <a:t>𝒊</a:t>
            </a:r>
            <a:r>
              <a:rPr sz="1650" spc="30" dirty="0">
                <a:latin typeface="Cambria Math"/>
                <a:cs typeface="Cambria Math"/>
              </a:rPr>
              <a:t>𝒋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115" y="906221"/>
            <a:ext cx="226822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Cambria Math"/>
                <a:cs typeface="Cambria Math"/>
              </a:rPr>
              <a:t>𝒙</a:t>
            </a:r>
            <a:r>
              <a:rPr sz="2475" baseline="-16835" dirty="0">
                <a:latin typeface="Cambria Math"/>
                <a:cs typeface="Cambria Math"/>
              </a:rPr>
              <a:t>𝒋</a:t>
            </a:r>
            <a:r>
              <a:rPr sz="2475" spc="532" baseline="-1683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05" dirty="0">
                <a:latin typeface="Cambria Math"/>
                <a:cs typeface="Cambria Math"/>
              </a:rPr>
              <a:t> </a:t>
            </a:r>
            <a:r>
              <a:rPr sz="2300" spc="25" dirty="0">
                <a:latin typeface="Cambria Math"/>
                <a:cs typeface="Cambria Math"/>
              </a:rPr>
              <a:t>𝑨</a:t>
            </a:r>
            <a:r>
              <a:rPr sz="2475" spc="37" baseline="-16835" dirty="0">
                <a:latin typeface="Cambria Math"/>
                <a:cs typeface="Cambria Math"/>
              </a:rPr>
              <a:t>𝒋</a:t>
            </a:r>
            <a:r>
              <a:rPr sz="2300" spc="25" dirty="0">
                <a:latin typeface="Cambria Math"/>
                <a:cs typeface="Cambria Math"/>
              </a:rPr>
              <a:t>𝑭</a:t>
            </a:r>
            <a:r>
              <a:rPr sz="2475" spc="37" baseline="-16835" dirty="0">
                <a:latin typeface="Cambria Math"/>
                <a:cs typeface="Cambria Math"/>
              </a:rPr>
              <a:t>𝒊𝒋</a:t>
            </a:r>
            <a:r>
              <a:rPr sz="2475" spc="359" baseline="-1683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+</a:t>
            </a:r>
            <a:r>
              <a:rPr sz="2300" spc="-35" dirty="0">
                <a:latin typeface="Cambria Math"/>
                <a:cs typeface="Cambria Math"/>
              </a:rPr>
              <a:t> </a:t>
            </a:r>
            <a:r>
              <a:rPr sz="2300" spc="120" dirty="0">
                <a:latin typeface="Cambria Math"/>
                <a:cs typeface="Cambria Math"/>
              </a:rPr>
              <a:t>𝑨</a:t>
            </a:r>
            <a:r>
              <a:rPr sz="2475" spc="179" baseline="30303" dirty="0">
                <a:latin typeface="Cambria Math"/>
                <a:cs typeface="Cambria Math"/>
              </a:rPr>
              <a:t>′</a:t>
            </a:r>
            <a:r>
              <a:rPr sz="2300" spc="120" dirty="0">
                <a:latin typeface="Cambria Math"/>
                <a:cs typeface="Cambria Math"/>
              </a:rPr>
              <a:t>𝑭</a:t>
            </a:r>
            <a:r>
              <a:rPr sz="2475" spc="179" baseline="30303" dirty="0">
                <a:latin typeface="Cambria Math"/>
                <a:cs typeface="Cambria Math"/>
              </a:rPr>
              <a:t>′</a:t>
            </a:r>
            <a:endParaRPr sz="2475" baseline="30303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19" y="1521078"/>
            <a:ext cx="235839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00" spc="5" dirty="0">
                <a:latin typeface="Cambria Math"/>
                <a:cs typeface="Cambria Math"/>
              </a:rPr>
              <a:t>𝑴</a:t>
            </a:r>
            <a:r>
              <a:rPr sz="2475" spc="44" baseline="-16835" dirty="0">
                <a:latin typeface="Cambria Math"/>
                <a:cs typeface="Cambria Math"/>
              </a:rPr>
              <a:t>𝒊</a:t>
            </a:r>
            <a:r>
              <a:rPr sz="2475" baseline="-16835" dirty="0">
                <a:latin typeface="Cambria Math"/>
                <a:cs typeface="Cambria Math"/>
              </a:rPr>
              <a:t> </a:t>
            </a:r>
            <a:r>
              <a:rPr sz="2475" spc="-7" baseline="-1683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2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𝒙</a:t>
            </a:r>
            <a:r>
              <a:rPr sz="2475" spc="187" baseline="-16835" dirty="0">
                <a:latin typeface="Cambria Math"/>
                <a:cs typeface="Cambria Math"/>
              </a:rPr>
              <a:t>𝟏</a:t>
            </a:r>
            <a:r>
              <a:rPr sz="2300" spc="-10" dirty="0">
                <a:latin typeface="Cambria Math"/>
                <a:cs typeface="Cambria Math"/>
              </a:rPr>
              <a:t>𝒙</a:t>
            </a:r>
            <a:r>
              <a:rPr sz="2475" spc="187" baseline="-16835" dirty="0">
                <a:latin typeface="Cambria Math"/>
                <a:cs typeface="Cambria Math"/>
              </a:rPr>
              <a:t>𝟐</a:t>
            </a:r>
            <a:r>
              <a:rPr sz="2300" spc="-10" dirty="0">
                <a:latin typeface="Cambria Math"/>
                <a:cs typeface="Cambria Math"/>
              </a:rPr>
              <a:t>𝒙</a:t>
            </a:r>
            <a:r>
              <a:rPr sz="2475" spc="44" baseline="-16835" dirty="0">
                <a:latin typeface="Cambria Math"/>
                <a:cs typeface="Cambria Math"/>
              </a:rPr>
              <a:t>𝟑</a:t>
            </a:r>
            <a:r>
              <a:rPr sz="2475" spc="142" baseline="-16835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…</a:t>
            </a:r>
            <a:r>
              <a:rPr sz="2300" spc="-130" dirty="0">
                <a:latin typeface="Cambria Math"/>
                <a:cs typeface="Cambria Math"/>
              </a:rPr>
              <a:t> </a:t>
            </a:r>
            <a:r>
              <a:rPr sz="2300" spc="-10" dirty="0">
                <a:latin typeface="Cambria Math"/>
                <a:cs typeface="Cambria Math"/>
              </a:rPr>
              <a:t>𝒙</a:t>
            </a:r>
            <a:r>
              <a:rPr sz="2475" spc="44" baseline="-16835" dirty="0">
                <a:latin typeface="Cambria Math"/>
                <a:cs typeface="Cambria Math"/>
              </a:rPr>
              <a:t>𝒏</a:t>
            </a:r>
            <a:endParaRPr sz="2475" baseline="-16835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9352" y="903135"/>
            <a:ext cx="8763000" cy="5358130"/>
            <a:chOff x="149352" y="903135"/>
            <a:chExt cx="8763000" cy="535813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5457" y="903135"/>
              <a:ext cx="3415153" cy="7991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1877568"/>
              <a:ext cx="6931152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352" y="2410968"/>
              <a:ext cx="4306824" cy="10180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0067" y="3669191"/>
              <a:ext cx="7143498" cy="25917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7" y="0"/>
            <a:ext cx="22097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0562" y="272160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10839" y="268985"/>
            <a:ext cx="1090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latin typeface="Arial"/>
                <a:cs typeface="Arial"/>
              </a:rPr>
              <a:t>M</a:t>
            </a:r>
            <a:r>
              <a:rPr sz="2400" b="1" u="sng" spc="-254" dirty="0">
                <a:latin typeface="Arial"/>
                <a:cs typeface="Arial"/>
              </a:rPr>
              <a:t>A</a:t>
            </a:r>
            <a:r>
              <a:rPr sz="2400" b="1" u="sng" spc="-5" dirty="0">
                <a:latin typeface="Arial"/>
                <a:cs typeface="Arial"/>
              </a:rPr>
              <a:t>T</a:t>
            </a:r>
            <a:r>
              <a:rPr sz="2400" b="1" u="sng" spc="-35" dirty="0">
                <a:latin typeface="Arial"/>
                <a:cs typeface="Arial"/>
              </a:rPr>
              <a:t>C</a:t>
            </a:r>
            <a:r>
              <a:rPr sz="2400" b="1" u="sng" spc="-5" dirty="0">
                <a:latin typeface="Arial"/>
                <a:cs typeface="Arial"/>
              </a:rPr>
              <a:t>H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2490" y="268985"/>
            <a:ext cx="993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5" dirty="0">
                <a:latin typeface="Arial"/>
                <a:cs typeface="Arial"/>
              </a:rPr>
              <a:t>L</a:t>
            </a:r>
            <a:r>
              <a:rPr sz="2400" b="1" u="sng" spc="5" dirty="0">
                <a:latin typeface="Arial"/>
                <a:cs typeface="Arial"/>
              </a:rPr>
              <a:t>OG</a:t>
            </a:r>
            <a:r>
              <a:rPr sz="2400" b="1" u="sng" dirty="0">
                <a:latin typeface="Arial"/>
                <a:cs typeface="Arial"/>
              </a:rPr>
              <a:t>IC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6883" y="1270"/>
            <a:ext cx="17240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5" dirty="0">
                <a:latin typeface="Arial"/>
                <a:cs typeface="Arial"/>
              </a:rPr>
              <a:t>Associative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42616" y="1841055"/>
            <a:ext cx="814069" cy="969644"/>
          </a:xfrm>
          <a:custGeom>
            <a:avLst/>
            <a:gdLst/>
            <a:ahLst/>
            <a:cxnLst/>
            <a:rect l="l" t="t" r="r" b="b"/>
            <a:pathLst>
              <a:path w="814070" h="969644">
                <a:moveTo>
                  <a:pt x="277240" y="969200"/>
                </a:moveTo>
                <a:lnTo>
                  <a:pt x="277240" y="819721"/>
                </a:lnTo>
              </a:path>
              <a:path w="814070" h="969644">
                <a:moveTo>
                  <a:pt x="128015" y="969200"/>
                </a:moveTo>
                <a:lnTo>
                  <a:pt x="128015" y="237680"/>
                </a:lnTo>
              </a:path>
              <a:path w="814070" h="969644">
                <a:moveTo>
                  <a:pt x="694562" y="969200"/>
                </a:moveTo>
                <a:lnTo>
                  <a:pt x="694562" y="363410"/>
                </a:lnTo>
              </a:path>
              <a:path w="814070" h="969644">
                <a:moveTo>
                  <a:pt x="548513" y="969200"/>
                </a:moveTo>
                <a:lnTo>
                  <a:pt x="548513" y="237680"/>
                </a:lnTo>
              </a:path>
              <a:path w="814070" h="969644">
                <a:moveTo>
                  <a:pt x="0" y="237426"/>
                </a:moveTo>
                <a:lnTo>
                  <a:pt x="813498" y="237426"/>
                </a:lnTo>
                <a:lnTo>
                  <a:pt x="813498" y="0"/>
                </a:lnTo>
                <a:lnTo>
                  <a:pt x="0" y="0"/>
                </a:lnTo>
                <a:lnTo>
                  <a:pt x="0" y="237426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67507" y="1845690"/>
            <a:ext cx="293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Arial"/>
                <a:cs typeface="Arial"/>
              </a:rPr>
              <a:t>F'</a:t>
            </a:r>
            <a:r>
              <a:rPr sz="1500" b="1" spc="-22" baseline="-13888" dirty="0">
                <a:latin typeface="Arial"/>
                <a:cs typeface="Arial"/>
              </a:rPr>
              <a:t>i1</a:t>
            </a:r>
            <a:endParaRPr sz="1500" baseline="-13888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14600" y="1630489"/>
            <a:ext cx="2423160" cy="2999740"/>
            <a:chOff x="2514600" y="1630489"/>
            <a:chExt cx="2423160" cy="2999740"/>
          </a:xfrm>
        </p:grpSpPr>
        <p:sp>
          <p:nvSpPr>
            <p:cNvPr id="13" name="object 13"/>
            <p:cNvSpPr/>
            <p:nvPr/>
          </p:nvSpPr>
          <p:spPr>
            <a:xfrm>
              <a:off x="2923031" y="2670047"/>
              <a:ext cx="594360" cy="0"/>
            </a:xfrm>
            <a:custGeom>
              <a:avLst/>
              <a:gdLst/>
              <a:ahLst/>
              <a:cxnLst/>
              <a:rect l="l" t="t" r="r" b="b"/>
              <a:pathLst>
                <a:path w="594360">
                  <a:moveTo>
                    <a:pt x="0" y="0"/>
                  </a:moveTo>
                  <a:lnTo>
                    <a:pt x="594106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2152" y="3657600"/>
              <a:ext cx="94487" cy="1066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47872" y="2557271"/>
              <a:ext cx="0" cy="1112520"/>
            </a:xfrm>
            <a:custGeom>
              <a:avLst/>
              <a:gdLst/>
              <a:ahLst/>
              <a:cxnLst/>
              <a:rect l="l" t="t" r="r" b="b"/>
              <a:pathLst>
                <a:path h="1112520">
                  <a:moveTo>
                    <a:pt x="0" y="0"/>
                  </a:moveTo>
                  <a:lnTo>
                    <a:pt x="0" y="111252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3657600"/>
              <a:ext cx="94487" cy="1066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60319" y="1642871"/>
              <a:ext cx="987425" cy="2026920"/>
            </a:xfrm>
            <a:custGeom>
              <a:avLst/>
              <a:gdLst/>
              <a:ahLst/>
              <a:cxnLst/>
              <a:rect l="l" t="t" r="r" b="b"/>
              <a:pathLst>
                <a:path w="987425" h="2026920">
                  <a:moveTo>
                    <a:pt x="127" y="915035"/>
                  </a:moveTo>
                  <a:lnTo>
                    <a:pt x="127" y="2026920"/>
                  </a:lnTo>
                </a:path>
                <a:path w="987425" h="2026920">
                  <a:moveTo>
                    <a:pt x="987044" y="0"/>
                  </a:moveTo>
                  <a:lnTo>
                    <a:pt x="987044" y="644905"/>
                  </a:lnTo>
                </a:path>
                <a:path w="987425" h="2026920">
                  <a:moveTo>
                    <a:pt x="783970" y="570229"/>
                  </a:moveTo>
                  <a:lnTo>
                    <a:pt x="967994" y="570229"/>
                  </a:lnTo>
                </a:path>
                <a:path w="987425" h="2026920">
                  <a:moveTo>
                    <a:pt x="127" y="0"/>
                  </a:moveTo>
                  <a:lnTo>
                    <a:pt x="0" y="65125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7688" y="3438144"/>
              <a:ext cx="420624" cy="822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837688" y="3069335"/>
              <a:ext cx="426720" cy="826135"/>
            </a:xfrm>
            <a:custGeom>
              <a:avLst/>
              <a:gdLst/>
              <a:ahLst/>
              <a:cxnLst/>
              <a:rect l="l" t="t" r="r" b="b"/>
              <a:pathLst>
                <a:path w="426720" h="826135">
                  <a:moveTo>
                    <a:pt x="211074" y="825626"/>
                  </a:moveTo>
                  <a:lnTo>
                    <a:pt x="153669" y="806831"/>
                  </a:lnTo>
                  <a:lnTo>
                    <a:pt x="102743" y="753999"/>
                  </a:lnTo>
                  <a:lnTo>
                    <a:pt x="80644" y="716533"/>
                  </a:lnTo>
                  <a:lnTo>
                    <a:pt x="60960" y="672719"/>
                  </a:lnTo>
                  <a:lnTo>
                    <a:pt x="44195" y="623062"/>
                  </a:lnTo>
                  <a:lnTo>
                    <a:pt x="30734" y="568451"/>
                  </a:lnTo>
                  <a:lnTo>
                    <a:pt x="20574" y="509397"/>
                  </a:lnTo>
                  <a:lnTo>
                    <a:pt x="14350" y="446659"/>
                  </a:lnTo>
                  <a:lnTo>
                    <a:pt x="12192" y="381000"/>
                  </a:lnTo>
                </a:path>
                <a:path w="426720" h="826135">
                  <a:moveTo>
                    <a:pt x="408431" y="381000"/>
                  </a:moveTo>
                  <a:lnTo>
                    <a:pt x="406273" y="446659"/>
                  </a:lnTo>
                  <a:lnTo>
                    <a:pt x="400050" y="509397"/>
                  </a:lnTo>
                  <a:lnTo>
                    <a:pt x="389889" y="568451"/>
                  </a:lnTo>
                  <a:lnTo>
                    <a:pt x="376428" y="623062"/>
                  </a:lnTo>
                  <a:lnTo>
                    <a:pt x="359663" y="672719"/>
                  </a:lnTo>
                  <a:lnTo>
                    <a:pt x="339979" y="716533"/>
                  </a:lnTo>
                  <a:lnTo>
                    <a:pt x="317881" y="753999"/>
                  </a:lnTo>
                  <a:lnTo>
                    <a:pt x="293369" y="784351"/>
                  </a:lnTo>
                  <a:lnTo>
                    <a:pt x="238887" y="820801"/>
                  </a:lnTo>
                  <a:lnTo>
                    <a:pt x="209550" y="825626"/>
                  </a:lnTo>
                </a:path>
                <a:path w="426720" h="826135">
                  <a:moveTo>
                    <a:pt x="216407" y="131063"/>
                  </a:moveTo>
                  <a:lnTo>
                    <a:pt x="216407" y="438658"/>
                  </a:lnTo>
                </a:path>
                <a:path w="426720" h="826135">
                  <a:moveTo>
                    <a:pt x="0" y="0"/>
                  </a:moveTo>
                  <a:lnTo>
                    <a:pt x="0" y="118490"/>
                  </a:lnTo>
                  <a:lnTo>
                    <a:pt x="210312" y="118490"/>
                  </a:lnTo>
                </a:path>
                <a:path w="426720" h="826135">
                  <a:moveTo>
                    <a:pt x="426720" y="3048"/>
                  </a:moveTo>
                  <a:lnTo>
                    <a:pt x="426720" y="26517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3062" y="3328161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539" y="0"/>
                  </a:lnTo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42032" y="2084831"/>
              <a:ext cx="648970" cy="2533015"/>
            </a:xfrm>
            <a:custGeom>
              <a:avLst/>
              <a:gdLst/>
              <a:ahLst/>
              <a:cxnLst/>
              <a:rect l="l" t="t" r="r" b="b"/>
              <a:pathLst>
                <a:path w="648969" h="2533015">
                  <a:moveTo>
                    <a:pt x="648843" y="1249679"/>
                  </a:moveTo>
                  <a:lnTo>
                    <a:pt x="648843" y="1411604"/>
                  </a:lnTo>
                </a:path>
                <a:path w="648969" h="2533015">
                  <a:moveTo>
                    <a:pt x="377570" y="1249679"/>
                  </a:moveTo>
                  <a:lnTo>
                    <a:pt x="377570" y="1398904"/>
                  </a:lnTo>
                </a:path>
                <a:path w="648969" h="2533015">
                  <a:moveTo>
                    <a:pt x="382269" y="1244853"/>
                  </a:moveTo>
                  <a:lnTo>
                    <a:pt x="0" y="1244853"/>
                  </a:lnTo>
                </a:path>
                <a:path w="648969" h="2533015">
                  <a:moveTo>
                    <a:pt x="507745" y="1824354"/>
                  </a:moveTo>
                  <a:lnTo>
                    <a:pt x="507619" y="2532506"/>
                  </a:lnTo>
                </a:path>
                <a:path w="648969" h="2533015">
                  <a:moveTo>
                    <a:pt x="334644" y="0"/>
                  </a:moveTo>
                  <a:lnTo>
                    <a:pt x="223647" y="11277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29840" y="3297935"/>
              <a:ext cx="60960" cy="58419"/>
            </a:xfrm>
            <a:custGeom>
              <a:avLst/>
              <a:gdLst/>
              <a:ahLst/>
              <a:cxnLst/>
              <a:rect l="l" t="t" r="r" b="b"/>
              <a:pathLst>
                <a:path w="60960" h="58420">
                  <a:moveTo>
                    <a:pt x="30480" y="0"/>
                  </a:moveTo>
                  <a:lnTo>
                    <a:pt x="18668" y="2286"/>
                  </a:lnTo>
                  <a:lnTo>
                    <a:pt x="8890" y="8509"/>
                  </a:lnTo>
                  <a:lnTo>
                    <a:pt x="2412" y="17652"/>
                  </a:lnTo>
                  <a:lnTo>
                    <a:pt x="0" y="28955"/>
                  </a:lnTo>
                  <a:lnTo>
                    <a:pt x="2412" y="40259"/>
                  </a:lnTo>
                  <a:lnTo>
                    <a:pt x="8890" y="49402"/>
                  </a:lnTo>
                  <a:lnTo>
                    <a:pt x="18668" y="55625"/>
                  </a:lnTo>
                  <a:lnTo>
                    <a:pt x="30480" y="57912"/>
                  </a:lnTo>
                  <a:lnTo>
                    <a:pt x="42418" y="55625"/>
                  </a:lnTo>
                  <a:lnTo>
                    <a:pt x="52070" y="49402"/>
                  </a:lnTo>
                  <a:lnTo>
                    <a:pt x="58547" y="40259"/>
                  </a:lnTo>
                  <a:lnTo>
                    <a:pt x="60960" y="28955"/>
                  </a:lnTo>
                  <a:lnTo>
                    <a:pt x="58547" y="17652"/>
                  </a:lnTo>
                  <a:lnTo>
                    <a:pt x="52070" y="8509"/>
                  </a:lnTo>
                  <a:lnTo>
                    <a:pt x="42418" y="2286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08703" y="1841055"/>
              <a:ext cx="816610" cy="969644"/>
            </a:xfrm>
            <a:custGeom>
              <a:avLst/>
              <a:gdLst/>
              <a:ahLst/>
              <a:cxnLst/>
              <a:rect l="l" t="t" r="r" b="b"/>
              <a:pathLst>
                <a:path w="816610" h="969644">
                  <a:moveTo>
                    <a:pt x="279908" y="969200"/>
                  </a:moveTo>
                  <a:lnTo>
                    <a:pt x="279908" y="819721"/>
                  </a:lnTo>
                </a:path>
                <a:path w="816610" h="969644">
                  <a:moveTo>
                    <a:pt x="131063" y="969200"/>
                  </a:moveTo>
                  <a:lnTo>
                    <a:pt x="131063" y="237680"/>
                  </a:lnTo>
                </a:path>
                <a:path w="816610" h="969644">
                  <a:moveTo>
                    <a:pt x="697992" y="969200"/>
                  </a:moveTo>
                  <a:lnTo>
                    <a:pt x="697992" y="363410"/>
                  </a:lnTo>
                </a:path>
                <a:path w="816610" h="969644">
                  <a:moveTo>
                    <a:pt x="550799" y="969200"/>
                  </a:moveTo>
                  <a:lnTo>
                    <a:pt x="550799" y="237680"/>
                  </a:lnTo>
                </a:path>
                <a:path w="816610" h="969644">
                  <a:moveTo>
                    <a:pt x="0" y="237426"/>
                  </a:moveTo>
                  <a:lnTo>
                    <a:pt x="816546" y="237426"/>
                  </a:lnTo>
                  <a:lnTo>
                    <a:pt x="816546" y="0"/>
                  </a:lnTo>
                  <a:lnTo>
                    <a:pt x="0" y="0"/>
                  </a:lnTo>
                  <a:lnTo>
                    <a:pt x="0" y="237426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80257" y="1874901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baseline="9259" dirty="0">
                <a:latin typeface="Arial"/>
                <a:cs typeface="Arial"/>
              </a:rPr>
              <a:t>F</a:t>
            </a:r>
            <a:r>
              <a:rPr sz="1800" b="1" spc="-127" baseline="9259" dirty="0"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i</a:t>
            </a:r>
            <a:r>
              <a:rPr sz="1000" b="1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60370" y="1386027"/>
            <a:ext cx="2603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K</a:t>
            </a:r>
            <a:r>
              <a:rPr sz="1500" b="1" spc="15" baseline="-13888" dirty="0">
                <a:latin typeface="Arial"/>
                <a:cs typeface="Arial"/>
              </a:rPr>
              <a:t>1</a:t>
            </a:r>
            <a:endParaRPr sz="1500" baseline="-13888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70453" y="1386027"/>
            <a:ext cx="254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Arial"/>
                <a:cs typeface="Arial"/>
              </a:rPr>
              <a:t>A</a:t>
            </a:r>
            <a:r>
              <a:rPr sz="1500" b="1" spc="-22" baseline="-13888" dirty="0">
                <a:latin typeface="Arial"/>
                <a:cs typeface="Arial"/>
              </a:rPr>
              <a:t>1</a:t>
            </a:r>
            <a:endParaRPr sz="1500" baseline="-13888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30294" y="1845690"/>
            <a:ext cx="293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Arial"/>
                <a:cs typeface="Arial"/>
              </a:rPr>
              <a:t>F'</a:t>
            </a:r>
            <a:r>
              <a:rPr sz="1500" b="1" spc="-22" baseline="-13888" dirty="0">
                <a:latin typeface="Arial"/>
                <a:cs typeface="Arial"/>
              </a:rPr>
              <a:t>i2</a:t>
            </a:r>
            <a:endParaRPr sz="1500" baseline="-13888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83735" y="1630489"/>
            <a:ext cx="2481580" cy="2947670"/>
            <a:chOff x="3983735" y="1630489"/>
            <a:chExt cx="2481580" cy="2947670"/>
          </a:xfrm>
        </p:grpSpPr>
        <p:sp>
          <p:nvSpPr>
            <p:cNvPr id="29" name="object 29"/>
            <p:cNvSpPr/>
            <p:nvPr/>
          </p:nvSpPr>
          <p:spPr>
            <a:xfrm>
              <a:off x="4395215" y="2670047"/>
              <a:ext cx="588645" cy="0"/>
            </a:xfrm>
            <a:custGeom>
              <a:avLst/>
              <a:gdLst/>
              <a:ahLst/>
              <a:cxnLst/>
              <a:rect l="l" t="t" r="r" b="b"/>
              <a:pathLst>
                <a:path w="588645">
                  <a:moveTo>
                    <a:pt x="0" y="0"/>
                  </a:moveTo>
                  <a:lnTo>
                    <a:pt x="588263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1287" y="3657600"/>
              <a:ext cx="91439" cy="1066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017007" y="2557271"/>
              <a:ext cx="0" cy="1112520"/>
            </a:xfrm>
            <a:custGeom>
              <a:avLst/>
              <a:gdLst/>
              <a:ahLst/>
              <a:cxnLst/>
              <a:rect l="l" t="t" r="r" b="b"/>
              <a:pathLst>
                <a:path h="1112520">
                  <a:moveTo>
                    <a:pt x="0" y="0"/>
                  </a:moveTo>
                  <a:lnTo>
                    <a:pt x="0" y="111252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3735" y="3657600"/>
              <a:ext cx="91439" cy="10668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029455" y="1642871"/>
              <a:ext cx="988060" cy="2026920"/>
            </a:xfrm>
            <a:custGeom>
              <a:avLst/>
              <a:gdLst/>
              <a:ahLst/>
              <a:cxnLst/>
              <a:rect l="l" t="t" r="r" b="b"/>
              <a:pathLst>
                <a:path w="988060" h="2026920">
                  <a:moveTo>
                    <a:pt x="0" y="915035"/>
                  </a:moveTo>
                  <a:lnTo>
                    <a:pt x="0" y="2026920"/>
                  </a:lnTo>
                </a:path>
                <a:path w="988060" h="2026920">
                  <a:moveTo>
                    <a:pt x="987552" y="0"/>
                  </a:moveTo>
                  <a:lnTo>
                    <a:pt x="987552" y="643254"/>
                  </a:lnTo>
                </a:path>
                <a:path w="988060" h="2026920">
                  <a:moveTo>
                    <a:pt x="784352" y="570229"/>
                  </a:moveTo>
                  <a:lnTo>
                    <a:pt x="968502" y="570229"/>
                  </a:lnTo>
                </a:path>
                <a:path w="988060" h="2026920">
                  <a:moveTo>
                    <a:pt x="0" y="0"/>
                  </a:moveTo>
                  <a:lnTo>
                    <a:pt x="0" y="63055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06823" y="3438144"/>
              <a:ext cx="420624" cy="822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011167" y="2084831"/>
              <a:ext cx="722630" cy="2480945"/>
            </a:xfrm>
            <a:custGeom>
              <a:avLst/>
              <a:gdLst/>
              <a:ahLst/>
              <a:cxnLst/>
              <a:rect l="l" t="t" r="r" b="b"/>
              <a:pathLst>
                <a:path w="722629" h="2480945">
                  <a:moveTo>
                    <a:pt x="506603" y="1810130"/>
                  </a:moveTo>
                  <a:lnTo>
                    <a:pt x="449199" y="1791334"/>
                  </a:lnTo>
                  <a:lnTo>
                    <a:pt x="398272" y="1738502"/>
                  </a:lnTo>
                  <a:lnTo>
                    <a:pt x="376174" y="1701037"/>
                  </a:lnTo>
                  <a:lnTo>
                    <a:pt x="356616" y="1657222"/>
                  </a:lnTo>
                  <a:lnTo>
                    <a:pt x="339852" y="1607565"/>
                  </a:lnTo>
                  <a:lnTo>
                    <a:pt x="326263" y="1552955"/>
                  </a:lnTo>
                  <a:lnTo>
                    <a:pt x="316230" y="1493901"/>
                  </a:lnTo>
                  <a:lnTo>
                    <a:pt x="310007" y="1431163"/>
                  </a:lnTo>
                  <a:lnTo>
                    <a:pt x="307848" y="1365503"/>
                  </a:lnTo>
                </a:path>
                <a:path w="722629" h="2480945">
                  <a:moveTo>
                    <a:pt x="703707" y="1365503"/>
                  </a:moveTo>
                  <a:lnTo>
                    <a:pt x="701548" y="1431163"/>
                  </a:lnTo>
                  <a:lnTo>
                    <a:pt x="695325" y="1493901"/>
                  </a:lnTo>
                  <a:lnTo>
                    <a:pt x="685165" y="1552955"/>
                  </a:lnTo>
                  <a:lnTo>
                    <a:pt x="671703" y="1607565"/>
                  </a:lnTo>
                  <a:lnTo>
                    <a:pt x="654939" y="1657222"/>
                  </a:lnTo>
                  <a:lnTo>
                    <a:pt x="635381" y="1701037"/>
                  </a:lnTo>
                  <a:lnTo>
                    <a:pt x="613156" y="1738502"/>
                  </a:lnTo>
                  <a:lnTo>
                    <a:pt x="588772" y="1768855"/>
                  </a:lnTo>
                  <a:lnTo>
                    <a:pt x="534416" y="1805304"/>
                  </a:lnTo>
                  <a:lnTo>
                    <a:pt x="504952" y="1810130"/>
                  </a:lnTo>
                </a:path>
                <a:path w="722629" h="2480945">
                  <a:moveTo>
                    <a:pt x="512064" y="1115567"/>
                  </a:moveTo>
                  <a:lnTo>
                    <a:pt x="512064" y="1423162"/>
                  </a:lnTo>
                </a:path>
                <a:path w="722629" h="2480945">
                  <a:moveTo>
                    <a:pt x="295656" y="981455"/>
                  </a:moveTo>
                  <a:lnTo>
                    <a:pt x="295656" y="1103376"/>
                  </a:lnTo>
                  <a:lnTo>
                    <a:pt x="505968" y="1103376"/>
                  </a:lnTo>
                </a:path>
                <a:path w="722629" h="2480945">
                  <a:moveTo>
                    <a:pt x="722122" y="988440"/>
                  </a:moveTo>
                  <a:lnTo>
                    <a:pt x="722122" y="1253997"/>
                  </a:lnTo>
                </a:path>
                <a:path w="722629" h="2480945">
                  <a:moveTo>
                    <a:pt x="649097" y="1250822"/>
                  </a:moveTo>
                  <a:lnTo>
                    <a:pt x="649097" y="1412875"/>
                  </a:lnTo>
                </a:path>
                <a:path w="722629" h="2480945">
                  <a:moveTo>
                    <a:pt x="377698" y="1250822"/>
                  </a:moveTo>
                  <a:lnTo>
                    <a:pt x="377698" y="1400175"/>
                  </a:lnTo>
                </a:path>
                <a:path w="722629" h="2480945">
                  <a:moveTo>
                    <a:pt x="384048" y="1245996"/>
                  </a:moveTo>
                  <a:lnTo>
                    <a:pt x="0" y="1245996"/>
                  </a:lnTo>
                </a:path>
                <a:path w="722629" h="2480945">
                  <a:moveTo>
                    <a:pt x="504698" y="1825878"/>
                  </a:moveTo>
                  <a:lnTo>
                    <a:pt x="504698" y="2480691"/>
                  </a:lnTo>
                </a:path>
                <a:path w="722629" h="2480945">
                  <a:moveTo>
                    <a:pt x="339598" y="0"/>
                  </a:moveTo>
                  <a:lnTo>
                    <a:pt x="228473" y="11290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02024" y="2188463"/>
              <a:ext cx="1042669" cy="1173480"/>
            </a:xfrm>
            <a:custGeom>
              <a:avLst/>
              <a:gdLst/>
              <a:ahLst/>
              <a:cxnLst/>
              <a:rect l="l" t="t" r="r" b="b"/>
              <a:pathLst>
                <a:path w="1042670" h="1173479">
                  <a:moveTo>
                    <a:pt x="60198" y="1144651"/>
                  </a:moveTo>
                  <a:lnTo>
                    <a:pt x="57785" y="1133602"/>
                  </a:lnTo>
                  <a:lnTo>
                    <a:pt x="51435" y="1124458"/>
                  </a:lnTo>
                  <a:lnTo>
                    <a:pt x="41910" y="1118362"/>
                  </a:lnTo>
                  <a:lnTo>
                    <a:pt x="30226" y="1116076"/>
                  </a:lnTo>
                  <a:lnTo>
                    <a:pt x="18415" y="1118362"/>
                  </a:lnTo>
                  <a:lnTo>
                    <a:pt x="8763" y="1124458"/>
                  </a:lnTo>
                  <a:lnTo>
                    <a:pt x="2413" y="1133602"/>
                  </a:lnTo>
                  <a:lnTo>
                    <a:pt x="0" y="1144651"/>
                  </a:lnTo>
                  <a:lnTo>
                    <a:pt x="2413" y="1155827"/>
                  </a:lnTo>
                  <a:lnTo>
                    <a:pt x="8763" y="1164844"/>
                  </a:lnTo>
                  <a:lnTo>
                    <a:pt x="18415" y="1170940"/>
                  </a:lnTo>
                  <a:lnTo>
                    <a:pt x="30226" y="1173226"/>
                  </a:lnTo>
                  <a:lnTo>
                    <a:pt x="41910" y="1170940"/>
                  </a:lnTo>
                  <a:lnTo>
                    <a:pt x="51435" y="1164844"/>
                  </a:lnTo>
                  <a:lnTo>
                    <a:pt x="57785" y="1155827"/>
                  </a:lnTo>
                  <a:lnTo>
                    <a:pt x="60198" y="1144651"/>
                  </a:lnTo>
                  <a:close/>
                </a:path>
                <a:path w="1042670" h="1173479">
                  <a:moveTo>
                    <a:pt x="1042416" y="477901"/>
                  </a:moveTo>
                  <a:lnTo>
                    <a:pt x="1040003" y="466852"/>
                  </a:lnTo>
                  <a:lnTo>
                    <a:pt x="1033399" y="457708"/>
                  </a:lnTo>
                  <a:lnTo>
                    <a:pt x="1023493" y="451612"/>
                  </a:lnTo>
                  <a:lnTo>
                    <a:pt x="1011555" y="449326"/>
                  </a:lnTo>
                  <a:lnTo>
                    <a:pt x="999490" y="451612"/>
                  </a:lnTo>
                  <a:lnTo>
                    <a:pt x="989711" y="457708"/>
                  </a:lnTo>
                  <a:lnTo>
                    <a:pt x="983107" y="466852"/>
                  </a:lnTo>
                  <a:lnTo>
                    <a:pt x="980694" y="477901"/>
                  </a:lnTo>
                  <a:lnTo>
                    <a:pt x="983107" y="488950"/>
                  </a:lnTo>
                  <a:lnTo>
                    <a:pt x="989711" y="498094"/>
                  </a:lnTo>
                  <a:lnTo>
                    <a:pt x="999490" y="504190"/>
                  </a:lnTo>
                  <a:lnTo>
                    <a:pt x="1011555" y="506476"/>
                  </a:lnTo>
                  <a:lnTo>
                    <a:pt x="1023493" y="504190"/>
                  </a:lnTo>
                  <a:lnTo>
                    <a:pt x="1033399" y="498094"/>
                  </a:lnTo>
                  <a:lnTo>
                    <a:pt x="1040003" y="488950"/>
                  </a:lnTo>
                  <a:lnTo>
                    <a:pt x="1042416" y="477901"/>
                  </a:lnTo>
                  <a:close/>
                </a:path>
                <a:path w="1042670" h="1173479">
                  <a:moveTo>
                    <a:pt x="1042416" y="28575"/>
                  </a:moveTo>
                  <a:lnTo>
                    <a:pt x="1039876" y="17526"/>
                  </a:lnTo>
                  <a:lnTo>
                    <a:pt x="1033145" y="8382"/>
                  </a:lnTo>
                  <a:lnTo>
                    <a:pt x="1023112" y="2286"/>
                  </a:lnTo>
                  <a:lnTo>
                    <a:pt x="1010793" y="0"/>
                  </a:lnTo>
                  <a:lnTo>
                    <a:pt x="998347" y="2286"/>
                  </a:lnTo>
                  <a:lnTo>
                    <a:pt x="988314" y="8382"/>
                  </a:lnTo>
                  <a:lnTo>
                    <a:pt x="981583" y="17526"/>
                  </a:lnTo>
                  <a:lnTo>
                    <a:pt x="979043" y="28575"/>
                  </a:lnTo>
                  <a:lnTo>
                    <a:pt x="981583" y="39751"/>
                  </a:lnTo>
                  <a:lnTo>
                    <a:pt x="988314" y="48768"/>
                  </a:lnTo>
                  <a:lnTo>
                    <a:pt x="998347" y="54864"/>
                  </a:lnTo>
                  <a:lnTo>
                    <a:pt x="1010793" y="57150"/>
                  </a:lnTo>
                  <a:lnTo>
                    <a:pt x="1023112" y="54864"/>
                  </a:lnTo>
                  <a:lnTo>
                    <a:pt x="1033145" y="48768"/>
                  </a:lnTo>
                  <a:lnTo>
                    <a:pt x="1039876" y="39751"/>
                  </a:lnTo>
                  <a:lnTo>
                    <a:pt x="1042416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05855" y="2078735"/>
              <a:ext cx="746760" cy="731520"/>
            </a:xfrm>
            <a:custGeom>
              <a:avLst/>
              <a:gdLst/>
              <a:ahLst/>
              <a:cxnLst/>
              <a:rect l="l" t="t" r="r" b="b"/>
              <a:pathLst>
                <a:path w="746760" h="731519">
                  <a:moveTo>
                    <a:pt x="149352" y="731519"/>
                  </a:moveTo>
                  <a:lnTo>
                    <a:pt x="149352" y="582040"/>
                  </a:lnTo>
                </a:path>
                <a:path w="746760" h="731519">
                  <a:moveTo>
                    <a:pt x="0" y="731519"/>
                  </a:moveTo>
                  <a:lnTo>
                    <a:pt x="0" y="0"/>
                  </a:lnTo>
                </a:path>
                <a:path w="746760" h="731519">
                  <a:moveTo>
                    <a:pt x="568833" y="731519"/>
                  </a:moveTo>
                  <a:lnTo>
                    <a:pt x="568833" y="125729"/>
                  </a:lnTo>
                </a:path>
                <a:path w="746760" h="731519">
                  <a:moveTo>
                    <a:pt x="421005" y="731519"/>
                  </a:moveTo>
                  <a:lnTo>
                    <a:pt x="421005" y="0"/>
                  </a:lnTo>
                </a:path>
                <a:path w="746760" h="731519">
                  <a:moveTo>
                    <a:pt x="155702" y="591565"/>
                  </a:moveTo>
                  <a:lnTo>
                    <a:pt x="746760" y="59156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548123" y="1884679"/>
            <a:ext cx="300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baseline="11574" dirty="0">
                <a:latin typeface="Arial"/>
                <a:cs typeface="Arial"/>
              </a:rPr>
              <a:t>F</a:t>
            </a:r>
            <a:r>
              <a:rPr sz="1800" b="1" spc="-89" baseline="11574" dirty="0"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i2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26459" y="1386027"/>
            <a:ext cx="2603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K</a:t>
            </a:r>
            <a:r>
              <a:rPr sz="1500" b="1" spc="15" baseline="-13888" dirty="0">
                <a:latin typeface="Arial"/>
                <a:cs typeface="Arial"/>
              </a:rPr>
              <a:t>2</a:t>
            </a:r>
            <a:endParaRPr sz="1500" baseline="-13888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42636" y="1386027"/>
            <a:ext cx="254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latin typeface="Arial"/>
                <a:cs typeface="Arial"/>
              </a:rPr>
              <a:t>A</a:t>
            </a:r>
            <a:r>
              <a:rPr sz="1500" b="1" spc="-22" baseline="-13888" dirty="0">
                <a:latin typeface="Arial"/>
                <a:cs typeface="Arial"/>
              </a:rPr>
              <a:t>2</a:t>
            </a:r>
            <a:endParaRPr sz="1500" baseline="-13888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77840" y="1840992"/>
            <a:ext cx="817244" cy="23812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365"/>
              </a:spcBef>
              <a:tabLst>
                <a:tab pos="487045" algn="l"/>
              </a:tabLst>
            </a:pPr>
            <a:r>
              <a:rPr sz="1800" b="1" spc="7" baseline="4629" dirty="0">
                <a:latin typeface="Arial"/>
                <a:cs typeface="Arial"/>
              </a:rPr>
              <a:t>F'</a:t>
            </a:r>
            <a:r>
              <a:rPr sz="1000" b="1" spc="5" dirty="0">
                <a:latin typeface="Arial"/>
                <a:cs typeface="Arial"/>
              </a:rPr>
              <a:t>in	</a:t>
            </a:r>
            <a:r>
              <a:rPr sz="1800" b="1" spc="44" baseline="9259" dirty="0">
                <a:latin typeface="Arial"/>
                <a:cs typeface="Arial"/>
              </a:rPr>
              <a:t>F</a:t>
            </a:r>
            <a:r>
              <a:rPr sz="1000" b="1" spc="30" dirty="0"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17064" y="1642872"/>
            <a:ext cx="4660265" cy="3127375"/>
            <a:chOff x="2417064" y="1642872"/>
            <a:chExt cx="4660265" cy="312737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0423" y="3657600"/>
              <a:ext cx="91440" cy="10668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486144" y="2557272"/>
              <a:ext cx="0" cy="1112520"/>
            </a:xfrm>
            <a:custGeom>
              <a:avLst/>
              <a:gdLst/>
              <a:ahLst/>
              <a:cxnLst/>
              <a:rect l="l" t="t" r="r" b="b"/>
              <a:pathLst>
                <a:path h="1112520">
                  <a:moveTo>
                    <a:pt x="0" y="0"/>
                  </a:moveTo>
                  <a:lnTo>
                    <a:pt x="0" y="111252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2872" y="3657600"/>
              <a:ext cx="91439" cy="10668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98592" y="1642872"/>
              <a:ext cx="988060" cy="2026920"/>
            </a:xfrm>
            <a:custGeom>
              <a:avLst/>
              <a:gdLst/>
              <a:ahLst/>
              <a:cxnLst/>
              <a:rect l="l" t="t" r="r" b="b"/>
              <a:pathLst>
                <a:path w="988060" h="2026920">
                  <a:moveTo>
                    <a:pt x="0" y="915035"/>
                  </a:moveTo>
                  <a:lnTo>
                    <a:pt x="0" y="2026920"/>
                  </a:lnTo>
                </a:path>
                <a:path w="988060" h="2026920">
                  <a:moveTo>
                    <a:pt x="987552" y="0"/>
                  </a:moveTo>
                  <a:lnTo>
                    <a:pt x="987552" y="630554"/>
                  </a:lnTo>
                </a:path>
                <a:path w="988060" h="2026920">
                  <a:moveTo>
                    <a:pt x="784352" y="570229"/>
                  </a:moveTo>
                  <a:lnTo>
                    <a:pt x="968502" y="570229"/>
                  </a:lnTo>
                </a:path>
                <a:path w="988060" h="2026920">
                  <a:moveTo>
                    <a:pt x="0" y="0"/>
                  </a:moveTo>
                  <a:lnTo>
                    <a:pt x="0" y="64325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5960" y="3438144"/>
              <a:ext cx="420624" cy="8229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477256" y="2081784"/>
              <a:ext cx="725170" cy="2225040"/>
            </a:xfrm>
            <a:custGeom>
              <a:avLst/>
              <a:gdLst/>
              <a:ahLst/>
              <a:cxnLst/>
              <a:rect l="l" t="t" r="r" b="b"/>
              <a:pathLst>
                <a:path w="725170" h="2225040">
                  <a:moveTo>
                    <a:pt x="511302" y="1813178"/>
                  </a:moveTo>
                  <a:lnTo>
                    <a:pt x="454279" y="1794383"/>
                  </a:lnTo>
                  <a:lnTo>
                    <a:pt x="403860" y="1741551"/>
                  </a:lnTo>
                  <a:lnTo>
                    <a:pt x="381762" y="1704085"/>
                  </a:lnTo>
                  <a:lnTo>
                    <a:pt x="362331" y="1660270"/>
                  </a:lnTo>
                  <a:lnTo>
                    <a:pt x="345694" y="1610614"/>
                  </a:lnTo>
                  <a:lnTo>
                    <a:pt x="332232" y="1556003"/>
                  </a:lnTo>
                  <a:lnTo>
                    <a:pt x="322326" y="1496949"/>
                  </a:lnTo>
                  <a:lnTo>
                    <a:pt x="316103" y="1434211"/>
                  </a:lnTo>
                  <a:lnTo>
                    <a:pt x="313944" y="1368552"/>
                  </a:lnTo>
                </a:path>
                <a:path w="725170" h="2225040">
                  <a:moveTo>
                    <a:pt x="707136" y="1368552"/>
                  </a:moveTo>
                  <a:lnTo>
                    <a:pt x="704977" y="1434211"/>
                  </a:lnTo>
                  <a:lnTo>
                    <a:pt x="698754" y="1496949"/>
                  </a:lnTo>
                  <a:lnTo>
                    <a:pt x="688721" y="1556003"/>
                  </a:lnTo>
                  <a:lnTo>
                    <a:pt x="675259" y="1610614"/>
                  </a:lnTo>
                  <a:lnTo>
                    <a:pt x="658749" y="1660270"/>
                  </a:lnTo>
                  <a:lnTo>
                    <a:pt x="639191" y="1704085"/>
                  </a:lnTo>
                  <a:lnTo>
                    <a:pt x="617220" y="1741551"/>
                  </a:lnTo>
                  <a:lnTo>
                    <a:pt x="592963" y="1771903"/>
                  </a:lnTo>
                  <a:lnTo>
                    <a:pt x="538861" y="1808352"/>
                  </a:lnTo>
                  <a:lnTo>
                    <a:pt x="509651" y="1813178"/>
                  </a:lnTo>
                </a:path>
                <a:path w="725170" h="2225040">
                  <a:moveTo>
                    <a:pt x="515112" y="1118615"/>
                  </a:moveTo>
                  <a:lnTo>
                    <a:pt x="515112" y="1426210"/>
                  </a:lnTo>
                </a:path>
                <a:path w="725170" h="2225040">
                  <a:moveTo>
                    <a:pt x="298704" y="987551"/>
                  </a:moveTo>
                  <a:lnTo>
                    <a:pt x="298704" y="1106042"/>
                  </a:lnTo>
                  <a:lnTo>
                    <a:pt x="509016" y="1106042"/>
                  </a:lnTo>
                </a:path>
                <a:path w="725170" h="2225040">
                  <a:moveTo>
                    <a:pt x="725043" y="992377"/>
                  </a:moveTo>
                  <a:lnTo>
                    <a:pt x="725043" y="1244980"/>
                  </a:lnTo>
                </a:path>
                <a:path w="725170" h="2225040">
                  <a:moveTo>
                    <a:pt x="651764" y="1254505"/>
                  </a:moveTo>
                  <a:lnTo>
                    <a:pt x="651764" y="1416430"/>
                  </a:lnTo>
                </a:path>
                <a:path w="725170" h="2225040">
                  <a:moveTo>
                    <a:pt x="379349" y="1254505"/>
                  </a:moveTo>
                  <a:lnTo>
                    <a:pt x="379349" y="1403730"/>
                  </a:lnTo>
                </a:path>
                <a:path w="725170" h="2225040">
                  <a:moveTo>
                    <a:pt x="385699" y="1249679"/>
                  </a:moveTo>
                  <a:lnTo>
                    <a:pt x="0" y="1249679"/>
                  </a:lnTo>
                </a:path>
                <a:path w="725170" h="2225040">
                  <a:moveTo>
                    <a:pt x="514731" y="1816608"/>
                  </a:moveTo>
                  <a:lnTo>
                    <a:pt x="514731" y="2224659"/>
                  </a:lnTo>
                </a:path>
                <a:path w="725170" h="2225040">
                  <a:moveTo>
                    <a:pt x="340995" y="0"/>
                  </a:moveTo>
                  <a:lnTo>
                    <a:pt x="229489" y="11430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465064" y="2182367"/>
              <a:ext cx="1051560" cy="1170305"/>
            </a:xfrm>
            <a:custGeom>
              <a:avLst/>
              <a:gdLst/>
              <a:ahLst/>
              <a:cxnLst/>
              <a:rect l="l" t="t" r="r" b="b"/>
              <a:pathLst>
                <a:path w="1051559" h="1170304">
                  <a:moveTo>
                    <a:pt x="61849" y="1141476"/>
                  </a:moveTo>
                  <a:lnTo>
                    <a:pt x="59436" y="1130427"/>
                  </a:lnTo>
                  <a:lnTo>
                    <a:pt x="52832" y="1121283"/>
                  </a:lnTo>
                  <a:lnTo>
                    <a:pt x="42926" y="1115187"/>
                  </a:lnTo>
                  <a:lnTo>
                    <a:pt x="30988" y="1112901"/>
                  </a:lnTo>
                  <a:lnTo>
                    <a:pt x="18923" y="1115187"/>
                  </a:lnTo>
                  <a:lnTo>
                    <a:pt x="9017" y="1121283"/>
                  </a:lnTo>
                  <a:lnTo>
                    <a:pt x="2413" y="1130427"/>
                  </a:lnTo>
                  <a:lnTo>
                    <a:pt x="0" y="1141476"/>
                  </a:lnTo>
                  <a:lnTo>
                    <a:pt x="2413" y="1152525"/>
                  </a:lnTo>
                  <a:lnTo>
                    <a:pt x="9017" y="1161669"/>
                  </a:lnTo>
                  <a:lnTo>
                    <a:pt x="18923" y="1167765"/>
                  </a:lnTo>
                  <a:lnTo>
                    <a:pt x="30988" y="1170051"/>
                  </a:lnTo>
                  <a:lnTo>
                    <a:pt x="42926" y="1167765"/>
                  </a:lnTo>
                  <a:lnTo>
                    <a:pt x="52832" y="1161669"/>
                  </a:lnTo>
                  <a:lnTo>
                    <a:pt x="59436" y="1152525"/>
                  </a:lnTo>
                  <a:lnTo>
                    <a:pt x="61849" y="1141476"/>
                  </a:lnTo>
                  <a:close/>
                </a:path>
                <a:path w="1051559" h="1170304">
                  <a:moveTo>
                    <a:pt x="1048131" y="492887"/>
                  </a:moveTo>
                  <a:lnTo>
                    <a:pt x="1045705" y="481457"/>
                  </a:lnTo>
                  <a:lnTo>
                    <a:pt x="1038987" y="472059"/>
                  </a:lnTo>
                  <a:lnTo>
                    <a:pt x="1029208" y="465836"/>
                  </a:lnTo>
                  <a:lnTo>
                    <a:pt x="1017143" y="463423"/>
                  </a:lnTo>
                  <a:lnTo>
                    <a:pt x="1005078" y="465836"/>
                  </a:lnTo>
                  <a:lnTo>
                    <a:pt x="995299" y="472059"/>
                  </a:lnTo>
                  <a:lnTo>
                    <a:pt x="988695" y="481457"/>
                  </a:lnTo>
                  <a:lnTo>
                    <a:pt x="986282" y="492887"/>
                  </a:lnTo>
                  <a:lnTo>
                    <a:pt x="988695" y="504317"/>
                  </a:lnTo>
                  <a:lnTo>
                    <a:pt x="995299" y="513715"/>
                  </a:lnTo>
                  <a:lnTo>
                    <a:pt x="1005078" y="519938"/>
                  </a:lnTo>
                  <a:lnTo>
                    <a:pt x="1017143" y="522224"/>
                  </a:lnTo>
                  <a:lnTo>
                    <a:pt x="1029208" y="519938"/>
                  </a:lnTo>
                  <a:lnTo>
                    <a:pt x="1038987" y="513715"/>
                  </a:lnTo>
                  <a:lnTo>
                    <a:pt x="1045705" y="504317"/>
                  </a:lnTo>
                  <a:lnTo>
                    <a:pt x="1048131" y="492887"/>
                  </a:lnTo>
                  <a:close/>
                </a:path>
                <a:path w="1051559" h="1170304">
                  <a:moveTo>
                    <a:pt x="1051306" y="27686"/>
                  </a:moveTo>
                  <a:lnTo>
                    <a:pt x="1048880" y="16891"/>
                  </a:lnTo>
                  <a:lnTo>
                    <a:pt x="1042416" y="8128"/>
                  </a:lnTo>
                  <a:lnTo>
                    <a:pt x="1032891" y="2159"/>
                  </a:lnTo>
                  <a:lnTo>
                    <a:pt x="1021080" y="0"/>
                  </a:lnTo>
                  <a:lnTo>
                    <a:pt x="1009396" y="2159"/>
                  </a:lnTo>
                  <a:lnTo>
                    <a:pt x="999871" y="8128"/>
                  </a:lnTo>
                  <a:lnTo>
                    <a:pt x="993394" y="16891"/>
                  </a:lnTo>
                  <a:lnTo>
                    <a:pt x="991108" y="27686"/>
                  </a:lnTo>
                  <a:lnTo>
                    <a:pt x="993394" y="38481"/>
                  </a:lnTo>
                  <a:lnTo>
                    <a:pt x="999871" y="47371"/>
                  </a:lnTo>
                  <a:lnTo>
                    <a:pt x="1009396" y="53340"/>
                  </a:lnTo>
                  <a:lnTo>
                    <a:pt x="1021080" y="55499"/>
                  </a:lnTo>
                  <a:lnTo>
                    <a:pt x="1032891" y="53340"/>
                  </a:lnTo>
                  <a:lnTo>
                    <a:pt x="1042416" y="47371"/>
                  </a:lnTo>
                  <a:lnTo>
                    <a:pt x="1048880" y="38481"/>
                  </a:lnTo>
                  <a:lnTo>
                    <a:pt x="1051306" y="27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35808" y="4145279"/>
              <a:ext cx="3782695" cy="618490"/>
            </a:xfrm>
            <a:custGeom>
              <a:avLst/>
              <a:gdLst/>
              <a:ahLst/>
              <a:cxnLst/>
              <a:rect l="l" t="t" r="r" b="b"/>
              <a:pathLst>
                <a:path w="3782695" h="618489">
                  <a:moveTo>
                    <a:pt x="3777488" y="311785"/>
                  </a:moveTo>
                  <a:lnTo>
                    <a:pt x="3773805" y="360426"/>
                  </a:lnTo>
                  <a:lnTo>
                    <a:pt x="3763518" y="406781"/>
                  </a:lnTo>
                  <a:lnTo>
                    <a:pt x="3746881" y="449834"/>
                  </a:lnTo>
                  <a:lnTo>
                    <a:pt x="3724656" y="489331"/>
                  </a:lnTo>
                  <a:lnTo>
                    <a:pt x="3697224" y="524256"/>
                  </a:lnTo>
                  <a:lnTo>
                    <a:pt x="3665347" y="554355"/>
                  </a:lnTo>
                  <a:lnTo>
                    <a:pt x="3629406" y="578866"/>
                  </a:lnTo>
                  <a:lnTo>
                    <a:pt x="3590163" y="597027"/>
                  </a:lnTo>
                  <a:lnTo>
                    <a:pt x="3548126" y="608457"/>
                  </a:lnTo>
                  <a:lnTo>
                    <a:pt x="3503676" y="612394"/>
                  </a:lnTo>
                </a:path>
                <a:path w="3782695" h="618489">
                  <a:moveTo>
                    <a:pt x="3502152" y="6223"/>
                  </a:moveTo>
                  <a:lnTo>
                    <a:pt x="3502660" y="6223"/>
                  </a:lnTo>
                  <a:lnTo>
                    <a:pt x="3503168" y="6096"/>
                  </a:lnTo>
                  <a:lnTo>
                    <a:pt x="3503676" y="6223"/>
                  </a:lnTo>
                  <a:lnTo>
                    <a:pt x="3548888" y="10287"/>
                  </a:lnTo>
                  <a:lnTo>
                    <a:pt x="3591687" y="21971"/>
                  </a:lnTo>
                  <a:lnTo>
                    <a:pt x="3631692" y="40640"/>
                  </a:lnTo>
                  <a:lnTo>
                    <a:pt x="3668141" y="65786"/>
                  </a:lnTo>
                  <a:lnTo>
                    <a:pt x="3700653" y="96647"/>
                  </a:lnTo>
                  <a:lnTo>
                    <a:pt x="3728466" y="132588"/>
                  </a:lnTo>
                  <a:lnTo>
                    <a:pt x="3751072" y="172974"/>
                  </a:lnTo>
                  <a:lnTo>
                    <a:pt x="3767963" y="217297"/>
                  </a:lnTo>
                  <a:lnTo>
                    <a:pt x="3778504" y="264795"/>
                  </a:lnTo>
                  <a:lnTo>
                    <a:pt x="3782187" y="314960"/>
                  </a:lnTo>
                </a:path>
                <a:path w="3782695" h="618489">
                  <a:moveTo>
                    <a:pt x="3170428" y="610489"/>
                  </a:moveTo>
                  <a:lnTo>
                    <a:pt x="3490976" y="610489"/>
                  </a:lnTo>
                </a:path>
                <a:path w="3782695" h="618489">
                  <a:moveTo>
                    <a:pt x="3170428" y="9525"/>
                  </a:moveTo>
                  <a:lnTo>
                    <a:pt x="3495802" y="9525"/>
                  </a:lnTo>
                </a:path>
                <a:path w="3782695" h="618489">
                  <a:moveTo>
                    <a:pt x="3164078" y="618490"/>
                  </a:moveTo>
                  <a:lnTo>
                    <a:pt x="3164078" y="0"/>
                  </a:lnTo>
                </a:path>
                <a:path w="3782695" h="618489">
                  <a:moveTo>
                    <a:pt x="2941955" y="155829"/>
                  </a:moveTo>
                  <a:lnTo>
                    <a:pt x="3165729" y="155829"/>
                  </a:lnTo>
                </a:path>
                <a:path w="3782695" h="618489">
                  <a:moveTo>
                    <a:pt x="3170428" y="475361"/>
                  </a:moveTo>
                  <a:lnTo>
                    <a:pt x="0" y="475361"/>
                  </a:lnTo>
                </a:path>
                <a:path w="3782695" h="618489">
                  <a:moveTo>
                    <a:pt x="3170428" y="418211"/>
                  </a:moveTo>
                  <a:lnTo>
                    <a:pt x="1467866" y="418211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2472" y="4331207"/>
              <a:ext cx="30479" cy="17983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818376" y="4471416"/>
              <a:ext cx="259079" cy="0"/>
            </a:xfrm>
            <a:custGeom>
              <a:avLst/>
              <a:gdLst/>
              <a:ahLst/>
              <a:cxnLst/>
              <a:rect l="l" t="t" r="r" b="b"/>
              <a:pathLst>
                <a:path w="259079">
                  <a:moveTo>
                    <a:pt x="0" y="0"/>
                  </a:moveTo>
                  <a:lnTo>
                    <a:pt x="258699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14344" y="2182367"/>
              <a:ext cx="60960" cy="511809"/>
            </a:xfrm>
            <a:custGeom>
              <a:avLst/>
              <a:gdLst/>
              <a:ahLst/>
              <a:cxnLst/>
              <a:rect l="l" t="t" r="r" b="b"/>
              <a:pathLst>
                <a:path w="60960" h="511810">
                  <a:moveTo>
                    <a:pt x="59436" y="483108"/>
                  </a:moveTo>
                  <a:lnTo>
                    <a:pt x="57150" y="472059"/>
                  </a:lnTo>
                  <a:lnTo>
                    <a:pt x="50927" y="463042"/>
                  </a:lnTo>
                  <a:lnTo>
                    <a:pt x="41783" y="456946"/>
                  </a:lnTo>
                  <a:lnTo>
                    <a:pt x="30480" y="454660"/>
                  </a:lnTo>
                  <a:lnTo>
                    <a:pt x="19177" y="456946"/>
                  </a:lnTo>
                  <a:lnTo>
                    <a:pt x="9906" y="463042"/>
                  </a:lnTo>
                  <a:lnTo>
                    <a:pt x="3683" y="472059"/>
                  </a:lnTo>
                  <a:lnTo>
                    <a:pt x="1524" y="483108"/>
                  </a:lnTo>
                  <a:lnTo>
                    <a:pt x="3683" y="494284"/>
                  </a:lnTo>
                  <a:lnTo>
                    <a:pt x="9906" y="503301"/>
                  </a:lnTo>
                  <a:lnTo>
                    <a:pt x="19177" y="509397"/>
                  </a:lnTo>
                  <a:lnTo>
                    <a:pt x="30480" y="511683"/>
                  </a:lnTo>
                  <a:lnTo>
                    <a:pt x="41783" y="509397"/>
                  </a:lnTo>
                  <a:lnTo>
                    <a:pt x="50927" y="503301"/>
                  </a:lnTo>
                  <a:lnTo>
                    <a:pt x="57150" y="494284"/>
                  </a:lnTo>
                  <a:lnTo>
                    <a:pt x="59436" y="483108"/>
                  </a:lnTo>
                  <a:close/>
                </a:path>
                <a:path w="60960" h="511810">
                  <a:moveTo>
                    <a:pt x="60960" y="27686"/>
                  </a:moveTo>
                  <a:lnTo>
                    <a:pt x="58547" y="16891"/>
                  </a:lnTo>
                  <a:lnTo>
                    <a:pt x="52070" y="8128"/>
                  </a:lnTo>
                  <a:lnTo>
                    <a:pt x="42291" y="2159"/>
                  </a:lnTo>
                  <a:lnTo>
                    <a:pt x="30480" y="0"/>
                  </a:lnTo>
                  <a:lnTo>
                    <a:pt x="18542" y="2159"/>
                  </a:lnTo>
                  <a:lnTo>
                    <a:pt x="8890" y="8128"/>
                  </a:lnTo>
                  <a:lnTo>
                    <a:pt x="2413" y="16891"/>
                  </a:lnTo>
                  <a:lnTo>
                    <a:pt x="0" y="27686"/>
                  </a:lnTo>
                  <a:lnTo>
                    <a:pt x="2413" y="38481"/>
                  </a:lnTo>
                  <a:lnTo>
                    <a:pt x="8890" y="47244"/>
                  </a:lnTo>
                  <a:lnTo>
                    <a:pt x="18542" y="53213"/>
                  </a:lnTo>
                  <a:lnTo>
                    <a:pt x="30480" y="55372"/>
                  </a:lnTo>
                  <a:lnTo>
                    <a:pt x="42291" y="53213"/>
                  </a:lnTo>
                  <a:lnTo>
                    <a:pt x="52070" y="47244"/>
                  </a:lnTo>
                  <a:lnTo>
                    <a:pt x="58547" y="38481"/>
                  </a:lnTo>
                  <a:lnTo>
                    <a:pt x="60960" y="27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74664" y="2791968"/>
              <a:ext cx="259079" cy="29565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17064" y="2276855"/>
              <a:ext cx="280416" cy="30175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0712" y="2273808"/>
              <a:ext cx="283463" cy="29870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89248" y="2267712"/>
              <a:ext cx="280415" cy="29870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79848" y="2273808"/>
              <a:ext cx="280415" cy="29870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61432" y="2276855"/>
              <a:ext cx="280415" cy="30175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45935" y="2267712"/>
              <a:ext cx="283463" cy="29870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54040" y="2782824"/>
              <a:ext cx="259079" cy="29565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02480" y="2791968"/>
              <a:ext cx="262127" cy="29565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81856" y="2782824"/>
              <a:ext cx="262127" cy="29565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33344" y="2791968"/>
              <a:ext cx="259080" cy="29565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09672" y="2782824"/>
              <a:ext cx="262127" cy="29565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637151" y="3334511"/>
              <a:ext cx="125730" cy="0"/>
            </a:xfrm>
            <a:custGeom>
              <a:avLst/>
              <a:gdLst/>
              <a:ahLst/>
              <a:cxnLst/>
              <a:rect l="l" t="t" r="r" b="b"/>
              <a:pathLst>
                <a:path w="125729">
                  <a:moveTo>
                    <a:pt x="0" y="0"/>
                  </a:moveTo>
                  <a:lnTo>
                    <a:pt x="125729" y="0"/>
                  </a:lnTo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104635" y="3323717"/>
              <a:ext cx="125730" cy="0"/>
            </a:xfrm>
            <a:custGeom>
              <a:avLst/>
              <a:gdLst/>
              <a:ahLst/>
              <a:cxnLst/>
              <a:rect l="l" t="t" r="r" b="b"/>
              <a:pathLst>
                <a:path w="125729">
                  <a:moveTo>
                    <a:pt x="0" y="0"/>
                  </a:moveTo>
                  <a:lnTo>
                    <a:pt x="125602" y="0"/>
                  </a:lnTo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398642" y="1386027"/>
            <a:ext cx="2647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K</a:t>
            </a:r>
            <a:r>
              <a:rPr sz="1500" b="1" baseline="-13888" dirty="0">
                <a:latin typeface="Arial"/>
                <a:cs typeface="Arial"/>
              </a:rPr>
              <a:t>n</a:t>
            </a:r>
            <a:endParaRPr sz="1500" baseline="-13888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308725" y="1386027"/>
            <a:ext cx="267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A</a:t>
            </a:r>
            <a:r>
              <a:rPr sz="1500" b="1" spc="15" baseline="-13888" dirty="0">
                <a:latin typeface="Arial"/>
                <a:cs typeface="Arial"/>
              </a:rPr>
              <a:t>n</a:t>
            </a:r>
            <a:endParaRPr sz="1500" baseline="-13888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112258" y="1851786"/>
            <a:ext cx="314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.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.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.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141209" y="4406265"/>
            <a:ext cx="261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M</a:t>
            </a:r>
            <a:r>
              <a:rPr sz="1200" b="1" spc="-160" dirty="0">
                <a:latin typeface="Arial"/>
                <a:cs typeface="Arial"/>
              </a:rPr>
              <a:t> </a:t>
            </a:r>
            <a:r>
              <a:rPr sz="1500" b="1" baseline="-11111" dirty="0">
                <a:latin typeface="Arial"/>
                <a:cs typeface="Arial"/>
              </a:rPr>
              <a:t>i</a:t>
            </a:r>
            <a:endParaRPr sz="1500" baseline="-11111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127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85" dirty="0">
                <a:latin typeface="Arial"/>
                <a:cs typeface="Arial"/>
              </a:rPr>
              <a:t>1</a:t>
            </a:r>
            <a:r>
              <a:rPr sz="1400" b="1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1172" y="58477"/>
            <a:ext cx="8218170" cy="3710304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222250" algn="ctr">
              <a:lnSpc>
                <a:spcPct val="100000"/>
              </a:lnSpc>
              <a:spcBef>
                <a:spcPts val="1789"/>
              </a:spcBef>
              <a:tabLst>
                <a:tab pos="1478280" algn="l"/>
              </a:tabLst>
            </a:pPr>
            <a:r>
              <a:rPr sz="2400" b="1" u="sng" spc="-20" dirty="0">
                <a:latin typeface="Arial"/>
                <a:cs typeface="Arial"/>
              </a:rPr>
              <a:t>CACHE	MEMORY</a:t>
            </a:r>
            <a:endParaRPr sz="2400" u="sng" dirty="0">
              <a:latin typeface="Arial"/>
              <a:cs typeface="Arial"/>
            </a:endParaRPr>
          </a:p>
          <a:p>
            <a:pPr marL="12700">
              <a:lnSpc>
                <a:spcPts val="2030"/>
              </a:lnSpc>
              <a:spcBef>
                <a:spcPts val="1270"/>
              </a:spcBef>
            </a:pPr>
            <a:r>
              <a:rPr sz="1800" b="1" dirty="0">
                <a:latin typeface="Arial"/>
                <a:cs typeface="Arial"/>
              </a:rPr>
              <a:t>Locality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</a:t>
            </a:r>
            <a:endParaRPr sz="1800" dirty="0">
              <a:latin typeface="Arial"/>
              <a:cs typeface="Arial"/>
            </a:endParaRPr>
          </a:p>
          <a:p>
            <a:pPr marL="597535" indent="-140970">
              <a:lnSpc>
                <a:spcPts val="1900"/>
              </a:lnSpc>
              <a:buFont typeface="Arial MT"/>
              <a:buChar char="-"/>
              <a:tabLst>
                <a:tab pos="59817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given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895"/>
              </a:lnSpc>
            </a:pPr>
            <a:r>
              <a:rPr sz="1800" b="1" spc="-5" dirty="0">
                <a:latin typeface="Arial"/>
                <a:cs typeface="Arial"/>
              </a:rPr>
              <a:t>interval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tend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confined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within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localized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areas</a:t>
            </a:r>
            <a:endParaRPr sz="1800" dirty="0">
              <a:latin typeface="Arial"/>
              <a:cs typeface="Arial"/>
            </a:endParaRPr>
          </a:p>
          <a:p>
            <a:pPr marL="597535" indent="-140970">
              <a:lnSpc>
                <a:spcPts val="1895"/>
              </a:lnSpc>
              <a:buFont typeface="Arial MT"/>
              <a:buChar char="-"/>
              <a:tabLst>
                <a:tab pos="598170" algn="l"/>
              </a:tabLst>
            </a:pPr>
            <a:r>
              <a:rPr sz="1800" b="1" dirty="0">
                <a:latin typeface="Arial"/>
                <a:cs typeface="Arial"/>
              </a:rPr>
              <a:t>This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contains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895"/>
              </a:lnSpc>
            </a:pPr>
            <a:r>
              <a:rPr sz="1800" b="1" spc="-5" dirty="0">
                <a:latin typeface="Arial"/>
                <a:cs typeface="Arial"/>
              </a:rPr>
              <a:t>the membership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changes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gradually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goes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endParaRPr sz="1800" dirty="0">
              <a:latin typeface="Arial"/>
              <a:cs typeface="Arial"/>
            </a:endParaRPr>
          </a:p>
          <a:p>
            <a:pPr marL="597535" indent="-140970">
              <a:lnSpc>
                <a:spcPts val="1910"/>
              </a:lnSpc>
              <a:buFont typeface="Arial MT"/>
              <a:buChar char="-"/>
              <a:tabLst>
                <a:tab pos="598170" algn="l"/>
              </a:tabLst>
            </a:pPr>
            <a:r>
              <a:rPr sz="1800" b="1" i="1" spc="-30" dirty="0">
                <a:latin typeface="Arial"/>
                <a:cs typeface="Arial"/>
              </a:rPr>
              <a:t>Temporal </a:t>
            </a:r>
            <a:r>
              <a:rPr sz="1800" b="1" i="1" dirty="0">
                <a:latin typeface="Arial"/>
                <a:cs typeface="Arial"/>
              </a:rPr>
              <a:t>Locality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910"/>
              </a:lnSpc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information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which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will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near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future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895"/>
              </a:lnSpc>
            </a:pP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likely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already(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e.g.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Reuse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information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loops)</a:t>
            </a:r>
            <a:endParaRPr sz="1800" dirty="0">
              <a:latin typeface="Arial"/>
              <a:cs typeface="Arial"/>
            </a:endParaRPr>
          </a:p>
          <a:p>
            <a:pPr marL="597535" indent="-140970">
              <a:lnSpc>
                <a:spcPts val="1945"/>
              </a:lnSpc>
              <a:buFont typeface="Arial MT"/>
              <a:buChar char="-"/>
              <a:tabLst>
                <a:tab pos="598170" algn="l"/>
              </a:tabLst>
            </a:pPr>
            <a:r>
              <a:rPr sz="1800" b="1" i="1" dirty="0">
                <a:latin typeface="Arial"/>
                <a:cs typeface="Arial"/>
              </a:rPr>
              <a:t>Spatial</a:t>
            </a:r>
            <a:r>
              <a:rPr sz="1800" b="1" i="1" spc="-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Locality</a:t>
            </a:r>
            <a:endParaRPr sz="1800" dirty="0">
              <a:latin typeface="Arial"/>
              <a:cs typeface="Arial"/>
            </a:endParaRPr>
          </a:p>
          <a:p>
            <a:pPr marL="774700" marR="5080">
              <a:lnSpc>
                <a:spcPct val="88300"/>
              </a:lnSpc>
              <a:spcBef>
                <a:spcPts val="170"/>
              </a:spcBef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accessed,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adjacent(near)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words</a:t>
            </a:r>
            <a:r>
              <a:rPr sz="1800" b="1" dirty="0">
                <a:latin typeface="Arial"/>
                <a:cs typeface="Arial"/>
              </a:rPr>
              <a:t> are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likely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accessed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soon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(e.g. Related data items </a:t>
            </a:r>
            <a:r>
              <a:rPr sz="1800" b="1" spc="-15" dirty="0">
                <a:latin typeface="Arial"/>
                <a:cs typeface="Arial"/>
              </a:rPr>
              <a:t>(arrays) </a:t>
            </a:r>
            <a:r>
              <a:rPr sz="1800" b="1" dirty="0">
                <a:latin typeface="Arial"/>
                <a:cs typeface="Arial"/>
              </a:rPr>
              <a:t>are usually stored together;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executed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sequentially)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172" y="4004513"/>
            <a:ext cx="7470775" cy="127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  <a:p>
            <a:pPr marL="597535" indent="-140970">
              <a:lnSpc>
                <a:spcPts val="1910"/>
              </a:lnSpc>
              <a:buFont typeface="Arial MT"/>
              <a:buChar char="-"/>
              <a:tabLst>
                <a:tab pos="59817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property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Locality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makes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1945"/>
              </a:lnSpc>
            </a:pP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work</a:t>
            </a:r>
            <a:endParaRPr sz="1800">
              <a:latin typeface="Arial"/>
              <a:cs typeface="Arial"/>
            </a:endParaRPr>
          </a:p>
          <a:p>
            <a:pPr marL="774700" marR="5080" indent="-317500">
              <a:lnSpc>
                <a:spcPts val="1900"/>
              </a:lnSpc>
              <a:spcBef>
                <a:spcPts val="200"/>
              </a:spcBef>
              <a:buFont typeface="Arial MT"/>
              <a:buChar char="-"/>
              <a:tabLst>
                <a:tab pos="774700" algn="l"/>
                <a:tab pos="775335" algn="l"/>
              </a:tabLst>
            </a:pP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fast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small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capacity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should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hold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those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information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which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most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likely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accessed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92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0407" y="5416296"/>
            <a:ext cx="1240790" cy="107315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Main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memory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3864" y="5934455"/>
            <a:ext cx="1228725" cy="55499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135"/>
              </a:spcBef>
            </a:pPr>
            <a:r>
              <a:rPr sz="1200" b="1" spc="-5" dirty="0">
                <a:latin typeface="Arial"/>
                <a:cs typeface="Arial"/>
              </a:rPr>
              <a:t>Ca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15" dirty="0">
                <a:latin typeface="Arial"/>
                <a:cs typeface="Arial"/>
              </a:rPr>
              <a:t>h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5128" y="5416296"/>
            <a:ext cx="1240790" cy="107315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507365">
              <a:lnSpc>
                <a:spcPct val="100000"/>
              </a:lnSpc>
              <a:spcBef>
                <a:spcPts val="944"/>
              </a:spcBef>
            </a:pPr>
            <a:r>
              <a:rPr sz="1200" b="1" spc="-10" dirty="0">
                <a:latin typeface="Arial"/>
                <a:cs typeface="Arial"/>
              </a:rPr>
              <a:t>CPU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99232" y="5657088"/>
            <a:ext cx="2222500" cy="621665"/>
          </a:xfrm>
          <a:custGeom>
            <a:avLst/>
            <a:gdLst/>
            <a:ahLst/>
            <a:cxnLst/>
            <a:rect l="l" t="t" r="r" b="b"/>
            <a:pathLst>
              <a:path w="2222500" h="621664">
                <a:moveTo>
                  <a:pt x="2196592" y="42748"/>
                </a:moveTo>
                <a:lnTo>
                  <a:pt x="2120519" y="4432"/>
                </a:lnTo>
                <a:lnTo>
                  <a:pt x="2120519" y="29870"/>
                </a:lnTo>
                <a:lnTo>
                  <a:pt x="76200" y="25438"/>
                </a:lnTo>
                <a:lnTo>
                  <a:pt x="76327" y="0"/>
                </a:lnTo>
                <a:lnTo>
                  <a:pt x="0" y="37985"/>
                </a:lnTo>
                <a:lnTo>
                  <a:pt x="76200" y="76288"/>
                </a:lnTo>
                <a:lnTo>
                  <a:pt x="76200" y="50876"/>
                </a:lnTo>
                <a:lnTo>
                  <a:pt x="2120392" y="55295"/>
                </a:lnTo>
                <a:lnTo>
                  <a:pt x="2120392" y="80733"/>
                </a:lnTo>
                <a:lnTo>
                  <a:pt x="2196592" y="42748"/>
                </a:lnTo>
                <a:close/>
              </a:path>
              <a:path w="2222500" h="621664">
                <a:moveTo>
                  <a:pt x="2197862" y="596265"/>
                </a:moveTo>
                <a:lnTo>
                  <a:pt x="2145665" y="596265"/>
                </a:lnTo>
                <a:lnTo>
                  <a:pt x="2145157" y="621449"/>
                </a:lnTo>
                <a:lnTo>
                  <a:pt x="2197862" y="596265"/>
                </a:lnTo>
                <a:close/>
              </a:path>
              <a:path w="2222500" h="621664">
                <a:moveTo>
                  <a:pt x="2221992" y="584746"/>
                </a:moveTo>
                <a:lnTo>
                  <a:pt x="2146554" y="545172"/>
                </a:lnTo>
                <a:lnTo>
                  <a:pt x="2146046" y="570611"/>
                </a:lnTo>
                <a:lnTo>
                  <a:pt x="1793748" y="563930"/>
                </a:lnTo>
                <a:lnTo>
                  <a:pt x="1794256" y="538518"/>
                </a:lnTo>
                <a:lnTo>
                  <a:pt x="1717294" y="575208"/>
                </a:lnTo>
                <a:lnTo>
                  <a:pt x="1792859" y="614781"/>
                </a:lnTo>
                <a:lnTo>
                  <a:pt x="1793240" y="589368"/>
                </a:lnTo>
                <a:lnTo>
                  <a:pt x="2145665" y="596023"/>
                </a:lnTo>
                <a:lnTo>
                  <a:pt x="2198370" y="596023"/>
                </a:lnTo>
                <a:lnTo>
                  <a:pt x="2221992" y="584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127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85" dirty="0">
                <a:latin typeface="Arial"/>
                <a:cs typeface="Arial"/>
              </a:rPr>
              <a:t>1</a:t>
            </a:r>
            <a:r>
              <a:rPr sz="1400" b="1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4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6696" y="2548127"/>
            <a:ext cx="5596255" cy="108839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243840" indent="-128270">
              <a:lnSpc>
                <a:spcPts val="2030"/>
              </a:lnSpc>
              <a:spcBef>
                <a:spcPts val="295"/>
              </a:spcBef>
              <a:buFont typeface="Arial MT"/>
              <a:buChar char="-"/>
              <a:tabLst>
                <a:tab pos="244475" algn="l"/>
              </a:tabLst>
            </a:pPr>
            <a:r>
              <a:rPr sz="1800" b="1" dirty="0">
                <a:latin typeface="Arial"/>
                <a:cs typeface="Arial"/>
              </a:rPr>
              <a:t>How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30" dirty="0">
                <a:latin typeface="Arial"/>
                <a:cs typeface="Arial"/>
              </a:rPr>
              <a:t>we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know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required</a:t>
            </a:r>
            <a:endParaRPr sz="1800">
              <a:latin typeface="Arial"/>
              <a:cs typeface="Arial"/>
            </a:endParaRPr>
          </a:p>
          <a:p>
            <a:pPr marL="243840">
              <a:lnSpc>
                <a:spcPts val="1900"/>
              </a:lnSpc>
            </a:pP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there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243840" marR="45720" indent="-128270">
              <a:lnSpc>
                <a:spcPts val="1920"/>
              </a:lnSpc>
              <a:spcBef>
                <a:spcPts val="130"/>
              </a:spcBef>
              <a:buFont typeface="Arial MT"/>
              <a:buChar char="-"/>
              <a:tabLst>
                <a:tab pos="244475" algn="l"/>
              </a:tabLst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new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5" dirty="0">
                <a:latin typeface="Arial"/>
                <a:cs typeface="Arial"/>
              </a:rPr>
              <a:t> 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replace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old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blocks,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which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should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15" dirty="0">
                <a:latin typeface="Arial"/>
                <a:cs typeface="Arial"/>
              </a:rPr>
              <a:t>we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choose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769" y="280796"/>
            <a:ext cx="7138670" cy="207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0105">
              <a:lnSpc>
                <a:spcPct val="100000"/>
              </a:lnSpc>
              <a:spcBef>
                <a:spcPts val="100"/>
              </a:spcBef>
              <a:tabLst>
                <a:tab pos="4667885" algn="l"/>
                <a:tab pos="5259705" algn="l"/>
              </a:tabLst>
            </a:pPr>
            <a:r>
              <a:rPr sz="2400" b="1" u="sng" spc="-10" dirty="0">
                <a:latin typeface="Arial"/>
                <a:cs typeface="Arial"/>
              </a:rPr>
              <a:t>PERFORMANCE	</a:t>
            </a:r>
            <a:r>
              <a:rPr sz="2400" b="1" u="sng" dirty="0">
                <a:latin typeface="Arial"/>
                <a:cs typeface="Arial"/>
              </a:rPr>
              <a:t>OF	</a:t>
            </a:r>
            <a:r>
              <a:rPr sz="2400" b="1" u="sng" spc="-20" dirty="0">
                <a:latin typeface="Arial"/>
                <a:cs typeface="Arial"/>
              </a:rPr>
              <a:t>CACHE</a:t>
            </a:r>
            <a:endParaRPr sz="2400" u="sng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800" b="1" spc="10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em</a:t>
            </a:r>
            <a:r>
              <a:rPr sz="1800" b="1" spc="-5" dirty="0">
                <a:latin typeface="Arial"/>
                <a:cs typeface="Arial"/>
              </a:rPr>
              <a:t>ory</a:t>
            </a:r>
            <a:r>
              <a:rPr sz="1800" b="1" spc="-20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cces</a:t>
            </a:r>
            <a:r>
              <a:rPr sz="1800" b="1" spc="-5" dirty="0"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  <a:p>
            <a:pPr marL="530860">
              <a:lnSpc>
                <a:spcPts val="2030"/>
              </a:lnSpc>
              <a:spcBef>
                <a:spcPts val="840"/>
              </a:spcBef>
            </a:pPr>
            <a:r>
              <a:rPr sz="1800" b="1" spc="-30" dirty="0">
                <a:latin typeface="Arial"/>
                <a:cs typeface="Arial"/>
              </a:rPr>
              <a:t>All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accesses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directed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first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endParaRPr sz="1800" dirty="0">
              <a:latin typeface="Arial"/>
              <a:cs typeface="Arial"/>
            </a:endParaRPr>
          </a:p>
          <a:p>
            <a:pPr marL="530860">
              <a:lnSpc>
                <a:spcPts val="1945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Cache;</a:t>
            </a:r>
            <a:r>
              <a:rPr sz="1800" b="1" spc="-19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Access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provide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CPU</a:t>
            </a:r>
            <a:endParaRPr sz="1800" dirty="0">
              <a:latin typeface="Arial"/>
              <a:cs typeface="Arial"/>
            </a:endParaRPr>
          </a:p>
          <a:p>
            <a:pPr marL="530860">
              <a:lnSpc>
                <a:spcPts val="1945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Cache;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Bring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block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(or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line)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including</a:t>
            </a:r>
            <a:endParaRPr sz="1800" dirty="0">
              <a:latin typeface="Arial"/>
              <a:cs typeface="Arial"/>
            </a:endParaRPr>
          </a:p>
          <a:p>
            <a:pPr marL="530860">
              <a:lnSpc>
                <a:spcPts val="2030"/>
              </a:lnSpc>
            </a:pP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word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 replace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now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245" y="3746119"/>
            <a:ext cx="7841615" cy="2752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Performance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Arial"/>
              <a:cs typeface="Arial"/>
            </a:endParaRPr>
          </a:p>
          <a:p>
            <a:pPr marL="329565" marR="5080">
              <a:lnSpc>
                <a:spcPts val="2020"/>
              </a:lnSpc>
              <a:tabLst>
                <a:tab pos="783590" algn="l"/>
              </a:tabLst>
            </a:pPr>
            <a:r>
              <a:rPr sz="1800" b="1" spc="-5" dirty="0">
                <a:latin typeface="Arial"/>
                <a:cs typeface="Arial"/>
              </a:rPr>
              <a:t>Hit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Ratio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%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accesses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satisfied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by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Te:	</a:t>
            </a:r>
            <a:r>
              <a:rPr sz="1800" b="1" spc="-5" dirty="0">
                <a:latin typeface="Arial"/>
                <a:cs typeface="Arial"/>
              </a:rPr>
              <a:t>Effective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access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ts val="1714"/>
              </a:lnSpc>
              <a:tabLst>
                <a:tab pos="783590" algn="l"/>
              </a:tabLst>
            </a:pPr>
            <a:r>
              <a:rPr sz="1800" b="1" spc="-80" dirty="0">
                <a:latin typeface="Arial"/>
                <a:cs typeface="Arial"/>
              </a:rPr>
              <a:t>Tc:	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access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ts val="2030"/>
              </a:lnSpc>
            </a:pPr>
            <a:r>
              <a:rPr sz="1800" b="1" dirty="0">
                <a:latin typeface="Arial"/>
                <a:cs typeface="Arial"/>
              </a:rPr>
              <a:t>Tm: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Main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access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838835">
              <a:lnSpc>
                <a:spcPct val="100000"/>
              </a:lnSpc>
              <a:spcBef>
                <a:spcPts val="1705"/>
              </a:spcBef>
            </a:pPr>
            <a:r>
              <a:rPr sz="1800" b="1" spc="-21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1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</a:t>
            </a: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h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Tm</a:t>
            </a:r>
            <a:endParaRPr sz="1800">
              <a:latin typeface="Arial"/>
              <a:cs typeface="Arial"/>
            </a:endParaRPr>
          </a:p>
          <a:p>
            <a:pPr marL="838835">
              <a:lnSpc>
                <a:spcPts val="2030"/>
              </a:lnSpc>
              <a:spcBef>
                <a:spcPts val="1775"/>
              </a:spcBef>
            </a:pPr>
            <a:r>
              <a:rPr sz="1800" b="1" dirty="0">
                <a:latin typeface="Arial"/>
                <a:cs typeface="Arial"/>
              </a:rPr>
              <a:t>Ex</a:t>
            </a:r>
            <a:r>
              <a:rPr sz="1800" b="1" spc="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mple: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21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0.4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spc="-35" dirty="0">
                <a:latin typeface="Symbol"/>
                <a:cs typeface="Symbol"/>
              </a:rPr>
              <a:t></a:t>
            </a:r>
            <a:r>
              <a:rPr sz="1800" b="1" spc="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,</a:t>
            </a:r>
            <a:r>
              <a:rPr sz="1800" b="1" spc="5" dirty="0">
                <a:latin typeface="Arial"/>
                <a:cs typeface="Arial"/>
              </a:rPr>
              <a:t> T</a:t>
            </a:r>
            <a:r>
              <a:rPr sz="1800" b="1" dirty="0">
                <a:latin typeface="Arial"/>
                <a:cs typeface="Arial"/>
              </a:rPr>
              <a:t>m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1.</a:t>
            </a:r>
            <a:r>
              <a:rPr sz="1800" b="1" spc="10" dirty="0">
                <a:latin typeface="Arial"/>
                <a:cs typeface="Arial"/>
              </a:rPr>
              <a:t>2</a:t>
            </a:r>
            <a:r>
              <a:rPr sz="1800" spc="-30" dirty="0">
                <a:latin typeface="Symbol"/>
                <a:cs typeface="Symbol"/>
              </a:rPr>
              <a:t></a:t>
            </a:r>
            <a:r>
              <a:rPr sz="1800" b="1" spc="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0.</a:t>
            </a:r>
            <a:r>
              <a:rPr sz="1800" b="1" spc="5" dirty="0">
                <a:latin typeface="Arial"/>
                <a:cs typeface="Arial"/>
              </a:rPr>
              <a:t>8</a:t>
            </a:r>
            <a:r>
              <a:rPr sz="1800" b="1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R="518795" algn="ctr">
              <a:lnSpc>
                <a:spcPts val="2030"/>
              </a:lnSpc>
            </a:pPr>
            <a:r>
              <a:rPr sz="1800" b="1" spc="-220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</a:t>
            </a:r>
            <a:r>
              <a:rPr sz="1800" b="1" spc="-5" dirty="0">
                <a:latin typeface="Arial"/>
                <a:cs typeface="Arial"/>
              </a:rPr>
              <a:t>.4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(1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</a:t>
            </a:r>
            <a:r>
              <a:rPr sz="1800" b="1" spc="-5" dirty="0">
                <a:latin typeface="Arial"/>
                <a:cs typeface="Arial"/>
              </a:rPr>
              <a:t>.</a:t>
            </a:r>
            <a:r>
              <a:rPr sz="1800" b="1" dirty="0">
                <a:latin typeface="Arial"/>
                <a:cs typeface="Arial"/>
              </a:rPr>
              <a:t>85)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*</a:t>
            </a:r>
            <a:r>
              <a:rPr sz="1800" b="1" dirty="0">
                <a:latin typeface="Arial"/>
                <a:cs typeface="Arial"/>
              </a:rPr>
              <a:t> 1</a:t>
            </a:r>
            <a:r>
              <a:rPr sz="1800" b="1" spc="-5" dirty="0">
                <a:latin typeface="Arial"/>
                <a:cs typeface="Arial"/>
              </a:rPr>
              <a:t>.2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</a:t>
            </a:r>
            <a:r>
              <a:rPr sz="1800" b="1" spc="-5" dirty="0">
                <a:latin typeface="Arial"/>
                <a:cs typeface="Arial"/>
              </a:rPr>
              <a:t>.</a:t>
            </a:r>
            <a:r>
              <a:rPr sz="1800" b="1" dirty="0">
                <a:latin typeface="Arial"/>
                <a:cs typeface="Arial"/>
              </a:rPr>
              <a:t>5</a:t>
            </a:r>
            <a:r>
              <a:rPr sz="1800" b="1" spc="5" dirty="0">
                <a:latin typeface="Arial"/>
                <a:cs typeface="Arial"/>
              </a:rPr>
              <a:t>8</a:t>
            </a:r>
            <a:r>
              <a:rPr sz="1800" spc="-30" dirty="0">
                <a:latin typeface="Symbol"/>
                <a:cs typeface="Symbol"/>
              </a:rPr>
              <a:t></a:t>
            </a:r>
            <a:r>
              <a:rPr sz="1800" b="1" spc="-5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649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7950" y="231775"/>
          <a:ext cx="8916666" cy="6296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0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3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451484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1734820" algn="l"/>
                          <a:tab pos="2426970" algn="l"/>
                        </a:tabLst>
                      </a:pPr>
                      <a:r>
                        <a:rPr sz="2000" b="1" spc="5" dirty="0">
                          <a:latin typeface="Arial"/>
                          <a:cs typeface="Arial"/>
                        </a:rPr>
                        <a:t>MEMORY	</a:t>
                      </a:r>
                      <a:r>
                        <a:rPr sz="2000" b="1" spc="-30" dirty="0">
                          <a:latin typeface="Arial"/>
                          <a:cs typeface="Arial"/>
                        </a:rPr>
                        <a:t>AND	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CACHE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3330575" algn="l"/>
                        </a:tabLst>
                      </a:pPr>
                      <a:r>
                        <a:rPr sz="2000" b="1" spc="-15" dirty="0">
                          <a:latin typeface="Arial"/>
                          <a:cs typeface="Arial"/>
                        </a:rPr>
                        <a:t>MAPPING</a:t>
                      </a:r>
                      <a:r>
                        <a:rPr sz="2000" b="1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ASSOCIATIVE	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MAPPLING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-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050">
                <a:tc gridSpan="4">
                  <a:txBody>
                    <a:bodyPr/>
                    <a:lstStyle/>
                    <a:p>
                      <a:pPr marL="588010">
                        <a:lnSpc>
                          <a:spcPts val="2090"/>
                        </a:lnSpc>
                        <a:spcBef>
                          <a:spcPts val="625"/>
                        </a:spcBef>
                      </a:pPr>
                      <a:r>
                        <a:rPr sz="1800" b="1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app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800" b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ti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350645">
                        <a:lnSpc>
                          <a:spcPts val="19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Specification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correspondence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between</a:t>
                      </a:r>
                      <a:r>
                        <a:rPr sz="18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main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350645">
                        <a:lnSpc>
                          <a:spcPts val="203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memory</a:t>
                      </a:r>
                      <a:r>
                        <a:rPr sz="18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blocks</a:t>
                      </a:r>
                      <a:r>
                        <a:rPr sz="18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cache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blocks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820035">
                        <a:lnSpc>
                          <a:spcPts val="2135"/>
                        </a:lnSpc>
                        <a:spcBef>
                          <a:spcPts val="33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Associative</a:t>
                      </a:r>
                      <a:r>
                        <a:rPr sz="18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mapping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820035">
                        <a:lnSpc>
                          <a:spcPts val="2055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Direct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mapping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820035">
                        <a:lnSpc>
                          <a:spcPts val="20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Set-associative</a:t>
                      </a:r>
                      <a:r>
                        <a:rPr sz="18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mapping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28015">
                        <a:lnSpc>
                          <a:spcPts val="2030"/>
                        </a:lnSpc>
                        <a:spcBef>
                          <a:spcPts val="65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Associative</a:t>
                      </a:r>
                      <a:r>
                        <a:rPr sz="18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Mapping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520825" indent="-131445">
                        <a:lnSpc>
                          <a:spcPts val="1895"/>
                        </a:lnSpc>
                        <a:buFont typeface="Arial MT"/>
                        <a:buChar char="-"/>
                        <a:tabLst>
                          <a:tab pos="1521460" algn="l"/>
                        </a:tabLst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1800" b="1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location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8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Cache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store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memory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518285">
                        <a:lnSpc>
                          <a:spcPts val="189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-&gt;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Most</a:t>
                      </a:r>
                      <a:r>
                        <a:rPr sz="18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flexible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530350" indent="-140970">
                        <a:lnSpc>
                          <a:spcPts val="1895"/>
                        </a:lnSpc>
                        <a:buFont typeface="Arial MT"/>
                        <a:buChar char="-"/>
                        <a:tabLst>
                          <a:tab pos="1530985" algn="l"/>
                        </a:tabLst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Mapping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Table</a:t>
                      </a:r>
                      <a:r>
                        <a:rPr sz="18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implemented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associative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memory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518285">
                        <a:lnSpc>
                          <a:spcPts val="190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-&gt;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Fast,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18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Expensive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530350" indent="-140970">
                        <a:lnSpc>
                          <a:spcPts val="2005"/>
                        </a:lnSpc>
                        <a:buFont typeface="Arial MT"/>
                        <a:buChar char="-"/>
                        <a:tabLst>
                          <a:tab pos="1530985" algn="l"/>
                        </a:tabLst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Mapping</a:t>
                      </a:r>
                      <a:r>
                        <a:rPr sz="1800" b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Table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518285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Stores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both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content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memory</a:t>
                      </a:r>
                      <a:r>
                        <a:rPr sz="18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10" dirty="0">
                          <a:latin typeface="Arial"/>
                          <a:cs typeface="Arial"/>
                        </a:rPr>
                        <a:t>word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R="41846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dd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ess</a:t>
                      </a:r>
                      <a:r>
                        <a:rPr sz="1200" b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15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s)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425450"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Argument</a:t>
                      </a:r>
                      <a:r>
                        <a:rPr sz="12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register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836294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>
                          <a:tab pos="2512695" algn="l"/>
                        </a:tabLst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Address	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Data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037">
                <a:tc rowSpan="4"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spc="-30" dirty="0">
                          <a:latin typeface="Arial"/>
                          <a:cs typeface="Arial"/>
                        </a:rPr>
                        <a:t>CAM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9580" algn="r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140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9580" algn="r">
                        <a:lnSpc>
                          <a:spcPts val="140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920">
                        <a:lnSpc>
                          <a:spcPts val="138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9580" algn="r">
                        <a:lnSpc>
                          <a:spcPts val="138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2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93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602735" y="4605528"/>
            <a:ext cx="1468755" cy="402590"/>
            <a:chOff x="3602735" y="4605528"/>
            <a:chExt cx="1468755" cy="402590"/>
          </a:xfrm>
        </p:grpSpPr>
        <p:sp>
          <p:nvSpPr>
            <p:cNvPr id="6" name="object 6"/>
            <p:cNvSpPr/>
            <p:nvPr/>
          </p:nvSpPr>
          <p:spPr>
            <a:xfrm>
              <a:off x="3614927" y="4788471"/>
              <a:ext cx="1444625" cy="207010"/>
            </a:xfrm>
            <a:custGeom>
              <a:avLst/>
              <a:gdLst/>
              <a:ahLst/>
              <a:cxnLst/>
              <a:rect l="l" t="t" r="r" b="b"/>
              <a:pathLst>
                <a:path w="1444625" h="207010">
                  <a:moveTo>
                    <a:pt x="0" y="206946"/>
                  </a:moveTo>
                  <a:lnTo>
                    <a:pt x="1444371" y="206946"/>
                  </a:lnTo>
                  <a:lnTo>
                    <a:pt x="1444371" y="0"/>
                  </a:lnTo>
                  <a:lnTo>
                    <a:pt x="0" y="0"/>
                  </a:lnTo>
                  <a:lnTo>
                    <a:pt x="0" y="206946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12919" y="4675632"/>
              <a:ext cx="97790" cy="106680"/>
            </a:xfrm>
            <a:custGeom>
              <a:avLst/>
              <a:gdLst/>
              <a:ahLst/>
              <a:cxnLst/>
              <a:rect l="l" t="t" r="r" b="b"/>
              <a:pathLst>
                <a:path w="97789" h="106679">
                  <a:moveTo>
                    <a:pt x="49402" y="0"/>
                  </a:moveTo>
                  <a:lnTo>
                    <a:pt x="36702" y="508"/>
                  </a:lnTo>
                  <a:lnTo>
                    <a:pt x="24256" y="2159"/>
                  </a:lnTo>
                  <a:lnTo>
                    <a:pt x="11937" y="5080"/>
                  </a:lnTo>
                  <a:lnTo>
                    <a:pt x="0" y="9017"/>
                  </a:lnTo>
                  <a:lnTo>
                    <a:pt x="49402" y="106680"/>
                  </a:lnTo>
                  <a:lnTo>
                    <a:pt x="97535" y="8509"/>
                  </a:lnTo>
                  <a:lnTo>
                    <a:pt x="85978" y="4826"/>
                  </a:lnTo>
                  <a:lnTo>
                    <a:pt x="74040" y="2159"/>
                  </a:lnTo>
                  <a:lnTo>
                    <a:pt x="61849" y="508"/>
                  </a:lnTo>
                  <a:lnTo>
                    <a:pt x="494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61687" y="4605528"/>
              <a:ext cx="0" cy="146685"/>
            </a:xfrm>
            <a:custGeom>
              <a:avLst/>
              <a:gdLst/>
              <a:ahLst/>
              <a:cxnLst/>
              <a:rect l="l" t="t" r="r" b="b"/>
              <a:pathLst>
                <a:path h="146685">
                  <a:moveTo>
                    <a:pt x="0" y="0"/>
                  </a:moveTo>
                  <a:lnTo>
                    <a:pt x="0" y="14630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591" y="5096255"/>
            <a:ext cx="292607" cy="16764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025896" y="5096255"/>
            <a:ext cx="521334" cy="167640"/>
            <a:chOff x="6025896" y="5096255"/>
            <a:chExt cx="521334" cy="167640"/>
          </a:xfrm>
        </p:grpSpPr>
        <p:sp>
          <p:nvSpPr>
            <p:cNvPr id="11" name="object 11"/>
            <p:cNvSpPr/>
            <p:nvPr/>
          </p:nvSpPr>
          <p:spPr>
            <a:xfrm>
              <a:off x="6534912" y="5096255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39">
                  <a:moveTo>
                    <a:pt x="0" y="0"/>
                  </a:moveTo>
                  <a:lnTo>
                    <a:pt x="0" y="16764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6040" y="5172455"/>
              <a:ext cx="121918" cy="853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25896" y="5212079"/>
              <a:ext cx="387350" cy="0"/>
            </a:xfrm>
            <a:custGeom>
              <a:avLst/>
              <a:gdLst/>
              <a:ahLst/>
              <a:cxnLst/>
              <a:rect l="l" t="t" r="r" b="b"/>
              <a:pathLst>
                <a:path w="387350">
                  <a:moveTo>
                    <a:pt x="0" y="0"/>
                  </a:moveTo>
                  <a:lnTo>
                    <a:pt x="386841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648200" y="5096255"/>
            <a:ext cx="914400" cy="167640"/>
            <a:chOff x="4648200" y="5096255"/>
            <a:chExt cx="914400" cy="167640"/>
          </a:xfrm>
        </p:grpSpPr>
        <p:sp>
          <p:nvSpPr>
            <p:cNvPr id="15" name="object 15"/>
            <p:cNvSpPr/>
            <p:nvPr/>
          </p:nvSpPr>
          <p:spPr>
            <a:xfrm>
              <a:off x="5077968" y="5096255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h="167639">
                  <a:moveTo>
                    <a:pt x="0" y="0"/>
                  </a:moveTo>
                  <a:lnTo>
                    <a:pt x="0" y="16764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77968" y="5169407"/>
              <a:ext cx="121920" cy="85090"/>
            </a:xfrm>
            <a:custGeom>
              <a:avLst/>
              <a:gdLst/>
              <a:ahLst/>
              <a:cxnLst/>
              <a:rect l="l" t="t" r="r" b="b"/>
              <a:pathLst>
                <a:path w="121920" h="85089">
                  <a:moveTo>
                    <a:pt x="110744" y="0"/>
                  </a:moveTo>
                  <a:lnTo>
                    <a:pt x="0" y="43180"/>
                  </a:lnTo>
                  <a:lnTo>
                    <a:pt x="111379" y="84963"/>
                  </a:lnTo>
                  <a:lnTo>
                    <a:pt x="115824" y="74930"/>
                  </a:lnTo>
                  <a:lnTo>
                    <a:pt x="118999" y="64516"/>
                  </a:lnTo>
                  <a:lnTo>
                    <a:pt x="120904" y="53848"/>
                  </a:lnTo>
                  <a:lnTo>
                    <a:pt x="121539" y="43180"/>
                  </a:lnTo>
                  <a:lnTo>
                    <a:pt x="120904" y="32004"/>
                  </a:lnTo>
                  <a:lnTo>
                    <a:pt x="118872" y="21082"/>
                  </a:lnTo>
                  <a:lnTo>
                    <a:pt x="115443" y="10414"/>
                  </a:lnTo>
                  <a:lnTo>
                    <a:pt x="1107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87695" y="5212079"/>
              <a:ext cx="374650" cy="0"/>
            </a:xfrm>
            <a:custGeom>
              <a:avLst/>
              <a:gdLst/>
              <a:ahLst/>
              <a:cxnLst/>
              <a:rect l="l" t="t" r="r" b="b"/>
              <a:pathLst>
                <a:path w="374650">
                  <a:moveTo>
                    <a:pt x="0" y="0"/>
                  </a:moveTo>
                  <a:lnTo>
                    <a:pt x="37465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6047" y="5169407"/>
              <a:ext cx="121920" cy="822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48200" y="5212079"/>
              <a:ext cx="338455" cy="0"/>
            </a:xfrm>
            <a:custGeom>
              <a:avLst/>
              <a:gdLst/>
              <a:ahLst/>
              <a:cxnLst/>
              <a:rect l="l" t="t" r="r" b="b"/>
              <a:pathLst>
                <a:path w="338454">
                  <a:moveTo>
                    <a:pt x="0" y="0"/>
                  </a:moveTo>
                  <a:lnTo>
                    <a:pt x="337947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792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37688" y="1685544"/>
            <a:ext cx="2935605" cy="829310"/>
          </a:xfrm>
          <a:custGeom>
            <a:avLst/>
            <a:gdLst/>
            <a:ahLst/>
            <a:cxnLst/>
            <a:rect l="l" t="t" r="r" b="b"/>
            <a:pathLst>
              <a:path w="2935604" h="829310">
                <a:moveTo>
                  <a:pt x="0" y="829055"/>
                </a:moveTo>
                <a:lnTo>
                  <a:pt x="2935224" y="829055"/>
                </a:lnTo>
                <a:lnTo>
                  <a:pt x="2935224" y="0"/>
                </a:lnTo>
                <a:lnTo>
                  <a:pt x="0" y="0"/>
                </a:lnTo>
                <a:lnTo>
                  <a:pt x="0" y="829055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649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68A955-1FC1-B459-C182-EB1E6D6C2D3C}"/>
              </a:ext>
            </a:extLst>
          </p:cNvPr>
          <p:cNvSpPr txBox="1"/>
          <p:nvPr/>
        </p:nvSpPr>
        <p:spPr>
          <a:xfrm>
            <a:off x="762000" y="304800"/>
            <a:ext cx="8178672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1800" b="1" i="0" u="sng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MEMORY AND CACHE MAPPING-DIRECT MAPPING</a:t>
            </a:r>
            <a:r>
              <a:rPr lang="en-IN" sz="1800" b="0" i="0" u="sng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92A989-F3DA-2993-2857-1A961B54CAEE}"/>
              </a:ext>
            </a:extLst>
          </p:cNvPr>
          <p:cNvSpPr txBox="1"/>
          <p:nvPr/>
        </p:nvSpPr>
        <p:spPr>
          <a:xfrm>
            <a:off x="82745" y="685800"/>
            <a:ext cx="901771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20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200" i="0" u="none" strike="noStrike" baseline="0" dirty="0">
              <a:latin typeface="Arial" panose="020B0604020202020204" pitchFamily="34" charset="0"/>
            </a:endParaRPr>
          </a:p>
          <a:p>
            <a:pPr algn="just"/>
            <a:r>
              <a:rPr lang="en-IN" sz="18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-Each memory block has only one place to load in Cache</a:t>
            </a:r>
          </a:p>
          <a:p>
            <a:pPr algn="just"/>
            <a:r>
              <a:rPr lang="en-IN" sz="18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-Mapping Table is made of RAM instead of CAM</a:t>
            </a:r>
          </a:p>
          <a:p>
            <a:pPr algn="just"/>
            <a:r>
              <a:rPr lang="en-US" sz="18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-n-bit memory address consists of 2 parts' bits of Index field and n-k bits of Tag field</a:t>
            </a:r>
          </a:p>
          <a:p>
            <a:pPr algn="just"/>
            <a:r>
              <a:rPr lang="en-IN" sz="18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-n-bit addresses are used to access main memory and k-bit Index is used to access the Cache	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6EE787-92DD-0A37-3102-2FA50CFDF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46" y="2514600"/>
            <a:ext cx="8756455" cy="170193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4658BE-C483-92C7-E050-BC3CF96F4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58" y="4216535"/>
            <a:ext cx="6329792" cy="25388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15385" y="282702"/>
            <a:ext cx="2741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7625" algn="l"/>
              </a:tabLst>
            </a:pPr>
            <a:r>
              <a:rPr sz="2400" b="1" u="sng" spc="-5" dirty="0">
                <a:latin typeface="Arial"/>
                <a:cs typeface="Arial"/>
              </a:rPr>
              <a:t>DI</a:t>
            </a:r>
            <a:r>
              <a:rPr sz="2400" b="1" u="sng" spc="-10" dirty="0">
                <a:latin typeface="Arial"/>
                <a:cs typeface="Arial"/>
              </a:rPr>
              <a:t>R</a:t>
            </a:r>
            <a:r>
              <a:rPr sz="2400" b="1" u="sng" spc="-20" dirty="0">
                <a:latin typeface="Arial"/>
                <a:cs typeface="Arial"/>
              </a:rPr>
              <a:t>E</a:t>
            </a:r>
            <a:r>
              <a:rPr sz="2400" b="1" u="sng" spc="-10" dirty="0">
                <a:latin typeface="Arial"/>
                <a:cs typeface="Arial"/>
              </a:rPr>
              <a:t>C</a:t>
            </a:r>
            <a:r>
              <a:rPr sz="2400" b="1" u="sng" spc="-5" dirty="0">
                <a:latin typeface="Arial"/>
                <a:cs typeface="Arial"/>
              </a:rPr>
              <a:t>T</a:t>
            </a:r>
            <a:r>
              <a:rPr sz="2400" b="1" u="sng" dirty="0">
                <a:latin typeface="Arial"/>
                <a:cs typeface="Arial"/>
              </a:rPr>
              <a:t>	</a:t>
            </a:r>
            <a:r>
              <a:rPr sz="2400" b="1" u="sng" spc="-10" dirty="0">
                <a:latin typeface="Arial"/>
                <a:cs typeface="Arial"/>
              </a:rPr>
              <a:t>M</a:t>
            </a:r>
            <a:r>
              <a:rPr sz="2400" b="1" u="sng" spc="-110" dirty="0">
                <a:latin typeface="Arial"/>
                <a:cs typeface="Arial"/>
              </a:rPr>
              <a:t>A</a:t>
            </a:r>
            <a:r>
              <a:rPr sz="2400" b="1" u="sng" spc="5" dirty="0">
                <a:latin typeface="Arial"/>
                <a:cs typeface="Arial"/>
              </a:rPr>
              <a:t>P</a:t>
            </a:r>
            <a:r>
              <a:rPr sz="2400" b="1" u="sng" spc="10" dirty="0">
                <a:latin typeface="Arial"/>
                <a:cs typeface="Arial"/>
              </a:rPr>
              <a:t>P</a:t>
            </a:r>
            <a:r>
              <a:rPr sz="2400" b="1" u="sng" dirty="0">
                <a:latin typeface="Arial"/>
                <a:cs typeface="Arial"/>
              </a:rPr>
              <a:t>ING</a:t>
            </a:r>
            <a:endParaRPr sz="2400" u="sng" dirty="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25637" y="4410138"/>
          <a:ext cx="1967863" cy="1925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09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171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2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2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2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74">
                <a:tc>
                  <a:txBody>
                    <a:bodyPr/>
                    <a:lstStyle/>
                    <a:p>
                      <a:pPr marL="92075">
                        <a:lnSpc>
                          <a:spcPts val="1415"/>
                        </a:lnSpc>
                        <a:spcBef>
                          <a:spcPts val="17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010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770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ts val="1395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777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171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23520">
                        <a:lnSpc>
                          <a:spcPts val="135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257427" y="6027826"/>
            <a:ext cx="6419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ck</a:t>
            </a:r>
            <a:r>
              <a:rPr sz="1200" b="1" spc="-11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63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200588" y="4397311"/>
          <a:ext cx="1809749" cy="22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187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Tag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Block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Word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45719" y="905636"/>
            <a:ext cx="6001385" cy="272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Operation</a:t>
            </a:r>
            <a:endParaRPr sz="1800">
              <a:latin typeface="Arial"/>
              <a:cs typeface="Arial"/>
            </a:endParaRPr>
          </a:p>
          <a:p>
            <a:pPr marL="405765" indent="-140970">
              <a:lnSpc>
                <a:spcPts val="2090"/>
              </a:lnSpc>
              <a:spcBef>
                <a:spcPts val="1635"/>
              </a:spcBef>
              <a:buFont typeface="Arial MT"/>
              <a:buChar char="-"/>
              <a:tabLst>
                <a:tab pos="406400" algn="l"/>
              </a:tabLst>
            </a:pPr>
            <a:r>
              <a:rPr sz="1800" b="1" spc="-5" dirty="0">
                <a:latin typeface="Arial"/>
                <a:cs typeface="Arial"/>
              </a:rPr>
              <a:t>CPU </a:t>
            </a:r>
            <a:r>
              <a:rPr sz="1800" b="1" dirty="0">
                <a:latin typeface="Arial"/>
                <a:cs typeface="Arial"/>
              </a:rPr>
              <a:t>generates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request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45" dirty="0">
                <a:latin typeface="Arial"/>
                <a:cs typeface="Arial"/>
              </a:rPr>
              <a:t>(TAG;INDEX)</a:t>
            </a:r>
            <a:endParaRPr sz="1800">
              <a:latin typeface="Arial"/>
              <a:cs typeface="Arial"/>
            </a:endParaRPr>
          </a:p>
          <a:p>
            <a:pPr marL="774700" indent="-509905">
              <a:lnSpc>
                <a:spcPts val="1955"/>
              </a:lnSpc>
              <a:buFont typeface="Arial MT"/>
              <a:buChar char="-"/>
              <a:tabLst>
                <a:tab pos="774700" algn="l"/>
                <a:tab pos="775335" algn="l"/>
              </a:tabLst>
            </a:pPr>
            <a:r>
              <a:rPr sz="1800" b="1" spc="-25" dirty="0">
                <a:latin typeface="Arial"/>
                <a:cs typeface="Arial"/>
              </a:rPr>
              <a:t>Access</a:t>
            </a:r>
            <a:r>
              <a:rPr sz="1800" b="1" spc="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INDEX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(tag;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1850"/>
              </a:lnSpc>
            </a:pPr>
            <a:r>
              <a:rPr sz="1800" b="1" dirty="0">
                <a:latin typeface="Arial"/>
                <a:cs typeface="Arial"/>
              </a:rPr>
              <a:t>data)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Compare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110" dirty="0">
                <a:latin typeface="Arial"/>
                <a:cs typeface="Arial"/>
              </a:rPr>
              <a:t>TAG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tag</a:t>
            </a:r>
            <a:endParaRPr sz="1800">
              <a:latin typeface="Arial"/>
              <a:cs typeface="Arial"/>
            </a:endParaRPr>
          </a:p>
          <a:p>
            <a:pPr marL="405765" indent="-140970">
              <a:lnSpc>
                <a:spcPts val="1850"/>
              </a:lnSpc>
              <a:buFont typeface="Arial MT"/>
              <a:buChar char="-"/>
              <a:tabLst>
                <a:tab pos="406400" algn="l"/>
              </a:tabLst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matches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-&gt;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Hit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1895"/>
              </a:lnSpc>
            </a:pPr>
            <a:r>
              <a:rPr sz="1800" b="1" spc="-5" dirty="0">
                <a:latin typeface="Arial"/>
                <a:cs typeface="Arial"/>
              </a:rPr>
              <a:t>Provide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Cache[INDEX](data)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CPU</a:t>
            </a:r>
            <a:endParaRPr sz="1800">
              <a:latin typeface="Arial"/>
              <a:cs typeface="Arial"/>
            </a:endParaRPr>
          </a:p>
          <a:p>
            <a:pPr marL="405765" indent="-140970">
              <a:lnSpc>
                <a:spcPts val="1945"/>
              </a:lnSpc>
              <a:buFont typeface="Arial MT"/>
              <a:buChar char="-"/>
              <a:tabLst>
                <a:tab pos="406400" algn="l"/>
              </a:tabLst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match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-&gt;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1955"/>
              </a:lnSpc>
            </a:pPr>
            <a:r>
              <a:rPr sz="1800" b="1" spc="-5" dirty="0">
                <a:latin typeface="Arial"/>
                <a:cs typeface="Arial"/>
              </a:rPr>
              <a:t>M[tag;INDEX]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Cache[INDEX](data)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1910"/>
              </a:lnSpc>
            </a:pPr>
            <a:r>
              <a:rPr sz="1800" b="1" dirty="0">
                <a:latin typeface="Arial"/>
                <a:cs typeface="Arial"/>
              </a:rPr>
              <a:t>Cache[INDEX]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(TAG;M[TAG;</a:t>
            </a:r>
            <a:r>
              <a:rPr sz="1800" b="1" dirty="0">
                <a:latin typeface="Arial"/>
                <a:cs typeface="Arial"/>
              </a:rPr>
              <a:t> INDEX])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2030"/>
              </a:lnSpc>
            </a:pPr>
            <a:r>
              <a:rPr sz="1800" b="1" spc="-5" dirty="0">
                <a:latin typeface="Arial"/>
                <a:cs typeface="Arial"/>
              </a:rPr>
              <a:t>CPU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Cache[INDEX](data)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071" y="3771722"/>
            <a:ext cx="4599940" cy="62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Direct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size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8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  <a:p>
            <a:pPr marL="1666239">
              <a:lnSpc>
                <a:spcPct val="100000"/>
              </a:lnSpc>
              <a:spcBef>
                <a:spcPts val="1105"/>
              </a:spcBef>
              <a:tabLst>
                <a:tab pos="2336165" algn="l"/>
                <a:tab pos="2967990" algn="l"/>
                <a:tab pos="4114165" algn="l"/>
              </a:tabLst>
            </a:pPr>
            <a:r>
              <a:rPr sz="1800" b="1" spc="-15" baseline="6944" dirty="0">
                <a:latin typeface="Arial"/>
                <a:cs typeface="Arial"/>
              </a:rPr>
              <a:t>Index	</a:t>
            </a:r>
            <a:r>
              <a:rPr sz="1800" b="1" baseline="4629" dirty="0">
                <a:latin typeface="Arial"/>
                <a:cs typeface="Arial"/>
              </a:rPr>
              <a:t>tag	data	</a:t>
            </a:r>
            <a:r>
              <a:rPr sz="1200" b="1" spc="-5" dirty="0"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16829" y="41868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47435" y="41868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6791" y="4497704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Bl</a:t>
            </a:r>
            <a:r>
              <a:rPr sz="1200" b="1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ck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69229" y="4766309"/>
            <a:ext cx="487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I</a:t>
            </a:r>
            <a:r>
              <a:rPr sz="1200" b="1" spc="-5" dirty="0">
                <a:latin typeface="Arial"/>
                <a:cs typeface="Arial"/>
              </a:rPr>
              <a:t>N</a:t>
            </a:r>
            <a:r>
              <a:rPr sz="1200" b="1" spc="-10" dirty="0">
                <a:latin typeface="Arial"/>
                <a:cs typeface="Arial"/>
              </a:rPr>
              <a:t>DE</a:t>
            </a:r>
            <a:r>
              <a:rPr sz="1200" b="1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6791" y="4930902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Bl</a:t>
            </a:r>
            <a:r>
              <a:rPr sz="1200" b="1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ck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49367" y="4690871"/>
            <a:ext cx="1173480" cy="113030"/>
          </a:xfrm>
          <a:custGeom>
            <a:avLst/>
            <a:gdLst/>
            <a:ahLst/>
            <a:cxnLst/>
            <a:rect l="l" t="t" r="r" b="b"/>
            <a:pathLst>
              <a:path w="1173479" h="113029">
                <a:moveTo>
                  <a:pt x="587629" y="112775"/>
                </a:moveTo>
                <a:lnTo>
                  <a:pt x="513842" y="111886"/>
                </a:lnTo>
                <a:lnTo>
                  <a:pt x="442849" y="109346"/>
                </a:lnTo>
                <a:lnTo>
                  <a:pt x="375158" y="105155"/>
                </a:lnTo>
                <a:lnTo>
                  <a:pt x="311277" y="99567"/>
                </a:lnTo>
                <a:lnTo>
                  <a:pt x="251841" y="92582"/>
                </a:lnTo>
                <a:lnTo>
                  <a:pt x="197358" y="84327"/>
                </a:lnTo>
                <a:lnTo>
                  <a:pt x="148209" y="74929"/>
                </a:lnTo>
                <a:lnTo>
                  <a:pt x="105283" y="64388"/>
                </a:lnTo>
                <a:lnTo>
                  <a:pt x="68834" y="52958"/>
                </a:lnTo>
                <a:lnTo>
                  <a:pt x="17907" y="27812"/>
                </a:lnTo>
                <a:lnTo>
                  <a:pt x="4572" y="14096"/>
                </a:lnTo>
                <a:lnTo>
                  <a:pt x="0" y="0"/>
                </a:lnTo>
              </a:path>
              <a:path w="1173479" h="113029">
                <a:moveTo>
                  <a:pt x="1173480" y="0"/>
                </a:moveTo>
                <a:lnTo>
                  <a:pt x="1133983" y="40766"/>
                </a:lnTo>
                <a:lnTo>
                  <a:pt x="1068197" y="64388"/>
                </a:lnTo>
                <a:lnTo>
                  <a:pt x="1025144" y="74929"/>
                </a:lnTo>
                <a:lnTo>
                  <a:pt x="976122" y="84327"/>
                </a:lnTo>
                <a:lnTo>
                  <a:pt x="921512" y="92582"/>
                </a:lnTo>
                <a:lnTo>
                  <a:pt x="862076" y="99567"/>
                </a:lnTo>
                <a:lnTo>
                  <a:pt x="798195" y="105155"/>
                </a:lnTo>
                <a:lnTo>
                  <a:pt x="730504" y="109346"/>
                </a:lnTo>
                <a:lnTo>
                  <a:pt x="659511" y="111886"/>
                </a:lnTo>
                <a:lnTo>
                  <a:pt x="585851" y="112775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792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" y="9906"/>
            <a:ext cx="900493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2605" algn="l"/>
                <a:tab pos="7741920" algn="l"/>
              </a:tabLst>
            </a:pPr>
            <a:r>
              <a:rPr sz="2100" b="1" i="1" spc="7" baseline="3968" dirty="0">
                <a:latin typeface="Arial"/>
                <a:cs typeface="Arial"/>
              </a:rPr>
              <a:t>M</a:t>
            </a:r>
            <a:r>
              <a:rPr sz="2100" b="1" i="1" spc="-22" baseline="3968" dirty="0">
                <a:latin typeface="Arial"/>
                <a:cs typeface="Arial"/>
              </a:rPr>
              <a:t>e</a:t>
            </a:r>
            <a:r>
              <a:rPr sz="2100" b="1" i="1" spc="-7" baseline="3968" dirty="0">
                <a:latin typeface="Arial"/>
                <a:cs typeface="Arial"/>
              </a:rPr>
              <a:t>m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baseline="3968" dirty="0">
                <a:latin typeface="Arial"/>
                <a:cs typeface="Arial"/>
              </a:rPr>
              <a:t>r</a:t>
            </a:r>
            <a:r>
              <a:rPr sz="2100" b="1" i="1" spc="-7" baseline="3968" dirty="0">
                <a:latin typeface="Arial"/>
                <a:cs typeface="Arial"/>
              </a:rPr>
              <a:t>y</a:t>
            </a:r>
            <a:r>
              <a:rPr sz="2100" b="1" i="1" spc="-44" baseline="3968" dirty="0">
                <a:latin typeface="Arial"/>
                <a:cs typeface="Arial"/>
              </a:rPr>
              <a:t> </a:t>
            </a:r>
            <a:r>
              <a:rPr sz="2100" b="1" i="1" spc="-15" baseline="3968" dirty="0">
                <a:latin typeface="Arial"/>
                <a:cs typeface="Arial"/>
              </a:rPr>
              <a:t>O</a:t>
            </a:r>
            <a:r>
              <a:rPr sz="2100" b="1" i="1" baseline="3968" dirty="0">
                <a:latin typeface="Arial"/>
                <a:cs typeface="Arial"/>
              </a:rPr>
              <a:t>r</a:t>
            </a:r>
            <a:r>
              <a:rPr sz="2100" b="1" i="1" spc="-30" baseline="3968" dirty="0">
                <a:latin typeface="Arial"/>
                <a:cs typeface="Arial"/>
              </a:rPr>
              <a:t>g</a:t>
            </a:r>
            <a:r>
              <a:rPr sz="2100" b="1" i="1" spc="-22" baseline="3968" dirty="0">
                <a:latin typeface="Arial"/>
                <a:cs typeface="Arial"/>
              </a:rPr>
              <a:t>a</a:t>
            </a:r>
            <a:r>
              <a:rPr sz="2100" b="1" i="1" spc="-30" baseline="3968" dirty="0">
                <a:latin typeface="Arial"/>
                <a:cs typeface="Arial"/>
              </a:rPr>
              <a:t>n</a:t>
            </a:r>
            <a:r>
              <a:rPr sz="2100" b="1" i="1" spc="-7" baseline="3968" dirty="0">
                <a:latin typeface="Arial"/>
                <a:cs typeface="Arial"/>
              </a:rPr>
              <a:t>iz</a:t>
            </a:r>
            <a:r>
              <a:rPr sz="2100" b="1" i="1" spc="-22" baseline="3968" dirty="0">
                <a:latin typeface="Arial"/>
                <a:cs typeface="Arial"/>
              </a:rPr>
              <a:t>at</a:t>
            </a:r>
            <a:r>
              <a:rPr sz="2100" b="1" i="1" spc="-7" baseline="3968" dirty="0">
                <a:latin typeface="Arial"/>
                <a:cs typeface="Arial"/>
              </a:rPr>
              <a:t>i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-7" baseline="3968" dirty="0">
                <a:latin typeface="Arial"/>
                <a:cs typeface="Arial"/>
              </a:rPr>
              <a:t>n</a:t>
            </a:r>
            <a:r>
              <a:rPr sz="2100" b="1" i="1" baseline="3968" dirty="0">
                <a:latin typeface="Arial"/>
                <a:cs typeface="Arial"/>
              </a:rPr>
              <a:t>	</a:t>
            </a:r>
            <a:r>
              <a:rPr sz="1400" b="1" spc="-15" dirty="0">
                <a:latin typeface="Arial"/>
                <a:cs typeface="Arial"/>
              </a:rPr>
              <a:t>1</a:t>
            </a:r>
            <a:r>
              <a:rPr sz="1400" b="1" spc="-5" dirty="0">
                <a:latin typeface="Arial"/>
                <a:cs typeface="Arial"/>
              </a:rPr>
              <a:t>5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9935" y="271390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2483" y="319277"/>
            <a:ext cx="8290559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6035" algn="l"/>
                <a:tab pos="1988185" algn="l"/>
                <a:tab pos="3034030" algn="l"/>
                <a:tab pos="5080000" algn="l"/>
                <a:tab pos="6945630" algn="l"/>
              </a:tabLst>
            </a:pPr>
            <a:r>
              <a:rPr sz="2000" u="sng" spc="5" dirty="0"/>
              <a:t>MEMORY	</a:t>
            </a:r>
            <a:r>
              <a:rPr sz="2000" u="sng" spc="-30" dirty="0"/>
              <a:t>AND	</a:t>
            </a:r>
            <a:r>
              <a:rPr sz="2000" u="sng" spc="-20" dirty="0"/>
              <a:t>CACHE	</a:t>
            </a:r>
            <a:r>
              <a:rPr sz="2000" u="sng" spc="-15" dirty="0"/>
              <a:t>MAPPING</a:t>
            </a:r>
            <a:r>
              <a:rPr sz="2000" u="sng" spc="55" dirty="0"/>
              <a:t> </a:t>
            </a:r>
            <a:r>
              <a:rPr sz="2000" u="sng" spc="-5" dirty="0"/>
              <a:t>-</a:t>
            </a:r>
            <a:r>
              <a:rPr sz="2000" u="sng" spc="-10" dirty="0"/>
              <a:t> </a:t>
            </a:r>
            <a:r>
              <a:rPr sz="2000" u="sng" spc="-15" dirty="0"/>
              <a:t>SET	</a:t>
            </a:r>
            <a:r>
              <a:rPr sz="2000" u="sng" spc="-10" dirty="0"/>
              <a:t>ASSOCIATIVE	</a:t>
            </a:r>
            <a:r>
              <a:rPr sz="2000" u="sng" spc="-15" dirty="0"/>
              <a:t>MAPPING</a:t>
            </a:r>
            <a:r>
              <a:rPr sz="2000" u="sng" spc="-60" dirty="0"/>
              <a:t> </a:t>
            </a:r>
            <a:r>
              <a:rPr sz="2000" u="sng" spc="-5" dirty="0"/>
              <a:t>-</a:t>
            </a:r>
            <a:endParaRPr sz="2000" u="sng" dirty="0"/>
          </a:p>
        </p:txBody>
      </p:sp>
      <p:sp>
        <p:nvSpPr>
          <p:cNvPr id="7" name="object 7"/>
          <p:cNvSpPr txBox="1"/>
          <p:nvPr/>
        </p:nvSpPr>
        <p:spPr>
          <a:xfrm>
            <a:off x="226872" y="881888"/>
            <a:ext cx="7690484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Each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 locations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load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spc="-165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ss</a:t>
            </a:r>
            <a:r>
              <a:rPr sz="1800" b="1" spc="-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spc="-20" dirty="0">
                <a:latin typeface="Arial"/>
                <a:cs typeface="Arial"/>
              </a:rPr>
              <a:t>v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ap</a:t>
            </a:r>
            <a:r>
              <a:rPr sz="1800" b="1" spc="5" dirty="0">
                <a:latin typeface="Arial"/>
                <a:cs typeface="Arial"/>
              </a:rPr>
              <a:t>p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he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35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ith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</a:t>
            </a:r>
            <a:r>
              <a:rPr sz="1800" b="1" spc="10" dirty="0">
                <a:latin typeface="Arial"/>
                <a:cs typeface="Arial"/>
              </a:rPr>
              <a:t>z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40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ts val="2039"/>
              </a:lnSpc>
              <a:spcBef>
                <a:spcPts val="100"/>
              </a:spcBef>
            </a:pPr>
            <a:r>
              <a:rPr dirty="0"/>
              <a:t>Operation</a:t>
            </a:r>
          </a:p>
          <a:p>
            <a:pPr marL="548640" indent="-140970">
              <a:lnSpc>
                <a:spcPts val="1910"/>
              </a:lnSpc>
              <a:buFont typeface="Arial MT"/>
              <a:buChar char="-"/>
              <a:tabLst>
                <a:tab pos="549275" algn="l"/>
              </a:tabLst>
            </a:pPr>
            <a:r>
              <a:rPr spc="-5" dirty="0"/>
              <a:t>CPU</a:t>
            </a:r>
            <a:r>
              <a:rPr spc="-35" dirty="0"/>
              <a:t> </a:t>
            </a:r>
            <a:r>
              <a:rPr dirty="0"/>
              <a:t>generates</a:t>
            </a:r>
            <a:r>
              <a:rPr spc="-75" dirty="0"/>
              <a:t> </a:t>
            </a:r>
            <a:r>
              <a:rPr spc="-5" dirty="0"/>
              <a:t>a</a:t>
            </a:r>
            <a:r>
              <a:rPr spc="5" dirty="0"/>
              <a:t> </a:t>
            </a:r>
            <a:r>
              <a:rPr dirty="0"/>
              <a:t>memory</a:t>
            </a:r>
            <a:r>
              <a:rPr spc="-55" dirty="0"/>
              <a:t> </a:t>
            </a:r>
            <a:r>
              <a:rPr spc="-25" dirty="0"/>
              <a:t>address(TAG;</a:t>
            </a:r>
            <a:r>
              <a:rPr spc="75" dirty="0"/>
              <a:t> </a:t>
            </a:r>
            <a:r>
              <a:rPr spc="-5" dirty="0"/>
              <a:t>INDEX)</a:t>
            </a:r>
          </a:p>
          <a:p>
            <a:pPr marL="539750" indent="-132080">
              <a:lnSpc>
                <a:spcPts val="1895"/>
              </a:lnSpc>
              <a:buFont typeface="Arial MT"/>
              <a:buChar char="-"/>
              <a:tabLst>
                <a:tab pos="540385" algn="l"/>
                <a:tab pos="3625215" algn="l"/>
              </a:tabLst>
            </a:pPr>
            <a:r>
              <a:rPr spc="-25" dirty="0"/>
              <a:t>Access</a:t>
            </a:r>
            <a:r>
              <a:rPr spc="120" dirty="0"/>
              <a:t> </a:t>
            </a:r>
            <a:r>
              <a:rPr dirty="0"/>
              <a:t>Cache</a:t>
            </a:r>
            <a:r>
              <a:rPr spc="-20" dirty="0"/>
              <a:t> </a:t>
            </a:r>
            <a:r>
              <a:rPr spc="5" dirty="0"/>
              <a:t>with</a:t>
            </a:r>
            <a:r>
              <a:rPr spc="-25" dirty="0"/>
              <a:t> </a:t>
            </a:r>
            <a:r>
              <a:rPr spc="-5" dirty="0"/>
              <a:t>INDEX,	</a:t>
            </a:r>
            <a:r>
              <a:rPr dirty="0"/>
              <a:t>(Cache</a:t>
            </a:r>
            <a:r>
              <a:rPr spc="-60" dirty="0"/>
              <a:t> </a:t>
            </a:r>
            <a:r>
              <a:rPr spc="5" dirty="0"/>
              <a:t>word</a:t>
            </a:r>
            <a:r>
              <a:rPr spc="-45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(tag</a:t>
            </a:r>
            <a:r>
              <a:rPr spc="-20" dirty="0"/>
              <a:t> </a:t>
            </a:r>
            <a:r>
              <a:rPr dirty="0"/>
              <a:t>0,</a:t>
            </a:r>
            <a:r>
              <a:rPr spc="-2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0);</a:t>
            </a:r>
            <a:r>
              <a:rPr spc="-50" dirty="0"/>
              <a:t> </a:t>
            </a:r>
            <a:r>
              <a:rPr dirty="0"/>
              <a:t>(tag 1,</a:t>
            </a:r>
            <a:r>
              <a:rPr spc="-45" dirty="0"/>
              <a:t> </a:t>
            </a: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1))</a:t>
            </a:r>
          </a:p>
          <a:p>
            <a:pPr marL="548640" indent="-140970">
              <a:lnSpc>
                <a:spcPts val="1900"/>
              </a:lnSpc>
              <a:buFont typeface="Arial MT"/>
              <a:buChar char="-"/>
              <a:tabLst>
                <a:tab pos="549275" algn="l"/>
              </a:tabLst>
            </a:pPr>
            <a:r>
              <a:rPr dirty="0"/>
              <a:t>Compare</a:t>
            </a:r>
            <a:r>
              <a:rPr spc="-65" dirty="0"/>
              <a:t> </a:t>
            </a:r>
            <a:r>
              <a:rPr spc="-60" dirty="0"/>
              <a:t>TAG</a:t>
            </a:r>
            <a:r>
              <a:rPr spc="1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tag</a:t>
            </a:r>
            <a:r>
              <a:rPr spc="-20" dirty="0"/>
              <a:t> </a:t>
            </a:r>
            <a:r>
              <a:rPr dirty="0"/>
              <a:t>0</a:t>
            </a:r>
            <a:r>
              <a:rPr spc="-2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then</a:t>
            </a:r>
            <a:r>
              <a:rPr spc="-20" dirty="0"/>
              <a:t> </a:t>
            </a:r>
            <a:r>
              <a:rPr dirty="0"/>
              <a:t>tag</a:t>
            </a:r>
            <a:r>
              <a:rPr spc="-45" dirty="0"/>
              <a:t> </a:t>
            </a:r>
            <a:r>
              <a:rPr dirty="0"/>
              <a:t>1</a:t>
            </a:r>
          </a:p>
          <a:p>
            <a:pPr marL="548640" indent="-140970">
              <a:lnSpc>
                <a:spcPts val="1895"/>
              </a:lnSpc>
              <a:buFont typeface="Arial MT"/>
              <a:buChar char="-"/>
              <a:tabLst>
                <a:tab pos="549275" algn="l"/>
              </a:tabLst>
            </a:pPr>
            <a:r>
              <a:rPr dirty="0"/>
              <a:t>If</a:t>
            </a:r>
            <a:r>
              <a:rPr spc="-25" dirty="0"/>
              <a:t> </a:t>
            </a:r>
            <a:r>
              <a:rPr dirty="0"/>
              <a:t>tag</a:t>
            </a:r>
            <a:r>
              <a:rPr spc="-20" dirty="0"/>
              <a:t> </a:t>
            </a:r>
            <a:r>
              <a:rPr dirty="0"/>
              <a:t>i =</a:t>
            </a:r>
            <a:r>
              <a:rPr spc="-20" dirty="0"/>
              <a:t> </a:t>
            </a:r>
            <a:r>
              <a:rPr spc="-60" dirty="0"/>
              <a:t>TAG</a:t>
            </a:r>
            <a:r>
              <a:rPr spc="15" dirty="0"/>
              <a:t> </a:t>
            </a:r>
            <a:r>
              <a:rPr dirty="0"/>
              <a:t>-&gt;</a:t>
            </a:r>
            <a:r>
              <a:rPr spc="5" dirty="0"/>
              <a:t> </a:t>
            </a:r>
            <a:r>
              <a:rPr spc="-5" dirty="0"/>
              <a:t>Hit,</a:t>
            </a:r>
            <a:r>
              <a:rPr spc="450" dirty="0"/>
              <a:t> </a:t>
            </a:r>
            <a:r>
              <a:rPr spc="-5" dirty="0"/>
              <a:t>CPU</a:t>
            </a:r>
            <a:r>
              <a:rPr spc="-25" dirty="0"/>
              <a:t> </a:t>
            </a:r>
            <a:r>
              <a:rPr dirty="0"/>
              <a:t>&lt;-</a:t>
            </a:r>
            <a:r>
              <a:rPr spc="-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i</a:t>
            </a:r>
          </a:p>
          <a:p>
            <a:pPr marL="548640" indent="-140970">
              <a:lnSpc>
                <a:spcPts val="1970"/>
              </a:lnSpc>
              <a:buFont typeface="Arial MT"/>
              <a:buChar char="-"/>
              <a:tabLst>
                <a:tab pos="549275" algn="l"/>
              </a:tabLst>
            </a:pPr>
            <a:r>
              <a:rPr dirty="0"/>
              <a:t>If</a:t>
            </a:r>
            <a:r>
              <a:rPr spc="-35" dirty="0"/>
              <a:t> </a:t>
            </a:r>
            <a:r>
              <a:rPr dirty="0"/>
              <a:t>tag</a:t>
            </a:r>
            <a:r>
              <a:rPr spc="-30" dirty="0"/>
              <a:t> </a:t>
            </a:r>
            <a:r>
              <a:rPr dirty="0"/>
              <a:t>i</a:t>
            </a:r>
            <a:r>
              <a:rPr spc="-25" dirty="0"/>
              <a:t> </a:t>
            </a:r>
            <a:r>
              <a:rPr b="0" dirty="0">
                <a:latin typeface="Symbol"/>
                <a:cs typeface="Symbol"/>
              </a:rPr>
              <a:t>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60" dirty="0"/>
              <a:t>TAG</a:t>
            </a:r>
            <a:r>
              <a:rPr spc="-20" dirty="0"/>
              <a:t> </a:t>
            </a:r>
            <a:r>
              <a:rPr spc="-5" dirty="0"/>
              <a:t>-&gt; </a:t>
            </a:r>
            <a:r>
              <a:rPr dirty="0"/>
              <a:t>Miss,</a:t>
            </a:r>
          </a:p>
          <a:p>
            <a:pPr marL="527050" marR="2397760" indent="8890">
              <a:lnSpc>
                <a:spcPts val="1939"/>
              </a:lnSpc>
              <a:spcBef>
                <a:spcPts val="190"/>
              </a:spcBef>
            </a:pPr>
            <a:r>
              <a:rPr dirty="0"/>
              <a:t>Replace either (tag 0, data 0) </a:t>
            </a:r>
            <a:r>
              <a:rPr spc="-5" dirty="0"/>
              <a:t>or </a:t>
            </a:r>
            <a:r>
              <a:rPr dirty="0"/>
              <a:t>(tag 1, data 1), </a:t>
            </a:r>
            <a:r>
              <a:rPr spc="5" dirty="0"/>
              <a:t> </a:t>
            </a:r>
            <a:r>
              <a:rPr spc="-25" dirty="0"/>
              <a:t>Assume </a:t>
            </a:r>
            <a:r>
              <a:rPr dirty="0"/>
              <a:t>(tag 0, data 0) </a:t>
            </a:r>
            <a:r>
              <a:rPr spc="-5" dirty="0"/>
              <a:t>is selected for </a:t>
            </a:r>
            <a:r>
              <a:rPr dirty="0"/>
              <a:t>replacement, </a:t>
            </a:r>
            <a:r>
              <a:rPr spc="-490" dirty="0"/>
              <a:t> </a:t>
            </a:r>
            <a:r>
              <a:rPr dirty="0"/>
              <a:t>(Why</a:t>
            </a:r>
            <a:r>
              <a:rPr spc="-40" dirty="0"/>
              <a:t> </a:t>
            </a:r>
            <a:r>
              <a:rPr dirty="0"/>
              <a:t>(tag</a:t>
            </a:r>
            <a:r>
              <a:rPr spc="5" dirty="0"/>
              <a:t> </a:t>
            </a:r>
            <a:r>
              <a:rPr dirty="0"/>
              <a:t>0,</a:t>
            </a:r>
            <a:r>
              <a:rPr spc="-4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0)</a:t>
            </a:r>
            <a:r>
              <a:rPr spc="-25" dirty="0"/>
              <a:t> </a:t>
            </a:r>
            <a:r>
              <a:rPr dirty="0"/>
              <a:t>instead</a:t>
            </a:r>
            <a:r>
              <a:rPr spc="-5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(tag</a:t>
            </a:r>
            <a:r>
              <a:rPr spc="-15" dirty="0"/>
              <a:t> </a:t>
            </a:r>
            <a:r>
              <a:rPr dirty="0"/>
              <a:t>1,</a:t>
            </a:r>
            <a:r>
              <a:rPr spc="-2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1)</a:t>
            </a:r>
            <a:r>
              <a:rPr spc="-30" dirty="0"/>
              <a:t> </a:t>
            </a:r>
            <a:r>
              <a:rPr dirty="0"/>
              <a:t>?)</a:t>
            </a:r>
          </a:p>
          <a:p>
            <a:pPr marL="536575" marR="2185670">
              <a:lnSpc>
                <a:spcPts val="1900"/>
              </a:lnSpc>
              <a:spcBef>
                <a:spcPts val="20"/>
              </a:spcBef>
            </a:pPr>
            <a:r>
              <a:rPr dirty="0"/>
              <a:t>M[tag 0, </a:t>
            </a:r>
            <a:r>
              <a:rPr spc="-5" dirty="0"/>
              <a:t>INDEX] </a:t>
            </a:r>
            <a:r>
              <a:rPr dirty="0"/>
              <a:t>&lt;- </a:t>
            </a:r>
            <a:r>
              <a:rPr spc="-5" dirty="0"/>
              <a:t>Cache[INDEX](data </a:t>
            </a:r>
            <a:r>
              <a:rPr dirty="0"/>
              <a:t>0) </a:t>
            </a:r>
            <a:r>
              <a:rPr spc="5" dirty="0"/>
              <a:t> </a:t>
            </a:r>
            <a:r>
              <a:rPr spc="-5" dirty="0"/>
              <a:t>Cache[INDEX](tag</a:t>
            </a:r>
            <a:r>
              <a:rPr spc="-50" dirty="0"/>
              <a:t> </a:t>
            </a:r>
            <a:r>
              <a:rPr dirty="0"/>
              <a:t>0,</a:t>
            </a:r>
            <a:r>
              <a:rPr spc="-10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0)</a:t>
            </a:r>
            <a:r>
              <a:rPr spc="-10" dirty="0"/>
              <a:t> </a:t>
            </a:r>
            <a:r>
              <a:rPr dirty="0"/>
              <a:t>&lt;-</a:t>
            </a:r>
            <a:r>
              <a:rPr spc="10" dirty="0"/>
              <a:t> </a:t>
            </a:r>
            <a:r>
              <a:rPr spc="-50" dirty="0"/>
              <a:t>(TAG,</a:t>
            </a:r>
            <a:r>
              <a:rPr spc="80" dirty="0"/>
              <a:t> </a:t>
            </a:r>
            <a:r>
              <a:rPr spc="-30" dirty="0"/>
              <a:t>M[TAG,INDEX]),</a:t>
            </a:r>
          </a:p>
          <a:p>
            <a:pPr marL="536575">
              <a:lnSpc>
                <a:spcPts val="1870"/>
              </a:lnSpc>
            </a:pPr>
            <a:r>
              <a:rPr spc="-5" dirty="0"/>
              <a:t>CPU</a:t>
            </a:r>
            <a:r>
              <a:rPr spc="-40" dirty="0"/>
              <a:t> </a:t>
            </a:r>
            <a:r>
              <a:rPr dirty="0"/>
              <a:t>&lt;-</a:t>
            </a:r>
            <a:r>
              <a:rPr spc="-30" dirty="0"/>
              <a:t> </a:t>
            </a:r>
            <a:r>
              <a:rPr spc="-5" dirty="0"/>
              <a:t>Cache[INDEX](data</a:t>
            </a:r>
            <a:r>
              <a:rPr spc="-65" dirty="0"/>
              <a:t> </a:t>
            </a:r>
            <a:r>
              <a:rPr spc="5" dirty="0"/>
              <a:t>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0290E2-945D-1168-16CF-9F90CB69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14" y="1752600"/>
            <a:ext cx="4119386" cy="17380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270" y="281686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6996" y="278638"/>
            <a:ext cx="7903845" cy="61365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820" algn="ctr">
              <a:lnSpc>
                <a:spcPct val="100000"/>
              </a:lnSpc>
              <a:spcBef>
                <a:spcPts val="100"/>
              </a:spcBef>
              <a:tabLst>
                <a:tab pos="1593850" algn="l"/>
                <a:tab pos="4081779" algn="l"/>
              </a:tabLst>
            </a:pPr>
            <a:r>
              <a:rPr sz="2400" b="1" u="sng" spc="-5" dirty="0">
                <a:latin typeface="Arial"/>
                <a:cs typeface="Arial"/>
              </a:rPr>
              <a:t>BLOCK	</a:t>
            </a:r>
            <a:r>
              <a:rPr sz="2400" b="1" u="sng" spc="-10" dirty="0">
                <a:latin typeface="Arial"/>
                <a:cs typeface="Arial"/>
              </a:rPr>
              <a:t>REPLACEMENT	</a:t>
            </a:r>
            <a:r>
              <a:rPr sz="2400" b="1" u="sng" dirty="0">
                <a:latin typeface="Arial"/>
                <a:cs typeface="Arial"/>
              </a:rPr>
              <a:t>POLICY</a:t>
            </a:r>
            <a:endParaRPr sz="2400" u="sng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sz="1800" b="1" dirty="0">
                <a:latin typeface="Arial"/>
                <a:cs typeface="Arial"/>
              </a:rPr>
              <a:t>Many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5" dirty="0">
                <a:latin typeface="Arial"/>
                <a:cs typeface="Arial"/>
              </a:rPr>
              <a:t> replacement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policies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 </a:t>
            </a:r>
            <a:r>
              <a:rPr sz="1800" b="1" spc="-5" dirty="0">
                <a:latin typeface="Arial"/>
                <a:cs typeface="Arial"/>
              </a:rPr>
              <a:t>available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1800" b="1" dirty="0">
                <a:latin typeface="Arial"/>
                <a:cs typeface="Arial"/>
              </a:rPr>
              <a:t>LRU(Least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Recently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Used)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most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easy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implement</a:t>
            </a:r>
            <a:endParaRPr sz="1800" dirty="0">
              <a:latin typeface="Arial"/>
              <a:cs typeface="Arial"/>
            </a:endParaRPr>
          </a:p>
          <a:p>
            <a:pPr marR="169545" algn="r">
              <a:lnSpc>
                <a:spcPct val="100000"/>
              </a:lnSpc>
              <a:spcBef>
                <a:spcPts val="1150"/>
              </a:spcBef>
            </a:pP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(tag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U0</a:t>
            </a:r>
            <a:r>
              <a:rPr sz="1800" b="1" spc="-5" dirty="0">
                <a:latin typeface="Arial"/>
                <a:cs typeface="Arial"/>
              </a:rPr>
              <a:t>);(tag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U1</a:t>
            </a:r>
            <a:r>
              <a:rPr sz="1800" b="1" spc="-5" dirty="0">
                <a:latin typeface="Arial"/>
                <a:cs typeface="Arial"/>
              </a:rPr>
              <a:t>),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Ui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1(binary)</a:t>
            </a:r>
            <a:endParaRPr sz="1800" dirty="0">
              <a:latin typeface="Arial"/>
              <a:cs typeface="Arial"/>
            </a:endParaRPr>
          </a:p>
          <a:p>
            <a:pPr marR="191135" algn="r">
              <a:lnSpc>
                <a:spcPct val="100000"/>
              </a:lnSpc>
              <a:spcBef>
                <a:spcPts val="1735"/>
              </a:spcBef>
            </a:pPr>
            <a:r>
              <a:rPr sz="1800" b="1" spc="-5" dirty="0">
                <a:latin typeface="Arial"/>
                <a:cs typeface="Arial"/>
              </a:rPr>
              <a:t>Implementation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LRU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Set</a:t>
            </a:r>
            <a:r>
              <a:rPr sz="1800" b="1" spc="-1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Associative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size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Modifications</a:t>
            </a:r>
            <a:endParaRPr sz="1800" dirty="0">
              <a:latin typeface="Arial"/>
              <a:cs typeface="Arial"/>
            </a:endParaRPr>
          </a:p>
          <a:p>
            <a:pPr marL="204470">
              <a:lnSpc>
                <a:spcPts val="2100"/>
              </a:lnSpc>
              <a:spcBef>
                <a:spcPts val="1655"/>
              </a:spcBef>
            </a:pPr>
            <a:r>
              <a:rPr sz="1800" b="1" dirty="0">
                <a:latin typeface="Arial"/>
                <a:cs typeface="Arial"/>
              </a:rPr>
              <a:t>Initially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all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U0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U1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204470" marR="1236345">
              <a:lnSpc>
                <a:spcPct val="90100"/>
              </a:lnSpc>
              <a:spcBef>
                <a:spcPts val="155"/>
              </a:spcBef>
            </a:pPr>
            <a:r>
              <a:rPr sz="1800" b="1" dirty="0">
                <a:latin typeface="Arial"/>
                <a:cs typeface="Arial"/>
              </a:rPr>
              <a:t>When </a:t>
            </a:r>
            <a:r>
              <a:rPr sz="1800" b="1" spc="-5" dirty="0">
                <a:latin typeface="Arial"/>
                <a:cs typeface="Arial"/>
              </a:rPr>
              <a:t>Hit </a:t>
            </a:r>
            <a:r>
              <a:rPr sz="1800" b="1" dirty="0">
                <a:latin typeface="Arial"/>
                <a:cs typeface="Arial"/>
              </a:rPr>
              <a:t>to (tag 0, data 0, </a:t>
            </a:r>
            <a:r>
              <a:rPr sz="1800" b="1" spc="-5" dirty="0">
                <a:latin typeface="Arial"/>
                <a:cs typeface="Arial"/>
              </a:rPr>
              <a:t>U0), U1 </a:t>
            </a:r>
            <a:r>
              <a:rPr sz="1800" b="1" dirty="0">
                <a:latin typeface="Arial"/>
                <a:cs typeface="Arial"/>
              </a:rPr>
              <a:t>&lt;- 1(least recently used)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(When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Hit 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(tag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U1),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U0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&lt;- 1(least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recently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used))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When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Miss,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least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recently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one(Ui=1)</a:t>
            </a:r>
            <a:endParaRPr sz="1800" dirty="0">
              <a:latin typeface="Arial"/>
              <a:cs typeface="Arial"/>
            </a:endParaRPr>
          </a:p>
          <a:p>
            <a:pPr marL="457200">
              <a:lnSpc>
                <a:spcPts val="1764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U0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U1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replace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(tag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0)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850"/>
              </a:lnSpc>
            </a:pPr>
            <a:r>
              <a:rPr sz="1800" b="1" dirty="0">
                <a:latin typeface="Arial"/>
                <a:cs typeface="Arial"/>
              </a:rPr>
              <a:t>M[tag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INDEX]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 </a:t>
            </a:r>
            <a:r>
              <a:rPr sz="1800" b="1" spc="-5" dirty="0">
                <a:latin typeface="Arial"/>
                <a:cs typeface="Arial"/>
              </a:rPr>
              <a:t>Cache[INDEX](data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0)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955"/>
              </a:lnSpc>
            </a:pPr>
            <a:r>
              <a:rPr sz="1800" b="1" spc="-5" dirty="0">
                <a:latin typeface="Arial"/>
                <a:cs typeface="Arial"/>
              </a:rPr>
              <a:t>Cache[INDEX](tag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U0)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45" dirty="0">
                <a:latin typeface="Arial"/>
                <a:cs typeface="Arial"/>
              </a:rPr>
              <a:t>(TAG,M[TAG,INDEX],</a:t>
            </a:r>
            <a:r>
              <a:rPr sz="1800" b="1" spc="1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0);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457200">
              <a:lnSpc>
                <a:spcPts val="2050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U0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0,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U1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replace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(tag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1)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895"/>
              </a:lnSpc>
            </a:pPr>
            <a:r>
              <a:rPr sz="1800" b="1" dirty="0">
                <a:latin typeface="Arial"/>
                <a:cs typeface="Arial"/>
              </a:rPr>
              <a:t>Similar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above;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U0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457200" marR="2750185">
              <a:lnSpc>
                <a:spcPts val="1989"/>
              </a:lnSpc>
              <a:spcBef>
                <a:spcPts val="30"/>
              </a:spcBef>
            </a:pPr>
            <a:r>
              <a:rPr sz="1800" b="1" dirty="0">
                <a:latin typeface="Arial"/>
                <a:cs typeface="Arial"/>
              </a:rPr>
              <a:t>If </a:t>
            </a:r>
            <a:r>
              <a:rPr sz="1800" b="1" spc="-5" dirty="0">
                <a:latin typeface="Arial"/>
                <a:cs typeface="Arial"/>
              </a:rPr>
              <a:t>U0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U1 </a:t>
            </a:r>
            <a:r>
              <a:rPr sz="1800" b="1" dirty="0">
                <a:latin typeface="Arial"/>
                <a:cs typeface="Arial"/>
              </a:rPr>
              <a:t>= 0, this condition does not exist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U0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U1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 1,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 them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candidates,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1885"/>
              </a:lnSpc>
            </a:pPr>
            <a:r>
              <a:rPr sz="1800" b="1" spc="-190" dirty="0">
                <a:latin typeface="Arial"/>
                <a:cs typeface="Arial"/>
              </a:rPr>
              <a:t>T</a:t>
            </a:r>
            <a:r>
              <a:rPr sz="1800" b="1" spc="-45" dirty="0">
                <a:latin typeface="Arial"/>
                <a:cs typeface="Arial"/>
              </a:rPr>
              <a:t>ak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rbitr</a:t>
            </a:r>
            <a:r>
              <a:rPr sz="1800" b="1" spc="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ry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se</a:t>
            </a:r>
            <a:r>
              <a:rPr sz="1800" b="1" dirty="0">
                <a:latin typeface="Arial"/>
                <a:cs typeface="Arial"/>
              </a:rPr>
              <a:t>l</a:t>
            </a:r>
            <a:r>
              <a:rPr sz="1800" b="1" spc="10" dirty="0">
                <a:latin typeface="Arial"/>
                <a:cs typeface="Arial"/>
              </a:rPr>
              <a:t>e</a:t>
            </a:r>
            <a:r>
              <a:rPr sz="1800" b="1" spc="5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-20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92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4" y="226857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769" y="280161"/>
            <a:ext cx="7896225" cy="614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140" algn="ctr">
              <a:lnSpc>
                <a:spcPct val="100000"/>
              </a:lnSpc>
              <a:spcBef>
                <a:spcPts val="100"/>
              </a:spcBef>
              <a:tabLst>
                <a:tab pos="1741170" algn="l"/>
              </a:tabLst>
            </a:pPr>
            <a:r>
              <a:rPr sz="2400" b="1" u="sng" spc="-20" dirty="0">
                <a:latin typeface="Arial"/>
                <a:cs typeface="Arial"/>
              </a:rPr>
              <a:t>CACHE	</a:t>
            </a:r>
            <a:r>
              <a:rPr sz="2400" b="1" u="sng" dirty="0">
                <a:latin typeface="Arial"/>
                <a:cs typeface="Arial"/>
              </a:rPr>
              <a:t>WRITE</a:t>
            </a:r>
            <a:endParaRPr sz="2400" u="sng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1800" b="1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rite</a:t>
            </a:r>
            <a:r>
              <a:rPr sz="1800" b="1" u="heavy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rou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</a:t>
            </a:r>
            <a:endParaRPr sz="1800" dirty="0">
              <a:latin typeface="Arial"/>
              <a:cs typeface="Arial"/>
            </a:endParaRPr>
          </a:p>
          <a:p>
            <a:pPr marL="585470">
              <a:lnSpc>
                <a:spcPct val="100000"/>
              </a:lnSpc>
              <a:spcBef>
                <a:spcPts val="1295"/>
              </a:spcBef>
            </a:pPr>
            <a:r>
              <a:rPr sz="1800" b="1" dirty="0">
                <a:latin typeface="Arial"/>
                <a:cs typeface="Arial"/>
              </a:rPr>
              <a:t>When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writing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 dirty="0">
              <a:latin typeface="Arial"/>
              <a:cs typeface="Arial"/>
            </a:endParaRPr>
          </a:p>
          <a:p>
            <a:pPr marL="1030605">
              <a:lnSpc>
                <a:spcPts val="1945"/>
              </a:lnSpc>
              <a:spcBef>
                <a:spcPts val="1275"/>
              </a:spcBef>
            </a:pPr>
            <a:r>
              <a:rPr sz="1800" b="1" dirty="0">
                <a:latin typeface="Arial"/>
                <a:cs typeface="Arial"/>
              </a:rPr>
              <a:t>If Hit,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 </a:t>
            </a:r>
            <a:r>
              <a:rPr sz="1800" b="1" spc="5" dirty="0">
                <a:latin typeface="Arial"/>
                <a:cs typeface="Arial"/>
              </a:rPr>
              <a:t>written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parallel</a:t>
            </a:r>
            <a:endParaRPr sz="1800" dirty="0">
              <a:latin typeface="Arial"/>
              <a:cs typeface="Arial"/>
            </a:endParaRPr>
          </a:p>
          <a:p>
            <a:pPr marL="1030605">
              <a:lnSpc>
                <a:spcPts val="1730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written</a:t>
            </a:r>
            <a:endParaRPr sz="1800" dirty="0">
              <a:latin typeface="Arial"/>
              <a:cs typeface="Arial"/>
            </a:endParaRPr>
          </a:p>
          <a:p>
            <a:pPr marL="1283970" marR="2430145">
              <a:lnSpc>
                <a:spcPct val="80000"/>
              </a:lnSpc>
              <a:spcBef>
                <a:spcPts val="215"/>
              </a:spcBef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5" dirty="0">
                <a:latin typeface="Arial"/>
                <a:cs typeface="Arial"/>
              </a:rPr>
              <a:t> 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read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miss,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overloaded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endParaRPr sz="1800" dirty="0">
              <a:latin typeface="Arial"/>
              <a:cs typeface="Arial"/>
            </a:endParaRPr>
          </a:p>
          <a:p>
            <a:pPr marL="585470">
              <a:lnSpc>
                <a:spcPts val="2030"/>
              </a:lnSpc>
              <a:spcBef>
                <a:spcPts val="1035"/>
              </a:spcBef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always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updated</a:t>
            </a:r>
            <a:endParaRPr sz="1800" dirty="0">
              <a:latin typeface="Arial"/>
              <a:cs typeface="Arial"/>
            </a:endParaRPr>
          </a:p>
          <a:p>
            <a:pPr marL="585470">
              <a:lnSpc>
                <a:spcPts val="2030"/>
              </a:lnSpc>
            </a:pPr>
            <a:r>
              <a:rPr sz="1800" b="1" dirty="0">
                <a:latin typeface="Arial"/>
                <a:cs typeface="Arial"/>
              </a:rPr>
              <a:t>-&gt;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Important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when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CPU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DMA</a:t>
            </a:r>
            <a:r>
              <a:rPr sz="1800" b="1" spc="-1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I/O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executing</a:t>
            </a:r>
            <a:endParaRPr sz="1800" dirty="0">
              <a:latin typeface="Arial"/>
              <a:cs typeface="Arial"/>
            </a:endParaRPr>
          </a:p>
          <a:p>
            <a:pPr marL="585470">
              <a:lnSpc>
                <a:spcPct val="100000"/>
              </a:lnSpc>
              <a:spcBef>
                <a:spcPts val="1300"/>
              </a:spcBef>
            </a:pP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5" dirty="0">
                <a:latin typeface="Arial"/>
                <a:cs typeface="Arial"/>
              </a:rPr>
              <a:t>lo</a:t>
            </a:r>
            <a:r>
              <a:rPr sz="1800" b="1" spc="-35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,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due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</a:t>
            </a:r>
            <a:r>
              <a:rPr sz="1800" b="1" spc="-5" dirty="0">
                <a:latin typeface="Arial"/>
                <a:cs typeface="Arial"/>
              </a:rPr>
              <a:t>ory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acces</a:t>
            </a: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ti</a:t>
            </a:r>
            <a:r>
              <a:rPr sz="1800" b="1" spc="5" dirty="0">
                <a:latin typeface="Arial"/>
                <a:cs typeface="Arial"/>
              </a:rPr>
              <a:t>m</a:t>
            </a:r>
            <a:r>
              <a:rPr sz="1800" b="1" spc="-5" dirty="0">
                <a:latin typeface="Arial"/>
                <a:cs typeface="Arial"/>
              </a:rPr>
              <a:t>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Write-Back</a:t>
            </a:r>
            <a:r>
              <a:rPr sz="1800" b="1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(Copy-Back)</a:t>
            </a:r>
            <a:endParaRPr sz="1800" dirty="0">
              <a:latin typeface="Arial"/>
              <a:cs typeface="Arial"/>
            </a:endParaRPr>
          </a:p>
          <a:p>
            <a:pPr marL="58547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latin typeface="Arial"/>
                <a:cs typeface="Arial"/>
              </a:rPr>
              <a:t>When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writing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 dirty="0">
              <a:latin typeface="Arial"/>
              <a:cs typeface="Arial"/>
            </a:endParaRPr>
          </a:p>
          <a:p>
            <a:pPr marL="1030605">
              <a:lnSpc>
                <a:spcPts val="1930"/>
              </a:lnSpc>
              <a:spcBef>
                <a:spcPts val="1035"/>
              </a:spcBef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Hit,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only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written</a:t>
            </a:r>
            <a:endParaRPr sz="1800" dirty="0">
              <a:latin typeface="Arial"/>
              <a:cs typeface="Arial"/>
            </a:endParaRPr>
          </a:p>
          <a:p>
            <a:pPr marL="1030605">
              <a:lnSpc>
                <a:spcPts val="1705"/>
              </a:lnSpc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missing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brought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write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endParaRPr sz="1800" dirty="0">
              <a:latin typeface="Arial"/>
              <a:cs typeface="Arial"/>
            </a:endParaRPr>
          </a:p>
          <a:p>
            <a:pPr marL="1411605">
              <a:lnSpc>
                <a:spcPts val="1800"/>
              </a:lnSpc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read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miss,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candidate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must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endParaRPr sz="1800" dirty="0">
              <a:latin typeface="Arial"/>
              <a:cs typeface="Arial"/>
            </a:endParaRPr>
          </a:p>
          <a:p>
            <a:pPr marL="1408430">
              <a:lnSpc>
                <a:spcPts val="2030"/>
              </a:lnSpc>
            </a:pPr>
            <a:r>
              <a:rPr sz="1800" b="1" spc="5" dirty="0">
                <a:latin typeface="Arial"/>
                <a:cs typeface="Arial"/>
              </a:rPr>
              <a:t>written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back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 dirty="0">
              <a:latin typeface="Arial"/>
              <a:cs typeface="Arial"/>
            </a:endParaRPr>
          </a:p>
          <a:p>
            <a:pPr marL="585470">
              <a:lnSpc>
                <a:spcPts val="2065"/>
              </a:lnSpc>
              <a:spcBef>
                <a:spcPts val="1295"/>
              </a:spcBef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up-to-date,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i.e.,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same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item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endParaRPr sz="1800" dirty="0">
              <a:latin typeface="Arial"/>
              <a:cs typeface="Arial"/>
            </a:endParaRPr>
          </a:p>
          <a:p>
            <a:pPr marL="1029335">
              <a:lnSpc>
                <a:spcPts val="2065"/>
              </a:lnSpc>
            </a:pP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have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9257" y="1270"/>
            <a:ext cx="12757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10" dirty="0">
                <a:latin typeface="Arial"/>
                <a:cs typeface="Arial"/>
              </a:rPr>
              <a:t>Ca</a:t>
            </a:r>
            <a:r>
              <a:rPr sz="1400" b="1" i="1" spc="-15" dirty="0">
                <a:latin typeface="Arial"/>
                <a:cs typeface="Arial"/>
              </a:rPr>
              <a:t>c</a:t>
            </a:r>
            <a:r>
              <a:rPr sz="1400" b="1" i="1" spc="-20" dirty="0">
                <a:latin typeface="Arial"/>
                <a:cs typeface="Arial"/>
              </a:rPr>
              <a:t>h</a:t>
            </a:r>
            <a:r>
              <a:rPr sz="1400" b="1" i="1" spc="-5" dirty="0">
                <a:latin typeface="Arial"/>
                <a:cs typeface="Arial"/>
              </a:rPr>
              <a:t>e</a:t>
            </a:r>
            <a:r>
              <a:rPr sz="1400" b="1" i="1" spc="-60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60522" y="277748"/>
            <a:ext cx="286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3680" algn="l"/>
              </a:tabLst>
            </a:pPr>
            <a:r>
              <a:rPr sz="2400" b="1" u="sng" spc="-20" dirty="0">
                <a:latin typeface="Arial"/>
                <a:cs typeface="Arial"/>
              </a:rPr>
              <a:t>VIRTUAL	</a:t>
            </a:r>
            <a:r>
              <a:rPr sz="2400" b="1" u="sng" spc="-40" dirty="0">
                <a:latin typeface="Arial"/>
                <a:cs typeface="Arial"/>
              </a:rPr>
              <a:t>MEMORY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240" y="896111"/>
            <a:ext cx="8305800" cy="54292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314">
              <a:lnSpc>
                <a:spcPts val="1920"/>
              </a:lnSpc>
            </a:pPr>
            <a:r>
              <a:rPr sz="1800" b="1" spc="-30" dirty="0">
                <a:latin typeface="Arial"/>
                <a:cs typeface="Arial"/>
              </a:rPr>
              <a:t>Give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programmer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illusion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very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large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memory,</a:t>
            </a:r>
            <a:endParaRPr sz="1800">
              <a:latin typeface="Arial"/>
              <a:cs typeface="Arial"/>
            </a:endParaRPr>
          </a:p>
          <a:p>
            <a:pPr marL="107314">
              <a:lnSpc>
                <a:spcPts val="2135"/>
              </a:lnSpc>
            </a:pPr>
            <a:r>
              <a:rPr sz="1800" b="1" spc="-25" dirty="0">
                <a:latin typeface="Arial"/>
                <a:cs typeface="Arial"/>
              </a:rPr>
              <a:t>even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though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computer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actually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5" dirty="0">
                <a:latin typeface="Arial"/>
                <a:cs typeface="Arial"/>
              </a:rPr>
              <a:t> a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relatively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small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main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8723" y="1621663"/>
            <a:ext cx="590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4470" algn="l"/>
              </a:tabLst>
            </a:pP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Space(Logical)	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Space(Physical)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9038" y="2406776"/>
            <a:ext cx="1413510" cy="4540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5"/>
              </a:spcBef>
            </a:pPr>
            <a:r>
              <a:rPr sz="1400" b="1" spc="-15" dirty="0">
                <a:latin typeface="Arial"/>
                <a:cs typeface="Arial"/>
              </a:rPr>
              <a:t>virtual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address 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(</a:t>
            </a:r>
            <a:r>
              <a:rPr sz="1400" b="1" spc="-5" dirty="0">
                <a:latin typeface="Arial"/>
                <a:cs typeface="Arial"/>
              </a:rPr>
              <a:t>l</a:t>
            </a:r>
            <a:r>
              <a:rPr sz="1400" b="1" spc="-20" dirty="0">
                <a:latin typeface="Arial"/>
                <a:cs typeface="Arial"/>
              </a:rPr>
              <a:t>og</a:t>
            </a:r>
            <a:r>
              <a:rPr sz="1400" b="1" spc="-5" dirty="0">
                <a:latin typeface="Arial"/>
                <a:cs typeface="Arial"/>
              </a:rPr>
              <a:t>i</a:t>
            </a:r>
            <a:r>
              <a:rPr sz="1400" b="1" spc="-15" dirty="0">
                <a:latin typeface="Arial"/>
                <a:cs typeface="Arial"/>
              </a:rPr>
              <a:t>ca</a:t>
            </a:r>
            <a:r>
              <a:rPr sz="1400" b="1" spc="-5" dirty="0">
                <a:latin typeface="Arial"/>
                <a:cs typeface="Arial"/>
              </a:rPr>
              <a:t>l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dd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15" dirty="0">
                <a:latin typeface="Arial"/>
                <a:cs typeface="Arial"/>
              </a:rPr>
              <a:t>ess</a:t>
            </a:r>
            <a:r>
              <a:rPr sz="1400" b="1" spc="-5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8366" y="2558872"/>
            <a:ext cx="144399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latin typeface="Arial"/>
                <a:cs typeface="Arial"/>
              </a:rPr>
              <a:t>physical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address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29777" y="2224849"/>
            <a:ext cx="4584700" cy="845185"/>
            <a:chOff x="2029777" y="2224849"/>
            <a:chExt cx="4584700" cy="845185"/>
          </a:xfrm>
        </p:grpSpPr>
        <p:sp>
          <p:nvSpPr>
            <p:cNvPr id="13" name="object 13"/>
            <p:cNvSpPr/>
            <p:nvPr/>
          </p:nvSpPr>
          <p:spPr>
            <a:xfrm>
              <a:off x="2042159" y="2237231"/>
              <a:ext cx="4559935" cy="820419"/>
            </a:xfrm>
            <a:custGeom>
              <a:avLst/>
              <a:gdLst/>
              <a:ahLst/>
              <a:cxnLst/>
              <a:rect l="l" t="t" r="r" b="b"/>
              <a:pathLst>
                <a:path w="4559934" h="820419">
                  <a:moveTo>
                    <a:pt x="0" y="409828"/>
                  </a:moveTo>
                  <a:lnTo>
                    <a:pt x="8889" y="351916"/>
                  </a:lnTo>
                  <a:lnTo>
                    <a:pt x="34670" y="296417"/>
                  </a:lnTo>
                  <a:lnTo>
                    <a:pt x="76326" y="243966"/>
                  </a:lnTo>
                  <a:lnTo>
                    <a:pt x="132460" y="195071"/>
                  </a:lnTo>
                  <a:lnTo>
                    <a:pt x="165481" y="172212"/>
                  </a:lnTo>
                  <a:lnTo>
                    <a:pt x="201802" y="150494"/>
                  </a:lnTo>
                  <a:lnTo>
                    <a:pt x="241172" y="129920"/>
                  </a:lnTo>
                  <a:lnTo>
                    <a:pt x="283337" y="110489"/>
                  </a:lnTo>
                  <a:lnTo>
                    <a:pt x="328294" y="92455"/>
                  </a:lnTo>
                  <a:lnTo>
                    <a:pt x="375792" y="75818"/>
                  </a:lnTo>
                  <a:lnTo>
                    <a:pt x="425703" y="60705"/>
                  </a:lnTo>
                  <a:lnTo>
                    <a:pt x="477900" y="46989"/>
                  </a:lnTo>
                  <a:lnTo>
                    <a:pt x="532257" y="34925"/>
                  </a:lnTo>
                  <a:lnTo>
                    <a:pt x="588644" y="24510"/>
                  </a:lnTo>
                  <a:lnTo>
                    <a:pt x="646683" y="15875"/>
                  </a:lnTo>
                  <a:lnTo>
                    <a:pt x="706501" y="9016"/>
                  </a:lnTo>
                  <a:lnTo>
                    <a:pt x="767714" y="4063"/>
                  </a:lnTo>
                  <a:lnTo>
                    <a:pt x="830452" y="1015"/>
                  </a:lnTo>
                  <a:lnTo>
                    <a:pt x="894333" y="0"/>
                  </a:lnTo>
                  <a:lnTo>
                    <a:pt x="958214" y="1015"/>
                  </a:lnTo>
                  <a:lnTo>
                    <a:pt x="1020826" y="4063"/>
                  </a:lnTo>
                  <a:lnTo>
                    <a:pt x="1082166" y="9016"/>
                  </a:lnTo>
                  <a:lnTo>
                    <a:pt x="1141857" y="15875"/>
                  </a:lnTo>
                  <a:lnTo>
                    <a:pt x="1200022" y="24510"/>
                  </a:lnTo>
                  <a:lnTo>
                    <a:pt x="1256284" y="34925"/>
                  </a:lnTo>
                  <a:lnTo>
                    <a:pt x="1310639" y="46989"/>
                  </a:lnTo>
                  <a:lnTo>
                    <a:pt x="1362837" y="60705"/>
                  </a:lnTo>
                  <a:lnTo>
                    <a:pt x="1412748" y="75818"/>
                  </a:lnTo>
                  <a:lnTo>
                    <a:pt x="1460245" y="92455"/>
                  </a:lnTo>
                  <a:lnTo>
                    <a:pt x="1505203" y="110489"/>
                  </a:lnTo>
                  <a:lnTo>
                    <a:pt x="1547494" y="129920"/>
                  </a:lnTo>
                  <a:lnTo>
                    <a:pt x="1586738" y="150494"/>
                  </a:lnTo>
                  <a:lnTo>
                    <a:pt x="1623060" y="172212"/>
                  </a:lnTo>
                  <a:lnTo>
                    <a:pt x="1656206" y="195071"/>
                  </a:lnTo>
                  <a:lnTo>
                    <a:pt x="1686052" y="219075"/>
                  </a:lnTo>
                  <a:lnTo>
                    <a:pt x="1734947" y="269747"/>
                  </a:lnTo>
                  <a:lnTo>
                    <a:pt x="1768855" y="323850"/>
                  </a:lnTo>
                  <a:lnTo>
                    <a:pt x="1786381" y="380618"/>
                  </a:lnTo>
                  <a:lnTo>
                    <a:pt x="1788667" y="409828"/>
                  </a:lnTo>
                  <a:lnTo>
                    <a:pt x="1786381" y="439165"/>
                  </a:lnTo>
                  <a:lnTo>
                    <a:pt x="1768855" y="495934"/>
                  </a:lnTo>
                  <a:lnTo>
                    <a:pt x="1734947" y="550037"/>
                  </a:lnTo>
                  <a:lnTo>
                    <a:pt x="1686052" y="600709"/>
                  </a:lnTo>
                  <a:lnTo>
                    <a:pt x="1656206" y="624713"/>
                  </a:lnTo>
                  <a:lnTo>
                    <a:pt x="1623060" y="647572"/>
                  </a:lnTo>
                  <a:lnTo>
                    <a:pt x="1586738" y="669416"/>
                  </a:lnTo>
                  <a:lnTo>
                    <a:pt x="1547494" y="689990"/>
                  </a:lnTo>
                  <a:lnTo>
                    <a:pt x="1505203" y="709294"/>
                  </a:lnTo>
                  <a:lnTo>
                    <a:pt x="1460245" y="727328"/>
                  </a:lnTo>
                  <a:lnTo>
                    <a:pt x="1412748" y="743965"/>
                  </a:lnTo>
                  <a:lnTo>
                    <a:pt x="1362837" y="759205"/>
                  </a:lnTo>
                  <a:lnTo>
                    <a:pt x="1310639" y="772921"/>
                  </a:lnTo>
                  <a:lnTo>
                    <a:pt x="1256284" y="784987"/>
                  </a:lnTo>
                  <a:lnTo>
                    <a:pt x="1200022" y="795273"/>
                  </a:lnTo>
                  <a:lnTo>
                    <a:pt x="1141857" y="804037"/>
                  </a:lnTo>
                  <a:lnTo>
                    <a:pt x="1082166" y="810894"/>
                  </a:lnTo>
                  <a:lnTo>
                    <a:pt x="1020826" y="815847"/>
                  </a:lnTo>
                  <a:lnTo>
                    <a:pt x="958214" y="818895"/>
                  </a:lnTo>
                  <a:lnTo>
                    <a:pt x="894333" y="819912"/>
                  </a:lnTo>
                  <a:lnTo>
                    <a:pt x="830452" y="818895"/>
                  </a:lnTo>
                  <a:lnTo>
                    <a:pt x="767714" y="815847"/>
                  </a:lnTo>
                  <a:lnTo>
                    <a:pt x="706501" y="810894"/>
                  </a:lnTo>
                  <a:lnTo>
                    <a:pt x="646683" y="804037"/>
                  </a:lnTo>
                  <a:lnTo>
                    <a:pt x="588644" y="795273"/>
                  </a:lnTo>
                  <a:lnTo>
                    <a:pt x="532257" y="784987"/>
                  </a:lnTo>
                  <a:lnTo>
                    <a:pt x="477900" y="772921"/>
                  </a:lnTo>
                  <a:lnTo>
                    <a:pt x="425703" y="759205"/>
                  </a:lnTo>
                  <a:lnTo>
                    <a:pt x="375792" y="743965"/>
                  </a:lnTo>
                  <a:lnTo>
                    <a:pt x="328294" y="727328"/>
                  </a:lnTo>
                  <a:lnTo>
                    <a:pt x="283337" y="709294"/>
                  </a:lnTo>
                  <a:lnTo>
                    <a:pt x="241172" y="689990"/>
                  </a:lnTo>
                  <a:lnTo>
                    <a:pt x="201802" y="669416"/>
                  </a:lnTo>
                  <a:lnTo>
                    <a:pt x="165481" y="647572"/>
                  </a:lnTo>
                  <a:lnTo>
                    <a:pt x="132460" y="624713"/>
                  </a:lnTo>
                  <a:lnTo>
                    <a:pt x="102615" y="600709"/>
                  </a:lnTo>
                  <a:lnTo>
                    <a:pt x="53593" y="550037"/>
                  </a:lnTo>
                  <a:lnTo>
                    <a:pt x="19812" y="495934"/>
                  </a:lnTo>
                  <a:lnTo>
                    <a:pt x="2285" y="439165"/>
                  </a:lnTo>
                  <a:lnTo>
                    <a:pt x="0" y="409828"/>
                  </a:lnTo>
                  <a:close/>
                </a:path>
                <a:path w="4559934" h="820419">
                  <a:moveTo>
                    <a:pt x="2772155" y="409828"/>
                  </a:moveTo>
                  <a:lnTo>
                    <a:pt x="2781045" y="351916"/>
                  </a:lnTo>
                  <a:lnTo>
                    <a:pt x="2806954" y="296417"/>
                  </a:lnTo>
                  <a:lnTo>
                    <a:pt x="2848482" y="243966"/>
                  </a:lnTo>
                  <a:lnTo>
                    <a:pt x="2904616" y="195071"/>
                  </a:lnTo>
                  <a:lnTo>
                    <a:pt x="2937637" y="172212"/>
                  </a:lnTo>
                  <a:lnTo>
                    <a:pt x="2973959" y="150494"/>
                  </a:lnTo>
                  <a:lnTo>
                    <a:pt x="3013329" y="129920"/>
                  </a:lnTo>
                  <a:lnTo>
                    <a:pt x="3055492" y="110489"/>
                  </a:lnTo>
                  <a:lnTo>
                    <a:pt x="3100324" y="92455"/>
                  </a:lnTo>
                  <a:lnTo>
                    <a:pt x="3147822" y="75818"/>
                  </a:lnTo>
                  <a:lnTo>
                    <a:pt x="3197732" y="60705"/>
                  </a:lnTo>
                  <a:lnTo>
                    <a:pt x="3249929" y="46989"/>
                  </a:lnTo>
                  <a:lnTo>
                    <a:pt x="3304286" y="34925"/>
                  </a:lnTo>
                  <a:lnTo>
                    <a:pt x="3360547" y="24510"/>
                  </a:lnTo>
                  <a:lnTo>
                    <a:pt x="3418586" y="15875"/>
                  </a:lnTo>
                  <a:lnTo>
                    <a:pt x="3478276" y="9016"/>
                  </a:lnTo>
                  <a:lnTo>
                    <a:pt x="3539616" y="4063"/>
                  </a:lnTo>
                  <a:lnTo>
                    <a:pt x="3602228" y="1015"/>
                  </a:lnTo>
                  <a:lnTo>
                    <a:pt x="3665981" y="0"/>
                  </a:lnTo>
                  <a:lnTo>
                    <a:pt x="3729863" y="1015"/>
                  </a:lnTo>
                  <a:lnTo>
                    <a:pt x="3792474" y="4063"/>
                  </a:lnTo>
                  <a:lnTo>
                    <a:pt x="3853688" y="9016"/>
                  </a:lnTo>
                  <a:lnTo>
                    <a:pt x="3913378" y="15875"/>
                  </a:lnTo>
                  <a:lnTo>
                    <a:pt x="3971543" y="24510"/>
                  </a:lnTo>
                  <a:lnTo>
                    <a:pt x="4027804" y="34925"/>
                  </a:lnTo>
                  <a:lnTo>
                    <a:pt x="4082034" y="46989"/>
                  </a:lnTo>
                  <a:lnTo>
                    <a:pt x="4134230" y="60705"/>
                  </a:lnTo>
                  <a:lnTo>
                    <a:pt x="4184141" y="75818"/>
                  </a:lnTo>
                  <a:lnTo>
                    <a:pt x="4231640" y="92455"/>
                  </a:lnTo>
                  <a:lnTo>
                    <a:pt x="4276470" y="110489"/>
                  </a:lnTo>
                  <a:lnTo>
                    <a:pt x="4318635" y="129920"/>
                  </a:lnTo>
                  <a:lnTo>
                    <a:pt x="4358005" y="150494"/>
                  </a:lnTo>
                  <a:lnTo>
                    <a:pt x="4394327" y="172212"/>
                  </a:lnTo>
                  <a:lnTo>
                    <a:pt x="4427347" y="195071"/>
                  </a:lnTo>
                  <a:lnTo>
                    <a:pt x="4457192" y="219075"/>
                  </a:lnTo>
                  <a:lnTo>
                    <a:pt x="4506087" y="269747"/>
                  </a:lnTo>
                  <a:lnTo>
                    <a:pt x="4539995" y="323850"/>
                  </a:lnTo>
                  <a:lnTo>
                    <a:pt x="4557395" y="380618"/>
                  </a:lnTo>
                  <a:lnTo>
                    <a:pt x="4559681" y="409828"/>
                  </a:lnTo>
                  <a:lnTo>
                    <a:pt x="4557395" y="439165"/>
                  </a:lnTo>
                  <a:lnTo>
                    <a:pt x="4539995" y="495934"/>
                  </a:lnTo>
                  <a:lnTo>
                    <a:pt x="4506087" y="550037"/>
                  </a:lnTo>
                  <a:lnTo>
                    <a:pt x="4457192" y="600709"/>
                  </a:lnTo>
                  <a:lnTo>
                    <a:pt x="4427347" y="624713"/>
                  </a:lnTo>
                  <a:lnTo>
                    <a:pt x="4394327" y="647572"/>
                  </a:lnTo>
                  <a:lnTo>
                    <a:pt x="4358005" y="669416"/>
                  </a:lnTo>
                  <a:lnTo>
                    <a:pt x="4318635" y="689990"/>
                  </a:lnTo>
                  <a:lnTo>
                    <a:pt x="4276470" y="709294"/>
                  </a:lnTo>
                  <a:lnTo>
                    <a:pt x="4231640" y="727328"/>
                  </a:lnTo>
                  <a:lnTo>
                    <a:pt x="4184141" y="743965"/>
                  </a:lnTo>
                  <a:lnTo>
                    <a:pt x="4134230" y="759205"/>
                  </a:lnTo>
                  <a:lnTo>
                    <a:pt x="4082034" y="772921"/>
                  </a:lnTo>
                  <a:lnTo>
                    <a:pt x="4027804" y="784987"/>
                  </a:lnTo>
                  <a:lnTo>
                    <a:pt x="3971543" y="795273"/>
                  </a:lnTo>
                  <a:lnTo>
                    <a:pt x="3913378" y="804037"/>
                  </a:lnTo>
                  <a:lnTo>
                    <a:pt x="3853688" y="810894"/>
                  </a:lnTo>
                  <a:lnTo>
                    <a:pt x="3792474" y="815847"/>
                  </a:lnTo>
                  <a:lnTo>
                    <a:pt x="3729863" y="818895"/>
                  </a:lnTo>
                  <a:lnTo>
                    <a:pt x="3665981" y="819912"/>
                  </a:lnTo>
                  <a:lnTo>
                    <a:pt x="3602228" y="818895"/>
                  </a:lnTo>
                  <a:lnTo>
                    <a:pt x="3539616" y="815847"/>
                  </a:lnTo>
                  <a:lnTo>
                    <a:pt x="3478276" y="810894"/>
                  </a:lnTo>
                  <a:lnTo>
                    <a:pt x="3418586" y="804037"/>
                  </a:lnTo>
                  <a:lnTo>
                    <a:pt x="3360547" y="795273"/>
                  </a:lnTo>
                  <a:lnTo>
                    <a:pt x="3304286" y="784987"/>
                  </a:lnTo>
                  <a:lnTo>
                    <a:pt x="3249929" y="772921"/>
                  </a:lnTo>
                  <a:lnTo>
                    <a:pt x="3197732" y="759205"/>
                  </a:lnTo>
                  <a:lnTo>
                    <a:pt x="3147822" y="743965"/>
                  </a:lnTo>
                  <a:lnTo>
                    <a:pt x="3100324" y="727328"/>
                  </a:lnTo>
                  <a:lnTo>
                    <a:pt x="3055492" y="709294"/>
                  </a:lnTo>
                  <a:lnTo>
                    <a:pt x="3013329" y="689990"/>
                  </a:lnTo>
                  <a:lnTo>
                    <a:pt x="2973959" y="669416"/>
                  </a:lnTo>
                  <a:lnTo>
                    <a:pt x="2937637" y="647572"/>
                  </a:lnTo>
                  <a:lnTo>
                    <a:pt x="2904616" y="624713"/>
                  </a:lnTo>
                  <a:lnTo>
                    <a:pt x="2874772" y="600709"/>
                  </a:lnTo>
                  <a:lnTo>
                    <a:pt x="2825750" y="550037"/>
                  </a:lnTo>
                  <a:lnTo>
                    <a:pt x="2791967" y="495934"/>
                  </a:lnTo>
                  <a:lnTo>
                    <a:pt x="2774441" y="439165"/>
                  </a:lnTo>
                  <a:lnTo>
                    <a:pt x="2772155" y="409828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31920" y="2612135"/>
              <a:ext cx="792480" cy="76200"/>
            </a:xfrm>
            <a:custGeom>
              <a:avLst/>
              <a:gdLst/>
              <a:ahLst/>
              <a:cxnLst/>
              <a:rect l="l" t="t" r="r" b="b"/>
              <a:pathLst>
                <a:path w="792479" h="76200">
                  <a:moveTo>
                    <a:pt x="792099" y="38100"/>
                  </a:moveTo>
                  <a:lnTo>
                    <a:pt x="766699" y="25400"/>
                  </a:lnTo>
                  <a:lnTo>
                    <a:pt x="715899" y="0"/>
                  </a:lnTo>
                  <a:lnTo>
                    <a:pt x="715899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715899" y="50800"/>
                  </a:lnTo>
                  <a:lnTo>
                    <a:pt x="715899" y="76200"/>
                  </a:lnTo>
                  <a:lnTo>
                    <a:pt x="766699" y="50800"/>
                  </a:lnTo>
                  <a:lnTo>
                    <a:pt x="79209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72410" y="1978863"/>
            <a:ext cx="12369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dd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15" dirty="0">
                <a:latin typeface="Arial"/>
                <a:cs typeface="Arial"/>
              </a:rPr>
              <a:t>es</a:t>
            </a:r>
            <a:r>
              <a:rPr sz="1400" b="1" spc="-5" dirty="0">
                <a:latin typeface="Arial"/>
                <a:cs typeface="Arial"/>
              </a:rPr>
              <a:t>s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s</a:t>
            </a:r>
            <a:r>
              <a:rPr sz="1400" b="1" spc="-20" dirty="0">
                <a:latin typeface="Arial"/>
                <a:cs typeface="Arial"/>
              </a:rPr>
              <a:t>p</a:t>
            </a:r>
            <a:r>
              <a:rPr sz="1400" b="1" spc="-15" dirty="0">
                <a:latin typeface="Arial"/>
                <a:cs typeface="Arial"/>
              </a:rPr>
              <a:t>ac</a:t>
            </a:r>
            <a:r>
              <a:rPr sz="1400" b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2253" y="2002358"/>
            <a:ext cx="125222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m</a:t>
            </a:r>
            <a:r>
              <a:rPr sz="1400" b="1" spc="-15" dirty="0">
                <a:latin typeface="Arial"/>
                <a:cs typeface="Arial"/>
              </a:rPr>
              <a:t>e</a:t>
            </a:r>
            <a:r>
              <a:rPr sz="1400" b="1" spc="-5" dirty="0">
                <a:latin typeface="Arial"/>
                <a:cs typeface="Arial"/>
              </a:rPr>
              <a:t>m</a:t>
            </a:r>
            <a:r>
              <a:rPr sz="1400" b="1" spc="-20" dirty="0">
                <a:latin typeface="Arial"/>
                <a:cs typeface="Arial"/>
              </a:rPr>
              <a:t>o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5" dirty="0">
                <a:latin typeface="Arial"/>
                <a:cs typeface="Arial"/>
              </a:rPr>
              <a:t>y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s</a:t>
            </a:r>
            <a:r>
              <a:rPr sz="1400" b="1" spc="-20" dirty="0">
                <a:latin typeface="Arial"/>
                <a:cs typeface="Arial"/>
              </a:rPr>
              <a:t>p</a:t>
            </a:r>
            <a:r>
              <a:rPr sz="1400" b="1" spc="-15" dirty="0">
                <a:latin typeface="Arial"/>
                <a:cs typeface="Arial"/>
              </a:rPr>
              <a:t>ac</a:t>
            </a:r>
            <a:r>
              <a:rPr sz="1400" b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1671" y="2370836"/>
            <a:ext cx="7524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Mapping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51750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047" y="3070987"/>
            <a:ext cx="7228840" cy="12776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0045" algn="ctr">
              <a:lnSpc>
                <a:spcPct val="100000"/>
              </a:lnSpc>
              <a:spcBef>
                <a:spcPts val="90"/>
              </a:spcBef>
              <a:tabLst>
                <a:tab pos="3451860" algn="l"/>
              </a:tabLst>
            </a:pPr>
            <a:r>
              <a:rPr sz="1400" b="1" spc="-15" dirty="0">
                <a:latin typeface="Arial"/>
                <a:cs typeface="Arial"/>
              </a:rPr>
              <a:t>address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generated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by</a:t>
            </a:r>
            <a:r>
              <a:rPr sz="1400" b="1" spc="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programs	actual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main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memory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address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endParaRPr sz="1800">
              <a:latin typeface="Arial"/>
              <a:cs typeface="Arial"/>
            </a:endParaRPr>
          </a:p>
          <a:p>
            <a:pPr marL="380365" algn="ctr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Mapping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spc="-30" dirty="0">
                <a:latin typeface="Arial"/>
                <a:cs typeface="Arial"/>
              </a:rPr>
              <a:t>Table</a:t>
            </a:r>
            <a:r>
              <a:rPr sz="1800" b="1" i="1" spc="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i="1" spc="-35" dirty="0">
                <a:latin typeface="Arial"/>
                <a:cs typeface="Arial"/>
              </a:rPr>
              <a:t>Virtual</a:t>
            </a:r>
            <a:r>
              <a:rPr sz="1800" b="1" i="1" spc="-8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Address</a:t>
            </a:r>
            <a:r>
              <a:rPr sz="1800" b="1" i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-&gt;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Physical</a:t>
            </a:r>
            <a:r>
              <a:rPr sz="1800" b="1" i="1" spc="-19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Address</a:t>
            </a:r>
            <a:endParaRPr sz="1800">
              <a:latin typeface="Arial"/>
              <a:cs typeface="Arial"/>
            </a:endParaRPr>
          </a:p>
          <a:p>
            <a:pPr marL="1585595">
              <a:lnSpc>
                <a:spcPct val="100000"/>
              </a:lnSpc>
              <a:spcBef>
                <a:spcPts val="91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0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dd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es</a:t>
            </a:r>
            <a:r>
              <a:rPr sz="1400" b="1" i="1" spc="-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57017" y="4717795"/>
            <a:ext cx="363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9885" algn="l"/>
              </a:tabLst>
            </a:pPr>
            <a:r>
              <a:rPr sz="1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88464" y="4663440"/>
            <a:ext cx="866140" cy="71374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165735" marR="110489" indent="66675" algn="just">
              <a:lnSpc>
                <a:spcPct val="89200"/>
              </a:lnSpc>
              <a:spcBef>
                <a:spcPts val="680"/>
              </a:spcBef>
            </a:pPr>
            <a:r>
              <a:rPr sz="1200" b="1" spc="-10" dirty="0">
                <a:latin typeface="Arial"/>
                <a:cs typeface="Arial"/>
              </a:rPr>
              <a:t>Virtual </a:t>
            </a:r>
            <a:r>
              <a:rPr sz="1200" b="1" spc="-3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d</a:t>
            </a:r>
            <a:r>
              <a:rPr sz="1200" b="1" spc="5" dirty="0">
                <a:latin typeface="Arial"/>
                <a:cs typeface="Arial"/>
              </a:rPr>
              <a:t>d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-25" dirty="0">
                <a:latin typeface="Arial"/>
                <a:cs typeface="Arial"/>
              </a:rPr>
              <a:t>e</a:t>
            </a:r>
            <a:r>
              <a:rPr sz="1200" b="1" dirty="0">
                <a:latin typeface="Arial"/>
                <a:cs typeface="Arial"/>
              </a:rPr>
              <a:t>ss  </a:t>
            </a:r>
            <a:r>
              <a:rPr sz="1200" b="1" spc="-5" dirty="0">
                <a:latin typeface="Arial"/>
                <a:cs typeface="Arial"/>
              </a:rPr>
              <a:t>register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44240" y="4337303"/>
            <a:ext cx="866140" cy="136271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107950" marR="113030" algn="ctr">
              <a:lnSpc>
                <a:spcPct val="88400"/>
              </a:lnSpc>
            </a:pPr>
            <a:r>
              <a:rPr sz="1200" b="1" spc="-10" dirty="0">
                <a:latin typeface="Arial"/>
                <a:cs typeface="Arial"/>
              </a:rPr>
              <a:t>Memory 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pp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10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g  table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04815" y="4663440"/>
            <a:ext cx="1115695" cy="71374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02260" marR="43815" indent="-210820">
              <a:lnSpc>
                <a:spcPct val="89200"/>
              </a:lnSpc>
              <a:spcBef>
                <a:spcPts val="285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ain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y  </a:t>
            </a:r>
            <a:r>
              <a:rPr sz="1200" b="1" spc="-5" dirty="0">
                <a:latin typeface="Arial"/>
                <a:cs typeface="Arial"/>
              </a:rPr>
              <a:t>address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register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98335" y="4465320"/>
            <a:ext cx="786765" cy="110680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89535" marR="97155" indent="118745">
              <a:lnSpc>
                <a:spcPts val="1320"/>
              </a:lnSpc>
            </a:pPr>
            <a:r>
              <a:rPr sz="1200" b="1" spc="-5" dirty="0">
                <a:latin typeface="Arial"/>
                <a:cs typeface="Arial"/>
              </a:rPr>
              <a:t>Main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78607" y="4337303"/>
            <a:ext cx="4410710" cy="1884045"/>
            <a:chOff x="2578607" y="4337303"/>
            <a:chExt cx="4410710" cy="1884045"/>
          </a:xfrm>
        </p:grpSpPr>
        <p:sp>
          <p:nvSpPr>
            <p:cNvPr id="26" name="object 26"/>
            <p:cNvSpPr/>
            <p:nvPr/>
          </p:nvSpPr>
          <p:spPr>
            <a:xfrm>
              <a:off x="2578607" y="4538471"/>
              <a:ext cx="100330" cy="109855"/>
            </a:xfrm>
            <a:custGeom>
              <a:avLst/>
              <a:gdLst/>
              <a:ahLst/>
              <a:cxnLst/>
              <a:rect l="l" t="t" r="r" b="b"/>
              <a:pathLst>
                <a:path w="100330" h="109854">
                  <a:moveTo>
                    <a:pt x="50800" y="0"/>
                  </a:moveTo>
                  <a:lnTo>
                    <a:pt x="37718" y="634"/>
                  </a:lnTo>
                  <a:lnTo>
                    <a:pt x="24892" y="2412"/>
                  </a:lnTo>
                  <a:lnTo>
                    <a:pt x="12192" y="5333"/>
                  </a:lnTo>
                  <a:lnTo>
                    <a:pt x="0" y="9397"/>
                  </a:lnTo>
                  <a:lnTo>
                    <a:pt x="50800" y="109727"/>
                  </a:lnTo>
                  <a:lnTo>
                    <a:pt x="100203" y="8889"/>
                  </a:lnTo>
                  <a:lnTo>
                    <a:pt x="88392" y="5079"/>
                  </a:lnTo>
                  <a:lnTo>
                    <a:pt x="76073" y="2285"/>
                  </a:lnTo>
                  <a:lnTo>
                    <a:pt x="63500" y="507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27375" y="4337303"/>
              <a:ext cx="0" cy="210185"/>
            </a:xfrm>
            <a:custGeom>
              <a:avLst/>
              <a:gdLst/>
              <a:ahLst/>
              <a:cxnLst/>
              <a:rect l="l" t="t" r="r" b="b"/>
              <a:pathLst>
                <a:path h="210185">
                  <a:moveTo>
                    <a:pt x="0" y="0"/>
                  </a:moveTo>
                  <a:lnTo>
                    <a:pt x="0" y="209931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6223" y="4940807"/>
              <a:ext cx="124967" cy="8839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34383" y="5864351"/>
              <a:ext cx="100330" cy="113030"/>
            </a:xfrm>
            <a:custGeom>
              <a:avLst/>
              <a:gdLst/>
              <a:ahLst/>
              <a:cxnLst/>
              <a:rect l="l" t="t" r="r" b="b"/>
              <a:pathLst>
                <a:path w="100329" h="113029">
                  <a:moveTo>
                    <a:pt x="50800" y="0"/>
                  </a:moveTo>
                  <a:lnTo>
                    <a:pt x="37718" y="609"/>
                  </a:lnTo>
                  <a:lnTo>
                    <a:pt x="24891" y="2438"/>
                  </a:lnTo>
                  <a:lnTo>
                    <a:pt x="12191" y="5461"/>
                  </a:lnTo>
                  <a:lnTo>
                    <a:pt x="0" y="9652"/>
                  </a:lnTo>
                  <a:lnTo>
                    <a:pt x="50800" y="112776"/>
                  </a:lnTo>
                  <a:lnTo>
                    <a:pt x="100202" y="9105"/>
                  </a:lnTo>
                  <a:lnTo>
                    <a:pt x="88391" y="5156"/>
                  </a:lnTo>
                  <a:lnTo>
                    <a:pt x="76073" y="2298"/>
                  </a:lnTo>
                  <a:lnTo>
                    <a:pt x="63500" y="584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83151" y="5702807"/>
              <a:ext cx="635" cy="173990"/>
            </a:xfrm>
            <a:custGeom>
              <a:avLst/>
              <a:gdLst/>
              <a:ahLst/>
              <a:cxnLst/>
              <a:rect l="l" t="t" r="r" b="b"/>
              <a:pathLst>
                <a:path w="635" h="173989">
                  <a:moveTo>
                    <a:pt x="317" y="-12192"/>
                  </a:moveTo>
                  <a:lnTo>
                    <a:pt x="317" y="185927"/>
                  </a:lnTo>
                </a:path>
              </a:pathLst>
            </a:custGeom>
            <a:ln w="250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75047" y="6129527"/>
              <a:ext cx="121920" cy="91440"/>
            </a:xfrm>
            <a:custGeom>
              <a:avLst/>
              <a:gdLst/>
              <a:ahLst/>
              <a:cxnLst/>
              <a:rect l="l" t="t" r="r" b="b"/>
              <a:pathLst>
                <a:path w="121920" h="91439">
                  <a:moveTo>
                    <a:pt x="10413" y="0"/>
                  </a:moveTo>
                  <a:lnTo>
                    <a:pt x="5841" y="11150"/>
                  </a:lnTo>
                  <a:lnTo>
                    <a:pt x="2539" y="22656"/>
                  </a:lnTo>
                  <a:lnTo>
                    <a:pt x="635" y="34417"/>
                  </a:lnTo>
                  <a:lnTo>
                    <a:pt x="0" y="46342"/>
                  </a:lnTo>
                  <a:lnTo>
                    <a:pt x="635" y="57924"/>
                  </a:lnTo>
                  <a:lnTo>
                    <a:pt x="2412" y="69367"/>
                  </a:lnTo>
                  <a:lnTo>
                    <a:pt x="5461" y="80556"/>
                  </a:lnTo>
                  <a:lnTo>
                    <a:pt x="9778" y="91440"/>
                  </a:lnTo>
                  <a:lnTo>
                    <a:pt x="121919" y="46342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49698" y="6179718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17" y="0"/>
                  </a:lnTo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03063" y="4465319"/>
              <a:ext cx="835025" cy="0"/>
            </a:xfrm>
            <a:custGeom>
              <a:avLst/>
              <a:gdLst/>
              <a:ahLst/>
              <a:cxnLst/>
              <a:rect l="l" t="t" r="r" b="b"/>
              <a:pathLst>
                <a:path w="835025">
                  <a:moveTo>
                    <a:pt x="0" y="0"/>
                  </a:moveTo>
                  <a:lnTo>
                    <a:pt x="834771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71159" y="4538471"/>
              <a:ext cx="104139" cy="109855"/>
            </a:xfrm>
            <a:custGeom>
              <a:avLst/>
              <a:gdLst/>
              <a:ahLst/>
              <a:cxnLst/>
              <a:rect l="l" t="t" r="r" b="b"/>
              <a:pathLst>
                <a:path w="104139" h="109854">
                  <a:moveTo>
                    <a:pt x="52577" y="0"/>
                  </a:moveTo>
                  <a:lnTo>
                    <a:pt x="39115" y="634"/>
                  </a:lnTo>
                  <a:lnTo>
                    <a:pt x="25653" y="2412"/>
                  </a:lnTo>
                  <a:lnTo>
                    <a:pt x="12700" y="5333"/>
                  </a:lnTo>
                  <a:lnTo>
                    <a:pt x="0" y="9397"/>
                  </a:lnTo>
                  <a:lnTo>
                    <a:pt x="52577" y="109727"/>
                  </a:lnTo>
                  <a:lnTo>
                    <a:pt x="103631" y="8889"/>
                  </a:lnTo>
                  <a:lnTo>
                    <a:pt x="91312" y="5079"/>
                  </a:lnTo>
                  <a:lnTo>
                    <a:pt x="78739" y="2285"/>
                  </a:lnTo>
                  <a:lnTo>
                    <a:pt x="65786" y="507"/>
                  </a:lnTo>
                  <a:lnTo>
                    <a:pt x="525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22975" y="4465319"/>
              <a:ext cx="0" cy="82550"/>
            </a:xfrm>
            <a:custGeom>
              <a:avLst/>
              <a:gdLst/>
              <a:ahLst/>
              <a:cxnLst/>
              <a:rect l="l" t="t" r="r" b="b"/>
              <a:pathLst>
                <a:path h="82550">
                  <a:moveTo>
                    <a:pt x="0" y="0"/>
                  </a:moveTo>
                  <a:lnTo>
                    <a:pt x="0" y="8229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64223" y="4943855"/>
              <a:ext cx="125095" cy="91440"/>
            </a:xfrm>
            <a:custGeom>
              <a:avLst/>
              <a:gdLst/>
              <a:ahLst/>
              <a:cxnLst/>
              <a:rect l="l" t="t" r="r" b="b"/>
              <a:pathLst>
                <a:path w="125095" h="91439">
                  <a:moveTo>
                    <a:pt x="10667" y="0"/>
                  </a:moveTo>
                  <a:lnTo>
                    <a:pt x="5968" y="11176"/>
                  </a:lnTo>
                  <a:lnTo>
                    <a:pt x="2666" y="22733"/>
                  </a:lnTo>
                  <a:lnTo>
                    <a:pt x="635" y="34417"/>
                  </a:lnTo>
                  <a:lnTo>
                    <a:pt x="0" y="46355"/>
                  </a:lnTo>
                  <a:lnTo>
                    <a:pt x="635" y="57912"/>
                  </a:lnTo>
                  <a:lnTo>
                    <a:pt x="2539" y="69342"/>
                  </a:lnTo>
                  <a:lnTo>
                    <a:pt x="5587" y="80518"/>
                  </a:lnTo>
                  <a:lnTo>
                    <a:pt x="10033" y="91440"/>
                  </a:lnTo>
                  <a:lnTo>
                    <a:pt x="124967" y="46355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17336" y="4995671"/>
              <a:ext cx="250190" cy="0"/>
            </a:xfrm>
            <a:custGeom>
              <a:avLst/>
              <a:gdLst/>
              <a:ahLst/>
              <a:cxnLst/>
              <a:rect l="l" t="t" r="r" b="b"/>
              <a:pathLst>
                <a:path w="250189">
                  <a:moveTo>
                    <a:pt x="0" y="0"/>
                  </a:moveTo>
                  <a:lnTo>
                    <a:pt x="249681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8479" y="5864351"/>
              <a:ext cx="100583" cy="1127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693919" y="4447031"/>
              <a:ext cx="2243455" cy="1743075"/>
            </a:xfrm>
            <a:custGeom>
              <a:avLst/>
              <a:gdLst/>
              <a:ahLst/>
              <a:cxnLst/>
              <a:rect l="l" t="t" r="r" b="b"/>
              <a:pathLst>
                <a:path w="2243454" h="1743075">
                  <a:moveTo>
                    <a:pt x="2243074" y="1131824"/>
                  </a:moveTo>
                  <a:lnTo>
                    <a:pt x="2243074" y="1428610"/>
                  </a:lnTo>
                </a:path>
                <a:path w="2243454" h="1743075">
                  <a:moveTo>
                    <a:pt x="126" y="0"/>
                  </a:moveTo>
                  <a:lnTo>
                    <a:pt x="0" y="174288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782058" y="5627014"/>
            <a:ext cx="739775" cy="429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90"/>
              </a:spcBef>
            </a:pPr>
            <a:r>
              <a:rPr sz="1400" b="1" i="1" spc="-15" dirty="0">
                <a:latin typeface="Arial"/>
                <a:cs typeface="Arial"/>
              </a:rPr>
              <a:t>Physical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sz="1400" b="1" i="1" spc="-10" dirty="0">
                <a:latin typeface="Arial"/>
                <a:cs typeface="Arial"/>
              </a:rPr>
              <a:t>Address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00984" y="5995415"/>
            <a:ext cx="1152525" cy="37211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3345">
              <a:lnSpc>
                <a:spcPts val="1335"/>
              </a:lnSpc>
              <a:spcBef>
                <a:spcPts val="135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y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  <a:p>
            <a:pPr marL="60960">
              <a:lnSpc>
                <a:spcPts val="1335"/>
              </a:lnSpc>
            </a:pP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5" dirty="0">
                <a:latin typeface="Arial"/>
                <a:cs typeface="Arial"/>
              </a:rPr>
              <a:t>ff</a:t>
            </a:r>
            <a:r>
              <a:rPr sz="1200" b="1" spc="-5" dirty="0">
                <a:latin typeface="Arial"/>
                <a:cs typeface="Arial"/>
              </a:rPr>
              <a:t>er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39840" y="5995415"/>
            <a:ext cx="1167765" cy="37211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6045">
              <a:lnSpc>
                <a:spcPts val="1350"/>
              </a:lnSpc>
              <a:spcBef>
                <a:spcPts val="135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ain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106680">
              <a:lnSpc>
                <a:spcPts val="1350"/>
              </a:lnSpc>
            </a:pP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5" dirty="0">
                <a:latin typeface="Arial"/>
                <a:cs typeface="Arial"/>
              </a:rPr>
              <a:t>ff</a:t>
            </a:r>
            <a:r>
              <a:rPr sz="1200" b="1" spc="-5" dirty="0">
                <a:latin typeface="Arial"/>
                <a:cs typeface="Arial"/>
              </a:rPr>
              <a:t>er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er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921" y="271526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7995" y="3041650"/>
            <a:ext cx="6308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Organization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Table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048" y="268351"/>
            <a:ext cx="5835650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015">
              <a:lnSpc>
                <a:spcPct val="100000"/>
              </a:lnSpc>
              <a:spcBef>
                <a:spcPts val="100"/>
              </a:spcBef>
              <a:tabLst>
                <a:tab pos="4067810" algn="l"/>
              </a:tabLst>
            </a:pPr>
            <a:r>
              <a:rPr sz="2400" b="1" u="sng" spc="-15" dirty="0">
                <a:latin typeface="Arial"/>
                <a:cs typeface="Arial"/>
              </a:rPr>
              <a:t>ADDRESS	MAPPING</a:t>
            </a:r>
            <a:endParaRPr sz="2400" u="sng" dirty="0">
              <a:latin typeface="Arial"/>
              <a:cs typeface="Arial"/>
            </a:endParaRPr>
          </a:p>
          <a:p>
            <a:pPr marL="12700" marR="5080">
              <a:lnSpc>
                <a:spcPts val="1989"/>
              </a:lnSpc>
              <a:spcBef>
                <a:spcPts val="2080"/>
              </a:spcBef>
            </a:pPr>
            <a:r>
              <a:rPr sz="1800" b="1" spc="-5" dirty="0">
                <a:latin typeface="Arial"/>
                <a:cs typeface="Arial"/>
              </a:rPr>
              <a:t>Address </a:t>
            </a:r>
            <a:r>
              <a:rPr sz="1800" b="1" dirty="0">
                <a:latin typeface="Arial"/>
                <a:cs typeface="Arial"/>
              </a:rPr>
              <a:t>Space and Memory Space are each </a:t>
            </a:r>
            <a:r>
              <a:rPr sz="1800" b="1" spc="-5" dirty="0">
                <a:latin typeface="Arial"/>
                <a:cs typeface="Arial"/>
              </a:rPr>
              <a:t>divided </a:t>
            </a:r>
            <a:r>
              <a:rPr sz="1800" b="1" dirty="0">
                <a:latin typeface="Arial"/>
                <a:cs typeface="Arial"/>
              </a:rPr>
              <a:t> into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fixed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size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group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5" dirty="0">
                <a:latin typeface="Arial"/>
                <a:cs typeface="Arial"/>
              </a:rPr>
              <a:t>words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called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blocks</a:t>
            </a:r>
            <a:r>
              <a:rPr sz="1800" b="1" i="1" spc="4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pages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800" b="1" dirty="0">
                <a:latin typeface="Arial"/>
                <a:cs typeface="Arial"/>
              </a:rPr>
              <a:t>1K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words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group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718113" y="1525587"/>
          <a:ext cx="784225" cy="15017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13970" algn="ctr">
                        <a:lnSpc>
                          <a:spcPts val="141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49">
                <a:tc>
                  <a:txBody>
                    <a:bodyPr/>
                    <a:lstStyle/>
                    <a:p>
                      <a:pPr marL="13970" algn="ctr">
                        <a:lnSpc>
                          <a:spcPts val="138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11">
                <a:tc>
                  <a:txBody>
                    <a:bodyPr/>
                    <a:lstStyle/>
                    <a:p>
                      <a:pPr marL="13970" algn="ctr">
                        <a:lnSpc>
                          <a:spcPts val="133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151">
                <a:tc>
                  <a:txBody>
                    <a:bodyPr/>
                    <a:lstStyle/>
                    <a:p>
                      <a:pPr marL="13970" algn="ctr">
                        <a:lnSpc>
                          <a:spcPts val="143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737">
                <a:tc>
                  <a:txBody>
                    <a:bodyPr/>
                    <a:lstStyle/>
                    <a:p>
                      <a:pPr marL="13970" algn="ctr">
                        <a:lnSpc>
                          <a:spcPts val="133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262">
                <a:tc>
                  <a:txBody>
                    <a:bodyPr/>
                    <a:lstStyle/>
                    <a:p>
                      <a:pPr marL="13970" algn="ctr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13970" algn="ctr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12">
                <a:tc>
                  <a:txBody>
                    <a:bodyPr/>
                    <a:lstStyle/>
                    <a:p>
                      <a:pPr marL="13970" algn="ctr">
                        <a:lnSpc>
                          <a:spcPts val="119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51738" y="1990788"/>
          <a:ext cx="770890" cy="7412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R="69215" algn="r">
                        <a:lnSpc>
                          <a:spcPts val="141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262">
                <a:tc>
                  <a:txBody>
                    <a:bodyPr/>
                    <a:lstStyle/>
                    <a:p>
                      <a:pPr marR="69215" algn="r">
                        <a:lnSpc>
                          <a:spcPts val="140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69215" algn="r">
                        <a:lnSpc>
                          <a:spcPts val="14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12">
                <a:tc>
                  <a:txBody>
                    <a:bodyPr/>
                    <a:lstStyle/>
                    <a:p>
                      <a:pPr marR="69215" algn="r">
                        <a:lnSpc>
                          <a:spcPts val="119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422903" y="2034921"/>
            <a:ext cx="1151255" cy="3854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>
              <a:lnSpc>
                <a:spcPts val="1390"/>
              </a:lnSpc>
              <a:spcBef>
                <a:spcPts val="185"/>
              </a:spcBef>
            </a:pPr>
            <a:r>
              <a:rPr sz="1200" b="1" spc="-3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ace  N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8K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2</a:t>
            </a:r>
            <a:r>
              <a:rPr sz="1200" b="1" spc="-15" baseline="20833" dirty="0">
                <a:latin typeface="Arial"/>
                <a:cs typeface="Arial"/>
              </a:rPr>
              <a:t>13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62573" y="2084323"/>
            <a:ext cx="113093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37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Memory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ts val="1370"/>
              </a:lnSpc>
            </a:pPr>
            <a:r>
              <a:rPr sz="1200" b="1" dirty="0">
                <a:latin typeface="Arial"/>
                <a:cs typeface="Arial"/>
              </a:rPr>
              <a:t>M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4K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=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2</a:t>
            </a:r>
            <a:r>
              <a:rPr sz="1200" b="1" spc="-15" baseline="20833" dirty="0">
                <a:latin typeface="Arial"/>
                <a:cs typeface="Arial"/>
              </a:rPr>
              <a:t>12</a:t>
            </a:r>
            <a:endParaRPr sz="1200" baseline="2083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0233" y="4301744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0233" y="4478880"/>
            <a:ext cx="281940" cy="13836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b="1" spc="-5" dirty="0">
                <a:latin typeface="Arial"/>
                <a:cs typeface="Arial"/>
              </a:rPr>
              <a:t>001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200" b="1" dirty="0">
                <a:latin typeface="Arial"/>
                <a:cs typeface="Arial"/>
              </a:rPr>
              <a:t>010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  <a:spcBef>
                <a:spcPts val="60"/>
              </a:spcBef>
            </a:pPr>
            <a:r>
              <a:rPr sz="1200" b="1" spc="-40" dirty="0">
                <a:latin typeface="Arial"/>
                <a:cs typeface="Arial"/>
              </a:rPr>
              <a:t>011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b="1" spc="-5" dirty="0">
                <a:latin typeface="Arial"/>
                <a:cs typeface="Arial"/>
              </a:rPr>
              <a:t>100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101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spc="-40" dirty="0">
                <a:latin typeface="Arial"/>
                <a:cs typeface="Arial"/>
              </a:rPr>
              <a:t>110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145" dirty="0">
                <a:latin typeface="Arial"/>
                <a:cs typeface="Arial"/>
              </a:rPr>
              <a:t>111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472362" y="4479988"/>
          <a:ext cx="954405" cy="998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136">
                <a:tc>
                  <a:txBody>
                    <a:bodyPr/>
                    <a:lstStyle/>
                    <a:p>
                      <a:pPr marL="154940">
                        <a:lnSpc>
                          <a:spcPts val="143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154940">
                        <a:lnSpc>
                          <a:spcPts val="140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11">
                <a:tc>
                  <a:txBody>
                    <a:bodyPr/>
                    <a:lstStyle/>
                    <a:p>
                      <a:pPr marL="154940">
                        <a:lnSpc>
                          <a:spcPts val="133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925">
                <a:tc>
                  <a:txBody>
                    <a:bodyPr/>
                    <a:lstStyle/>
                    <a:p>
                      <a:pPr marL="154940">
                        <a:lnSpc>
                          <a:spcPts val="12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0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498080" y="5605271"/>
            <a:ext cx="966469" cy="19812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MBR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4335" y="4904232"/>
            <a:ext cx="341630" cy="18605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410"/>
              </a:lnSpc>
            </a:pP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5711" y="4904232"/>
            <a:ext cx="1393190" cy="18605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0">
              <a:lnSpc>
                <a:spcPts val="1410"/>
              </a:lnSpc>
            </a:pP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95600" y="3678935"/>
            <a:ext cx="3127375" cy="170815"/>
          </a:xfrm>
          <a:custGeom>
            <a:avLst/>
            <a:gdLst/>
            <a:ahLst/>
            <a:cxnLst/>
            <a:rect l="l" t="t" r="r" b="b"/>
            <a:pathLst>
              <a:path w="3127375" h="170814">
                <a:moveTo>
                  <a:pt x="0" y="170687"/>
                </a:moveTo>
                <a:lnTo>
                  <a:pt x="3126867" y="170687"/>
                </a:lnTo>
                <a:lnTo>
                  <a:pt x="3126867" y="0"/>
                </a:lnTo>
                <a:lnTo>
                  <a:pt x="0" y="0"/>
                </a:lnTo>
                <a:lnTo>
                  <a:pt x="0" y="170687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895600" y="3678935"/>
            <a:ext cx="802005" cy="17081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005">
              <a:lnSpc>
                <a:spcPts val="1345"/>
              </a:lnSpc>
            </a:pPr>
            <a:r>
              <a:rPr sz="1200" b="1" spc="-5" dirty="0">
                <a:latin typeface="Arial"/>
                <a:cs typeface="Arial"/>
              </a:rPr>
              <a:t>1</a:t>
            </a:r>
            <a:r>
              <a:rPr sz="1200" b="1" spc="2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2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97223" y="3678935"/>
            <a:ext cx="2338070" cy="170815"/>
          </a:xfrm>
          <a:custGeom>
            <a:avLst/>
            <a:gdLst/>
            <a:ahLst/>
            <a:cxnLst/>
            <a:rect l="l" t="t" r="r" b="b"/>
            <a:pathLst>
              <a:path w="2338070" h="170814">
                <a:moveTo>
                  <a:pt x="0" y="170687"/>
                </a:moveTo>
                <a:lnTo>
                  <a:pt x="2337816" y="170687"/>
                </a:lnTo>
                <a:lnTo>
                  <a:pt x="2337816" y="0"/>
                </a:lnTo>
                <a:lnTo>
                  <a:pt x="0" y="0"/>
                </a:lnTo>
                <a:lnTo>
                  <a:pt x="0" y="170687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09415" y="3658361"/>
            <a:ext cx="2301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3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r>
              <a:rPr sz="1200" b="1" spc="3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3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r>
              <a:rPr sz="1200" b="1" spc="3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3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r>
              <a:rPr sz="1200" b="1" spc="3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3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3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r>
              <a:rPr sz="1200" b="1" spc="3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99005" y="4010025"/>
            <a:ext cx="612775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59"/>
              </a:spcBef>
            </a:pPr>
            <a:r>
              <a:rPr sz="1200" b="1" spc="-35" dirty="0">
                <a:latin typeface="Arial"/>
                <a:cs typeface="Arial"/>
              </a:rPr>
              <a:t>Table 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31480" y="5279135"/>
            <a:ext cx="0" cy="213360"/>
          </a:xfrm>
          <a:custGeom>
            <a:avLst/>
            <a:gdLst/>
            <a:ahLst/>
            <a:cxnLst/>
            <a:rect l="l" t="t" r="r" b="b"/>
            <a:pathLst>
              <a:path h="213360">
                <a:moveTo>
                  <a:pt x="0" y="0"/>
                </a:moveTo>
                <a:lnTo>
                  <a:pt x="0" y="213359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2478023" y="3840479"/>
            <a:ext cx="5621020" cy="2627630"/>
            <a:chOff x="2478023" y="3840479"/>
            <a:chExt cx="5621020" cy="26276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8023" y="4203191"/>
              <a:ext cx="121919" cy="1066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529839" y="4053839"/>
              <a:ext cx="807720" cy="170815"/>
            </a:xfrm>
            <a:custGeom>
              <a:avLst/>
              <a:gdLst/>
              <a:ahLst/>
              <a:cxnLst/>
              <a:rect l="l" t="t" r="r" b="b"/>
              <a:pathLst>
                <a:path w="807720" h="170814">
                  <a:moveTo>
                    <a:pt x="0" y="170561"/>
                  </a:moveTo>
                  <a:lnTo>
                    <a:pt x="0" y="0"/>
                  </a:lnTo>
                  <a:lnTo>
                    <a:pt x="807212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8287" y="4203191"/>
              <a:ext cx="118872" cy="1066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80103" y="3861815"/>
              <a:ext cx="2160905" cy="509270"/>
            </a:xfrm>
            <a:custGeom>
              <a:avLst/>
              <a:gdLst/>
              <a:ahLst/>
              <a:cxnLst/>
              <a:rect l="l" t="t" r="r" b="b"/>
              <a:pathLst>
                <a:path w="2160904" h="509270">
                  <a:moveTo>
                    <a:pt x="0" y="361441"/>
                  </a:moveTo>
                  <a:lnTo>
                    <a:pt x="0" y="191642"/>
                  </a:lnTo>
                  <a:lnTo>
                    <a:pt x="348996" y="191642"/>
                  </a:lnTo>
                </a:path>
                <a:path w="2160904" h="509270">
                  <a:moveTo>
                    <a:pt x="1429258" y="0"/>
                  </a:moveTo>
                  <a:lnTo>
                    <a:pt x="1429258" y="508888"/>
                  </a:lnTo>
                  <a:lnTo>
                    <a:pt x="2160905" y="508888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6271" y="4779263"/>
              <a:ext cx="121920" cy="1066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47232" y="4383023"/>
              <a:ext cx="0" cy="405765"/>
            </a:xfrm>
            <a:custGeom>
              <a:avLst/>
              <a:gdLst/>
              <a:ahLst/>
              <a:cxnLst/>
              <a:rect l="l" t="t" r="r" b="b"/>
              <a:pathLst>
                <a:path h="405764">
                  <a:moveTo>
                    <a:pt x="0" y="0"/>
                  </a:moveTo>
                  <a:lnTo>
                    <a:pt x="0" y="405383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8791" y="6059423"/>
              <a:ext cx="118872" cy="10667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081016" y="4779263"/>
              <a:ext cx="121920" cy="106680"/>
            </a:xfrm>
            <a:custGeom>
              <a:avLst/>
              <a:gdLst/>
              <a:ahLst/>
              <a:cxnLst/>
              <a:rect l="l" t="t" r="r" b="b"/>
              <a:pathLst>
                <a:path w="121920" h="106679">
                  <a:moveTo>
                    <a:pt x="61849" y="0"/>
                  </a:moveTo>
                  <a:lnTo>
                    <a:pt x="45974" y="635"/>
                  </a:lnTo>
                  <a:lnTo>
                    <a:pt x="30225" y="2286"/>
                  </a:lnTo>
                  <a:lnTo>
                    <a:pt x="14859" y="5206"/>
                  </a:lnTo>
                  <a:lnTo>
                    <a:pt x="0" y="9143"/>
                  </a:lnTo>
                  <a:lnTo>
                    <a:pt x="61849" y="106680"/>
                  </a:lnTo>
                  <a:lnTo>
                    <a:pt x="121920" y="8636"/>
                  </a:lnTo>
                  <a:lnTo>
                    <a:pt x="107442" y="4825"/>
                  </a:lnTo>
                  <a:lnTo>
                    <a:pt x="92456" y="2159"/>
                  </a:lnTo>
                  <a:lnTo>
                    <a:pt x="77343" y="508"/>
                  </a:lnTo>
                  <a:lnTo>
                    <a:pt x="618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3655" y="4629911"/>
              <a:ext cx="1795780" cy="1826260"/>
            </a:xfrm>
            <a:custGeom>
              <a:avLst/>
              <a:gdLst/>
              <a:ahLst/>
              <a:cxnLst/>
              <a:rect l="l" t="t" r="r" b="b"/>
              <a:pathLst>
                <a:path w="1795779" h="1826260">
                  <a:moveTo>
                    <a:pt x="1795272" y="12192"/>
                  </a:moveTo>
                  <a:lnTo>
                    <a:pt x="1795272" y="158495"/>
                  </a:lnTo>
                </a:path>
                <a:path w="1795779" h="1826260">
                  <a:moveTo>
                    <a:pt x="1788795" y="0"/>
                  </a:moveTo>
                  <a:lnTo>
                    <a:pt x="1155192" y="0"/>
                  </a:lnTo>
                  <a:lnTo>
                    <a:pt x="1155192" y="1813166"/>
                  </a:lnTo>
                </a:path>
                <a:path w="1795779" h="1826260">
                  <a:moveTo>
                    <a:pt x="0" y="1825752"/>
                  </a:moveTo>
                  <a:lnTo>
                    <a:pt x="1151763" y="182575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79664" y="5480303"/>
              <a:ext cx="119380" cy="106680"/>
            </a:xfrm>
            <a:custGeom>
              <a:avLst/>
              <a:gdLst/>
              <a:ahLst/>
              <a:cxnLst/>
              <a:rect l="l" t="t" r="r" b="b"/>
              <a:pathLst>
                <a:path w="119379" h="106679">
                  <a:moveTo>
                    <a:pt x="60325" y="0"/>
                  </a:moveTo>
                  <a:lnTo>
                    <a:pt x="44830" y="508"/>
                  </a:lnTo>
                  <a:lnTo>
                    <a:pt x="29463" y="2159"/>
                  </a:lnTo>
                  <a:lnTo>
                    <a:pt x="14477" y="5080"/>
                  </a:lnTo>
                  <a:lnTo>
                    <a:pt x="0" y="9017"/>
                  </a:lnTo>
                  <a:lnTo>
                    <a:pt x="60325" y="106299"/>
                  </a:lnTo>
                  <a:lnTo>
                    <a:pt x="118871" y="8509"/>
                  </a:lnTo>
                  <a:lnTo>
                    <a:pt x="104775" y="4826"/>
                  </a:lnTo>
                  <a:lnTo>
                    <a:pt x="90169" y="2159"/>
                  </a:lnTo>
                  <a:lnTo>
                    <a:pt x="75310" y="508"/>
                  </a:lnTo>
                  <a:lnTo>
                    <a:pt x="603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14744" y="4821935"/>
              <a:ext cx="405130" cy="186055"/>
            </a:xfrm>
            <a:custGeom>
              <a:avLst/>
              <a:gdLst/>
              <a:ahLst/>
              <a:cxnLst/>
              <a:rect l="l" t="t" r="r" b="b"/>
              <a:pathLst>
                <a:path w="405129" h="186054">
                  <a:moveTo>
                    <a:pt x="0" y="185546"/>
                  </a:moveTo>
                  <a:lnTo>
                    <a:pt x="404875" y="185546"/>
                  </a:lnTo>
                  <a:lnTo>
                    <a:pt x="404875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33488" y="4773167"/>
              <a:ext cx="149860" cy="88900"/>
            </a:xfrm>
            <a:custGeom>
              <a:avLst/>
              <a:gdLst/>
              <a:ahLst/>
              <a:cxnLst/>
              <a:rect l="l" t="t" r="r" b="b"/>
              <a:pathLst>
                <a:path w="149859" h="88900">
                  <a:moveTo>
                    <a:pt x="12700" y="0"/>
                  </a:moveTo>
                  <a:lnTo>
                    <a:pt x="7111" y="10794"/>
                  </a:lnTo>
                  <a:lnTo>
                    <a:pt x="3175" y="21970"/>
                  </a:lnTo>
                  <a:lnTo>
                    <a:pt x="761" y="33273"/>
                  </a:lnTo>
                  <a:lnTo>
                    <a:pt x="0" y="44830"/>
                  </a:lnTo>
                  <a:lnTo>
                    <a:pt x="761" y="56006"/>
                  </a:lnTo>
                  <a:lnTo>
                    <a:pt x="3047" y="67055"/>
                  </a:lnTo>
                  <a:lnTo>
                    <a:pt x="6730" y="77850"/>
                  </a:lnTo>
                  <a:lnTo>
                    <a:pt x="11937" y="88391"/>
                  </a:lnTo>
                  <a:lnTo>
                    <a:pt x="149351" y="4483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34511" y="3840479"/>
              <a:ext cx="3998595" cy="2621280"/>
            </a:xfrm>
            <a:custGeom>
              <a:avLst/>
              <a:gdLst/>
              <a:ahLst/>
              <a:cxnLst/>
              <a:rect l="l" t="t" r="r" b="b"/>
              <a:pathLst>
                <a:path w="3998595" h="2621279">
                  <a:moveTo>
                    <a:pt x="3792219" y="978916"/>
                  </a:moveTo>
                  <a:lnTo>
                    <a:pt x="3998594" y="978916"/>
                  </a:lnTo>
                </a:path>
                <a:path w="3998595" h="2621279">
                  <a:moveTo>
                    <a:pt x="19050" y="2551404"/>
                  </a:moveTo>
                  <a:lnTo>
                    <a:pt x="19050" y="2621216"/>
                  </a:lnTo>
                </a:path>
                <a:path w="3998595" h="2621279">
                  <a:moveTo>
                    <a:pt x="0" y="0"/>
                  </a:moveTo>
                  <a:lnTo>
                    <a:pt x="0" y="203073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05427" y="3945763"/>
            <a:ext cx="702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ese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97223" y="6181344"/>
            <a:ext cx="243840" cy="18923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79375">
              <a:lnSpc>
                <a:spcPts val="1365"/>
              </a:lnSpc>
              <a:spcBef>
                <a:spcPts val="120"/>
              </a:spcBef>
            </a:pPr>
            <a:r>
              <a:rPr sz="1200" b="1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95600" y="6181344"/>
            <a:ext cx="802005" cy="18923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47015">
              <a:lnSpc>
                <a:spcPts val="1260"/>
              </a:lnSpc>
              <a:spcBef>
                <a:spcPts val="220"/>
              </a:spcBef>
            </a:pPr>
            <a:r>
              <a:rPr sz="1200" b="1" dirty="0">
                <a:latin typeface="Arial"/>
                <a:cs typeface="Arial"/>
              </a:rPr>
              <a:t>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05427" y="4104894"/>
            <a:ext cx="213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14269" y="3464432"/>
            <a:ext cx="2392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5740" algn="l"/>
              </a:tabLst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.	</a:t>
            </a:r>
            <a:r>
              <a:rPr sz="1200" b="1" spc="5" dirty="0">
                <a:latin typeface="Arial"/>
                <a:cs typeface="Arial"/>
              </a:rPr>
              <a:t>L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nu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49466" y="3637533"/>
            <a:ext cx="1115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latin typeface="Arial"/>
                <a:cs typeface="Arial"/>
              </a:rPr>
              <a:t>V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dirty="0">
                <a:latin typeface="Arial"/>
                <a:cs typeface="Arial"/>
              </a:rPr>
              <a:t>al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10683" y="5166105"/>
            <a:ext cx="1200150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340"/>
              </a:spcBef>
            </a:pPr>
            <a:r>
              <a:rPr sz="1200" b="1" spc="-5" dirty="0">
                <a:latin typeface="Arial"/>
                <a:cs typeface="Arial"/>
              </a:rPr>
              <a:t>Main </a:t>
            </a:r>
            <a:r>
              <a:rPr sz="1200" b="1" spc="-10" dirty="0">
                <a:latin typeface="Arial"/>
                <a:cs typeface="Arial"/>
              </a:rPr>
              <a:t>memory </a:t>
            </a:r>
            <a:r>
              <a:rPr sz="1200" b="1" spc="-5" dirty="0">
                <a:latin typeface="Arial"/>
                <a:cs typeface="Arial"/>
              </a:rPr>
              <a:t> 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r>
              <a:rPr sz="1200" b="1" spc="-13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1672" y="5470956"/>
            <a:ext cx="1393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71080" y="4274566"/>
            <a:ext cx="996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in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2883407" y="4312920"/>
          <a:ext cx="1045208" cy="1776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5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285"/>
                        </a:lnSpc>
                        <a:spcBef>
                          <a:spcPts val="13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341">
                <a:tc gridSpan="2">
                  <a:txBody>
                    <a:bodyPr/>
                    <a:lstStyle/>
                    <a:p>
                      <a:pPr marL="246379">
                        <a:lnSpc>
                          <a:spcPts val="1255"/>
                        </a:lnSpc>
                        <a:spcBef>
                          <a:spcPts val="140"/>
                        </a:spcBef>
                      </a:pPr>
                      <a:r>
                        <a:rPr sz="1200" b="1" spc="-145" dirty="0">
                          <a:latin typeface="Arial"/>
                          <a:cs typeface="Arial"/>
                        </a:rPr>
                        <a:t>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270"/>
                        </a:lnSpc>
                        <a:spcBef>
                          <a:spcPts val="1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198">
                <a:tc gridSpan="2">
                  <a:txBody>
                    <a:bodyPr/>
                    <a:lstStyle/>
                    <a:p>
                      <a:pPr marL="247015">
                        <a:lnSpc>
                          <a:spcPts val="1280"/>
                        </a:lnSpc>
                        <a:spcBef>
                          <a:spcPts val="15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295"/>
                        </a:lnSpc>
                        <a:spcBef>
                          <a:spcPts val="1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340"/>
                        </a:lnSpc>
                        <a:spcBef>
                          <a:spcPts val="7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34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275"/>
                        </a:lnSpc>
                        <a:spcBef>
                          <a:spcPts val="12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246379">
                        <a:lnSpc>
                          <a:spcPts val="1265"/>
                        </a:lnSpc>
                        <a:spcBef>
                          <a:spcPts val="16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280"/>
                        </a:lnSpc>
                        <a:spcBef>
                          <a:spcPts val="1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389">
                <a:tc gridSpan="2">
                  <a:txBody>
                    <a:bodyPr/>
                    <a:lstStyle/>
                    <a:p>
                      <a:pPr marL="246379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285"/>
                        </a:lnSpc>
                        <a:spcBef>
                          <a:spcPts val="1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0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100"/>
                        </a:lnSpc>
                        <a:spcBef>
                          <a:spcPts val="1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7766431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4538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0065" algn="l"/>
              </a:tabLst>
            </a:pPr>
            <a:r>
              <a:rPr sz="2100" b="1" i="1" spc="7" baseline="3968" dirty="0">
                <a:latin typeface="Arial"/>
                <a:cs typeface="Arial"/>
              </a:rPr>
              <a:t>M</a:t>
            </a:r>
            <a:r>
              <a:rPr sz="2100" b="1" i="1" spc="-22" baseline="3968" dirty="0">
                <a:latin typeface="Arial"/>
                <a:cs typeface="Arial"/>
              </a:rPr>
              <a:t>e</a:t>
            </a:r>
            <a:r>
              <a:rPr sz="2100" b="1" i="1" baseline="3968" dirty="0">
                <a:latin typeface="Arial"/>
                <a:cs typeface="Arial"/>
              </a:rPr>
              <a:t>m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7" baseline="3968" dirty="0">
                <a:latin typeface="Arial"/>
                <a:cs typeface="Arial"/>
              </a:rPr>
              <a:t>y</a:t>
            </a:r>
            <a:r>
              <a:rPr sz="2100" b="1" i="1" spc="-52" baseline="3968" dirty="0">
                <a:latin typeface="Arial"/>
                <a:cs typeface="Arial"/>
              </a:rPr>
              <a:t> </a:t>
            </a:r>
            <a:r>
              <a:rPr sz="2100" b="1" i="1" spc="-22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22" baseline="3968" dirty="0">
                <a:latin typeface="Arial"/>
                <a:cs typeface="Arial"/>
              </a:rPr>
              <a:t>ga</a:t>
            </a:r>
            <a:r>
              <a:rPr sz="2100" b="1" i="1" spc="-30" baseline="3968" dirty="0">
                <a:latin typeface="Arial"/>
                <a:cs typeface="Arial"/>
              </a:rPr>
              <a:t>n</a:t>
            </a:r>
            <a:r>
              <a:rPr sz="2100" b="1" i="1" spc="-7" baseline="3968" dirty="0">
                <a:latin typeface="Arial"/>
                <a:cs typeface="Arial"/>
              </a:rPr>
              <a:t>iz</a:t>
            </a:r>
            <a:r>
              <a:rPr sz="2100" b="1" i="1" spc="-22" baseline="3968" dirty="0">
                <a:latin typeface="Arial"/>
                <a:cs typeface="Arial"/>
              </a:rPr>
              <a:t>at</a:t>
            </a:r>
            <a:r>
              <a:rPr sz="2100" b="1" i="1" spc="-15" baseline="3968" dirty="0">
                <a:latin typeface="Arial"/>
                <a:cs typeface="Arial"/>
              </a:rPr>
              <a:t>i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-7" baseline="3968" dirty="0">
                <a:latin typeface="Arial"/>
                <a:cs typeface="Arial"/>
              </a:rPr>
              <a:t>n</a:t>
            </a:r>
            <a:r>
              <a:rPr sz="2100" b="1" i="1" baseline="3968" dirty="0">
                <a:latin typeface="Arial"/>
                <a:cs typeface="Arial"/>
              </a:rPr>
              <a:t>	</a:t>
            </a:r>
            <a:r>
              <a:rPr sz="1400" b="1" spc="-15" dirty="0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97913" y="277748"/>
            <a:ext cx="5845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0440" algn="l"/>
                <a:tab pos="3793490" algn="l"/>
                <a:tab pos="4826635" algn="l"/>
              </a:tabLst>
            </a:pPr>
            <a:r>
              <a:rPr u="sng" spc="-80" dirty="0"/>
              <a:t>A</a:t>
            </a:r>
            <a:r>
              <a:rPr u="sng" dirty="0"/>
              <a:t>S</a:t>
            </a:r>
            <a:r>
              <a:rPr u="sng" spc="-20" dirty="0"/>
              <a:t>S</a:t>
            </a:r>
            <a:r>
              <a:rPr u="sng" dirty="0"/>
              <a:t>O</a:t>
            </a:r>
            <a:r>
              <a:rPr u="sng" spc="-10" dirty="0"/>
              <a:t>C</a:t>
            </a:r>
            <a:r>
              <a:rPr u="sng" spc="5" dirty="0"/>
              <a:t>I</a:t>
            </a:r>
            <a:r>
              <a:rPr u="sng" spc="-85" dirty="0"/>
              <a:t>A</a:t>
            </a:r>
            <a:r>
              <a:rPr u="sng" dirty="0"/>
              <a:t>TI</a:t>
            </a:r>
            <a:r>
              <a:rPr u="sng" spc="5" dirty="0"/>
              <a:t>V</a:t>
            </a:r>
            <a:r>
              <a:rPr u="sng" dirty="0"/>
              <a:t>E	</a:t>
            </a:r>
            <a:r>
              <a:rPr u="sng" spc="-10" dirty="0"/>
              <a:t>M</a:t>
            </a:r>
            <a:r>
              <a:rPr u="sng" spc="5" dirty="0"/>
              <a:t>E</a:t>
            </a:r>
            <a:r>
              <a:rPr u="sng" spc="-10" dirty="0"/>
              <a:t>M</a:t>
            </a:r>
            <a:r>
              <a:rPr u="sng" spc="5" dirty="0"/>
              <a:t>O</a:t>
            </a:r>
            <a:r>
              <a:rPr u="sng" spc="-10" dirty="0"/>
              <a:t>R</a:t>
            </a:r>
            <a:r>
              <a:rPr u="sng" spc="-5" dirty="0"/>
              <a:t>Y</a:t>
            </a:r>
            <a:r>
              <a:rPr u="sng" dirty="0"/>
              <a:t>	P</a:t>
            </a:r>
            <a:r>
              <a:rPr u="sng" spc="-85" dirty="0"/>
              <a:t>A</a:t>
            </a:r>
            <a:r>
              <a:rPr u="sng" dirty="0"/>
              <a:t>GE	</a:t>
            </a:r>
            <a:r>
              <a:rPr u="sng" spc="-5" dirty="0"/>
              <a:t>T</a:t>
            </a:r>
            <a:r>
              <a:rPr u="sng" spc="-85" dirty="0"/>
              <a:t>A</a:t>
            </a:r>
            <a:r>
              <a:rPr u="sng" spc="-5" dirty="0"/>
              <a:t>B</a:t>
            </a:r>
            <a:r>
              <a:rPr u="sng" spc="-15" dirty="0"/>
              <a:t>L</a:t>
            </a:r>
            <a:r>
              <a:rPr u="sng" dirty="0"/>
              <a:t>E</a:t>
            </a:r>
          </a:p>
        </p:txBody>
      </p:sp>
      <p:sp>
        <p:nvSpPr>
          <p:cNvPr id="7" name="object 7"/>
          <p:cNvSpPr/>
          <p:nvPr/>
        </p:nvSpPr>
        <p:spPr>
          <a:xfrm>
            <a:off x="3429000" y="4267200"/>
            <a:ext cx="2203450" cy="518159"/>
          </a:xfrm>
          <a:custGeom>
            <a:avLst/>
            <a:gdLst/>
            <a:ahLst/>
            <a:cxnLst/>
            <a:rect l="l" t="t" r="r" b="b"/>
            <a:pathLst>
              <a:path w="2203450" h="518160">
                <a:moveTo>
                  <a:pt x="0" y="158495"/>
                </a:moveTo>
                <a:lnTo>
                  <a:pt x="2203323" y="158495"/>
                </a:lnTo>
                <a:lnTo>
                  <a:pt x="2203323" y="12"/>
                </a:lnTo>
                <a:lnTo>
                  <a:pt x="0" y="12"/>
                </a:lnTo>
                <a:lnTo>
                  <a:pt x="0" y="158495"/>
                </a:lnTo>
                <a:close/>
              </a:path>
              <a:path w="2203450" h="518160">
                <a:moveTo>
                  <a:pt x="673608" y="167639"/>
                </a:moveTo>
                <a:lnTo>
                  <a:pt x="673608" y="0"/>
                </a:lnTo>
              </a:path>
              <a:path w="2203450" h="518160">
                <a:moveTo>
                  <a:pt x="0" y="518160"/>
                </a:moveTo>
                <a:lnTo>
                  <a:pt x="1121625" y="518160"/>
                </a:lnTo>
                <a:lnTo>
                  <a:pt x="1121625" y="359676"/>
                </a:lnTo>
                <a:lnTo>
                  <a:pt x="0" y="359676"/>
                </a:lnTo>
                <a:lnTo>
                  <a:pt x="0" y="51816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403409" y="4963350"/>
          <a:ext cx="1122044" cy="700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1482">
                <a:tc>
                  <a:txBody>
                    <a:bodyPr/>
                    <a:lstStyle/>
                    <a:p>
                      <a:pPr marR="31115" algn="r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467">
                <a:tc>
                  <a:txBody>
                    <a:bodyPr/>
                    <a:lstStyle/>
                    <a:p>
                      <a:pPr marR="31115" algn="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56">
                <a:tc>
                  <a:txBody>
                    <a:bodyPr/>
                    <a:lstStyle/>
                    <a:p>
                      <a:pPr marR="31115" algn="r">
                        <a:lnSpc>
                          <a:spcPts val="12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2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2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2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267">
                <a:tc>
                  <a:txBody>
                    <a:bodyPr/>
                    <a:lstStyle/>
                    <a:p>
                      <a:pPr marR="31115" algn="r">
                        <a:lnSpc>
                          <a:spcPts val="11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1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49192" y="5805017"/>
            <a:ext cx="1342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.Bl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ck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5655" y="774319"/>
            <a:ext cx="6358890" cy="470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ts val="2039"/>
              </a:lnSpc>
              <a:spcBef>
                <a:spcPts val="100"/>
              </a:spcBef>
            </a:pPr>
            <a:r>
              <a:rPr sz="1800" b="1" spc="-25" dirty="0">
                <a:latin typeface="Arial"/>
                <a:cs typeface="Arial"/>
              </a:rPr>
              <a:t>Assume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endParaRPr sz="1800">
              <a:latin typeface="Arial"/>
              <a:cs typeface="Arial"/>
            </a:endParaRPr>
          </a:p>
          <a:p>
            <a:pPr marL="534035">
              <a:lnSpc>
                <a:spcPts val="2005"/>
              </a:lnSpc>
            </a:pP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Blocks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  <a:p>
            <a:pPr marL="534035">
              <a:lnSpc>
                <a:spcPts val="2125"/>
              </a:lnSpc>
            </a:pP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</a:t>
            </a:r>
            <a:r>
              <a:rPr sz="1800" b="1" spc="5" dirty="0">
                <a:latin typeface="Arial"/>
                <a:cs typeface="Arial"/>
              </a:rPr>
              <a:t>g</a:t>
            </a:r>
            <a:r>
              <a:rPr sz="1800" b="1" dirty="0">
                <a:latin typeface="Arial"/>
                <a:cs typeface="Arial"/>
              </a:rPr>
              <a:t>es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V</a:t>
            </a:r>
            <a:r>
              <a:rPr sz="1800" b="1" dirty="0">
                <a:latin typeface="Arial"/>
                <a:cs typeface="Arial"/>
              </a:rPr>
              <a:t>irtu</a:t>
            </a:r>
            <a:r>
              <a:rPr sz="1800" b="1" spc="-2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l</a:t>
            </a:r>
            <a:r>
              <a:rPr sz="1800" b="1" spc="-21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ddre</a:t>
            </a:r>
            <a:r>
              <a:rPr sz="1800" b="1" spc="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</a:t>
            </a:r>
            <a:r>
              <a:rPr sz="1800" b="1" spc="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24765">
              <a:lnSpc>
                <a:spcPts val="2030"/>
              </a:lnSpc>
              <a:spcBef>
                <a:spcPts val="650"/>
              </a:spcBef>
            </a:pP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  <a:p>
            <a:pPr marL="405765">
              <a:lnSpc>
                <a:spcPts val="1900"/>
              </a:lnSpc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5" dirty="0">
                <a:latin typeface="Arial"/>
                <a:cs typeface="Arial"/>
              </a:rPr>
              <a:t>Straight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forward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design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-&gt;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534035">
              <a:lnSpc>
                <a:spcPts val="2005"/>
              </a:lnSpc>
            </a:pPr>
            <a:r>
              <a:rPr sz="1800" b="1" dirty="0">
                <a:latin typeface="Arial"/>
                <a:cs typeface="Arial"/>
              </a:rPr>
              <a:t>Inefficient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storage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space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utilization</a:t>
            </a:r>
            <a:endParaRPr sz="1800">
              <a:latin typeface="Arial"/>
              <a:cs typeface="Arial"/>
            </a:endParaRPr>
          </a:p>
          <a:p>
            <a:pPr marL="534035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&lt;-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n-m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entries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empty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Arial"/>
              <a:cs typeface="Arial"/>
            </a:endParaRPr>
          </a:p>
          <a:p>
            <a:pPr marL="546100" marR="857250" indent="-534035">
              <a:lnSpc>
                <a:spcPts val="1939"/>
              </a:lnSpc>
              <a:tabLst>
                <a:tab pos="546100" algn="l"/>
              </a:tabLst>
            </a:pPr>
            <a:r>
              <a:rPr sz="1800" dirty="0">
                <a:latin typeface="Arial MT"/>
                <a:cs typeface="Arial MT"/>
              </a:rPr>
              <a:t>-	</a:t>
            </a:r>
            <a:r>
              <a:rPr sz="1800" b="1" dirty="0">
                <a:latin typeface="Arial"/>
                <a:cs typeface="Arial"/>
              </a:rPr>
              <a:t>More efficient method </a:t>
            </a:r>
            <a:r>
              <a:rPr sz="1800" b="1" spc="-5" dirty="0">
                <a:latin typeface="Arial"/>
                <a:cs typeface="Arial"/>
              </a:rPr>
              <a:t>is </a:t>
            </a:r>
            <a:r>
              <a:rPr sz="1800" b="1" dirty="0">
                <a:latin typeface="Arial"/>
                <a:cs typeface="Arial"/>
              </a:rPr>
              <a:t>m-entry Page </a:t>
            </a:r>
            <a:r>
              <a:rPr sz="1800" b="1" spc="-50" dirty="0">
                <a:latin typeface="Arial"/>
                <a:cs typeface="Arial"/>
              </a:rPr>
              <a:t>Table 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ge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65" dirty="0">
                <a:latin typeface="Arial"/>
                <a:cs typeface="Arial"/>
              </a:rPr>
              <a:t>T</a:t>
            </a:r>
            <a:r>
              <a:rPr sz="1800" b="1" spc="-20" dirty="0">
                <a:latin typeface="Arial"/>
                <a:cs typeface="Arial"/>
              </a:rPr>
              <a:t>abl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</a:t>
            </a:r>
            <a:r>
              <a:rPr sz="1800" b="1" spc="-5" dirty="0">
                <a:latin typeface="Arial"/>
                <a:cs typeface="Arial"/>
              </a:rPr>
              <a:t>de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spc="-160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ss</a:t>
            </a:r>
            <a:r>
              <a:rPr sz="1800" b="1" spc="-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t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spc="-20" dirty="0">
                <a:latin typeface="Arial"/>
                <a:cs typeface="Arial"/>
              </a:rPr>
              <a:t>v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M</a:t>
            </a:r>
            <a:r>
              <a:rPr sz="1800" b="1" spc="-2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m</a:t>
            </a:r>
            <a:r>
              <a:rPr sz="1800" b="1" spc="-20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ry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  </a:t>
            </a:r>
            <a:r>
              <a:rPr sz="1800" b="1" spc="5" dirty="0">
                <a:latin typeface="Arial"/>
                <a:cs typeface="Arial"/>
              </a:rPr>
              <a:t>words;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(Page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Number:Block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Number)</a:t>
            </a:r>
            <a:endParaRPr sz="1800">
              <a:latin typeface="Arial"/>
              <a:cs typeface="Arial"/>
            </a:endParaRPr>
          </a:p>
          <a:p>
            <a:pPr marL="1565275" algn="ctr">
              <a:lnSpc>
                <a:spcPct val="100000"/>
              </a:lnSpc>
              <a:spcBef>
                <a:spcPts val="440"/>
              </a:spcBef>
            </a:pPr>
            <a:r>
              <a:rPr sz="1200" b="1" spc="-35" dirty="0">
                <a:latin typeface="Arial"/>
                <a:cs typeface="Arial"/>
              </a:rPr>
              <a:t>V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  <a:p>
            <a:pPr marR="66040" algn="ctr">
              <a:lnSpc>
                <a:spcPct val="100000"/>
              </a:lnSpc>
              <a:spcBef>
                <a:spcPts val="575"/>
              </a:spcBef>
            </a:pPr>
            <a:r>
              <a:rPr sz="1200" b="1" dirty="0">
                <a:latin typeface="Arial"/>
                <a:cs typeface="Arial"/>
              </a:rPr>
              <a:t>Page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no.</a:t>
            </a:r>
            <a:endParaRPr sz="1200">
              <a:latin typeface="Arial"/>
              <a:cs typeface="Arial"/>
            </a:endParaRPr>
          </a:p>
          <a:p>
            <a:pPr marL="2884805">
              <a:lnSpc>
                <a:spcPct val="100000"/>
              </a:lnSpc>
              <a:spcBef>
                <a:spcPts val="1035"/>
              </a:spcBef>
              <a:tabLst>
                <a:tab pos="3683000" algn="l"/>
                <a:tab pos="5031105" algn="l"/>
              </a:tabLst>
            </a:pPr>
            <a:r>
              <a:rPr sz="1200" b="1" spc="-5" dirty="0">
                <a:latin typeface="Arial"/>
                <a:cs typeface="Arial"/>
              </a:rPr>
              <a:t>1</a:t>
            </a:r>
            <a:r>
              <a:rPr sz="1200" b="1" spc="3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r>
              <a:rPr sz="1200" b="1" spc="35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	Line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number	</a:t>
            </a:r>
            <a:r>
              <a:rPr sz="1200" b="1" spc="-15" dirty="0">
                <a:latin typeface="Arial"/>
                <a:cs typeface="Arial"/>
              </a:rPr>
              <a:t>Argument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register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2884805">
              <a:lnSpc>
                <a:spcPct val="100000"/>
              </a:lnSpc>
              <a:tabLst>
                <a:tab pos="3564254" algn="l"/>
                <a:tab pos="4025265" algn="l"/>
              </a:tabLst>
            </a:pPr>
            <a:r>
              <a:rPr sz="1200" b="1" dirty="0">
                <a:latin typeface="Arial"/>
                <a:cs typeface="Arial"/>
              </a:rPr>
              <a:t>1 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 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	0 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	</a:t>
            </a:r>
            <a:r>
              <a:rPr sz="1200" b="1" spc="-5" dirty="0">
                <a:latin typeface="Arial"/>
                <a:cs typeface="Arial"/>
              </a:rPr>
              <a:t>K</a:t>
            </a:r>
            <a:r>
              <a:rPr sz="1200" b="1" dirty="0">
                <a:latin typeface="Arial"/>
                <a:cs typeface="Arial"/>
              </a:rPr>
              <a:t>ey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dirty="0">
                <a:latin typeface="Arial"/>
                <a:cs typeface="Arial"/>
              </a:rPr>
              <a:t>is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"/>
              <a:cs typeface="Arial"/>
            </a:endParaRPr>
          </a:p>
          <a:p>
            <a:pPr marL="4025265">
              <a:lnSpc>
                <a:spcPct val="100000"/>
              </a:lnSpc>
            </a:pPr>
            <a:r>
              <a:rPr sz="1200" b="1" spc="-35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ss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5" dirty="0">
                <a:latin typeface="Arial"/>
                <a:cs typeface="Arial"/>
              </a:rPr>
              <a:t>ci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spc="-25" dirty="0">
                <a:latin typeface="Arial"/>
                <a:cs typeface="Arial"/>
              </a:rPr>
              <a:t>v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19855" y="3904488"/>
            <a:ext cx="2225040" cy="1908175"/>
            <a:chOff x="3419855" y="3904488"/>
            <a:chExt cx="2225040" cy="1908175"/>
          </a:xfrm>
        </p:grpSpPr>
        <p:sp>
          <p:nvSpPr>
            <p:cNvPr id="12" name="object 12"/>
            <p:cNvSpPr/>
            <p:nvPr/>
          </p:nvSpPr>
          <p:spPr>
            <a:xfrm>
              <a:off x="3432047" y="3916680"/>
              <a:ext cx="2200910" cy="1883410"/>
            </a:xfrm>
            <a:custGeom>
              <a:avLst/>
              <a:gdLst/>
              <a:ahLst/>
              <a:cxnLst/>
              <a:rect l="l" t="t" r="r" b="b"/>
              <a:pathLst>
                <a:path w="2200910" h="1883410">
                  <a:moveTo>
                    <a:pt x="0" y="147955"/>
                  </a:moveTo>
                  <a:lnTo>
                    <a:pt x="24256" y="116967"/>
                  </a:lnTo>
                  <a:lnTo>
                    <a:pt x="65786" y="97409"/>
                  </a:lnTo>
                  <a:lnTo>
                    <a:pt x="125984" y="79121"/>
                  </a:lnTo>
                  <a:lnTo>
                    <a:pt x="203326" y="62230"/>
                  </a:lnTo>
                  <a:lnTo>
                    <a:pt x="247903" y="54356"/>
                  </a:lnTo>
                  <a:lnTo>
                    <a:pt x="296163" y="46990"/>
                  </a:lnTo>
                  <a:lnTo>
                    <a:pt x="347979" y="40005"/>
                  </a:lnTo>
                  <a:lnTo>
                    <a:pt x="403225" y="33528"/>
                  </a:lnTo>
                  <a:lnTo>
                    <a:pt x="461644" y="27432"/>
                  </a:lnTo>
                  <a:lnTo>
                    <a:pt x="522986" y="21971"/>
                  </a:lnTo>
                  <a:lnTo>
                    <a:pt x="587121" y="17018"/>
                  </a:lnTo>
                  <a:lnTo>
                    <a:pt x="653796" y="12700"/>
                  </a:lnTo>
                  <a:lnTo>
                    <a:pt x="723011" y="8890"/>
                  </a:lnTo>
                  <a:lnTo>
                    <a:pt x="794385" y="5842"/>
                  </a:lnTo>
                  <a:lnTo>
                    <a:pt x="867917" y="3302"/>
                  </a:lnTo>
                  <a:lnTo>
                    <a:pt x="943228" y="1524"/>
                  </a:lnTo>
                  <a:lnTo>
                    <a:pt x="1020190" y="381"/>
                  </a:lnTo>
                  <a:lnTo>
                    <a:pt x="1098677" y="0"/>
                  </a:lnTo>
                  <a:lnTo>
                    <a:pt x="1099185" y="0"/>
                  </a:lnTo>
                  <a:lnTo>
                    <a:pt x="1099692" y="0"/>
                  </a:lnTo>
                  <a:lnTo>
                    <a:pt x="1100327" y="0"/>
                  </a:lnTo>
                  <a:lnTo>
                    <a:pt x="1178814" y="381"/>
                  </a:lnTo>
                  <a:lnTo>
                    <a:pt x="1255902" y="1524"/>
                  </a:lnTo>
                  <a:lnTo>
                    <a:pt x="1331340" y="3302"/>
                  </a:lnTo>
                  <a:lnTo>
                    <a:pt x="1404874" y="5715"/>
                  </a:lnTo>
                  <a:lnTo>
                    <a:pt x="1476248" y="8890"/>
                  </a:lnTo>
                  <a:lnTo>
                    <a:pt x="1545589" y="12573"/>
                  </a:lnTo>
                  <a:lnTo>
                    <a:pt x="1612391" y="17018"/>
                  </a:lnTo>
                  <a:lnTo>
                    <a:pt x="1676653" y="21844"/>
                  </a:lnTo>
                  <a:lnTo>
                    <a:pt x="1737994" y="27432"/>
                  </a:lnTo>
                  <a:lnTo>
                    <a:pt x="1796541" y="33401"/>
                  </a:lnTo>
                  <a:lnTo>
                    <a:pt x="1851787" y="39878"/>
                  </a:lnTo>
                  <a:lnTo>
                    <a:pt x="1903729" y="46863"/>
                  </a:lnTo>
                  <a:lnTo>
                    <a:pt x="1952116" y="54356"/>
                  </a:lnTo>
                  <a:lnTo>
                    <a:pt x="1996693" y="62230"/>
                  </a:lnTo>
                  <a:lnTo>
                    <a:pt x="2037461" y="70485"/>
                  </a:lnTo>
                  <a:lnTo>
                    <a:pt x="2106549" y="88011"/>
                  </a:lnTo>
                  <a:lnTo>
                    <a:pt x="2157729" y="106934"/>
                  </a:lnTo>
                  <a:lnTo>
                    <a:pt x="2197607" y="137414"/>
                  </a:lnTo>
                  <a:lnTo>
                    <a:pt x="2200402" y="147955"/>
                  </a:lnTo>
                </a:path>
                <a:path w="2200910" h="1883410">
                  <a:moveTo>
                    <a:pt x="0" y="297942"/>
                  </a:moveTo>
                  <a:lnTo>
                    <a:pt x="33019" y="274320"/>
                  </a:lnTo>
                  <a:lnTo>
                    <a:pt x="71374" y="264287"/>
                  </a:lnTo>
                  <a:lnTo>
                    <a:pt x="121792" y="256032"/>
                  </a:lnTo>
                  <a:lnTo>
                    <a:pt x="182244" y="249555"/>
                  </a:lnTo>
                  <a:lnTo>
                    <a:pt x="250825" y="245491"/>
                  </a:lnTo>
                  <a:lnTo>
                    <a:pt x="325500" y="244094"/>
                  </a:lnTo>
                  <a:lnTo>
                    <a:pt x="325881" y="244094"/>
                  </a:lnTo>
                  <a:lnTo>
                    <a:pt x="326389" y="244094"/>
                  </a:lnTo>
                  <a:lnTo>
                    <a:pt x="326898" y="244094"/>
                  </a:lnTo>
                  <a:lnTo>
                    <a:pt x="401954" y="245491"/>
                  </a:lnTo>
                  <a:lnTo>
                    <a:pt x="470788" y="249555"/>
                  </a:lnTo>
                  <a:lnTo>
                    <a:pt x="531494" y="255905"/>
                  </a:lnTo>
                  <a:lnTo>
                    <a:pt x="582167" y="264287"/>
                  </a:lnTo>
                  <a:lnTo>
                    <a:pt x="620776" y="274193"/>
                  </a:lnTo>
                  <a:lnTo>
                    <a:pt x="645413" y="285623"/>
                  </a:lnTo>
                  <a:lnTo>
                    <a:pt x="654050" y="297942"/>
                  </a:lnTo>
                </a:path>
                <a:path w="2200910" h="1883410">
                  <a:moveTo>
                    <a:pt x="314832" y="1883333"/>
                  </a:moveTo>
                  <a:lnTo>
                    <a:pt x="242697" y="1881606"/>
                  </a:lnTo>
                  <a:lnTo>
                    <a:pt x="176402" y="1876691"/>
                  </a:lnTo>
                  <a:lnTo>
                    <a:pt x="117982" y="1868982"/>
                  </a:lnTo>
                  <a:lnTo>
                    <a:pt x="69214" y="1858860"/>
                  </a:lnTo>
                  <a:lnTo>
                    <a:pt x="32003" y="1846732"/>
                  </a:lnTo>
                  <a:lnTo>
                    <a:pt x="8254" y="1832978"/>
                  </a:lnTo>
                  <a:lnTo>
                    <a:pt x="0" y="1818005"/>
                  </a:lnTo>
                </a:path>
                <a:path w="2200910" h="1883410">
                  <a:moveTo>
                    <a:pt x="628268" y="1818005"/>
                  </a:moveTo>
                  <a:lnTo>
                    <a:pt x="596264" y="1846732"/>
                  </a:lnTo>
                  <a:lnTo>
                    <a:pt x="559053" y="1858860"/>
                  </a:lnTo>
                  <a:lnTo>
                    <a:pt x="510286" y="1868982"/>
                  </a:lnTo>
                  <a:lnTo>
                    <a:pt x="451865" y="1876691"/>
                  </a:lnTo>
                  <a:lnTo>
                    <a:pt x="385572" y="1881606"/>
                  </a:lnTo>
                  <a:lnTo>
                    <a:pt x="313309" y="1883333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0895" y="5721095"/>
              <a:ext cx="441960" cy="9144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60247" y="5916269"/>
            <a:ext cx="5598160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cannot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found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66431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90035" y="271398"/>
            <a:ext cx="2004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5844" algn="l"/>
              </a:tabLst>
            </a:pPr>
            <a:r>
              <a:rPr sz="2400" b="1" u="sng" spc="-165" dirty="0">
                <a:latin typeface="Arial"/>
                <a:cs typeface="Arial"/>
              </a:rPr>
              <a:t>P</a:t>
            </a:r>
            <a:r>
              <a:rPr sz="2400" b="1" u="sng" spc="-110" dirty="0">
                <a:latin typeface="Arial"/>
                <a:cs typeface="Arial"/>
              </a:rPr>
              <a:t>A</a:t>
            </a:r>
            <a:r>
              <a:rPr sz="2400" b="1" u="sng" spc="5" dirty="0">
                <a:latin typeface="Arial"/>
                <a:cs typeface="Arial"/>
              </a:rPr>
              <a:t>G</a:t>
            </a:r>
            <a:r>
              <a:rPr sz="2400" b="1" u="sng" dirty="0">
                <a:latin typeface="Arial"/>
                <a:cs typeface="Arial"/>
              </a:rPr>
              <a:t>E	</a:t>
            </a:r>
            <a:r>
              <a:rPr sz="2400" b="1" u="sng" spc="-150" dirty="0">
                <a:latin typeface="Arial"/>
                <a:cs typeface="Arial"/>
              </a:rPr>
              <a:t>F</a:t>
            </a:r>
            <a:r>
              <a:rPr sz="2400" b="1" u="sng" spc="-110" dirty="0">
                <a:latin typeface="Arial"/>
                <a:cs typeface="Arial"/>
              </a:rPr>
              <a:t>A</a:t>
            </a:r>
            <a:r>
              <a:rPr sz="2400" b="1" u="sng" spc="-5" dirty="0">
                <a:latin typeface="Arial"/>
                <a:cs typeface="Arial"/>
              </a:rPr>
              <a:t>U</a:t>
            </a:r>
            <a:r>
              <a:rPr sz="2400" b="1" u="sng" spc="-180" dirty="0">
                <a:latin typeface="Arial"/>
                <a:cs typeface="Arial"/>
              </a:rPr>
              <a:t>L</a:t>
            </a:r>
            <a:r>
              <a:rPr sz="2400" b="1" u="sng" dirty="0">
                <a:latin typeface="Arial"/>
                <a:cs typeface="Arial"/>
              </a:rPr>
              <a:t>T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519" y="5951626"/>
            <a:ext cx="4166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95"/>
              </a:spcBef>
            </a:pPr>
            <a:r>
              <a:rPr sz="1400" b="1" spc="-15" dirty="0">
                <a:latin typeface="Arial"/>
                <a:cs typeface="Arial"/>
              </a:rPr>
              <a:t>Processor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architecture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should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provide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the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ability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Arial"/>
                <a:cs typeface="Arial"/>
              </a:rPr>
              <a:t>to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restart</a:t>
            </a:r>
            <a:r>
              <a:rPr sz="1400" b="1" spc="-15" dirty="0">
                <a:latin typeface="Arial"/>
                <a:cs typeface="Arial"/>
              </a:rPr>
              <a:t> any instruction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after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a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page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fault.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931" y="1030351"/>
            <a:ext cx="3673475" cy="32759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5580" indent="-17081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95580" algn="l"/>
              </a:tabLst>
            </a:pPr>
            <a:r>
              <a:rPr sz="1200" b="1" spc="-65" dirty="0">
                <a:latin typeface="Arial"/>
                <a:cs typeface="Arial"/>
              </a:rPr>
              <a:t>T</a:t>
            </a:r>
            <a:r>
              <a:rPr sz="1200" b="1" spc="-40" dirty="0">
                <a:latin typeface="Arial"/>
                <a:cs typeface="Arial"/>
              </a:rPr>
              <a:t>r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p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15" dirty="0">
                <a:latin typeface="Arial"/>
                <a:cs typeface="Arial"/>
              </a:rPr>
              <a:t>h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  <a:p>
            <a:pPr marL="195580" indent="-17081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195580" algn="l"/>
              </a:tabLst>
            </a:pPr>
            <a:r>
              <a:rPr sz="1200" b="1" spc="-10" dirty="0">
                <a:latin typeface="Arial"/>
                <a:cs typeface="Arial"/>
              </a:rPr>
              <a:t>Save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user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registers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program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195580" indent="-17081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95580" algn="l"/>
              </a:tabLst>
            </a:pPr>
            <a:r>
              <a:rPr sz="1200" b="1" spc="-5" dirty="0">
                <a:latin typeface="Arial"/>
                <a:cs typeface="Arial"/>
              </a:rPr>
              <a:t>Determine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that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interrupt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was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page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fault</a:t>
            </a:r>
            <a:endParaRPr sz="1200">
              <a:latin typeface="Arial"/>
              <a:cs typeface="Arial"/>
            </a:endParaRPr>
          </a:p>
          <a:p>
            <a:pPr marL="195580" indent="-18288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95580" algn="l"/>
              </a:tabLst>
            </a:pPr>
            <a:r>
              <a:rPr sz="1200" b="1" spc="-5" dirty="0">
                <a:latin typeface="Arial"/>
                <a:cs typeface="Arial"/>
              </a:rPr>
              <a:t>Check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that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page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reference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was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legal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latin typeface="Arial"/>
                <a:cs typeface="Arial"/>
              </a:rPr>
              <a:t>determine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location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5" dirty="0">
                <a:latin typeface="Arial"/>
                <a:cs typeface="Arial"/>
              </a:rPr>
              <a:t> page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580"/>
              </a:spcBef>
            </a:pPr>
            <a:r>
              <a:rPr sz="1200" b="1" spc="-5" dirty="0">
                <a:latin typeface="Arial"/>
                <a:cs typeface="Arial"/>
              </a:rPr>
              <a:t>backing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store(disk)</a:t>
            </a:r>
            <a:endParaRPr sz="1200">
              <a:latin typeface="Arial"/>
              <a:cs typeface="Arial"/>
            </a:endParaRPr>
          </a:p>
          <a:p>
            <a:pPr marL="195580" indent="-182880">
              <a:lnSpc>
                <a:spcPct val="100000"/>
              </a:lnSpc>
              <a:spcBef>
                <a:spcPts val="195"/>
              </a:spcBef>
              <a:buAutoNum type="arabicPeriod" startAt="5"/>
              <a:tabLst>
                <a:tab pos="195580" algn="l"/>
              </a:tabLst>
            </a:pPr>
            <a:r>
              <a:rPr sz="1200" b="1" spc="-10" dirty="0">
                <a:latin typeface="Arial"/>
                <a:cs typeface="Arial"/>
              </a:rPr>
              <a:t>Issue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read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from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 backing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store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free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380"/>
              </a:spcBef>
            </a:pPr>
            <a:r>
              <a:rPr sz="1200" b="1" spc="-5" dirty="0">
                <a:latin typeface="Arial"/>
                <a:cs typeface="Arial"/>
              </a:rPr>
              <a:t>frame</a:t>
            </a:r>
            <a:endParaRPr sz="1200">
              <a:latin typeface="Arial"/>
              <a:cs typeface="Arial"/>
            </a:endParaRPr>
          </a:p>
          <a:p>
            <a:pPr marL="384175" lvl="1" indent="-171450">
              <a:lnSpc>
                <a:spcPct val="100000"/>
              </a:lnSpc>
              <a:spcBef>
                <a:spcPts val="580"/>
              </a:spcBef>
              <a:buAutoNum type="alphaLcPeriod"/>
              <a:tabLst>
                <a:tab pos="384810" algn="l"/>
              </a:tabLst>
            </a:pPr>
            <a:r>
              <a:rPr sz="1200" b="1" spc="-35" dirty="0">
                <a:latin typeface="Arial"/>
                <a:cs typeface="Arial"/>
              </a:rPr>
              <a:t>Wait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queue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this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device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until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serviced</a:t>
            </a:r>
            <a:endParaRPr sz="1200">
              <a:latin typeface="Arial"/>
              <a:cs typeface="Arial"/>
            </a:endParaRPr>
          </a:p>
          <a:p>
            <a:pPr marL="393700" lvl="1" indent="-180340">
              <a:lnSpc>
                <a:spcPct val="100000"/>
              </a:lnSpc>
              <a:spcBef>
                <a:spcPts val="385"/>
              </a:spcBef>
              <a:buAutoNum type="alphaLcPeriod"/>
              <a:tabLst>
                <a:tab pos="393700" algn="l"/>
              </a:tabLst>
            </a:pPr>
            <a:r>
              <a:rPr sz="1200" b="1" spc="-35" dirty="0">
                <a:latin typeface="Arial"/>
                <a:cs typeface="Arial"/>
              </a:rPr>
              <a:t>Wait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device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seek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and/or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latency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  <a:p>
            <a:pPr marL="384175" lvl="1" indent="-171450">
              <a:lnSpc>
                <a:spcPct val="100000"/>
              </a:lnSpc>
              <a:spcBef>
                <a:spcPts val="409"/>
              </a:spcBef>
              <a:buAutoNum type="alphaLcPeriod"/>
              <a:tabLst>
                <a:tab pos="384810" algn="l"/>
              </a:tabLst>
            </a:pPr>
            <a:r>
              <a:rPr sz="1200" b="1" dirty="0">
                <a:latin typeface="Arial"/>
                <a:cs typeface="Arial"/>
              </a:rPr>
              <a:t>Begin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transfer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5" dirty="0">
                <a:latin typeface="Arial"/>
                <a:cs typeface="Arial"/>
              </a:rPr>
              <a:t> page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free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frame</a:t>
            </a:r>
            <a:endParaRPr sz="1200">
              <a:latin typeface="Arial"/>
              <a:cs typeface="Arial"/>
            </a:endParaRPr>
          </a:p>
          <a:p>
            <a:pPr marL="195580" indent="-182880">
              <a:lnSpc>
                <a:spcPct val="100000"/>
              </a:lnSpc>
              <a:spcBef>
                <a:spcPts val="190"/>
              </a:spcBef>
              <a:buAutoNum type="arabicPeriod" startAt="6"/>
              <a:tabLst>
                <a:tab pos="195580" algn="l"/>
              </a:tabLst>
            </a:pPr>
            <a:r>
              <a:rPr sz="1200" b="1" spc="-5" dirty="0">
                <a:latin typeface="Arial"/>
                <a:cs typeface="Arial"/>
              </a:rPr>
              <a:t>While</a:t>
            </a:r>
            <a:r>
              <a:rPr sz="1200" b="1" spc="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waiting,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CPU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may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allocated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385"/>
              </a:spcBef>
            </a:pPr>
            <a:r>
              <a:rPr sz="1200" b="1" spc="-5" dirty="0">
                <a:latin typeface="Arial"/>
                <a:cs typeface="Arial"/>
              </a:rPr>
              <a:t>some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other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marL="195580" indent="-170815">
              <a:lnSpc>
                <a:spcPct val="100000"/>
              </a:lnSpc>
              <a:spcBef>
                <a:spcPts val="575"/>
              </a:spcBef>
              <a:buAutoNum type="arabicPeriod" startAt="7"/>
              <a:tabLst>
                <a:tab pos="195580" algn="l"/>
              </a:tabLst>
            </a:pPr>
            <a:r>
              <a:rPr sz="1200" b="1" spc="-10" dirty="0">
                <a:latin typeface="Arial"/>
                <a:cs typeface="Arial"/>
              </a:rPr>
              <a:t>Interrupt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from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backing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store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(I/O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completed)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23" y="4258817"/>
            <a:ext cx="5146040" cy="14039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484"/>
              </a:spcBef>
              <a:buAutoNum type="arabicPeriod" startAt="8"/>
              <a:tabLst>
                <a:tab pos="183515" algn="l"/>
              </a:tabLst>
            </a:pPr>
            <a:r>
              <a:rPr sz="1200" b="1" spc="-10" dirty="0">
                <a:latin typeface="Arial"/>
                <a:cs typeface="Arial"/>
              </a:rPr>
              <a:t>Save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registers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and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program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state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other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  <a:p>
            <a:pPr marL="182880" indent="-170815">
              <a:lnSpc>
                <a:spcPct val="100000"/>
              </a:lnSpc>
              <a:spcBef>
                <a:spcPts val="380"/>
              </a:spcBef>
              <a:buAutoNum type="arabicPeriod" startAt="8"/>
              <a:tabLst>
                <a:tab pos="183515" algn="l"/>
              </a:tabLst>
            </a:pPr>
            <a:r>
              <a:rPr sz="1200" b="1" spc="-5" dirty="0">
                <a:latin typeface="Arial"/>
                <a:cs typeface="Arial"/>
              </a:rPr>
              <a:t>Determine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that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interrupt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was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from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backing store</a:t>
            </a:r>
            <a:endParaRPr sz="1200">
              <a:latin typeface="Arial"/>
              <a:cs typeface="Arial"/>
            </a:endParaRPr>
          </a:p>
          <a:p>
            <a:pPr marL="268605" indent="-256540">
              <a:lnSpc>
                <a:spcPct val="100000"/>
              </a:lnSpc>
              <a:spcBef>
                <a:spcPts val="409"/>
              </a:spcBef>
              <a:buAutoNum type="arabicPeriod" startAt="8"/>
              <a:tabLst>
                <a:tab pos="269240" algn="l"/>
              </a:tabLst>
            </a:pPr>
            <a:r>
              <a:rPr sz="1200" b="1" spc="-5" dirty="0">
                <a:latin typeface="Arial"/>
                <a:cs typeface="Arial"/>
              </a:rPr>
              <a:t>Correct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page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tables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(the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desired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page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is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now</a:t>
            </a:r>
            <a:r>
              <a:rPr sz="1200" b="1" dirty="0">
                <a:latin typeface="Arial"/>
                <a:cs typeface="Arial"/>
              </a:rPr>
              <a:t> in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memory)</a:t>
            </a:r>
            <a:endParaRPr sz="1200">
              <a:latin typeface="Arial"/>
              <a:cs typeface="Arial"/>
            </a:endParaRPr>
          </a:p>
          <a:p>
            <a:pPr marL="259079" indent="-247015">
              <a:lnSpc>
                <a:spcPct val="100000"/>
              </a:lnSpc>
              <a:spcBef>
                <a:spcPts val="409"/>
              </a:spcBef>
              <a:buAutoNum type="arabicPeriod" startAt="8"/>
              <a:tabLst>
                <a:tab pos="259715" algn="l"/>
              </a:tabLst>
            </a:pPr>
            <a:r>
              <a:rPr sz="1200" b="1" spc="-35" dirty="0">
                <a:latin typeface="Arial"/>
                <a:cs typeface="Arial"/>
              </a:rPr>
              <a:t>Wait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5" dirty="0">
                <a:latin typeface="Arial"/>
                <a:cs typeface="Arial"/>
              </a:rPr>
              <a:t> the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CPU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allocated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this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process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again</a:t>
            </a:r>
            <a:endParaRPr sz="1200">
              <a:latin typeface="Arial"/>
              <a:cs typeface="Arial"/>
            </a:endParaRPr>
          </a:p>
          <a:p>
            <a:pPr marL="271780" marR="5080" indent="-259079">
              <a:lnSpc>
                <a:spcPts val="1800"/>
              </a:lnSpc>
              <a:spcBef>
                <a:spcPts val="5"/>
              </a:spcBef>
              <a:buAutoNum type="arabicPeriod" startAt="8"/>
              <a:tabLst>
                <a:tab pos="271780" algn="l"/>
              </a:tabLst>
            </a:pPr>
            <a:r>
              <a:rPr sz="1200" b="1" spc="-5" dirty="0">
                <a:latin typeface="Arial"/>
                <a:cs typeface="Arial"/>
              </a:rPr>
              <a:t>Restore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user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registers,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program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state,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and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new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page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table,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then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resume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the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interrupted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instruction.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3535" y="853439"/>
            <a:ext cx="185927" cy="18592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237223" y="822705"/>
            <a:ext cx="2003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Arial"/>
                <a:cs typeface="Arial"/>
              </a:rPr>
              <a:t>3  </a:t>
            </a:r>
            <a:r>
              <a:rPr sz="900" b="1" spc="17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Page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is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on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backing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store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50152" y="2615183"/>
            <a:ext cx="94615" cy="0"/>
          </a:xfrm>
          <a:custGeom>
            <a:avLst/>
            <a:gdLst/>
            <a:ahLst/>
            <a:cxnLst/>
            <a:rect l="l" t="t" r="r" b="b"/>
            <a:pathLst>
              <a:path w="94615">
                <a:moveTo>
                  <a:pt x="0" y="0"/>
                </a:moveTo>
                <a:lnTo>
                  <a:pt x="94488" y="0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84320" y="2304288"/>
            <a:ext cx="716280" cy="41465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LOAD</a:t>
            </a:r>
            <a:r>
              <a:rPr sz="900" b="1" spc="95" dirty="0">
                <a:latin typeface="Arial"/>
                <a:cs typeface="Arial"/>
              </a:rPr>
              <a:t> </a:t>
            </a:r>
            <a:r>
              <a:rPr sz="900" b="1" spc="10" dirty="0"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84320" y="1959864"/>
            <a:ext cx="2447925" cy="1962785"/>
          </a:xfrm>
          <a:custGeom>
            <a:avLst/>
            <a:gdLst/>
            <a:ahLst/>
            <a:cxnLst/>
            <a:rect l="l" t="t" r="r" b="b"/>
            <a:pathLst>
              <a:path w="2447925" h="1962785">
                <a:moveTo>
                  <a:pt x="0" y="0"/>
                </a:moveTo>
                <a:lnTo>
                  <a:pt x="0" y="1962531"/>
                </a:lnTo>
              </a:path>
              <a:path w="2447925" h="1962785">
                <a:moveTo>
                  <a:pt x="716279" y="0"/>
                </a:moveTo>
                <a:lnTo>
                  <a:pt x="716279" y="1962531"/>
                </a:lnTo>
              </a:path>
              <a:path w="2447925" h="1962785">
                <a:moveTo>
                  <a:pt x="1874519" y="1027176"/>
                </a:moveTo>
                <a:lnTo>
                  <a:pt x="2447226" y="1027176"/>
                </a:lnTo>
                <a:lnTo>
                  <a:pt x="2447226" y="310908"/>
                </a:lnTo>
                <a:lnTo>
                  <a:pt x="1874519" y="310908"/>
                </a:lnTo>
                <a:lnTo>
                  <a:pt x="1874519" y="1027176"/>
                </a:lnTo>
                <a:close/>
              </a:path>
              <a:path w="2447925" h="1962785">
                <a:moveTo>
                  <a:pt x="1874519" y="591312"/>
                </a:moveTo>
                <a:lnTo>
                  <a:pt x="2444496" y="591312"/>
                </a:lnTo>
              </a:path>
              <a:path w="2447925" h="1962785">
                <a:moveTo>
                  <a:pt x="1874519" y="768096"/>
                </a:moveTo>
                <a:lnTo>
                  <a:pt x="2444496" y="768096"/>
                </a:lnTo>
              </a:path>
              <a:path w="2447925" h="1962785">
                <a:moveTo>
                  <a:pt x="2289047" y="768096"/>
                </a:moveTo>
                <a:lnTo>
                  <a:pt x="2447543" y="768096"/>
                </a:lnTo>
                <a:lnTo>
                  <a:pt x="2447543" y="594360"/>
                </a:lnTo>
                <a:lnTo>
                  <a:pt x="2289047" y="594360"/>
                </a:lnTo>
                <a:lnTo>
                  <a:pt x="2289047" y="768096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85559" y="2536316"/>
            <a:ext cx="13398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10"/>
              </a:spcBef>
            </a:pPr>
            <a:r>
              <a:rPr sz="900" b="1" spc="5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88217" y="2255520"/>
            <a:ext cx="1174115" cy="378460"/>
            <a:chOff x="4788217" y="2255520"/>
            <a:chExt cx="1174115" cy="37846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9487" y="2517648"/>
              <a:ext cx="152400" cy="1158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00599" y="2508504"/>
              <a:ext cx="1021080" cy="64135"/>
            </a:xfrm>
            <a:custGeom>
              <a:avLst/>
              <a:gdLst/>
              <a:ahLst/>
              <a:cxnLst/>
              <a:rect l="l" t="t" r="r" b="b"/>
              <a:pathLst>
                <a:path w="1021079" h="64135">
                  <a:moveTo>
                    <a:pt x="0" y="0"/>
                  </a:moveTo>
                  <a:lnTo>
                    <a:pt x="1020826" y="6375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6695" y="2255520"/>
              <a:ext cx="173736" cy="16459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840985" y="2216022"/>
            <a:ext cx="905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5" dirty="0">
                <a:latin typeface="Arial"/>
                <a:cs typeface="Arial"/>
              </a:rPr>
              <a:t>1 </a:t>
            </a:r>
            <a:r>
              <a:rPr sz="900" b="1" spc="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Reference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02223" y="984453"/>
            <a:ext cx="506095" cy="551815"/>
          </a:xfrm>
          <a:custGeom>
            <a:avLst/>
            <a:gdLst/>
            <a:ahLst/>
            <a:cxnLst/>
            <a:rect l="l" t="t" r="r" b="b"/>
            <a:pathLst>
              <a:path w="506095" h="551815">
                <a:moveTo>
                  <a:pt x="0" y="551357"/>
                </a:moveTo>
                <a:lnTo>
                  <a:pt x="505968" y="551357"/>
                </a:lnTo>
                <a:lnTo>
                  <a:pt x="505968" y="0"/>
                </a:lnTo>
                <a:lnTo>
                  <a:pt x="0" y="0"/>
                </a:lnTo>
                <a:lnTo>
                  <a:pt x="0" y="551357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57164" y="1135506"/>
            <a:ext cx="1955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15" dirty="0">
                <a:latin typeface="Arial"/>
                <a:cs typeface="Arial"/>
              </a:rPr>
              <a:t>OS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29528" y="1310639"/>
            <a:ext cx="664845" cy="1308100"/>
            <a:chOff x="6129528" y="1310639"/>
            <a:chExt cx="664845" cy="130810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9528" y="1310639"/>
              <a:ext cx="152400" cy="12496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63640" y="1374647"/>
              <a:ext cx="518159" cy="1094105"/>
            </a:xfrm>
            <a:custGeom>
              <a:avLst/>
              <a:gdLst/>
              <a:ahLst/>
              <a:cxnLst/>
              <a:rect l="l" t="t" r="r" b="b"/>
              <a:pathLst>
                <a:path w="518159" h="1094105">
                  <a:moveTo>
                    <a:pt x="0" y="4699"/>
                  </a:moveTo>
                  <a:lnTo>
                    <a:pt x="391033" y="0"/>
                  </a:lnTo>
                </a:path>
                <a:path w="518159" h="1094105">
                  <a:moveTo>
                    <a:pt x="518160" y="127000"/>
                  </a:moveTo>
                  <a:lnTo>
                    <a:pt x="518160" y="1093851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1592" y="1362455"/>
              <a:ext cx="152400" cy="14630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3304" y="2441447"/>
              <a:ext cx="170688" cy="17678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427723" y="1566164"/>
            <a:ext cx="313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14097" y="1066609"/>
            <a:ext cx="2542540" cy="1829435"/>
            <a:chOff x="6114097" y="1066609"/>
            <a:chExt cx="2542540" cy="1829435"/>
          </a:xfrm>
        </p:grpSpPr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1343" y="1563623"/>
              <a:ext cx="182879" cy="1889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26479" y="1078992"/>
              <a:ext cx="2517775" cy="1804670"/>
            </a:xfrm>
            <a:custGeom>
              <a:avLst/>
              <a:gdLst/>
              <a:ahLst/>
              <a:cxnLst/>
              <a:rect l="l" t="t" r="r" b="b"/>
              <a:pathLst>
                <a:path w="2517775" h="1804670">
                  <a:moveTo>
                    <a:pt x="1450848" y="417449"/>
                  </a:moveTo>
                  <a:lnTo>
                    <a:pt x="1499362" y="377698"/>
                  </a:lnTo>
                  <a:lnTo>
                    <a:pt x="1578737" y="355600"/>
                  </a:lnTo>
                  <a:lnTo>
                    <a:pt x="1630172" y="346329"/>
                  </a:lnTo>
                  <a:lnTo>
                    <a:pt x="1688338" y="338328"/>
                  </a:lnTo>
                  <a:lnTo>
                    <a:pt x="1752473" y="331978"/>
                  </a:lnTo>
                  <a:lnTo>
                    <a:pt x="1821815" y="327152"/>
                  </a:lnTo>
                  <a:lnTo>
                    <a:pt x="1895475" y="324104"/>
                  </a:lnTo>
                  <a:lnTo>
                    <a:pt x="1972564" y="323088"/>
                  </a:lnTo>
                </a:path>
                <a:path w="2517775" h="1804670">
                  <a:moveTo>
                    <a:pt x="1970913" y="323088"/>
                  </a:moveTo>
                  <a:lnTo>
                    <a:pt x="1971421" y="323088"/>
                  </a:lnTo>
                  <a:lnTo>
                    <a:pt x="1972055" y="323088"/>
                  </a:lnTo>
                  <a:lnTo>
                    <a:pt x="1972564" y="323088"/>
                  </a:lnTo>
                  <a:lnTo>
                    <a:pt x="2049906" y="324104"/>
                  </a:lnTo>
                  <a:lnTo>
                    <a:pt x="2123821" y="327025"/>
                  </a:lnTo>
                  <a:lnTo>
                    <a:pt x="2193290" y="331850"/>
                  </a:lnTo>
                  <a:lnTo>
                    <a:pt x="2257679" y="338328"/>
                  </a:lnTo>
                  <a:lnTo>
                    <a:pt x="2316099" y="346202"/>
                  </a:lnTo>
                  <a:lnTo>
                    <a:pt x="2367788" y="355600"/>
                  </a:lnTo>
                  <a:lnTo>
                    <a:pt x="2411856" y="366141"/>
                  </a:lnTo>
                  <a:lnTo>
                    <a:pt x="2473960" y="390271"/>
                  </a:lnTo>
                  <a:lnTo>
                    <a:pt x="2490470" y="403479"/>
                  </a:lnTo>
                  <a:lnTo>
                    <a:pt x="2496185" y="417449"/>
                  </a:lnTo>
                </a:path>
                <a:path w="2517775" h="1804670">
                  <a:moveTo>
                    <a:pt x="1972564" y="509905"/>
                  </a:moveTo>
                  <a:lnTo>
                    <a:pt x="1895475" y="508762"/>
                  </a:lnTo>
                  <a:lnTo>
                    <a:pt x="1821815" y="505713"/>
                  </a:lnTo>
                  <a:lnTo>
                    <a:pt x="1752473" y="501015"/>
                  </a:lnTo>
                  <a:lnTo>
                    <a:pt x="1688338" y="494538"/>
                  </a:lnTo>
                  <a:lnTo>
                    <a:pt x="1630172" y="486537"/>
                  </a:lnTo>
                  <a:lnTo>
                    <a:pt x="1578737" y="477266"/>
                  </a:lnTo>
                  <a:lnTo>
                    <a:pt x="1534795" y="466725"/>
                  </a:lnTo>
                  <a:lnTo>
                    <a:pt x="1472946" y="442595"/>
                  </a:lnTo>
                  <a:lnTo>
                    <a:pt x="1456436" y="429387"/>
                  </a:lnTo>
                  <a:lnTo>
                    <a:pt x="1450848" y="415417"/>
                  </a:lnTo>
                </a:path>
                <a:path w="2517775" h="1804670">
                  <a:moveTo>
                    <a:pt x="2496185" y="415417"/>
                  </a:moveTo>
                  <a:lnTo>
                    <a:pt x="2447544" y="455295"/>
                  </a:lnTo>
                  <a:lnTo>
                    <a:pt x="2367788" y="477393"/>
                  </a:lnTo>
                  <a:lnTo>
                    <a:pt x="2316099" y="486663"/>
                  </a:lnTo>
                  <a:lnTo>
                    <a:pt x="2257679" y="494665"/>
                  </a:lnTo>
                  <a:lnTo>
                    <a:pt x="2193290" y="501142"/>
                  </a:lnTo>
                  <a:lnTo>
                    <a:pt x="2123821" y="505841"/>
                  </a:lnTo>
                  <a:lnTo>
                    <a:pt x="2049906" y="508888"/>
                  </a:lnTo>
                  <a:lnTo>
                    <a:pt x="1972564" y="509905"/>
                  </a:lnTo>
                  <a:lnTo>
                    <a:pt x="1972055" y="509905"/>
                  </a:lnTo>
                  <a:lnTo>
                    <a:pt x="1971421" y="509905"/>
                  </a:lnTo>
                  <a:lnTo>
                    <a:pt x="1970913" y="509905"/>
                  </a:lnTo>
                </a:path>
                <a:path w="2517775" h="1804670">
                  <a:moveTo>
                    <a:pt x="1972564" y="1804416"/>
                  </a:moveTo>
                  <a:lnTo>
                    <a:pt x="1895475" y="1803273"/>
                  </a:lnTo>
                  <a:lnTo>
                    <a:pt x="1821815" y="1800352"/>
                  </a:lnTo>
                  <a:lnTo>
                    <a:pt x="1752473" y="1795526"/>
                  </a:lnTo>
                  <a:lnTo>
                    <a:pt x="1688338" y="1789049"/>
                  </a:lnTo>
                  <a:lnTo>
                    <a:pt x="1630172" y="1781175"/>
                  </a:lnTo>
                  <a:lnTo>
                    <a:pt x="1578737" y="1771777"/>
                  </a:lnTo>
                  <a:lnTo>
                    <a:pt x="1534795" y="1761363"/>
                  </a:lnTo>
                  <a:lnTo>
                    <a:pt x="1472946" y="1737233"/>
                  </a:lnTo>
                  <a:lnTo>
                    <a:pt x="1456436" y="1723898"/>
                  </a:lnTo>
                  <a:lnTo>
                    <a:pt x="1450848" y="1710055"/>
                  </a:lnTo>
                </a:path>
                <a:path w="2517775" h="1804670">
                  <a:moveTo>
                    <a:pt x="2496185" y="1710055"/>
                  </a:moveTo>
                  <a:lnTo>
                    <a:pt x="2447544" y="1749806"/>
                  </a:lnTo>
                  <a:lnTo>
                    <a:pt x="2367788" y="1771904"/>
                  </a:lnTo>
                  <a:lnTo>
                    <a:pt x="2316099" y="1781302"/>
                  </a:lnTo>
                  <a:lnTo>
                    <a:pt x="2257679" y="1789176"/>
                  </a:lnTo>
                  <a:lnTo>
                    <a:pt x="2193290" y="1795653"/>
                  </a:lnTo>
                  <a:lnTo>
                    <a:pt x="2123821" y="1800479"/>
                  </a:lnTo>
                  <a:lnTo>
                    <a:pt x="2049906" y="1803400"/>
                  </a:lnTo>
                  <a:lnTo>
                    <a:pt x="1972564" y="1804416"/>
                  </a:lnTo>
                  <a:lnTo>
                    <a:pt x="1972055" y="1804416"/>
                  </a:lnTo>
                  <a:lnTo>
                    <a:pt x="1971421" y="1804416"/>
                  </a:lnTo>
                  <a:lnTo>
                    <a:pt x="1970913" y="1804416"/>
                  </a:lnTo>
                </a:path>
                <a:path w="2517775" h="1804670">
                  <a:moveTo>
                    <a:pt x="1441323" y="434213"/>
                  </a:moveTo>
                  <a:lnTo>
                    <a:pt x="1441323" y="1691640"/>
                  </a:lnTo>
                </a:path>
                <a:path w="2517775" h="1804670">
                  <a:moveTo>
                    <a:pt x="2517648" y="434213"/>
                  </a:moveTo>
                  <a:lnTo>
                    <a:pt x="2517648" y="1691640"/>
                  </a:lnTo>
                </a:path>
                <a:path w="2517775" h="1804670">
                  <a:moveTo>
                    <a:pt x="0" y="0"/>
                  </a:moveTo>
                  <a:lnTo>
                    <a:pt x="1712722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04631" y="1810512"/>
              <a:ext cx="121920" cy="14935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839455" y="1078992"/>
              <a:ext cx="329565" cy="762000"/>
            </a:xfrm>
            <a:custGeom>
              <a:avLst/>
              <a:gdLst/>
              <a:ahLst/>
              <a:cxnLst/>
              <a:rect l="l" t="t" r="r" b="b"/>
              <a:pathLst>
                <a:path w="329565" h="762000">
                  <a:moveTo>
                    <a:pt x="329184" y="762000"/>
                  </a:moveTo>
                  <a:lnTo>
                    <a:pt x="329184" y="213360"/>
                  </a:lnTo>
                </a:path>
                <a:path w="329565" h="762000">
                  <a:moveTo>
                    <a:pt x="0" y="0"/>
                  </a:moveTo>
                  <a:lnTo>
                    <a:pt x="635" y="0"/>
                  </a:lnTo>
                  <a:lnTo>
                    <a:pt x="1270" y="0"/>
                  </a:lnTo>
                  <a:lnTo>
                    <a:pt x="1904" y="0"/>
                  </a:lnTo>
                  <a:lnTo>
                    <a:pt x="53721" y="3048"/>
                  </a:lnTo>
                  <a:lnTo>
                    <a:pt x="102870" y="11937"/>
                  </a:lnTo>
                  <a:lnTo>
                    <a:pt x="148717" y="26162"/>
                  </a:lnTo>
                  <a:lnTo>
                    <a:pt x="190626" y="45212"/>
                  </a:lnTo>
                  <a:lnTo>
                    <a:pt x="227965" y="68580"/>
                  </a:lnTo>
                  <a:lnTo>
                    <a:pt x="260096" y="96012"/>
                  </a:lnTo>
                  <a:lnTo>
                    <a:pt x="286258" y="126746"/>
                  </a:lnTo>
                  <a:lnTo>
                    <a:pt x="305943" y="160400"/>
                  </a:lnTo>
                  <a:lnTo>
                    <a:pt x="318389" y="196596"/>
                  </a:lnTo>
                  <a:lnTo>
                    <a:pt x="323088" y="234696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30492" y="1563700"/>
            <a:ext cx="9017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spc="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6326187" y="2833687"/>
          <a:ext cx="1127125" cy="1374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7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900" b="1" spc="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9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me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6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6616700" y="4249292"/>
            <a:ext cx="10077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in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501128" y="1968817"/>
            <a:ext cx="893444" cy="1518285"/>
            <a:chOff x="7501128" y="1968817"/>
            <a:chExt cx="893444" cy="1518285"/>
          </a:xfrm>
        </p:grpSpPr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01128" y="3368039"/>
              <a:ext cx="149351" cy="11887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638288" y="1981199"/>
              <a:ext cx="591820" cy="1454150"/>
            </a:xfrm>
            <a:custGeom>
              <a:avLst/>
              <a:gdLst/>
              <a:ahLst/>
              <a:cxnLst/>
              <a:rect l="l" t="t" r="r" b="b"/>
              <a:pathLst>
                <a:path w="591820" h="1454150">
                  <a:moveTo>
                    <a:pt x="0" y="1453641"/>
                  </a:moveTo>
                  <a:lnTo>
                    <a:pt x="264159" y="1453641"/>
                  </a:lnTo>
                </a:path>
                <a:path w="591820" h="1454150">
                  <a:moveTo>
                    <a:pt x="530097" y="164591"/>
                  </a:moveTo>
                  <a:lnTo>
                    <a:pt x="530097" y="1194562"/>
                  </a:lnTo>
                </a:path>
                <a:path w="591820" h="1454150">
                  <a:moveTo>
                    <a:pt x="530097" y="1182624"/>
                  </a:moveTo>
                  <a:lnTo>
                    <a:pt x="526033" y="1230249"/>
                  </a:lnTo>
                  <a:lnTo>
                    <a:pt x="514095" y="1275207"/>
                  </a:lnTo>
                  <a:lnTo>
                    <a:pt x="495172" y="1316482"/>
                  </a:lnTo>
                  <a:lnTo>
                    <a:pt x="469900" y="1353439"/>
                  </a:lnTo>
                  <a:lnTo>
                    <a:pt x="439038" y="1385442"/>
                  </a:lnTo>
                  <a:lnTo>
                    <a:pt x="403351" y="1411604"/>
                  </a:lnTo>
                  <a:lnTo>
                    <a:pt x="363473" y="1431163"/>
                  </a:lnTo>
                  <a:lnTo>
                    <a:pt x="320293" y="1443482"/>
                  </a:lnTo>
                  <a:lnTo>
                    <a:pt x="274319" y="1447800"/>
                  </a:lnTo>
                </a:path>
                <a:path w="591820" h="1454150">
                  <a:moveTo>
                    <a:pt x="445007" y="137160"/>
                  </a:moveTo>
                  <a:lnTo>
                    <a:pt x="591311" y="137160"/>
                  </a:lnTo>
                  <a:lnTo>
                    <a:pt x="591311" y="0"/>
                  </a:lnTo>
                  <a:lnTo>
                    <a:pt x="445007" y="0"/>
                  </a:lnTo>
                  <a:lnTo>
                    <a:pt x="445007" y="13716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14360" y="2974847"/>
              <a:ext cx="179831" cy="17678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252586" y="2952209"/>
            <a:ext cx="662305" cy="6457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b="1" spc="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  <a:p>
            <a:pPr marL="67310" marR="5080" algn="just">
              <a:lnSpc>
                <a:spcPct val="75000"/>
              </a:lnSpc>
              <a:spcBef>
                <a:spcPts val="470"/>
              </a:spcBef>
            </a:pPr>
            <a:r>
              <a:rPr sz="1200" b="1" spc="-5" dirty="0">
                <a:latin typeface="Arial"/>
                <a:cs typeface="Arial"/>
              </a:rPr>
              <a:t>bring </a:t>
            </a:r>
            <a:r>
              <a:rPr sz="1200" b="1" dirty="0">
                <a:latin typeface="Arial"/>
                <a:cs typeface="Arial"/>
              </a:rPr>
              <a:t>in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5" dirty="0">
                <a:latin typeface="Arial"/>
                <a:cs typeface="Arial"/>
              </a:rPr>
              <a:t>ss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g  page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626417" y="2679192"/>
            <a:ext cx="747395" cy="890269"/>
            <a:chOff x="5626417" y="2679192"/>
            <a:chExt cx="747395" cy="890269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1471" y="2679192"/>
              <a:ext cx="280415" cy="24688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638799" y="2898648"/>
              <a:ext cx="722630" cy="536575"/>
            </a:xfrm>
            <a:custGeom>
              <a:avLst/>
              <a:gdLst/>
              <a:ahLst/>
              <a:cxnLst/>
              <a:rect l="l" t="t" r="r" b="b"/>
              <a:pathLst>
                <a:path w="722629" h="536575">
                  <a:moveTo>
                    <a:pt x="0" y="242824"/>
                  </a:moveTo>
                  <a:lnTo>
                    <a:pt x="2794" y="179324"/>
                  </a:lnTo>
                  <a:lnTo>
                    <a:pt x="10667" y="122047"/>
                  </a:lnTo>
                  <a:lnTo>
                    <a:pt x="22987" y="73278"/>
                  </a:lnTo>
                  <a:lnTo>
                    <a:pt x="38988" y="35178"/>
                  </a:lnTo>
                  <a:lnTo>
                    <a:pt x="57785" y="10032"/>
                  </a:lnTo>
                  <a:lnTo>
                    <a:pt x="78866" y="0"/>
                  </a:lnTo>
                </a:path>
                <a:path w="722629" h="536575">
                  <a:moveTo>
                    <a:pt x="722122" y="536448"/>
                  </a:moveTo>
                  <a:lnTo>
                    <a:pt x="657860" y="535177"/>
                  </a:lnTo>
                  <a:lnTo>
                    <a:pt x="595122" y="531622"/>
                  </a:lnTo>
                  <a:lnTo>
                    <a:pt x="534288" y="525779"/>
                  </a:lnTo>
                  <a:lnTo>
                    <a:pt x="475614" y="517651"/>
                  </a:lnTo>
                  <a:lnTo>
                    <a:pt x="419353" y="507618"/>
                  </a:lnTo>
                  <a:lnTo>
                    <a:pt x="365633" y="495426"/>
                  </a:lnTo>
                  <a:lnTo>
                    <a:pt x="314833" y="481584"/>
                  </a:lnTo>
                  <a:lnTo>
                    <a:pt x="267080" y="465836"/>
                  </a:lnTo>
                  <a:lnTo>
                    <a:pt x="222758" y="448563"/>
                  </a:lnTo>
                  <a:lnTo>
                    <a:pt x="181990" y="429767"/>
                  </a:lnTo>
                  <a:lnTo>
                    <a:pt x="145034" y="409448"/>
                  </a:lnTo>
                  <a:lnTo>
                    <a:pt x="112267" y="387857"/>
                  </a:lnTo>
                  <a:lnTo>
                    <a:pt x="60071" y="341122"/>
                  </a:lnTo>
                  <a:lnTo>
                    <a:pt x="27304" y="290322"/>
                  </a:lnTo>
                  <a:lnTo>
                    <a:pt x="18796" y="263778"/>
                  </a:lnTo>
                  <a:lnTo>
                    <a:pt x="15875" y="236474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6815" y="3377184"/>
              <a:ext cx="173736" cy="1920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5811392" y="3383026"/>
            <a:ext cx="9017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spc="5" dirty="0"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36741" y="3445002"/>
            <a:ext cx="387350" cy="5346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algn="just">
              <a:lnSpc>
                <a:spcPct val="89200"/>
              </a:lnSpc>
              <a:spcBef>
                <a:spcPts val="254"/>
              </a:spcBef>
            </a:pP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5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et  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dirty="0">
                <a:latin typeface="Arial"/>
                <a:cs typeface="Arial"/>
              </a:rPr>
              <a:t>e 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806696" y="2554223"/>
            <a:ext cx="1161415" cy="299085"/>
            <a:chOff x="4806696" y="2554223"/>
            <a:chExt cx="1161415" cy="299085"/>
          </a:xfrm>
        </p:grpSpPr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6696" y="2554223"/>
              <a:ext cx="152400" cy="11887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919472" y="2599943"/>
              <a:ext cx="1036319" cy="82550"/>
            </a:xfrm>
            <a:custGeom>
              <a:avLst/>
              <a:gdLst/>
              <a:ahLst/>
              <a:cxnLst/>
              <a:rect l="l" t="t" r="r" b="b"/>
              <a:pathLst>
                <a:path w="1036320" h="82550">
                  <a:moveTo>
                    <a:pt x="1036065" y="82295"/>
                  </a:moveTo>
                  <a:lnTo>
                    <a:pt x="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86528" y="2673095"/>
              <a:ext cx="179832" cy="179832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4831207" y="2668651"/>
            <a:ext cx="812800" cy="4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535">
              <a:lnSpc>
                <a:spcPts val="955"/>
              </a:lnSpc>
              <a:spcBef>
                <a:spcPts val="110"/>
              </a:spcBef>
            </a:pPr>
            <a:r>
              <a:rPr sz="900" b="1" spc="5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  <a:p>
            <a:pPr marL="55244">
              <a:lnSpc>
                <a:spcPts val="1195"/>
              </a:lnSpc>
            </a:pPr>
            <a:r>
              <a:rPr sz="1200" b="1" spc="-5" dirty="0">
                <a:latin typeface="Arial"/>
                <a:cs typeface="Arial"/>
              </a:rPr>
              <a:t>restart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20"/>
              </a:lnSpc>
            </a:pPr>
            <a:r>
              <a:rPr sz="1200" b="1" spc="-5" dirty="0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66431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300" y="270257"/>
            <a:ext cx="8915400" cy="6297295"/>
            <a:chOff x="115823" y="237743"/>
            <a:chExt cx="8915400" cy="6297295"/>
          </a:xfrm>
        </p:grpSpPr>
        <p:sp>
          <p:nvSpPr>
            <p:cNvPr id="6" name="object 6"/>
            <p:cNvSpPr/>
            <p:nvPr/>
          </p:nvSpPr>
          <p:spPr>
            <a:xfrm>
              <a:off x="115823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0712" y="4440935"/>
              <a:ext cx="210312" cy="1981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91656" y="3919728"/>
              <a:ext cx="1280160" cy="1471930"/>
            </a:xfrm>
            <a:custGeom>
              <a:avLst/>
              <a:gdLst/>
              <a:ahLst/>
              <a:cxnLst/>
              <a:rect l="l" t="t" r="r" b="b"/>
              <a:pathLst>
                <a:path w="1280159" h="1471929">
                  <a:moveTo>
                    <a:pt x="6096" y="100838"/>
                  </a:moveTo>
                  <a:lnTo>
                    <a:pt x="48260" y="64389"/>
                  </a:lnTo>
                  <a:lnTo>
                    <a:pt x="118237" y="43307"/>
                  </a:lnTo>
                  <a:lnTo>
                    <a:pt x="163957" y="33909"/>
                  </a:lnTo>
                  <a:lnTo>
                    <a:pt x="216280" y="25527"/>
                  </a:lnTo>
                  <a:lnTo>
                    <a:pt x="274320" y="18161"/>
                  </a:lnTo>
                  <a:lnTo>
                    <a:pt x="337693" y="11938"/>
                  </a:lnTo>
                  <a:lnTo>
                    <a:pt x="405765" y="6858"/>
                  </a:lnTo>
                  <a:lnTo>
                    <a:pt x="477900" y="3175"/>
                  </a:lnTo>
                  <a:lnTo>
                    <a:pt x="553593" y="762"/>
                  </a:lnTo>
                  <a:lnTo>
                    <a:pt x="632205" y="0"/>
                  </a:lnTo>
                  <a:lnTo>
                    <a:pt x="632714" y="0"/>
                  </a:lnTo>
                  <a:lnTo>
                    <a:pt x="633222" y="0"/>
                  </a:lnTo>
                  <a:lnTo>
                    <a:pt x="633729" y="0"/>
                  </a:lnTo>
                  <a:lnTo>
                    <a:pt x="707009" y="635"/>
                  </a:lnTo>
                  <a:lnTo>
                    <a:pt x="777621" y="2667"/>
                  </a:lnTo>
                  <a:lnTo>
                    <a:pt x="845439" y="5842"/>
                  </a:lnTo>
                  <a:lnTo>
                    <a:pt x="909827" y="10287"/>
                  </a:lnTo>
                  <a:lnTo>
                    <a:pt x="970279" y="15748"/>
                  </a:lnTo>
                  <a:lnTo>
                    <a:pt x="1026414" y="22225"/>
                  </a:lnTo>
                  <a:lnTo>
                    <a:pt x="1077595" y="29591"/>
                  </a:lnTo>
                  <a:lnTo>
                    <a:pt x="1123569" y="37846"/>
                  </a:lnTo>
                  <a:lnTo>
                    <a:pt x="1163701" y="46863"/>
                  </a:lnTo>
                  <a:lnTo>
                    <a:pt x="1224915" y="66929"/>
                  </a:lnTo>
                  <a:lnTo>
                    <a:pt x="1257300" y="89154"/>
                  </a:lnTo>
                  <a:lnTo>
                    <a:pt x="1261491" y="100838"/>
                  </a:lnTo>
                </a:path>
                <a:path w="1280159" h="1471929">
                  <a:moveTo>
                    <a:pt x="633729" y="200533"/>
                  </a:moveTo>
                  <a:lnTo>
                    <a:pt x="560577" y="199898"/>
                  </a:lnTo>
                  <a:lnTo>
                    <a:pt x="489839" y="197866"/>
                  </a:lnTo>
                  <a:lnTo>
                    <a:pt x="422021" y="194691"/>
                  </a:lnTo>
                  <a:lnTo>
                    <a:pt x="357759" y="190246"/>
                  </a:lnTo>
                  <a:lnTo>
                    <a:pt x="297307" y="184785"/>
                  </a:lnTo>
                  <a:lnTo>
                    <a:pt x="241173" y="178435"/>
                  </a:lnTo>
                  <a:lnTo>
                    <a:pt x="189992" y="170942"/>
                  </a:lnTo>
                  <a:lnTo>
                    <a:pt x="144018" y="162687"/>
                  </a:lnTo>
                  <a:lnTo>
                    <a:pt x="103759" y="153670"/>
                  </a:lnTo>
                  <a:lnTo>
                    <a:pt x="42672" y="133604"/>
                  </a:lnTo>
                  <a:lnTo>
                    <a:pt x="10287" y="111379"/>
                  </a:lnTo>
                  <a:lnTo>
                    <a:pt x="6096" y="99568"/>
                  </a:lnTo>
                </a:path>
                <a:path w="1280159" h="1471929">
                  <a:moveTo>
                    <a:pt x="1259967" y="99568"/>
                  </a:moveTo>
                  <a:lnTo>
                    <a:pt x="1223391" y="133604"/>
                  </a:lnTo>
                  <a:lnTo>
                    <a:pt x="1162177" y="153670"/>
                  </a:lnTo>
                  <a:lnTo>
                    <a:pt x="1122045" y="162687"/>
                  </a:lnTo>
                  <a:lnTo>
                    <a:pt x="1076071" y="170942"/>
                  </a:lnTo>
                  <a:lnTo>
                    <a:pt x="1024890" y="178435"/>
                  </a:lnTo>
                  <a:lnTo>
                    <a:pt x="968755" y="184785"/>
                  </a:lnTo>
                  <a:lnTo>
                    <a:pt x="908303" y="190246"/>
                  </a:lnTo>
                  <a:lnTo>
                    <a:pt x="843915" y="194691"/>
                  </a:lnTo>
                  <a:lnTo>
                    <a:pt x="776097" y="197866"/>
                  </a:lnTo>
                  <a:lnTo>
                    <a:pt x="705358" y="199898"/>
                  </a:lnTo>
                  <a:lnTo>
                    <a:pt x="632205" y="200533"/>
                  </a:lnTo>
                </a:path>
                <a:path w="1280159" h="1471929">
                  <a:moveTo>
                    <a:pt x="633729" y="1471930"/>
                  </a:moveTo>
                  <a:lnTo>
                    <a:pt x="560577" y="1471295"/>
                  </a:lnTo>
                  <a:lnTo>
                    <a:pt x="489839" y="1469263"/>
                  </a:lnTo>
                  <a:lnTo>
                    <a:pt x="422021" y="1466088"/>
                  </a:lnTo>
                  <a:lnTo>
                    <a:pt x="357759" y="1461643"/>
                  </a:lnTo>
                  <a:lnTo>
                    <a:pt x="297307" y="1456182"/>
                  </a:lnTo>
                  <a:lnTo>
                    <a:pt x="241173" y="1449705"/>
                  </a:lnTo>
                  <a:lnTo>
                    <a:pt x="189992" y="1442339"/>
                  </a:lnTo>
                  <a:lnTo>
                    <a:pt x="144018" y="1434084"/>
                  </a:lnTo>
                  <a:lnTo>
                    <a:pt x="103759" y="1425067"/>
                  </a:lnTo>
                  <a:lnTo>
                    <a:pt x="42672" y="1405001"/>
                  </a:lnTo>
                  <a:lnTo>
                    <a:pt x="10287" y="1382776"/>
                  </a:lnTo>
                  <a:lnTo>
                    <a:pt x="6096" y="1370965"/>
                  </a:lnTo>
                </a:path>
                <a:path w="1280159" h="1471929">
                  <a:moveTo>
                    <a:pt x="1259967" y="1370965"/>
                  </a:moveTo>
                  <a:lnTo>
                    <a:pt x="1223391" y="1405001"/>
                  </a:lnTo>
                  <a:lnTo>
                    <a:pt x="1162177" y="1425067"/>
                  </a:lnTo>
                  <a:lnTo>
                    <a:pt x="1122045" y="1434084"/>
                  </a:lnTo>
                  <a:lnTo>
                    <a:pt x="1076071" y="1442339"/>
                  </a:lnTo>
                  <a:lnTo>
                    <a:pt x="1024890" y="1449705"/>
                  </a:lnTo>
                  <a:lnTo>
                    <a:pt x="968755" y="1456182"/>
                  </a:lnTo>
                  <a:lnTo>
                    <a:pt x="908303" y="1461643"/>
                  </a:lnTo>
                  <a:lnTo>
                    <a:pt x="843915" y="1465961"/>
                  </a:lnTo>
                  <a:lnTo>
                    <a:pt x="776097" y="1469263"/>
                  </a:lnTo>
                  <a:lnTo>
                    <a:pt x="705358" y="1471168"/>
                  </a:lnTo>
                  <a:lnTo>
                    <a:pt x="632205" y="1471930"/>
                  </a:lnTo>
                </a:path>
                <a:path w="1280159" h="1471929">
                  <a:moveTo>
                    <a:pt x="0" y="109728"/>
                  </a:moveTo>
                  <a:lnTo>
                    <a:pt x="0" y="1362456"/>
                  </a:lnTo>
                </a:path>
                <a:path w="1280159" h="1471929">
                  <a:moveTo>
                    <a:pt x="1280160" y="109728"/>
                  </a:moveTo>
                  <a:lnTo>
                    <a:pt x="1280160" y="1362456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254313" y="4013263"/>
          <a:ext cx="1094105" cy="1463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24180" algn="l"/>
                        </a:tabLst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f	</a:t>
                      </a:r>
                      <a:r>
                        <a:rPr sz="2100" b="1" spc="-7" baseline="3968" dirty="0">
                          <a:latin typeface="Arial"/>
                          <a:cs typeface="Arial"/>
                        </a:rPr>
                        <a:t>0</a:t>
                      </a:r>
                      <a:endParaRPr sz="2100" baseline="3968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400" b="1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spc="-7" baseline="1984" dirty="0">
                          <a:latin typeface="Arial"/>
                          <a:cs typeface="Arial"/>
                        </a:rPr>
                        <a:t>i</a:t>
                      </a:r>
                      <a:endParaRPr sz="2100" baseline="1984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R="120650" algn="ctr">
                        <a:lnSpc>
                          <a:spcPts val="165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57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389632" y="4693920"/>
            <a:ext cx="222250" cy="91440"/>
          </a:xfrm>
          <a:custGeom>
            <a:avLst/>
            <a:gdLst/>
            <a:ahLst/>
            <a:cxnLst/>
            <a:rect l="l" t="t" r="r" b="b"/>
            <a:pathLst>
              <a:path w="222250" h="91439">
                <a:moveTo>
                  <a:pt x="222250" y="0"/>
                </a:moveTo>
                <a:lnTo>
                  <a:pt x="0" y="91058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1800" y="4706111"/>
            <a:ext cx="231775" cy="91440"/>
          </a:xfrm>
          <a:custGeom>
            <a:avLst/>
            <a:gdLst/>
            <a:ahLst/>
            <a:cxnLst/>
            <a:rect l="l" t="t" r="r" b="b"/>
            <a:pathLst>
              <a:path w="231775" h="91439">
                <a:moveTo>
                  <a:pt x="231267" y="0"/>
                </a:moveTo>
                <a:lnTo>
                  <a:pt x="0" y="91058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68929" y="287273"/>
            <a:ext cx="3366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2669" algn="l"/>
              </a:tabLst>
            </a:pPr>
            <a:r>
              <a:rPr sz="2400" b="1" u="sng" spc="-65" dirty="0">
                <a:latin typeface="Arial"/>
                <a:cs typeface="Arial"/>
              </a:rPr>
              <a:t>PAGE	</a:t>
            </a:r>
            <a:r>
              <a:rPr sz="2400" b="1" u="sng" spc="-10" dirty="0">
                <a:latin typeface="Arial"/>
                <a:cs typeface="Arial"/>
              </a:rPr>
              <a:t>REPLACEMENT</a:t>
            </a:r>
            <a:endParaRPr sz="2400" u="sng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74811" y="2549474"/>
            <a:ext cx="647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spc="-10" dirty="0">
                <a:latin typeface="Arial"/>
                <a:cs typeface="Arial"/>
              </a:rPr>
              <a:t>r</a:t>
            </a:r>
            <a:r>
              <a:rPr sz="1800" b="1" spc="-20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1000" y="789760"/>
            <a:ext cx="7741284" cy="25774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9710" marR="1726564">
              <a:lnSpc>
                <a:spcPct val="101099"/>
              </a:lnSpc>
              <a:spcBef>
                <a:spcPts val="75"/>
              </a:spcBef>
            </a:pPr>
            <a:r>
              <a:rPr sz="1800" b="1" dirty="0">
                <a:latin typeface="Arial"/>
                <a:cs typeface="Arial"/>
              </a:rPr>
              <a:t>Decision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which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displace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make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room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incoming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when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free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available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  <a:spcBef>
                <a:spcPts val="985"/>
              </a:spcBef>
            </a:pPr>
            <a:r>
              <a:rPr sz="1800" b="1" dirty="0">
                <a:latin typeface="Arial"/>
                <a:cs typeface="Arial"/>
              </a:rPr>
              <a:t>Modified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service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routine</a:t>
            </a:r>
            <a:endParaRPr sz="1800">
              <a:latin typeface="Arial"/>
              <a:cs typeface="Arial"/>
            </a:endParaRPr>
          </a:p>
          <a:p>
            <a:pPr marL="512445" indent="-257175">
              <a:lnSpc>
                <a:spcPts val="2100"/>
              </a:lnSpc>
              <a:buAutoNum type="arabicPeriod"/>
              <a:tabLst>
                <a:tab pos="513080" algn="l"/>
              </a:tabLst>
            </a:pPr>
            <a:r>
              <a:rPr sz="1800" b="1" dirty="0">
                <a:latin typeface="Arial"/>
                <a:cs typeface="Arial"/>
              </a:rPr>
              <a:t>Find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location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 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desired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backing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store</a:t>
            </a:r>
            <a:endParaRPr sz="1800">
              <a:latin typeface="Arial"/>
              <a:cs typeface="Arial"/>
            </a:endParaRPr>
          </a:p>
          <a:p>
            <a:pPr marL="512445" indent="-257175">
              <a:lnSpc>
                <a:spcPts val="2100"/>
              </a:lnSpc>
              <a:buAutoNum type="arabicPeriod"/>
              <a:tabLst>
                <a:tab pos="513080" algn="l"/>
              </a:tabLst>
            </a:pPr>
            <a:r>
              <a:rPr sz="1800" b="1" dirty="0">
                <a:latin typeface="Arial"/>
                <a:cs typeface="Arial"/>
              </a:rPr>
              <a:t>Find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free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</a:t>
            </a:r>
            <a:endParaRPr sz="1800">
              <a:latin typeface="Arial"/>
              <a:cs typeface="Arial"/>
            </a:endParaRPr>
          </a:p>
          <a:p>
            <a:pPr marL="905510" lvl="1" indent="-143510">
              <a:lnSpc>
                <a:spcPts val="2100"/>
              </a:lnSpc>
              <a:buFont typeface="Arial MT"/>
              <a:buChar char="-"/>
              <a:tabLst>
                <a:tab pos="906144" algn="l"/>
              </a:tabLst>
            </a:pPr>
            <a:r>
              <a:rPr sz="1800" b="1" dirty="0">
                <a:latin typeface="Arial"/>
                <a:cs typeface="Arial"/>
              </a:rPr>
              <a:t>If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free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  <a:p>
            <a:pPr marL="905510" lvl="1" indent="-143510">
              <a:lnSpc>
                <a:spcPts val="2100"/>
              </a:lnSpc>
              <a:buFont typeface="Arial MT"/>
              <a:buChar char="-"/>
              <a:tabLst>
                <a:tab pos="906144" algn="l"/>
              </a:tabLst>
            </a:pPr>
            <a:r>
              <a:rPr sz="1800" b="1" dirty="0">
                <a:latin typeface="Arial"/>
                <a:cs typeface="Arial"/>
              </a:rPr>
              <a:t>Otherwise,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 page-replacement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algorithm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select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victim</a:t>
            </a:r>
            <a:endParaRPr sz="1800">
              <a:latin typeface="Arial"/>
              <a:cs typeface="Arial"/>
            </a:endParaRPr>
          </a:p>
          <a:p>
            <a:pPr marL="905510" lvl="1" indent="-143510">
              <a:lnSpc>
                <a:spcPts val="2100"/>
              </a:lnSpc>
              <a:buFont typeface="Arial MT"/>
              <a:buChar char="-"/>
              <a:tabLst>
                <a:tab pos="906144" algn="l"/>
              </a:tabLst>
            </a:pPr>
            <a:r>
              <a:rPr sz="1800" b="1" spc="-5" dirty="0">
                <a:latin typeface="Arial"/>
                <a:cs typeface="Arial"/>
              </a:rPr>
              <a:t>Write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victim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backing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store</a:t>
            </a:r>
            <a:endParaRPr sz="1800">
              <a:latin typeface="Arial"/>
              <a:cs typeface="Arial"/>
            </a:endParaRPr>
          </a:p>
          <a:p>
            <a:pPr marL="512445" indent="-257175">
              <a:lnSpc>
                <a:spcPts val="2135"/>
              </a:lnSpc>
              <a:buAutoNum type="arabicPeriod"/>
              <a:tabLst>
                <a:tab pos="513080" algn="l"/>
              </a:tabLst>
            </a:pPr>
            <a:r>
              <a:rPr sz="1800" b="1" dirty="0">
                <a:latin typeface="Arial"/>
                <a:cs typeface="Arial"/>
              </a:rPr>
              <a:t>Read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desired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(newly)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free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9020" y="3336112"/>
            <a:ext cx="29533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4.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Restart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7086" y="3804665"/>
            <a:ext cx="5080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latin typeface="Arial"/>
                <a:cs typeface="Arial"/>
              </a:rPr>
              <a:t>f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5" dirty="0">
                <a:latin typeface="Arial"/>
                <a:cs typeface="Arial"/>
              </a:rPr>
              <a:t>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3036" y="3605021"/>
            <a:ext cx="834390" cy="4254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480"/>
              </a:lnSpc>
              <a:spcBef>
                <a:spcPts val="305"/>
              </a:spcBef>
            </a:pPr>
            <a:r>
              <a:rPr sz="1400" b="1" spc="-20" dirty="0">
                <a:latin typeface="Arial"/>
                <a:cs typeface="Arial"/>
              </a:rPr>
              <a:t>valid/ 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i</a:t>
            </a:r>
            <a:r>
              <a:rPr sz="1400" b="1" spc="-20" dirty="0">
                <a:latin typeface="Arial"/>
                <a:cs typeface="Arial"/>
              </a:rPr>
              <a:t>n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5" dirty="0">
                <a:latin typeface="Arial"/>
                <a:cs typeface="Arial"/>
              </a:rPr>
              <a:t>l</a:t>
            </a:r>
            <a:r>
              <a:rPr sz="1400" b="1" spc="-15" dirty="0">
                <a:latin typeface="Arial"/>
                <a:cs typeface="Arial"/>
              </a:rPr>
              <a:t>i</a:t>
            </a:r>
            <a:r>
              <a:rPr sz="1400" b="1" spc="-5" dirty="0">
                <a:latin typeface="Arial"/>
                <a:cs typeface="Arial"/>
              </a:rPr>
              <a:t>d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b</a:t>
            </a:r>
            <a:r>
              <a:rPr sz="1400" b="1" spc="-5" dirty="0"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07411" y="5559958"/>
            <a:ext cx="8864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latin typeface="Arial"/>
                <a:cs typeface="Arial"/>
              </a:rPr>
              <a:t>p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g</a:t>
            </a:r>
            <a:r>
              <a:rPr sz="1400" b="1" spc="-5" dirty="0">
                <a:latin typeface="Arial"/>
                <a:cs typeface="Arial"/>
              </a:rPr>
              <a:t>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ta</a:t>
            </a:r>
            <a:r>
              <a:rPr sz="1400" b="1" spc="-20" dirty="0">
                <a:latin typeface="Arial"/>
                <a:cs typeface="Arial"/>
              </a:rPr>
              <a:t>b</a:t>
            </a:r>
            <a:r>
              <a:rPr sz="1400" b="1" spc="-5" dirty="0">
                <a:latin typeface="Arial"/>
                <a:cs typeface="Arial"/>
              </a:rPr>
              <a:t>le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0711" y="4956047"/>
            <a:ext cx="210312" cy="20116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452621" y="4513529"/>
            <a:ext cx="1078230" cy="115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35"/>
              </a:lnSpc>
              <a:spcBef>
                <a:spcPts val="95"/>
              </a:spcBef>
            </a:pPr>
            <a:r>
              <a:rPr sz="2100" b="1" spc="-7" baseline="23809" dirty="0">
                <a:latin typeface="Arial"/>
                <a:cs typeface="Arial"/>
              </a:rPr>
              <a:t>2</a:t>
            </a:r>
            <a:r>
              <a:rPr sz="2100" b="1" spc="419" baseline="23809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change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to</a:t>
            </a:r>
            <a:endParaRPr sz="1400">
              <a:latin typeface="Arial"/>
              <a:cs typeface="Arial"/>
            </a:endParaRPr>
          </a:p>
          <a:p>
            <a:pPr marL="210820">
              <a:lnSpc>
                <a:spcPts val="1535"/>
              </a:lnSpc>
            </a:pPr>
            <a:r>
              <a:rPr sz="1400" b="1" spc="-15" dirty="0">
                <a:latin typeface="Arial"/>
                <a:cs typeface="Arial"/>
              </a:rPr>
              <a:t>invalid</a:t>
            </a:r>
            <a:endParaRPr sz="1400">
              <a:latin typeface="Arial"/>
              <a:cs typeface="Arial"/>
            </a:endParaRPr>
          </a:p>
          <a:p>
            <a:pPr marL="21590">
              <a:lnSpc>
                <a:spcPts val="1560"/>
              </a:lnSpc>
              <a:spcBef>
                <a:spcPts val="20"/>
              </a:spcBef>
            </a:pPr>
            <a:r>
              <a:rPr sz="1400" b="1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marL="186055" marR="5080">
              <a:lnSpc>
                <a:spcPct val="80100"/>
              </a:lnSpc>
              <a:spcBef>
                <a:spcPts val="215"/>
              </a:spcBef>
            </a:pP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15" dirty="0">
                <a:latin typeface="Arial"/>
                <a:cs typeface="Arial"/>
              </a:rPr>
              <a:t>ese</a:t>
            </a:r>
            <a:r>
              <a:rPr sz="1400" b="1" spc="-5" dirty="0">
                <a:latin typeface="Arial"/>
                <a:cs typeface="Arial"/>
              </a:rPr>
              <a:t>t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p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g</a:t>
            </a:r>
            <a:r>
              <a:rPr sz="1400" b="1" spc="-5" dirty="0">
                <a:latin typeface="Arial"/>
                <a:cs typeface="Arial"/>
              </a:rPr>
              <a:t>e  </a:t>
            </a:r>
            <a:r>
              <a:rPr sz="1400" b="1" spc="-10" dirty="0">
                <a:latin typeface="Arial"/>
                <a:cs typeface="Arial"/>
              </a:rPr>
              <a:t>table </a:t>
            </a:r>
            <a:r>
              <a:rPr sz="1400" b="1" spc="-15" dirty="0">
                <a:latin typeface="Arial"/>
                <a:cs typeface="Arial"/>
              </a:rPr>
              <a:t>for 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new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687887" y="3608387"/>
          <a:ext cx="809625" cy="261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299"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b="1" spc="-15" dirty="0">
                          <a:latin typeface="Arial"/>
                          <a:cs typeface="Arial"/>
                        </a:rPr>
                        <a:t>victim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7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5513641" y="4209288"/>
            <a:ext cx="1975485" cy="902335"/>
            <a:chOff x="5513641" y="4209288"/>
            <a:chExt cx="1975485" cy="90233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255" y="4355592"/>
              <a:ext cx="115824" cy="7315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526023" y="4322000"/>
              <a:ext cx="1950720" cy="777240"/>
            </a:xfrm>
            <a:custGeom>
              <a:avLst/>
              <a:gdLst/>
              <a:ahLst/>
              <a:cxnLst/>
              <a:rect l="l" t="t" r="r" b="b"/>
              <a:pathLst>
                <a:path w="1950720" h="777239">
                  <a:moveTo>
                    <a:pt x="0" y="347281"/>
                  </a:moveTo>
                  <a:lnTo>
                    <a:pt x="1090929" y="67119"/>
                  </a:lnTo>
                </a:path>
                <a:path w="1950720" h="777239">
                  <a:moveTo>
                    <a:pt x="1213103" y="150939"/>
                  </a:moveTo>
                  <a:lnTo>
                    <a:pt x="1397507" y="150939"/>
                  </a:lnTo>
                  <a:lnTo>
                    <a:pt x="1397507" y="0"/>
                  </a:lnTo>
                  <a:lnTo>
                    <a:pt x="1213103" y="0"/>
                  </a:lnTo>
                  <a:lnTo>
                    <a:pt x="1213103" y="150939"/>
                  </a:lnTo>
                  <a:close/>
                </a:path>
                <a:path w="1950720" h="777239">
                  <a:moveTo>
                    <a:pt x="1766316" y="776922"/>
                  </a:moveTo>
                  <a:lnTo>
                    <a:pt x="1950720" y="776922"/>
                  </a:lnTo>
                  <a:lnTo>
                    <a:pt x="1950720" y="625983"/>
                  </a:lnTo>
                  <a:lnTo>
                    <a:pt x="1766316" y="625983"/>
                  </a:lnTo>
                  <a:lnTo>
                    <a:pt x="1766316" y="77692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4311" y="4739640"/>
              <a:ext cx="115824" cy="762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623559" y="4782312"/>
              <a:ext cx="1670685" cy="292735"/>
            </a:xfrm>
            <a:custGeom>
              <a:avLst/>
              <a:gdLst/>
              <a:ahLst/>
              <a:cxnLst/>
              <a:rect l="l" t="t" r="r" b="b"/>
              <a:pathLst>
                <a:path w="1670684" h="292735">
                  <a:moveTo>
                    <a:pt x="1670304" y="292607"/>
                  </a:moveTo>
                  <a:lnTo>
                    <a:pt x="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4791" y="4209288"/>
              <a:ext cx="213360" cy="18897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608065" y="3815333"/>
            <a:ext cx="737870" cy="7499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93675" marR="92075">
              <a:lnSpc>
                <a:spcPts val="1340"/>
              </a:lnSpc>
              <a:spcBef>
                <a:spcPts val="420"/>
              </a:spcBef>
            </a:pPr>
            <a:r>
              <a:rPr sz="1400" b="1" spc="-15" dirty="0">
                <a:latin typeface="Arial"/>
                <a:cs typeface="Arial"/>
              </a:rPr>
              <a:t>s</a:t>
            </a:r>
            <a:r>
              <a:rPr sz="1400" b="1" spc="10" dirty="0">
                <a:latin typeface="Arial"/>
                <a:cs typeface="Arial"/>
              </a:rPr>
              <a:t>w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5" dirty="0">
                <a:latin typeface="Arial"/>
                <a:cs typeface="Arial"/>
              </a:rPr>
              <a:t>p  </a:t>
            </a:r>
            <a:r>
              <a:rPr sz="1400" b="1" spc="-20" dirty="0">
                <a:latin typeface="Arial"/>
                <a:cs typeface="Arial"/>
              </a:rPr>
              <a:t>out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135"/>
              </a:lnSpc>
            </a:pPr>
            <a:r>
              <a:rPr sz="2100" b="1" spc="-7" baseline="-7936" dirty="0">
                <a:latin typeface="Arial"/>
                <a:cs typeface="Arial"/>
              </a:rPr>
              <a:t>1</a:t>
            </a:r>
            <a:r>
              <a:rPr sz="2100" b="1" spc="22" baseline="-7936" dirty="0">
                <a:latin typeface="Arial"/>
                <a:cs typeface="Arial"/>
              </a:rPr>
              <a:t> </a:t>
            </a:r>
            <a:r>
              <a:rPr sz="1400" b="1" spc="-15" dirty="0">
                <a:latin typeface="Arial"/>
                <a:cs typeface="Arial"/>
              </a:rPr>
              <a:t>victim</a:t>
            </a:r>
            <a:endParaRPr sz="1400">
              <a:latin typeface="Arial"/>
              <a:cs typeface="Arial"/>
            </a:endParaRPr>
          </a:p>
          <a:p>
            <a:pPr marL="59055" algn="ctr">
              <a:lnSpc>
                <a:spcPts val="1575"/>
              </a:lnSpc>
            </a:pPr>
            <a:r>
              <a:rPr sz="1400" b="1" spc="-15" dirty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11367" y="4834128"/>
            <a:ext cx="213360" cy="19811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652642" y="4802200"/>
            <a:ext cx="688340" cy="784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55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  <a:p>
            <a:pPr marL="48895" marR="5080">
              <a:lnSpc>
                <a:spcPct val="79300"/>
              </a:lnSpc>
              <a:spcBef>
                <a:spcPts val="325"/>
              </a:spcBef>
            </a:pPr>
            <a:r>
              <a:rPr sz="1400" b="1" spc="-15" dirty="0">
                <a:latin typeface="Arial"/>
                <a:cs typeface="Arial"/>
              </a:rPr>
              <a:t>swap 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d</a:t>
            </a:r>
            <a:r>
              <a:rPr sz="1400" b="1" spc="-15" dirty="0">
                <a:latin typeface="Arial"/>
                <a:cs typeface="Arial"/>
              </a:rPr>
              <a:t>es</a:t>
            </a:r>
            <a:r>
              <a:rPr sz="1400" b="1" spc="-5" dirty="0">
                <a:latin typeface="Arial"/>
                <a:cs typeface="Arial"/>
              </a:rPr>
              <a:t>i</a:t>
            </a:r>
            <a:r>
              <a:rPr sz="1400" b="1" dirty="0">
                <a:latin typeface="Arial"/>
                <a:cs typeface="Arial"/>
              </a:rPr>
              <a:t>r</a:t>
            </a:r>
            <a:r>
              <a:rPr sz="1400" b="1" spc="-15" dirty="0">
                <a:latin typeface="Arial"/>
                <a:cs typeface="Arial"/>
              </a:rPr>
              <a:t>e</a:t>
            </a:r>
            <a:r>
              <a:rPr sz="1400" b="1" spc="-5" dirty="0">
                <a:latin typeface="Arial"/>
                <a:cs typeface="Arial"/>
              </a:rPr>
              <a:t>d  </a:t>
            </a:r>
            <a:r>
              <a:rPr sz="1400" b="1" spc="-20" dirty="0">
                <a:latin typeface="Arial"/>
                <a:cs typeface="Arial"/>
              </a:rPr>
              <a:t>p</a:t>
            </a:r>
            <a:r>
              <a:rPr sz="1400" b="1" spc="-15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g</a:t>
            </a:r>
            <a:r>
              <a:rPr sz="1400" b="1" spc="-5" dirty="0">
                <a:latin typeface="Arial"/>
                <a:cs typeface="Arial"/>
              </a:rPr>
              <a:t>e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99046" y="5449315"/>
            <a:ext cx="11582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latin typeface="Arial"/>
                <a:cs typeface="Arial"/>
              </a:rPr>
              <a:t>b</a:t>
            </a:r>
            <a:r>
              <a:rPr sz="1400" b="1" spc="-15" dirty="0">
                <a:latin typeface="Arial"/>
                <a:cs typeface="Arial"/>
              </a:rPr>
              <a:t>ack</a:t>
            </a:r>
            <a:r>
              <a:rPr sz="1400" b="1" spc="-5" dirty="0">
                <a:latin typeface="Arial"/>
                <a:cs typeface="Arial"/>
              </a:rPr>
              <a:t>i</a:t>
            </a:r>
            <a:r>
              <a:rPr sz="1400" b="1" spc="-20" dirty="0">
                <a:latin typeface="Arial"/>
                <a:cs typeface="Arial"/>
              </a:rPr>
              <a:t>n</a:t>
            </a:r>
            <a:r>
              <a:rPr sz="1400" b="1" spc="-5" dirty="0">
                <a:latin typeface="Arial"/>
                <a:cs typeface="Arial"/>
              </a:rPr>
              <a:t>g</a:t>
            </a:r>
            <a:r>
              <a:rPr sz="1400" b="1" spc="-9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s</a:t>
            </a:r>
            <a:r>
              <a:rPr sz="1400" b="1" spc="-15" dirty="0">
                <a:latin typeface="Arial"/>
                <a:cs typeface="Arial"/>
              </a:rPr>
              <a:t>to</a:t>
            </a:r>
            <a:r>
              <a:rPr sz="1400" b="1" spc="5" dirty="0">
                <a:latin typeface="Arial"/>
                <a:cs typeface="Arial"/>
              </a:rPr>
              <a:t>r</a:t>
            </a:r>
            <a:r>
              <a:rPr sz="1400" b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97704" y="6276543"/>
            <a:ext cx="14598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latin typeface="Arial"/>
                <a:cs typeface="Arial"/>
              </a:rPr>
              <a:t>physical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32954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4538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0065" algn="l"/>
              </a:tabLst>
            </a:pPr>
            <a:r>
              <a:rPr sz="2100" b="1" i="1" spc="7" baseline="3968" dirty="0">
                <a:latin typeface="Arial"/>
                <a:cs typeface="Arial"/>
              </a:rPr>
              <a:t>M</a:t>
            </a:r>
            <a:r>
              <a:rPr sz="2100" b="1" i="1" spc="-22" baseline="3968" dirty="0">
                <a:latin typeface="Arial"/>
                <a:cs typeface="Arial"/>
              </a:rPr>
              <a:t>e</a:t>
            </a:r>
            <a:r>
              <a:rPr sz="2100" b="1" i="1" baseline="3968" dirty="0">
                <a:latin typeface="Arial"/>
                <a:cs typeface="Arial"/>
              </a:rPr>
              <a:t>m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7" baseline="3968" dirty="0">
                <a:latin typeface="Arial"/>
                <a:cs typeface="Arial"/>
              </a:rPr>
              <a:t>y</a:t>
            </a:r>
            <a:r>
              <a:rPr sz="2100" b="1" i="1" spc="-52" baseline="3968" dirty="0">
                <a:latin typeface="Arial"/>
                <a:cs typeface="Arial"/>
              </a:rPr>
              <a:t> </a:t>
            </a:r>
            <a:r>
              <a:rPr sz="2100" b="1" i="1" spc="-22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22" baseline="3968" dirty="0">
                <a:latin typeface="Arial"/>
                <a:cs typeface="Arial"/>
              </a:rPr>
              <a:t>ga</a:t>
            </a:r>
            <a:r>
              <a:rPr sz="2100" b="1" i="1" spc="-30" baseline="3968" dirty="0">
                <a:latin typeface="Arial"/>
                <a:cs typeface="Arial"/>
              </a:rPr>
              <a:t>n</a:t>
            </a:r>
            <a:r>
              <a:rPr sz="2100" b="1" i="1" spc="-7" baseline="3968" dirty="0">
                <a:latin typeface="Arial"/>
                <a:cs typeface="Arial"/>
              </a:rPr>
              <a:t>iz</a:t>
            </a:r>
            <a:r>
              <a:rPr sz="2100" b="1" i="1" spc="-22" baseline="3968" dirty="0">
                <a:latin typeface="Arial"/>
                <a:cs typeface="Arial"/>
              </a:rPr>
              <a:t>at</a:t>
            </a:r>
            <a:r>
              <a:rPr sz="2100" b="1" i="1" spc="-15" baseline="3968" dirty="0">
                <a:latin typeface="Arial"/>
                <a:cs typeface="Arial"/>
              </a:rPr>
              <a:t>i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-7" baseline="3968" dirty="0">
                <a:latin typeface="Arial"/>
                <a:cs typeface="Arial"/>
              </a:rPr>
              <a:t>n</a:t>
            </a:r>
            <a:r>
              <a:rPr sz="2100" b="1" i="1" baseline="3968" dirty="0">
                <a:latin typeface="Arial"/>
                <a:cs typeface="Arial"/>
              </a:rPr>
              <a:t>	</a:t>
            </a:r>
            <a:r>
              <a:rPr sz="1400" b="1" spc="-15" dirty="0"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24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14626" y="282702"/>
            <a:ext cx="558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6480" algn="l"/>
                <a:tab pos="3533775" algn="l"/>
              </a:tabLst>
            </a:pPr>
            <a:r>
              <a:rPr u="sng" spc="-20" dirty="0"/>
              <a:t>PAGE	</a:t>
            </a:r>
            <a:r>
              <a:rPr u="sng" spc="-10" dirty="0"/>
              <a:t>REPLACEMENT	ALGORITHMS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646" y="825753"/>
            <a:ext cx="548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FIFO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82787" y="1444561"/>
          <a:ext cx="14605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08137" y="1444561"/>
          <a:ext cx="14605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340038" y="1444561"/>
          <a:ext cx="16383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32384" algn="ctr">
                        <a:lnSpc>
                          <a:spcPts val="1435"/>
                        </a:lnSpc>
                        <a:spcBef>
                          <a:spcPts val="5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13970" algn="ctr">
                        <a:lnSpc>
                          <a:spcPts val="13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716212" y="1444561"/>
          <a:ext cx="147955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1115">
                        <a:lnSpc>
                          <a:spcPts val="13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451288" y="1444561"/>
          <a:ext cx="161925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1115" algn="r">
                        <a:lnSpc>
                          <a:spcPts val="13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24287" y="1444561"/>
          <a:ext cx="147955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0480" algn="ctr">
                        <a:lnSpc>
                          <a:spcPts val="13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200588" y="1444561"/>
          <a:ext cx="14605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8255" algn="ctr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559363" y="1444561"/>
          <a:ext cx="16383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R="23495" algn="r">
                        <a:lnSpc>
                          <a:spcPts val="1435"/>
                        </a:lnSpc>
                        <a:spcBef>
                          <a:spcPts val="5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23495" algn="r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935537" y="1444561"/>
          <a:ext cx="14478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19685" algn="r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308663" y="1444561"/>
          <a:ext cx="147955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38100">
                        <a:lnSpc>
                          <a:spcPts val="1435"/>
                        </a:lnSpc>
                        <a:spcBef>
                          <a:spcPts val="5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8100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418262" y="1444561"/>
          <a:ext cx="14605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8735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777037" y="1444561"/>
          <a:ext cx="16383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8735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902638" y="1444561"/>
          <a:ext cx="146050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33020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261413" y="1444561"/>
          <a:ext cx="161925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778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20320" algn="r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8636063" y="1444561"/>
          <a:ext cx="147955" cy="601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675"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841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15240" algn="r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549653" y="2162632"/>
            <a:ext cx="9220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00302" y="909486"/>
            <a:ext cx="7147559" cy="49022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489"/>
              </a:spcBef>
            </a:pPr>
            <a:r>
              <a:rPr sz="1200" b="1" spc="-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ce</a:t>
            </a:r>
            <a:r>
              <a:rPr sz="1200" b="1" spc="-1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87350" algn="l"/>
                <a:tab pos="759460" algn="l"/>
                <a:tab pos="1118870" algn="l"/>
                <a:tab pos="1499870" algn="l"/>
                <a:tab pos="1878330" algn="l"/>
                <a:tab pos="2228850" algn="l"/>
                <a:tab pos="2604135" algn="l"/>
                <a:tab pos="2981960" algn="l"/>
                <a:tab pos="3338829" algn="l"/>
                <a:tab pos="3716654" algn="l"/>
                <a:tab pos="4088765" algn="l"/>
                <a:tab pos="4451985" algn="l"/>
                <a:tab pos="4826635" algn="l"/>
                <a:tab pos="5198745" algn="l"/>
                <a:tab pos="5561330" algn="l"/>
                <a:tab pos="5936615" algn="l"/>
                <a:tab pos="6314440" algn="l"/>
                <a:tab pos="6683375" algn="l"/>
                <a:tab pos="7049770" algn="l"/>
              </a:tabLst>
            </a:pPr>
            <a:r>
              <a:rPr sz="1200" b="1" spc="-5" dirty="0">
                <a:latin typeface="Arial"/>
                <a:cs typeface="Arial"/>
              </a:rPr>
              <a:t>7	0	1	2	0	3	0	4	2	3	0	3	2	1	2	0	1	7	0	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5580" y="3202381"/>
            <a:ext cx="102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7120" y="2604338"/>
            <a:ext cx="8045450" cy="7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FIFO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algorithm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selects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been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longest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895"/>
              </a:lnSpc>
            </a:pP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queue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every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loaded,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its</a:t>
            </a:r>
            <a:endParaRPr sz="1800">
              <a:latin typeface="Arial"/>
              <a:cs typeface="Arial"/>
            </a:endParaRPr>
          </a:p>
          <a:p>
            <a:pPr marL="1729105">
              <a:lnSpc>
                <a:spcPts val="2030"/>
              </a:lnSpc>
            </a:pPr>
            <a:r>
              <a:rPr sz="1800" b="1" dirty="0">
                <a:latin typeface="Arial"/>
                <a:cs typeface="Arial"/>
              </a:rPr>
              <a:t>identification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inserted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queue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4947" y="3339210"/>
            <a:ext cx="7478395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>
              <a:lnSpc>
                <a:spcPts val="2135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Easy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implement</a:t>
            </a:r>
            <a:endParaRPr sz="1800">
              <a:latin typeface="Arial"/>
              <a:cs typeface="Arial"/>
            </a:endParaRPr>
          </a:p>
          <a:p>
            <a:pPr marL="335280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May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result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 frequent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Optimal</a:t>
            </a:r>
            <a:r>
              <a:rPr sz="1800" b="1" u="heavy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Replacement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(OPT)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5" dirty="0">
                <a:latin typeface="Arial"/>
                <a:cs typeface="Arial"/>
              </a:rPr>
              <a:t> Lowest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rate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all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algorithms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2791" y="4486655"/>
            <a:ext cx="7836534" cy="34480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29"/>
              </a:spcBef>
            </a:pPr>
            <a:r>
              <a:rPr sz="1800" b="1" dirty="0">
                <a:latin typeface="Arial"/>
                <a:cs typeface="Arial"/>
              </a:rPr>
              <a:t>Replace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page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which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will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longest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period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69048" y="5249926"/>
            <a:ext cx="1257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050" algn="l"/>
                <a:tab pos="786765" algn="l"/>
                <a:tab pos="1158875" algn="l"/>
              </a:tabLst>
            </a:pPr>
            <a:r>
              <a:rPr sz="1200" b="1" spc="-5" dirty="0">
                <a:latin typeface="Arial"/>
                <a:cs typeface="Arial"/>
              </a:rPr>
              <a:t>1	7	0	1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1349438" y="5500687"/>
          <a:ext cx="15240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962025" y="5500687"/>
          <a:ext cx="15240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720913" y="5500687"/>
          <a:ext cx="168275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R="32384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32384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marR="32384" algn="r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2108263" y="5500687"/>
          <a:ext cx="15240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marL="33655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2867088" y="5500687"/>
          <a:ext cx="168275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marL="3810" algn="ctr">
                        <a:lnSpc>
                          <a:spcPts val="14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3641788" y="5500687"/>
          <a:ext cx="15240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789487" y="5500687"/>
          <a:ext cx="15113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43815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marL="34925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935662" y="5500687"/>
          <a:ext cx="15113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marL="4445" algn="ctr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7469187" y="5500687"/>
          <a:ext cx="152400" cy="6048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7">
                <a:tc>
                  <a:txBody>
                    <a:bodyPr/>
                    <a:lstStyle/>
                    <a:p>
                      <a:pPr marR="20320" algn="r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896823" y="6225336"/>
            <a:ext cx="920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4423" y="4966609"/>
            <a:ext cx="3549650" cy="4889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480"/>
              </a:spcBef>
            </a:pPr>
            <a:r>
              <a:rPr sz="1200" b="1" spc="-5" dirty="0">
                <a:latin typeface="Arial"/>
                <a:cs typeface="Arial"/>
              </a:rPr>
              <a:t>Re</a:t>
            </a:r>
            <a:r>
              <a:rPr sz="1200" b="1" dirty="0">
                <a:latin typeface="Arial"/>
                <a:cs typeface="Arial"/>
              </a:rPr>
              <a:t>f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-5" dirty="0">
                <a:latin typeface="Arial"/>
                <a:cs typeface="Arial"/>
              </a:rPr>
              <a:t>ce</a:t>
            </a:r>
            <a:r>
              <a:rPr sz="1200" b="1" spc="-1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  <a:tabLst>
                <a:tab pos="399415" algn="l"/>
                <a:tab pos="786765" algn="l"/>
                <a:tab pos="1158875" algn="l"/>
                <a:tab pos="1546225" algn="l"/>
                <a:tab pos="1936114" algn="l"/>
                <a:tab pos="2305050" algn="l"/>
                <a:tab pos="2692400" algn="l"/>
                <a:tab pos="3079750" algn="l"/>
                <a:tab pos="3451860" algn="l"/>
              </a:tabLst>
            </a:pPr>
            <a:r>
              <a:rPr sz="1200" b="1" dirty="0">
                <a:latin typeface="Arial"/>
                <a:cs typeface="Arial"/>
              </a:rPr>
              <a:t>7	0	1	2	0	3	0	4	2	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77334" y="5246319"/>
            <a:ext cx="20097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768350" algn="l"/>
                <a:tab pos="1158875" algn="l"/>
                <a:tab pos="1545590" algn="l"/>
                <a:tab pos="1911985" algn="l"/>
              </a:tabLst>
            </a:pPr>
            <a:r>
              <a:rPr sz="1200" b="1" dirty="0">
                <a:latin typeface="Arial"/>
                <a:cs typeface="Arial"/>
              </a:rPr>
              <a:t>0	3	2	1	2	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66431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4538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0065" algn="l"/>
              </a:tabLst>
            </a:pPr>
            <a:r>
              <a:rPr sz="2100" b="1" i="1" spc="7" baseline="3968" dirty="0">
                <a:latin typeface="Arial"/>
                <a:cs typeface="Arial"/>
              </a:rPr>
              <a:t>M</a:t>
            </a:r>
            <a:r>
              <a:rPr sz="2100" b="1" i="1" spc="-22" baseline="3968" dirty="0">
                <a:latin typeface="Arial"/>
                <a:cs typeface="Arial"/>
              </a:rPr>
              <a:t>e</a:t>
            </a:r>
            <a:r>
              <a:rPr sz="2100" b="1" i="1" baseline="3968" dirty="0">
                <a:latin typeface="Arial"/>
                <a:cs typeface="Arial"/>
              </a:rPr>
              <a:t>m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7" baseline="3968" dirty="0">
                <a:latin typeface="Arial"/>
                <a:cs typeface="Arial"/>
              </a:rPr>
              <a:t>y</a:t>
            </a:r>
            <a:r>
              <a:rPr sz="2100" b="1" i="1" spc="-52" baseline="3968" dirty="0">
                <a:latin typeface="Arial"/>
                <a:cs typeface="Arial"/>
              </a:rPr>
              <a:t> </a:t>
            </a:r>
            <a:r>
              <a:rPr sz="2100" b="1" i="1" spc="-22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22" baseline="3968" dirty="0">
                <a:latin typeface="Arial"/>
                <a:cs typeface="Arial"/>
              </a:rPr>
              <a:t>ga</a:t>
            </a:r>
            <a:r>
              <a:rPr sz="2100" b="1" i="1" spc="-30" baseline="3968" dirty="0">
                <a:latin typeface="Arial"/>
                <a:cs typeface="Arial"/>
              </a:rPr>
              <a:t>n</a:t>
            </a:r>
            <a:r>
              <a:rPr sz="2100" b="1" i="1" spc="-7" baseline="3968" dirty="0">
                <a:latin typeface="Arial"/>
                <a:cs typeface="Arial"/>
              </a:rPr>
              <a:t>iz</a:t>
            </a:r>
            <a:r>
              <a:rPr sz="2100" b="1" i="1" spc="-22" baseline="3968" dirty="0">
                <a:latin typeface="Arial"/>
                <a:cs typeface="Arial"/>
              </a:rPr>
              <a:t>at</a:t>
            </a:r>
            <a:r>
              <a:rPr sz="2100" b="1" i="1" spc="-15" baseline="3968" dirty="0">
                <a:latin typeface="Arial"/>
                <a:cs typeface="Arial"/>
              </a:rPr>
              <a:t>i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-7" baseline="3968" dirty="0">
                <a:latin typeface="Arial"/>
                <a:cs typeface="Arial"/>
              </a:rPr>
              <a:t>n</a:t>
            </a:r>
            <a:r>
              <a:rPr sz="2100" b="1" i="1" baseline="3968" dirty="0">
                <a:latin typeface="Arial"/>
                <a:cs typeface="Arial"/>
              </a:rPr>
              <a:t>	</a:t>
            </a:r>
            <a:r>
              <a:rPr sz="1400" b="1" spc="-15" dirty="0"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07" y="227006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53616" y="268351"/>
            <a:ext cx="558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6480" algn="l"/>
                <a:tab pos="3533775" algn="l"/>
              </a:tabLst>
            </a:pPr>
            <a:r>
              <a:rPr u="sng" spc="-20" dirty="0"/>
              <a:t>PAGE	</a:t>
            </a:r>
            <a:r>
              <a:rPr u="sng" spc="-10" dirty="0"/>
              <a:t>REPLACEMENT	ALGORITHMS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76400" y="1947672"/>
            <a:ext cx="4459605" cy="59436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9860">
              <a:lnSpc>
                <a:spcPts val="2039"/>
              </a:lnSpc>
            </a:pPr>
            <a:r>
              <a:rPr sz="1800" b="1" dirty="0">
                <a:latin typeface="Arial"/>
                <a:cs typeface="Arial"/>
              </a:rPr>
              <a:t>Replace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which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been</a:t>
            </a:r>
            <a:endParaRPr sz="18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longest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period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299" y="836548"/>
            <a:ext cx="7389495" cy="8978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LRU</a:t>
            </a:r>
            <a:endParaRPr sz="1800">
              <a:latin typeface="Arial"/>
              <a:cs typeface="Arial"/>
            </a:endParaRPr>
          </a:p>
          <a:p>
            <a:pPr marL="512445" indent="-140970">
              <a:lnSpc>
                <a:spcPct val="100000"/>
              </a:lnSpc>
              <a:spcBef>
                <a:spcPts val="190"/>
              </a:spcBef>
              <a:buFont typeface="Arial MT"/>
              <a:buChar char="-"/>
              <a:tabLst>
                <a:tab pos="513080" algn="l"/>
              </a:tabLst>
            </a:pPr>
            <a:r>
              <a:rPr sz="1800" b="1" spc="-5" dirty="0">
                <a:latin typeface="Arial"/>
                <a:cs typeface="Arial"/>
              </a:rPr>
              <a:t>OPT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 </a:t>
            </a:r>
            <a:r>
              <a:rPr sz="1800" b="1" dirty="0">
                <a:latin typeface="Arial"/>
                <a:cs typeface="Arial"/>
              </a:rPr>
              <a:t>difficult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implement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since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requires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future </a:t>
            </a:r>
            <a:r>
              <a:rPr sz="1800" b="1" spc="5" dirty="0">
                <a:latin typeface="Arial"/>
                <a:cs typeface="Arial"/>
              </a:rPr>
              <a:t>knowledge</a:t>
            </a:r>
            <a:endParaRPr sz="1800">
              <a:latin typeface="Arial"/>
              <a:cs typeface="Arial"/>
            </a:endParaRPr>
          </a:p>
          <a:p>
            <a:pPr marL="512445" indent="-140970">
              <a:lnSpc>
                <a:spcPct val="100000"/>
              </a:lnSpc>
              <a:buFont typeface="Arial MT"/>
              <a:buChar char="-"/>
              <a:tabLst>
                <a:tab pos="513080" algn="l"/>
              </a:tabLst>
            </a:pPr>
            <a:r>
              <a:rPr sz="1800" b="1" spc="-5" dirty="0">
                <a:latin typeface="Arial"/>
                <a:cs typeface="Arial"/>
              </a:rPr>
              <a:t>LRU</a:t>
            </a:r>
            <a:r>
              <a:rPr sz="1800" b="1" dirty="0">
                <a:latin typeface="Arial"/>
                <a:cs typeface="Arial"/>
              </a:rPr>
              <a:t> uses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recent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past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approximation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near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future.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274887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R="9525" algn="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R="9525" algn="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09762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31115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624137" y="3403536"/>
          <a:ext cx="158750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635" algn="ctr">
                        <a:lnSpc>
                          <a:spcPts val="1405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635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990913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R="12700" algn="r">
                        <a:lnSpc>
                          <a:spcPts val="14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algn="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R="15875" algn="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705288" y="3403536"/>
          <a:ext cx="158750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R="27940" algn="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R="24765" algn="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R="27940" algn="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435538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11430" algn="ct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17780" algn="ct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29845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784788" y="3403536"/>
          <a:ext cx="158750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8255" algn="ct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14604" algn="ct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26670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149913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24765" algn="ct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6350" algn="ct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24765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515038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30480" algn="ctr">
                        <a:lnSpc>
                          <a:spcPts val="1405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12700" algn="ct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48895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594538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1270" algn="ctr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1270" algn="ct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1270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7308913" y="3403536"/>
          <a:ext cx="158750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R="14604" algn="r">
                        <a:lnSpc>
                          <a:spcPts val="1405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R="26670" algn="r">
                        <a:lnSpc>
                          <a:spcPts val="143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R="26670" algn="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8040687" y="3403536"/>
          <a:ext cx="142875" cy="569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150">
                <a:tc>
                  <a:txBody>
                    <a:bodyPr/>
                    <a:lstStyle/>
                    <a:p>
                      <a:pPr marL="7620" algn="ctr">
                        <a:lnSpc>
                          <a:spcPts val="1405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00">
                <a:tc>
                  <a:txBody>
                    <a:bodyPr/>
                    <a:lstStyle/>
                    <a:p>
                      <a:pPr marL="13970" algn="ctr">
                        <a:lnSpc>
                          <a:spcPts val="141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324">
                <a:tc>
                  <a:txBody>
                    <a:bodyPr/>
                    <a:lstStyle/>
                    <a:p>
                      <a:pPr marL="32384" algn="ctr">
                        <a:lnSpc>
                          <a:spcPts val="128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854454" y="4088079"/>
            <a:ext cx="9207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1579" y="2911597"/>
            <a:ext cx="6958965" cy="4641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85"/>
              </a:spcBef>
            </a:pPr>
            <a:r>
              <a:rPr sz="1200" b="1" spc="-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2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  <a:tabLst>
                <a:tab pos="378460" algn="l"/>
                <a:tab pos="744220" algn="l"/>
                <a:tab pos="1092200" algn="l"/>
                <a:tab pos="1457960" algn="l"/>
                <a:tab pos="1823720" algn="l"/>
                <a:tab pos="2177415" algn="l"/>
                <a:tab pos="2540000" algn="l"/>
                <a:tab pos="2905760" algn="l"/>
                <a:tab pos="3250565" algn="l"/>
                <a:tab pos="3619500" algn="l"/>
                <a:tab pos="3985260" algn="l"/>
                <a:tab pos="4332605" algn="l"/>
                <a:tab pos="4702175" algn="l"/>
                <a:tab pos="5067935" algn="l"/>
                <a:tab pos="5415280" algn="l"/>
                <a:tab pos="5781040" algn="l"/>
                <a:tab pos="6146800" algn="l"/>
                <a:tab pos="6516370" algn="l"/>
                <a:tab pos="6860540" algn="l"/>
              </a:tabLst>
            </a:pPr>
            <a:r>
              <a:rPr sz="1200" b="1" dirty="0">
                <a:latin typeface="Arial"/>
                <a:cs typeface="Arial"/>
              </a:rPr>
              <a:t>7	0	1	2	0	3	0	4	2	3	0	3	2	1	2	0	1	7	0	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66431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3780" y="5200599"/>
            <a:ext cx="579310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40335">
              <a:lnSpc>
                <a:spcPct val="100000"/>
              </a:lnSpc>
              <a:spcBef>
                <a:spcPts val="100"/>
              </a:spcBef>
              <a:buFont typeface="Arial MT"/>
              <a:buChar char="-"/>
              <a:tabLst>
                <a:tab pos="165100" algn="l"/>
              </a:tabLst>
            </a:pPr>
            <a:r>
              <a:rPr sz="1800" b="1" dirty="0">
                <a:latin typeface="Arial"/>
                <a:cs typeface="Arial"/>
              </a:rPr>
              <a:t>LRU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require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substantial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hardware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assistance</a:t>
            </a:r>
            <a:endParaRPr sz="1800">
              <a:latin typeface="Arial"/>
              <a:cs typeface="Arial"/>
            </a:endParaRPr>
          </a:p>
          <a:p>
            <a:pPr marL="165100" indent="-152400">
              <a:lnSpc>
                <a:spcPts val="2135"/>
              </a:lnSpc>
              <a:spcBef>
                <a:spcPts val="50"/>
              </a:spcBef>
              <a:buFont typeface="Arial MT"/>
              <a:buChar char="-"/>
              <a:tabLst>
                <a:tab pos="16510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problem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determine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order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frames</a:t>
            </a:r>
            <a:endParaRPr sz="1800">
              <a:latin typeface="Arial"/>
              <a:cs typeface="Arial"/>
            </a:endParaRPr>
          </a:p>
          <a:p>
            <a:pPr marL="165100">
              <a:lnSpc>
                <a:spcPts val="2135"/>
              </a:lnSpc>
            </a:pPr>
            <a:r>
              <a:rPr sz="1800" b="1" dirty="0">
                <a:latin typeface="Arial"/>
                <a:cs typeface="Arial"/>
              </a:rPr>
              <a:t>defined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by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last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45383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0065" algn="l"/>
              </a:tabLst>
            </a:pPr>
            <a:r>
              <a:rPr sz="2100" b="1" i="1" spc="7" baseline="3968" dirty="0">
                <a:latin typeface="Arial"/>
                <a:cs typeface="Arial"/>
              </a:rPr>
              <a:t>M</a:t>
            </a:r>
            <a:r>
              <a:rPr sz="2100" b="1" i="1" spc="-22" baseline="3968" dirty="0">
                <a:latin typeface="Arial"/>
                <a:cs typeface="Arial"/>
              </a:rPr>
              <a:t>e</a:t>
            </a:r>
            <a:r>
              <a:rPr sz="2100" b="1" i="1" baseline="3968" dirty="0">
                <a:latin typeface="Arial"/>
                <a:cs typeface="Arial"/>
              </a:rPr>
              <a:t>m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7" baseline="3968" dirty="0">
                <a:latin typeface="Arial"/>
                <a:cs typeface="Arial"/>
              </a:rPr>
              <a:t>y</a:t>
            </a:r>
            <a:r>
              <a:rPr sz="2100" b="1" i="1" spc="-52" baseline="3968" dirty="0">
                <a:latin typeface="Arial"/>
                <a:cs typeface="Arial"/>
              </a:rPr>
              <a:t> </a:t>
            </a:r>
            <a:r>
              <a:rPr sz="2100" b="1" i="1" spc="-22" baseline="3968" dirty="0">
                <a:latin typeface="Arial"/>
                <a:cs typeface="Arial"/>
              </a:rPr>
              <a:t>O</a:t>
            </a:r>
            <a:r>
              <a:rPr sz="2100" b="1" i="1" spc="7" baseline="3968" dirty="0">
                <a:latin typeface="Arial"/>
                <a:cs typeface="Arial"/>
              </a:rPr>
              <a:t>r</a:t>
            </a:r>
            <a:r>
              <a:rPr sz="2100" b="1" i="1" spc="-22" baseline="3968" dirty="0">
                <a:latin typeface="Arial"/>
                <a:cs typeface="Arial"/>
              </a:rPr>
              <a:t>ga</a:t>
            </a:r>
            <a:r>
              <a:rPr sz="2100" b="1" i="1" spc="-30" baseline="3968" dirty="0">
                <a:latin typeface="Arial"/>
                <a:cs typeface="Arial"/>
              </a:rPr>
              <a:t>n</a:t>
            </a:r>
            <a:r>
              <a:rPr sz="2100" b="1" i="1" spc="-7" baseline="3968" dirty="0">
                <a:latin typeface="Arial"/>
                <a:cs typeface="Arial"/>
              </a:rPr>
              <a:t>iz</a:t>
            </a:r>
            <a:r>
              <a:rPr sz="2100" b="1" i="1" spc="-22" baseline="3968" dirty="0">
                <a:latin typeface="Arial"/>
                <a:cs typeface="Arial"/>
              </a:rPr>
              <a:t>at</a:t>
            </a:r>
            <a:r>
              <a:rPr sz="2100" b="1" i="1" spc="-15" baseline="3968" dirty="0">
                <a:latin typeface="Arial"/>
                <a:cs typeface="Arial"/>
              </a:rPr>
              <a:t>i</a:t>
            </a:r>
            <a:r>
              <a:rPr sz="2100" b="1" i="1" spc="-30" baseline="3968" dirty="0">
                <a:latin typeface="Arial"/>
                <a:cs typeface="Arial"/>
              </a:rPr>
              <a:t>o</a:t>
            </a:r>
            <a:r>
              <a:rPr sz="2100" b="1" i="1" spc="-7" baseline="3968" dirty="0">
                <a:latin typeface="Arial"/>
                <a:cs typeface="Arial"/>
              </a:rPr>
              <a:t>n</a:t>
            </a:r>
            <a:r>
              <a:rPr sz="2100" b="1" i="1" baseline="3968" dirty="0">
                <a:latin typeface="Arial"/>
                <a:cs typeface="Arial"/>
              </a:rPr>
              <a:t>	</a:t>
            </a:r>
            <a:r>
              <a:rPr sz="1400" b="1" spc="-15" dirty="0"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39264" y="263397"/>
            <a:ext cx="5586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5844" algn="l"/>
                <a:tab pos="3533775" algn="l"/>
              </a:tabLst>
            </a:pPr>
            <a:r>
              <a:rPr u="sng" spc="5" dirty="0"/>
              <a:t>P</a:t>
            </a:r>
            <a:r>
              <a:rPr u="sng" spc="-80" dirty="0"/>
              <a:t>A</a:t>
            </a:r>
            <a:r>
              <a:rPr u="sng" dirty="0"/>
              <a:t>GE	</a:t>
            </a:r>
            <a:r>
              <a:rPr u="sng" spc="-5" dirty="0"/>
              <a:t>RE</a:t>
            </a:r>
            <a:r>
              <a:rPr u="sng" spc="5" dirty="0"/>
              <a:t>P</a:t>
            </a:r>
            <a:r>
              <a:rPr u="sng" spc="-5" dirty="0"/>
              <a:t>L</a:t>
            </a:r>
            <a:r>
              <a:rPr u="sng" spc="-80" dirty="0"/>
              <a:t>A</a:t>
            </a:r>
            <a:r>
              <a:rPr u="sng" spc="-5" dirty="0"/>
              <a:t>CEMENT</a:t>
            </a:r>
            <a:r>
              <a:rPr u="sng" dirty="0"/>
              <a:t>	</a:t>
            </a:r>
            <a:r>
              <a:rPr u="sng" spc="-85" dirty="0"/>
              <a:t>A</a:t>
            </a:r>
            <a:r>
              <a:rPr u="sng" dirty="0"/>
              <a:t>LG</a:t>
            </a:r>
            <a:r>
              <a:rPr u="sng" spc="5" dirty="0"/>
              <a:t>O</a:t>
            </a:r>
            <a:r>
              <a:rPr u="sng" spc="-5" dirty="0"/>
              <a:t>RIT</a:t>
            </a:r>
            <a:r>
              <a:rPr u="sng" spc="-15" dirty="0"/>
              <a:t>H</a:t>
            </a:r>
            <a:r>
              <a:rPr u="sng" dirty="0"/>
              <a:t>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3249" y="5069965"/>
            <a:ext cx="6603365" cy="14097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b="1" spc="-5" dirty="0">
                <a:latin typeface="Arial"/>
                <a:cs typeface="Arial"/>
              </a:rPr>
              <a:t>LRU</a:t>
            </a:r>
            <a:r>
              <a:rPr sz="1800" b="1" spc="-190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5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ro</a:t>
            </a:r>
            <a:r>
              <a:rPr sz="1800" b="1" dirty="0">
                <a:latin typeface="Arial"/>
                <a:cs typeface="Arial"/>
              </a:rPr>
              <a:t>x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mati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762635" indent="-144145">
              <a:lnSpc>
                <a:spcPts val="2125"/>
              </a:lnSpc>
              <a:spcBef>
                <a:spcPts val="145"/>
              </a:spcBef>
              <a:buFont typeface="Arial MT"/>
              <a:buChar char="-"/>
              <a:tabLst>
                <a:tab pos="763270" algn="l"/>
              </a:tabLst>
            </a:pPr>
            <a:r>
              <a:rPr sz="1800" b="1" dirty="0">
                <a:latin typeface="Arial"/>
                <a:cs typeface="Arial"/>
              </a:rPr>
              <a:t>Reference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(or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use)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bit 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approximate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LRU</a:t>
            </a:r>
            <a:endParaRPr sz="1800">
              <a:latin typeface="Arial"/>
              <a:cs typeface="Arial"/>
            </a:endParaRPr>
          </a:p>
          <a:p>
            <a:pPr marL="762635" indent="-144145">
              <a:lnSpc>
                <a:spcPts val="2100"/>
              </a:lnSpc>
              <a:buFont typeface="Arial MT"/>
              <a:buChar char="-"/>
              <a:tabLst>
                <a:tab pos="763270" algn="l"/>
              </a:tabLst>
            </a:pPr>
            <a:r>
              <a:rPr sz="1800" b="1" spc="-45" dirty="0">
                <a:latin typeface="Arial"/>
                <a:cs typeface="Arial"/>
              </a:rPr>
              <a:t>Turned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when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corresponding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  <a:p>
            <a:pPr marL="747395">
              <a:lnSpc>
                <a:spcPts val="2100"/>
              </a:lnSpc>
            </a:pPr>
            <a:r>
              <a:rPr sz="1800" b="1" dirty="0">
                <a:latin typeface="Arial"/>
                <a:cs typeface="Arial"/>
              </a:rPr>
              <a:t>referenced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after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initial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loading</a:t>
            </a:r>
            <a:endParaRPr sz="1800">
              <a:latin typeface="Arial"/>
              <a:cs typeface="Arial"/>
            </a:endParaRPr>
          </a:p>
          <a:p>
            <a:pPr marL="750570" indent="-132080">
              <a:lnSpc>
                <a:spcPts val="2125"/>
              </a:lnSpc>
              <a:buFont typeface="Arial MT"/>
              <a:buChar char="-"/>
              <a:tabLst>
                <a:tab pos="751205" algn="l"/>
              </a:tabLst>
            </a:pPr>
            <a:r>
              <a:rPr sz="1800" b="1" spc="-5" dirty="0">
                <a:latin typeface="Arial"/>
                <a:cs typeface="Arial"/>
              </a:rPr>
              <a:t>Additional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bits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 </a:t>
            </a:r>
            <a:r>
              <a:rPr sz="1800" b="1" dirty="0">
                <a:latin typeface="Arial"/>
                <a:cs typeface="Arial"/>
              </a:rPr>
              <a:t>used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6431" y="1270"/>
            <a:ext cx="1282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5" dirty="0">
                <a:latin typeface="Arial"/>
                <a:cs typeface="Arial"/>
              </a:rPr>
              <a:t>V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15" dirty="0">
                <a:latin typeface="Arial"/>
                <a:cs typeface="Arial"/>
              </a:rPr>
              <a:t>t</a:t>
            </a:r>
            <a:r>
              <a:rPr sz="1400" b="1" i="1" spc="-20" dirty="0">
                <a:latin typeface="Arial"/>
                <a:cs typeface="Arial"/>
              </a:rPr>
              <a:t>u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5" dirty="0">
                <a:latin typeface="Arial"/>
                <a:cs typeface="Arial"/>
              </a:rPr>
              <a:t>l</a:t>
            </a:r>
            <a:r>
              <a:rPr sz="1400" b="1" i="1" spc="-125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15" dirty="0">
                <a:latin typeface="Arial"/>
                <a:cs typeface="Arial"/>
              </a:rPr>
              <a:t>e</a:t>
            </a:r>
            <a:r>
              <a:rPr sz="1400" b="1" i="1" spc="-5" dirty="0">
                <a:latin typeface="Arial"/>
                <a:cs typeface="Arial"/>
              </a:rPr>
              <a:t>m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780087" y="4429125"/>
          <a:ext cx="287655" cy="877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55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78105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73">
                <a:tc>
                  <a:txBody>
                    <a:bodyPr/>
                    <a:lstStyle/>
                    <a:p>
                      <a:pPr marL="86995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75"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750">
                <a:tc>
                  <a:txBody>
                    <a:bodyPr/>
                    <a:lstStyle/>
                    <a:p>
                      <a:pPr marL="86995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383337" y="4425950"/>
          <a:ext cx="276225" cy="8811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72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74930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73">
                <a:tc>
                  <a:txBody>
                    <a:bodyPr/>
                    <a:lstStyle/>
                    <a:p>
                      <a:pPr marL="66040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75">
                <a:tc>
                  <a:txBody>
                    <a:bodyPr/>
                    <a:lstStyle/>
                    <a:p>
                      <a:pPr marL="74930">
                        <a:lnSpc>
                          <a:spcPts val="119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750">
                <a:tc>
                  <a:txBody>
                    <a:bodyPr/>
                    <a:lstStyle/>
                    <a:p>
                      <a:pPr marL="74930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983224" y="3962400"/>
            <a:ext cx="600710" cy="426720"/>
          </a:xfrm>
          <a:custGeom>
            <a:avLst/>
            <a:gdLst/>
            <a:ahLst/>
            <a:cxnLst/>
            <a:rect l="l" t="t" r="r" b="b"/>
            <a:pathLst>
              <a:path w="600709" h="426720">
                <a:moveTo>
                  <a:pt x="199390" y="85725"/>
                </a:moveTo>
                <a:lnTo>
                  <a:pt x="199009" y="0"/>
                </a:lnTo>
                <a:lnTo>
                  <a:pt x="130937" y="51689"/>
                </a:lnTo>
                <a:lnTo>
                  <a:pt x="153670" y="63119"/>
                </a:lnTo>
                <a:lnTo>
                  <a:pt x="22733" y="328168"/>
                </a:lnTo>
                <a:lnTo>
                  <a:pt x="0" y="316865"/>
                </a:lnTo>
                <a:lnTo>
                  <a:pt x="254" y="402463"/>
                </a:lnTo>
                <a:lnTo>
                  <a:pt x="68199" y="350901"/>
                </a:lnTo>
                <a:lnTo>
                  <a:pt x="45593" y="339598"/>
                </a:lnTo>
                <a:lnTo>
                  <a:pt x="176530" y="74422"/>
                </a:lnTo>
                <a:lnTo>
                  <a:pt x="199390" y="85725"/>
                </a:lnTo>
                <a:close/>
              </a:path>
              <a:path w="600709" h="426720">
                <a:moveTo>
                  <a:pt x="600329" y="347091"/>
                </a:moveTo>
                <a:lnTo>
                  <a:pt x="574929" y="348996"/>
                </a:lnTo>
                <a:lnTo>
                  <a:pt x="556120" y="94742"/>
                </a:lnTo>
                <a:lnTo>
                  <a:pt x="581520" y="92837"/>
                </a:lnTo>
                <a:lnTo>
                  <a:pt x="537718" y="19177"/>
                </a:lnTo>
                <a:lnTo>
                  <a:pt x="505333" y="98552"/>
                </a:lnTo>
                <a:lnTo>
                  <a:pt x="530606" y="96647"/>
                </a:lnTo>
                <a:lnTo>
                  <a:pt x="549656" y="350901"/>
                </a:lnTo>
                <a:lnTo>
                  <a:pt x="524256" y="352933"/>
                </a:lnTo>
                <a:lnTo>
                  <a:pt x="567944" y="426466"/>
                </a:lnTo>
                <a:lnTo>
                  <a:pt x="600329" y="3470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6445" y="821182"/>
            <a:ext cx="7353934" cy="318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LRU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Implementation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155575" indent="-143510">
              <a:lnSpc>
                <a:spcPts val="2100"/>
              </a:lnSpc>
              <a:buFont typeface="Arial MT"/>
              <a:buChar char="•"/>
              <a:tabLst>
                <a:tab pos="156210" algn="l"/>
              </a:tabLst>
            </a:pPr>
            <a:r>
              <a:rPr sz="1800" b="1" dirty="0">
                <a:latin typeface="Arial"/>
                <a:cs typeface="Arial"/>
              </a:rPr>
              <a:t>Counters</a:t>
            </a:r>
            <a:endParaRPr sz="1800">
              <a:latin typeface="Arial"/>
              <a:cs typeface="Arial"/>
            </a:endParaRPr>
          </a:p>
          <a:p>
            <a:pPr marL="533400" lvl="1" indent="-140970">
              <a:lnSpc>
                <a:spcPts val="2100"/>
              </a:lnSpc>
              <a:buFont typeface="Arial MT"/>
              <a:buChar char="-"/>
              <a:tabLst>
                <a:tab pos="534035" algn="l"/>
              </a:tabLst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each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time-of-use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register</a:t>
            </a:r>
            <a:endParaRPr sz="1800">
              <a:latin typeface="Arial"/>
              <a:cs typeface="Arial"/>
            </a:endParaRPr>
          </a:p>
          <a:p>
            <a:pPr marL="533400" lvl="1" indent="-140970">
              <a:lnSpc>
                <a:spcPts val="2100"/>
              </a:lnSpc>
              <a:buFont typeface="Arial MT"/>
              <a:buChar char="-"/>
              <a:tabLst>
                <a:tab pos="534035" algn="l"/>
              </a:tabLst>
            </a:pPr>
            <a:r>
              <a:rPr sz="1800" b="1" dirty="0">
                <a:latin typeface="Arial"/>
                <a:cs typeface="Arial"/>
              </a:rPr>
              <a:t>Incremented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every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</a:t>
            </a:r>
            <a:endParaRPr sz="1800">
              <a:latin typeface="Arial"/>
              <a:cs typeface="Arial"/>
            </a:endParaRPr>
          </a:p>
          <a:p>
            <a:pPr marL="533400" lvl="1" indent="-140970">
              <a:lnSpc>
                <a:spcPts val="2100"/>
              </a:lnSpc>
              <a:buFont typeface="Arial MT"/>
              <a:buChar char="-"/>
              <a:tabLst>
                <a:tab pos="534035" algn="l"/>
              </a:tabLst>
            </a:pP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smallest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value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time-of-use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register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replaced</a:t>
            </a:r>
            <a:endParaRPr sz="1800">
              <a:latin typeface="Arial"/>
              <a:cs typeface="Arial"/>
            </a:endParaRPr>
          </a:p>
          <a:p>
            <a:pPr marL="155575" indent="-143510">
              <a:lnSpc>
                <a:spcPts val="2100"/>
              </a:lnSpc>
              <a:buFont typeface="Arial MT"/>
              <a:buChar char="•"/>
              <a:tabLst>
                <a:tab pos="156210" algn="l"/>
              </a:tabLst>
            </a:pPr>
            <a:r>
              <a:rPr sz="1800" b="1" dirty="0">
                <a:latin typeface="Arial"/>
                <a:cs typeface="Arial"/>
              </a:rPr>
              <a:t>Stack</a:t>
            </a:r>
            <a:endParaRPr sz="1800">
              <a:latin typeface="Arial"/>
              <a:cs typeface="Arial"/>
            </a:endParaRPr>
          </a:p>
          <a:p>
            <a:pPr marL="533400" lvl="1" indent="-140970">
              <a:lnSpc>
                <a:spcPts val="2100"/>
              </a:lnSpc>
              <a:buFont typeface="Arial MT"/>
              <a:buChar char="-"/>
              <a:tabLst>
                <a:tab pos="534035" algn="l"/>
              </a:tabLst>
            </a:pPr>
            <a:r>
              <a:rPr sz="1800" b="1" dirty="0">
                <a:latin typeface="Arial"/>
                <a:cs typeface="Arial"/>
              </a:rPr>
              <a:t>Stack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numbers</a:t>
            </a:r>
            <a:endParaRPr sz="1800">
              <a:latin typeface="Arial"/>
              <a:cs typeface="Arial"/>
            </a:endParaRPr>
          </a:p>
          <a:p>
            <a:pPr marL="521334" marR="1381760" lvl="1" indent="-128270">
              <a:lnSpc>
                <a:spcPts val="2090"/>
              </a:lnSpc>
              <a:spcBef>
                <a:spcPts val="105"/>
              </a:spcBef>
              <a:buFont typeface="Arial MT"/>
              <a:buChar char="-"/>
              <a:tabLst>
                <a:tab pos="534035" algn="l"/>
              </a:tabLst>
            </a:pPr>
            <a:r>
              <a:rPr sz="1800" b="1" spc="-5" dirty="0">
                <a:latin typeface="Arial"/>
                <a:cs typeface="Arial"/>
              </a:rPr>
              <a:t>Whenever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its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removed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stack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pushed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top</a:t>
            </a:r>
            <a:endParaRPr sz="1800">
              <a:latin typeface="Arial"/>
              <a:cs typeface="Arial"/>
            </a:endParaRPr>
          </a:p>
          <a:p>
            <a:pPr marL="533400" lvl="1" indent="-140970">
              <a:lnSpc>
                <a:spcPts val="2050"/>
              </a:lnSpc>
              <a:buFont typeface="Arial MT"/>
              <a:buChar char="-"/>
              <a:tabLst>
                <a:tab pos="534035" algn="l"/>
              </a:tabLst>
            </a:pPr>
            <a:r>
              <a:rPr sz="1800" b="1" spc="5" dirty="0">
                <a:latin typeface="Arial"/>
                <a:cs typeface="Arial"/>
              </a:rPr>
              <a:t>Least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recently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bottom</a:t>
            </a:r>
            <a:endParaRPr sz="1800">
              <a:latin typeface="Arial"/>
              <a:cs typeface="Arial"/>
            </a:endParaRPr>
          </a:p>
          <a:p>
            <a:pPr marL="2082800">
              <a:lnSpc>
                <a:spcPct val="100000"/>
              </a:lnSpc>
              <a:spcBef>
                <a:spcPts val="425"/>
              </a:spcBef>
            </a:pPr>
            <a:r>
              <a:rPr sz="1400" b="1" spc="-15" dirty="0">
                <a:latin typeface="Arial"/>
                <a:cs typeface="Arial"/>
              </a:rPr>
              <a:t>Reference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string</a:t>
            </a:r>
            <a:endParaRPr sz="1400">
              <a:latin typeface="Arial"/>
              <a:cs typeface="Arial"/>
            </a:endParaRPr>
          </a:p>
          <a:p>
            <a:pPr marL="2082800">
              <a:lnSpc>
                <a:spcPct val="100000"/>
              </a:lnSpc>
              <a:spcBef>
                <a:spcPts val="25"/>
              </a:spcBef>
              <a:tabLst>
                <a:tab pos="2454910" algn="l"/>
                <a:tab pos="2841625" algn="l"/>
                <a:tab pos="3216910" algn="l"/>
                <a:tab pos="3591560" algn="l"/>
                <a:tab pos="3975735" algn="l"/>
                <a:tab pos="4351020" algn="l"/>
                <a:tab pos="4723130" algn="l"/>
                <a:tab pos="5110480" algn="l"/>
                <a:tab pos="5481955" algn="l"/>
                <a:tab pos="5857240" algn="l"/>
                <a:tab pos="6244590" algn="l"/>
                <a:tab pos="6616700" algn="l"/>
              </a:tabLst>
            </a:pPr>
            <a:r>
              <a:rPr sz="1400" b="1" spc="-5" dirty="0">
                <a:latin typeface="Arial"/>
                <a:cs typeface="Arial"/>
              </a:rPr>
              <a:t>4	7	0	7	1	0	1	2	1	2	7	1	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32966" y="281685"/>
            <a:ext cx="5662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5115" algn="l"/>
              </a:tabLst>
            </a:pPr>
            <a:r>
              <a:rPr u="sng" spc="-5" dirty="0"/>
              <a:t>MEMORY	</a:t>
            </a:r>
            <a:r>
              <a:rPr u="sng" spc="-15" dirty="0"/>
              <a:t>MANAGEMENT HARDWARE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6400" y="4648200"/>
            <a:ext cx="942340" cy="43624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935"/>
              </a:spcBef>
            </a:pPr>
            <a:r>
              <a:rPr sz="1100" b="1" spc="-5" dirty="0">
                <a:latin typeface="Arial"/>
                <a:cs typeface="Arial"/>
              </a:rPr>
              <a:t>Subroutine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8104" y="4431791"/>
            <a:ext cx="634365" cy="32321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575"/>
              </a:spcBef>
            </a:pPr>
            <a:r>
              <a:rPr sz="1100" b="1" dirty="0">
                <a:latin typeface="Arial"/>
                <a:cs typeface="Arial"/>
              </a:rPr>
              <a:t>Stack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8383" y="5309615"/>
            <a:ext cx="609600" cy="39052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2001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45"/>
              </a:spcBef>
            </a:pPr>
            <a:r>
              <a:rPr sz="1100" b="1" dirty="0">
                <a:latin typeface="Arial"/>
                <a:cs typeface="Arial"/>
              </a:rPr>
              <a:t>SQRT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5183" y="5458967"/>
            <a:ext cx="866140" cy="448309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43815" algn="ctr">
              <a:lnSpc>
                <a:spcPts val="1310"/>
              </a:lnSpc>
              <a:spcBef>
                <a:spcPts val="655"/>
              </a:spcBef>
            </a:pPr>
            <a:r>
              <a:rPr sz="1100" b="1" spc="-10" dirty="0">
                <a:latin typeface="Arial"/>
                <a:cs typeface="Arial"/>
              </a:rPr>
              <a:t>Main</a:t>
            </a:r>
            <a:endParaRPr sz="1100">
              <a:latin typeface="Arial"/>
              <a:cs typeface="Arial"/>
            </a:endParaRPr>
          </a:p>
          <a:p>
            <a:pPr marL="58419" algn="ctr">
              <a:lnSpc>
                <a:spcPts val="1310"/>
              </a:lnSpc>
            </a:pPr>
            <a:r>
              <a:rPr sz="1100" b="1" dirty="0"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58896" y="4940808"/>
            <a:ext cx="896619" cy="38417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71145" marR="187960" indent="-70485">
              <a:lnSpc>
                <a:spcPts val="1300"/>
              </a:lnSpc>
              <a:spcBef>
                <a:spcPts val="350"/>
              </a:spcBef>
            </a:pPr>
            <a:r>
              <a:rPr sz="1100" b="1" spc="5" dirty="0">
                <a:latin typeface="Arial"/>
                <a:cs typeface="Arial"/>
              </a:rPr>
              <a:t>S</a:t>
            </a:r>
            <a:r>
              <a:rPr sz="1100" b="1" spc="-40" dirty="0">
                <a:latin typeface="Arial"/>
                <a:cs typeface="Arial"/>
              </a:rPr>
              <a:t>y</a:t>
            </a:r>
            <a:r>
              <a:rPr sz="1100" b="1" spc="-25" dirty="0">
                <a:latin typeface="Arial"/>
                <a:cs typeface="Arial"/>
              </a:rPr>
              <a:t>m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100" b="1" spc="-10" dirty="0">
                <a:latin typeface="Arial"/>
                <a:cs typeface="Arial"/>
              </a:rPr>
              <a:t>o</a:t>
            </a:r>
            <a:r>
              <a:rPr sz="1100" b="1" dirty="0">
                <a:latin typeface="Arial"/>
                <a:cs typeface="Arial"/>
              </a:rPr>
              <a:t>l  Table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15567" y="4194047"/>
            <a:ext cx="3365500" cy="1941830"/>
          </a:xfrm>
          <a:custGeom>
            <a:avLst/>
            <a:gdLst/>
            <a:ahLst/>
            <a:cxnLst/>
            <a:rect l="l" t="t" r="r" b="b"/>
            <a:pathLst>
              <a:path w="3365500" h="1941829">
                <a:moveTo>
                  <a:pt x="0" y="970660"/>
                </a:moveTo>
                <a:lnTo>
                  <a:pt x="4229" y="901445"/>
                </a:lnTo>
                <a:lnTo>
                  <a:pt x="16700" y="833374"/>
                </a:lnTo>
                <a:lnTo>
                  <a:pt x="37160" y="766826"/>
                </a:lnTo>
                <a:lnTo>
                  <a:pt x="65316" y="701928"/>
                </a:lnTo>
                <a:lnTo>
                  <a:pt x="100863" y="638937"/>
                </a:lnTo>
                <a:lnTo>
                  <a:pt x="143535" y="577722"/>
                </a:lnTo>
                <a:lnTo>
                  <a:pt x="167512" y="548004"/>
                </a:lnTo>
                <a:lnTo>
                  <a:pt x="193040" y="518794"/>
                </a:lnTo>
                <a:lnTo>
                  <a:pt x="220218" y="490219"/>
                </a:lnTo>
                <a:lnTo>
                  <a:pt x="249047" y="462152"/>
                </a:lnTo>
                <a:lnTo>
                  <a:pt x="279526" y="434720"/>
                </a:lnTo>
                <a:lnTo>
                  <a:pt x="311403" y="407924"/>
                </a:lnTo>
                <a:lnTo>
                  <a:pt x="344804" y="381762"/>
                </a:lnTo>
                <a:lnTo>
                  <a:pt x="379729" y="356362"/>
                </a:lnTo>
                <a:lnTo>
                  <a:pt x="416051" y="331596"/>
                </a:lnTo>
                <a:lnTo>
                  <a:pt x="453770" y="307594"/>
                </a:lnTo>
                <a:lnTo>
                  <a:pt x="492759" y="284352"/>
                </a:lnTo>
                <a:lnTo>
                  <a:pt x="533145" y="261746"/>
                </a:lnTo>
                <a:lnTo>
                  <a:pt x="574801" y="240029"/>
                </a:lnTo>
                <a:lnTo>
                  <a:pt x="617727" y="219075"/>
                </a:lnTo>
                <a:lnTo>
                  <a:pt x="661796" y="199008"/>
                </a:lnTo>
                <a:lnTo>
                  <a:pt x="707136" y="179704"/>
                </a:lnTo>
                <a:lnTo>
                  <a:pt x="753490" y="161289"/>
                </a:lnTo>
                <a:lnTo>
                  <a:pt x="800988" y="143763"/>
                </a:lnTo>
                <a:lnTo>
                  <a:pt x="849630" y="127126"/>
                </a:lnTo>
                <a:lnTo>
                  <a:pt x="899287" y="111378"/>
                </a:lnTo>
                <a:lnTo>
                  <a:pt x="949832" y="96646"/>
                </a:lnTo>
                <a:lnTo>
                  <a:pt x="1001394" y="82803"/>
                </a:lnTo>
                <a:lnTo>
                  <a:pt x="1053973" y="69976"/>
                </a:lnTo>
                <a:lnTo>
                  <a:pt x="1107313" y="58165"/>
                </a:lnTo>
                <a:lnTo>
                  <a:pt x="1161542" y="47370"/>
                </a:lnTo>
                <a:lnTo>
                  <a:pt x="1216659" y="37718"/>
                </a:lnTo>
                <a:lnTo>
                  <a:pt x="1272539" y="28956"/>
                </a:lnTo>
                <a:lnTo>
                  <a:pt x="1329182" y="21462"/>
                </a:lnTo>
                <a:lnTo>
                  <a:pt x="1386458" y="14985"/>
                </a:lnTo>
                <a:lnTo>
                  <a:pt x="1444498" y="9651"/>
                </a:lnTo>
                <a:lnTo>
                  <a:pt x="1503045" y="5460"/>
                </a:lnTo>
                <a:lnTo>
                  <a:pt x="1562354" y="2412"/>
                </a:lnTo>
                <a:lnTo>
                  <a:pt x="1622170" y="634"/>
                </a:lnTo>
                <a:lnTo>
                  <a:pt x="1682495" y="0"/>
                </a:lnTo>
                <a:lnTo>
                  <a:pt x="1742820" y="634"/>
                </a:lnTo>
                <a:lnTo>
                  <a:pt x="1802638" y="2412"/>
                </a:lnTo>
                <a:lnTo>
                  <a:pt x="1861946" y="5460"/>
                </a:lnTo>
                <a:lnTo>
                  <a:pt x="1920494" y="9651"/>
                </a:lnTo>
                <a:lnTo>
                  <a:pt x="1978533" y="14985"/>
                </a:lnTo>
                <a:lnTo>
                  <a:pt x="2035809" y="21462"/>
                </a:lnTo>
                <a:lnTo>
                  <a:pt x="2092452" y="28956"/>
                </a:lnTo>
                <a:lnTo>
                  <a:pt x="2148332" y="37718"/>
                </a:lnTo>
                <a:lnTo>
                  <a:pt x="2203449" y="47370"/>
                </a:lnTo>
                <a:lnTo>
                  <a:pt x="2257679" y="58165"/>
                </a:lnTo>
                <a:lnTo>
                  <a:pt x="2311019" y="69976"/>
                </a:lnTo>
                <a:lnTo>
                  <a:pt x="2363597" y="82803"/>
                </a:lnTo>
                <a:lnTo>
                  <a:pt x="2415159" y="96646"/>
                </a:lnTo>
                <a:lnTo>
                  <a:pt x="2465705" y="111378"/>
                </a:lnTo>
                <a:lnTo>
                  <a:pt x="2515361" y="127126"/>
                </a:lnTo>
                <a:lnTo>
                  <a:pt x="2564003" y="143763"/>
                </a:lnTo>
                <a:lnTo>
                  <a:pt x="2611501" y="161289"/>
                </a:lnTo>
                <a:lnTo>
                  <a:pt x="2657856" y="179704"/>
                </a:lnTo>
                <a:lnTo>
                  <a:pt x="2703195" y="199008"/>
                </a:lnTo>
                <a:lnTo>
                  <a:pt x="2747264" y="219075"/>
                </a:lnTo>
                <a:lnTo>
                  <a:pt x="2790190" y="240029"/>
                </a:lnTo>
                <a:lnTo>
                  <a:pt x="2831846" y="261746"/>
                </a:lnTo>
                <a:lnTo>
                  <a:pt x="2872232" y="284352"/>
                </a:lnTo>
                <a:lnTo>
                  <a:pt x="2911221" y="307594"/>
                </a:lnTo>
                <a:lnTo>
                  <a:pt x="2948940" y="331596"/>
                </a:lnTo>
                <a:lnTo>
                  <a:pt x="2985261" y="356362"/>
                </a:lnTo>
                <a:lnTo>
                  <a:pt x="3020186" y="381762"/>
                </a:lnTo>
                <a:lnTo>
                  <a:pt x="3053587" y="407924"/>
                </a:lnTo>
                <a:lnTo>
                  <a:pt x="3085465" y="434720"/>
                </a:lnTo>
                <a:lnTo>
                  <a:pt x="3115945" y="462152"/>
                </a:lnTo>
                <a:lnTo>
                  <a:pt x="3144773" y="490219"/>
                </a:lnTo>
                <a:lnTo>
                  <a:pt x="3171952" y="518794"/>
                </a:lnTo>
                <a:lnTo>
                  <a:pt x="3197479" y="548004"/>
                </a:lnTo>
                <a:lnTo>
                  <a:pt x="3221482" y="577722"/>
                </a:lnTo>
                <a:lnTo>
                  <a:pt x="3264154" y="638937"/>
                </a:lnTo>
                <a:lnTo>
                  <a:pt x="3299714" y="701928"/>
                </a:lnTo>
                <a:lnTo>
                  <a:pt x="3327780" y="766826"/>
                </a:lnTo>
                <a:lnTo>
                  <a:pt x="3348228" y="833374"/>
                </a:lnTo>
                <a:lnTo>
                  <a:pt x="3360801" y="901445"/>
                </a:lnTo>
                <a:lnTo>
                  <a:pt x="3364992" y="970660"/>
                </a:lnTo>
                <a:lnTo>
                  <a:pt x="3363976" y="1005585"/>
                </a:lnTo>
                <a:lnTo>
                  <a:pt x="3355594" y="1074292"/>
                </a:lnTo>
                <a:lnTo>
                  <a:pt x="3339083" y="1141602"/>
                </a:lnTo>
                <a:lnTo>
                  <a:pt x="3314700" y="1207261"/>
                </a:lnTo>
                <a:lnTo>
                  <a:pt x="3282823" y="1271270"/>
                </a:lnTo>
                <a:lnTo>
                  <a:pt x="3243707" y="1333373"/>
                </a:lnTo>
                <a:lnTo>
                  <a:pt x="3197479" y="1393443"/>
                </a:lnTo>
                <a:lnTo>
                  <a:pt x="3171952" y="1422692"/>
                </a:lnTo>
                <a:lnTo>
                  <a:pt x="3144773" y="1451330"/>
                </a:lnTo>
                <a:lnTo>
                  <a:pt x="3115945" y="1479372"/>
                </a:lnTo>
                <a:lnTo>
                  <a:pt x="3085465" y="1506791"/>
                </a:lnTo>
                <a:lnTo>
                  <a:pt x="3053587" y="1533575"/>
                </a:lnTo>
                <a:lnTo>
                  <a:pt x="3020186" y="1559712"/>
                </a:lnTo>
                <a:lnTo>
                  <a:pt x="2985261" y="1585150"/>
                </a:lnTo>
                <a:lnTo>
                  <a:pt x="2948940" y="1609902"/>
                </a:lnTo>
                <a:lnTo>
                  <a:pt x="2911221" y="1633943"/>
                </a:lnTo>
                <a:lnTo>
                  <a:pt x="2872232" y="1657235"/>
                </a:lnTo>
                <a:lnTo>
                  <a:pt x="2831846" y="1679765"/>
                </a:lnTo>
                <a:lnTo>
                  <a:pt x="2790190" y="1701520"/>
                </a:lnTo>
                <a:lnTo>
                  <a:pt x="2747264" y="1722462"/>
                </a:lnTo>
                <a:lnTo>
                  <a:pt x="2703195" y="1742592"/>
                </a:lnTo>
                <a:lnTo>
                  <a:pt x="2657856" y="1761883"/>
                </a:lnTo>
                <a:lnTo>
                  <a:pt x="2611501" y="1780298"/>
                </a:lnTo>
                <a:lnTo>
                  <a:pt x="2564003" y="1797837"/>
                </a:lnTo>
                <a:lnTo>
                  <a:pt x="2515361" y="1814474"/>
                </a:lnTo>
                <a:lnTo>
                  <a:pt x="2465705" y="1830184"/>
                </a:lnTo>
                <a:lnTo>
                  <a:pt x="2415159" y="1844954"/>
                </a:lnTo>
                <a:lnTo>
                  <a:pt x="2363597" y="1858759"/>
                </a:lnTo>
                <a:lnTo>
                  <a:pt x="2311019" y="1871573"/>
                </a:lnTo>
                <a:lnTo>
                  <a:pt x="2257679" y="1883371"/>
                </a:lnTo>
                <a:lnTo>
                  <a:pt x="2203449" y="1894154"/>
                </a:lnTo>
                <a:lnTo>
                  <a:pt x="2148332" y="1903895"/>
                </a:lnTo>
                <a:lnTo>
                  <a:pt x="2092452" y="1912556"/>
                </a:lnTo>
                <a:lnTo>
                  <a:pt x="2035809" y="1920125"/>
                </a:lnTo>
                <a:lnTo>
                  <a:pt x="1978533" y="1926602"/>
                </a:lnTo>
                <a:lnTo>
                  <a:pt x="1920494" y="1931936"/>
                </a:lnTo>
                <a:lnTo>
                  <a:pt x="1861946" y="1936127"/>
                </a:lnTo>
                <a:lnTo>
                  <a:pt x="1802638" y="1939137"/>
                </a:lnTo>
                <a:lnTo>
                  <a:pt x="1742820" y="1940966"/>
                </a:lnTo>
                <a:lnTo>
                  <a:pt x="1682495" y="1941576"/>
                </a:lnTo>
                <a:lnTo>
                  <a:pt x="1622170" y="1940966"/>
                </a:lnTo>
                <a:lnTo>
                  <a:pt x="1562354" y="1939137"/>
                </a:lnTo>
                <a:lnTo>
                  <a:pt x="1503045" y="1936127"/>
                </a:lnTo>
                <a:lnTo>
                  <a:pt x="1444498" y="1931936"/>
                </a:lnTo>
                <a:lnTo>
                  <a:pt x="1386458" y="1926602"/>
                </a:lnTo>
                <a:lnTo>
                  <a:pt x="1329182" y="1920125"/>
                </a:lnTo>
                <a:lnTo>
                  <a:pt x="1272539" y="1912556"/>
                </a:lnTo>
                <a:lnTo>
                  <a:pt x="1216659" y="1903895"/>
                </a:lnTo>
                <a:lnTo>
                  <a:pt x="1161542" y="1894154"/>
                </a:lnTo>
                <a:lnTo>
                  <a:pt x="1107313" y="1883371"/>
                </a:lnTo>
                <a:lnTo>
                  <a:pt x="1053973" y="1871573"/>
                </a:lnTo>
                <a:lnTo>
                  <a:pt x="1001394" y="1858759"/>
                </a:lnTo>
                <a:lnTo>
                  <a:pt x="949832" y="1844954"/>
                </a:lnTo>
                <a:lnTo>
                  <a:pt x="899287" y="1830184"/>
                </a:lnTo>
                <a:lnTo>
                  <a:pt x="849630" y="1814474"/>
                </a:lnTo>
                <a:lnTo>
                  <a:pt x="800988" y="1797837"/>
                </a:lnTo>
                <a:lnTo>
                  <a:pt x="753490" y="1780298"/>
                </a:lnTo>
                <a:lnTo>
                  <a:pt x="707136" y="1761883"/>
                </a:lnTo>
                <a:lnTo>
                  <a:pt x="661796" y="1742592"/>
                </a:lnTo>
                <a:lnTo>
                  <a:pt x="617727" y="1722462"/>
                </a:lnTo>
                <a:lnTo>
                  <a:pt x="574801" y="1701520"/>
                </a:lnTo>
                <a:lnTo>
                  <a:pt x="533145" y="1679765"/>
                </a:lnTo>
                <a:lnTo>
                  <a:pt x="492759" y="1657235"/>
                </a:lnTo>
                <a:lnTo>
                  <a:pt x="453770" y="1633943"/>
                </a:lnTo>
                <a:lnTo>
                  <a:pt x="416051" y="1609902"/>
                </a:lnTo>
                <a:lnTo>
                  <a:pt x="379729" y="1585150"/>
                </a:lnTo>
                <a:lnTo>
                  <a:pt x="344804" y="1559712"/>
                </a:lnTo>
                <a:lnTo>
                  <a:pt x="311403" y="1533575"/>
                </a:lnTo>
                <a:lnTo>
                  <a:pt x="279526" y="1506791"/>
                </a:lnTo>
                <a:lnTo>
                  <a:pt x="249047" y="1479372"/>
                </a:lnTo>
                <a:lnTo>
                  <a:pt x="220218" y="1451330"/>
                </a:lnTo>
                <a:lnTo>
                  <a:pt x="193040" y="1422692"/>
                </a:lnTo>
                <a:lnTo>
                  <a:pt x="167512" y="1393443"/>
                </a:lnTo>
                <a:lnTo>
                  <a:pt x="143535" y="1363726"/>
                </a:lnTo>
                <a:lnTo>
                  <a:pt x="100863" y="1302639"/>
                </a:lnTo>
                <a:lnTo>
                  <a:pt x="65316" y="1239520"/>
                </a:lnTo>
                <a:lnTo>
                  <a:pt x="37160" y="1174623"/>
                </a:lnTo>
                <a:lnTo>
                  <a:pt x="16700" y="1108074"/>
                </a:lnTo>
                <a:lnTo>
                  <a:pt x="4229" y="1040002"/>
                </a:lnTo>
                <a:lnTo>
                  <a:pt x="0" y="97066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4927" y="782269"/>
            <a:ext cx="6603365" cy="335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Basic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Functions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MM</a:t>
            </a:r>
            <a:endParaRPr sz="1800">
              <a:latin typeface="Arial"/>
              <a:cs typeface="Arial"/>
            </a:endParaRPr>
          </a:p>
          <a:p>
            <a:pPr marL="615950" indent="-140970">
              <a:lnSpc>
                <a:spcPct val="100000"/>
              </a:lnSpc>
              <a:spcBef>
                <a:spcPts val="5"/>
              </a:spcBef>
              <a:buFont typeface="Arial MT"/>
              <a:buChar char="-"/>
              <a:tabLst>
                <a:tab pos="616585" algn="l"/>
              </a:tabLst>
            </a:pPr>
            <a:r>
              <a:rPr sz="1800" b="1" i="1" dirty="0">
                <a:latin typeface="Arial"/>
                <a:cs typeface="Arial"/>
              </a:rPr>
              <a:t>Dynamic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Storage</a:t>
            </a:r>
            <a:r>
              <a:rPr sz="1800" b="1" i="1" spc="-4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Relocation</a:t>
            </a:r>
            <a:r>
              <a:rPr sz="1800" b="1" i="1" spc="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logical</a:t>
            </a:r>
            <a:endParaRPr sz="1800">
              <a:latin typeface="Arial"/>
              <a:cs typeface="Arial"/>
            </a:endParaRPr>
          </a:p>
          <a:p>
            <a:pPr marL="85725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references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physical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references</a:t>
            </a:r>
            <a:endParaRPr sz="1800">
              <a:latin typeface="Arial"/>
              <a:cs typeface="Arial"/>
            </a:endParaRPr>
          </a:p>
          <a:p>
            <a:pPr marL="857250" indent="-382270">
              <a:lnSpc>
                <a:spcPct val="100000"/>
              </a:lnSpc>
              <a:buFont typeface="Arial MT"/>
              <a:buChar char="-"/>
              <a:tabLst>
                <a:tab pos="856615" algn="l"/>
                <a:tab pos="857885" algn="l"/>
                <a:tab pos="3670935" algn="l"/>
              </a:tabLst>
            </a:pPr>
            <a:r>
              <a:rPr sz="1800" b="1" spc="-5" dirty="0">
                <a:latin typeface="Arial"/>
                <a:cs typeface="Arial"/>
              </a:rPr>
              <a:t>Provision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 </a:t>
            </a:r>
            <a:r>
              <a:rPr sz="1800" b="1" i="1" dirty="0">
                <a:latin typeface="Arial"/>
                <a:cs typeface="Arial"/>
              </a:rPr>
              <a:t>Sharing	</a:t>
            </a:r>
            <a:r>
              <a:rPr sz="1800" b="1" dirty="0">
                <a:latin typeface="Arial"/>
                <a:cs typeface="Arial"/>
              </a:rPr>
              <a:t>common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marL="857250">
              <a:lnSpc>
                <a:spcPct val="100000"/>
              </a:lnSpc>
              <a:spcBef>
                <a:spcPts val="50"/>
              </a:spcBef>
            </a:pPr>
            <a:r>
              <a:rPr sz="1800" b="1" dirty="0">
                <a:latin typeface="Arial"/>
                <a:cs typeface="Arial"/>
              </a:rPr>
              <a:t>stored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users</a:t>
            </a:r>
            <a:endParaRPr sz="1800">
              <a:latin typeface="Arial"/>
              <a:cs typeface="Arial"/>
            </a:endParaRPr>
          </a:p>
          <a:p>
            <a:pPr marL="615950" indent="-140970">
              <a:lnSpc>
                <a:spcPct val="100000"/>
              </a:lnSpc>
              <a:spcBef>
                <a:spcPts val="75"/>
              </a:spcBef>
              <a:buFont typeface="Arial MT"/>
              <a:buChar char="-"/>
              <a:tabLst>
                <a:tab pos="616585" algn="l"/>
              </a:tabLst>
            </a:pPr>
            <a:r>
              <a:rPr sz="1800" b="1" i="1" dirty="0">
                <a:latin typeface="Arial"/>
                <a:cs typeface="Arial"/>
              </a:rPr>
              <a:t>Protection</a:t>
            </a:r>
            <a:r>
              <a:rPr sz="1800" b="1" i="1" spc="5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information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against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unauthorized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access</a:t>
            </a:r>
            <a:endParaRPr sz="1800">
              <a:latin typeface="Arial"/>
              <a:cs typeface="Arial"/>
            </a:endParaRPr>
          </a:p>
          <a:p>
            <a:pPr marL="36830">
              <a:lnSpc>
                <a:spcPts val="2115"/>
              </a:lnSpc>
              <a:spcBef>
                <a:spcPts val="790"/>
              </a:spcBef>
            </a:pPr>
            <a:r>
              <a:rPr sz="1800" b="1" dirty="0">
                <a:latin typeface="Arial"/>
                <a:cs typeface="Arial"/>
              </a:rPr>
              <a:t>Segmentation</a:t>
            </a:r>
            <a:endParaRPr sz="1800">
              <a:latin typeface="Arial"/>
              <a:cs typeface="Arial"/>
            </a:endParaRPr>
          </a:p>
          <a:p>
            <a:pPr marL="411480" marR="688340" indent="-399415">
              <a:lnSpc>
                <a:spcPts val="2180"/>
              </a:lnSpc>
              <a:spcBef>
                <a:spcPts val="10"/>
              </a:spcBef>
              <a:tabLst>
                <a:tab pos="411480" algn="l"/>
              </a:tabLst>
            </a:pPr>
            <a:r>
              <a:rPr sz="1800" dirty="0">
                <a:latin typeface="Arial MT"/>
                <a:cs typeface="Arial MT"/>
              </a:rPr>
              <a:t>-	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set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logically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related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instructions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elements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associated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given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</a:t>
            </a:r>
            <a:endParaRPr sz="1800">
              <a:latin typeface="Arial"/>
              <a:cs typeface="Arial"/>
            </a:endParaRPr>
          </a:p>
          <a:p>
            <a:pPr marL="28067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35" dirty="0">
                <a:latin typeface="Arial"/>
                <a:cs typeface="Arial"/>
              </a:rPr>
              <a:t>Variable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size</a:t>
            </a:r>
            <a:endParaRPr sz="18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415"/>
              </a:spcBef>
            </a:pPr>
            <a:r>
              <a:rPr sz="1800" b="1" dirty="0">
                <a:latin typeface="Arial"/>
                <a:cs typeface="Arial"/>
              </a:rPr>
              <a:t>User's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view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5176" y="6181140"/>
            <a:ext cx="272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User's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view</a:t>
            </a:r>
            <a:r>
              <a:rPr sz="1800" b="1" dirty="0">
                <a:latin typeface="Arial"/>
                <a:cs typeface="Arial"/>
              </a:rPr>
              <a:t> of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34761" y="4173092"/>
            <a:ext cx="2613660" cy="201231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70"/>
              </a:spcBef>
            </a:pPr>
            <a:r>
              <a:rPr sz="1600" b="1" spc="-5" dirty="0">
                <a:latin typeface="Arial"/>
                <a:cs typeface="Arial"/>
              </a:rPr>
              <a:t>The </a:t>
            </a:r>
            <a:r>
              <a:rPr sz="1600" b="1" dirty="0">
                <a:latin typeface="Arial"/>
                <a:cs typeface="Arial"/>
              </a:rPr>
              <a:t>user </a:t>
            </a:r>
            <a:r>
              <a:rPr sz="1600" b="1" spc="5" dirty="0">
                <a:latin typeface="Arial"/>
                <a:cs typeface="Arial"/>
              </a:rPr>
              <a:t>does </a:t>
            </a:r>
            <a:r>
              <a:rPr sz="1600" b="1" dirty="0">
                <a:latin typeface="Arial"/>
                <a:cs typeface="Arial"/>
              </a:rPr>
              <a:t>not think of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memory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as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a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linear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array </a:t>
            </a:r>
            <a:r>
              <a:rPr sz="1600" b="1" dirty="0">
                <a:latin typeface="Arial"/>
                <a:cs typeface="Arial"/>
              </a:rPr>
              <a:t> of </a:t>
            </a:r>
            <a:r>
              <a:rPr sz="1600" b="1" spc="5" dirty="0">
                <a:latin typeface="Arial"/>
                <a:cs typeface="Arial"/>
              </a:rPr>
              <a:t>words. </a:t>
            </a:r>
            <a:r>
              <a:rPr sz="1600" b="1" dirty="0">
                <a:latin typeface="Arial"/>
                <a:cs typeface="Arial"/>
              </a:rPr>
              <a:t>Rather the user 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prefers </a:t>
            </a:r>
            <a:r>
              <a:rPr sz="1600" b="1" spc="-5" dirty="0">
                <a:latin typeface="Arial"/>
                <a:cs typeface="Arial"/>
              </a:rPr>
              <a:t>to </a:t>
            </a:r>
            <a:r>
              <a:rPr sz="1600" b="1" spc="-20" dirty="0">
                <a:latin typeface="Arial"/>
                <a:cs typeface="Arial"/>
              </a:rPr>
              <a:t>view </a:t>
            </a:r>
            <a:r>
              <a:rPr sz="1600" b="1" spc="5" dirty="0">
                <a:latin typeface="Arial"/>
                <a:cs typeface="Arial"/>
              </a:rPr>
              <a:t>memory </a:t>
            </a:r>
            <a:r>
              <a:rPr sz="1600" b="1" spc="-10" dirty="0">
                <a:latin typeface="Arial"/>
                <a:cs typeface="Arial"/>
              </a:rPr>
              <a:t>as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a </a:t>
            </a:r>
            <a:r>
              <a:rPr sz="1600" b="1" dirty="0">
                <a:latin typeface="Arial"/>
                <a:cs typeface="Arial"/>
              </a:rPr>
              <a:t>collection of </a:t>
            </a:r>
            <a:r>
              <a:rPr sz="1600" b="1" spc="-5" dirty="0">
                <a:latin typeface="Arial"/>
                <a:cs typeface="Arial"/>
              </a:rPr>
              <a:t>variable 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sized </a:t>
            </a:r>
            <a:r>
              <a:rPr sz="1600" b="1" dirty="0">
                <a:latin typeface="Arial"/>
                <a:cs typeface="Arial"/>
              </a:rPr>
              <a:t>segments, </a:t>
            </a:r>
            <a:r>
              <a:rPr sz="1600" b="1" spc="5" dirty="0">
                <a:latin typeface="Arial"/>
                <a:cs typeface="Arial"/>
              </a:rPr>
              <a:t>with </a:t>
            </a:r>
            <a:r>
              <a:rPr sz="1600" b="1" dirty="0">
                <a:latin typeface="Arial"/>
                <a:cs typeface="Arial"/>
              </a:rPr>
              <a:t>no 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necessary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ordering</a:t>
            </a:r>
            <a:r>
              <a:rPr sz="1600" b="1" spc="-1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among </a:t>
            </a:r>
            <a:r>
              <a:rPr sz="1600" b="1" spc="-4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segments.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84" y="1650"/>
            <a:ext cx="8996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2605" algn="l"/>
                <a:tab pos="6329680" algn="l"/>
              </a:tabLst>
            </a:pPr>
            <a:r>
              <a:rPr sz="2100" b="1" i="1" spc="-15" baseline="3968" dirty="0">
                <a:latin typeface="Arial"/>
                <a:cs typeface="Arial"/>
              </a:rPr>
              <a:t>Memory</a:t>
            </a:r>
            <a:r>
              <a:rPr sz="2100" b="1" i="1" spc="-37" baseline="3968" dirty="0">
                <a:latin typeface="Arial"/>
                <a:cs typeface="Arial"/>
              </a:rPr>
              <a:t> </a:t>
            </a:r>
            <a:r>
              <a:rPr sz="2100" b="1" i="1" spc="-15" baseline="3968" dirty="0">
                <a:latin typeface="Arial"/>
                <a:cs typeface="Arial"/>
              </a:rPr>
              <a:t>Organization	</a:t>
            </a:r>
            <a:r>
              <a:rPr sz="2100" b="1" spc="-15" baseline="1984" dirty="0">
                <a:latin typeface="Arial"/>
                <a:cs typeface="Arial"/>
              </a:rPr>
              <a:t>26	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r>
              <a:rPr sz="1400" b="1" i="1" spc="-3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Management</a:t>
            </a:r>
            <a:r>
              <a:rPr sz="1400" b="1" i="1" spc="-3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1004" y="297560"/>
            <a:ext cx="664337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1145">
              <a:lnSpc>
                <a:spcPct val="100000"/>
              </a:lnSpc>
              <a:spcBef>
                <a:spcPts val="100"/>
              </a:spcBef>
            </a:pPr>
            <a:r>
              <a:rPr sz="2400" b="1" u="sng" spc="-40" dirty="0">
                <a:latin typeface="Arial"/>
                <a:cs typeface="Arial"/>
              </a:rPr>
              <a:t>SEGMENTATION</a:t>
            </a:r>
            <a:endParaRPr sz="2400" u="sng" dirty="0">
              <a:latin typeface="Arial"/>
              <a:cs typeface="Arial"/>
            </a:endParaRPr>
          </a:p>
          <a:p>
            <a:pPr marL="155575" indent="-143510">
              <a:lnSpc>
                <a:spcPct val="100000"/>
              </a:lnSpc>
              <a:spcBef>
                <a:spcPts val="2020"/>
              </a:spcBef>
              <a:buFont typeface="Arial MT"/>
              <a:buChar char="-"/>
              <a:tabLst>
                <a:tab pos="156210" algn="l"/>
              </a:tabLst>
            </a:pP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ry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g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20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sc</a:t>
            </a:r>
            <a:r>
              <a:rPr sz="1800" b="1" spc="-5" dirty="0">
                <a:latin typeface="Arial"/>
                <a:cs typeface="Arial"/>
              </a:rPr>
              <a:t>h</a:t>
            </a:r>
            <a:r>
              <a:rPr sz="1800" b="1" dirty="0">
                <a:latin typeface="Arial"/>
                <a:cs typeface="Arial"/>
              </a:rPr>
              <a:t>em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35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h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ch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</a:t>
            </a:r>
            <a:r>
              <a:rPr sz="1800" b="1" spc="5" dirty="0">
                <a:latin typeface="Arial"/>
                <a:cs typeface="Arial"/>
              </a:rPr>
              <a:t>p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spc="-5" dirty="0">
                <a:latin typeface="Arial"/>
                <a:cs typeface="Arial"/>
              </a:rPr>
              <a:t>rts</a:t>
            </a:r>
            <a:endParaRPr sz="1800" dirty="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latin typeface="Arial"/>
                <a:cs typeface="Arial"/>
              </a:rPr>
              <a:t>user's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view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 dirty="0">
              <a:latin typeface="Arial"/>
              <a:cs typeface="Arial"/>
            </a:endParaRPr>
          </a:p>
          <a:p>
            <a:pPr marL="155575" indent="-131445">
              <a:lnSpc>
                <a:spcPct val="100000"/>
              </a:lnSpc>
              <a:spcBef>
                <a:spcPts val="125"/>
              </a:spcBef>
              <a:buFont typeface="Arial MT"/>
              <a:buChar char="-"/>
              <a:tabLst>
                <a:tab pos="156210" algn="l"/>
              </a:tabLst>
            </a:pP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logical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address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space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collection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segments</a:t>
            </a:r>
            <a:endParaRPr sz="1800" dirty="0">
              <a:latin typeface="Arial"/>
              <a:cs typeface="Arial"/>
            </a:endParaRPr>
          </a:p>
          <a:p>
            <a:pPr marL="165100" indent="-140335">
              <a:lnSpc>
                <a:spcPct val="100000"/>
              </a:lnSpc>
              <a:buFont typeface="Arial MT"/>
              <a:buChar char="-"/>
              <a:tabLst>
                <a:tab pos="165100" algn="l"/>
              </a:tabLst>
            </a:pPr>
            <a:r>
              <a:rPr sz="1800" b="1" dirty="0">
                <a:latin typeface="Arial"/>
                <a:cs typeface="Arial"/>
              </a:rPr>
              <a:t>Each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name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length</a:t>
            </a:r>
            <a:endParaRPr sz="1800" dirty="0">
              <a:latin typeface="Arial"/>
              <a:cs typeface="Arial"/>
            </a:endParaRPr>
          </a:p>
          <a:p>
            <a:pPr marL="156210" marR="1223645" indent="-156210">
              <a:lnSpc>
                <a:spcPct val="100000"/>
              </a:lnSpc>
              <a:buFont typeface="Arial MT"/>
              <a:buChar char="-"/>
              <a:tabLst>
                <a:tab pos="156210" algn="l"/>
              </a:tabLst>
            </a:pP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specify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offset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within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segment.</a:t>
            </a:r>
            <a:endParaRPr sz="1800" dirty="0">
              <a:latin typeface="Arial"/>
              <a:cs typeface="Arial"/>
            </a:endParaRPr>
          </a:p>
          <a:p>
            <a:pPr marL="165100" indent="-140335">
              <a:lnSpc>
                <a:spcPct val="100000"/>
              </a:lnSpc>
              <a:buFont typeface="Arial MT"/>
              <a:buChar char="-"/>
              <a:tabLst>
                <a:tab pos="165100" algn="l"/>
              </a:tabLst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simplicity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implementations,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numbered.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472" y="3208096"/>
            <a:ext cx="2637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Se</a:t>
            </a:r>
            <a:r>
              <a:rPr sz="1800" b="1" spc="5" dirty="0">
                <a:latin typeface="Arial"/>
                <a:cs typeface="Arial"/>
              </a:rPr>
              <a:t>g</a:t>
            </a:r>
            <a:r>
              <a:rPr sz="1800" b="1" dirty="0">
                <a:latin typeface="Arial"/>
                <a:cs typeface="Arial"/>
              </a:rPr>
              <a:t>ment</a:t>
            </a:r>
            <a:r>
              <a:rPr sz="1800" b="1" spc="5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ion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Hard</a:t>
            </a:r>
            <a:r>
              <a:rPr sz="1800" b="1" spc="30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44440" y="3566159"/>
            <a:ext cx="1273810" cy="1386840"/>
          </a:xfrm>
          <a:custGeom>
            <a:avLst/>
            <a:gdLst/>
            <a:ahLst/>
            <a:cxnLst/>
            <a:rect l="l" t="t" r="r" b="b"/>
            <a:pathLst>
              <a:path w="1273810" h="1386839">
                <a:moveTo>
                  <a:pt x="0" y="1386839"/>
                </a:moveTo>
                <a:lnTo>
                  <a:pt x="1273810" y="1386839"/>
                </a:lnTo>
                <a:lnTo>
                  <a:pt x="1273810" y="0"/>
                </a:lnTo>
                <a:lnTo>
                  <a:pt x="0" y="0"/>
                </a:lnTo>
                <a:lnTo>
                  <a:pt x="0" y="138683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80559" y="3272485"/>
            <a:ext cx="12458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S</a:t>
            </a:r>
            <a:r>
              <a:rPr sz="1400" b="1" spc="-15" dirty="0">
                <a:latin typeface="Arial"/>
                <a:cs typeface="Arial"/>
              </a:rPr>
              <a:t>e</a:t>
            </a:r>
            <a:r>
              <a:rPr sz="1400" b="1" spc="-20" dirty="0">
                <a:latin typeface="Arial"/>
                <a:cs typeface="Arial"/>
              </a:rPr>
              <a:t>g</a:t>
            </a:r>
            <a:r>
              <a:rPr sz="1400" b="1" spc="-5" dirty="0">
                <a:latin typeface="Arial"/>
                <a:cs typeface="Arial"/>
              </a:rPr>
              <a:t>m</a:t>
            </a:r>
            <a:r>
              <a:rPr sz="1400" b="1" spc="-15" dirty="0">
                <a:latin typeface="Arial"/>
                <a:cs typeface="Arial"/>
              </a:rPr>
              <a:t>e</a:t>
            </a:r>
            <a:r>
              <a:rPr sz="1400" b="1" spc="-20" dirty="0">
                <a:latin typeface="Arial"/>
                <a:cs typeface="Arial"/>
              </a:rPr>
              <a:t>n</a:t>
            </a:r>
            <a:r>
              <a:rPr sz="1400" b="1" spc="-5" dirty="0">
                <a:latin typeface="Arial"/>
                <a:cs typeface="Arial"/>
              </a:rPr>
              <a:t>t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40" dirty="0">
                <a:latin typeface="Arial"/>
                <a:cs typeface="Arial"/>
              </a:rPr>
              <a:t>T</a:t>
            </a:r>
            <a:r>
              <a:rPr sz="1400" b="1" spc="-40" dirty="0">
                <a:latin typeface="Arial"/>
                <a:cs typeface="Arial"/>
              </a:rPr>
              <a:t>a</a:t>
            </a:r>
            <a:r>
              <a:rPr sz="1400" b="1" spc="-45" dirty="0">
                <a:latin typeface="Arial"/>
                <a:cs typeface="Arial"/>
              </a:rPr>
              <a:t>b</a:t>
            </a:r>
            <a:r>
              <a:rPr sz="1400" b="1" spc="-35" dirty="0">
                <a:latin typeface="Arial"/>
                <a:cs typeface="Arial"/>
              </a:rPr>
              <a:t>l</a:t>
            </a:r>
            <a:r>
              <a:rPr sz="1400" b="1" spc="-5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44440" y="4084320"/>
            <a:ext cx="680085" cy="22288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130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limit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24144" y="4084320"/>
            <a:ext cx="591820" cy="222885"/>
          </a:xfrm>
          <a:custGeom>
            <a:avLst/>
            <a:gdLst/>
            <a:ahLst/>
            <a:cxnLst/>
            <a:rect l="l" t="t" r="r" b="b"/>
            <a:pathLst>
              <a:path w="591820" h="222885">
                <a:moveTo>
                  <a:pt x="0" y="222503"/>
                </a:moveTo>
                <a:lnTo>
                  <a:pt x="591312" y="222503"/>
                </a:lnTo>
                <a:lnTo>
                  <a:pt x="591312" y="0"/>
                </a:lnTo>
                <a:lnTo>
                  <a:pt x="0" y="0"/>
                </a:lnTo>
                <a:lnTo>
                  <a:pt x="0" y="222503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36335" y="4072889"/>
            <a:ext cx="5683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latin typeface="Arial"/>
                <a:cs typeface="Arial"/>
              </a:rPr>
              <a:t>base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92233" y="4504944"/>
            <a:ext cx="354330" cy="158115"/>
            <a:chOff x="3392233" y="4504944"/>
            <a:chExt cx="354330" cy="158115"/>
          </a:xfrm>
        </p:grpSpPr>
        <p:sp>
          <p:nvSpPr>
            <p:cNvPr id="15" name="object 15"/>
            <p:cNvSpPr/>
            <p:nvPr/>
          </p:nvSpPr>
          <p:spPr>
            <a:xfrm>
              <a:off x="3572256" y="4504944"/>
              <a:ext cx="173990" cy="158115"/>
            </a:xfrm>
            <a:custGeom>
              <a:avLst/>
              <a:gdLst/>
              <a:ahLst/>
              <a:cxnLst/>
              <a:rect l="l" t="t" r="r" b="b"/>
              <a:pathLst>
                <a:path w="173989" h="158114">
                  <a:moveTo>
                    <a:pt x="15367" y="0"/>
                  </a:moveTo>
                  <a:lnTo>
                    <a:pt x="8763" y="19176"/>
                  </a:lnTo>
                  <a:lnTo>
                    <a:pt x="3937" y="38988"/>
                  </a:lnTo>
                  <a:lnTo>
                    <a:pt x="1016" y="59181"/>
                  </a:lnTo>
                  <a:lnTo>
                    <a:pt x="0" y="79755"/>
                  </a:lnTo>
                  <a:lnTo>
                    <a:pt x="889" y="99948"/>
                  </a:lnTo>
                  <a:lnTo>
                    <a:pt x="3810" y="119760"/>
                  </a:lnTo>
                  <a:lnTo>
                    <a:pt x="8382" y="139191"/>
                  </a:lnTo>
                  <a:lnTo>
                    <a:pt x="14859" y="158114"/>
                  </a:lnTo>
                  <a:lnTo>
                    <a:pt x="173736" y="79755"/>
                  </a:lnTo>
                  <a:lnTo>
                    <a:pt x="153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4616" y="4590288"/>
              <a:ext cx="164465" cy="0"/>
            </a:xfrm>
            <a:custGeom>
              <a:avLst/>
              <a:gdLst/>
              <a:ahLst/>
              <a:cxnLst/>
              <a:rect l="l" t="t" r="r" b="b"/>
              <a:pathLst>
                <a:path w="164464">
                  <a:moveTo>
                    <a:pt x="0" y="0"/>
                  </a:moveTo>
                  <a:lnTo>
                    <a:pt x="164337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16477" y="4451095"/>
            <a:ext cx="3956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latin typeface="Arial"/>
                <a:cs typeface="Arial"/>
              </a:rPr>
              <a:t>(s</a:t>
            </a:r>
            <a:r>
              <a:rPr sz="1400" b="1" spc="-10" dirty="0">
                <a:latin typeface="Arial"/>
                <a:cs typeface="Arial"/>
              </a:rPr>
              <a:t>,</a:t>
            </a:r>
            <a:r>
              <a:rPr sz="1400" b="1" spc="-20" dirty="0">
                <a:latin typeface="Arial"/>
                <a:cs typeface="Arial"/>
              </a:rPr>
              <a:t>d</a:t>
            </a:r>
            <a:r>
              <a:rPr sz="1400" b="1" spc="-5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28681" y="3773423"/>
            <a:ext cx="777875" cy="698500"/>
            <a:chOff x="3928681" y="3773423"/>
            <a:chExt cx="777875" cy="698500"/>
          </a:xfrm>
        </p:grpSpPr>
        <p:sp>
          <p:nvSpPr>
            <p:cNvPr id="19" name="object 19"/>
            <p:cNvSpPr/>
            <p:nvPr/>
          </p:nvSpPr>
          <p:spPr>
            <a:xfrm>
              <a:off x="3941064" y="3974591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h="485139">
                  <a:moveTo>
                    <a:pt x="0" y="484631"/>
                  </a:moveTo>
                  <a:lnTo>
                    <a:pt x="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9327" y="3773423"/>
              <a:ext cx="176784" cy="15544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087368" y="3855719"/>
              <a:ext cx="441959" cy="0"/>
            </a:xfrm>
            <a:custGeom>
              <a:avLst/>
              <a:gdLst/>
              <a:ahLst/>
              <a:cxnLst/>
              <a:rect l="l" t="t" r="r" b="b"/>
              <a:pathLst>
                <a:path w="441960">
                  <a:moveTo>
                    <a:pt x="0" y="0"/>
                  </a:moveTo>
                  <a:lnTo>
                    <a:pt x="44196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39132" y="3702811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944111" y="3569208"/>
            <a:ext cx="2505710" cy="2054225"/>
          </a:xfrm>
          <a:custGeom>
            <a:avLst/>
            <a:gdLst/>
            <a:ahLst/>
            <a:cxnLst/>
            <a:rect l="l" t="t" r="r" b="b"/>
            <a:pathLst>
              <a:path w="2505710" h="2054225">
                <a:moveTo>
                  <a:pt x="946530" y="294385"/>
                </a:moveTo>
                <a:lnTo>
                  <a:pt x="948563" y="227710"/>
                </a:lnTo>
                <a:lnTo>
                  <a:pt x="954151" y="166369"/>
                </a:lnTo>
                <a:lnTo>
                  <a:pt x="963167" y="112140"/>
                </a:lnTo>
                <a:lnTo>
                  <a:pt x="974978" y="66674"/>
                </a:lnTo>
                <a:lnTo>
                  <a:pt x="1005077" y="8889"/>
                </a:lnTo>
                <a:lnTo>
                  <a:pt x="1022603" y="0"/>
                </a:lnTo>
              </a:path>
              <a:path w="2505710" h="2054225">
                <a:moveTo>
                  <a:pt x="1024127" y="508761"/>
                </a:moveTo>
                <a:lnTo>
                  <a:pt x="999616" y="497712"/>
                </a:lnTo>
                <a:lnTo>
                  <a:pt x="978280" y="467105"/>
                </a:lnTo>
                <a:lnTo>
                  <a:pt x="961516" y="420369"/>
                </a:lnTo>
                <a:lnTo>
                  <a:pt x="950467" y="361060"/>
                </a:lnTo>
                <a:lnTo>
                  <a:pt x="946530" y="292734"/>
                </a:lnTo>
              </a:path>
              <a:path w="2505710" h="2054225">
                <a:moveTo>
                  <a:pt x="0" y="424687"/>
                </a:moveTo>
                <a:lnTo>
                  <a:pt x="6603" y="381888"/>
                </a:lnTo>
                <a:lnTo>
                  <a:pt x="25018" y="344677"/>
                </a:lnTo>
                <a:lnTo>
                  <a:pt x="53086" y="315213"/>
                </a:lnTo>
                <a:lnTo>
                  <a:pt x="88900" y="295782"/>
                </a:lnTo>
                <a:lnTo>
                  <a:pt x="130175" y="288416"/>
                </a:lnTo>
              </a:path>
              <a:path w="2505710" h="2054225">
                <a:moveTo>
                  <a:pt x="2252472" y="1917064"/>
                </a:moveTo>
                <a:lnTo>
                  <a:pt x="2262378" y="1863725"/>
                </a:lnTo>
                <a:lnTo>
                  <a:pt x="2289555" y="1820164"/>
                </a:lnTo>
                <a:lnTo>
                  <a:pt x="2329688" y="1790827"/>
                </a:lnTo>
                <a:lnTo>
                  <a:pt x="2378964" y="1780031"/>
                </a:lnTo>
                <a:lnTo>
                  <a:pt x="2428240" y="1790827"/>
                </a:lnTo>
                <a:lnTo>
                  <a:pt x="2468372" y="1820164"/>
                </a:lnTo>
                <a:lnTo>
                  <a:pt x="2495550" y="1863725"/>
                </a:lnTo>
                <a:lnTo>
                  <a:pt x="2505455" y="1917064"/>
                </a:lnTo>
                <a:lnTo>
                  <a:pt x="2495550" y="1970277"/>
                </a:lnTo>
                <a:lnTo>
                  <a:pt x="2468372" y="2013839"/>
                </a:lnTo>
                <a:lnTo>
                  <a:pt x="2428240" y="2043264"/>
                </a:lnTo>
                <a:lnTo>
                  <a:pt x="2378964" y="2054034"/>
                </a:lnTo>
                <a:lnTo>
                  <a:pt x="2329688" y="2043264"/>
                </a:lnTo>
                <a:lnTo>
                  <a:pt x="2289555" y="2013839"/>
                </a:lnTo>
                <a:lnTo>
                  <a:pt x="2262378" y="1970277"/>
                </a:lnTo>
                <a:lnTo>
                  <a:pt x="2252472" y="1917064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87768" y="4379976"/>
            <a:ext cx="792480" cy="153352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Times New Roman"/>
              <a:cs typeface="Times New Roman"/>
            </a:endParaRPr>
          </a:p>
          <a:p>
            <a:pPr marL="78740">
              <a:lnSpc>
                <a:spcPct val="100000"/>
              </a:lnSpc>
            </a:pPr>
            <a:r>
              <a:rPr sz="1400" b="1" spc="-10" dirty="0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78361" y="4303585"/>
            <a:ext cx="2106930" cy="1247140"/>
            <a:chOff x="5178361" y="4303585"/>
            <a:chExt cx="2106930" cy="124714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799" y="5398007"/>
              <a:ext cx="170687" cy="1524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190743" y="5480303"/>
              <a:ext cx="826135" cy="0"/>
            </a:xfrm>
            <a:custGeom>
              <a:avLst/>
              <a:gdLst/>
              <a:ahLst/>
              <a:cxnLst/>
              <a:rect l="l" t="t" r="r" b="b"/>
              <a:pathLst>
                <a:path w="826135">
                  <a:moveTo>
                    <a:pt x="0" y="0"/>
                  </a:moveTo>
                  <a:lnTo>
                    <a:pt x="825626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0983" y="5398007"/>
              <a:ext cx="173735" cy="1524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58711" y="5480303"/>
              <a:ext cx="649605" cy="0"/>
            </a:xfrm>
            <a:custGeom>
              <a:avLst/>
              <a:gdLst/>
              <a:ahLst/>
              <a:cxnLst/>
              <a:rect l="l" t="t" r="r" b="b"/>
              <a:pathLst>
                <a:path w="649604">
                  <a:moveTo>
                    <a:pt x="0" y="0"/>
                  </a:moveTo>
                  <a:lnTo>
                    <a:pt x="649223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0007" y="5141975"/>
              <a:ext cx="140208" cy="18897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65519" y="4315967"/>
              <a:ext cx="143510" cy="838200"/>
            </a:xfrm>
            <a:custGeom>
              <a:avLst/>
              <a:gdLst/>
              <a:ahLst/>
              <a:cxnLst/>
              <a:rect l="l" t="t" r="r" b="b"/>
              <a:pathLst>
                <a:path w="143510" h="838200">
                  <a:moveTo>
                    <a:pt x="0" y="0"/>
                  </a:moveTo>
                  <a:lnTo>
                    <a:pt x="143255" y="837818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264021" y="5329504"/>
            <a:ext cx="1593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+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75176" y="4303776"/>
            <a:ext cx="1319530" cy="1725295"/>
            <a:chOff x="4075176" y="4303776"/>
            <a:chExt cx="1319530" cy="1725295"/>
          </a:xfrm>
        </p:grpSpPr>
        <p:sp>
          <p:nvSpPr>
            <p:cNvPr id="34" name="object 34"/>
            <p:cNvSpPr/>
            <p:nvPr/>
          </p:nvSpPr>
          <p:spPr>
            <a:xfrm>
              <a:off x="4087368" y="4745736"/>
              <a:ext cx="0" cy="579120"/>
            </a:xfrm>
            <a:custGeom>
              <a:avLst/>
              <a:gdLst/>
              <a:ahLst/>
              <a:cxnLst/>
              <a:rect l="l" t="t" r="r" b="b"/>
              <a:pathLst>
                <a:path h="579120">
                  <a:moveTo>
                    <a:pt x="0" y="0"/>
                  </a:moveTo>
                  <a:lnTo>
                    <a:pt x="0" y="579119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5176" y="5315712"/>
              <a:ext cx="426720" cy="23469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507992" y="5269992"/>
              <a:ext cx="716280" cy="433070"/>
            </a:xfrm>
            <a:custGeom>
              <a:avLst/>
              <a:gdLst/>
              <a:ahLst/>
              <a:cxnLst/>
              <a:rect l="l" t="t" r="r" b="b"/>
              <a:pathLst>
                <a:path w="716279" h="433070">
                  <a:moveTo>
                    <a:pt x="370078" y="0"/>
                  </a:moveTo>
                  <a:lnTo>
                    <a:pt x="0" y="209804"/>
                  </a:lnTo>
                </a:path>
                <a:path w="716279" h="433070">
                  <a:moveTo>
                    <a:pt x="716280" y="223012"/>
                  </a:moveTo>
                  <a:lnTo>
                    <a:pt x="334137" y="432816"/>
                  </a:lnTo>
                </a:path>
                <a:path w="716279" h="433070">
                  <a:moveTo>
                    <a:pt x="358140" y="0"/>
                  </a:moveTo>
                  <a:lnTo>
                    <a:pt x="692277" y="209804"/>
                  </a:lnTo>
                </a:path>
                <a:path w="716279" h="433070">
                  <a:moveTo>
                    <a:pt x="23875" y="223012"/>
                  </a:moveTo>
                  <a:lnTo>
                    <a:pt x="346075" y="432816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8512" y="5053584"/>
              <a:ext cx="143255" cy="18592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913376" y="4315968"/>
              <a:ext cx="469265" cy="783590"/>
            </a:xfrm>
            <a:custGeom>
              <a:avLst/>
              <a:gdLst/>
              <a:ahLst/>
              <a:cxnLst/>
              <a:rect l="l" t="t" r="r" b="b"/>
              <a:pathLst>
                <a:path w="469264" h="783589">
                  <a:moveTo>
                    <a:pt x="469011" y="0"/>
                  </a:moveTo>
                  <a:lnTo>
                    <a:pt x="0" y="78333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88408" y="5836920"/>
              <a:ext cx="143510" cy="191770"/>
            </a:xfrm>
            <a:custGeom>
              <a:avLst/>
              <a:gdLst/>
              <a:ahLst/>
              <a:cxnLst/>
              <a:rect l="l" t="t" r="r" b="b"/>
              <a:pathLst>
                <a:path w="143510" h="191770">
                  <a:moveTo>
                    <a:pt x="72262" y="0"/>
                  </a:moveTo>
                  <a:lnTo>
                    <a:pt x="53593" y="1079"/>
                  </a:lnTo>
                  <a:lnTo>
                    <a:pt x="35178" y="4305"/>
                  </a:lnTo>
                  <a:lnTo>
                    <a:pt x="17271" y="9651"/>
                  </a:lnTo>
                  <a:lnTo>
                    <a:pt x="0" y="17068"/>
                  </a:lnTo>
                  <a:lnTo>
                    <a:pt x="72262" y="191706"/>
                  </a:lnTo>
                  <a:lnTo>
                    <a:pt x="143255" y="16446"/>
                  </a:lnTo>
                  <a:lnTo>
                    <a:pt x="126111" y="9309"/>
                  </a:lnTo>
                  <a:lnTo>
                    <a:pt x="108457" y="4152"/>
                  </a:lnTo>
                  <a:lnTo>
                    <a:pt x="90424" y="1041"/>
                  </a:lnTo>
                  <a:lnTo>
                    <a:pt x="72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55464" y="5702808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h="143510">
                  <a:moveTo>
                    <a:pt x="0" y="0"/>
                  </a:moveTo>
                  <a:lnTo>
                    <a:pt x="0" y="142938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280786" y="5248402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01870" y="5316728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&lt;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76902" y="5642864"/>
            <a:ext cx="438784" cy="591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4450" algn="r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105"/>
              </a:spcBef>
            </a:pPr>
            <a:r>
              <a:rPr sz="1400" b="1" spc="-10" dirty="0">
                <a:latin typeface="Arial"/>
                <a:cs typeface="Arial"/>
              </a:rPr>
              <a:t>error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79776" y="4315967"/>
            <a:ext cx="612775" cy="56134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155"/>
              </a:spcBef>
            </a:pPr>
            <a:r>
              <a:rPr sz="1400" b="1" spc="-5" dirty="0">
                <a:latin typeface="Arial"/>
                <a:cs typeface="Arial"/>
              </a:rPr>
              <a:t>CPU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67017" y="1270"/>
            <a:ext cx="2675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" dirty="0">
                <a:latin typeface="Arial"/>
                <a:cs typeface="Arial"/>
              </a:rPr>
              <a:t>Memory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Management</a:t>
            </a:r>
            <a:r>
              <a:rPr sz="1400" b="1" i="1" spc="-40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43301" y="296671"/>
            <a:ext cx="41135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7790" algn="l"/>
              </a:tabLst>
            </a:pPr>
            <a:r>
              <a:rPr u="sng" spc="5" dirty="0"/>
              <a:t>S</a:t>
            </a:r>
            <a:r>
              <a:rPr u="sng" spc="-15" dirty="0"/>
              <a:t>E</a:t>
            </a:r>
            <a:r>
              <a:rPr u="sng" dirty="0"/>
              <a:t>GMEN</a:t>
            </a:r>
            <a:r>
              <a:rPr u="sng" spc="-30" dirty="0"/>
              <a:t>T</a:t>
            </a:r>
            <a:r>
              <a:rPr u="sng" spc="-85" dirty="0"/>
              <a:t>A</a:t>
            </a:r>
            <a:r>
              <a:rPr u="sng" spc="-5" dirty="0"/>
              <a:t>T</a:t>
            </a:r>
            <a:r>
              <a:rPr u="sng" spc="5" dirty="0"/>
              <a:t>IO</a:t>
            </a:r>
            <a:r>
              <a:rPr u="sng" dirty="0"/>
              <a:t>N	</a:t>
            </a:r>
            <a:r>
              <a:rPr u="sng" spc="5" dirty="0"/>
              <a:t>EX</a:t>
            </a:r>
            <a:r>
              <a:rPr u="sng" spc="-110" dirty="0"/>
              <a:t>A</a:t>
            </a:r>
            <a:r>
              <a:rPr u="sng" spc="-10" dirty="0"/>
              <a:t>M</a:t>
            </a:r>
            <a:r>
              <a:rPr u="sng" spc="5" dirty="0"/>
              <a:t>P</a:t>
            </a:r>
            <a:r>
              <a:rPr u="sng" dirty="0"/>
              <a:t>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94560" y="2124455"/>
            <a:ext cx="899160" cy="78676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585"/>
              </a:spcBef>
            </a:pPr>
            <a:r>
              <a:rPr sz="1200" b="1" spc="-5" dirty="0">
                <a:latin typeface="Arial"/>
                <a:cs typeface="Arial"/>
              </a:rPr>
              <a:t>Subroutine</a:t>
            </a:r>
            <a:endParaRPr sz="1200">
              <a:latin typeface="Arial"/>
              <a:cs typeface="Arial"/>
            </a:endParaRPr>
          </a:p>
          <a:p>
            <a:pPr marL="77470">
              <a:lnSpc>
                <a:spcPct val="100000"/>
              </a:lnSpc>
              <a:spcBef>
                <a:spcPts val="745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8311" y="2124455"/>
            <a:ext cx="822960" cy="41465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15" algn="ctr">
              <a:lnSpc>
                <a:spcPts val="1435"/>
              </a:lnSpc>
            </a:pPr>
            <a:r>
              <a:rPr sz="1200" b="1" dirty="0">
                <a:latin typeface="Arial"/>
                <a:cs typeface="Arial"/>
              </a:rPr>
              <a:t>Stack</a:t>
            </a:r>
            <a:endParaRPr sz="1200">
              <a:latin typeface="Arial"/>
              <a:cs typeface="Arial"/>
            </a:endParaRPr>
          </a:p>
          <a:p>
            <a:pPr marL="6350" algn="ctr">
              <a:lnSpc>
                <a:spcPct val="100000"/>
              </a:lnSpc>
              <a:spcBef>
                <a:spcPts val="12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4688" y="3182111"/>
            <a:ext cx="899160" cy="105156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74295" algn="ctr">
              <a:lnSpc>
                <a:spcPct val="100000"/>
              </a:lnSpc>
              <a:spcBef>
                <a:spcPts val="720"/>
              </a:spcBef>
            </a:pPr>
            <a:r>
              <a:rPr sz="1200" b="1" spc="-5" dirty="0">
                <a:latin typeface="Arial"/>
                <a:cs typeface="Arial"/>
              </a:rPr>
              <a:t>SQRT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1592" y="3627120"/>
            <a:ext cx="902335" cy="60706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2230" algn="ctr">
              <a:lnSpc>
                <a:spcPts val="1270"/>
              </a:lnSpc>
              <a:spcBef>
                <a:spcPts val="135"/>
              </a:spcBef>
            </a:pPr>
            <a:r>
              <a:rPr sz="1200" b="1" spc="-5" dirty="0">
                <a:latin typeface="Arial"/>
                <a:cs typeface="Arial"/>
              </a:rPr>
              <a:t>Main</a:t>
            </a:r>
            <a:endParaRPr sz="1200">
              <a:latin typeface="Arial"/>
              <a:cs typeface="Arial"/>
            </a:endParaRPr>
          </a:p>
          <a:p>
            <a:pPr marL="92710" algn="ctr">
              <a:lnSpc>
                <a:spcPts val="1270"/>
              </a:lnSpc>
            </a:pPr>
            <a:r>
              <a:rPr sz="1200" b="1" spc="-5" dirty="0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  <a:p>
            <a:pPr marL="27305" algn="ctr">
              <a:lnSpc>
                <a:spcPct val="100000"/>
              </a:lnSpc>
              <a:spcBef>
                <a:spcPts val="385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4823" y="2810255"/>
            <a:ext cx="822960" cy="66802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35255" marR="137795" algn="ctr">
              <a:lnSpc>
                <a:spcPct val="76700"/>
              </a:lnSpc>
              <a:spcBef>
                <a:spcPts val="565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75" dirty="0">
                <a:latin typeface="Arial"/>
                <a:cs typeface="Arial"/>
              </a:rPr>
              <a:t>y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bo</a:t>
            </a:r>
            <a:r>
              <a:rPr sz="1200" b="1" dirty="0">
                <a:latin typeface="Arial"/>
                <a:cs typeface="Arial"/>
              </a:rPr>
              <a:t>l  </a:t>
            </a:r>
            <a:r>
              <a:rPr sz="1200" b="1" spc="-35" dirty="0">
                <a:latin typeface="Arial"/>
                <a:cs typeface="Arial"/>
              </a:rPr>
              <a:t>Table</a:t>
            </a:r>
            <a:endParaRPr sz="120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  <a:spcBef>
                <a:spcPts val="795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44167" y="1560575"/>
            <a:ext cx="3236595" cy="3359150"/>
          </a:xfrm>
          <a:custGeom>
            <a:avLst/>
            <a:gdLst/>
            <a:ahLst/>
            <a:cxnLst/>
            <a:rect l="l" t="t" r="r" b="b"/>
            <a:pathLst>
              <a:path w="3236595" h="3359150">
                <a:moveTo>
                  <a:pt x="0" y="1679448"/>
                </a:moveTo>
                <a:lnTo>
                  <a:pt x="634" y="1629918"/>
                </a:lnTo>
                <a:lnTo>
                  <a:pt x="2793" y="1580769"/>
                </a:lnTo>
                <a:lnTo>
                  <a:pt x="6095" y="1532001"/>
                </a:lnTo>
                <a:lnTo>
                  <a:pt x="10921" y="1483614"/>
                </a:lnTo>
                <a:lnTo>
                  <a:pt x="16890" y="1435608"/>
                </a:lnTo>
                <a:lnTo>
                  <a:pt x="24256" y="1388110"/>
                </a:lnTo>
                <a:lnTo>
                  <a:pt x="32893" y="1340993"/>
                </a:lnTo>
                <a:lnTo>
                  <a:pt x="42798" y="1294384"/>
                </a:lnTo>
                <a:lnTo>
                  <a:pt x="53847" y="1248283"/>
                </a:lnTo>
                <a:lnTo>
                  <a:pt x="66166" y="1202689"/>
                </a:lnTo>
                <a:lnTo>
                  <a:pt x="79628" y="1157604"/>
                </a:lnTo>
                <a:lnTo>
                  <a:pt x="94360" y="1113027"/>
                </a:lnTo>
                <a:lnTo>
                  <a:pt x="110235" y="1069086"/>
                </a:lnTo>
                <a:lnTo>
                  <a:pt x="127126" y="1025778"/>
                </a:lnTo>
                <a:lnTo>
                  <a:pt x="145287" y="982979"/>
                </a:lnTo>
                <a:lnTo>
                  <a:pt x="164465" y="940815"/>
                </a:lnTo>
                <a:lnTo>
                  <a:pt x="184784" y="899413"/>
                </a:lnTo>
                <a:lnTo>
                  <a:pt x="206120" y="858647"/>
                </a:lnTo>
                <a:lnTo>
                  <a:pt x="228472" y="818514"/>
                </a:lnTo>
                <a:lnTo>
                  <a:pt x="251968" y="779145"/>
                </a:lnTo>
                <a:lnTo>
                  <a:pt x="276351" y="740410"/>
                </a:lnTo>
                <a:lnTo>
                  <a:pt x="301751" y="702563"/>
                </a:lnTo>
                <a:lnTo>
                  <a:pt x="328168" y="665352"/>
                </a:lnTo>
                <a:lnTo>
                  <a:pt x="355473" y="629031"/>
                </a:lnTo>
                <a:lnTo>
                  <a:pt x="383794" y="593471"/>
                </a:lnTo>
                <a:lnTo>
                  <a:pt x="413004" y="558800"/>
                </a:lnTo>
                <a:lnTo>
                  <a:pt x="442975" y="524890"/>
                </a:lnTo>
                <a:lnTo>
                  <a:pt x="473963" y="491871"/>
                </a:lnTo>
                <a:lnTo>
                  <a:pt x="505713" y="459739"/>
                </a:lnTo>
                <a:lnTo>
                  <a:pt x="538352" y="428625"/>
                </a:lnTo>
                <a:lnTo>
                  <a:pt x="571881" y="398272"/>
                </a:lnTo>
                <a:lnTo>
                  <a:pt x="606044" y="368935"/>
                </a:lnTo>
                <a:lnTo>
                  <a:pt x="641095" y="340613"/>
                </a:lnTo>
                <a:lnTo>
                  <a:pt x="676909" y="313182"/>
                </a:lnTo>
                <a:lnTo>
                  <a:pt x="713486" y="286765"/>
                </a:lnTo>
                <a:lnTo>
                  <a:pt x="750696" y="261493"/>
                </a:lnTo>
                <a:lnTo>
                  <a:pt x="788669" y="237109"/>
                </a:lnTo>
                <a:lnTo>
                  <a:pt x="827277" y="213868"/>
                </a:lnTo>
                <a:lnTo>
                  <a:pt x="866648" y="191770"/>
                </a:lnTo>
                <a:lnTo>
                  <a:pt x="906526" y="170687"/>
                </a:lnTo>
                <a:lnTo>
                  <a:pt x="947165" y="150749"/>
                </a:lnTo>
                <a:lnTo>
                  <a:pt x="988313" y="131952"/>
                </a:lnTo>
                <a:lnTo>
                  <a:pt x="1030096" y="114300"/>
                </a:lnTo>
                <a:lnTo>
                  <a:pt x="1072514" y="97916"/>
                </a:lnTo>
                <a:lnTo>
                  <a:pt x="1115314" y="82676"/>
                </a:lnTo>
                <a:lnTo>
                  <a:pt x="1158748" y="68707"/>
                </a:lnTo>
                <a:lnTo>
                  <a:pt x="1202689" y="55879"/>
                </a:lnTo>
                <a:lnTo>
                  <a:pt x="1247139" y="44323"/>
                </a:lnTo>
                <a:lnTo>
                  <a:pt x="1292098" y="34162"/>
                </a:lnTo>
                <a:lnTo>
                  <a:pt x="1337437" y="25146"/>
                </a:lnTo>
                <a:lnTo>
                  <a:pt x="1383283" y="17525"/>
                </a:lnTo>
                <a:lnTo>
                  <a:pt x="1429512" y="11302"/>
                </a:lnTo>
                <a:lnTo>
                  <a:pt x="1476120" y="6350"/>
                </a:lnTo>
                <a:lnTo>
                  <a:pt x="1523111" y="2794"/>
                </a:lnTo>
                <a:lnTo>
                  <a:pt x="1570482" y="762"/>
                </a:lnTo>
                <a:lnTo>
                  <a:pt x="1618233" y="0"/>
                </a:lnTo>
                <a:lnTo>
                  <a:pt x="1665986" y="762"/>
                </a:lnTo>
                <a:lnTo>
                  <a:pt x="1713357" y="2794"/>
                </a:lnTo>
                <a:lnTo>
                  <a:pt x="1760346" y="6350"/>
                </a:lnTo>
                <a:lnTo>
                  <a:pt x="1806956" y="11302"/>
                </a:lnTo>
                <a:lnTo>
                  <a:pt x="1853183" y="17525"/>
                </a:lnTo>
                <a:lnTo>
                  <a:pt x="1899031" y="25146"/>
                </a:lnTo>
                <a:lnTo>
                  <a:pt x="1944370" y="34162"/>
                </a:lnTo>
                <a:lnTo>
                  <a:pt x="1989328" y="44323"/>
                </a:lnTo>
                <a:lnTo>
                  <a:pt x="2033778" y="55879"/>
                </a:lnTo>
                <a:lnTo>
                  <a:pt x="2077720" y="68707"/>
                </a:lnTo>
                <a:lnTo>
                  <a:pt x="2121154" y="82676"/>
                </a:lnTo>
                <a:lnTo>
                  <a:pt x="2164080" y="97916"/>
                </a:lnTo>
                <a:lnTo>
                  <a:pt x="2206371" y="114300"/>
                </a:lnTo>
                <a:lnTo>
                  <a:pt x="2248154" y="131952"/>
                </a:lnTo>
                <a:lnTo>
                  <a:pt x="2289302" y="150749"/>
                </a:lnTo>
                <a:lnTo>
                  <a:pt x="2329942" y="170687"/>
                </a:lnTo>
                <a:lnTo>
                  <a:pt x="2369947" y="191770"/>
                </a:lnTo>
                <a:lnTo>
                  <a:pt x="2409190" y="213868"/>
                </a:lnTo>
                <a:lnTo>
                  <a:pt x="2447797" y="237109"/>
                </a:lnTo>
                <a:lnTo>
                  <a:pt x="2485771" y="261493"/>
                </a:lnTo>
                <a:lnTo>
                  <a:pt x="2523109" y="286765"/>
                </a:lnTo>
                <a:lnTo>
                  <a:pt x="2559558" y="313182"/>
                </a:lnTo>
                <a:lnTo>
                  <a:pt x="2595372" y="340613"/>
                </a:lnTo>
                <a:lnTo>
                  <a:pt x="2630423" y="368935"/>
                </a:lnTo>
                <a:lnTo>
                  <a:pt x="2664714" y="398272"/>
                </a:lnTo>
                <a:lnTo>
                  <a:pt x="2698115" y="428625"/>
                </a:lnTo>
                <a:lnTo>
                  <a:pt x="2730754" y="459739"/>
                </a:lnTo>
                <a:lnTo>
                  <a:pt x="2762631" y="491871"/>
                </a:lnTo>
                <a:lnTo>
                  <a:pt x="2793492" y="524890"/>
                </a:lnTo>
                <a:lnTo>
                  <a:pt x="2823591" y="558800"/>
                </a:lnTo>
                <a:lnTo>
                  <a:pt x="2852801" y="593471"/>
                </a:lnTo>
                <a:lnTo>
                  <a:pt x="2880995" y="629031"/>
                </a:lnTo>
                <a:lnTo>
                  <a:pt x="2908427" y="665352"/>
                </a:lnTo>
                <a:lnTo>
                  <a:pt x="2934716" y="702563"/>
                </a:lnTo>
                <a:lnTo>
                  <a:pt x="2960243" y="740410"/>
                </a:lnTo>
                <a:lnTo>
                  <a:pt x="2984627" y="779145"/>
                </a:lnTo>
                <a:lnTo>
                  <a:pt x="3007995" y="818514"/>
                </a:lnTo>
                <a:lnTo>
                  <a:pt x="3030473" y="858647"/>
                </a:lnTo>
                <a:lnTo>
                  <a:pt x="3051810" y="899413"/>
                </a:lnTo>
                <a:lnTo>
                  <a:pt x="3072130" y="940815"/>
                </a:lnTo>
                <a:lnTo>
                  <a:pt x="3091307" y="982979"/>
                </a:lnTo>
                <a:lnTo>
                  <a:pt x="3109468" y="1025778"/>
                </a:lnTo>
                <a:lnTo>
                  <a:pt x="3126359" y="1069086"/>
                </a:lnTo>
                <a:lnTo>
                  <a:pt x="3142234" y="1113027"/>
                </a:lnTo>
                <a:lnTo>
                  <a:pt x="3156966" y="1157604"/>
                </a:lnTo>
                <a:lnTo>
                  <a:pt x="3170428" y="1202689"/>
                </a:lnTo>
                <a:lnTo>
                  <a:pt x="3182747" y="1248283"/>
                </a:lnTo>
                <a:lnTo>
                  <a:pt x="3193796" y="1294384"/>
                </a:lnTo>
                <a:lnTo>
                  <a:pt x="3203702" y="1340993"/>
                </a:lnTo>
                <a:lnTo>
                  <a:pt x="3212337" y="1388110"/>
                </a:lnTo>
                <a:lnTo>
                  <a:pt x="3219704" y="1435608"/>
                </a:lnTo>
                <a:lnTo>
                  <a:pt x="3225672" y="1483614"/>
                </a:lnTo>
                <a:lnTo>
                  <a:pt x="3230498" y="1532001"/>
                </a:lnTo>
                <a:lnTo>
                  <a:pt x="3233801" y="1580769"/>
                </a:lnTo>
                <a:lnTo>
                  <a:pt x="3235960" y="1629918"/>
                </a:lnTo>
                <a:lnTo>
                  <a:pt x="3236595" y="1679448"/>
                </a:lnTo>
                <a:lnTo>
                  <a:pt x="3235960" y="1728977"/>
                </a:lnTo>
                <a:lnTo>
                  <a:pt x="3233801" y="1778127"/>
                </a:lnTo>
                <a:lnTo>
                  <a:pt x="3230498" y="1826895"/>
                </a:lnTo>
                <a:lnTo>
                  <a:pt x="3225672" y="1875282"/>
                </a:lnTo>
                <a:lnTo>
                  <a:pt x="3219704" y="1923288"/>
                </a:lnTo>
                <a:lnTo>
                  <a:pt x="3212337" y="1970786"/>
                </a:lnTo>
                <a:lnTo>
                  <a:pt x="3203702" y="2017902"/>
                </a:lnTo>
                <a:lnTo>
                  <a:pt x="3193796" y="2064512"/>
                </a:lnTo>
                <a:lnTo>
                  <a:pt x="3182747" y="2110613"/>
                </a:lnTo>
                <a:lnTo>
                  <a:pt x="3170428" y="2156206"/>
                </a:lnTo>
                <a:lnTo>
                  <a:pt x="3156966" y="2201291"/>
                </a:lnTo>
                <a:lnTo>
                  <a:pt x="3142234" y="2245868"/>
                </a:lnTo>
                <a:lnTo>
                  <a:pt x="3126359" y="2289810"/>
                </a:lnTo>
                <a:lnTo>
                  <a:pt x="3109468" y="2333117"/>
                </a:lnTo>
                <a:lnTo>
                  <a:pt x="3091307" y="2375916"/>
                </a:lnTo>
                <a:lnTo>
                  <a:pt x="3072130" y="2417953"/>
                </a:lnTo>
                <a:lnTo>
                  <a:pt x="3051810" y="2459482"/>
                </a:lnTo>
                <a:lnTo>
                  <a:pt x="3030473" y="2500249"/>
                </a:lnTo>
                <a:lnTo>
                  <a:pt x="3007995" y="2540381"/>
                </a:lnTo>
                <a:lnTo>
                  <a:pt x="2984627" y="2579751"/>
                </a:lnTo>
                <a:lnTo>
                  <a:pt x="2960243" y="2618359"/>
                </a:lnTo>
                <a:lnTo>
                  <a:pt x="2934716" y="2656332"/>
                </a:lnTo>
                <a:lnTo>
                  <a:pt x="2908427" y="2693416"/>
                </a:lnTo>
                <a:lnTo>
                  <a:pt x="2880995" y="2729865"/>
                </a:lnTo>
                <a:lnTo>
                  <a:pt x="2852801" y="2765298"/>
                </a:lnTo>
                <a:lnTo>
                  <a:pt x="2823591" y="2800096"/>
                </a:lnTo>
                <a:lnTo>
                  <a:pt x="2793492" y="2834005"/>
                </a:lnTo>
                <a:lnTo>
                  <a:pt x="2762631" y="2866898"/>
                </a:lnTo>
                <a:lnTo>
                  <a:pt x="2730754" y="2899029"/>
                </a:lnTo>
                <a:lnTo>
                  <a:pt x="2698115" y="2930271"/>
                </a:lnTo>
                <a:lnTo>
                  <a:pt x="2664714" y="2960624"/>
                </a:lnTo>
                <a:lnTo>
                  <a:pt x="2630423" y="2989961"/>
                </a:lnTo>
                <a:lnTo>
                  <a:pt x="2595372" y="3018282"/>
                </a:lnTo>
                <a:lnTo>
                  <a:pt x="2559558" y="3045714"/>
                </a:lnTo>
                <a:lnTo>
                  <a:pt x="2523109" y="3072003"/>
                </a:lnTo>
                <a:lnTo>
                  <a:pt x="2485771" y="3097403"/>
                </a:lnTo>
                <a:lnTo>
                  <a:pt x="2447797" y="3121660"/>
                </a:lnTo>
                <a:lnTo>
                  <a:pt x="2409190" y="3144901"/>
                </a:lnTo>
                <a:lnTo>
                  <a:pt x="2369947" y="3167126"/>
                </a:lnTo>
                <a:lnTo>
                  <a:pt x="2329942" y="3188208"/>
                </a:lnTo>
                <a:lnTo>
                  <a:pt x="2289302" y="3208147"/>
                </a:lnTo>
                <a:lnTo>
                  <a:pt x="2248154" y="3226943"/>
                </a:lnTo>
                <a:lnTo>
                  <a:pt x="2206371" y="3244469"/>
                </a:lnTo>
                <a:lnTo>
                  <a:pt x="2164080" y="3260979"/>
                </a:lnTo>
                <a:lnTo>
                  <a:pt x="2121154" y="3276219"/>
                </a:lnTo>
                <a:lnTo>
                  <a:pt x="2077720" y="3290189"/>
                </a:lnTo>
                <a:lnTo>
                  <a:pt x="2033778" y="3303016"/>
                </a:lnTo>
                <a:lnTo>
                  <a:pt x="1989328" y="3314573"/>
                </a:lnTo>
                <a:lnTo>
                  <a:pt x="1944370" y="3324732"/>
                </a:lnTo>
                <a:lnTo>
                  <a:pt x="1899031" y="3333750"/>
                </a:lnTo>
                <a:lnTo>
                  <a:pt x="1853183" y="3341370"/>
                </a:lnTo>
                <a:lnTo>
                  <a:pt x="1806956" y="3347593"/>
                </a:lnTo>
                <a:lnTo>
                  <a:pt x="1760346" y="3352546"/>
                </a:lnTo>
                <a:lnTo>
                  <a:pt x="1713357" y="3356102"/>
                </a:lnTo>
                <a:lnTo>
                  <a:pt x="1665986" y="3358134"/>
                </a:lnTo>
                <a:lnTo>
                  <a:pt x="1618233" y="3358896"/>
                </a:lnTo>
                <a:lnTo>
                  <a:pt x="1570482" y="3358134"/>
                </a:lnTo>
                <a:lnTo>
                  <a:pt x="1523111" y="3356102"/>
                </a:lnTo>
                <a:lnTo>
                  <a:pt x="1476120" y="3352546"/>
                </a:lnTo>
                <a:lnTo>
                  <a:pt x="1429512" y="3347593"/>
                </a:lnTo>
                <a:lnTo>
                  <a:pt x="1383283" y="3341370"/>
                </a:lnTo>
                <a:lnTo>
                  <a:pt x="1337437" y="3333750"/>
                </a:lnTo>
                <a:lnTo>
                  <a:pt x="1292098" y="3324732"/>
                </a:lnTo>
                <a:lnTo>
                  <a:pt x="1247139" y="3314573"/>
                </a:lnTo>
                <a:lnTo>
                  <a:pt x="1202689" y="3303016"/>
                </a:lnTo>
                <a:lnTo>
                  <a:pt x="1158748" y="3290189"/>
                </a:lnTo>
                <a:lnTo>
                  <a:pt x="1115314" y="3276219"/>
                </a:lnTo>
                <a:lnTo>
                  <a:pt x="1072514" y="3260979"/>
                </a:lnTo>
                <a:lnTo>
                  <a:pt x="1030096" y="3244469"/>
                </a:lnTo>
                <a:lnTo>
                  <a:pt x="988313" y="3226943"/>
                </a:lnTo>
                <a:lnTo>
                  <a:pt x="947165" y="3208147"/>
                </a:lnTo>
                <a:lnTo>
                  <a:pt x="906526" y="3188208"/>
                </a:lnTo>
                <a:lnTo>
                  <a:pt x="866648" y="3167126"/>
                </a:lnTo>
                <a:lnTo>
                  <a:pt x="827277" y="3144901"/>
                </a:lnTo>
                <a:lnTo>
                  <a:pt x="788669" y="3121660"/>
                </a:lnTo>
                <a:lnTo>
                  <a:pt x="750696" y="3097403"/>
                </a:lnTo>
                <a:lnTo>
                  <a:pt x="713486" y="3072003"/>
                </a:lnTo>
                <a:lnTo>
                  <a:pt x="676909" y="3045714"/>
                </a:lnTo>
                <a:lnTo>
                  <a:pt x="641095" y="3018282"/>
                </a:lnTo>
                <a:lnTo>
                  <a:pt x="606044" y="2989961"/>
                </a:lnTo>
                <a:lnTo>
                  <a:pt x="571881" y="2960624"/>
                </a:lnTo>
                <a:lnTo>
                  <a:pt x="538352" y="2930271"/>
                </a:lnTo>
                <a:lnTo>
                  <a:pt x="505713" y="2899029"/>
                </a:lnTo>
                <a:lnTo>
                  <a:pt x="473963" y="2866898"/>
                </a:lnTo>
                <a:lnTo>
                  <a:pt x="442975" y="2834005"/>
                </a:lnTo>
                <a:lnTo>
                  <a:pt x="413004" y="2800096"/>
                </a:lnTo>
                <a:lnTo>
                  <a:pt x="383794" y="2765298"/>
                </a:lnTo>
                <a:lnTo>
                  <a:pt x="355473" y="2729865"/>
                </a:lnTo>
                <a:lnTo>
                  <a:pt x="328168" y="2693416"/>
                </a:lnTo>
                <a:lnTo>
                  <a:pt x="301751" y="2656332"/>
                </a:lnTo>
                <a:lnTo>
                  <a:pt x="276351" y="2618359"/>
                </a:lnTo>
                <a:lnTo>
                  <a:pt x="251968" y="2579751"/>
                </a:lnTo>
                <a:lnTo>
                  <a:pt x="228472" y="2540381"/>
                </a:lnTo>
                <a:lnTo>
                  <a:pt x="206120" y="2500249"/>
                </a:lnTo>
                <a:lnTo>
                  <a:pt x="184784" y="2459482"/>
                </a:lnTo>
                <a:lnTo>
                  <a:pt x="164465" y="2417953"/>
                </a:lnTo>
                <a:lnTo>
                  <a:pt x="145287" y="2375916"/>
                </a:lnTo>
                <a:lnTo>
                  <a:pt x="127126" y="2333117"/>
                </a:lnTo>
                <a:lnTo>
                  <a:pt x="110235" y="2289810"/>
                </a:lnTo>
                <a:lnTo>
                  <a:pt x="94360" y="2245868"/>
                </a:lnTo>
                <a:lnTo>
                  <a:pt x="79628" y="2201291"/>
                </a:lnTo>
                <a:lnTo>
                  <a:pt x="66166" y="2156206"/>
                </a:lnTo>
                <a:lnTo>
                  <a:pt x="53847" y="2110613"/>
                </a:lnTo>
                <a:lnTo>
                  <a:pt x="42798" y="2064512"/>
                </a:lnTo>
                <a:lnTo>
                  <a:pt x="32893" y="2017902"/>
                </a:lnTo>
                <a:lnTo>
                  <a:pt x="24256" y="1970786"/>
                </a:lnTo>
                <a:lnTo>
                  <a:pt x="16890" y="1923288"/>
                </a:lnTo>
                <a:lnTo>
                  <a:pt x="10921" y="1875282"/>
                </a:lnTo>
                <a:lnTo>
                  <a:pt x="6095" y="1826895"/>
                </a:lnTo>
                <a:lnTo>
                  <a:pt x="2793" y="1778127"/>
                </a:lnTo>
                <a:lnTo>
                  <a:pt x="634" y="1728977"/>
                </a:lnTo>
                <a:lnTo>
                  <a:pt x="0" y="1679448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430837" y="1077975"/>
          <a:ext cx="962025" cy="41702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238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1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17780" algn="ctr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8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17780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050"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508495" y="2028190"/>
            <a:ext cx="367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1400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0901" y="1077912"/>
            <a:ext cx="990473" cy="10373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8967" y="2478023"/>
            <a:ext cx="960119" cy="55473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508495" y="2422397"/>
            <a:ext cx="367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2400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08495" y="2938653"/>
            <a:ext cx="367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3200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08495" y="3708082"/>
            <a:ext cx="367030" cy="4654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b="1" dirty="0">
                <a:latin typeface="Arial"/>
                <a:cs typeface="Arial"/>
              </a:rPr>
              <a:t>4300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b="1" spc="-5" dirty="0">
                <a:latin typeface="Arial"/>
                <a:cs typeface="Arial"/>
              </a:rPr>
              <a:t>4700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8967" y="4767071"/>
            <a:ext cx="960119" cy="21336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508495" y="4614799"/>
            <a:ext cx="367030" cy="7759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spc="-5" dirty="0">
                <a:latin typeface="Arial"/>
                <a:cs typeface="Arial"/>
              </a:rPr>
              <a:t>5700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b="1" spc="-5" dirty="0">
                <a:latin typeface="Arial"/>
                <a:cs typeface="Arial"/>
              </a:rPr>
              <a:t>6300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200" b="1" spc="-5" dirty="0">
                <a:latin typeface="Arial"/>
                <a:cs typeface="Arial"/>
              </a:rPr>
              <a:t>6700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62502" y="5167376"/>
            <a:ext cx="1079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90" dirty="0">
                <a:latin typeface="Arial"/>
                <a:cs typeface="Arial"/>
              </a:rPr>
              <a:t>T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b</a:t>
            </a:r>
            <a:r>
              <a:rPr sz="1200" b="1" spc="-25" dirty="0">
                <a:latin typeface="Arial"/>
                <a:cs typeface="Arial"/>
              </a:rPr>
              <a:t>l</a:t>
            </a:r>
            <a:r>
              <a:rPr sz="1200" b="1" spc="-5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792537" y="5365686"/>
          <a:ext cx="1036955" cy="946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marL="116839">
                        <a:lnSpc>
                          <a:spcPts val="1410"/>
                        </a:lnSpc>
                        <a:spcBef>
                          <a:spcPts val="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limit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1410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base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63">
                <a:tc>
                  <a:txBody>
                    <a:bodyPr/>
                    <a:lstStyle/>
                    <a:p>
                      <a:pPr marR="57785" algn="r">
                        <a:lnSpc>
                          <a:spcPts val="10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1000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57785" algn="r">
                        <a:lnSpc>
                          <a:spcPts val="109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400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57785" algn="r">
                        <a:lnSpc>
                          <a:spcPts val="110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400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64135" algn="r">
                        <a:lnSpc>
                          <a:spcPts val="115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1100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R="57785" algn="r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01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1400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0165">
                        <a:lnSpc>
                          <a:spcPts val="109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6300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0165">
                        <a:lnSpc>
                          <a:spcPts val="110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4300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43815">
                        <a:lnSpc>
                          <a:spcPts val="115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3200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0165">
                        <a:lnSpc>
                          <a:spcPts val="132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4700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3671696" y="5554167"/>
            <a:ext cx="110489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7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090"/>
              </a:lnSpc>
            </a:pP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090"/>
              </a:lnSpc>
            </a:pPr>
            <a:r>
              <a:rPr sz="1200" b="1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200" b="1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70"/>
              </a:lnSpc>
            </a:pPr>
            <a:r>
              <a:rPr sz="1200" b="1" spc="-5" dirty="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16963" y="4430395"/>
            <a:ext cx="1685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Log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160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r>
              <a:rPr sz="1200" b="1" spc="-10" dirty="0">
                <a:latin typeface="Arial"/>
                <a:cs typeface="Arial"/>
              </a:rPr>
              <a:t> S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68800" y="1270"/>
            <a:ext cx="46729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9775" algn="l"/>
              </a:tabLst>
            </a:pPr>
            <a:r>
              <a:rPr sz="2100" b="1" spc="-15" baseline="1984" dirty="0">
                <a:latin typeface="Arial"/>
                <a:cs typeface="Arial"/>
              </a:rPr>
              <a:t>28	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r>
              <a:rPr sz="1400" b="1" i="1" spc="-70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Management</a:t>
            </a:r>
            <a:r>
              <a:rPr sz="1400" b="1" i="1" spc="-6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03119" y="278638"/>
            <a:ext cx="3905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8770" algn="l"/>
                <a:tab pos="2180590" algn="l"/>
              </a:tabLst>
            </a:pPr>
            <a:r>
              <a:rPr u="sng" dirty="0"/>
              <a:t>S</a:t>
            </a:r>
            <a:r>
              <a:rPr u="sng" spc="-10" dirty="0"/>
              <a:t>H</a:t>
            </a:r>
            <a:r>
              <a:rPr u="sng" spc="-110" dirty="0"/>
              <a:t>A</a:t>
            </a:r>
            <a:r>
              <a:rPr u="sng" spc="-5" dirty="0"/>
              <a:t>RING</a:t>
            </a:r>
            <a:r>
              <a:rPr u="sng" dirty="0"/>
              <a:t>	</a:t>
            </a:r>
            <a:r>
              <a:rPr u="sng" spc="5" dirty="0"/>
              <a:t>O</a:t>
            </a:r>
            <a:r>
              <a:rPr u="sng" dirty="0"/>
              <a:t>F	SEGMENTS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9967" y="1478280"/>
            <a:ext cx="762000" cy="582295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7653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Editor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0757" y="2086432"/>
            <a:ext cx="7842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9944" y="2343911"/>
            <a:ext cx="624840" cy="32004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489"/>
              </a:spcBef>
            </a:pPr>
            <a:r>
              <a:rPr sz="1200" b="1" spc="-5" dirty="0">
                <a:latin typeface="Arial"/>
                <a:cs typeface="Arial"/>
              </a:rPr>
              <a:t>Da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6538" y="2691841"/>
            <a:ext cx="7848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97152" y="1207008"/>
            <a:ext cx="2209800" cy="1859280"/>
          </a:xfrm>
          <a:custGeom>
            <a:avLst/>
            <a:gdLst/>
            <a:ahLst/>
            <a:cxnLst/>
            <a:rect l="l" t="t" r="r" b="b"/>
            <a:pathLst>
              <a:path w="2209800" h="1859280">
                <a:moveTo>
                  <a:pt x="0" y="929513"/>
                </a:moveTo>
                <a:lnTo>
                  <a:pt x="1142" y="885825"/>
                </a:lnTo>
                <a:lnTo>
                  <a:pt x="4825" y="842517"/>
                </a:lnTo>
                <a:lnTo>
                  <a:pt x="10667" y="799845"/>
                </a:lnTo>
                <a:lnTo>
                  <a:pt x="18795" y="757808"/>
                </a:lnTo>
                <a:lnTo>
                  <a:pt x="29209" y="716406"/>
                </a:lnTo>
                <a:lnTo>
                  <a:pt x="41655" y="675639"/>
                </a:lnTo>
                <a:lnTo>
                  <a:pt x="56387" y="635762"/>
                </a:lnTo>
                <a:lnTo>
                  <a:pt x="73024" y="596518"/>
                </a:lnTo>
                <a:lnTo>
                  <a:pt x="91693" y="558164"/>
                </a:lnTo>
                <a:lnTo>
                  <a:pt x="112267" y="520700"/>
                </a:lnTo>
                <a:lnTo>
                  <a:pt x="134873" y="484250"/>
                </a:lnTo>
                <a:lnTo>
                  <a:pt x="159130" y="448563"/>
                </a:lnTo>
                <a:lnTo>
                  <a:pt x="185292" y="414019"/>
                </a:lnTo>
                <a:lnTo>
                  <a:pt x="213233" y="380491"/>
                </a:lnTo>
                <a:lnTo>
                  <a:pt x="242697" y="348106"/>
                </a:lnTo>
                <a:lnTo>
                  <a:pt x="273939" y="316864"/>
                </a:lnTo>
                <a:lnTo>
                  <a:pt x="306704" y="286765"/>
                </a:lnTo>
                <a:lnTo>
                  <a:pt x="340995" y="257937"/>
                </a:lnTo>
                <a:lnTo>
                  <a:pt x="376681" y="230377"/>
                </a:lnTo>
                <a:lnTo>
                  <a:pt x="413892" y="204215"/>
                </a:lnTo>
                <a:lnTo>
                  <a:pt x="452373" y="179324"/>
                </a:lnTo>
                <a:lnTo>
                  <a:pt x="492124" y="155828"/>
                </a:lnTo>
                <a:lnTo>
                  <a:pt x="533272" y="133857"/>
                </a:lnTo>
                <a:lnTo>
                  <a:pt x="575564" y="113411"/>
                </a:lnTo>
                <a:lnTo>
                  <a:pt x="618997" y="94487"/>
                </a:lnTo>
                <a:lnTo>
                  <a:pt x="663574" y="77088"/>
                </a:lnTo>
                <a:lnTo>
                  <a:pt x="709041" y="61467"/>
                </a:lnTo>
                <a:lnTo>
                  <a:pt x="755649" y="47370"/>
                </a:lnTo>
                <a:lnTo>
                  <a:pt x="803147" y="35051"/>
                </a:lnTo>
                <a:lnTo>
                  <a:pt x="851535" y="24511"/>
                </a:lnTo>
                <a:lnTo>
                  <a:pt x="900810" y="15875"/>
                </a:lnTo>
                <a:lnTo>
                  <a:pt x="950722" y="9016"/>
                </a:lnTo>
                <a:lnTo>
                  <a:pt x="1001522" y="4063"/>
                </a:lnTo>
                <a:lnTo>
                  <a:pt x="1052830" y="1015"/>
                </a:lnTo>
                <a:lnTo>
                  <a:pt x="1104899" y="0"/>
                </a:lnTo>
                <a:lnTo>
                  <a:pt x="1156970" y="1015"/>
                </a:lnTo>
                <a:lnTo>
                  <a:pt x="1208278" y="4063"/>
                </a:lnTo>
                <a:lnTo>
                  <a:pt x="1259078" y="9016"/>
                </a:lnTo>
                <a:lnTo>
                  <a:pt x="1308989" y="15875"/>
                </a:lnTo>
                <a:lnTo>
                  <a:pt x="1358265" y="24511"/>
                </a:lnTo>
                <a:lnTo>
                  <a:pt x="1406652" y="35051"/>
                </a:lnTo>
                <a:lnTo>
                  <a:pt x="1454149" y="47370"/>
                </a:lnTo>
                <a:lnTo>
                  <a:pt x="1500759" y="61467"/>
                </a:lnTo>
                <a:lnTo>
                  <a:pt x="1546224" y="77088"/>
                </a:lnTo>
                <a:lnTo>
                  <a:pt x="1590802" y="94487"/>
                </a:lnTo>
                <a:lnTo>
                  <a:pt x="1634236" y="113411"/>
                </a:lnTo>
                <a:lnTo>
                  <a:pt x="1676527" y="133857"/>
                </a:lnTo>
                <a:lnTo>
                  <a:pt x="1717675" y="155828"/>
                </a:lnTo>
                <a:lnTo>
                  <a:pt x="1757426" y="179324"/>
                </a:lnTo>
                <a:lnTo>
                  <a:pt x="1795907" y="204215"/>
                </a:lnTo>
                <a:lnTo>
                  <a:pt x="1833118" y="230377"/>
                </a:lnTo>
                <a:lnTo>
                  <a:pt x="1868805" y="257937"/>
                </a:lnTo>
                <a:lnTo>
                  <a:pt x="1903095" y="286765"/>
                </a:lnTo>
                <a:lnTo>
                  <a:pt x="1935861" y="316864"/>
                </a:lnTo>
                <a:lnTo>
                  <a:pt x="1967102" y="348106"/>
                </a:lnTo>
                <a:lnTo>
                  <a:pt x="1996567" y="380491"/>
                </a:lnTo>
                <a:lnTo>
                  <a:pt x="2024507" y="414019"/>
                </a:lnTo>
                <a:lnTo>
                  <a:pt x="2050669" y="448563"/>
                </a:lnTo>
                <a:lnTo>
                  <a:pt x="2074926" y="484250"/>
                </a:lnTo>
                <a:lnTo>
                  <a:pt x="2097532" y="520700"/>
                </a:lnTo>
                <a:lnTo>
                  <a:pt x="2118106" y="558164"/>
                </a:lnTo>
                <a:lnTo>
                  <a:pt x="2136775" y="596518"/>
                </a:lnTo>
                <a:lnTo>
                  <a:pt x="2153412" y="635762"/>
                </a:lnTo>
                <a:lnTo>
                  <a:pt x="2168144" y="675639"/>
                </a:lnTo>
                <a:lnTo>
                  <a:pt x="2180590" y="716406"/>
                </a:lnTo>
                <a:lnTo>
                  <a:pt x="2191004" y="757808"/>
                </a:lnTo>
                <a:lnTo>
                  <a:pt x="2199132" y="799845"/>
                </a:lnTo>
                <a:lnTo>
                  <a:pt x="2204974" y="842517"/>
                </a:lnTo>
                <a:lnTo>
                  <a:pt x="2208657" y="885825"/>
                </a:lnTo>
                <a:lnTo>
                  <a:pt x="2209800" y="929513"/>
                </a:lnTo>
                <a:lnTo>
                  <a:pt x="2208657" y="973327"/>
                </a:lnTo>
                <a:lnTo>
                  <a:pt x="2204974" y="1016634"/>
                </a:lnTo>
                <a:lnTo>
                  <a:pt x="2199132" y="1059306"/>
                </a:lnTo>
                <a:lnTo>
                  <a:pt x="2191004" y="1101343"/>
                </a:lnTo>
                <a:lnTo>
                  <a:pt x="2180590" y="1142745"/>
                </a:lnTo>
                <a:lnTo>
                  <a:pt x="2168144" y="1183513"/>
                </a:lnTo>
                <a:lnTo>
                  <a:pt x="2153412" y="1223390"/>
                </a:lnTo>
                <a:lnTo>
                  <a:pt x="2136775" y="1262633"/>
                </a:lnTo>
                <a:lnTo>
                  <a:pt x="2118106" y="1300988"/>
                </a:lnTo>
                <a:lnTo>
                  <a:pt x="2097532" y="1338452"/>
                </a:lnTo>
                <a:lnTo>
                  <a:pt x="2074926" y="1375028"/>
                </a:lnTo>
                <a:lnTo>
                  <a:pt x="2050669" y="1410589"/>
                </a:lnTo>
                <a:lnTo>
                  <a:pt x="2024507" y="1445132"/>
                </a:lnTo>
                <a:lnTo>
                  <a:pt x="1996567" y="1478661"/>
                </a:lnTo>
                <a:lnTo>
                  <a:pt x="1967102" y="1511045"/>
                </a:lnTo>
                <a:lnTo>
                  <a:pt x="1935861" y="1542288"/>
                </a:lnTo>
                <a:lnTo>
                  <a:pt x="1903095" y="1572387"/>
                </a:lnTo>
                <a:lnTo>
                  <a:pt x="1868805" y="1601215"/>
                </a:lnTo>
                <a:lnTo>
                  <a:pt x="1833118" y="1628775"/>
                </a:lnTo>
                <a:lnTo>
                  <a:pt x="1795907" y="1655064"/>
                </a:lnTo>
                <a:lnTo>
                  <a:pt x="1757426" y="1679955"/>
                </a:lnTo>
                <a:lnTo>
                  <a:pt x="1717675" y="1703324"/>
                </a:lnTo>
                <a:lnTo>
                  <a:pt x="1676527" y="1725294"/>
                </a:lnTo>
                <a:lnTo>
                  <a:pt x="1634236" y="1745868"/>
                </a:lnTo>
                <a:lnTo>
                  <a:pt x="1590802" y="1764791"/>
                </a:lnTo>
                <a:lnTo>
                  <a:pt x="1546224" y="1782190"/>
                </a:lnTo>
                <a:lnTo>
                  <a:pt x="1500759" y="1797812"/>
                </a:lnTo>
                <a:lnTo>
                  <a:pt x="1454149" y="1811908"/>
                </a:lnTo>
                <a:lnTo>
                  <a:pt x="1406652" y="1824227"/>
                </a:lnTo>
                <a:lnTo>
                  <a:pt x="1358265" y="1834768"/>
                </a:lnTo>
                <a:lnTo>
                  <a:pt x="1308989" y="1843404"/>
                </a:lnTo>
                <a:lnTo>
                  <a:pt x="1259078" y="1850263"/>
                </a:lnTo>
                <a:lnTo>
                  <a:pt x="1208278" y="1855215"/>
                </a:lnTo>
                <a:lnTo>
                  <a:pt x="1156970" y="1858264"/>
                </a:lnTo>
                <a:lnTo>
                  <a:pt x="1104899" y="1859279"/>
                </a:lnTo>
                <a:lnTo>
                  <a:pt x="1052830" y="1858264"/>
                </a:lnTo>
                <a:lnTo>
                  <a:pt x="1001522" y="1855215"/>
                </a:lnTo>
                <a:lnTo>
                  <a:pt x="950722" y="1850263"/>
                </a:lnTo>
                <a:lnTo>
                  <a:pt x="900810" y="1843404"/>
                </a:lnTo>
                <a:lnTo>
                  <a:pt x="851535" y="1834768"/>
                </a:lnTo>
                <a:lnTo>
                  <a:pt x="803147" y="1824227"/>
                </a:lnTo>
                <a:lnTo>
                  <a:pt x="755649" y="1811908"/>
                </a:lnTo>
                <a:lnTo>
                  <a:pt x="709041" y="1797812"/>
                </a:lnTo>
                <a:lnTo>
                  <a:pt x="663574" y="1782190"/>
                </a:lnTo>
                <a:lnTo>
                  <a:pt x="618997" y="1764791"/>
                </a:lnTo>
                <a:lnTo>
                  <a:pt x="575564" y="1745868"/>
                </a:lnTo>
                <a:lnTo>
                  <a:pt x="533272" y="1725294"/>
                </a:lnTo>
                <a:lnTo>
                  <a:pt x="492124" y="1703324"/>
                </a:lnTo>
                <a:lnTo>
                  <a:pt x="452373" y="1679955"/>
                </a:lnTo>
                <a:lnTo>
                  <a:pt x="413892" y="1655064"/>
                </a:lnTo>
                <a:lnTo>
                  <a:pt x="376681" y="1628775"/>
                </a:lnTo>
                <a:lnTo>
                  <a:pt x="340995" y="1601215"/>
                </a:lnTo>
                <a:lnTo>
                  <a:pt x="306704" y="1572387"/>
                </a:lnTo>
                <a:lnTo>
                  <a:pt x="273939" y="1542288"/>
                </a:lnTo>
                <a:lnTo>
                  <a:pt x="242697" y="1511045"/>
                </a:lnTo>
                <a:lnTo>
                  <a:pt x="213233" y="1478661"/>
                </a:lnTo>
                <a:lnTo>
                  <a:pt x="185292" y="1445132"/>
                </a:lnTo>
                <a:lnTo>
                  <a:pt x="159130" y="1410589"/>
                </a:lnTo>
                <a:lnTo>
                  <a:pt x="134873" y="1375028"/>
                </a:lnTo>
                <a:lnTo>
                  <a:pt x="112267" y="1338452"/>
                </a:lnTo>
                <a:lnTo>
                  <a:pt x="91693" y="1300988"/>
                </a:lnTo>
                <a:lnTo>
                  <a:pt x="73024" y="1262633"/>
                </a:lnTo>
                <a:lnTo>
                  <a:pt x="56387" y="1223390"/>
                </a:lnTo>
                <a:lnTo>
                  <a:pt x="41655" y="1183513"/>
                </a:lnTo>
                <a:lnTo>
                  <a:pt x="29209" y="1142745"/>
                </a:lnTo>
                <a:lnTo>
                  <a:pt x="18795" y="1101343"/>
                </a:lnTo>
                <a:lnTo>
                  <a:pt x="10667" y="1059306"/>
                </a:lnTo>
                <a:lnTo>
                  <a:pt x="4825" y="1016634"/>
                </a:lnTo>
                <a:lnTo>
                  <a:pt x="1142" y="973327"/>
                </a:lnTo>
                <a:lnTo>
                  <a:pt x="0" y="929513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85161" y="3089528"/>
            <a:ext cx="1178560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Log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274320">
              <a:lnSpc>
                <a:spcPts val="1415"/>
              </a:lnSpc>
            </a:pPr>
            <a:r>
              <a:rPr sz="1200" b="1" spc="5" dirty="0">
                <a:latin typeface="Arial"/>
                <a:cs typeface="Arial"/>
              </a:rPr>
              <a:t>(</a:t>
            </a:r>
            <a:r>
              <a:rPr sz="1200" b="1" spc="-5" dirty="0">
                <a:latin typeface="Arial"/>
                <a:cs typeface="Arial"/>
              </a:rPr>
              <a:t>U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e</a:t>
            </a:r>
            <a:r>
              <a:rPr sz="1200" b="1" dirty="0">
                <a:latin typeface="Arial"/>
                <a:cs typeface="Arial"/>
              </a:rPr>
              <a:t>r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9967" y="4355591"/>
            <a:ext cx="762000" cy="57912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Arial"/>
                <a:cs typeface="Arial"/>
              </a:rPr>
              <a:t>Editor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0757" y="4978400"/>
            <a:ext cx="784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9944" y="5233415"/>
            <a:ext cx="624840" cy="31750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725"/>
              </a:spcBef>
            </a:pPr>
            <a:r>
              <a:rPr sz="1200" b="1" spc="-5" dirty="0">
                <a:latin typeface="Arial"/>
                <a:cs typeface="Arial"/>
              </a:rPr>
              <a:t>D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97152" y="4096511"/>
            <a:ext cx="2209800" cy="1859280"/>
          </a:xfrm>
          <a:custGeom>
            <a:avLst/>
            <a:gdLst/>
            <a:ahLst/>
            <a:cxnLst/>
            <a:rect l="l" t="t" r="r" b="b"/>
            <a:pathLst>
              <a:path w="2209800" h="1859279">
                <a:moveTo>
                  <a:pt x="0" y="929639"/>
                </a:moveTo>
                <a:lnTo>
                  <a:pt x="1142" y="885825"/>
                </a:lnTo>
                <a:lnTo>
                  <a:pt x="4825" y="842644"/>
                </a:lnTo>
                <a:lnTo>
                  <a:pt x="10667" y="799973"/>
                </a:lnTo>
                <a:lnTo>
                  <a:pt x="18795" y="757936"/>
                </a:lnTo>
                <a:lnTo>
                  <a:pt x="29209" y="716533"/>
                </a:lnTo>
                <a:lnTo>
                  <a:pt x="41655" y="675767"/>
                </a:lnTo>
                <a:lnTo>
                  <a:pt x="56387" y="635762"/>
                </a:lnTo>
                <a:lnTo>
                  <a:pt x="73024" y="596645"/>
                </a:lnTo>
                <a:lnTo>
                  <a:pt x="91693" y="558292"/>
                </a:lnTo>
                <a:lnTo>
                  <a:pt x="112267" y="520826"/>
                </a:lnTo>
                <a:lnTo>
                  <a:pt x="134873" y="484250"/>
                </a:lnTo>
                <a:lnTo>
                  <a:pt x="159130" y="448690"/>
                </a:lnTo>
                <a:lnTo>
                  <a:pt x="185292" y="414146"/>
                </a:lnTo>
                <a:lnTo>
                  <a:pt x="213233" y="380619"/>
                </a:lnTo>
                <a:lnTo>
                  <a:pt x="242697" y="348233"/>
                </a:lnTo>
                <a:lnTo>
                  <a:pt x="273939" y="316992"/>
                </a:lnTo>
                <a:lnTo>
                  <a:pt x="306704" y="286893"/>
                </a:lnTo>
                <a:lnTo>
                  <a:pt x="340995" y="258063"/>
                </a:lnTo>
                <a:lnTo>
                  <a:pt x="376681" y="230505"/>
                </a:lnTo>
                <a:lnTo>
                  <a:pt x="413892" y="204215"/>
                </a:lnTo>
                <a:lnTo>
                  <a:pt x="452373" y="179324"/>
                </a:lnTo>
                <a:lnTo>
                  <a:pt x="492124" y="155956"/>
                </a:lnTo>
                <a:lnTo>
                  <a:pt x="533272" y="133985"/>
                </a:lnTo>
                <a:lnTo>
                  <a:pt x="575564" y="113411"/>
                </a:lnTo>
                <a:lnTo>
                  <a:pt x="618997" y="94487"/>
                </a:lnTo>
                <a:lnTo>
                  <a:pt x="663574" y="77088"/>
                </a:lnTo>
                <a:lnTo>
                  <a:pt x="709041" y="61468"/>
                </a:lnTo>
                <a:lnTo>
                  <a:pt x="755649" y="47370"/>
                </a:lnTo>
                <a:lnTo>
                  <a:pt x="803147" y="35051"/>
                </a:lnTo>
                <a:lnTo>
                  <a:pt x="851535" y="24511"/>
                </a:lnTo>
                <a:lnTo>
                  <a:pt x="900810" y="15875"/>
                </a:lnTo>
                <a:lnTo>
                  <a:pt x="950722" y="9017"/>
                </a:lnTo>
                <a:lnTo>
                  <a:pt x="1001522" y="4063"/>
                </a:lnTo>
                <a:lnTo>
                  <a:pt x="1052830" y="1015"/>
                </a:lnTo>
                <a:lnTo>
                  <a:pt x="1104899" y="0"/>
                </a:lnTo>
                <a:lnTo>
                  <a:pt x="1156970" y="1015"/>
                </a:lnTo>
                <a:lnTo>
                  <a:pt x="1208278" y="4063"/>
                </a:lnTo>
                <a:lnTo>
                  <a:pt x="1259078" y="9017"/>
                </a:lnTo>
                <a:lnTo>
                  <a:pt x="1308989" y="15875"/>
                </a:lnTo>
                <a:lnTo>
                  <a:pt x="1358265" y="24511"/>
                </a:lnTo>
                <a:lnTo>
                  <a:pt x="1406652" y="35051"/>
                </a:lnTo>
                <a:lnTo>
                  <a:pt x="1454149" y="47370"/>
                </a:lnTo>
                <a:lnTo>
                  <a:pt x="1500759" y="61468"/>
                </a:lnTo>
                <a:lnTo>
                  <a:pt x="1546224" y="77088"/>
                </a:lnTo>
                <a:lnTo>
                  <a:pt x="1590802" y="94487"/>
                </a:lnTo>
                <a:lnTo>
                  <a:pt x="1634236" y="113411"/>
                </a:lnTo>
                <a:lnTo>
                  <a:pt x="1676527" y="133985"/>
                </a:lnTo>
                <a:lnTo>
                  <a:pt x="1717675" y="155956"/>
                </a:lnTo>
                <a:lnTo>
                  <a:pt x="1757426" y="179324"/>
                </a:lnTo>
                <a:lnTo>
                  <a:pt x="1795907" y="204215"/>
                </a:lnTo>
                <a:lnTo>
                  <a:pt x="1833118" y="230505"/>
                </a:lnTo>
                <a:lnTo>
                  <a:pt x="1868805" y="258063"/>
                </a:lnTo>
                <a:lnTo>
                  <a:pt x="1903095" y="286893"/>
                </a:lnTo>
                <a:lnTo>
                  <a:pt x="1935861" y="316992"/>
                </a:lnTo>
                <a:lnTo>
                  <a:pt x="1967102" y="348233"/>
                </a:lnTo>
                <a:lnTo>
                  <a:pt x="1996567" y="380619"/>
                </a:lnTo>
                <a:lnTo>
                  <a:pt x="2024507" y="414146"/>
                </a:lnTo>
                <a:lnTo>
                  <a:pt x="2050669" y="448690"/>
                </a:lnTo>
                <a:lnTo>
                  <a:pt x="2074926" y="484250"/>
                </a:lnTo>
                <a:lnTo>
                  <a:pt x="2097532" y="520826"/>
                </a:lnTo>
                <a:lnTo>
                  <a:pt x="2118106" y="558292"/>
                </a:lnTo>
                <a:lnTo>
                  <a:pt x="2136775" y="596645"/>
                </a:lnTo>
                <a:lnTo>
                  <a:pt x="2153412" y="635762"/>
                </a:lnTo>
                <a:lnTo>
                  <a:pt x="2168144" y="675767"/>
                </a:lnTo>
                <a:lnTo>
                  <a:pt x="2180590" y="716533"/>
                </a:lnTo>
                <a:lnTo>
                  <a:pt x="2191004" y="757936"/>
                </a:lnTo>
                <a:lnTo>
                  <a:pt x="2199132" y="799973"/>
                </a:lnTo>
                <a:lnTo>
                  <a:pt x="2204974" y="842644"/>
                </a:lnTo>
                <a:lnTo>
                  <a:pt x="2208657" y="885825"/>
                </a:lnTo>
                <a:lnTo>
                  <a:pt x="2209800" y="929639"/>
                </a:lnTo>
                <a:lnTo>
                  <a:pt x="2208657" y="973455"/>
                </a:lnTo>
                <a:lnTo>
                  <a:pt x="2204974" y="1016635"/>
                </a:lnTo>
                <a:lnTo>
                  <a:pt x="2199132" y="1059307"/>
                </a:lnTo>
                <a:lnTo>
                  <a:pt x="2191004" y="1101344"/>
                </a:lnTo>
                <a:lnTo>
                  <a:pt x="2180590" y="1142746"/>
                </a:lnTo>
                <a:lnTo>
                  <a:pt x="2168144" y="1183513"/>
                </a:lnTo>
                <a:lnTo>
                  <a:pt x="2153412" y="1223391"/>
                </a:lnTo>
                <a:lnTo>
                  <a:pt x="2136775" y="1262634"/>
                </a:lnTo>
                <a:lnTo>
                  <a:pt x="2118106" y="1300988"/>
                </a:lnTo>
                <a:lnTo>
                  <a:pt x="2097532" y="1338453"/>
                </a:lnTo>
                <a:lnTo>
                  <a:pt x="2074926" y="1375029"/>
                </a:lnTo>
                <a:lnTo>
                  <a:pt x="2050669" y="1410589"/>
                </a:lnTo>
                <a:lnTo>
                  <a:pt x="2024507" y="1445133"/>
                </a:lnTo>
                <a:lnTo>
                  <a:pt x="1996567" y="1478661"/>
                </a:lnTo>
                <a:lnTo>
                  <a:pt x="1967102" y="1511058"/>
                </a:lnTo>
                <a:lnTo>
                  <a:pt x="1935861" y="1542313"/>
                </a:lnTo>
                <a:lnTo>
                  <a:pt x="1903095" y="1572399"/>
                </a:lnTo>
                <a:lnTo>
                  <a:pt x="1868805" y="1601228"/>
                </a:lnTo>
                <a:lnTo>
                  <a:pt x="1833118" y="1628787"/>
                </a:lnTo>
                <a:lnTo>
                  <a:pt x="1795907" y="1655025"/>
                </a:lnTo>
                <a:lnTo>
                  <a:pt x="1757426" y="1679892"/>
                </a:lnTo>
                <a:lnTo>
                  <a:pt x="1717675" y="1703349"/>
                </a:lnTo>
                <a:lnTo>
                  <a:pt x="1676527" y="1725345"/>
                </a:lnTo>
                <a:lnTo>
                  <a:pt x="1634236" y="1745830"/>
                </a:lnTo>
                <a:lnTo>
                  <a:pt x="1590802" y="1764779"/>
                </a:lnTo>
                <a:lnTo>
                  <a:pt x="1546224" y="1782127"/>
                </a:lnTo>
                <a:lnTo>
                  <a:pt x="1500759" y="1797850"/>
                </a:lnTo>
                <a:lnTo>
                  <a:pt x="1454149" y="1811883"/>
                </a:lnTo>
                <a:lnTo>
                  <a:pt x="1406652" y="1824189"/>
                </a:lnTo>
                <a:lnTo>
                  <a:pt x="1358265" y="1834718"/>
                </a:lnTo>
                <a:lnTo>
                  <a:pt x="1308989" y="1843443"/>
                </a:lnTo>
                <a:lnTo>
                  <a:pt x="1259078" y="1850301"/>
                </a:lnTo>
                <a:lnTo>
                  <a:pt x="1208278" y="1855266"/>
                </a:lnTo>
                <a:lnTo>
                  <a:pt x="1156970" y="1858264"/>
                </a:lnTo>
                <a:lnTo>
                  <a:pt x="1104899" y="1859279"/>
                </a:lnTo>
                <a:lnTo>
                  <a:pt x="1052830" y="1858264"/>
                </a:lnTo>
                <a:lnTo>
                  <a:pt x="1001522" y="1855266"/>
                </a:lnTo>
                <a:lnTo>
                  <a:pt x="950722" y="1850301"/>
                </a:lnTo>
                <a:lnTo>
                  <a:pt x="900810" y="1843443"/>
                </a:lnTo>
                <a:lnTo>
                  <a:pt x="851535" y="1834718"/>
                </a:lnTo>
                <a:lnTo>
                  <a:pt x="803147" y="1824189"/>
                </a:lnTo>
                <a:lnTo>
                  <a:pt x="755649" y="1811883"/>
                </a:lnTo>
                <a:lnTo>
                  <a:pt x="709041" y="1797850"/>
                </a:lnTo>
                <a:lnTo>
                  <a:pt x="663574" y="1782127"/>
                </a:lnTo>
                <a:lnTo>
                  <a:pt x="618997" y="1764779"/>
                </a:lnTo>
                <a:lnTo>
                  <a:pt x="575564" y="1745830"/>
                </a:lnTo>
                <a:lnTo>
                  <a:pt x="533272" y="1725345"/>
                </a:lnTo>
                <a:lnTo>
                  <a:pt x="492124" y="1703349"/>
                </a:lnTo>
                <a:lnTo>
                  <a:pt x="452373" y="1679892"/>
                </a:lnTo>
                <a:lnTo>
                  <a:pt x="413892" y="1655025"/>
                </a:lnTo>
                <a:lnTo>
                  <a:pt x="376681" y="1628787"/>
                </a:lnTo>
                <a:lnTo>
                  <a:pt x="340995" y="1601228"/>
                </a:lnTo>
                <a:lnTo>
                  <a:pt x="306704" y="1572399"/>
                </a:lnTo>
                <a:lnTo>
                  <a:pt x="273939" y="1542313"/>
                </a:lnTo>
                <a:lnTo>
                  <a:pt x="242697" y="1511058"/>
                </a:lnTo>
                <a:lnTo>
                  <a:pt x="213233" y="1478661"/>
                </a:lnTo>
                <a:lnTo>
                  <a:pt x="185292" y="1445133"/>
                </a:lnTo>
                <a:lnTo>
                  <a:pt x="159130" y="1410589"/>
                </a:lnTo>
                <a:lnTo>
                  <a:pt x="134873" y="1375029"/>
                </a:lnTo>
                <a:lnTo>
                  <a:pt x="112267" y="1338453"/>
                </a:lnTo>
                <a:lnTo>
                  <a:pt x="91693" y="1300988"/>
                </a:lnTo>
                <a:lnTo>
                  <a:pt x="73024" y="1262634"/>
                </a:lnTo>
                <a:lnTo>
                  <a:pt x="56387" y="1223391"/>
                </a:lnTo>
                <a:lnTo>
                  <a:pt x="41655" y="1183513"/>
                </a:lnTo>
                <a:lnTo>
                  <a:pt x="29209" y="1142746"/>
                </a:lnTo>
                <a:lnTo>
                  <a:pt x="18795" y="1101344"/>
                </a:lnTo>
                <a:lnTo>
                  <a:pt x="10667" y="1059307"/>
                </a:lnTo>
                <a:lnTo>
                  <a:pt x="4825" y="1016635"/>
                </a:lnTo>
                <a:lnTo>
                  <a:pt x="1142" y="973455"/>
                </a:lnTo>
                <a:lnTo>
                  <a:pt x="0" y="92963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85161" y="5583732"/>
            <a:ext cx="1175385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ts val="1370"/>
              </a:lnSpc>
            </a:pPr>
            <a:r>
              <a:rPr sz="1200" b="1" spc="5" dirty="0">
                <a:latin typeface="Arial"/>
                <a:cs typeface="Arial"/>
              </a:rPr>
              <a:t>Log</a:t>
            </a:r>
            <a:r>
              <a:rPr sz="1200" b="1" dirty="0">
                <a:latin typeface="Arial"/>
                <a:cs typeface="Arial"/>
              </a:rPr>
              <a:t>ical</a:t>
            </a:r>
            <a:r>
              <a:rPr sz="1200" b="1" spc="-11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1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274320">
              <a:lnSpc>
                <a:spcPts val="1370"/>
              </a:lnSpc>
            </a:pPr>
            <a:r>
              <a:rPr sz="1200" b="1" spc="5" dirty="0">
                <a:latin typeface="Arial"/>
                <a:cs typeface="Arial"/>
              </a:rPr>
              <a:t>(</a:t>
            </a:r>
            <a:r>
              <a:rPr sz="1200" b="1" spc="-5" dirty="0">
                <a:latin typeface="Arial"/>
                <a:cs typeface="Arial"/>
              </a:rPr>
              <a:t>Us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5" dirty="0">
                <a:latin typeface="Arial"/>
                <a:cs typeface="Arial"/>
              </a:rPr>
              <a:t>r</a:t>
            </a:r>
            <a:r>
              <a:rPr sz="1200" b="1" spc="-7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9967" y="1411224"/>
            <a:ext cx="914399" cy="46939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851650" y="1756664"/>
            <a:ext cx="452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43062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51650" y="2549256"/>
            <a:ext cx="452120" cy="416559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b="1" dirty="0">
                <a:latin typeface="Arial"/>
                <a:cs typeface="Arial"/>
              </a:rPr>
              <a:t>68348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latin typeface="Arial"/>
                <a:cs typeface="Arial"/>
              </a:rPr>
              <a:t>72773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9967" y="2886455"/>
            <a:ext cx="914399" cy="93878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846823" y="3697985"/>
            <a:ext cx="45847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90003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98556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813488" y="1382712"/>
          <a:ext cx="914400" cy="3482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1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27329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Editor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374">
                <a:tc>
                  <a:txBody>
                    <a:bodyPr/>
                    <a:lstStyle/>
                    <a:p>
                      <a:pPr marL="224154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Da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2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63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Da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0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3552" y="4224528"/>
            <a:ext cx="942848" cy="655510"/>
          </a:xfrm>
          <a:prstGeom prst="rect">
            <a:avLst/>
          </a:prstGeom>
        </p:spPr>
      </p:pic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300537" y="1712912"/>
          <a:ext cx="1132205" cy="579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325">
                <a:tc>
                  <a:txBody>
                    <a:bodyPr/>
                    <a:lstStyle/>
                    <a:p>
                      <a:pPr marR="68580" algn="r">
                        <a:lnSpc>
                          <a:spcPts val="137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limit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137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base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817">
                <a:tc>
                  <a:txBody>
                    <a:bodyPr/>
                    <a:lstStyle/>
                    <a:p>
                      <a:pPr marR="61594" algn="r">
                        <a:lnSpc>
                          <a:spcPts val="1355"/>
                        </a:lnSpc>
                        <a:spcBef>
                          <a:spcPts val="12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25286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1355"/>
                        </a:lnSpc>
                        <a:spcBef>
                          <a:spcPts val="12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43062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357">
                <a:tc>
                  <a:txBody>
                    <a:bodyPr/>
                    <a:lstStyle/>
                    <a:p>
                      <a:pPr marR="58419" algn="r">
                        <a:lnSpc>
                          <a:spcPts val="133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4425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r">
                        <a:lnSpc>
                          <a:spcPts val="133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68348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4176776" y="1950465"/>
            <a:ext cx="110489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b="1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7153" y="2359278"/>
            <a:ext cx="108013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7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90" dirty="0">
                <a:latin typeface="Arial"/>
                <a:cs typeface="Arial"/>
              </a:rPr>
              <a:t>T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b</a:t>
            </a:r>
            <a:r>
              <a:rPr sz="1200" b="1" spc="-25" dirty="0">
                <a:latin typeface="Arial"/>
                <a:cs typeface="Arial"/>
              </a:rPr>
              <a:t>l</a:t>
            </a:r>
            <a:r>
              <a:rPr sz="1200" b="1" spc="-5" dirty="0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  <a:p>
            <a:pPr marL="12065" algn="ctr">
              <a:lnSpc>
                <a:spcPts val="1370"/>
              </a:lnSpc>
            </a:pPr>
            <a:r>
              <a:rPr sz="1200" b="1" spc="5" dirty="0">
                <a:latin typeface="Arial"/>
                <a:cs typeface="Arial"/>
              </a:rPr>
              <a:t>(</a:t>
            </a:r>
            <a:r>
              <a:rPr sz="1200" b="1" spc="-5" dirty="0">
                <a:latin typeface="Arial"/>
                <a:cs typeface="Arial"/>
              </a:rPr>
              <a:t>U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5" dirty="0">
                <a:latin typeface="Arial"/>
                <a:cs typeface="Arial"/>
              </a:rPr>
              <a:t>e</a:t>
            </a:r>
            <a:r>
              <a:rPr sz="1200" b="1" dirty="0">
                <a:latin typeface="Arial"/>
                <a:cs typeface="Arial"/>
              </a:rPr>
              <a:t>r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4238688" y="4470336"/>
          <a:ext cx="1117600" cy="582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976">
                <a:tc>
                  <a:txBody>
                    <a:bodyPr/>
                    <a:lstStyle/>
                    <a:p>
                      <a:pPr marR="75565" algn="r">
                        <a:lnSpc>
                          <a:spcPts val="140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limit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14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base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46">
                <a:tc>
                  <a:txBody>
                    <a:bodyPr/>
                    <a:lstStyle/>
                    <a:p>
                      <a:pPr marR="62230" algn="r">
                        <a:lnSpc>
                          <a:spcPts val="1405"/>
                        </a:lnSpc>
                        <a:spcBef>
                          <a:spcPts val="4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25286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1405"/>
                        </a:lnSpc>
                        <a:spcBef>
                          <a:spcPts val="4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43062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152">
                <a:tc>
                  <a:txBody>
                    <a:bodyPr/>
                    <a:lstStyle/>
                    <a:p>
                      <a:pPr marR="62230" algn="r">
                        <a:lnSpc>
                          <a:spcPts val="138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8550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38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90003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4099052" y="4700396"/>
            <a:ext cx="110489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sz="1200" b="1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45051" y="5109464"/>
            <a:ext cx="1080135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65430" marR="5080" indent="-253365">
              <a:lnSpc>
                <a:spcPts val="1300"/>
              </a:lnSpc>
              <a:spcBef>
                <a:spcPts val="259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spc="-90" dirty="0">
                <a:latin typeface="Arial"/>
                <a:cs typeface="Arial"/>
              </a:rPr>
              <a:t>T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b</a:t>
            </a:r>
            <a:r>
              <a:rPr sz="1200" b="1" spc="-25" dirty="0">
                <a:latin typeface="Arial"/>
                <a:cs typeface="Arial"/>
              </a:rPr>
              <a:t>l</a:t>
            </a:r>
            <a:r>
              <a:rPr sz="1200" b="1" spc="-5" dirty="0">
                <a:latin typeface="Arial"/>
                <a:cs typeface="Arial"/>
              </a:rPr>
              <a:t>e  </a:t>
            </a:r>
            <a:r>
              <a:rPr sz="1200" b="1" spc="5" dirty="0">
                <a:latin typeface="Arial"/>
                <a:cs typeface="Arial"/>
              </a:rPr>
              <a:t>(</a:t>
            </a:r>
            <a:r>
              <a:rPr sz="1200" b="1" spc="-5" dirty="0">
                <a:latin typeface="Arial"/>
                <a:cs typeface="Arial"/>
              </a:rPr>
              <a:t>Us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5" dirty="0">
                <a:latin typeface="Arial"/>
                <a:cs typeface="Arial"/>
              </a:rPr>
              <a:t>r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66942" y="4906771"/>
            <a:ext cx="1256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15" dirty="0">
                <a:latin typeface="Arial"/>
                <a:cs typeface="Arial"/>
              </a:rPr>
              <a:t>h</a:t>
            </a:r>
            <a:r>
              <a:rPr sz="1200" b="1" spc="-25" dirty="0">
                <a:latin typeface="Arial"/>
                <a:cs typeface="Arial"/>
              </a:rPr>
              <a:t>y</a:t>
            </a:r>
            <a:r>
              <a:rPr sz="1200" b="1" spc="-5" dirty="0">
                <a:latin typeface="Arial"/>
                <a:cs typeface="Arial"/>
              </a:rPr>
              <a:t>si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68800" y="1270"/>
            <a:ext cx="46729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9775" algn="l"/>
              </a:tabLst>
            </a:pPr>
            <a:r>
              <a:rPr sz="2100" b="1" spc="-15" baseline="1984" dirty="0">
                <a:latin typeface="Arial"/>
                <a:cs typeface="Arial"/>
              </a:rPr>
              <a:t>29	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r>
              <a:rPr sz="1400" b="1" i="1" spc="-70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Management</a:t>
            </a:r>
            <a:r>
              <a:rPr sz="1400" b="1" i="1" spc="-6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410" y="251079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56485" y="306451"/>
            <a:ext cx="4408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3280" algn="l"/>
                <a:tab pos="3143885" algn="l"/>
              </a:tabLst>
            </a:pPr>
            <a:r>
              <a:rPr u="sng" spc="5" dirty="0"/>
              <a:t>S</a:t>
            </a:r>
            <a:r>
              <a:rPr u="sng" spc="10" dirty="0"/>
              <a:t>E</a:t>
            </a:r>
            <a:r>
              <a:rPr u="sng" spc="5" dirty="0"/>
              <a:t>G</a:t>
            </a:r>
            <a:r>
              <a:rPr u="sng" spc="-10" dirty="0"/>
              <a:t>M</a:t>
            </a:r>
            <a:r>
              <a:rPr u="sng" spc="5" dirty="0"/>
              <a:t>E</a:t>
            </a:r>
            <a:r>
              <a:rPr u="sng" spc="-35" dirty="0"/>
              <a:t>N</a:t>
            </a:r>
            <a:r>
              <a:rPr u="sng" spc="-5" dirty="0"/>
              <a:t>T</a:t>
            </a:r>
            <a:r>
              <a:rPr u="sng" spc="5" dirty="0"/>
              <a:t>E</a:t>
            </a:r>
            <a:r>
              <a:rPr u="sng" spc="-5" dirty="0"/>
              <a:t>D</a:t>
            </a:r>
            <a:r>
              <a:rPr u="sng" dirty="0"/>
              <a:t>	</a:t>
            </a:r>
            <a:r>
              <a:rPr u="sng" spc="-20" dirty="0"/>
              <a:t>P</a:t>
            </a:r>
            <a:r>
              <a:rPr u="sng" spc="-85" dirty="0"/>
              <a:t>A</a:t>
            </a:r>
            <a:r>
              <a:rPr u="sng" dirty="0"/>
              <a:t>GE	</a:t>
            </a:r>
            <a:r>
              <a:rPr u="sng" spc="5" dirty="0"/>
              <a:t>S</a:t>
            </a:r>
            <a:r>
              <a:rPr u="sng" spc="-20" dirty="0"/>
              <a:t>Y</a:t>
            </a:r>
            <a:r>
              <a:rPr u="sng" spc="5" dirty="0"/>
              <a:t>S</a:t>
            </a:r>
            <a:r>
              <a:rPr u="sng" dirty="0"/>
              <a:t>T</a:t>
            </a:r>
            <a:r>
              <a:rPr u="sng" spc="-20" dirty="0"/>
              <a:t>E</a:t>
            </a:r>
            <a:r>
              <a:rPr u="sng" dirty="0"/>
              <a:t>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94816" y="1627632"/>
            <a:ext cx="1195070" cy="27432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125"/>
              </a:spcBef>
            </a:pPr>
            <a:r>
              <a:rPr sz="1200" b="1" spc="-10" dirty="0">
                <a:latin typeface="Arial"/>
                <a:cs typeface="Arial"/>
              </a:rPr>
              <a:t>Segment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9632" y="1627632"/>
            <a:ext cx="1268095" cy="27432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5"/>
              </a:spcBef>
            </a:pPr>
            <a:r>
              <a:rPr sz="1200" b="1" spc="-5" dirty="0">
                <a:latin typeface="Arial"/>
                <a:cs typeface="Arial"/>
              </a:rPr>
              <a:t>Page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7600" y="1627632"/>
            <a:ext cx="1247140" cy="274320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125"/>
              </a:spcBef>
            </a:pPr>
            <a:r>
              <a:rPr sz="1200" b="1" spc="-10" dirty="0">
                <a:latin typeface="Arial"/>
                <a:cs typeface="Arial"/>
              </a:rPr>
              <a:t>Word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7007" y="2487295"/>
            <a:ext cx="1057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9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92223" y="2715767"/>
            <a:ext cx="948055" cy="1459865"/>
          </a:xfrm>
          <a:custGeom>
            <a:avLst/>
            <a:gdLst/>
            <a:ahLst/>
            <a:cxnLst/>
            <a:rect l="l" t="t" r="r" b="b"/>
            <a:pathLst>
              <a:path w="948055" h="1459864">
                <a:moveTo>
                  <a:pt x="0" y="1459610"/>
                </a:moveTo>
                <a:lnTo>
                  <a:pt x="947927" y="1459610"/>
                </a:lnTo>
                <a:lnTo>
                  <a:pt x="947927" y="0"/>
                </a:lnTo>
                <a:lnTo>
                  <a:pt x="0" y="0"/>
                </a:lnTo>
                <a:lnTo>
                  <a:pt x="0" y="1459610"/>
                </a:lnTo>
                <a:close/>
              </a:path>
              <a:path w="948055" h="1459864">
                <a:moveTo>
                  <a:pt x="0" y="377951"/>
                </a:moveTo>
                <a:lnTo>
                  <a:pt x="947927" y="378078"/>
                </a:lnTo>
              </a:path>
              <a:path w="948055" h="1459864">
                <a:moveTo>
                  <a:pt x="0" y="615441"/>
                </a:moveTo>
                <a:lnTo>
                  <a:pt x="947927" y="615441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18026" y="2487295"/>
            <a:ext cx="78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75041" y="1892617"/>
            <a:ext cx="3444875" cy="2295525"/>
            <a:chOff x="1475041" y="1892617"/>
            <a:chExt cx="3444875" cy="2295525"/>
          </a:xfrm>
        </p:grpSpPr>
        <p:sp>
          <p:nvSpPr>
            <p:cNvPr id="14" name="object 14"/>
            <p:cNvSpPr/>
            <p:nvPr/>
          </p:nvSpPr>
          <p:spPr>
            <a:xfrm>
              <a:off x="3968496" y="2715767"/>
              <a:ext cx="938530" cy="1459865"/>
            </a:xfrm>
            <a:custGeom>
              <a:avLst/>
              <a:gdLst/>
              <a:ahLst/>
              <a:cxnLst/>
              <a:rect l="l" t="t" r="r" b="b"/>
              <a:pathLst>
                <a:path w="938529" h="1459864">
                  <a:moveTo>
                    <a:pt x="0" y="1459610"/>
                  </a:moveTo>
                  <a:lnTo>
                    <a:pt x="938466" y="1459610"/>
                  </a:lnTo>
                  <a:lnTo>
                    <a:pt x="938466" y="0"/>
                  </a:lnTo>
                  <a:lnTo>
                    <a:pt x="0" y="0"/>
                  </a:lnTo>
                  <a:lnTo>
                    <a:pt x="0" y="1459610"/>
                  </a:lnTo>
                  <a:close/>
                </a:path>
                <a:path w="938529" h="1459864">
                  <a:moveTo>
                    <a:pt x="0" y="1094231"/>
                  </a:moveTo>
                  <a:lnTo>
                    <a:pt x="938402" y="1094231"/>
                  </a:lnTo>
                </a:path>
                <a:path w="938529" h="1459864">
                  <a:moveTo>
                    <a:pt x="0" y="1331721"/>
                  </a:moveTo>
                  <a:lnTo>
                    <a:pt x="938402" y="1331721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111" y="3194303"/>
              <a:ext cx="128016" cy="1066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7423" y="1917191"/>
              <a:ext cx="1582420" cy="1344295"/>
            </a:xfrm>
            <a:custGeom>
              <a:avLst/>
              <a:gdLst/>
              <a:ahLst/>
              <a:cxnLst/>
              <a:rect l="l" t="t" r="r" b="b"/>
              <a:pathLst>
                <a:path w="1582420" h="1344295">
                  <a:moveTo>
                    <a:pt x="182880" y="1337945"/>
                  </a:moveTo>
                  <a:lnTo>
                    <a:pt x="0" y="1337945"/>
                  </a:lnTo>
                  <a:lnTo>
                    <a:pt x="0" y="0"/>
                  </a:lnTo>
                </a:path>
                <a:path w="1582420" h="1344295">
                  <a:moveTo>
                    <a:pt x="1581912" y="1344168"/>
                  </a:moveTo>
                  <a:lnTo>
                    <a:pt x="804671" y="1344168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4471" y="3435095"/>
              <a:ext cx="100965" cy="128270"/>
            </a:xfrm>
            <a:custGeom>
              <a:avLst/>
              <a:gdLst/>
              <a:ahLst/>
              <a:cxnLst/>
              <a:rect l="l" t="t" r="r" b="b"/>
              <a:pathLst>
                <a:path w="100964" h="128270">
                  <a:moveTo>
                    <a:pt x="51053" y="0"/>
                  </a:moveTo>
                  <a:lnTo>
                    <a:pt x="37845" y="762"/>
                  </a:lnTo>
                  <a:lnTo>
                    <a:pt x="25018" y="2793"/>
                  </a:lnTo>
                  <a:lnTo>
                    <a:pt x="12318" y="6223"/>
                  </a:lnTo>
                  <a:lnTo>
                    <a:pt x="0" y="10921"/>
                  </a:lnTo>
                  <a:lnTo>
                    <a:pt x="51053" y="127762"/>
                  </a:lnTo>
                  <a:lnTo>
                    <a:pt x="100583" y="10287"/>
                  </a:lnTo>
                  <a:lnTo>
                    <a:pt x="88645" y="5841"/>
                  </a:lnTo>
                  <a:lnTo>
                    <a:pt x="76326" y="2666"/>
                  </a:lnTo>
                  <a:lnTo>
                    <a:pt x="63753" y="634"/>
                  </a:lnTo>
                  <a:lnTo>
                    <a:pt x="510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3239" y="326745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7983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0024" y="3435095"/>
              <a:ext cx="100584" cy="12801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88791" y="1904999"/>
              <a:ext cx="0" cy="1542415"/>
            </a:xfrm>
            <a:custGeom>
              <a:avLst/>
              <a:gdLst/>
              <a:ahLst/>
              <a:cxnLst/>
              <a:rect l="l" t="t" r="r" b="b"/>
              <a:pathLst>
                <a:path h="1542414">
                  <a:moveTo>
                    <a:pt x="0" y="0"/>
                  </a:moveTo>
                  <a:lnTo>
                    <a:pt x="0" y="1541907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910839" y="3584447"/>
            <a:ext cx="502920" cy="20764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58419" algn="ctr">
              <a:lnSpc>
                <a:spcPct val="100000"/>
              </a:lnSpc>
              <a:spcBef>
                <a:spcPts val="140"/>
              </a:spcBef>
            </a:pPr>
            <a:r>
              <a:rPr sz="1200" b="1" dirty="0"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97161" y="3788473"/>
            <a:ext cx="2161540" cy="713740"/>
            <a:chOff x="3197161" y="3788473"/>
            <a:chExt cx="2161540" cy="713740"/>
          </a:xfrm>
        </p:grpSpPr>
        <p:sp>
          <p:nvSpPr>
            <p:cNvPr id="23" name="object 23"/>
            <p:cNvSpPr/>
            <p:nvPr/>
          </p:nvSpPr>
          <p:spPr>
            <a:xfrm>
              <a:off x="3209543" y="3800855"/>
              <a:ext cx="0" cy="149860"/>
            </a:xfrm>
            <a:custGeom>
              <a:avLst/>
              <a:gdLst/>
              <a:ahLst/>
              <a:cxnLst/>
              <a:rect l="l" t="t" r="r" b="b"/>
              <a:pathLst>
                <a:path h="149860">
                  <a:moveTo>
                    <a:pt x="0" y="0"/>
                  </a:moveTo>
                  <a:lnTo>
                    <a:pt x="0" y="14935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7431" y="3898391"/>
              <a:ext cx="124967" cy="10363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221735" y="3947159"/>
              <a:ext cx="2082164" cy="12065"/>
            </a:xfrm>
            <a:custGeom>
              <a:avLst/>
              <a:gdLst/>
              <a:ahLst/>
              <a:cxnLst/>
              <a:rect l="l" t="t" r="r" b="b"/>
              <a:pathLst>
                <a:path w="2082164" h="12064">
                  <a:moveTo>
                    <a:pt x="0" y="0"/>
                  </a:moveTo>
                  <a:lnTo>
                    <a:pt x="620394" y="0"/>
                  </a:lnTo>
                </a:path>
                <a:path w="2082164" h="12064">
                  <a:moveTo>
                    <a:pt x="1261364" y="11810"/>
                  </a:moveTo>
                  <a:lnTo>
                    <a:pt x="2081784" y="11937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0847" y="4370831"/>
              <a:ext cx="97536" cy="1310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309616" y="3959351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79">
                  <a:moveTo>
                    <a:pt x="0" y="0"/>
                  </a:moveTo>
                  <a:lnTo>
                    <a:pt x="0" y="423672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10911" y="4520184"/>
            <a:ext cx="668020" cy="27749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365"/>
              </a:spcBef>
            </a:pPr>
            <a:r>
              <a:rPr sz="1200" b="1" dirty="0">
                <a:latin typeface="Arial"/>
                <a:cs typeface="Arial"/>
              </a:rPr>
              <a:t>Block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8423" y="4520184"/>
            <a:ext cx="652780" cy="277495"/>
          </a:xfrm>
          <a:prstGeom prst="rect">
            <a:avLst/>
          </a:prstGeom>
          <a:ln w="24383">
            <a:solidFill>
              <a:srgbClr val="00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440"/>
              </a:spcBef>
            </a:pPr>
            <a:r>
              <a:rPr sz="1200" b="1" spc="-10" dirty="0">
                <a:latin typeface="Arial"/>
                <a:cs typeface="Arial"/>
              </a:rPr>
              <a:t>Word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79904" y="1905000"/>
            <a:ext cx="3755390" cy="2597150"/>
            <a:chOff x="2279904" y="1905000"/>
            <a:chExt cx="3755390" cy="259715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1407" y="4370832"/>
              <a:ext cx="103632" cy="13106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25111" y="1917191"/>
              <a:ext cx="1649095" cy="2480945"/>
            </a:xfrm>
            <a:custGeom>
              <a:avLst/>
              <a:gdLst/>
              <a:ahLst/>
              <a:cxnLst/>
              <a:rect l="l" t="t" r="r" b="b"/>
              <a:pathLst>
                <a:path w="1649095" h="2480945">
                  <a:moveTo>
                    <a:pt x="1648967" y="2480945"/>
                  </a:moveTo>
                  <a:lnTo>
                    <a:pt x="1648967" y="399796"/>
                  </a:lnTo>
                  <a:lnTo>
                    <a:pt x="0" y="399796"/>
                  </a:lnTo>
                  <a:lnTo>
                    <a:pt x="0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79904" y="3230879"/>
              <a:ext cx="2216150" cy="752475"/>
            </a:xfrm>
            <a:custGeom>
              <a:avLst/>
              <a:gdLst/>
              <a:ahLst/>
              <a:cxnLst/>
              <a:rect l="l" t="t" r="r" b="b"/>
              <a:pathLst>
                <a:path w="2216150" h="752475">
                  <a:moveTo>
                    <a:pt x="52451" y="27686"/>
                  </a:moveTo>
                  <a:lnTo>
                    <a:pt x="50419" y="16891"/>
                  </a:lnTo>
                  <a:lnTo>
                    <a:pt x="44704" y="8128"/>
                  </a:lnTo>
                  <a:lnTo>
                    <a:pt x="36322" y="2159"/>
                  </a:lnTo>
                  <a:lnTo>
                    <a:pt x="26162" y="0"/>
                  </a:lnTo>
                  <a:lnTo>
                    <a:pt x="16002" y="2159"/>
                  </a:lnTo>
                  <a:lnTo>
                    <a:pt x="7620" y="8128"/>
                  </a:lnTo>
                  <a:lnTo>
                    <a:pt x="2032" y="16891"/>
                  </a:lnTo>
                  <a:lnTo>
                    <a:pt x="0" y="27686"/>
                  </a:lnTo>
                  <a:lnTo>
                    <a:pt x="2032" y="38481"/>
                  </a:lnTo>
                  <a:lnTo>
                    <a:pt x="7620" y="47244"/>
                  </a:lnTo>
                  <a:lnTo>
                    <a:pt x="16002" y="53213"/>
                  </a:lnTo>
                  <a:lnTo>
                    <a:pt x="26162" y="55372"/>
                  </a:lnTo>
                  <a:lnTo>
                    <a:pt x="36322" y="53213"/>
                  </a:lnTo>
                  <a:lnTo>
                    <a:pt x="44704" y="47244"/>
                  </a:lnTo>
                  <a:lnTo>
                    <a:pt x="50419" y="38481"/>
                  </a:lnTo>
                  <a:lnTo>
                    <a:pt x="52451" y="27686"/>
                  </a:lnTo>
                  <a:close/>
                </a:path>
                <a:path w="2216150" h="752475">
                  <a:moveTo>
                    <a:pt x="2215896" y="724662"/>
                  </a:moveTo>
                  <a:lnTo>
                    <a:pt x="2213864" y="713867"/>
                  </a:lnTo>
                  <a:lnTo>
                    <a:pt x="2208276" y="705104"/>
                  </a:lnTo>
                  <a:lnTo>
                    <a:pt x="2199894" y="699135"/>
                  </a:lnTo>
                  <a:lnTo>
                    <a:pt x="2189734" y="696976"/>
                  </a:lnTo>
                  <a:lnTo>
                    <a:pt x="2179574" y="699135"/>
                  </a:lnTo>
                  <a:lnTo>
                    <a:pt x="2171192" y="705104"/>
                  </a:lnTo>
                  <a:lnTo>
                    <a:pt x="2165604" y="713867"/>
                  </a:lnTo>
                  <a:lnTo>
                    <a:pt x="2163572" y="724662"/>
                  </a:lnTo>
                  <a:lnTo>
                    <a:pt x="2165604" y="735584"/>
                  </a:lnTo>
                  <a:lnTo>
                    <a:pt x="2171192" y="744347"/>
                  </a:lnTo>
                  <a:lnTo>
                    <a:pt x="2179574" y="750316"/>
                  </a:lnTo>
                  <a:lnTo>
                    <a:pt x="2189734" y="752475"/>
                  </a:lnTo>
                  <a:lnTo>
                    <a:pt x="2199894" y="750316"/>
                  </a:lnTo>
                  <a:lnTo>
                    <a:pt x="2208276" y="744347"/>
                  </a:lnTo>
                  <a:lnTo>
                    <a:pt x="2213864" y="735584"/>
                  </a:lnTo>
                  <a:lnTo>
                    <a:pt x="2215896" y="724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83663" y="1314653"/>
            <a:ext cx="11836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Log</a:t>
            </a:r>
            <a:r>
              <a:rPr sz="1200" b="1" dirty="0">
                <a:latin typeface="Arial"/>
                <a:cs typeface="Arial"/>
              </a:rPr>
              <a:t>ical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d</a:t>
            </a:r>
            <a:r>
              <a:rPr sz="1200" b="1" spc="5" dirty="0">
                <a:latin typeface="Arial"/>
                <a:cs typeface="Arial"/>
              </a:rPr>
              <a:t>d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90286" y="4829047"/>
            <a:ext cx="1261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15" dirty="0">
                <a:latin typeface="Arial"/>
                <a:cs typeface="Arial"/>
              </a:rPr>
              <a:t>h</a:t>
            </a:r>
            <a:r>
              <a:rPr sz="1200" b="1" spc="-25" dirty="0">
                <a:latin typeface="Arial"/>
                <a:cs typeface="Arial"/>
              </a:rPr>
              <a:t>y</a:t>
            </a:r>
            <a:r>
              <a:rPr sz="1200" b="1" spc="-5" dirty="0">
                <a:latin typeface="Arial"/>
                <a:cs typeface="Arial"/>
              </a:rPr>
              <a:t>si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68800" y="1270"/>
            <a:ext cx="46729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9775" algn="l"/>
              </a:tabLst>
            </a:pPr>
            <a:r>
              <a:rPr sz="2100" b="1" spc="-15" baseline="1984" dirty="0">
                <a:latin typeface="Arial"/>
                <a:cs typeface="Arial"/>
              </a:rPr>
              <a:t>30	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r>
              <a:rPr sz="1400" b="1" i="1" spc="-70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Management</a:t>
            </a:r>
            <a:r>
              <a:rPr sz="1400" b="1" i="1" spc="-6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5824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1260" y="319786"/>
            <a:ext cx="69018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42210" algn="l"/>
                <a:tab pos="2933065" algn="l"/>
                <a:tab pos="3792854" algn="l"/>
                <a:tab pos="4485005" algn="l"/>
                <a:tab pos="5881370" algn="l"/>
              </a:tabLst>
            </a:pPr>
            <a:r>
              <a:rPr sz="2000" u="sng" spc="-10" dirty="0"/>
              <a:t>I</a:t>
            </a:r>
            <a:r>
              <a:rPr sz="2000" u="sng" spc="30" dirty="0"/>
              <a:t>M</a:t>
            </a:r>
            <a:r>
              <a:rPr sz="2000" u="sng" spc="-20" dirty="0"/>
              <a:t>P</a:t>
            </a:r>
            <a:r>
              <a:rPr sz="2000" u="sng" dirty="0"/>
              <a:t>L</a:t>
            </a:r>
            <a:r>
              <a:rPr sz="2000" u="sng" spc="-20" dirty="0"/>
              <a:t>E</a:t>
            </a:r>
            <a:r>
              <a:rPr sz="2000" u="sng" spc="30" dirty="0"/>
              <a:t>M</a:t>
            </a:r>
            <a:r>
              <a:rPr sz="2000" u="sng" spc="-20" dirty="0"/>
              <a:t>E</a:t>
            </a:r>
            <a:r>
              <a:rPr sz="2000" u="sng" spc="-10" dirty="0"/>
              <a:t>N</a:t>
            </a:r>
            <a:r>
              <a:rPr sz="2000" u="sng" spc="20" dirty="0"/>
              <a:t>T</a:t>
            </a:r>
            <a:r>
              <a:rPr sz="2000" u="sng" spc="-80" dirty="0"/>
              <a:t>A</a:t>
            </a:r>
            <a:r>
              <a:rPr sz="2000" u="sng" spc="25" dirty="0"/>
              <a:t>T</a:t>
            </a:r>
            <a:r>
              <a:rPr sz="2000" u="sng" spc="-5" dirty="0"/>
              <a:t>IO</a:t>
            </a:r>
            <a:r>
              <a:rPr sz="2000" u="sng" spc="-10" dirty="0"/>
              <a:t>N</a:t>
            </a:r>
            <a:r>
              <a:rPr sz="2000" u="sng" dirty="0"/>
              <a:t>	O</a:t>
            </a:r>
            <a:r>
              <a:rPr sz="2000" u="sng" spc="-5" dirty="0"/>
              <a:t>F</a:t>
            </a:r>
            <a:r>
              <a:rPr sz="2000" u="sng" dirty="0"/>
              <a:t>	</a:t>
            </a:r>
            <a:r>
              <a:rPr sz="2000" u="sng" spc="-20" dirty="0"/>
              <a:t>P</a:t>
            </a:r>
            <a:r>
              <a:rPr sz="2000" u="sng" spc="-80" dirty="0"/>
              <a:t>A</a:t>
            </a:r>
            <a:r>
              <a:rPr sz="2000" u="sng" spc="-5" dirty="0"/>
              <a:t>G</a:t>
            </a:r>
            <a:r>
              <a:rPr sz="2000" u="sng" spc="-10" dirty="0"/>
              <a:t>E</a:t>
            </a:r>
            <a:r>
              <a:rPr sz="2000" u="sng" dirty="0"/>
              <a:t>	</a:t>
            </a:r>
            <a:r>
              <a:rPr sz="2000" u="sng" spc="-80" dirty="0"/>
              <a:t>A</a:t>
            </a:r>
            <a:r>
              <a:rPr sz="2000" u="sng" spc="-10" dirty="0"/>
              <a:t>ND</a:t>
            </a:r>
            <a:r>
              <a:rPr sz="2000" u="sng" dirty="0"/>
              <a:t>	</a:t>
            </a:r>
            <a:r>
              <a:rPr sz="2000" u="sng" spc="-20" dirty="0"/>
              <a:t>SE</a:t>
            </a:r>
            <a:r>
              <a:rPr sz="2000" u="sng" spc="-5" dirty="0"/>
              <a:t>G</a:t>
            </a:r>
            <a:r>
              <a:rPr sz="2000" u="sng" spc="30" dirty="0"/>
              <a:t>M</a:t>
            </a:r>
            <a:r>
              <a:rPr sz="2000" u="sng" spc="-20" dirty="0"/>
              <a:t>E</a:t>
            </a:r>
            <a:r>
              <a:rPr sz="2000" u="sng" spc="-10" dirty="0"/>
              <a:t>NT</a:t>
            </a:r>
            <a:r>
              <a:rPr sz="2000" u="sng" dirty="0"/>
              <a:t>	</a:t>
            </a:r>
            <a:r>
              <a:rPr sz="2000" u="sng" spc="25" dirty="0"/>
              <a:t>T</a:t>
            </a:r>
            <a:r>
              <a:rPr sz="2000" u="sng" spc="-80" dirty="0"/>
              <a:t>A</a:t>
            </a:r>
            <a:r>
              <a:rPr sz="2000" u="sng" spc="-10" dirty="0"/>
              <a:t>B</a:t>
            </a:r>
            <a:r>
              <a:rPr sz="2000" u="sng" spc="-5" dirty="0"/>
              <a:t>L</a:t>
            </a:r>
            <a:r>
              <a:rPr sz="2000" u="sng" spc="-20" dirty="0"/>
              <a:t>E</a:t>
            </a:r>
            <a:r>
              <a:rPr sz="2000" u="sng" spc="-10" dirty="0"/>
              <a:t>S</a:t>
            </a:r>
            <a:endParaRPr sz="2000" u="sng" dirty="0"/>
          </a:p>
        </p:txBody>
      </p:sp>
      <p:sp>
        <p:nvSpPr>
          <p:cNvPr id="6" name="object 6"/>
          <p:cNvSpPr txBox="1"/>
          <p:nvPr/>
        </p:nvSpPr>
        <p:spPr>
          <a:xfrm>
            <a:off x="484428" y="848920"/>
            <a:ext cx="6866255" cy="452120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Arial"/>
                <a:cs typeface="Arial"/>
              </a:rPr>
              <a:t>Implementation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  <a:p>
            <a:pPr marL="668020" indent="-140970">
              <a:lnSpc>
                <a:spcPts val="2125"/>
              </a:lnSpc>
              <a:spcBef>
                <a:spcPts val="1250"/>
              </a:spcBef>
              <a:buFont typeface="Arial MT"/>
              <a:buChar char="-"/>
              <a:tabLst>
                <a:tab pos="668655" algn="l"/>
              </a:tabLst>
            </a:pPr>
            <a:r>
              <a:rPr sz="1800" b="1" spc="5" dirty="0">
                <a:latin typeface="Arial"/>
                <a:cs typeface="Arial"/>
              </a:rPr>
              <a:t>Hardware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registers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(if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reasonably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small)</a:t>
            </a:r>
            <a:endParaRPr sz="1800">
              <a:latin typeface="Arial"/>
              <a:cs typeface="Arial"/>
            </a:endParaRPr>
          </a:p>
          <a:p>
            <a:pPr marL="668020" indent="-140970">
              <a:lnSpc>
                <a:spcPts val="2125"/>
              </a:lnSpc>
              <a:buFont typeface="Arial MT"/>
              <a:buChar char="-"/>
              <a:tabLst>
                <a:tab pos="668655" algn="l"/>
              </a:tabLst>
            </a:pPr>
            <a:r>
              <a:rPr sz="1800" b="1" dirty="0">
                <a:latin typeface="Arial"/>
                <a:cs typeface="Arial"/>
              </a:rPr>
              <a:t>Main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939165" lvl="1" indent="-140970">
              <a:lnSpc>
                <a:spcPts val="2135"/>
              </a:lnSpc>
              <a:spcBef>
                <a:spcPts val="844"/>
              </a:spcBef>
              <a:buFont typeface="Arial MT"/>
              <a:buChar char="-"/>
              <a:tabLst>
                <a:tab pos="939800" algn="l"/>
              </a:tabLst>
            </a:pPr>
            <a:r>
              <a:rPr sz="1800" b="1" spc="-5" dirty="0">
                <a:latin typeface="Arial"/>
                <a:cs typeface="Arial"/>
              </a:rPr>
              <a:t>P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65" dirty="0">
                <a:latin typeface="Arial"/>
                <a:cs typeface="Arial"/>
              </a:rPr>
              <a:t>T</a:t>
            </a:r>
            <a:r>
              <a:rPr sz="1800" b="1" spc="-25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bl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Ba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</a:t>
            </a: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r(</a:t>
            </a:r>
            <a:r>
              <a:rPr sz="1800" b="1" spc="-35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TBR)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spc="-5" dirty="0">
                <a:latin typeface="Arial"/>
                <a:cs typeface="Arial"/>
              </a:rPr>
              <a:t>ts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PT</a:t>
            </a:r>
            <a:endParaRPr sz="1800">
              <a:latin typeface="Arial"/>
              <a:cs typeface="Arial"/>
            </a:endParaRPr>
          </a:p>
          <a:p>
            <a:pPr marL="939165" lvl="1" indent="-140970">
              <a:lnSpc>
                <a:spcPts val="2100"/>
              </a:lnSpc>
              <a:buFont typeface="Arial MT"/>
              <a:buChar char="-"/>
              <a:tabLst>
                <a:tab pos="939800" algn="l"/>
              </a:tabLst>
            </a:pPr>
            <a:r>
              <a:rPr sz="1800" b="1" spc="-190" dirty="0">
                <a:latin typeface="Arial"/>
                <a:cs typeface="Arial"/>
              </a:rPr>
              <a:t>T</a:t>
            </a:r>
            <a:r>
              <a:rPr sz="1800" b="1" spc="-15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acces</a:t>
            </a:r>
            <a:r>
              <a:rPr sz="1800" b="1" spc="-20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es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</a:t>
            </a:r>
            <a:r>
              <a:rPr sz="1800" b="1" spc="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ed</a:t>
            </a:r>
            <a:r>
              <a:rPr sz="1800" b="1" spc="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d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access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ts val="2125"/>
              </a:lnSpc>
            </a:pP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word;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word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4241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(TLB: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Translation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Lookaside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Buffer)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930275" marR="909955" indent="-128270">
              <a:lnSpc>
                <a:spcPct val="884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21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speedu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5" dirty="0">
                <a:latin typeface="Arial"/>
                <a:cs typeface="Arial"/>
              </a:rPr>
              <a:t>h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effe</a:t>
            </a:r>
            <a:r>
              <a:rPr sz="1800" b="1" spc="-20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spc="-25" dirty="0">
                <a:latin typeface="Arial"/>
                <a:cs typeface="Arial"/>
              </a:rPr>
              <a:t>i</a:t>
            </a:r>
            <a:r>
              <a:rPr sz="1800" b="1" spc="-20" dirty="0">
                <a:latin typeface="Arial"/>
                <a:cs typeface="Arial"/>
              </a:rPr>
              <a:t>v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acces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</a:t>
            </a:r>
            <a:r>
              <a:rPr sz="1800" b="1" spc="5" dirty="0">
                <a:latin typeface="Arial"/>
                <a:cs typeface="Arial"/>
              </a:rPr>
              <a:t>m</a:t>
            </a:r>
            <a:r>
              <a:rPr sz="1800" b="1" dirty="0">
                <a:latin typeface="Arial"/>
                <a:cs typeface="Arial"/>
              </a:rPr>
              <a:t>e, 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special small memory called </a:t>
            </a:r>
            <a:r>
              <a:rPr sz="1800" b="1" spc="-10" dirty="0">
                <a:latin typeface="Arial"/>
                <a:cs typeface="Arial"/>
              </a:rPr>
              <a:t>associative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memory,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cache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used</a:t>
            </a:r>
            <a:endParaRPr sz="1800">
              <a:latin typeface="Arial"/>
              <a:cs typeface="Arial"/>
            </a:endParaRPr>
          </a:p>
          <a:p>
            <a:pPr marL="570230" marR="2399665" indent="-448945">
              <a:lnSpc>
                <a:spcPct val="132300"/>
              </a:lnSpc>
              <a:spcBef>
                <a:spcPts val="1485"/>
              </a:spcBef>
            </a:pPr>
            <a:r>
              <a:rPr sz="1800" b="1" spc="-5" dirty="0">
                <a:latin typeface="Arial"/>
                <a:cs typeface="Arial"/>
              </a:rPr>
              <a:t>Implementation </a:t>
            </a:r>
            <a:r>
              <a:rPr sz="1800" b="1" dirty="0">
                <a:latin typeface="Arial"/>
                <a:cs typeface="Arial"/>
              </a:rPr>
              <a:t>of the Segment </a:t>
            </a:r>
            <a:r>
              <a:rPr sz="1800" b="1" spc="-50" dirty="0">
                <a:latin typeface="Arial"/>
                <a:cs typeface="Arial"/>
              </a:rPr>
              <a:t>Table 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Similar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case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" dirty="0">
                <a:latin typeface="Arial"/>
                <a:cs typeface="Arial"/>
              </a:rPr>
              <a:t> 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84" y="1650"/>
            <a:ext cx="8996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2605" algn="l"/>
                <a:tab pos="6329680" algn="l"/>
              </a:tabLst>
            </a:pPr>
            <a:r>
              <a:rPr sz="2100" b="1" i="1" spc="-15" baseline="3968" dirty="0">
                <a:latin typeface="Arial"/>
                <a:cs typeface="Arial"/>
              </a:rPr>
              <a:t>Memory</a:t>
            </a:r>
            <a:r>
              <a:rPr sz="2100" b="1" i="1" spc="-37" baseline="3968" dirty="0">
                <a:latin typeface="Arial"/>
                <a:cs typeface="Arial"/>
              </a:rPr>
              <a:t> </a:t>
            </a:r>
            <a:r>
              <a:rPr sz="2100" b="1" i="1" spc="-15" baseline="3968" dirty="0">
                <a:latin typeface="Arial"/>
                <a:cs typeface="Arial"/>
              </a:rPr>
              <a:t>Organization	</a:t>
            </a:r>
            <a:r>
              <a:rPr sz="2100" b="1" spc="-15" baseline="1984" dirty="0">
                <a:latin typeface="Arial"/>
                <a:cs typeface="Arial"/>
              </a:rPr>
              <a:t>31	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r>
              <a:rPr sz="1400" b="1" i="1" spc="-3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Management</a:t>
            </a:r>
            <a:r>
              <a:rPr sz="1400" b="1" i="1" spc="-3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32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2765" y="263397"/>
            <a:ext cx="149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5" dirty="0">
                <a:latin typeface="Arial"/>
                <a:cs typeface="Arial"/>
              </a:rPr>
              <a:t>EXAMPLE</a:t>
            </a:r>
            <a:endParaRPr sz="2400" u="sng" dirty="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84183" y="1925764"/>
          <a:ext cx="4055110" cy="273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303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Segment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Page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Word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502407" y="3319271"/>
            <a:ext cx="4063365" cy="274320"/>
          </a:xfrm>
          <a:custGeom>
            <a:avLst/>
            <a:gdLst/>
            <a:ahLst/>
            <a:cxnLst/>
            <a:rect l="l" t="t" r="r" b="b"/>
            <a:pathLst>
              <a:path w="4063365" h="274320">
                <a:moveTo>
                  <a:pt x="14097" y="0"/>
                </a:moveTo>
                <a:lnTo>
                  <a:pt x="4062857" y="0"/>
                </a:lnTo>
              </a:path>
              <a:path w="4063365" h="274320">
                <a:moveTo>
                  <a:pt x="0" y="273938"/>
                </a:moveTo>
                <a:lnTo>
                  <a:pt x="4058158" y="269113"/>
                </a:lnTo>
              </a:path>
              <a:path w="4063365" h="274320">
                <a:moveTo>
                  <a:pt x="8255" y="7112"/>
                </a:moveTo>
                <a:lnTo>
                  <a:pt x="8255" y="273812"/>
                </a:lnTo>
              </a:path>
              <a:path w="4063365" h="274320">
                <a:moveTo>
                  <a:pt x="2437892" y="7112"/>
                </a:moveTo>
                <a:lnTo>
                  <a:pt x="2437892" y="273812"/>
                </a:lnTo>
              </a:path>
              <a:path w="4063365" h="274320">
                <a:moveTo>
                  <a:pt x="4062857" y="7112"/>
                </a:moveTo>
                <a:lnTo>
                  <a:pt x="4062857" y="273812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22854" y="2687523"/>
            <a:ext cx="4030345" cy="86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ts val="1415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Physical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address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format: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4096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blocks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256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 marL="114300">
              <a:lnSpc>
                <a:spcPts val="1415"/>
              </a:lnSpc>
            </a:pPr>
            <a:r>
              <a:rPr sz="1200" b="1" spc="-5" dirty="0">
                <a:latin typeface="Arial"/>
                <a:cs typeface="Arial"/>
              </a:rPr>
              <a:t>each,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each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word</a:t>
            </a:r>
            <a:r>
              <a:rPr sz="1200" b="1" spc="-10" dirty="0">
                <a:latin typeface="Arial"/>
                <a:cs typeface="Arial"/>
              </a:rPr>
              <a:t> has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32bits</a:t>
            </a:r>
            <a:endParaRPr sz="1200">
              <a:latin typeface="Arial"/>
              <a:cs typeface="Arial"/>
            </a:endParaRPr>
          </a:p>
          <a:p>
            <a:pPr marL="940435">
              <a:lnSpc>
                <a:spcPct val="100000"/>
              </a:lnSpc>
              <a:spcBef>
                <a:spcPts val="505"/>
              </a:spcBef>
              <a:tabLst>
                <a:tab pos="3169285" algn="l"/>
              </a:tabLst>
            </a:pPr>
            <a:r>
              <a:rPr sz="1200" b="1" spc="-5" dirty="0">
                <a:latin typeface="Arial"/>
                <a:cs typeface="Arial"/>
              </a:rPr>
              <a:t>12	8</a:t>
            </a:r>
            <a:endParaRPr sz="1200">
              <a:latin typeface="Arial"/>
              <a:cs typeface="Arial"/>
            </a:endParaRPr>
          </a:p>
          <a:p>
            <a:pPr marL="876300">
              <a:lnSpc>
                <a:spcPct val="100000"/>
              </a:lnSpc>
              <a:spcBef>
                <a:spcPts val="409"/>
              </a:spcBef>
              <a:tabLst>
                <a:tab pos="3023235" algn="l"/>
              </a:tabLst>
            </a:pPr>
            <a:r>
              <a:rPr sz="1200" b="1" dirty="0">
                <a:latin typeface="Arial"/>
                <a:cs typeface="Arial"/>
              </a:rPr>
              <a:t>Block	</a:t>
            </a:r>
            <a:r>
              <a:rPr sz="1200" b="1" spc="-10" dirty="0">
                <a:latin typeface="Arial"/>
                <a:cs typeface="Arial"/>
              </a:rPr>
              <a:t>Word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2688" y="2304288"/>
            <a:ext cx="1155700" cy="875030"/>
          </a:xfrm>
          <a:prstGeom prst="rect">
            <a:avLst/>
          </a:prstGeom>
          <a:ln w="24384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58445">
              <a:lnSpc>
                <a:spcPts val="1415"/>
              </a:lnSpc>
              <a:spcBef>
                <a:spcPts val="1390"/>
              </a:spcBef>
            </a:pPr>
            <a:r>
              <a:rPr sz="1200" b="1" spc="45" dirty="0">
                <a:latin typeface="Arial"/>
                <a:cs typeface="Arial"/>
              </a:rPr>
              <a:t>2</a:t>
            </a:r>
            <a:r>
              <a:rPr sz="1500" b="1" spc="67" baseline="33333" dirty="0">
                <a:latin typeface="Arial"/>
                <a:cs typeface="Arial"/>
              </a:rPr>
              <a:t>20</a:t>
            </a:r>
            <a:r>
              <a:rPr sz="1500" b="1" spc="97" baseline="3333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x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32</a:t>
            </a:r>
            <a:endParaRPr sz="1200">
              <a:latin typeface="Arial"/>
              <a:cs typeface="Arial"/>
            </a:endParaRPr>
          </a:p>
          <a:p>
            <a:pPr marL="243204">
              <a:lnSpc>
                <a:spcPts val="1415"/>
              </a:lnSpc>
            </a:pPr>
            <a:r>
              <a:rPr sz="1200" b="1" spc="-15" dirty="0">
                <a:latin typeface="Arial"/>
                <a:cs typeface="Arial"/>
              </a:rPr>
              <a:t>Physical</a:t>
            </a:r>
            <a:endParaRPr sz="12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50"/>
              </a:spcBef>
            </a:pPr>
            <a:r>
              <a:rPr sz="1200" b="1" spc="-10" dirty="0">
                <a:latin typeface="Arial"/>
                <a:cs typeface="Arial"/>
              </a:rPr>
              <a:t>memory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020" y="892555"/>
            <a:ext cx="6045835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cal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Ph</a:t>
            </a:r>
            <a:r>
              <a:rPr sz="1800" b="1" spc="-85" dirty="0">
                <a:latin typeface="Arial"/>
                <a:cs typeface="Arial"/>
              </a:rPr>
              <a:t>y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cal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d</a:t>
            </a:r>
            <a:r>
              <a:rPr sz="1800" b="1" spc="5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re</a:t>
            </a:r>
            <a:r>
              <a:rPr sz="1800" b="1" dirty="0">
                <a:latin typeface="Arial"/>
                <a:cs typeface="Arial"/>
              </a:rPr>
              <a:t>ss</a:t>
            </a:r>
            <a:r>
              <a:rPr sz="1800" b="1" spc="-25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2396490">
              <a:lnSpc>
                <a:spcPts val="1370"/>
              </a:lnSpc>
              <a:spcBef>
                <a:spcPts val="1365"/>
              </a:spcBef>
            </a:pPr>
            <a:r>
              <a:rPr sz="1200" b="1" spc="10" dirty="0">
                <a:latin typeface="Arial"/>
                <a:cs typeface="Arial"/>
              </a:rPr>
              <a:t>Log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cal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es</a:t>
            </a:r>
            <a:r>
              <a:rPr sz="1200" b="1" spc="-5" dirty="0">
                <a:latin typeface="Arial"/>
                <a:cs typeface="Arial"/>
              </a:rPr>
              <a:t>s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</a:t>
            </a:r>
            <a:r>
              <a:rPr sz="1200" b="1" spc="-5" dirty="0">
                <a:latin typeface="Arial"/>
                <a:cs typeface="Arial"/>
              </a:rPr>
              <a:t>6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10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f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256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es</a:t>
            </a:r>
            <a:endParaRPr sz="1200">
              <a:latin typeface="Arial"/>
              <a:cs typeface="Arial"/>
            </a:endParaRPr>
          </a:p>
          <a:p>
            <a:pPr marL="2396490">
              <a:lnSpc>
                <a:spcPts val="1370"/>
              </a:lnSpc>
            </a:pPr>
            <a:r>
              <a:rPr sz="1200" b="1" spc="-5" dirty="0">
                <a:latin typeface="Arial"/>
                <a:cs typeface="Arial"/>
              </a:rPr>
              <a:t>each,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each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page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has </a:t>
            </a:r>
            <a:r>
              <a:rPr sz="1200" b="1" dirty="0">
                <a:latin typeface="Arial"/>
                <a:cs typeface="Arial"/>
              </a:rPr>
              <a:t>256words</a:t>
            </a:r>
            <a:endParaRPr sz="1200">
              <a:latin typeface="Arial"/>
              <a:cs typeface="Arial"/>
            </a:endParaRPr>
          </a:p>
          <a:p>
            <a:pPr marL="2549525">
              <a:lnSpc>
                <a:spcPct val="100000"/>
              </a:lnSpc>
              <a:spcBef>
                <a:spcPts val="409"/>
              </a:spcBef>
              <a:tabLst>
                <a:tab pos="3872229" algn="l"/>
                <a:tab pos="5424170" algn="l"/>
              </a:tabLst>
            </a:pPr>
            <a:r>
              <a:rPr sz="1200" b="1" spc="-5" dirty="0">
                <a:latin typeface="Arial"/>
                <a:cs typeface="Arial"/>
              </a:rPr>
              <a:t>4	8	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822" y="3864305"/>
            <a:ext cx="5527040" cy="486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Logical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Physical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1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Address</a:t>
            </a:r>
            <a:r>
              <a:rPr sz="1800" b="1" spc="-1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Assignment</a:t>
            </a:r>
            <a:endParaRPr sz="1800">
              <a:latin typeface="Arial"/>
              <a:cs typeface="Arial"/>
            </a:endParaRPr>
          </a:p>
          <a:p>
            <a:pPr marR="731520" algn="ctr">
              <a:lnSpc>
                <a:spcPct val="100000"/>
              </a:lnSpc>
              <a:spcBef>
                <a:spcPts val="30"/>
              </a:spcBef>
            </a:pPr>
            <a:r>
              <a:rPr sz="1200" b="1" dirty="0">
                <a:latin typeface="Arial"/>
                <a:cs typeface="Arial"/>
              </a:rPr>
              <a:t>Hexa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76040" y="4349622"/>
            <a:ext cx="9791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num</a:t>
            </a:r>
            <a:r>
              <a:rPr sz="1200" b="1" spc="10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5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065716" y="4573841"/>
          <a:ext cx="1706245" cy="1356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081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95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21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11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2369311" y="4315205"/>
            <a:ext cx="612775" cy="1711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address</a:t>
            </a:r>
            <a:endParaRPr sz="12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985"/>
              </a:spcBef>
            </a:pPr>
            <a:r>
              <a:rPr sz="1200" b="1" spc="-5" dirty="0">
                <a:latin typeface="Arial"/>
                <a:cs typeface="Arial"/>
              </a:rPr>
              <a:t>60000</a:t>
            </a:r>
            <a:endParaRPr sz="12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600"/>
              </a:spcBef>
            </a:pPr>
            <a:r>
              <a:rPr sz="1200" b="1" spc="-5" dirty="0">
                <a:latin typeface="Arial"/>
                <a:cs typeface="Arial"/>
              </a:rPr>
              <a:t>60100</a:t>
            </a:r>
            <a:endParaRPr sz="12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695"/>
              </a:spcBef>
            </a:pPr>
            <a:r>
              <a:rPr sz="1200" b="1" spc="-5" dirty="0">
                <a:latin typeface="Arial"/>
                <a:cs typeface="Arial"/>
              </a:rPr>
              <a:t>60200</a:t>
            </a:r>
            <a:endParaRPr sz="12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latin typeface="Arial"/>
                <a:cs typeface="Arial"/>
              </a:rPr>
              <a:t>60300</a:t>
            </a:r>
            <a:endParaRPr sz="12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60400</a:t>
            </a:r>
            <a:endParaRPr sz="12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604FF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323141" y="4738370"/>
          <a:ext cx="1852930" cy="8749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509">
                <a:tc>
                  <a:txBody>
                    <a:bodyPr/>
                    <a:lstStyle/>
                    <a:p>
                      <a:pPr marL="1270">
                        <a:lnSpc>
                          <a:spcPts val="965"/>
                        </a:lnSpc>
                        <a:tabLst>
                          <a:tab pos="901065" algn="l"/>
                        </a:tabLst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Segment	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Page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96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457">
                <a:tc>
                  <a:txBody>
                    <a:bodyPr/>
                    <a:lstStyle/>
                    <a:p>
                      <a:pPr marL="370840">
                        <a:lnSpc>
                          <a:spcPts val="1225"/>
                        </a:lnSpc>
                        <a:tabLst>
                          <a:tab pos="1044575" algn="l"/>
                        </a:tabLst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	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70840">
                        <a:lnSpc>
                          <a:spcPts val="1090"/>
                        </a:lnSpc>
                        <a:tabLst>
                          <a:tab pos="1044575" algn="l"/>
                        </a:tabLst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	01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70840">
                        <a:lnSpc>
                          <a:spcPts val="1070"/>
                        </a:lnSpc>
                        <a:tabLst>
                          <a:tab pos="1044575" algn="l"/>
                        </a:tabLst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	02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70840">
                        <a:lnSpc>
                          <a:spcPts val="1055"/>
                        </a:lnSpc>
                        <a:tabLst>
                          <a:tab pos="1044575" algn="l"/>
                        </a:tabLst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6	03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370840">
                        <a:lnSpc>
                          <a:spcPts val="1260"/>
                        </a:lnSpc>
                        <a:tabLst>
                          <a:tab pos="1044575" algn="l"/>
                        </a:tabLst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6	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122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012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51130">
                        <a:lnSpc>
                          <a:spcPts val="109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000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51130">
                        <a:lnSpc>
                          <a:spcPts val="107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019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51130">
                        <a:lnSpc>
                          <a:spcPts val="1055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053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51130">
                        <a:lnSpc>
                          <a:spcPts val="1260"/>
                        </a:lnSpc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A61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2486405" y="6102502"/>
            <a:ext cx="22955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(a)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Logical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address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assignment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5651" y="6104940"/>
            <a:ext cx="2188845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7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(b</a:t>
            </a:r>
            <a:r>
              <a:rPr sz="1200" b="1" dirty="0">
                <a:latin typeface="Arial"/>
                <a:cs typeface="Arial"/>
              </a:rPr>
              <a:t>)</a:t>
            </a:r>
            <a:r>
              <a:rPr sz="1200" b="1" spc="-10" dirty="0">
                <a:latin typeface="Arial"/>
                <a:cs typeface="Arial"/>
              </a:rPr>
              <a:t> 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10" dirty="0">
                <a:latin typeface="Arial"/>
                <a:cs typeface="Arial"/>
              </a:rPr>
              <a:t>t</a:t>
            </a:r>
            <a:r>
              <a:rPr sz="1200" b="1" spc="5" dirty="0">
                <a:latin typeface="Arial"/>
                <a:cs typeface="Arial"/>
              </a:rPr>
              <a:t>-</a:t>
            </a:r>
            <a:r>
              <a:rPr sz="1200" b="1" spc="10" dirty="0">
                <a:latin typeface="Arial"/>
                <a:cs typeface="Arial"/>
              </a:rPr>
              <a:t>p</a:t>
            </a: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10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v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s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-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  <a:p>
            <a:pPr marL="268605">
              <a:lnSpc>
                <a:spcPts val="1370"/>
              </a:lnSpc>
            </a:pPr>
            <a:r>
              <a:rPr sz="1200" b="1" spc="-15" dirty="0">
                <a:latin typeface="Arial"/>
                <a:cs typeface="Arial"/>
              </a:rPr>
              <a:t>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dirty="0">
                <a:latin typeface="Arial"/>
                <a:cs typeface="Arial"/>
              </a:rPr>
              <a:t>y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dirty="0">
                <a:latin typeface="Arial"/>
                <a:cs typeface="Arial"/>
              </a:rPr>
              <a:t>ck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si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15" dirty="0">
                <a:latin typeface="Arial"/>
                <a:cs typeface="Arial"/>
              </a:rPr>
              <a:t>nm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67017" y="1270"/>
            <a:ext cx="2675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" dirty="0">
                <a:latin typeface="Arial"/>
                <a:cs typeface="Arial"/>
              </a:rPr>
              <a:t>Memory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Management</a:t>
            </a:r>
            <a:r>
              <a:rPr sz="1400" b="1" i="1" spc="-40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5823" y="237743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>
              <a:lnSpc>
                <a:spcPct val="100000"/>
              </a:lnSpc>
              <a:spcBef>
                <a:spcPts val="100"/>
              </a:spcBef>
              <a:tabLst>
                <a:tab pos="1703705" algn="l"/>
                <a:tab pos="2295525" algn="l"/>
                <a:tab pos="4006215" algn="l"/>
                <a:tab pos="5545455" algn="l"/>
              </a:tabLst>
            </a:pPr>
            <a:r>
              <a:rPr u="sng" spc="-15" dirty="0"/>
              <a:t>LOGICAL	</a:t>
            </a:r>
            <a:r>
              <a:rPr u="sng" spc="-5" dirty="0"/>
              <a:t>TO	</a:t>
            </a:r>
            <a:r>
              <a:rPr u="sng" spc="-20" dirty="0"/>
              <a:t>PHYSICAL	</a:t>
            </a:r>
            <a:r>
              <a:rPr u="sng" spc="-5" dirty="0"/>
              <a:t>MEMORY	</a:t>
            </a:r>
            <a:r>
              <a:rPr u="sng" spc="-15" dirty="0"/>
              <a:t>MAPPING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10127" y="1839214"/>
            <a:ext cx="1057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S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dirty="0">
                <a:latin typeface="Arial"/>
                <a:cs typeface="Arial"/>
              </a:rPr>
              <a:t>t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7125" y="2048332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7125" y="3464432"/>
            <a:ext cx="118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9952" y="2609164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784663" y="2093912"/>
          <a:ext cx="903605" cy="151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35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336550">
                        <a:lnSpc>
                          <a:spcPts val="1390"/>
                        </a:lnSpc>
                      </a:pPr>
                      <a:r>
                        <a:rPr sz="1200" b="1" spc="-80" dirty="0">
                          <a:latin typeface="Arial"/>
                          <a:cs typeface="Arial"/>
                        </a:rPr>
                        <a:t>A3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401817" y="1839214"/>
            <a:ext cx="78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g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spc="-5" dirty="0">
                <a:latin typeface="Arial"/>
                <a:cs typeface="Arial"/>
              </a:rPr>
              <a:t>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4859" y="2039492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4859" y="2586608"/>
            <a:ext cx="208279" cy="1065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290"/>
              </a:spcBef>
            </a:pPr>
            <a:r>
              <a:rPr sz="1200" b="1" spc="-5" dirty="0"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b="1" spc="-5" dirty="0">
                <a:latin typeface="Arial"/>
                <a:cs typeface="Arial"/>
              </a:rPr>
              <a:t>36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200" b="1" spc="-5" dirty="0">
                <a:latin typeface="Arial"/>
                <a:cs typeface="Arial"/>
              </a:rPr>
              <a:t>37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00" b="1" dirty="0"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b="1" spc="-5" dirty="0"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308663" y="2093912"/>
          <a:ext cx="914400" cy="2292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292100" algn="r">
                        <a:lnSpc>
                          <a:spcPts val="1410"/>
                        </a:lnSpc>
                        <a:spcBef>
                          <a:spcPts val="14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74">
                <a:tc>
                  <a:txBody>
                    <a:bodyPr/>
                    <a:lstStyle/>
                    <a:p>
                      <a:pPr marR="292100" algn="r">
                        <a:lnSpc>
                          <a:spcPts val="1420"/>
                        </a:lnSpc>
                        <a:spcBef>
                          <a:spcPts val="1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51">
                <a:tc>
                  <a:txBody>
                    <a:bodyPr/>
                    <a:lstStyle/>
                    <a:p>
                      <a:pPr marR="292100" algn="r">
                        <a:lnSpc>
                          <a:spcPts val="1430"/>
                        </a:lnSpc>
                        <a:spcBef>
                          <a:spcPts val="1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019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R="292100" algn="r">
                        <a:lnSpc>
                          <a:spcPts val="1405"/>
                        </a:lnSpc>
                        <a:spcBef>
                          <a:spcPts val="14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074">
                <a:tc>
                  <a:txBody>
                    <a:bodyPr/>
                    <a:lstStyle/>
                    <a:p>
                      <a:pPr marR="271145" algn="r">
                        <a:lnSpc>
                          <a:spcPts val="1420"/>
                        </a:lnSpc>
                        <a:spcBef>
                          <a:spcPts val="145"/>
                        </a:spcBef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A61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R="292100" algn="r">
                        <a:lnSpc>
                          <a:spcPts val="1380"/>
                        </a:lnSpc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094859" y="4222242"/>
            <a:ext cx="201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0" dirty="0">
                <a:latin typeface="Arial"/>
                <a:cs typeface="Arial"/>
              </a:rPr>
              <a:t>A3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26351" y="1839214"/>
            <a:ext cx="1265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15" dirty="0">
                <a:latin typeface="Arial"/>
                <a:cs typeface="Arial"/>
              </a:rPr>
              <a:t>h</a:t>
            </a:r>
            <a:r>
              <a:rPr sz="1200" b="1" spc="-25" dirty="0">
                <a:latin typeface="Arial"/>
                <a:cs typeface="Arial"/>
              </a:rPr>
              <a:t>y</a:t>
            </a:r>
            <a:r>
              <a:rPr sz="1200" b="1" spc="-5" dirty="0">
                <a:latin typeface="Arial"/>
                <a:cs typeface="Arial"/>
              </a:rPr>
              <a:t>si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19543" y="4514088"/>
            <a:ext cx="1143000" cy="116205"/>
            <a:chOff x="7019543" y="4514088"/>
            <a:chExt cx="1143000" cy="11620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9543" y="4514088"/>
              <a:ext cx="91440" cy="115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4151" y="4514088"/>
              <a:ext cx="88392" cy="1158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576821" y="1947545"/>
            <a:ext cx="468630" cy="5930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b="1" spc="-5" dirty="0">
                <a:latin typeface="Arial"/>
                <a:cs typeface="Arial"/>
              </a:rPr>
              <a:t>00000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200" b="1" spc="-5" dirty="0">
                <a:latin typeface="Arial"/>
                <a:cs typeface="Arial"/>
              </a:rPr>
              <a:t>000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dirty="0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6821" y="2865882"/>
            <a:ext cx="469265" cy="5930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b="1" spc="-5" dirty="0">
                <a:latin typeface="Arial"/>
                <a:cs typeface="Arial"/>
              </a:rPr>
              <a:t>01200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200" b="1" spc="-5" dirty="0">
                <a:latin typeface="Arial"/>
                <a:cs typeface="Arial"/>
              </a:rPr>
              <a:t>012</a:t>
            </a:r>
            <a:r>
              <a:rPr sz="1200" b="1" spc="5" dirty="0">
                <a:latin typeface="Arial"/>
                <a:cs typeface="Arial"/>
              </a:rPr>
              <a:t>F</a:t>
            </a:r>
            <a:r>
              <a:rPr sz="1200" b="1" dirty="0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7037387" y="2085911"/>
          <a:ext cx="1049655" cy="2409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599"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99">
                <a:tc>
                  <a:txBody>
                    <a:bodyPr/>
                    <a:lstStyle/>
                    <a:p>
                      <a:pPr marL="36195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12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34099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32</a:t>
                      </a:r>
                      <a:r>
                        <a:rPr sz="10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b="1" spc="5" dirty="0">
                          <a:latin typeface="Arial"/>
                          <a:cs typeface="Arial"/>
                        </a:rPr>
                        <a:t>bi</a:t>
                      </a:r>
                      <a:r>
                        <a:rPr sz="10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000" b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wo</a:t>
                      </a:r>
                      <a:r>
                        <a:rPr sz="1000" b="1" spc="-3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000" b="1" dirty="0">
                          <a:latin typeface="Arial"/>
                          <a:cs typeface="Arial"/>
                        </a:rPr>
                        <a:t>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1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7068311" y="4105655"/>
            <a:ext cx="180340" cy="94615"/>
            <a:chOff x="7068311" y="4105655"/>
            <a:chExt cx="180340" cy="94615"/>
          </a:xfrm>
        </p:grpSpPr>
        <p:sp>
          <p:nvSpPr>
            <p:cNvPr id="24" name="object 24"/>
            <p:cNvSpPr/>
            <p:nvPr/>
          </p:nvSpPr>
          <p:spPr>
            <a:xfrm>
              <a:off x="7068311" y="4105655"/>
              <a:ext cx="113030" cy="94615"/>
            </a:xfrm>
            <a:custGeom>
              <a:avLst/>
              <a:gdLst/>
              <a:ahLst/>
              <a:cxnLst/>
              <a:rect l="l" t="t" r="r" b="b"/>
              <a:pathLst>
                <a:path w="113029" h="94614">
                  <a:moveTo>
                    <a:pt x="102870" y="0"/>
                  </a:moveTo>
                  <a:lnTo>
                    <a:pt x="0" y="47879"/>
                  </a:lnTo>
                  <a:lnTo>
                    <a:pt x="103378" y="94488"/>
                  </a:lnTo>
                  <a:lnTo>
                    <a:pt x="107442" y="83185"/>
                  </a:lnTo>
                  <a:lnTo>
                    <a:pt x="110363" y="71628"/>
                  </a:lnTo>
                  <a:lnTo>
                    <a:pt x="112141" y="59817"/>
                  </a:lnTo>
                  <a:lnTo>
                    <a:pt x="112776" y="47879"/>
                  </a:lnTo>
                  <a:lnTo>
                    <a:pt x="112141" y="35560"/>
                  </a:lnTo>
                  <a:lnTo>
                    <a:pt x="110236" y="23368"/>
                  </a:lnTo>
                  <a:lnTo>
                    <a:pt x="107061" y="11557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65847" y="4145279"/>
              <a:ext cx="82550" cy="0"/>
            </a:xfrm>
            <a:custGeom>
              <a:avLst/>
              <a:gdLst/>
              <a:ahLst/>
              <a:cxnLst/>
              <a:rect l="l" t="t" r="r" b="b"/>
              <a:pathLst>
                <a:path w="82550">
                  <a:moveTo>
                    <a:pt x="0" y="0"/>
                  </a:moveTo>
                  <a:lnTo>
                    <a:pt x="82296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3192" y="4096511"/>
            <a:ext cx="109727" cy="9715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576821" y="3867150"/>
            <a:ext cx="4692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7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01900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200" b="1" spc="-5" dirty="0">
                <a:latin typeface="Arial"/>
                <a:cs typeface="Arial"/>
              </a:rPr>
              <a:t>0197E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70"/>
              </a:lnSpc>
            </a:pPr>
            <a:r>
              <a:rPr sz="1200" b="1" dirty="0">
                <a:latin typeface="Arial"/>
                <a:cs typeface="Arial"/>
              </a:rPr>
              <a:t>0</a:t>
            </a:r>
            <a:r>
              <a:rPr sz="1200" b="1" spc="5" dirty="0">
                <a:latin typeface="Arial"/>
                <a:cs typeface="Arial"/>
              </a:rPr>
              <a:t>1</a:t>
            </a:r>
            <a:r>
              <a:rPr sz="1200" b="1" dirty="0">
                <a:latin typeface="Arial"/>
                <a:cs typeface="Arial"/>
              </a:rPr>
              <a:t>9</a:t>
            </a:r>
            <a:r>
              <a:rPr sz="1200" b="1" spc="10" dirty="0">
                <a:latin typeface="Arial"/>
                <a:cs typeface="Arial"/>
              </a:rPr>
              <a:t>F</a:t>
            </a:r>
            <a:r>
              <a:rPr sz="1200" b="1" dirty="0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32934" y="997458"/>
            <a:ext cx="2416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latin typeface="Arial"/>
                <a:cs typeface="Arial"/>
              </a:rPr>
              <a:t>Log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c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spc="5" dirty="0">
                <a:latin typeface="Arial"/>
                <a:cs typeface="Arial"/>
              </a:rPr>
              <a:t>dd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ess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5" dirty="0">
                <a:latin typeface="Arial"/>
                <a:cs typeface="Arial"/>
              </a:rPr>
              <a:t>(</a:t>
            </a:r>
            <a:r>
              <a:rPr sz="1200" b="1" dirty="0">
                <a:latin typeface="Arial"/>
                <a:cs typeface="Arial"/>
              </a:rPr>
              <a:t>in</a:t>
            </a:r>
            <a:r>
              <a:rPr sz="1200" b="1" spc="4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h</a:t>
            </a:r>
            <a:r>
              <a:rPr sz="1200" b="1" spc="-5" dirty="0">
                <a:latin typeface="Arial"/>
                <a:cs typeface="Arial"/>
              </a:rPr>
              <a:t>exa</a:t>
            </a:r>
            <a:r>
              <a:rPr sz="1200" b="1" spc="5" dirty="0">
                <a:latin typeface="Arial"/>
                <a:cs typeface="Arial"/>
              </a:rPr>
              <a:t>d</a:t>
            </a:r>
            <a:r>
              <a:rPr sz="1200" b="1" spc="-5" dirty="0">
                <a:latin typeface="Arial"/>
                <a:cs typeface="Arial"/>
              </a:rPr>
              <a:t>ec</a:t>
            </a:r>
            <a:r>
              <a:rPr sz="1200" b="1" spc="-25" dirty="0">
                <a:latin typeface="Arial"/>
                <a:cs typeface="Arial"/>
              </a:rPr>
              <a:t>i</a:t>
            </a:r>
            <a:r>
              <a:rPr sz="1200" b="1" spc="-20" dirty="0">
                <a:latin typeface="Arial"/>
                <a:cs typeface="Arial"/>
              </a:rPr>
              <a:t>m</a:t>
            </a:r>
            <a:r>
              <a:rPr sz="1200" b="1" spc="-5" dirty="0">
                <a:latin typeface="Arial"/>
                <a:cs typeface="Arial"/>
              </a:rPr>
              <a:t>a</a:t>
            </a:r>
            <a:r>
              <a:rPr sz="1200" b="1" dirty="0">
                <a:latin typeface="Arial"/>
                <a:cs typeface="Arial"/>
              </a:rPr>
              <a:t>l)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4452937" y="1249362"/>
          <a:ext cx="2837180" cy="1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800">
                <a:tc>
                  <a:txBody>
                    <a:bodyPr/>
                    <a:lstStyle/>
                    <a:p>
                      <a:pPr marL="38100" algn="ctr">
                        <a:lnSpc>
                          <a:spcPts val="136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ts val="136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algn="ctr">
                        <a:lnSpc>
                          <a:spcPts val="1365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7E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263143" y="912114"/>
            <a:ext cx="3664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page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2486977" y="4988496"/>
          <a:ext cx="2844800" cy="147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200" b="1" spc="-15" dirty="0">
                          <a:latin typeface="Arial"/>
                          <a:cs typeface="Arial"/>
                        </a:rPr>
                        <a:t>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Page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Block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43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019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93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b="1" spc="-30" dirty="0">
                          <a:latin typeface="Arial"/>
                          <a:cs typeface="Arial"/>
                        </a:rPr>
                        <a:t>A61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511860" y="4644974"/>
            <a:ext cx="3258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Associative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784" y="1650"/>
            <a:ext cx="89960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2605" algn="l"/>
                <a:tab pos="6329680" algn="l"/>
              </a:tabLst>
            </a:pPr>
            <a:r>
              <a:rPr sz="2100" b="1" i="1" spc="-15" baseline="3968" dirty="0">
                <a:latin typeface="Arial"/>
                <a:cs typeface="Arial"/>
              </a:rPr>
              <a:t>Memory</a:t>
            </a:r>
            <a:r>
              <a:rPr sz="2100" b="1" i="1" spc="-37" baseline="3968" dirty="0">
                <a:latin typeface="Arial"/>
                <a:cs typeface="Arial"/>
              </a:rPr>
              <a:t> </a:t>
            </a:r>
            <a:r>
              <a:rPr sz="2100" b="1" i="1" spc="-15" baseline="3968" dirty="0">
                <a:latin typeface="Arial"/>
                <a:cs typeface="Arial"/>
              </a:rPr>
              <a:t>Organization	</a:t>
            </a:r>
            <a:r>
              <a:rPr sz="2100" b="1" spc="-15" baseline="1984" dirty="0">
                <a:latin typeface="Arial"/>
                <a:cs typeface="Arial"/>
              </a:rPr>
              <a:t>33	</a:t>
            </a:r>
            <a:r>
              <a:rPr sz="1400" b="1" i="1" spc="-10" dirty="0">
                <a:latin typeface="Arial"/>
                <a:cs typeface="Arial"/>
              </a:rPr>
              <a:t>Memory</a:t>
            </a:r>
            <a:r>
              <a:rPr sz="1400" b="1" i="1" spc="-3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Management</a:t>
            </a:r>
            <a:r>
              <a:rPr sz="1400" b="1" i="1" spc="-35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0" y="0"/>
            <a:ext cx="2216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Arial"/>
                <a:cs typeface="Arial"/>
              </a:rPr>
              <a:t>34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88" y="0"/>
            <a:ext cx="18161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5" dirty="0">
                <a:latin typeface="Arial"/>
                <a:cs typeface="Arial"/>
              </a:rPr>
              <a:t>M</a:t>
            </a:r>
            <a:r>
              <a:rPr sz="1400" b="1" i="1" spc="-5" dirty="0">
                <a:latin typeface="Arial"/>
                <a:cs typeface="Arial"/>
              </a:rPr>
              <a:t>em</a:t>
            </a:r>
            <a:r>
              <a:rPr sz="1400" b="1" i="1" spc="-15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5" dirty="0">
                <a:latin typeface="Arial"/>
                <a:cs typeface="Arial"/>
              </a:rPr>
              <a:t>y</a:t>
            </a:r>
            <a:r>
              <a:rPr sz="1400" b="1" i="1" spc="-114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O</a:t>
            </a:r>
            <a:r>
              <a:rPr sz="1400" b="1" i="1" dirty="0">
                <a:latin typeface="Arial"/>
                <a:cs typeface="Arial"/>
              </a:rPr>
              <a:t>r</a:t>
            </a:r>
            <a:r>
              <a:rPr sz="1400" b="1" i="1" spc="-20" dirty="0">
                <a:latin typeface="Arial"/>
                <a:cs typeface="Arial"/>
              </a:rPr>
              <a:t>g</a:t>
            </a:r>
            <a:r>
              <a:rPr sz="1400" b="1" i="1" spc="-15" dirty="0">
                <a:latin typeface="Arial"/>
                <a:cs typeface="Arial"/>
              </a:rPr>
              <a:t>a</a:t>
            </a:r>
            <a:r>
              <a:rPr sz="1400" b="1" i="1" spc="-20" dirty="0">
                <a:latin typeface="Arial"/>
                <a:cs typeface="Arial"/>
              </a:rPr>
              <a:t>n</a:t>
            </a:r>
            <a:r>
              <a:rPr sz="1400" b="1" i="1" spc="-5" dirty="0">
                <a:latin typeface="Arial"/>
                <a:cs typeface="Arial"/>
              </a:rPr>
              <a:t>iz</a:t>
            </a:r>
            <a:r>
              <a:rPr sz="1400" b="1" i="1" spc="-15" dirty="0">
                <a:latin typeface="Arial"/>
                <a:cs typeface="Arial"/>
              </a:rPr>
              <a:t>at</a:t>
            </a:r>
            <a:r>
              <a:rPr sz="1400" b="1" i="1" spc="-5" dirty="0">
                <a:latin typeface="Arial"/>
                <a:cs typeface="Arial"/>
              </a:rPr>
              <a:t>i</a:t>
            </a:r>
            <a:r>
              <a:rPr sz="1400" b="1" i="1" spc="-20" dirty="0">
                <a:latin typeface="Arial"/>
                <a:cs typeface="Arial"/>
              </a:rPr>
              <a:t>o</a:t>
            </a:r>
            <a:r>
              <a:rPr sz="1400" b="1" i="1" spc="-5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24" y="172429"/>
            <a:ext cx="8915400" cy="6297295"/>
          </a:xfrm>
          <a:custGeom>
            <a:avLst/>
            <a:gdLst/>
            <a:ahLst/>
            <a:cxnLst/>
            <a:rect l="l" t="t" r="r" b="b"/>
            <a:pathLst>
              <a:path w="8915400" h="6297295">
                <a:moveTo>
                  <a:pt x="0" y="6297168"/>
                </a:moveTo>
                <a:lnTo>
                  <a:pt x="8915400" y="6297168"/>
                </a:lnTo>
                <a:lnTo>
                  <a:pt x="8915400" y="0"/>
                </a:lnTo>
                <a:lnTo>
                  <a:pt x="0" y="0"/>
                </a:lnTo>
                <a:lnTo>
                  <a:pt x="0" y="62971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0595" y="282702"/>
            <a:ext cx="6149975" cy="21518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  <a:tabLst>
                <a:tab pos="3878579" algn="l"/>
              </a:tabLst>
            </a:pPr>
            <a:r>
              <a:rPr sz="2400" b="1" u="sng" spc="-25" dirty="0">
                <a:latin typeface="Arial"/>
                <a:cs typeface="Arial"/>
              </a:rPr>
              <a:t>MEMORY	</a:t>
            </a:r>
            <a:r>
              <a:rPr sz="2400" b="1" u="sng" dirty="0">
                <a:latin typeface="Arial"/>
                <a:cs typeface="Arial"/>
              </a:rPr>
              <a:t>PROTECTION</a:t>
            </a:r>
            <a:endParaRPr sz="2400" u="sng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Arial"/>
              <a:cs typeface="Arial"/>
            </a:endParaRPr>
          </a:p>
          <a:p>
            <a:pPr marL="12700">
              <a:lnSpc>
                <a:spcPts val="2110"/>
              </a:lnSpc>
            </a:pPr>
            <a:r>
              <a:rPr sz="1800" b="1" dirty="0">
                <a:latin typeface="Arial"/>
                <a:cs typeface="Arial"/>
              </a:rPr>
              <a:t>Protection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information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included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ts val="2110"/>
              </a:lnSpc>
            </a:pP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register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endParaRPr sz="1800" dirty="0">
              <a:latin typeface="Arial"/>
              <a:cs typeface="Arial"/>
            </a:endParaRPr>
          </a:p>
          <a:p>
            <a:pPr marL="774700">
              <a:lnSpc>
                <a:spcPct val="100000"/>
              </a:lnSpc>
              <a:spcBef>
                <a:spcPts val="25"/>
              </a:spcBef>
            </a:pPr>
            <a:r>
              <a:rPr sz="1800" b="1" dirty="0">
                <a:latin typeface="Arial"/>
                <a:cs typeface="Arial"/>
              </a:rPr>
              <a:t>management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hardware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Format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typical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descriptor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404" y="3460445"/>
            <a:ext cx="5990590" cy="1700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Font typeface="Arial MT"/>
              <a:buChar char="-"/>
              <a:tabLst>
                <a:tab pos="16510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protection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field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segment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descriptor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specifies</a:t>
            </a:r>
            <a:endParaRPr sz="1800" dirty="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30"/>
              </a:spcBef>
            </a:pP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Access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Rights</a:t>
            </a:r>
            <a:r>
              <a:rPr sz="1800" b="1" i="1" spc="4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particular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segment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Arial"/>
              <a:cs typeface="Arial"/>
            </a:endParaRPr>
          </a:p>
          <a:p>
            <a:pPr marL="165100" marR="107314" indent="-152400" algn="just">
              <a:lnSpc>
                <a:spcPct val="101200"/>
              </a:lnSpc>
              <a:buFont typeface="Arial MT"/>
              <a:buChar char="-"/>
              <a:tabLst>
                <a:tab pos="165100" algn="l"/>
              </a:tabLst>
            </a:pP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a </a:t>
            </a:r>
            <a:r>
              <a:rPr sz="1800" b="1" spc="-10" dirty="0">
                <a:latin typeface="Arial"/>
                <a:cs typeface="Arial"/>
              </a:rPr>
              <a:t>segmented-page </a:t>
            </a:r>
            <a:r>
              <a:rPr sz="1800" b="1" dirty="0">
                <a:latin typeface="Arial"/>
                <a:cs typeface="Arial"/>
              </a:rPr>
              <a:t>organization, </a:t>
            </a:r>
            <a:r>
              <a:rPr sz="1800" b="1" spc="-10" dirty="0">
                <a:latin typeface="Arial"/>
                <a:cs typeface="Arial"/>
              </a:rPr>
              <a:t>each </a:t>
            </a:r>
            <a:r>
              <a:rPr sz="1800" b="1" spc="-5" dirty="0">
                <a:latin typeface="Arial"/>
                <a:cs typeface="Arial"/>
              </a:rPr>
              <a:t>entry </a:t>
            </a: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page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table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have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10" dirty="0">
                <a:latin typeface="Arial"/>
                <a:cs typeface="Arial"/>
              </a:rPr>
              <a:t>own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protection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field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to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</a:t>
            </a:r>
            <a:r>
              <a:rPr sz="1800" b="1" dirty="0">
                <a:latin typeface="Arial"/>
                <a:cs typeface="Arial"/>
              </a:rPr>
              <a:t>esc</a:t>
            </a:r>
            <a:r>
              <a:rPr sz="1800" b="1" spc="-5" dirty="0">
                <a:latin typeface="Arial"/>
                <a:cs typeface="Arial"/>
              </a:rPr>
              <a:t>ribe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the</a:t>
            </a:r>
            <a:r>
              <a:rPr sz="1800" b="1" spc="-15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cces</a:t>
            </a: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b="1" spc="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Rig</a:t>
            </a:r>
            <a:r>
              <a:rPr sz="1800" b="1" spc="5" dirty="0">
                <a:latin typeface="Arial"/>
                <a:cs typeface="Arial"/>
              </a:rPr>
              <a:t>h</a:t>
            </a:r>
            <a:r>
              <a:rPr sz="1800" b="1" spc="-5" dirty="0">
                <a:latin typeface="Arial"/>
                <a:cs typeface="Arial"/>
              </a:rPr>
              <a:t>ts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o</a:t>
            </a:r>
            <a:r>
              <a:rPr sz="1800" b="1" dirty="0">
                <a:latin typeface="Arial"/>
                <a:cs typeface="Arial"/>
              </a:rPr>
              <a:t>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eac</a:t>
            </a:r>
            <a:r>
              <a:rPr sz="1800" b="1" spc="-5" dirty="0">
                <a:latin typeface="Arial"/>
                <a:cs typeface="Arial"/>
              </a:rPr>
              <a:t>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5" dirty="0">
                <a:latin typeface="Arial"/>
                <a:cs typeface="Arial"/>
              </a:rPr>
              <a:t>g</a:t>
            </a:r>
            <a:r>
              <a:rPr sz="1800" b="1" spc="-5" dirty="0">
                <a:latin typeface="Arial"/>
                <a:cs typeface="Arial"/>
              </a:rPr>
              <a:t>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595" y="5417921"/>
            <a:ext cx="17868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6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cces</a:t>
            </a: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b="1" spc="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Rig</a:t>
            </a:r>
            <a:r>
              <a:rPr sz="1800" b="1" spc="5" dirty="0">
                <a:latin typeface="Arial"/>
                <a:cs typeface="Arial"/>
              </a:rPr>
              <a:t>h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0170" y="5268214"/>
            <a:ext cx="3750945" cy="11322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5"/>
              </a:spcBef>
            </a:pPr>
            <a:r>
              <a:rPr sz="1800" b="1" dirty="0">
                <a:latin typeface="Arial"/>
                <a:cs typeface="Arial"/>
              </a:rPr>
              <a:t>Full read and </a:t>
            </a:r>
            <a:r>
              <a:rPr sz="1800" b="1" spc="5" dirty="0">
                <a:latin typeface="Arial"/>
                <a:cs typeface="Arial"/>
              </a:rPr>
              <a:t>write </a:t>
            </a:r>
            <a:r>
              <a:rPr sz="1800" b="1" spc="-5" dirty="0">
                <a:latin typeface="Arial"/>
                <a:cs typeface="Arial"/>
              </a:rPr>
              <a:t>privileges. </a:t>
            </a:r>
            <a:r>
              <a:rPr sz="1800" b="1" dirty="0">
                <a:latin typeface="Arial"/>
                <a:cs typeface="Arial"/>
              </a:rPr>
              <a:t> Read only </a:t>
            </a:r>
            <a:r>
              <a:rPr sz="1800" b="1" spc="5" dirty="0">
                <a:latin typeface="Arial"/>
                <a:cs typeface="Arial"/>
              </a:rPr>
              <a:t>(write </a:t>
            </a:r>
            <a:r>
              <a:rPr sz="1800" b="1" dirty="0">
                <a:latin typeface="Arial"/>
                <a:cs typeface="Arial"/>
              </a:rPr>
              <a:t>protection)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Execute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only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(program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protection)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System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only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(O.S.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Protection)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85963" y="2557462"/>
          <a:ext cx="3735704" cy="320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4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b="1" spc="-15" dirty="0">
                          <a:latin typeface="Arial"/>
                          <a:cs typeface="Arial"/>
                        </a:rPr>
                        <a:t>Length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Protection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367017" y="1270"/>
            <a:ext cx="26758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i="1" spc="-5" dirty="0">
                <a:latin typeface="Arial"/>
                <a:cs typeface="Arial"/>
              </a:rPr>
              <a:t>Memory</a:t>
            </a:r>
            <a:r>
              <a:rPr sz="1400" b="1" i="1" spc="-75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Management</a:t>
            </a:r>
            <a:r>
              <a:rPr sz="1400" b="1" i="1" spc="-40" dirty="0">
                <a:latin typeface="Arial"/>
                <a:cs typeface="Arial"/>
              </a:rPr>
              <a:t> </a:t>
            </a:r>
            <a:r>
              <a:rPr sz="1400" b="1" i="1" spc="-10" dirty="0"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3968</Words>
  <Application>Microsoft Office PowerPoint</Application>
  <PresentationFormat>On-screen Show (4:3)</PresentationFormat>
  <Paragraphs>1095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Arial MT</vt:lpstr>
      <vt:lpstr>Calibri</vt:lpstr>
      <vt:lpstr>Cambria Math</vt:lpstr>
      <vt:lpstr>Symbol</vt:lpstr>
      <vt:lpstr>Times New Roman</vt:lpstr>
      <vt:lpstr>Office Theme</vt:lpstr>
      <vt:lpstr>MEMORY 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AND CACHE MAPPING - SET ASSOCIATIVE MAPPING -</vt:lpstr>
      <vt:lpstr>PowerPoint Presentation</vt:lpstr>
      <vt:lpstr>PowerPoint Presentation</vt:lpstr>
      <vt:lpstr>PowerPoint Presentation</vt:lpstr>
      <vt:lpstr>PowerPoint Presentation</vt:lpstr>
      <vt:lpstr>ASSOCIATIVE MEMORY PAGE TABLE</vt:lpstr>
      <vt:lpstr>PowerPoint Presentation</vt:lpstr>
      <vt:lpstr>PowerPoint Presentation</vt:lpstr>
      <vt:lpstr>PAGE REPLACEMENT ALGORITHMS</vt:lpstr>
      <vt:lpstr>PAGE REPLACEMENT ALGORITHMS</vt:lpstr>
      <vt:lpstr>PAGE REPLACEMENT ALGORITHMS</vt:lpstr>
      <vt:lpstr>MEMORY MANAGEMENT HARDWARE</vt:lpstr>
      <vt:lpstr>PowerPoint Presentation</vt:lpstr>
      <vt:lpstr>SEGMENTATION EXAMPLE</vt:lpstr>
      <vt:lpstr>SHARING OF SEGMENTS</vt:lpstr>
      <vt:lpstr>SEGMENTED PAGE SYSTEM</vt:lpstr>
      <vt:lpstr>IMPLEMENTATION OF PAGE AND SEGMENT TABLES</vt:lpstr>
      <vt:lpstr>PowerPoint Presentation</vt:lpstr>
      <vt:lpstr>LOGICAL TO PHYSICAL MEMORY MAPPING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ORGANIZATION</dc:title>
  <cp:lastModifiedBy>Yadwinder Singh</cp:lastModifiedBy>
  <cp:revision>11</cp:revision>
  <dcterms:created xsi:type="dcterms:W3CDTF">2023-07-26T04:29:36Z</dcterms:created>
  <dcterms:modified xsi:type="dcterms:W3CDTF">2023-07-28T05:21:09Z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2023-07-26T00:00:00Z</vt:filetime>
  </property>
</Properties>
</file>