
<file path=[Content_Types].xml><?xml version="1.0" encoding="utf-8"?>
<Types xmlns="http://schemas.openxmlformats.org/package/2006/content-types">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A4A4"/>
    <a:srgbClr val="AE5840"/>
    <a:srgbClr val="3F20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d="100" n="56"/>
          <a:sy d="100" n="56"/>
        </p:scale>
        <p:origin x="976" y="44"/>
      </p:cViewPr>
      <p:guideLst/>
    </p:cSldViewPr>
  </p:slideViewPr>
  <p:notesTextViewPr>
    <p:cViewPr>
      <p:scale>
        <a:sx d="1" n="1"/>
        <a:sy d="1" n="1"/>
      </p:scale>
      <p:origin x="0" y="0"/>
    </p:cViewPr>
  </p:notesTextViewPr>
  <p:gridSpacing cx="72008" cy="72008"/>
</p:viewPr>
</file>

<file path=ppt/_rels/presentation.xml.rels><?xml version="1.0" encoding="UTF-8" standalone="yes"?><Relationships xmlns="http://schemas.openxmlformats.org/package/2006/relationships"><Relationship Id="rId116" Target="slides/slide110.xml" Type="http://schemas.openxmlformats.org/officeDocument/2006/relationships/slide"/><Relationship Id="rId106" Target="slides/slide100.xml" Type="http://schemas.openxmlformats.org/officeDocument/2006/relationships/slide"/><Relationship Id="rId115" Target="slides/slide109.xml" Type="http://schemas.openxmlformats.org/officeDocument/2006/relationships/slide"/><Relationship Id="rId99" Target="slides/slide93.xml" Type="http://schemas.openxmlformats.org/officeDocument/2006/relationships/slide"/><Relationship Id="rId114" Target="slides/slide108.xml" Type="http://schemas.openxmlformats.org/officeDocument/2006/relationships/slide"/><Relationship Id="rId98" Target="slides/slide92.xml" Type="http://schemas.openxmlformats.org/officeDocument/2006/relationships/slide"/><Relationship Id="rId93" Target="slides/slide87.xml" Type="http://schemas.openxmlformats.org/officeDocument/2006/relationships/slide"/><Relationship Id="rId92" Target="slides/slide86.xml" Type="http://schemas.openxmlformats.org/officeDocument/2006/relationships/slide"/><Relationship Id="rId91" Target="slides/slide85.xml" Type="http://schemas.openxmlformats.org/officeDocument/2006/relationships/slide"/><Relationship Id="rId90" Target="slides/slide84.xml" Type="http://schemas.openxmlformats.org/officeDocument/2006/relationships/slide"/><Relationship Id="rId83" Target="slides/slide77.xml" Type="http://schemas.openxmlformats.org/officeDocument/2006/relationships/slide"/><Relationship Id="rId82" Target="slides/slide76.xml" Type="http://schemas.openxmlformats.org/officeDocument/2006/relationships/slide"/><Relationship Id="rId81" Target="slides/slide75.xml" Type="http://schemas.openxmlformats.org/officeDocument/2006/relationships/slide"/><Relationship Id="rId80" Target="slides/slide74.xml" Type="http://schemas.openxmlformats.org/officeDocument/2006/relationships/slide"/><Relationship Id="rId73" Target="slides/slide67.xml" Type="http://schemas.openxmlformats.org/officeDocument/2006/relationships/slide"/><Relationship Id="rId72" Target="slides/slide66.xml" Type="http://schemas.openxmlformats.org/officeDocument/2006/relationships/slide"/><Relationship Id="rId71" Target="slides/slide65.xml" Type="http://schemas.openxmlformats.org/officeDocument/2006/relationships/slide"/><Relationship Id="rId70" Target="slides/slide64.xml" Type="http://schemas.openxmlformats.org/officeDocument/2006/relationships/slide"/><Relationship Id="rId113" Target="slides/slide107.xml" Type="http://schemas.openxmlformats.org/officeDocument/2006/relationships/slide"/><Relationship Id="rId97" Target="slides/slide91.xml" Type="http://schemas.openxmlformats.org/officeDocument/2006/relationships/slide"/><Relationship Id="rId63" Target="slides/slide57.xml" Type="http://schemas.openxmlformats.org/officeDocument/2006/relationships/slide"/><Relationship Id="rId112" Target="slides/slide106.xml" Type="http://schemas.openxmlformats.org/officeDocument/2006/relationships/slide"/><Relationship Id="rId96" Target="slides/slide90.xml" Type="http://schemas.openxmlformats.org/officeDocument/2006/relationships/slide"/><Relationship Id="rId62" Target="slides/slide56.xml" Type="http://schemas.openxmlformats.org/officeDocument/2006/relationships/slide"/><Relationship Id="rId111" Target="slides/slide105.xml" Type="http://schemas.openxmlformats.org/officeDocument/2006/relationships/slide"/><Relationship Id="rId95" Target="slides/slide89.xml" Type="http://schemas.openxmlformats.org/officeDocument/2006/relationships/slide"/><Relationship Id="rId61" Target="slides/slide55.xml" Type="http://schemas.openxmlformats.org/officeDocument/2006/relationships/slide"/><Relationship Id="rId110" Target="slides/slide104.xml" Type="http://schemas.openxmlformats.org/officeDocument/2006/relationships/slide"/><Relationship Id="rId94" Target="slides/slide88.xml" Type="http://schemas.openxmlformats.org/officeDocument/2006/relationships/slide"/><Relationship Id="rId60" Target="slides/slide54.xml" Type="http://schemas.openxmlformats.org/officeDocument/2006/relationships/slide"/><Relationship Id="rId103" Target="slides/slide97.xml" Type="http://schemas.openxmlformats.org/officeDocument/2006/relationships/slide"/><Relationship Id="rId87" Target="slides/slide81.xml" Type="http://schemas.openxmlformats.org/officeDocument/2006/relationships/slide"/><Relationship Id="rId53" Target="slides/slide47.xml" Type="http://schemas.openxmlformats.org/officeDocument/2006/relationships/slide"/><Relationship Id="rId102" Target="slides/slide96.xml" Type="http://schemas.openxmlformats.org/officeDocument/2006/relationships/slide"/><Relationship Id="rId86" Target="slides/slide80.xml" Type="http://schemas.openxmlformats.org/officeDocument/2006/relationships/slide"/><Relationship Id="rId52" Target="slides/slide46.xml" Type="http://schemas.openxmlformats.org/officeDocument/2006/relationships/slide"/><Relationship Id="rId101" Target="slides/slide95.xml" Type="http://schemas.openxmlformats.org/officeDocument/2006/relationships/slide"/><Relationship Id="rId85" Target="slides/slide79.xml" Type="http://schemas.openxmlformats.org/officeDocument/2006/relationships/slide"/><Relationship Id="rId51" Target="slides/slide45.xml" Type="http://schemas.openxmlformats.org/officeDocument/2006/relationships/slide"/><Relationship Id="rId100" Target="slides/slide94.xml" Type="http://schemas.openxmlformats.org/officeDocument/2006/relationships/slide"/><Relationship Id="rId84" Target="slides/slide78.xml" Type="http://schemas.openxmlformats.org/officeDocument/2006/relationships/slide"/><Relationship Id="rId50" Target="slides/slide44.xml" Type="http://schemas.openxmlformats.org/officeDocument/2006/relationships/slide"/><Relationship Id="rId24" Target="slides/slide18.xml" Type="http://schemas.openxmlformats.org/officeDocument/2006/relationships/slide"/><Relationship Id="rId5" Target="slideMasters/slideMaster1.xml" Type="http://schemas.openxmlformats.org/officeDocument/2006/relationships/slideMaster"/><Relationship Id="rId39" Target="slides/slide33.xml" Type="http://schemas.openxmlformats.org/officeDocument/2006/relationships/slide"/><Relationship Id="rId23" Target="slides/slide17.xml" Type="http://schemas.openxmlformats.org/officeDocument/2006/relationships/slide"/><Relationship Id="rId4" Target="tableStyles.xml" Type="http://schemas.openxmlformats.org/officeDocument/2006/relationships/tableStyles"/><Relationship Id="rId38" Target="slides/slide32.xml" Type="http://schemas.openxmlformats.org/officeDocument/2006/relationships/slide"/><Relationship Id="rId109" Target="slides/slide103.xml" Type="http://schemas.openxmlformats.org/officeDocument/2006/relationships/slide"/><Relationship Id="rId22" Target="slides/slide16.xml" Type="http://schemas.openxmlformats.org/officeDocument/2006/relationships/slide"/><Relationship Id="rId3" Target="presProps.xml" Type="http://schemas.openxmlformats.org/officeDocument/2006/relationships/presProps"/><Relationship Id="rId37" Target="slides/slide31.xml" Type="http://schemas.openxmlformats.org/officeDocument/2006/relationships/slide"/><Relationship Id="rId108" Target="slides/slide102.xml" Type="http://schemas.openxmlformats.org/officeDocument/2006/relationships/slide"/><Relationship Id="rId21" Target="slides/slide15.xml" Type="http://schemas.openxmlformats.org/officeDocument/2006/relationships/slide"/><Relationship Id="rId2" Target="viewProps.xml" Type="http://schemas.openxmlformats.org/officeDocument/2006/relationships/viewProps"/><Relationship Id="rId36" Target="slides/slide30.xml" Type="http://schemas.openxmlformats.org/officeDocument/2006/relationships/slide"/><Relationship Id="rId69" Target="slides/slide63.xml" Type="http://schemas.openxmlformats.org/officeDocument/2006/relationships/slide"/><Relationship Id="rId107" Target="slides/slide101.xml" Type="http://schemas.openxmlformats.org/officeDocument/2006/relationships/slide"/><Relationship Id="rId20" Target="slides/slide14.xml" Type="http://schemas.openxmlformats.org/officeDocument/2006/relationships/slide"/><Relationship Id="rId1" Target="theme/theme1.xml" Type="http://schemas.openxmlformats.org/officeDocument/2006/relationships/theme"/><Relationship Id="rId35" Target="slides/slide29.xml" Type="http://schemas.openxmlformats.org/officeDocument/2006/relationships/slide"/><Relationship Id="rId68" Target="slides/slide62.xml" Type="http://schemas.openxmlformats.org/officeDocument/2006/relationships/slide"/><Relationship Id="rId34" Target="slides/slide28.xml" Type="http://schemas.openxmlformats.org/officeDocument/2006/relationships/slide"/><Relationship Id="rId67" Target="slides/slide61.xml" Type="http://schemas.openxmlformats.org/officeDocument/2006/relationships/slide"/><Relationship Id="rId33" Target="slides/slide27.xml" Type="http://schemas.openxmlformats.org/officeDocument/2006/relationships/slide"/><Relationship Id="rId66" Target="slides/slide60.xml" Type="http://schemas.openxmlformats.org/officeDocument/2006/relationships/slide"/><Relationship Id="rId32" Target="slides/slide26.xml" Type="http://schemas.openxmlformats.org/officeDocument/2006/relationships/slide"/><Relationship Id="rId65" Target="slides/slide59.xml" Type="http://schemas.openxmlformats.org/officeDocument/2006/relationships/slide"/><Relationship Id="rId31" Target="slides/slide25.xml" Type="http://schemas.openxmlformats.org/officeDocument/2006/relationships/slide"/><Relationship Id="rId64" Target="slides/slide58.xml" Type="http://schemas.openxmlformats.org/officeDocument/2006/relationships/slide"/><Relationship Id="rId30" Target="slides/slide24.xml" Type="http://schemas.openxmlformats.org/officeDocument/2006/relationships/slide"/><Relationship Id="rId8" Target="slides/slide2.xml" Type="http://schemas.openxmlformats.org/officeDocument/2006/relationships/slide"/><Relationship Id="rId27" Target="slides/slide21.xml" Type="http://schemas.openxmlformats.org/officeDocument/2006/relationships/slide"/><Relationship Id="rId7" Target="slides/slide1.xml" Type="http://schemas.openxmlformats.org/officeDocument/2006/relationships/slide"/><Relationship Id="rId26" Target="slides/slide20.xml" Type="http://schemas.openxmlformats.org/officeDocument/2006/relationships/slide"/><Relationship Id="rId59" Target="slides/slide53.xml" Type="http://schemas.openxmlformats.org/officeDocument/2006/relationships/slide"/><Relationship Id="rId6" Target="notesMasters/notesMaster1.xml" Type="http://schemas.openxmlformats.org/officeDocument/2006/relationships/notesMaster"/><Relationship Id="rId25" Target="slides/slide19.xml" Type="http://schemas.openxmlformats.org/officeDocument/2006/relationships/slide"/><Relationship Id="rId58" Target="slides/slide52.xml" Type="http://schemas.openxmlformats.org/officeDocument/2006/relationships/slide"/><Relationship Id="rId105" Target="slides/slide99.xml" Type="http://schemas.openxmlformats.org/officeDocument/2006/relationships/slide"/><Relationship Id="rId89" Target="slides/slide83.xml" Type="http://schemas.openxmlformats.org/officeDocument/2006/relationships/slide"/><Relationship Id="rId55" Target="slides/slide49.xml" Type="http://schemas.openxmlformats.org/officeDocument/2006/relationships/slide"/><Relationship Id="rId19" Target="slides/slide13.xml" Type="http://schemas.openxmlformats.org/officeDocument/2006/relationships/slide"/><Relationship Id="rId104" Target="slides/slide98.xml" Type="http://schemas.openxmlformats.org/officeDocument/2006/relationships/slide"/><Relationship Id="rId88" Target="slides/slide82.xml" Type="http://schemas.openxmlformats.org/officeDocument/2006/relationships/slide"/><Relationship Id="rId54" Target="slides/slide48.xml" Type="http://schemas.openxmlformats.org/officeDocument/2006/relationships/slide"/><Relationship Id="rId18" Target="slides/slide12.xml" Type="http://schemas.openxmlformats.org/officeDocument/2006/relationships/slide"/><Relationship Id="rId17" Target="slides/slide11.xml" Type="http://schemas.openxmlformats.org/officeDocument/2006/relationships/slide"/><Relationship Id="rId13" Target="slides/slide7.xml" Type="http://schemas.openxmlformats.org/officeDocument/2006/relationships/slide"/><Relationship Id="rId47" Target="slides/slide41.xml" Type="http://schemas.openxmlformats.org/officeDocument/2006/relationships/slide"/><Relationship Id="rId16" Target="slides/slide10.xml" Type="http://schemas.openxmlformats.org/officeDocument/2006/relationships/slide"/><Relationship Id="rId12" Target="slides/slide6.xml" Type="http://schemas.openxmlformats.org/officeDocument/2006/relationships/slide"/><Relationship Id="rId46" Target="slides/slide40.xml" Type="http://schemas.openxmlformats.org/officeDocument/2006/relationships/slide"/><Relationship Id="rId49" Target="slides/slide43.xml" Type="http://schemas.openxmlformats.org/officeDocument/2006/relationships/slide"/><Relationship Id="rId15" Target="slides/slide9.xml" Type="http://schemas.openxmlformats.org/officeDocument/2006/relationships/slide"/><Relationship Id="rId79" Target="slides/slide73.xml" Type="http://schemas.openxmlformats.org/officeDocument/2006/relationships/slide"/><Relationship Id="rId11" Target="slides/slide5.xml" Type="http://schemas.openxmlformats.org/officeDocument/2006/relationships/slide"/><Relationship Id="rId45" Target="slides/slide39.xml" Type="http://schemas.openxmlformats.org/officeDocument/2006/relationships/slide"/><Relationship Id="rId48" Target="slides/slide42.xml" Type="http://schemas.openxmlformats.org/officeDocument/2006/relationships/slide"/><Relationship Id="rId14" Target="slides/slide8.xml" Type="http://schemas.openxmlformats.org/officeDocument/2006/relationships/slide"/><Relationship Id="rId78" Target="slides/slide72.xml" Type="http://schemas.openxmlformats.org/officeDocument/2006/relationships/slide"/><Relationship Id="rId10" Target="slides/slide4.xml" Type="http://schemas.openxmlformats.org/officeDocument/2006/relationships/slide"/><Relationship Id="rId44" Target="slides/slide38.xml" Type="http://schemas.openxmlformats.org/officeDocument/2006/relationships/slide"/><Relationship Id="rId77" Target="slides/slide71.xml" Type="http://schemas.openxmlformats.org/officeDocument/2006/relationships/slide"/><Relationship Id="rId43" Target="slides/slide37.xml" Type="http://schemas.openxmlformats.org/officeDocument/2006/relationships/slide"/><Relationship Id="rId76" Target="slides/slide70.xml" Type="http://schemas.openxmlformats.org/officeDocument/2006/relationships/slide"/><Relationship Id="rId42" Target="slides/slide36.xml" Type="http://schemas.openxmlformats.org/officeDocument/2006/relationships/slide"/><Relationship Id="rId75" Target="slides/slide69.xml" Type="http://schemas.openxmlformats.org/officeDocument/2006/relationships/slide"/><Relationship Id="rId41" Target="slides/slide35.xml" Type="http://schemas.openxmlformats.org/officeDocument/2006/relationships/slide"/><Relationship Id="rId28" Target="slides/slide22.xml" Type="http://schemas.openxmlformats.org/officeDocument/2006/relationships/slide"/><Relationship Id="rId9" Target="slides/slide3.xml" Type="http://schemas.openxmlformats.org/officeDocument/2006/relationships/slide"/><Relationship Id="rId74" Target="slides/slide68.xml" Type="http://schemas.openxmlformats.org/officeDocument/2006/relationships/slide"/><Relationship Id="rId40" Target="slides/slide34.xml" Type="http://schemas.openxmlformats.org/officeDocument/2006/relationships/slide"/><Relationship Id="rId57" Target="slides/slide51.xml" Type="http://schemas.openxmlformats.org/officeDocument/2006/relationships/slide"/><Relationship Id="rId29" Target="slides/slide23.xml" Type="http://schemas.openxmlformats.org/officeDocument/2006/relationships/slide"/><Relationship Id="rId56" Target="slides/slide50.xml" Type="http://schemas.openxmlformats.org/officeDocument/2006/relationships/slide"/></Relationships>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numCol="1" rIns="91440" rtlCol="0" tIns="45720" vert="horz"/>
          <a:lstStyle>
            <a:lvl1pPr algn="l">
              <a:defRPr sz="1200"/>
            </a:lvl1pPr>
          </a:lstStyle>
          <a:p>
            <a:endParaRPr altLang="en-IN" lang="en-IN"/>
          </a:p>
        </p:txBody>
      </p:sp>
      <p:sp>
        <p:nvSpPr>
          <p:cNvPr id="3" name="Date Placeholder 2"/>
          <p:cNvSpPr>
            <a:spLocks noGrp="1"/>
          </p:cNvSpPr>
          <p:nvPr>
            <p:ph idx="1" type="dt"/>
          </p:nvPr>
        </p:nvSpPr>
        <p:spPr>
          <a:xfrm>
            <a:off x="3884613" y="0"/>
            <a:ext cx="2971800" cy="458788"/>
          </a:xfrm>
          <a:prstGeom prst="rect">
            <a:avLst/>
          </a:prstGeom>
        </p:spPr>
        <p:txBody>
          <a:bodyPr bIns="45720" lIns="91440" numCol="1" rIns="91440" rtlCol="0" tIns="45720" vert="horz"/>
          <a:lstStyle>
            <a:lvl1pPr algn="r">
              <a:defRPr sz="1200"/>
            </a:lvl1pPr>
          </a:lstStyle>
          <a:p>
            <a:fld id="{6E87D23A-106A-4BC0-916E-65BE0E4C950D}" type="datetimeFigureOut">
              <a:rPr altLang="en-IN" lang="en-IN" smtClean="0"/>
              <a:t>19-04-2026</a:t>
            </a:fld>
            <a:endParaRPr altLang="en-IN" lang="en-IN"/>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numCol="1" rIns="91440" rtlCol="0" tIns="45720" vert="horz"/>
          <a:lstStyle/>
          <a:p>
            <a:endParaRPr altLang="en-IN" lang="en-IN"/>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numCol="1" rIns="91440" rtlCol="0" tIns="45720"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ltLang="en-IN" lang="en-IN"/>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numCol="1" rIns="91440" rtlCol="0" tIns="45720" vert="horz"/>
          <a:lstStyle>
            <a:lvl1pPr algn="l">
              <a:defRPr sz="1200"/>
            </a:lvl1pPr>
          </a:lstStyle>
          <a:p>
            <a:endParaRPr altLang="en-IN" lang="en-IN"/>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numCol="1" rIns="91440" rtlCol="0" tIns="45720" vert="horz"/>
          <a:lstStyle>
            <a:lvl1pPr algn="r">
              <a:defRPr sz="1200"/>
            </a:lvl1pPr>
          </a:lstStyle>
          <a:p>
            <a:fld id="{27B92134-F502-4772-A6A6-5CF1BE6331ED}" type="slidenum">
              <a:rPr altLang="en-IN" lang="en-IN" smtClean="0"/>
              <a:t>‹#›</a:t>
            </a:fld>
            <a:endParaRPr altLang="en-IN" lang="en-IN"/>
          </a:p>
        </p:txBody>
      </p:sp>
    </p:spTree>
    <p:extLst>
      <p:ext uri="{BB962C8B-B14F-4D97-AF65-F5344CB8AC3E}">
        <p14:creationId xmlns:p14="http://schemas.microsoft.com/office/powerpoint/2010/main" val="403694992"/>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arget="../slides/slide20.xml" Type="http://schemas.openxmlformats.org/officeDocument/2006/relationships/slide"/><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endParaRPr altLang="en-IN" dirty="0" lang="en-IN"/>
          </a:p>
        </p:txBody>
      </p:sp>
      <p:sp>
        <p:nvSpPr>
          <p:cNvPr id="4" name="Slide Number Placeholder 3"/>
          <p:cNvSpPr>
            <a:spLocks noGrp="1"/>
          </p:cNvSpPr>
          <p:nvPr>
            <p:ph idx="5" sz="quarter" type="sldNum"/>
          </p:nvPr>
        </p:nvSpPr>
        <p:spPr/>
        <p:txBody>
          <a:bodyPr numCol="1"/>
          <a:lstStyle/>
          <a:p>
            <a:fld id="{27B92134-F502-4772-A6A6-5CF1BE6331ED}" type="slidenum">
              <a:rPr altLang="en-IN" lang="en-IN" smtClean="0"/>
              <a:t>20</a:t>
            </a:fld>
            <a:endParaRPr altLang="en-IN" lang="en-IN"/>
          </a:p>
        </p:txBody>
      </p:sp>
    </p:spTree>
    <p:extLst>
      <p:ext uri="{BB962C8B-B14F-4D97-AF65-F5344CB8AC3E}">
        <p14:creationId xmlns:p14="http://schemas.microsoft.com/office/powerpoint/2010/main" val="337608895"/>
      </p:ext>
    </p:extLst>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2" Target="../media/image1.jpg" Type="http://schemas.openxmlformats.org/officeDocument/2006/relationships/image"/><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numCol="1">
            <a:normAutofit/>
          </a:bodyPr>
          <a:lstStyle>
            <a:lvl1pPr algn="l">
              <a:lnSpc>
                <a:spcPct val="85000"/>
              </a:lnSpc>
              <a:defRPr baseline="0" spc="-50" sz="8000">
                <a:solidFill>
                  <a:schemeClr val="tx1">
                    <a:lumMod val="85000"/>
                    <a:lumOff val="15000"/>
                  </a:schemeClr>
                </a:solidFill>
              </a:defRPr>
            </a:lvl1pPr>
          </a:lstStyle>
          <a:p>
            <a:r>
              <a:rPr lang="en-US"/>
              <a:t>Click to edit Master title style</a:t>
            </a:r>
            <a:endParaRPr dirty="0" lang="en-US"/>
          </a:p>
        </p:txBody>
      </p:sp>
      <p:sp>
        <p:nvSpPr>
          <p:cNvPr id="3" name="Subtitle 2"/>
          <p:cNvSpPr>
            <a:spLocks noGrp="1"/>
          </p:cNvSpPr>
          <p:nvPr>
            <p:ph idx="1" type="subTitle"/>
          </p:nvPr>
        </p:nvSpPr>
        <p:spPr>
          <a:xfrm>
            <a:off x="1100051" y="4455620"/>
            <a:ext cx="10058400" cy="1143000"/>
          </a:xfrm>
        </p:spPr>
        <p:txBody>
          <a:bodyPr lIns="91440" numCol="1" rIns="91440">
            <a:normAutofit/>
          </a:bodyPr>
          <a:lstStyle>
            <a:lvl1pPr algn="l" indent="0" marL="0">
              <a:buNone/>
              <a:defRPr baseline="0" cap="all" spc="200" sz="2400">
                <a:solidFill>
                  <a:schemeClr val="tx2"/>
                </a:solidFill>
                <a:latin typeface="+mj-lt"/>
              </a:defRPr>
            </a:lvl1pPr>
            <a:lvl2pPr algn="ctr" indent="0" marL="457200">
              <a:buNone/>
              <a:defRPr sz="2400"/>
            </a:lvl2pPr>
            <a:lvl3pPr algn="ctr" indent="0" marL="914400">
              <a:buNone/>
              <a:defRPr sz="2400"/>
            </a:lvl3pPr>
            <a:lvl4pPr algn="ctr" indent="0" marL="1371600">
              <a:buNone/>
              <a:defRPr sz="2000"/>
            </a:lvl4pPr>
            <a:lvl5pPr algn="ctr" indent="0" marL="1828800">
              <a:buNone/>
              <a:defRPr sz="2000"/>
            </a:lvl5pPr>
            <a:lvl6pPr algn="ctr" indent="0" marL="2286000">
              <a:buNone/>
              <a:defRPr sz="2000"/>
            </a:lvl6pPr>
            <a:lvl7pPr algn="ctr" indent="0" marL="2743200">
              <a:buNone/>
              <a:defRPr sz="2000"/>
            </a:lvl7pPr>
            <a:lvl8pPr algn="ctr" indent="0" marL="3200400">
              <a:buNone/>
              <a:defRPr sz="2000"/>
            </a:lvl8pPr>
            <a:lvl9pPr algn="ctr" indent="0" marL="3657600">
              <a:buNone/>
              <a:defRPr sz="2000"/>
            </a:lvl9pPr>
          </a:lstStyle>
          <a:p>
            <a:r>
              <a:rPr lang="en-US"/>
              <a:t>Click to edit Master subtitle style</a:t>
            </a:r>
            <a:endParaRPr dirty="0" lang="en-US"/>
          </a:p>
        </p:txBody>
      </p:sp>
      <p:sp>
        <p:nvSpPr>
          <p:cNvPr id="4" name="Date Placeholder 3"/>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9CC40A66-32E5-4A57-90CF-CF9676AB346F}" type="slidenum">
              <a:rPr altLang="en-IN" lang="en-IN" smtClean="0"/>
              <a:t>‹#›</a:t>
            </a:fld>
            <a:endParaRPr altLang="en-IN"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92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marL="0">
              <a:defRPr/>
            </a:lvl1pPr>
          </a:lstStyle>
          <a:p>
            <a:r>
              <a:rPr lang="en-US"/>
              <a:t>Click to edit Master title style</a:t>
            </a:r>
            <a:endParaRPr dirty="0" lang="en-US"/>
          </a:p>
        </p:txBody>
      </p:sp>
      <p:sp>
        <p:nvSpPr>
          <p:cNvPr id="3" name="Content Placeholder 2"/>
          <p:cNvSpPr>
            <a:spLocks noGrp="1"/>
          </p:cNvSpPr>
          <p:nvPr>
            <p:ph idx="1"/>
          </p:nvPr>
        </p:nvSpPr>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2376841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numCol="1">
            <a:normAutofit/>
          </a:bodyPr>
          <a:lstStyle>
            <a:lvl1pPr>
              <a:lnSpc>
                <a:spcPct val="85000"/>
              </a:lnSpc>
              <a:defRPr b="0" sz="8000">
                <a:solidFill>
                  <a:schemeClr val="tx1">
                    <a:lumMod val="85000"/>
                    <a:lumOff val="15000"/>
                  </a:schemeClr>
                </a:solidFill>
              </a:defRPr>
            </a:lvl1pPr>
          </a:lstStyle>
          <a:p>
            <a:r>
              <a:rPr lang="en-US"/>
              <a:t>Click to edit Master title style</a:t>
            </a:r>
            <a:endParaRPr dirty="0" lang="en-US"/>
          </a:p>
        </p:txBody>
      </p:sp>
      <p:sp>
        <p:nvSpPr>
          <p:cNvPr id="3" name="Text Placeholder 2"/>
          <p:cNvSpPr>
            <a:spLocks noGrp="1"/>
          </p:cNvSpPr>
          <p:nvPr>
            <p:ph idx="1" type="body"/>
          </p:nvPr>
        </p:nvSpPr>
        <p:spPr>
          <a:xfrm>
            <a:off x="1097280" y="4453128"/>
            <a:ext cx="10058400" cy="1143000"/>
          </a:xfrm>
        </p:spPr>
        <p:txBody>
          <a:bodyPr anchor="t" anchorCtr="0" lIns="91440" numCol="1" rIns="91440">
            <a:normAutofit/>
          </a:bodyPr>
          <a:lstStyle>
            <a:lvl1pPr indent="0" marL="0">
              <a:buNone/>
              <a:defRPr baseline="0" cap="all" spc="200" sz="2400">
                <a:solidFill>
                  <a:schemeClr val="tx2"/>
                </a:solidFill>
                <a:latin typeface="+mj-lt"/>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9CC40A66-32E5-4A57-90CF-CF9676AB346F}" type="slidenum">
              <a:rPr altLang="en-IN" lang="en-IN" smtClean="0"/>
              <a:t>‹#›</a:t>
            </a:fld>
            <a:endParaRPr altLang="en-IN"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456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numCol="1"/>
          <a:lstStyle/>
          <a:p>
            <a:r>
              <a:rPr lang="en-US"/>
              <a:t>Click to edit Master title style</a:t>
            </a:r>
            <a:endParaRPr dirty="0" lang="en-US"/>
          </a:p>
        </p:txBody>
      </p:sp>
      <p:sp>
        <p:nvSpPr>
          <p:cNvPr id="3" name="Content Placeholder 2"/>
          <p:cNvSpPr>
            <a:spLocks noGrp="1"/>
          </p:cNvSpPr>
          <p:nvPr>
            <p:ph idx="1" sz="half"/>
          </p:nvPr>
        </p:nvSpPr>
        <p:spPr>
          <a:xfrm>
            <a:off x="1097279" y="1845734"/>
            <a:ext cx="4937760" cy="402336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Content Placeholder 3"/>
          <p:cNvSpPr>
            <a:spLocks noGrp="1"/>
          </p:cNvSpPr>
          <p:nvPr>
            <p:ph idx="2" sz="half"/>
          </p:nvPr>
        </p:nvSpPr>
        <p:spPr>
          <a:xfrm>
            <a:off x="6217920" y="1845735"/>
            <a:ext cx="4937760" cy="402336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5" name="Date Placeholder 4"/>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6" name="Footer Placeholder 5"/>
          <p:cNvSpPr>
            <a:spLocks noGrp="1"/>
          </p:cNvSpPr>
          <p:nvPr>
            <p:ph idx="11" sz="quarter" type="ftr"/>
          </p:nvPr>
        </p:nvSpPr>
        <p:spPr/>
        <p:txBody>
          <a:bodyPr numCol="1"/>
          <a:lstStyle/>
          <a:p>
            <a:endParaRPr altLang="en-IN" lang="en-IN"/>
          </a:p>
        </p:txBody>
      </p:sp>
      <p:sp>
        <p:nvSpPr>
          <p:cNvPr id="7" name="Slide Number Placeholder 6"/>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364319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numCol="1"/>
          <a:lstStyle/>
          <a:p>
            <a:r>
              <a:rPr lang="en-US"/>
              <a:t>Click to edit Master title style</a:t>
            </a:r>
            <a:endParaRPr dirty="0" lang="en-US"/>
          </a:p>
        </p:txBody>
      </p:sp>
      <p:sp>
        <p:nvSpPr>
          <p:cNvPr id="3" name="Text Placeholder 2"/>
          <p:cNvSpPr>
            <a:spLocks noGrp="1"/>
          </p:cNvSpPr>
          <p:nvPr>
            <p:ph idx="1" type="body"/>
          </p:nvPr>
        </p:nvSpPr>
        <p:spPr>
          <a:xfrm>
            <a:off x="1097280" y="1846052"/>
            <a:ext cx="4937760" cy="736282"/>
          </a:xfrm>
        </p:spPr>
        <p:txBody>
          <a:bodyPr anchor="ctr" lIns="91440" numCol="1" rIns="91440">
            <a:normAutofit/>
          </a:bodyPr>
          <a:lstStyle>
            <a:lvl1pPr indent="0" marL="0">
              <a:buNone/>
              <a:defRPr b="0" baseline="0" cap="all"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4" name="Content Placeholder 3"/>
          <p:cNvSpPr>
            <a:spLocks noGrp="1"/>
          </p:cNvSpPr>
          <p:nvPr>
            <p:ph idx="2" sz="half"/>
          </p:nvPr>
        </p:nvSpPr>
        <p:spPr>
          <a:xfrm>
            <a:off x="1097280" y="2582334"/>
            <a:ext cx="4937760" cy="3378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5" name="Text Placeholder 4"/>
          <p:cNvSpPr>
            <a:spLocks noGrp="1"/>
          </p:cNvSpPr>
          <p:nvPr>
            <p:ph idx="3" sz="quarter" type="body"/>
          </p:nvPr>
        </p:nvSpPr>
        <p:spPr>
          <a:xfrm>
            <a:off x="6217920" y="1846052"/>
            <a:ext cx="4937760" cy="736282"/>
          </a:xfrm>
        </p:spPr>
        <p:txBody>
          <a:bodyPr anchor="ctr" lIns="91440" numCol="1" rIns="91440">
            <a:normAutofit/>
          </a:bodyPr>
          <a:lstStyle>
            <a:lvl1pPr indent="0" marL="0">
              <a:buNone/>
              <a:defRPr b="0" baseline="0" cap="all"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6" name="Content Placeholder 5"/>
          <p:cNvSpPr>
            <a:spLocks noGrp="1"/>
          </p:cNvSpPr>
          <p:nvPr>
            <p:ph idx="4" sz="quarter"/>
          </p:nvPr>
        </p:nvSpPr>
        <p:spPr>
          <a:xfrm>
            <a:off x="6217920" y="2582334"/>
            <a:ext cx="4937760" cy="3378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7" name="Date Placeholder 6"/>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8" name="Footer Placeholder 7"/>
          <p:cNvSpPr>
            <a:spLocks noGrp="1"/>
          </p:cNvSpPr>
          <p:nvPr>
            <p:ph idx="11" sz="quarter" type="ftr"/>
          </p:nvPr>
        </p:nvSpPr>
        <p:spPr/>
        <p:txBody>
          <a:bodyPr numCol="1"/>
          <a:lstStyle/>
          <a:p>
            <a:endParaRPr altLang="en-IN" lang="en-IN"/>
          </a:p>
        </p:txBody>
      </p:sp>
      <p:sp>
        <p:nvSpPr>
          <p:cNvPr id="9" name="Slide Number Placeholder 8"/>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48406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dirty="0" lang="en-US"/>
          </a:p>
        </p:txBody>
      </p:sp>
      <p:sp>
        <p:nvSpPr>
          <p:cNvPr id="3" name="Date Placeholder 2"/>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4" name="Footer Placeholder 3"/>
          <p:cNvSpPr>
            <a:spLocks noGrp="1"/>
          </p:cNvSpPr>
          <p:nvPr>
            <p:ph idx="11" sz="quarter" type="ftr"/>
          </p:nvPr>
        </p:nvSpPr>
        <p:spPr/>
        <p:txBody>
          <a:bodyPr numCol="1"/>
          <a:lstStyle/>
          <a:p>
            <a:endParaRPr altLang="en-IN" lang="en-IN"/>
          </a:p>
        </p:txBody>
      </p:sp>
      <p:sp>
        <p:nvSpPr>
          <p:cNvPr id="5" name="Slide Number Placeholder 4"/>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1241326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8" name="Footer Placeholder 7"/>
          <p:cNvSpPr>
            <a:spLocks noGrp="1"/>
          </p:cNvSpPr>
          <p:nvPr>
            <p:ph idx="11" sz="quarter" type="ftr"/>
          </p:nvPr>
        </p:nvSpPr>
        <p:spPr/>
        <p:txBody>
          <a:bodyPr numCol="1"/>
          <a:lstStyle>
            <a:lvl1pPr>
              <a:defRPr>
                <a:solidFill>
                  <a:srgbClr val="FFFFFF"/>
                </a:solidFill>
              </a:defRPr>
            </a:lvl1pPr>
          </a:lstStyle>
          <a:p>
            <a:endParaRPr altLang="en-IN" lang="en-IN"/>
          </a:p>
        </p:txBody>
      </p:sp>
      <p:sp>
        <p:nvSpPr>
          <p:cNvPr id="9" name="Slide Number Placeholder 8"/>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393479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numCol="1">
            <a:normAutofit/>
          </a:bodyPr>
          <a:lstStyle>
            <a:lvl1pPr>
              <a:defRPr b="0" sz="3600">
                <a:solidFill>
                  <a:srgbClr val="FFFFFF"/>
                </a:solidFill>
              </a:defRPr>
            </a:lvl1pPr>
          </a:lstStyle>
          <a:p>
            <a:r>
              <a:rPr lang="en-US"/>
              <a:t>Click to edit Master title style</a:t>
            </a:r>
            <a:endParaRPr dirty="0" lang="en-US"/>
          </a:p>
        </p:txBody>
      </p:sp>
      <p:sp>
        <p:nvSpPr>
          <p:cNvPr id="3" name="Content Placeholder 2"/>
          <p:cNvSpPr>
            <a:spLocks noGrp="1"/>
          </p:cNvSpPr>
          <p:nvPr>
            <p:ph idx="1"/>
          </p:nvPr>
        </p:nvSpPr>
        <p:spPr>
          <a:xfrm>
            <a:off x="4800600" y="731520"/>
            <a:ext cx="6492240" cy="52578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Text Placeholder 3"/>
          <p:cNvSpPr>
            <a:spLocks noGrp="1"/>
          </p:cNvSpPr>
          <p:nvPr>
            <p:ph idx="2" sz="half" type="body"/>
          </p:nvPr>
        </p:nvSpPr>
        <p:spPr>
          <a:xfrm>
            <a:off x="457200" y="2926080"/>
            <a:ext cx="3200400" cy="3379124"/>
          </a:xfrm>
        </p:spPr>
        <p:txBody>
          <a:bodyPr lIns="91440" numCol="1" rIns="91440">
            <a:normAutofit/>
          </a:bodyPr>
          <a:lstStyle>
            <a:lvl1pPr indent="0" marL="0">
              <a:buNone/>
              <a:defRPr sz="1500">
                <a:solidFill>
                  <a:srgbClr val="FFFFFF"/>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5" name="Date Placeholder 4"/>
          <p:cNvSpPr>
            <a:spLocks noGrp="1"/>
          </p:cNvSpPr>
          <p:nvPr>
            <p:ph idx="10" sz="half" type="dt"/>
          </p:nvPr>
        </p:nvSpPr>
        <p:spPr>
          <a:xfrm>
            <a:off x="465512" y="6459785"/>
            <a:ext cx="2618510" cy="365125"/>
          </a:xfrm>
        </p:spPr>
        <p:txBody>
          <a:bodyPr numCol="1"/>
          <a:lstStyle>
            <a:lvl1pPr algn="l">
              <a:defRPr/>
            </a:lvl1pPr>
          </a:lstStyle>
          <a:p>
            <a:fld id="{F862E9C4-38F8-45C6-81D9-423BF8013D9F}" type="datetimeFigureOut">
              <a:rPr altLang="en-IN" lang="en-IN" smtClean="0"/>
              <a:t>19-04-2026</a:t>
            </a:fld>
            <a:endParaRPr altLang="en-IN" lang="en-IN"/>
          </a:p>
        </p:txBody>
      </p:sp>
      <p:sp>
        <p:nvSpPr>
          <p:cNvPr id="6" name="Footer Placeholder 5"/>
          <p:cNvSpPr>
            <a:spLocks noGrp="1"/>
          </p:cNvSpPr>
          <p:nvPr>
            <p:ph idx="11" sz="quarter" type="ftr"/>
          </p:nvPr>
        </p:nvSpPr>
        <p:spPr>
          <a:xfrm>
            <a:off x="4800600" y="6459785"/>
            <a:ext cx="4648200" cy="365125"/>
          </a:xfrm>
        </p:spPr>
        <p:txBody>
          <a:bodyPr numCol="1"/>
          <a:lstStyle>
            <a:lvl1pPr algn="l">
              <a:defRPr>
                <a:solidFill>
                  <a:schemeClr val="tx2"/>
                </a:solidFill>
              </a:defRPr>
            </a:lvl1pPr>
          </a:lstStyle>
          <a:p>
            <a:endParaRPr altLang="en-IN" lang="en-IN"/>
          </a:p>
        </p:txBody>
      </p:sp>
      <p:sp>
        <p:nvSpPr>
          <p:cNvPr id="7" name="Slide Number Placeholder 6"/>
          <p:cNvSpPr>
            <a:spLocks noGrp="1"/>
          </p:cNvSpPr>
          <p:nvPr>
            <p:ph idx="12" sz="quarter" type="sldNum"/>
          </p:nvPr>
        </p:nvSpPr>
        <p:spPr/>
        <p:txBody>
          <a:bodyPr numCol="1"/>
          <a:lstStyle>
            <a:lvl1pPr>
              <a:defRPr>
                <a:solidFill>
                  <a:schemeClr val="tx2"/>
                </a:solidFill>
              </a:defRPr>
            </a:lvl1pPr>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605376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anchor="b" bIns="0" lIns="91440" numCol="1" rIns="91440" tIns="0">
            <a:noAutofit/>
          </a:bodyPr>
          <a:lstStyle>
            <a:lvl1pPr>
              <a:defRPr b="0" sz="3600">
                <a:solidFill>
                  <a:srgbClr val="FFFFFF"/>
                </a:solidFill>
              </a:defRPr>
            </a:lvl1pPr>
          </a:lstStyle>
          <a:p>
            <a:r>
              <a:rPr lang="en-US"/>
              <a:t>Click to edit Master title style</a:t>
            </a:r>
            <a:endParaRPr dirty="0" lang="en-US"/>
          </a:p>
        </p:txBody>
      </p:sp>
      <p:sp>
        <p:nvSpPr>
          <p:cNvPr id="3" name="Picture Placeholder 2"/>
          <p:cNvSpPr>
            <a:spLocks noChangeAspect="1" noGrp="1"/>
          </p:cNvSpPr>
          <p:nvPr>
            <p:ph idx="1" type="pic"/>
          </p:nvPr>
        </p:nvSpPr>
        <p:spPr>
          <a:xfrm>
            <a:off x="15" y="0"/>
            <a:ext cx="12191985" cy="4915076"/>
          </a:xfrm>
          <a:blipFill>
            <a:blip r:embed="rId2"/>
            <a:stretch>
              <a:fillRect/>
            </a:stretch>
          </a:blipFill>
        </p:spPr>
        <p:txBody>
          <a:bodyPr anchor="t" lIns="457200" numCol="1" tIns="457200"/>
          <a:lstStyle>
            <a:lvl1pPr indent="0" marL="0">
              <a:buNone/>
              <a:defRPr sz="3200">
                <a:solidFill>
                  <a:schemeClr val="bg1"/>
                </a:solidFill>
              </a:defRPr>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4" name="Text Placeholder 3"/>
          <p:cNvSpPr>
            <a:spLocks noGrp="1"/>
          </p:cNvSpPr>
          <p:nvPr>
            <p:ph idx="2" sz="half" type="body"/>
          </p:nvPr>
        </p:nvSpPr>
        <p:spPr>
          <a:xfrm>
            <a:off x="1097280" y="5907023"/>
            <a:ext cx="10113264" cy="594360"/>
          </a:xfrm>
        </p:spPr>
        <p:txBody>
          <a:bodyPr bIns="0" lIns="91440" numCol="1" rIns="91440" tIns="0">
            <a:normAutofit/>
          </a:bodyPr>
          <a:lstStyle>
            <a:lvl1pPr indent="0" marL="0">
              <a:spcBef>
                <a:spcPts val="0"/>
              </a:spcBef>
              <a:spcAft>
                <a:spcPts val="600"/>
              </a:spcAft>
              <a:buNone/>
              <a:defRPr sz="1500">
                <a:solidFill>
                  <a:srgbClr val="FFFFFF"/>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5" name="Date Placeholder 4"/>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6" name="Footer Placeholder 5"/>
          <p:cNvSpPr>
            <a:spLocks noGrp="1"/>
          </p:cNvSpPr>
          <p:nvPr>
            <p:ph idx="11" sz="quarter" type="ftr"/>
          </p:nvPr>
        </p:nvSpPr>
        <p:spPr/>
        <p:txBody>
          <a:bodyPr numCol="1"/>
          <a:lstStyle/>
          <a:p>
            <a:endParaRPr altLang="en-IN" lang="en-IN"/>
          </a:p>
        </p:txBody>
      </p:sp>
      <p:sp>
        <p:nvSpPr>
          <p:cNvPr id="7" name="Slide Number Placeholder 6"/>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1094743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dirty="0" lang="en-US"/>
          </a:p>
        </p:txBody>
      </p:sp>
      <p:sp>
        <p:nvSpPr>
          <p:cNvPr id="3" name="Vertical Text Placeholder 2"/>
          <p:cNvSpPr>
            <a:spLocks noGrp="1"/>
          </p:cNvSpPr>
          <p:nvPr>
            <p:ph idx="1" orient="vert" type="body"/>
          </p:nvPr>
        </p:nvSpPr>
        <p:spPr/>
        <p:txBody>
          <a:bodyPr bIns="0" lIns="45720" numCol="1" rIns="45720" tIns="0"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60413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orient="vert" type="title"/>
          </p:nvPr>
        </p:nvSpPr>
        <p:spPr>
          <a:xfrm>
            <a:off x="8724900" y="414778"/>
            <a:ext cx="2628900" cy="5757421"/>
          </a:xfrm>
        </p:spPr>
        <p:txBody>
          <a:bodyPr numCol="1" vert="eaVert"/>
          <a:lstStyle/>
          <a:p>
            <a:r>
              <a:rPr lang="en-US"/>
              <a:t>Click to edit Master title style</a:t>
            </a:r>
            <a:endParaRPr dirty="0" lang="en-US"/>
          </a:p>
        </p:txBody>
      </p:sp>
      <p:sp>
        <p:nvSpPr>
          <p:cNvPr id="3" name="Vertical Text Placeholder 2"/>
          <p:cNvSpPr>
            <a:spLocks noGrp="1"/>
          </p:cNvSpPr>
          <p:nvPr>
            <p:ph idx="1" orient="vert" type="body"/>
          </p:nvPr>
        </p:nvSpPr>
        <p:spPr>
          <a:xfrm>
            <a:off x="838200" y="414778"/>
            <a:ext cx="7734300" cy="5757422"/>
          </a:xfrm>
        </p:spPr>
        <p:txBody>
          <a:bodyPr bIns="0" lIns="45720" numCol="1" rIns="45720" tIns="0"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10" sz="half" type="dt"/>
          </p:nvPr>
        </p:nvSpPr>
        <p:spPr/>
        <p:txBody>
          <a:bodyPr numCol="1"/>
          <a:lstStyle/>
          <a:p>
            <a:fld id="{F862E9C4-38F8-45C6-81D9-423BF8013D9F}" type="datetimeFigureOut">
              <a:rPr altLang="en-IN" lang="en-IN" smtClean="0"/>
              <a:t>19-04-2026</a:t>
            </a:fld>
            <a:endParaRPr altLang="en-IN" lang="en-IN"/>
          </a:p>
        </p:txBody>
      </p:sp>
      <p:sp>
        <p:nvSpPr>
          <p:cNvPr id="5" name="Footer Placeholder 4"/>
          <p:cNvSpPr>
            <a:spLocks noGrp="1"/>
          </p:cNvSpPr>
          <p:nvPr>
            <p:ph idx="11" sz="quarter" type="ftr"/>
          </p:nvPr>
        </p:nvSpPr>
        <p:spPr/>
        <p:txBody>
          <a:bodyPr numCol="1"/>
          <a:lstStyle/>
          <a:p>
            <a:endParaRPr altLang="en-IN" lang="en-IN"/>
          </a:p>
        </p:txBody>
      </p:sp>
      <p:sp>
        <p:nvSpPr>
          <p:cNvPr id="6" name="Slide Number Placeholder 5"/>
          <p:cNvSpPr>
            <a:spLocks noGrp="1"/>
          </p:cNvSpPr>
          <p:nvPr>
            <p:ph idx="12" sz="quarter" type="sldNum"/>
          </p:nvPr>
        </p:nvSpPr>
        <p:spPr/>
        <p:txBody>
          <a:bodyPr numCol="1"/>
          <a:lstStyle/>
          <a:p>
            <a:fld id="{9CC40A66-32E5-4A57-90CF-CF9676AB346F}" type="slidenum">
              <a:rPr altLang="en-IN" lang="en-IN" smtClean="0"/>
              <a:t>‹#›</a:t>
            </a:fld>
            <a:endParaRPr altLang="en-IN" lang="en-IN"/>
          </a:p>
        </p:txBody>
      </p:sp>
    </p:spTree>
    <p:extLst>
      <p:ext uri="{BB962C8B-B14F-4D97-AF65-F5344CB8AC3E}">
        <p14:creationId xmlns:p14="http://schemas.microsoft.com/office/powerpoint/2010/main" val="1814534778"/>
      </p:ext>
    </p:extLst>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anchor="b" bIns="45720" lIns="91440" numCol="1" rIns="91440" rtlCol="0" tIns="4572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1097280" y="1845734"/>
            <a:ext cx="10058400" cy="4023360"/>
          </a:xfrm>
          <a:prstGeom prst="rect">
            <a:avLst/>
          </a:prstGeom>
        </p:spPr>
        <p:txBody>
          <a:bodyPr bIns="45720" lIns="0" numCol="1" rIns="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1097280" y="6459785"/>
            <a:ext cx="2472271" cy="365125"/>
          </a:xfrm>
          <a:prstGeom prst="rect">
            <a:avLst/>
          </a:prstGeom>
        </p:spPr>
        <p:txBody>
          <a:bodyPr anchor="ctr" bIns="45720" lIns="91440" numCol="1" rIns="91440" rtlCol="0" tIns="45720" vert="horz"/>
          <a:lstStyle>
            <a:lvl1pPr algn="l">
              <a:defRPr sz="900">
                <a:solidFill>
                  <a:srgbClr val="FFFFFF"/>
                </a:solidFill>
              </a:defRPr>
            </a:lvl1pPr>
          </a:lstStyle>
          <a:p>
            <a:fld id="{F862E9C4-38F8-45C6-81D9-423BF8013D9F}" type="datetimeFigureOut">
              <a:rPr altLang="en-IN" lang="en-IN" smtClean="0"/>
              <a:t>19-04-2026</a:t>
            </a:fld>
            <a:endParaRPr altLang="en-IN" lang="en-IN"/>
          </a:p>
        </p:txBody>
      </p:sp>
      <p:sp>
        <p:nvSpPr>
          <p:cNvPr id="5" name="Footer Placeholder 4"/>
          <p:cNvSpPr>
            <a:spLocks noGrp="1"/>
          </p:cNvSpPr>
          <p:nvPr>
            <p:ph idx="3" sz="quarter" type="ftr"/>
          </p:nvPr>
        </p:nvSpPr>
        <p:spPr>
          <a:xfrm>
            <a:off x="3686185" y="6459785"/>
            <a:ext cx="4822804" cy="365125"/>
          </a:xfrm>
          <a:prstGeom prst="rect">
            <a:avLst/>
          </a:prstGeom>
        </p:spPr>
        <p:txBody>
          <a:bodyPr anchor="ctr" bIns="45720" lIns="91440" numCol="1" rIns="91440" rtlCol="0" tIns="45720" vert="horz"/>
          <a:lstStyle>
            <a:lvl1pPr algn="ctr">
              <a:defRPr baseline="0" cap="all" sz="900">
                <a:solidFill>
                  <a:srgbClr val="FFFFFF"/>
                </a:solidFill>
              </a:defRPr>
            </a:lvl1pPr>
          </a:lstStyle>
          <a:p>
            <a:endParaRPr altLang="en-IN" lang="en-IN"/>
          </a:p>
        </p:txBody>
      </p:sp>
      <p:sp>
        <p:nvSpPr>
          <p:cNvPr id="6" name="Slide Number Placeholder 5"/>
          <p:cNvSpPr>
            <a:spLocks noGrp="1"/>
          </p:cNvSpPr>
          <p:nvPr>
            <p:ph idx="4" sz="quarter" type="sldNum"/>
          </p:nvPr>
        </p:nvSpPr>
        <p:spPr>
          <a:xfrm>
            <a:off x="9900458" y="6459785"/>
            <a:ext cx="1312025" cy="365125"/>
          </a:xfrm>
          <a:prstGeom prst="rect">
            <a:avLst/>
          </a:prstGeom>
        </p:spPr>
        <p:txBody>
          <a:bodyPr anchor="ctr" bIns="45720" lIns="91440" numCol="1" rIns="91440" rtlCol="0" tIns="45720" vert="horz"/>
          <a:lstStyle>
            <a:lvl1pPr algn="r">
              <a:defRPr sz="1050">
                <a:solidFill>
                  <a:srgbClr val="FFFFFF"/>
                </a:solidFill>
              </a:defRPr>
            </a:lvl1pPr>
          </a:lstStyle>
          <a:p>
            <a:fld id="{9CC40A66-32E5-4A57-90CF-CF9676AB346F}" type="slidenum">
              <a:rPr altLang="en-IN" lang="en-IN" smtClean="0"/>
              <a:t>‹#›</a:t>
            </a:fld>
            <a:endParaRPr altLang="en-IN"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469385"/>
      </p:ext>
    </p:extLst>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p:titleStyle>
    <p:body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<Relationships xmlns="http://schemas.openxmlformats.org/package/2006/relationships"><Relationship Id="rId3" Target="../media/image3.png" Type="http://schemas.openxmlformats.org/officeDocument/2006/relationships/image"/><Relationship Id="rId2" Target="../media/image2.png" Type="http://schemas.openxmlformats.org/officeDocument/2006/relationships/image"/><Relationship Id="rId1" Target="../slideLayouts/slideLayout7.xml" Type="http://schemas.openxmlformats.org/officeDocument/2006/relationships/slideLayout"/></Relationships>
</file>

<file path=ppt/slides/_rels/slide6.xml.rels><?xml version="1.0" encoding="UTF-8" standalone="yes"?><Relationships xmlns="http://schemas.openxmlformats.org/package/2006/relationships"><Relationship Id="rId3" Target="../media/image5.png" Type="http://schemas.openxmlformats.org/officeDocument/2006/relationships/image"/><Relationship Id="rId2" Target="../media/image4.png" Type="http://schemas.openxmlformats.org/officeDocument/2006/relationships/image"/><Relationship Id="rId1" Target="../slideLayouts/slideLayout7.xml" Type="http://schemas.openxmlformats.org/officeDocument/2006/relationships/slideLayout"/></Relationships>
</file>

<file path=ppt/slides/_rels/slide7.xml.rels><?xml version="1.0" encoding="UTF-8" standalone="yes"?><Relationships xmlns="http://schemas.openxmlformats.org/package/2006/relationships"><Relationship Id="rId2" Target="../media/image6.png" Type="http://schemas.openxmlformats.org/officeDocument/2006/relationships/image"/><Relationship Id="rId1" Target="../slideLayouts/slideLayout7.xml" Type="http://schemas.openxmlformats.org/officeDocument/2006/relationships/slideLayout"/></Relationships>
</file>

<file path=ppt/slides/_rels/slide8.xml.rels><?xml version="1.0" encoding="UTF-8" standalone="yes"?><Relationships xmlns="http://schemas.openxmlformats.org/package/2006/relationships"><Relationship Id="rId2" Target="../media/image7.png" Type="http://schemas.openxmlformats.org/officeDocument/2006/relationships/image"/><Relationship Id="rId1" Target="../slideLayouts/slideLayout7.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8.png" Type="http://schemas.openxmlformats.org/officeDocument/2006/relationships/image"/><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2" Target="../media/image9.png" Type="http://schemas.openxmlformats.org/officeDocument/2006/relationships/image"/><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2" Target="../media/image10.png" Type="http://schemas.openxmlformats.org/officeDocument/2006/relationships/image"/><Relationship Id="rId1" Target="../slideLayouts/slideLayout7.xml" Type="http://schemas.openxmlformats.org/officeDocument/2006/relationships/slideLayout"/></Relationships>
</file>

<file path=ppt/slides/_rels/slide12.xml.rels><?xml version="1.0" encoding="UTF-8" standalone="yes"?><Relationships xmlns="http://schemas.openxmlformats.org/package/2006/relationships"><Relationship Id="rId2" Target="../media/image10.png" Type="http://schemas.openxmlformats.org/officeDocument/2006/relationships/image"/><Relationship Id="rId1" Target="../slideLayouts/slideLayout7.xml" Type="http://schemas.openxmlformats.org/officeDocument/2006/relationships/slideLayout"/></Relationships>
</file>

<file path=ppt/slides/_rels/slide13.xml.rels><?xml version="1.0" encoding="UTF-8" standalone="yes"?><Relationships xmlns="http://schemas.openxmlformats.org/package/2006/relationships"><Relationship Id="rId2" Target="../media/image10.png" Type="http://schemas.openxmlformats.org/officeDocument/2006/relationships/image"/><Relationship Id="rId1" Target="../slideLayouts/slideLayout7.xml" Type="http://schemas.openxmlformats.org/officeDocument/2006/relationships/slideLayout"/></Relationships>
</file>

<file path=ppt/slides/_rels/slide1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2" Target="../media/image11.png" Type="http://schemas.openxmlformats.org/officeDocument/2006/relationships/image"/><Relationship Id="rId1" Target="../slideLayouts/slideLayout7.xml" Type="http://schemas.openxmlformats.org/officeDocument/2006/relationships/slideLayout"/></Relationships>
</file>

<file path=ppt/slides/_rels/slide16.xml.rels><?xml version="1.0" encoding="UTF-8" standalone="yes"?><Relationships xmlns="http://schemas.openxmlformats.org/package/2006/relationships"><Relationship Id="rId2" Target="../media/image11.png" Type="http://schemas.openxmlformats.org/officeDocument/2006/relationships/image"/><Relationship Id="rId1" Target="../slideLayouts/slideLayout7.xml" Type="http://schemas.openxmlformats.org/officeDocument/2006/relationships/slideLayout"/></Relationships>
</file>

<file path=ppt/slides/_rels/slide17.xml.rels><?xml version="1.0" encoding="UTF-8" standalone="yes"?><Relationships xmlns="http://schemas.openxmlformats.org/package/2006/relationships"><Relationship Id="rId2" Target="../media/image11.png" Type="http://schemas.openxmlformats.org/officeDocument/2006/relationships/image"/><Relationship Id="rId1" Target="../slideLayouts/slideLayout7.xml" Type="http://schemas.openxmlformats.org/officeDocument/2006/relationships/slideLayout"/></Relationships>
</file>

<file path=ppt/slides/_rels/slide18.xml.rels><?xml version="1.0" encoding="UTF-8" standalone="yes"?><Relationships xmlns="http://schemas.openxmlformats.org/package/2006/relationships"><Relationship Id="rId2" Target="../media/image12.png" Type="http://schemas.openxmlformats.org/officeDocument/2006/relationships/image"/><Relationship Id="rId1" Target="../slideLayouts/slideLayout7.xml" Type="http://schemas.openxmlformats.org/officeDocument/2006/relationships/slideLayout"/></Relationships>
</file>

<file path=ppt/slides/_rels/slide19.xml.rels><?xml version="1.0" encoding="UTF-8" standalone="yes"?><Relationships xmlns="http://schemas.openxmlformats.org/package/2006/relationships"><Relationship Id="rId2" Target="../media/image12.png" Type="http://schemas.openxmlformats.org/officeDocument/2006/relationships/image"/><Relationship Id="rId1" Target="../slideLayouts/slideLayout7.xml" Type="http://schemas.openxmlformats.org/officeDocument/2006/relationships/slideLayout"/></Relationships>
</file>

<file path=ppt/slides/_rels/slide20.xml.rels><?xml version="1.0" encoding="UTF-8" standalone="yes"?><Relationships xmlns="http://schemas.openxmlformats.org/package/2006/relationships"><Relationship Id="rId4" Target="../media/image14.png" Type="http://schemas.openxmlformats.org/officeDocument/2006/relationships/image"/><Relationship Id="rId3" Target="../media/image13.png" Type="http://schemas.openxmlformats.org/officeDocument/2006/relationships/image"/><Relationship Id="rId2" Target="../notesSlides/notesSlide1.xml" Type="http://schemas.openxmlformats.org/officeDocument/2006/relationships/notesSlide"/><Relationship Id="rId1" Target="../slideLayouts/slideLayout7.xml" Type="http://schemas.openxmlformats.org/officeDocument/2006/relationships/slideLayout"/></Relationships>
</file>

<file path=ppt/slides/_rels/slide2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<Relationships xmlns="http://schemas.openxmlformats.org/package/2006/relationships"><Relationship Id="rId2" Target="../media/image15.png" Type="http://schemas.openxmlformats.org/officeDocument/2006/relationships/image"/><Relationship Id="rId1" Target="../slideLayouts/slideLayout7.xml" Type="http://schemas.openxmlformats.org/officeDocument/2006/relationships/slideLayout"/></Relationships>
</file>

<file path=ppt/slides/_rels/slide29.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<Relationships xmlns="http://schemas.openxmlformats.org/package/2006/relationships"><Relationship Id="rId6" Target="../media/image20.png" Type="http://schemas.openxmlformats.org/officeDocument/2006/relationships/image"/><Relationship Id="rId5" Target="../media/image19.png" Type="http://schemas.openxmlformats.org/officeDocument/2006/relationships/image"/><Relationship Id="rId4" Target="../media/image18.png" Type="http://schemas.openxmlformats.org/officeDocument/2006/relationships/image"/><Relationship Id="rId3" Target="../media/image17.png" Type="http://schemas.openxmlformats.org/officeDocument/2006/relationships/image"/><Relationship Id="rId2" Target="../media/image16.png" Type="http://schemas.openxmlformats.org/officeDocument/2006/relationships/image"/><Relationship Id="rId1" Target="../slideLayouts/slideLayout7.xml" Type="http://schemas.openxmlformats.org/officeDocument/2006/relationships/slideLayout"/></Relationships>
</file>

<file path=ppt/slides/_rels/slide3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<Relationships xmlns="http://schemas.openxmlformats.org/package/2006/relationships"><Relationship Id="rId2" Target="../media/image21.png" Type="http://schemas.openxmlformats.org/officeDocument/2006/relationships/image"/><Relationship Id="rId1" Target="../slideLayouts/slideLayout2.xml" Type="http://schemas.openxmlformats.org/officeDocument/2006/relationships/slideLayout"/></Relationships>
</file>

<file path=ppt/slides/_rels/slide4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8.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2.xml.rels><?xml version="1.0" encoding="UTF-8" standalone="yes"?><Relationships xmlns="http://schemas.openxmlformats.org/package/2006/relationships"><Relationship Id="rId2" Target="../media/image22.png" Type="http://schemas.openxmlformats.org/officeDocument/2006/relationships/image"/><Relationship Id="rId1" Target="../slideLayouts/slideLayout2.xml" Type="http://schemas.openxmlformats.org/officeDocument/2006/relationships/slideLayout"/></Relationships>
</file>

<file path=ppt/slides/_rels/slide5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5.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6.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5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6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6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62.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64.xml.rels><?xml version="1.0" encoding="UTF-8" standalone="yes"?><Relationships xmlns="http://schemas.openxmlformats.org/package/2006/relationships"><Relationship Id="rId2" Target="../media/image23.png" Type="http://schemas.openxmlformats.org/officeDocument/2006/relationships/image"/><Relationship Id="rId1" Target="../slideLayouts/slideLayout7.xml" Type="http://schemas.openxmlformats.org/officeDocument/2006/relationships/slideLayout"/></Relationships>
</file>

<file path=ppt/slides/_rels/slide6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66.xml.rels><?xml version="1.0" encoding="UTF-8" standalone="yes"?><Relationships xmlns="http://schemas.openxmlformats.org/package/2006/relationships"><Relationship Id="rId1" Target="../slideLayouts/slideLayout3.xml" Type="http://schemas.openxmlformats.org/officeDocument/2006/relationships/slideLayout"/></Relationships>
</file>

<file path=ppt/slides/_rels/slide6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6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6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2.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5.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6.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8.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7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2.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5.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6.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8.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8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2.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5.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6.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8.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99.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0.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1.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2.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3.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4.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0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0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108.xml.rels><?xml version="1.0" encoding="UTF-8" standalone="yes"?><Relationships xmlns="http://schemas.openxmlformats.org/package/2006/relationships"><Relationship Id="rId2" Target="../media/image24.png" Type="http://schemas.openxmlformats.org/officeDocument/2006/relationships/image"/><Relationship Id="rId1" Target="../slideLayouts/slideLayout7.xml" Type="http://schemas.openxmlformats.org/officeDocument/2006/relationships/slideLayout"/></Relationships>
</file>

<file path=ppt/slides/_rels/slide109.xml.rels><?xml version="1.0" encoding="UTF-8" standalone="yes"?><Relationships xmlns="http://schemas.openxmlformats.org/package/2006/relationships"><Relationship Id="rId2" Target="../media/image25.png" Type="http://schemas.openxmlformats.org/officeDocument/2006/relationships/image"/><Relationship Id="rId1" Target="../slideLayouts/slideLayout2.xml" Type="http://schemas.openxmlformats.org/officeDocument/2006/relationships/slideLayout"/></Relationships>
</file>

<file path=ppt/slides/_rels/slide110.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8B7F9-113A-B3D5-426C-7BEF4C3A5C7B}"/>
              </a:ext>
            </a:extLst>
          </p:cNvPr>
          <p:cNvSpPr>
            <a:spLocks noGrp="1"/>
          </p:cNvSpPr>
          <p:nvPr>
            <p:ph type="ctrTitle"/>
          </p:nvPr>
        </p:nvSpPr>
        <p:spPr/>
        <p:txBody>
          <a:bodyPr numCol="1"/>
          <a:lstStyle/>
          <a:p>
            <a:r>
              <a:rPr dirty="0" lang="en-US"/>
              <a:t>Context Free Grammar</a:t>
            </a:r>
            <a:endParaRPr altLang="en-IN" dirty="0" lang="en-IN"/>
          </a:p>
        </p:txBody>
      </p:sp>
      <p:sp>
        <p:nvSpPr>
          <p:cNvPr id="3" name="Subtitle 2">
            <a:extLst>
              <a:ext uri="{FF2B5EF4-FFF2-40B4-BE49-F238E27FC236}">
                <a16:creationId xmlns:a16="http://schemas.microsoft.com/office/drawing/2014/main" id="{D9C80B88-64C6-D5FA-4090-5304506FF5A8}"/>
              </a:ext>
            </a:extLst>
          </p:cNvPr>
          <p:cNvSpPr>
            <a:spLocks noGrp="1"/>
          </p:cNvSpPr>
          <p:nvPr>
            <p:ph idx="1" type="subTitle"/>
          </p:nvPr>
        </p:nvSpPr>
        <p:spPr/>
        <p:txBody>
          <a:bodyPr numCol="1"/>
          <a:lstStyle/>
          <a:p>
            <a:endParaRPr altLang="en-IN" lang="en-IN"/>
          </a:p>
        </p:txBody>
      </p:sp>
    </p:spTree>
    <p:extLst>
      <p:ext uri="{BB962C8B-B14F-4D97-AF65-F5344CB8AC3E}">
        <p14:creationId xmlns:p14="http://schemas.microsoft.com/office/powerpoint/2010/main" val="2350601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B6869-54D5-A6B6-D9D7-C217E9841E12}"/>
              </a:ext>
            </a:extLst>
          </p:cNvPr>
          <p:cNvSpPr>
            <a:spLocks noGrp="1"/>
          </p:cNvSpPr>
          <p:nvPr>
            <p:ph type="title"/>
          </p:nvPr>
        </p:nvSpPr>
        <p:spPr/>
        <p:txBody>
          <a:bodyPr numCol="1">
            <a:normAutofit/>
          </a:bodyPr>
          <a:lstStyle/>
          <a:p>
            <a:r>
              <a:rPr dirty="0" lang="en-US" sz="3600"/>
              <a:t>Formal Definition of Context Free Grammars (CFG)</a:t>
            </a:r>
            <a:endParaRPr altLang="en-IN" dirty="0" lang="en-IN" sz="3600"/>
          </a:p>
        </p:txBody>
      </p:sp>
      <p:sp>
        <p:nvSpPr>
          <p:cNvPr id="3" name="Content Placeholder 2">
            <a:extLst>
              <a:ext uri="{FF2B5EF4-FFF2-40B4-BE49-F238E27FC236}">
                <a16:creationId xmlns:a16="http://schemas.microsoft.com/office/drawing/2014/main" id="{045677B9-0B32-9F1A-B9D8-24F739282B28}"/>
              </a:ext>
            </a:extLst>
          </p:cNvPr>
          <p:cNvSpPr>
            <a:spLocks noGrp="1"/>
          </p:cNvSpPr>
          <p:nvPr>
            <p:ph idx="1"/>
          </p:nvPr>
        </p:nvSpPr>
        <p:spPr/>
        <p:txBody>
          <a:bodyPr numCol="1">
            <a:normAutofit/>
          </a:bodyPr>
          <a:lstStyle/>
          <a:p>
            <a:pPr>
              <a:lnSpc>
                <a:spcPct val="100000"/>
              </a:lnSpc>
              <a:spcBef>
                <a:spcPts val="200"/>
              </a:spcBef>
            </a:pPr>
            <a:r>
              <a:rPr dirty="0" lang="en-US" sz="2200"/>
              <a:t>A CFG is a mathematical object, G, with four components, G = (N, T, P, S), where:</a:t>
            </a:r>
          </a:p>
          <a:p>
            <a:pPr lvl="1">
              <a:lnSpc>
                <a:spcPct val="100000"/>
              </a:lnSpc>
            </a:pPr>
            <a:r>
              <a:rPr dirty="0" lang="en-US" sz="2200"/>
              <a:t>N is a nonempty, finite set of non-terminal symbols </a:t>
            </a:r>
          </a:p>
          <a:p>
            <a:pPr lvl="1">
              <a:lnSpc>
                <a:spcPct val="100000"/>
              </a:lnSpc>
            </a:pPr>
            <a:r>
              <a:rPr dirty="0" lang="en-US" sz="2200"/>
              <a:t>T is a finite set of terminal symbols </a:t>
            </a:r>
          </a:p>
          <a:p>
            <a:pPr lvl="1">
              <a:lnSpc>
                <a:spcPct val="100000"/>
              </a:lnSpc>
            </a:pPr>
            <a:r>
              <a:rPr dirty="0" lang="en-US" sz="2200"/>
              <a:t>P is a set of grammar rules, each of one having one of the forms A → α Where A </a:t>
            </a:r>
            <a:r>
              <a:rPr altLang="en-IN" dirty="0" lang="en-IN" sz="2200"/>
              <a:t>∈</a:t>
            </a:r>
            <a:r>
              <a:rPr dirty="0" lang="en-US" sz="2200"/>
              <a:t> N and α </a:t>
            </a:r>
            <a:r>
              <a:rPr altLang="en-IN" dirty="0" lang="en-IN" sz="2200"/>
              <a:t>∈</a:t>
            </a:r>
            <a:r>
              <a:rPr dirty="0" lang="en-US" sz="2200"/>
              <a:t> (N </a:t>
            </a:r>
            <a:r>
              <a:rPr altLang="en-IN" dirty="0" lang="en-IN" sz="2200"/>
              <a:t>∪</a:t>
            </a:r>
            <a:r>
              <a:rPr dirty="0" lang="en-US" sz="2200"/>
              <a:t> T)* </a:t>
            </a:r>
          </a:p>
          <a:p>
            <a:pPr lvl="1">
              <a:lnSpc>
                <a:spcPct val="100000"/>
              </a:lnSpc>
            </a:pPr>
            <a:r>
              <a:rPr dirty="0" lang="en-US" sz="2200"/>
              <a:t>S is the start symbol S ∈ N </a:t>
            </a:r>
          </a:p>
          <a:p>
            <a:pPr lvl="1">
              <a:lnSpc>
                <a:spcPct val="100000"/>
              </a:lnSpc>
            </a:pPr>
            <a:endParaRPr dirty="0" lang="en-US" sz="2000"/>
          </a:p>
          <a:p>
            <a:pPr>
              <a:lnSpc>
                <a:spcPct val="100000"/>
              </a:lnSpc>
            </a:pPr>
            <a:r>
              <a:rPr dirty="0" lang="en-US" sz="2200"/>
              <a:t>Example</a:t>
            </a:r>
          </a:p>
          <a:p>
            <a:pPr>
              <a:lnSpc>
                <a:spcPct val="100000"/>
              </a:lnSpc>
            </a:pPr>
            <a:r>
              <a:rPr dirty="0" lang="en-US" sz="2200"/>
              <a:t>Let G = ({S},{0,1,</a:t>
            </a:r>
            <a:r>
              <a:rPr altLang="el-GR" b="0" dirty="0" i="0" lang="el-GR" sz="2000">
                <a:solidFill>
                  <a:srgbClr val="1F1F1F"/>
                </a:solidFill>
                <a:effectLst/>
                <a:latin typeface="Google Sans"/>
              </a:rPr>
              <a:t>ε</a:t>
            </a:r>
            <a:r>
              <a:rPr dirty="0" lang="en-US" sz="2200"/>
              <a:t>},P,S) be a CFG, where productions are S→ 0S0/1S1/</a:t>
            </a:r>
            <a:r>
              <a:rPr altLang="el-GR" b="0" dirty="0" i="0" lang="el-GR" sz="2000">
                <a:solidFill>
                  <a:srgbClr val="1F1F1F"/>
                </a:solidFill>
                <a:effectLst/>
                <a:latin typeface="Google Sans"/>
              </a:rPr>
              <a:t>ε</a:t>
            </a:r>
            <a:endParaRPr altLang="en-IN" dirty="0" lang="en-IN" sz="2200"/>
          </a:p>
        </p:txBody>
      </p:sp>
    </p:spTree>
    <p:extLst>
      <p:ext uri="{BB962C8B-B14F-4D97-AF65-F5344CB8AC3E}">
        <p14:creationId xmlns:p14="http://schemas.microsoft.com/office/powerpoint/2010/main" val="115547565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6" st="6"/>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7D5E6-FC20-DB07-C20A-4B83E9F03004}"/>
              </a:ext>
            </a:extLst>
          </p:cNvPr>
          <p:cNvSpPr>
            <a:spLocks noGrp="1"/>
          </p:cNvSpPr>
          <p:nvPr>
            <p:ph type="title"/>
          </p:nvPr>
        </p:nvSpPr>
        <p:spPr/>
        <p:txBody>
          <a:bodyPr numCol="1"/>
          <a:lstStyle/>
          <a:p>
            <a:r>
              <a:rPr altLang="en-IN" dirty="0" lang="en-IN"/>
              <a:t>Context Free Language</a:t>
            </a:r>
          </a:p>
        </p:txBody>
      </p:sp>
      <p:sp>
        <p:nvSpPr>
          <p:cNvPr id="3" name="Content Placeholder 2">
            <a:extLst>
              <a:ext uri="{FF2B5EF4-FFF2-40B4-BE49-F238E27FC236}">
                <a16:creationId xmlns:a16="http://schemas.microsoft.com/office/drawing/2014/main" id="{EDFF4BCC-E63F-7566-6FF1-D19A8A5DE42B}"/>
              </a:ext>
            </a:extLst>
          </p:cNvPr>
          <p:cNvSpPr>
            <a:spLocks noGrp="1"/>
          </p:cNvSpPr>
          <p:nvPr>
            <p:ph idx="1"/>
          </p:nvPr>
        </p:nvSpPr>
        <p:spPr/>
        <p:txBody>
          <a:bodyPr numCol="1">
            <a:normAutofit fontScale="92500" lnSpcReduction="20000"/>
          </a:bodyPr>
          <a:lstStyle/>
          <a:p>
            <a:r>
              <a:rPr dirty="0" lang="en-US" sz="2400"/>
              <a:t>Let </a:t>
            </a:r>
            <a:r>
              <a:rPr altLang="pt-BR" dirty="0" lang="pt-BR" sz="2400"/>
              <a:t>G = (N, T, P, S) be a context free grammar. </a:t>
            </a:r>
          </a:p>
          <a:p>
            <a:r>
              <a:rPr dirty="0" lang="en-US" sz="2400"/>
              <a:t>The language generated by G is defined as L(G).</a:t>
            </a:r>
          </a:p>
          <a:p>
            <a:r>
              <a:rPr dirty="0" lang="en-US" sz="2400"/>
              <a:t>The language L is called context free language CFL if L(G) is for CFG.</a:t>
            </a:r>
          </a:p>
          <a:p>
            <a:pPr indent="0" marL="0">
              <a:buNone/>
            </a:pPr>
            <a:endParaRPr dirty="0" lang="en-US" sz="2400"/>
          </a:p>
          <a:p>
            <a:pPr indent="0" marL="0">
              <a:buNone/>
            </a:pPr>
            <a:r>
              <a:rPr dirty="0" lang="en-US" sz="2400"/>
              <a:t>Example: Construct a CFG representing the set of palindromes over (0+1)*</a:t>
            </a:r>
          </a:p>
          <a:p>
            <a:pPr indent="0" marL="0">
              <a:buNone/>
            </a:pPr>
            <a:r>
              <a:rPr dirty="0" lang="en-US" sz="2400"/>
              <a:t>L(G) = </a:t>
            </a:r>
            <a:r>
              <a:rPr altLang="en-IN" dirty="0" lang="en-IN" sz="2400"/>
              <a:t>{</a:t>
            </a:r>
            <a:r>
              <a:rPr altLang="el-GR" dirty="0" lang="el-GR" sz="2400"/>
              <a:t>ε</a:t>
            </a:r>
            <a:r>
              <a:rPr altLang="en-IN" dirty="0" lang="en-IN" sz="2400"/>
              <a:t>,0,1,00,11,000,111,010,101,0000,1111,00100,11011, 01110,10101,....} </a:t>
            </a:r>
          </a:p>
          <a:p>
            <a:pPr indent="0" marL="0">
              <a:buNone/>
            </a:pPr>
            <a:endParaRPr dirty="0" lang="en-US" sz="2400"/>
          </a:p>
          <a:p>
            <a:pPr indent="0" marL="0">
              <a:buNone/>
            </a:pPr>
            <a:r>
              <a:rPr dirty="0" lang="en-US" sz="2400"/>
              <a:t>The CFG for a palindrome is given by</a:t>
            </a:r>
            <a:br>
              <a:rPr dirty="0" lang="en-US" sz="2400"/>
            </a:br>
            <a:r>
              <a:rPr dirty="0" lang="en-US" sz="2400"/>
              <a:t>S → 0 / 1 / </a:t>
            </a:r>
            <a:r>
              <a:rPr altLang="el-GR" dirty="0" lang="el-GR" sz="2400"/>
              <a:t>ε</a:t>
            </a:r>
            <a:br>
              <a:rPr dirty="0" lang="en-US" sz="2400"/>
            </a:br>
            <a:r>
              <a:rPr dirty="0" lang="en-US" sz="2400"/>
              <a:t>S → 0S0 / 1S1 </a:t>
            </a:r>
            <a:br>
              <a:rPr dirty="0" lang="en-US" sz="2000"/>
            </a:br>
            <a:endParaRPr altLang="en-IN" dirty="0" lang="en-IN" sz="2400"/>
          </a:p>
        </p:txBody>
      </p:sp>
    </p:spTree>
    <p:extLst>
      <p:ext uri="{BB962C8B-B14F-4D97-AF65-F5344CB8AC3E}">
        <p14:creationId xmlns:p14="http://schemas.microsoft.com/office/powerpoint/2010/main" val="366135129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8D9378D-3519-98BF-B7EB-3192FA9D5C16}"/>
              </a:ext>
            </a:extLst>
          </p:cNvPr>
          <p:cNvSpPr txBox="1">
            <a:spLocks/>
          </p:cNvSpPr>
          <p:nvPr/>
        </p:nvSpPr>
        <p:spPr>
          <a:xfrm>
            <a:off x="486728" y="320040"/>
            <a:ext cx="5455920" cy="5897880"/>
          </a:xfrm>
          <a:prstGeom prst="rect">
            <a:avLst/>
          </a:prstGeom>
        </p:spPr>
        <p:txBody>
          <a:bodyPr numCol="1">
            <a:normAutofit fontScale="92500"/>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indent="0" marL="0">
              <a:buNone/>
            </a:pPr>
            <a:r>
              <a:rPr dirty="0" lang="en-US">
                <a:solidFill>
                  <a:srgbClr val="000000"/>
                </a:solidFill>
                <a:latin charset="0" panose="02020603050405020304" pitchFamily="18" typeface="Times New Roman"/>
              </a:rPr>
              <a:t>Construct a CFG for the language L = { a</a:t>
            </a:r>
            <a:r>
              <a:rPr baseline="30000" dirty="0" lang="en-US">
                <a:solidFill>
                  <a:srgbClr val="000000"/>
                </a:solidFill>
                <a:latin charset="0" panose="02020603050405020304" pitchFamily="18" typeface="Times New Roman"/>
              </a:rPr>
              <a:t>n</a:t>
            </a:r>
            <a:r>
              <a:rPr dirty="0" lang="en-US">
                <a:solidFill>
                  <a:srgbClr val="000000"/>
                </a:solidFill>
                <a:latin charset="0" panose="02020603050405020304" pitchFamily="18" typeface="Times New Roman"/>
              </a:rPr>
              <a:t>; n is odd}.</a:t>
            </a:r>
          </a:p>
          <a:p>
            <a:pPr indent="0" marL="0">
              <a:buNone/>
            </a:pPr>
            <a:r>
              <a:rPr dirty="0" lang="en-US">
                <a:solidFill>
                  <a:srgbClr val="000000"/>
                </a:solidFill>
                <a:latin charset="0" panose="02020603050405020304" pitchFamily="18" typeface="Times New Roman"/>
              </a:rPr>
              <a:t>The possible strings are {</a:t>
            </a:r>
            <a:r>
              <a:rPr dirty="0" lang="en-US">
                <a:solidFill>
                  <a:srgbClr val="000000"/>
                </a:solidFill>
                <a:latin charset="2" panose="05050102010706020507" pitchFamily="18" typeface="Symbol"/>
              </a:rPr>
              <a:t></a:t>
            </a:r>
            <a:r>
              <a:rPr dirty="0" lang="en-US">
                <a:solidFill>
                  <a:srgbClr val="000000"/>
                </a:solidFill>
                <a:latin charset="0" panose="02020603050405020304" pitchFamily="18" typeface="Times New Roman"/>
              </a:rPr>
              <a:t>, a, </a:t>
            </a:r>
            <a:r>
              <a:rPr dirty="0" err="1" lang="en-US">
                <a:solidFill>
                  <a:srgbClr val="000000"/>
                </a:solidFill>
                <a:latin charset="0" panose="02020603050405020304" pitchFamily="18" typeface="Times New Roman"/>
              </a:rPr>
              <a:t>aaa</a:t>
            </a:r>
            <a:r>
              <a:rPr dirty="0" lang="en-US">
                <a:solidFill>
                  <a:srgbClr val="000000"/>
                </a:solidFill>
                <a:latin charset="0" panose="02020603050405020304" pitchFamily="18" typeface="Times New Roman"/>
              </a:rPr>
              <a:t>, </a:t>
            </a:r>
            <a:r>
              <a:rPr dirty="0" err="1" lang="en-US">
                <a:solidFill>
                  <a:srgbClr val="000000"/>
                </a:solidFill>
                <a:latin charset="0" panose="02020603050405020304" pitchFamily="18" typeface="Times New Roman"/>
              </a:rPr>
              <a:t>aaaaa</a:t>
            </a:r>
            <a:r>
              <a:rPr dirty="0" lang="en-US">
                <a:solidFill>
                  <a:srgbClr val="000000"/>
                </a:solidFill>
                <a:latin charset="0" panose="02020603050405020304" pitchFamily="18" typeface="Times New Roman"/>
              </a:rPr>
              <a:t>, </a:t>
            </a:r>
            <a:r>
              <a:rPr dirty="0" err="1" lang="en-US">
                <a:solidFill>
                  <a:srgbClr val="000000"/>
                </a:solidFill>
                <a:latin charset="0" panose="02020603050405020304" pitchFamily="18" typeface="Times New Roman"/>
              </a:rPr>
              <a:t>aaaaaaa</a:t>
            </a:r>
            <a:r>
              <a:rPr dirty="0" lang="en-US">
                <a:solidFill>
                  <a:srgbClr val="000000"/>
                </a:solidFill>
                <a:latin charset="0" panose="02020603050405020304" pitchFamily="18" typeface="Times New Roman"/>
              </a:rPr>
              <a:t>, ....}</a:t>
            </a:r>
          </a:p>
          <a:p>
            <a:pPr indent="0" marL="0">
              <a:buNone/>
            </a:pPr>
            <a:r>
              <a:rPr dirty="0" lang="en-US">
                <a:solidFill>
                  <a:srgbClr val="000000"/>
                </a:solidFill>
                <a:latin charset="0" panose="02020603050405020304" pitchFamily="18" typeface="Times New Roman"/>
              </a:rPr>
              <a:t>The productions are G: S → a / </a:t>
            </a:r>
            <a:r>
              <a:rPr dirty="0" err="1" lang="en-US">
                <a:solidFill>
                  <a:srgbClr val="000000"/>
                </a:solidFill>
                <a:latin charset="0" panose="02020603050405020304" pitchFamily="18" typeface="Times New Roman"/>
              </a:rPr>
              <a:t>aaS</a:t>
            </a:r>
            <a:r>
              <a:rPr dirty="0" lang="en-US" sz="2400"/>
              <a:t> </a:t>
            </a:r>
            <a:br>
              <a:rPr dirty="0" lang="en-US" sz="2400"/>
            </a:br>
            <a:endParaRPr dirty="0" lang="en-US" sz="2400"/>
          </a:p>
          <a:p>
            <a:pPr indent="0" marL="0">
              <a:buNone/>
            </a:pPr>
            <a:r>
              <a:rPr altLang="en-IN" dirty="0" lang="en-IN">
                <a:solidFill>
                  <a:srgbClr val="000000"/>
                </a:solidFill>
                <a:latin charset="0" panose="02020603050405020304" pitchFamily="18" typeface="Times New Roman"/>
              </a:rPr>
              <a:t>Construct a CFG for the language L = { </a:t>
            </a:r>
            <a:r>
              <a:rPr altLang="en-IN" dirty="0" err="1" lang="en-IN">
                <a:solidFill>
                  <a:srgbClr val="000000"/>
                </a:solidFill>
                <a:latin charset="0" panose="02020603050405020304" pitchFamily="18" typeface="Times New Roman"/>
              </a:rPr>
              <a:t>a</a:t>
            </a:r>
            <a:r>
              <a:rPr altLang="en-IN" baseline="30000" dirty="0" err="1" lang="en-IN">
                <a:solidFill>
                  <a:srgbClr val="000000"/>
                </a:solidFill>
                <a:latin charset="0" panose="02020603050405020304" pitchFamily="18" typeface="Times New Roman"/>
              </a:rPr>
              <a:t>n</a:t>
            </a:r>
            <a:r>
              <a:rPr altLang="en-IN" dirty="0" err="1" lang="en-IN">
                <a:solidFill>
                  <a:srgbClr val="000000"/>
                </a:solidFill>
                <a:latin charset="0" panose="02020603050405020304" pitchFamily="18" typeface="Times New Roman"/>
              </a:rPr>
              <a:t>b</a:t>
            </a:r>
            <a:r>
              <a:rPr altLang="en-IN" baseline="30000" dirty="0" err="1" lang="en-IN">
                <a:solidFill>
                  <a:srgbClr val="000000"/>
                </a:solidFill>
                <a:latin charset="0" panose="02020603050405020304" pitchFamily="18" typeface="Times New Roman"/>
              </a:rPr>
              <a:t>n</a:t>
            </a:r>
            <a:r>
              <a:rPr altLang="en-IN" dirty="0" lang="en-IN">
                <a:solidFill>
                  <a:srgbClr val="000000"/>
                </a:solidFill>
                <a:latin charset="0" panose="02020603050405020304" pitchFamily="18" typeface="Times New Roman"/>
              </a:rPr>
              <a:t>; n ≥ 0}.</a:t>
            </a:r>
          </a:p>
          <a:p>
            <a:pPr indent="0" marL="0">
              <a:buNone/>
            </a:pPr>
            <a:r>
              <a:rPr altLang="en-IN" dirty="0" lang="en-IN">
                <a:solidFill>
                  <a:srgbClr val="000000"/>
                </a:solidFill>
                <a:latin charset="0" panose="02020603050405020304" pitchFamily="18" typeface="Times New Roman"/>
              </a:rPr>
              <a:t>The possible strings are {</a:t>
            </a:r>
            <a:r>
              <a:rPr altLang="en-IN" dirty="0" lang="en-IN">
                <a:solidFill>
                  <a:srgbClr val="000000"/>
                </a:solidFill>
                <a:latin charset="2" panose="05050102010706020507" pitchFamily="18" typeface="Symbol"/>
              </a:rPr>
              <a:t></a:t>
            </a:r>
            <a:r>
              <a:rPr altLang="en-IN" dirty="0" lang="en-IN">
                <a:solidFill>
                  <a:srgbClr val="000000"/>
                </a:solidFill>
                <a:latin charset="0" panose="02020603050405020304" pitchFamily="18" typeface="Times New Roman"/>
              </a:rPr>
              <a:t>, ab, </a:t>
            </a:r>
            <a:r>
              <a:rPr altLang="en-IN" dirty="0" err="1" lang="en-IN">
                <a:solidFill>
                  <a:srgbClr val="000000"/>
                </a:solidFill>
                <a:latin charset="0" panose="02020603050405020304" pitchFamily="18" typeface="Times New Roman"/>
              </a:rPr>
              <a:t>aabb</a:t>
            </a:r>
            <a:r>
              <a:rPr altLang="en-IN" dirty="0" lang="en-IN">
                <a:solidFill>
                  <a:srgbClr val="000000"/>
                </a:solidFill>
                <a:latin charset="0" panose="02020603050405020304" pitchFamily="18" typeface="Times New Roman"/>
              </a:rPr>
              <a:t>, </a:t>
            </a:r>
            <a:r>
              <a:rPr altLang="en-IN" dirty="0" err="1" lang="en-IN">
                <a:solidFill>
                  <a:srgbClr val="000000"/>
                </a:solidFill>
                <a:latin charset="0" panose="02020603050405020304" pitchFamily="18" typeface="Times New Roman"/>
              </a:rPr>
              <a:t>aaabbb</a:t>
            </a:r>
            <a:r>
              <a:rPr altLang="en-IN" dirty="0" lang="en-IN">
                <a:solidFill>
                  <a:srgbClr val="000000"/>
                </a:solidFill>
                <a:latin charset="0" panose="02020603050405020304" pitchFamily="18" typeface="Times New Roman"/>
              </a:rPr>
              <a:t>, </a:t>
            </a:r>
            <a:r>
              <a:rPr altLang="en-IN" dirty="0" err="1" lang="en-IN">
                <a:solidFill>
                  <a:srgbClr val="000000"/>
                </a:solidFill>
                <a:latin charset="0" panose="02020603050405020304" pitchFamily="18" typeface="Times New Roman"/>
              </a:rPr>
              <a:t>aaaabbbb</a:t>
            </a:r>
            <a:r>
              <a:rPr altLang="en-IN" dirty="0" lang="en-IN">
                <a:solidFill>
                  <a:srgbClr val="000000"/>
                </a:solidFill>
                <a:latin charset="0" panose="02020603050405020304" pitchFamily="18" typeface="Times New Roman"/>
              </a:rPr>
              <a:t>, ....}</a:t>
            </a:r>
          </a:p>
          <a:p>
            <a:pPr indent="0" marL="0">
              <a:buNone/>
            </a:pPr>
            <a:r>
              <a:rPr altLang="en-IN" dirty="0" lang="en-IN">
                <a:solidFill>
                  <a:srgbClr val="000000"/>
                </a:solidFill>
                <a:latin charset="0" panose="02020603050405020304" pitchFamily="18" typeface="Times New Roman"/>
              </a:rPr>
              <a:t>The productions are G: S → ab / </a:t>
            </a:r>
            <a:r>
              <a:rPr altLang="en-IN" dirty="0" err="1" lang="en-IN">
                <a:solidFill>
                  <a:srgbClr val="000000"/>
                </a:solidFill>
                <a:latin charset="0" panose="02020603050405020304" pitchFamily="18" typeface="Times New Roman"/>
              </a:rPr>
              <a:t>aSb</a:t>
            </a:r>
            <a:r>
              <a:rPr altLang="en-IN" dirty="0" lang="en-IN">
                <a:solidFill>
                  <a:srgbClr val="000000"/>
                </a:solidFill>
                <a:latin charset="0" panose="02020603050405020304" pitchFamily="18" typeface="Times New Roman"/>
              </a:rPr>
              <a:t> / </a:t>
            </a:r>
            <a:r>
              <a:rPr altLang="en-IN" dirty="0" lang="en-IN">
                <a:solidFill>
                  <a:srgbClr val="000000"/>
                </a:solidFill>
                <a:latin charset="2" panose="05050102010706020507" pitchFamily="18" typeface="Symbol"/>
              </a:rPr>
              <a:t></a:t>
            </a:r>
            <a:r>
              <a:rPr altLang="en-IN" dirty="0" lang="en-IN" sz="2400"/>
              <a:t> </a:t>
            </a:r>
          </a:p>
          <a:p>
            <a:pPr indent="0" marL="0">
              <a:buNone/>
            </a:pPr>
            <a:endParaRPr altLang="en-IN" dirty="0" lang="en-IN" sz="2400"/>
          </a:p>
          <a:p>
            <a:pPr indent="0" marL="0">
              <a:buNone/>
            </a:pPr>
            <a:r>
              <a:rPr dirty="0" lang="en-US">
                <a:solidFill>
                  <a:srgbClr val="000000"/>
                </a:solidFill>
                <a:latin charset="0" panose="02020603050405020304" pitchFamily="18" typeface="Times New Roman"/>
              </a:rPr>
              <a:t>Construct a CFG for the language L = { 0</a:t>
            </a:r>
            <a:r>
              <a:rPr baseline="30000" dirty="0" lang="en-US">
                <a:solidFill>
                  <a:srgbClr val="000000"/>
                </a:solidFill>
                <a:latin charset="0" panose="02020603050405020304" pitchFamily="18" typeface="Times New Roman"/>
              </a:rPr>
              <a:t>n</a:t>
            </a:r>
            <a:r>
              <a:rPr dirty="0" lang="en-US">
                <a:solidFill>
                  <a:srgbClr val="000000"/>
                </a:solidFill>
                <a:latin charset="0" panose="02020603050405020304" pitchFamily="18" typeface="Times New Roman"/>
              </a:rPr>
              <a:t>1</a:t>
            </a:r>
            <a:r>
              <a:rPr baseline="30000" dirty="0" lang="en-US">
                <a:solidFill>
                  <a:srgbClr val="000000"/>
                </a:solidFill>
                <a:latin charset="0" panose="02020603050405020304" pitchFamily="18" typeface="Times New Roman"/>
              </a:rPr>
              <a:t>n</a:t>
            </a:r>
            <a:r>
              <a:rPr dirty="0" lang="en-US">
                <a:solidFill>
                  <a:srgbClr val="000000"/>
                </a:solidFill>
                <a:latin charset="0" panose="02020603050405020304" pitchFamily="18" typeface="Times New Roman"/>
              </a:rPr>
              <a:t>; n ≥ 1}.</a:t>
            </a:r>
          </a:p>
          <a:p>
            <a:pPr indent="0" marL="0">
              <a:buNone/>
            </a:pPr>
            <a:r>
              <a:rPr dirty="0" lang="en-US">
                <a:solidFill>
                  <a:srgbClr val="000000"/>
                </a:solidFill>
                <a:latin charset="0" panose="02020603050405020304" pitchFamily="18" typeface="Times New Roman"/>
              </a:rPr>
              <a:t>The possible strings are {01, 0011, 000111, 00001111, ....}</a:t>
            </a:r>
          </a:p>
          <a:p>
            <a:pPr indent="0" marL="0">
              <a:buNone/>
            </a:pPr>
            <a:r>
              <a:rPr dirty="0" lang="en-US">
                <a:solidFill>
                  <a:srgbClr val="000000"/>
                </a:solidFill>
                <a:latin charset="0" panose="02020603050405020304" pitchFamily="18" typeface="Times New Roman"/>
              </a:rPr>
              <a:t>The productions are G: S → 01 / 0S1</a:t>
            </a:r>
            <a:r>
              <a:rPr dirty="0" lang="en-US" sz="2400"/>
              <a:t> </a:t>
            </a:r>
            <a:br>
              <a:rPr dirty="0" lang="en-US" sz="2400"/>
            </a:br>
            <a:endParaRPr dirty="0" lang="en-US" sz="2400"/>
          </a:p>
        </p:txBody>
      </p:sp>
      <p:sp>
        <p:nvSpPr>
          <p:cNvPr id="4" name="TextBox 3">
            <a:extLst>
              <a:ext uri="{FF2B5EF4-FFF2-40B4-BE49-F238E27FC236}">
                <a16:creationId xmlns:a16="http://schemas.microsoft.com/office/drawing/2014/main" id="{D748126D-EF97-D7DA-486F-3AACAACD6842}"/>
              </a:ext>
            </a:extLst>
          </p:cNvPr>
          <p:cNvSpPr txBox="1"/>
          <p:nvPr/>
        </p:nvSpPr>
        <p:spPr>
          <a:xfrm>
            <a:off x="6249354" y="320040"/>
            <a:ext cx="5706427" cy="5122941"/>
          </a:xfrm>
          <a:prstGeom prst="rect">
            <a:avLst/>
          </a:prstGeom>
          <a:noFill/>
        </p:spPr>
        <p:txBody>
          <a:bodyPr numCol="1" wrap="square">
            <a:spAutoFit/>
          </a:bodyPr>
          <a:lstStyle/>
          <a:p>
            <a:pPr>
              <a:lnSpc>
                <a:spcPct val="150000"/>
              </a:lnSpc>
            </a:pPr>
            <a:r>
              <a:rPr dirty="0" lang="en-US" sz="2000">
                <a:solidFill>
                  <a:srgbClr val="000000"/>
                </a:solidFill>
                <a:latin charset="0" panose="02020603050405020304" pitchFamily="18" typeface="Times New Roman"/>
              </a:rPr>
              <a:t>Construct a CFG for the language L = {</a:t>
            </a:r>
            <a:r>
              <a:rPr altLang="en-IN" dirty="0" err="1" lang="en-IN" sz="2000">
                <a:solidFill>
                  <a:srgbClr val="000000"/>
                </a:solidFill>
                <a:latin charset="0" panose="02020603050405020304" pitchFamily="18" typeface="Times New Roman"/>
              </a:rPr>
              <a:t>a</a:t>
            </a:r>
            <a:r>
              <a:rPr altLang="en-IN" baseline="30000" dirty="0" err="1" lang="en-IN" sz="2000">
                <a:solidFill>
                  <a:srgbClr val="000000"/>
                </a:solidFill>
                <a:latin charset="0" panose="02020603050405020304" pitchFamily="18" typeface="Times New Roman"/>
              </a:rPr>
              <a:t>n</a:t>
            </a:r>
            <a:r>
              <a:rPr altLang="en-IN" dirty="0" err="1" lang="en-IN" sz="2000">
                <a:solidFill>
                  <a:srgbClr val="000000"/>
                </a:solidFill>
                <a:latin charset="0" panose="02020603050405020304" pitchFamily="18" typeface="Times New Roman"/>
              </a:rPr>
              <a:t>cb</a:t>
            </a:r>
            <a:r>
              <a:rPr altLang="en-IN" baseline="30000" dirty="0" err="1" lang="en-IN" sz="2000">
                <a:solidFill>
                  <a:srgbClr val="000000"/>
                </a:solidFill>
                <a:latin charset="0" panose="02020603050405020304" pitchFamily="18" typeface="Times New Roman"/>
              </a:rPr>
              <a:t>n</a:t>
            </a:r>
            <a:r>
              <a:rPr dirty="0" lang="en-US" sz="2000">
                <a:solidFill>
                  <a:srgbClr val="000000"/>
                </a:solidFill>
                <a:latin charset="0" panose="02020603050405020304" pitchFamily="18" typeface="Times New Roman"/>
              </a:rPr>
              <a:t> ; n ≥ 0}.</a:t>
            </a:r>
          </a:p>
          <a:p>
            <a:pPr>
              <a:lnSpc>
                <a:spcPct val="150000"/>
              </a:lnSpc>
            </a:pPr>
            <a:r>
              <a:rPr dirty="0" lang="en-US" sz="2000">
                <a:solidFill>
                  <a:srgbClr val="000000"/>
                </a:solidFill>
                <a:latin charset="0" panose="02020603050405020304" pitchFamily="18" typeface="Times New Roman"/>
              </a:rPr>
              <a:t>The possible strings are {c, </a:t>
            </a:r>
            <a:r>
              <a:rPr dirty="0" err="1" lang="en-US" sz="2000">
                <a:solidFill>
                  <a:srgbClr val="000000"/>
                </a:solidFill>
                <a:latin charset="0" panose="02020603050405020304" pitchFamily="18" typeface="Times New Roman"/>
              </a:rPr>
              <a:t>acb</a:t>
            </a:r>
            <a:r>
              <a:rPr dirty="0" lang="en-US" sz="2000">
                <a:solidFill>
                  <a:srgbClr val="000000"/>
                </a:solidFill>
                <a:latin charset="0" panose="02020603050405020304" pitchFamily="18" typeface="Times New Roman"/>
              </a:rPr>
              <a:t>, </a:t>
            </a:r>
            <a:r>
              <a:rPr dirty="0" err="1" lang="en-US" sz="2000">
                <a:solidFill>
                  <a:srgbClr val="000000"/>
                </a:solidFill>
                <a:latin charset="0" panose="02020603050405020304" pitchFamily="18" typeface="Times New Roman"/>
              </a:rPr>
              <a:t>aacbb</a:t>
            </a:r>
            <a:r>
              <a:rPr dirty="0" lang="en-US" sz="2000">
                <a:solidFill>
                  <a:srgbClr val="000000"/>
                </a:solidFill>
                <a:latin charset="0" panose="02020603050405020304" pitchFamily="18" typeface="Times New Roman"/>
              </a:rPr>
              <a:t>, </a:t>
            </a:r>
            <a:r>
              <a:rPr dirty="0" err="1" lang="en-US" sz="2000">
                <a:solidFill>
                  <a:srgbClr val="000000"/>
                </a:solidFill>
                <a:latin charset="0" panose="02020603050405020304" pitchFamily="18" typeface="Times New Roman"/>
              </a:rPr>
              <a:t>aaacbbb</a:t>
            </a:r>
            <a:r>
              <a:rPr dirty="0" lang="en-US" sz="2000">
                <a:solidFill>
                  <a:srgbClr val="000000"/>
                </a:solidFill>
                <a:latin charset="0" panose="02020603050405020304" pitchFamily="18" typeface="Times New Roman"/>
              </a:rPr>
              <a:t>, </a:t>
            </a:r>
            <a:r>
              <a:rPr dirty="0" err="1" lang="en-US" sz="2000">
                <a:solidFill>
                  <a:srgbClr val="000000"/>
                </a:solidFill>
                <a:latin charset="0" panose="02020603050405020304" pitchFamily="18" typeface="Times New Roman"/>
              </a:rPr>
              <a:t>aaaacbbbb</a:t>
            </a:r>
            <a:r>
              <a:rPr dirty="0" lang="en-US" sz="2000">
                <a:solidFill>
                  <a:srgbClr val="000000"/>
                </a:solidFill>
                <a:latin charset="0" panose="02020603050405020304" pitchFamily="18" typeface="Times New Roman"/>
              </a:rPr>
              <a:t>, ....}</a:t>
            </a:r>
          </a:p>
          <a:p>
            <a:pPr>
              <a:lnSpc>
                <a:spcPct val="150000"/>
              </a:lnSpc>
            </a:pPr>
            <a:r>
              <a:rPr dirty="0" lang="en-US" sz="2000">
                <a:solidFill>
                  <a:srgbClr val="000000"/>
                </a:solidFill>
                <a:latin charset="0" panose="02020603050405020304" pitchFamily="18" typeface="Times New Roman"/>
              </a:rPr>
              <a:t>The productions are G: S → c / </a:t>
            </a:r>
            <a:r>
              <a:rPr dirty="0" err="1" lang="en-US" sz="2000">
                <a:solidFill>
                  <a:srgbClr val="000000"/>
                </a:solidFill>
                <a:latin charset="0" panose="02020603050405020304" pitchFamily="18" typeface="Times New Roman"/>
              </a:rPr>
              <a:t>aSb</a:t>
            </a:r>
            <a:r>
              <a:rPr dirty="0" lang="en-US" sz="2000"/>
              <a:t> </a:t>
            </a:r>
            <a:endParaRPr altLang="en-IN" dirty="0" lang="en-IN" sz="2000"/>
          </a:p>
          <a:p>
            <a:pPr>
              <a:lnSpc>
                <a:spcPct val="150000"/>
              </a:lnSpc>
            </a:pPr>
            <a:endParaRPr altLang="en-IN" dirty="0" lang="en-IN" sz="2000"/>
          </a:p>
          <a:p>
            <a:pPr>
              <a:lnSpc>
                <a:spcPct val="150000"/>
              </a:lnSpc>
            </a:pPr>
            <a:r>
              <a:rPr altLang="en-IN" b="0" dirty="0" i="0" lang="en-IN" sz="2000">
                <a:solidFill>
                  <a:srgbClr val="000000"/>
                </a:solidFill>
                <a:effectLst/>
                <a:latin charset="0" panose="02020603050405020304" pitchFamily="18" typeface="Times New Roman"/>
              </a:rPr>
              <a:t>Construct a CFG for the language L = { </a:t>
            </a:r>
            <a:r>
              <a:rPr altLang="en-IN" b="0" dirty="0" err="1" i="0" lang="en-IN" sz="2000">
                <a:solidFill>
                  <a:srgbClr val="000000"/>
                </a:solidFill>
                <a:effectLst/>
                <a:latin charset="0" panose="02020603050405020304" pitchFamily="18" typeface="Times New Roman"/>
              </a:rPr>
              <a:t>wcw</a:t>
            </a:r>
            <a:r>
              <a:rPr altLang="en-IN" b="0" baseline="30000" dirty="0" err="1" i="0" lang="en-IN" sz="2000">
                <a:solidFill>
                  <a:srgbClr val="000000"/>
                </a:solidFill>
                <a:effectLst/>
                <a:latin charset="0" panose="02020603050405020304" pitchFamily="18" typeface="Times New Roman"/>
              </a:rPr>
              <a:t>r</a:t>
            </a:r>
            <a:r>
              <a:rPr altLang="en-IN" b="0" dirty="0" i="0" lang="en-IN" sz="2000">
                <a:solidFill>
                  <a:srgbClr val="000000"/>
                </a:solidFill>
                <a:effectLst/>
                <a:latin charset="0" panose="02020603050405020304" pitchFamily="18" typeface="Times New Roman"/>
              </a:rPr>
              <a:t>; w </a:t>
            </a:r>
            <a:r>
              <a:rPr altLang="en-IN" b="0" dirty="0" i="0" lang="en-IN" sz="2000">
                <a:solidFill>
                  <a:srgbClr val="000000"/>
                </a:solidFill>
                <a:effectLst/>
                <a:latin charset="2" panose="05050102010706020507" pitchFamily="18" typeface="Symbol"/>
              </a:rPr>
              <a:t> </a:t>
            </a:r>
            <a:r>
              <a:rPr altLang="en-IN" b="0" dirty="0" i="0" lang="en-IN" sz="2000">
                <a:solidFill>
                  <a:srgbClr val="000000"/>
                </a:solidFill>
                <a:effectLst/>
                <a:latin charset="0" panose="02020603050405020304" pitchFamily="18" typeface="Times New Roman"/>
              </a:rPr>
              <a:t>(</a:t>
            </a:r>
            <a:r>
              <a:rPr altLang="en-IN" b="0" dirty="0" err="1" i="0" lang="en-IN" sz="2000">
                <a:solidFill>
                  <a:srgbClr val="000000"/>
                </a:solidFill>
                <a:effectLst/>
                <a:latin charset="0" panose="02020603050405020304" pitchFamily="18" typeface="Times New Roman"/>
              </a:rPr>
              <a:t>a+b</a:t>
            </a:r>
            <a:r>
              <a:rPr altLang="en-IN" b="0" dirty="0" i="0" lang="en-IN" sz="2000">
                <a:solidFill>
                  <a:srgbClr val="000000"/>
                </a:solidFill>
                <a:effectLst/>
                <a:latin charset="0" panose="02020603050405020304" pitchFamily="18" typeface="Times New Roman"/>
              </a:rPr>
              <a:t>)*}.</a:t>
            </a:r>
          </a:p>
          <a:p>
            <a:pPr>
              <a:lnSpc>
                <a:spcPct val="150000"/>
              </a:lnSpc>
            </a:pPr>
            <a:r>
              <a:rPr altLang="en-IN" b="0" dirty="0" i="0" lang="en-IN" sz="2000">
                <a:solidFill>
                  <a:srgbClr val="000000"/>
                </a:solidFill>
                <a:effectLst/>
                <a:latin charset="0" panose="02020603050405020304" pitchFamily="18" typeface="Times New Roman"/>
              </a:rPr>
              <a:t>The possible strings are {c, aca, </a:t>
            </a:r>
            <a:r>
              <a:rPr altLang="en-IN" b="0" dirty="0" err="1" i="0" lang="en-IN" sz="2000">
                <a:solidFill>
                  <a:srgbClr val="000000"/>
                </a:solidFill>
                <a:effectLst/>
                <a:latin charset="0" panose="02020603050405020304" pitchFamily="18" typeface="Times New Roman"/>
              </a:rPr>
              <a:t>bcb</a:t>
            </a: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abcba</a:t>
            </a: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aacaa</a:t>
            </a: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bbcbb</a:t>
            </a: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bacab</a:t>
            </a: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abacaba</a:t>
            </a: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bbacabba</a:t>
            </a:r>
            <a:r>
              <a:rPr altLang="en-IN" b="0" dirty="0" i="0" lang="en-IN" sz="2000">
                <a:solidFill>
                  <a:srgbClr val="000000"/>
                </a:solidFill>
                <a:effectLst/>
                <a:latin charset="0" panose="02020603050405020304" pitchFamily="18" typeface="Times New Roman"/>
              </a:rPr>
              <a:t>,….}</a:t>
            </a:r>
          </a:p>
          <a:p>
            <a:pPr>
              <a:lnSpc>
                <a:spcPct val="150000"/>
              </a:lnSpc>
            </a:pPr>
            <a:r>
              <a:rPr altLang="en-IN" b="0" dirty="0" i="0" lang="en-IN" sz="2000">
                <a:solidFill>
                  <a:srgbClr val="000000"/>
                </a:solidFill>
                <a:effectLst/>
                <a:latin charset="0" panose="02020603050405020304" pitchFamily="18" typeface="Times New Roman"/>
              </a:rPr>
              <a:t>The productions are G: S → </a:t>
            </a:r>
            <a:r>
              <a:rPr altLang="en-IN" b="0" dirty="0" err="1" i="0" lang="en-IN" sz="2000">
                <a:solidFill>
                  <a:srgbClr val="000000"/>
                </a:solidFill>
                <a:effectLst/>
                <a:latin charset="0" panose="02020603050405020304" pitchFamily="18" typeface="Times New Roman"/>
              </a:rPr>
              <a:t>aSa</a:t>
            </a:r>
            <a:r>
              <a:rPr altLang="en-IN" b="0" dirty="0" i="0" lang="en-IN" sz="2000">
                <a:solidFill>
                  <a:srgbClr val="000000"/>
                </a:solidFill>
                <a:effectLst/>
                <a:latin charset="0" panose="02020603050405020304" pitchFamily="18" typeface="Times New Roman"/>
              </a:rPr>
              <a:t> / </a:t>
            </a:r>
            <a:r>
              <a:rPr altLang="en-IN" b="0" dirty="0" err="1" i="0" lang="en-IN" sz="2000">
                <a:solidFill>
                  <a:srgbClr val="000000"/>
                </a:solidFill>
                <a:effectLst/>
                <a:latin charset="0" panose="02020603050405020304" pitchFamily="18" typeface="Times New Roman"/>
              </a:rPr>
              <a:t>bSb</a:t>
            </a:r>
            <a:r>
              <a:rPr altLang="en-IN" b="0" dirty="0" i="0" lang="en-IN" sz="2000">
                <a:solidFill>
                  <a:srgbClr val="000000"/>
                </a:solidFill>
                <a:effectLst/>
                <a:latin charset="0" panose="02020603050405020304" pitchFamily="18" typeface="Times New Roman"/>
              </a:rPr>
              <a:t> / c</a:t>
            </a:r>
            <a:r>
              <a:rPr altLang="en-IN" dirty="0" lang="en-IN" sz="2000"/>
              <a:t> </a:t>
            </a:r>
            <a:br>
              <a:rPr altLang="en-IN" dirty="0" lang="en-IN" sz="2000"/>
            </a:br>
            <a:endParaRPr altLang="en-IN" dirty="0" lang="en-IN" sz="2000"/>
          </a:p>
        </p:txBody>
      </p:sp>
      <p:cxnSp>
        <p:nvCxnSpPr>
          <p:cNvPr id="6" name="Straight Connector 5">
            <a:extLst>
              <a:ext uri="{FF2B5EF4-FFF2-40B4-BE49-F238E27FC236}">
                <a16:creationId xmlns:a16="http://schemas.microsoft.com/office/drawing/2014/main" id="{EFDED243-6353-78BD-7689-30A83385BAA6}"/>
              </a:ext>
            </a:extLst>
          </p:cNvPr>
          <p:cNvCxnSpPr/>
          <p:nvPr/>
        </p:nvCxnSpPr>
        <p:spPr>
          <a:xfrm>
            <a:off x="5999798" y="0"/>
            <a:ext cx="0" cy="637794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541072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1" st="1"/>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2">
                                            <p:txEl>
                                              <p:pRg end="2" st="2"/>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2">
                                            <p:txEl>
                                              <p:pRg end="3" st="3"/>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2">
                                            <p:txEl>
                                              <p:pRg end="4" st="4"/>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2">
                                            <p:txEl>
                                              <p:pRg end="5" st="5"/>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2">
                                            <p:txEl>
                                              <p:pRg end="7" st="7"/>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2">
                                            <p:txEl>
                                              <p:pRg end="8" st="8"/>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id="31" nodeType="clickEffect" presetClass="entr" presetID="1" presetSubtype="0">
                                  <p:stCondLst>
                                    <p:cond delay="0"/>
                                  </p:stCondLst>
                                  <p:childTnLst>
                                    <p:set>
                                      <p:cBhvr>
                                        <p:cTn dur="1" fill="hold" id="32">
                                          <p:stCondLst>
                                            <p:cond delay="0"/>
                                          </p:stCondLst>
                                        </p:cTn>
                                        <p:tgtEl>
                                          <p:spTgt spid="2">
                                            <p:txEl>
                                              <p:pRg end="9" st="9"/>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 presetSubtype="0">
                                  <p:stCondLst>
                                    <p:cond delay="0"/>
                                  </p:stCondLst>
                                  <p:childTnLst>
                                    <p:set>
                                      <p:cBhvr>
                                        <p:cTn dur="1" fill="hold" id="36">
                                          <p:stCondLst>
                                            <p:cond delay="0"/>
                                          </p:stCondLst>
                                        </p:cTn>
                                        <p:tgtEl>
                                          <p:spTgt spid="4">
                                            <p:txEl>
                                              <p:pRg end="0" st="0"/>
                                            </p:txEl>
                                          </p:spTgt>
                                        </p:tgtEl>
                                        <p:attrNameLst>
                                          <p:attrName>style.visibility</p:attrName>
                                        </p:attrNameLst>
                                      </p:cBhvr>
                                      <p:to>
                                        <p:strVal val="visible"/>
                                      </p:to>
                                    </p:set>
                                  </p:childTnLst>
                                </p:cTn>
                              </p:par>
                              <p:par>
                                <p:cTn fill="hold" id="37" nodeType="withEffect" presetClass="entr" presetID="1" presetSubtype="0">
                                  <p:stCondLst>
                                    <p:cond delay="0"/>
                                  </p:stCondLst>
                                  <p:childTnLst>
                                    <p:set>
                                      <p:cBhvr>
                                        <p:cTn dur="1" fill="hold" id="38">
                                          <p:stCondLst>
                                            <p:cond delay="0"/>
                                          </p:stCondLst>
                                        </p:cTn>
                                        <p:tgtEl>
                                          <p:spTgt spid="4">
                                            <p:txEl>
                                              <p:pRg end="1" st="1"/>
                                            </p:txEl>
                                          </p:spTgt>
                                        </p:tgtEl>
                                        <p:attrNameLst>
                                          <p:attrName>style.visibility</p:attrName>
                                        </p:attrNameLst>
                                      </p:cBhvr>
                                      <p:to>
                                        <p:strVal val="visible"/>
                                      </p:to>
                                    </p:set>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1" presetSubtype="0">
                                  <p:stCondLst>
                                    <p:cond delay="0"/>
                                  </p:stCondLst>
                                  <p:childTnLst>
                                    <p:set>
                                      <p:cBhvr>
                                        <p:cTn dur="1" fill="hold" id="42">
                                          <p:stCondLst>
                                            <p:cond delay="0"/>
                                          </p:stCondLst>
                                        </p:cTn>
                                        <p:tgtEl>
                                          <p:spTgt spid="4">
                                            <p:txEl>
                                              <p:pRg end="2" st="2"/>
                                            </p:txEl>
                                          </p:spTgt>
                                        </p:tgtEl>
                                        <p:attrNameLst>
                                          <p:attrName>style.visibility</p:attrName>
                                        </p:attrNameLst>
                                      </p:cBhvr>
                                      <p:to>
                                        <p:strVal val="visible"/>
                                      </p:to>
                                    </p:set>
                                  </p:childTnLst>
                                </p:cTn>
                              </p:par>
                            </p:childTnLst>
                          </p:cTn>
                        </p:par>
                      </p:childTnLst>
                    </p:cTn>
                  </p:par>
                  <p:par>
                    <p:cTn fill="hold" id="43">
                      <p:stCondLst>
                        <p:cond delay="indefinite"/>
                      </p:stCondLst>
                      <p:childTnLst>
                        <p:par>
                          <p:cTn fill="hold" id="44">
                            <p:stCondLst>
                              <p:cond delay="0"/>
                            </p:stCondLst>
                            <p:childTnLst>
                              <p:par>
                                <p:cTn fill="hold" id="45" nodeType="clickEffect" presetClass="entr" presetID="1" presetSubtype="0">
                                  <p:stCondLst>
                                    <p:cond delay="0"/>
                                  </p:stCondLst>
                                  <p:childTnLst>
                                    <p:set>
                                      <p:cBhvr>
                                        <p:cTn dur="1" fill="hold" id="46">
                                          <p:stCondLst>
                                            <p:cond delay="0"/>
                                          </p:stCondLst>
                                        </p:cTn>
                                        <p:tgtEl>
                                          <p:spTgt spid="4">
                                            <p:txEl>
                                              <p:pRg end="4" st="4"/>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4">
                                            <p:txEl>
                                              <p:pRg end="5" st="5"/>
                                            </p:txEl>
                                          </p:spTgt>
                                        </p:tgtEl>
                                        <p:attrNameLst>
                                          <p:attrName>style.visibility</p:attrName>
                                        </p:attrNameLst>
                                      </p:cBhvr>
                                      <p:to>
                                        <p:strVal val="visible"/>
                                      </p:to>
                                    </p:set>
                                  </p:childTnLst>
                                </p:cTn>
                              </p:par>
                            </p:childTnLst>
                          </p:cTn>
                        </p:par>
                      </p:childTnLst>
                    </p:cTn>
                  </p:par>
                  <p:par>
                    <p:cTn fill="hold" id="49">
                      <p:stCondLst>
                        <p:cond delay="indefinite"/>
                      </p:stCondLst>
                      <p:childTnLst>
                        <p:par>
                          <p:cTn fill="hold" id="50">
                            <p:stCondLst>
                              <p:cond delay="0"/>
                            </p:stCondLst>
                            <p:childTnLst>
                              <p:par>
                                <p:cTn fill="hold" id="51" nodeType="clickEffect" presetClass="entr" presetID="1" presetSubtype="0">
                                  <p:stCondLst>
                                    <p:cond delay="0"/>
                                  </p:stCondLst>
                                  <p:childTnLst>
                                    <p:set>
                                      <p:cBhvr>
                                        <p:cTn dur="1" fill="hold" id="52">
                                          <p:stCondLst>
                                            <p:cond delay="0"/>
                                          </p:stCondLst>
                                        </p:cTn>
                                        <p:tgtEl>
                                          <p:spTgt spid="4">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D854-6FE5-73F5-E1BD-E34ABBD60AFC}"/>
              </a:ext>
            </a:extLst>
          </p:cNvPr>
          <p:cNvSpPr txBox="1">
            <a:spLocks/>
          </p:cNvSpPr>
          <p:nvPr/>
        </p:nvSpPr>
        <p:spPr>
          <a:xfrm>
            <a:off x="1097280" y="286603"/>
            <a:ext cx="10058400" cy="1450757"/>
          </a:xfrm>
          <a:prstGeom prst="rect">
            <a:avLst/>
          </a:prstGeom>
        </p:spPr>
        <p:txBody>
          <a:bodyPr numCol="1"/>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altLang="en-IN" dirty="0" lang="en-IN"/>
              <a:t>Derivations</a:t>
            </a:r>
          </a:p>
        </p:txBody>
      </p:sp>
      <p:sp>
        <p:nvSpPr>
          <p:cNvPr id="3" name="Content Placeholder 2">
            <a:extLst>
              <a:ext uri="{FF2B5EF4-FFF2-40B4-BE49-F238E27FC236}">
                <a16:creationId xmlns:a16="http://schemas.microsoft.com/office/drawing/2014/main" id="{4CDF1813-D5ED-DDD6-BE67-E7B48749E329}"/>
              </a:ext>
            </a:extLst>
          </p:cNvPr>
          <p:cNvSpPr txBox="1">
            <a:spLocks/>
          </p:cNvSpPr>
          <p:nvPr/>
        </p:nvSpPr>
        <p:spPr>
          <a:xfrm>
            <a:off x="1036320" y="1097281"/>
            <a:ext cx="10058400" cy="4023360"/>
          </a:xfrm>
          <a:prstGeom prst="rect">
            <a:avLst/>
          </a:prstGeom>
        </p:spPr>
        <p:txBody>
          <a:bodyPr numCol="1"/>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r>
              <a:rPr dirty="0" lang="en-US">
                <a:solidFill>
                  <a:srgbClr val="222222"/>
                </a:solidFill>
                <a:latin charset="0" panose="02020603050405020304" pitchFamily="18" typeface="Times New Roman"/>
              </a:rPr>
              <a:t>A derivation of a string for a grammar is a sequence of grammar rule applications that transform the start symbol into the string. </a:t>
            </a:r>
          </a:p>
          <a:p>
            <a:r>
              <a:rPr dirty="0" lang="en-US">
                <a:solidFill>
                  <a:srgbClr val="222222"/>
                </a:solidFill>
                <a:latin charset="0" panose="02020603050405020304" pitchFamily="18" typeface="Times New Roman"/>
              </a:rPr>
              <a:t>A derivation proves that the string belongs to the grammar's language.</a:t>
            </a:r>
          </a:p>
          <a:p>
            <a:endParaRPr dirty="0" lang="en-US">
              <a:solidFill>
                <a:srgbClr val="222222"/>
              </a:solidFill>
              <a:latin charset="0" panose="02020603050405020304" pitchFamily="18" typeface="Times New Roman"/>
            </a:endParaRPr>
          </a:p>
          <a:p>
            <a:endParaRPr dirty="0" lang="en-US">
              <a:solidFill>
                <a:srgbClr val="222222"/>
              </a:solidFill>
              <a:latin charset="0" panose="02020603050405020304" pitchFamily="18" typeface="Times New Roman"/>
            </a:endParaRPr>
          </a:p>
          <a:p>
            <a:r>
              <a:rPr dirty="0" lang="en-US" sz="2400"/>
              <a:t> </a:t>
            </a:r>
          </a:p>
          <a:p>
            <a:endParaRPr altLang="en-IN" dirty="0" lang="en-IN" sz="2400"/>
          </a:p>
        </p:txBody>
      </p:sp>
      <p:pic>
        <p:nvPicPr>
          <p:cNvPr id="4" name="Picture 3">
            <a:extLst>
              <a:ext uri="{FF2B5EF4-FFF2-40B4-BE49-F238E27FC236}">
                <a16:creationId xmlns:a16="http://schemas.microsoft.com/office/drawing/2014/main" id="{9DCEC0E3-6EBF-A5D5-4C23-A00E638DADCB}"/>
              </a:ext>
            </a:extLst>
          </p:cNvPr>
          <p:cNvPicPr>
            <a:picLocks noChangeAspect="1"/>
          </p:cNvPicPr>
          <p:nvPr/>
        </p:nvPicPr>
        <p:blipFill>
          <a:blip r:embed="rId2"/>
          <a:stretch>
            <a:fillRect/>
          </a:stretch>
        </p:blipFill>
        <p:spPr>
          <a:xfrm>
            <a:off x="3794760" y="2270189"/>
            <a:ext cx="5192182" cy="551835"/>
          </a:xfrm>
          <a:prstGeom prst="rect">
            <a:avLst/>
          </a:prstGeom>
        </p:spPr>
      </p:pic>
      <p:pic>
        <p:nvPicPr>
          <p:cNvPr id="5" name="Picture 4">
            <a:extLst>
              <a:ext uri="{FF2B5EF4-FFF2-40B4-BE49-F238E27FC236}">
                <a16:creationId xmlns:a16="http://schemas.microsoft.com/office/drawing/2014/main" id="{FA6FC77A-219E-8193-3C2C-8FCE2CCDD314}"/>
              </a:ext>
            </a:extLst>
          </p:cNvPr>
          <p:cNvPicPr>
            <a:picLocks noChangeAspect="1"/>
          </p:cNvPicPr>
          <p:nvPr/>
        </p:nvPicPr>
        <p:blipFill>
          <a:blip r:embed="rId3"/>
          <a:srcRect b="60980"/>
          <a:stretch>
            <a:fillRect/>
          </a:stretch>
        </p:blipFill>
        <p:spPr>
          <a:xfrm>
            <a:off x="1097279" y="2914651"/>
            <a:ext cx="6766767" cy="1337310"/>
          </a:xfrm>
          <a:prstGeom prst="rect">
            <a:avLst/>
          </a:prstGeom>
        </p:spPr>
      </p:pic>
      <p:pic>
        <p:nvPicPr>
          <p:cNvPr id="6" name="Picture 5">
            <a:extLst>
              <a:ext uri="{FF2B5EF4-FFF2-40B4-BE49-F238E27FC236}">
                <a16:creationId xmlns:a16="http://schemas.microsoft.com/office/drawing/2014/main" id="{497B5C63-70A4-B869-6E57-A81E2FF37D87}"/>
              </a:ext>
            </a:extLst>
          </p:cNvPr>
          <p:cNvPicPr>
            <a:picLocks noChangeAspect="1"/>
          </p:cNvPicPr>
          <p:nvPr/>
        </p:nvPicPr>
        <p:blipFill>
          <a:blip r:embed="rId3"/>
          <a:srcRect t="40577"/>
          <a:stretch>
            <a:fillRect/>
          </a:stretch>
        </p:blipFill>
        <p:spPr>
          <a:xfrm>
            <a:off x="1581149" y="4261363"/>
            <a:ext cx="6766767" cy="2036569"/>
          </a:xfrm>
          <a:prstGeom prst="rect">
            <a:avLst/>
          </a:prstGeom>
        </p:spPr>
      </p:pic>
    </p:spTree>
    <p:extLst>
      <p:ext uri="{BB962C8B-B14F-4D97-AF65-F5344CB8AC3E}">
        <p14:creationId xmlns:p14="http://schemas.microsoft.com/office/powerpoint/2010/main" val="207450968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4"/>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5"/>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0">
            <a:extLst>
              <a:ext uri="{FF2B5EF4-FFF2-40B4-BE49-F238E27FC236}">
                <a16:creationId xmlns:a16="http://schemas.microsoft.com/office/drawing/2014/main" id="{A0401541-6D38-E57A-63A5-87F4706DC93C}"/>
              </a:ext>
            </a:extLst>
          </p:cNvPr>
          <p:cNvSpPr txBox="1">
            <a:spLocks/>
          </p:cNvSpPr>
          <p:nvPr/>
        </p:nvSpPr>
        <p:spPr>
          <a:xfrm>
            <a:off x="1097280" y="286603"/>
            <a:ext cx="10058400" cy="1450757"/>
          </a:xfrm>
          <a:prstGeom prst="rect">
            <a:avLst/>
          </a:prstGeom>
        </p:spPr>
        <p:txBody>
          <a:bodyPr numCol="1"/>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altLang="en-IN" dirty="0" lang="en-IN"/>
              <a:t>Leftmost derivation (LMD)</a:t>
            </a:r>
          </a:p>
        </p:txBody>
      </p:sp>
      <p:sp>
        <p:nvSpPr>
          <p:cNvPr id="3" name="Content Placeholder 12">
            <a:extLst>
              <a:ext uri="{FF2B5EF4-FFF2-40B4-BE49-F238E27FC236}">
                <a16:creationId xmlns:a16="http://schemas.microsoft.com/office/drawing/2014/main" id="{6A9826DA-AAA3-E56A-9AD7-897E1D8519C3}"/>
              </a:ext>
            </a:extLst>
          </p:cNvPr>
          <p:cNvSpPr txBox="1">
            <a:spLocks/>
          </p:cNvSpPr>
          <p:nvPr/>
        </p:nvSpPr>
        <p:spPr>
          <a:xfrm>
            <a:off x="1036320" y="4338582"/>
            <a:ext cx="10058400" cy="1937596"/>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lgn="just"/>
            <a:r>
              <a:rPr b="0" dirty="0" i="0" lang="en-US" sz="2400">
                <a:solidFill>
                  <a:srgbClr val="222222"/>
                </a:solidFill>
                <a:effectLst/>
                <a:latin charset="0" panose="02020603050405020304" pitchFamily="18" typeface="Times New Roman"/>
              </a:rPr>
              <a:t>A rightmost derivation is obtained by applying production to the rightmost variable or non-terminal in each step. </a:t>
            </a:r>
            <a:endParaRPr altLang="en-IN" dirty="0" lang="en-IN" sz="3600"/>
          </a:p>
        </p:txBody>
      </p:sp>
      <p:pic>
        <p:nvPicPr>
          <p:cNvPr id="4" name="Picture 3">
            <a:extLst>
              <a:ext uri="{FF2B5EF4-FFF2-40B4-BE49-F238E27FC236}">
                <a16:creationId xmlns:a16="http://schemas.microsoft.com/office/drawing/2014/main" id="{E87FC310-F1ED-B8A3-34F6-1632485C0207}"/>
              </a:ext>
            </a:extLst>
          </p:cNvPr>
          <p:cNvPicPr>
            <a:picLocks noChangeAspect="1"/>
          </p:cNvPicPr>
          <p:nvPr/>
        </p:nvPicPr>
        <p:blipFill>
          <a:blip r:embed="rId2"/>
          <a:stretch>
            <a:fillRect/>
          </a:stretch>
        </p:blipFill>
        <p:spPr>
          <a:xfrm>
            <a:off x="3881036" y="2147943"/>
            <a:ext cx="5068654" cy="779035"/>
          </a:xfrm>
          <a:prstGeom prst="rect">
            <a:avLst/>
          </a:prstGeom>
        </p:spPr>
      </p:pic>
      <p:sp>
        <p:nvSpPr>
          <p:cNvPr id="5" name="Title 10">
            <a:extLst>
              <a:ext uri="{FF2B5EF4-FFF2-40B4-BE49-F238E27FC236}">
                <a16:creationId xmlns:a16="http://schemas.microsoft.com/office/drawing/2014/main" id="{4473DAAB-4583-93F7-77D5-E115571AB779}"/>
              </a:ext>
            </a:extLst>
          </p:cNvPr>
          <p:cNvSpPr txBox="1">
            <a:spLocks/>
          </p:cNvSpPr>
          <p:nvPr/>
        </p:nvSpPr>
        <p:spPr>
          <a:xfrm>
            <a:off x="1036320" y="3588704"/>
            <a:ext cx="10058400" cy="1450757"/>
          </a:xfrm>
          <a:prstGeom prst="rect">
            <a:avLst/>
          </a:prstGeom>
        </p:spPr>
        <p:txBody>
          <a:bodyPr numCol="1"/>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altLang="en-IN" dirty="0" lang="en-IN"/>
              <a:t>Rightmost derivation (RMD)</a:t>
            </a:r>
          </a:p>
        </p:txBody>
      </p:sp>
      <p:sp>
        <p:nvSpPr>
          <p:cNvPr id="6" name="Content Placeholder 12">
            <a:extLst>
              <a:ext uri="{FF2B5EF4-FFF2-40B4-BE49-F238E27FC236}">
                <a16:creationId xmlns:a16="http://schemas.microsoft.com/office/drawing/2014/main" id="{B57F6342-6256-AC9F-7368-9D0091F32BB8}"/>
              </a:ext>
            </a:extLst>
          </p:cNvPr>
          <p:cNvSpPr txBox="1">
            <a:spLocks/>
          </p:cNvSpPr>
          <p:nvPr/>
        </p:nvSpPr>
        <p:spPr>
          <a:xfrm>
            <a:off x="1188720" y="1331545"/>
            <a:ext cx="10058400" cy="1937596"/>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lgn="just"/>
            <a:r>
              <a:rPr dirty="0" lang="en-US" sz="2400">
                <a:solidFill>
                  <a:srgbClr val="222222"/>
                </a:solidFill>
                <a:latin charset="0" panose="02020603050405020304" pitchFamily="18" typeface="Times New Roman"/>
              </a:rPr>
              <a:t>A leftmost derivation is obtained by applying production to the leftmost variable or non-terminal in each step. </a:t>
            </a:r>
            <a:endParaRPr altLang="en-IN" dirty="0" lang="en-IN" sz="2800"/>
          </a:p>
        </p:txBody>
      </p:sp>
      <p:pic>
        <p:nvPicPr>
          <p:cNvPr id="8" name="Picture 7">
            <a:extLst>
              <a:ext uri="{FF2B5EF4-FFF2-40B4-BE49-F238E27FC236}">
                <a16:creationId xmlns:a16="http://schemas.microsoft.com/office/drawing/2014/main" id="{8B9B965D-DF97-F7E6-5D97-F744D290002B}"/>
              </a:ext>
            </a:extLst>
          </p:cNvPr>
          <p:cNvPicPr>
            <a:picLocks noChangeAspect="1"/>
          </p:cNvPicPr>
          <p:nvPr/>
        </p:nvPicPr>
        <p:blipFill>
          <a:blip r:embed="rId3"/>
          <a:stretch>
            <a:fillRect/>
          </a:stretch>
        </p:blipFill>
        <p:spPr>
          <a:xfrm>
            <a:off x="3280366" y="5195351"/>
            <a:ext cx="5692227" cy="970024"/>
          </a:xfrm>
          <a:prstGeom prst="rect">
            <a:avLst/>
          </a:prstGeom>
        </p:spPr>
      </p:pic>
    </p:spTree>
    <p:extLst>
      <p:ext uri="{BB962C8B-B14F-4D97-AF65-F5344CB8AC3E}">
        <p14:creationId xmlns:p14="http://schemas.microsoft.com/office/powerpoint/2010/main" val="394143439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2"/>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4"/>
                                        </p:tgtEl>
                                        <p:attrNameLst>
                                          <p:attrName>style.visibility</p:attrName>
                                        </p:attrNameLst>
                                      </p:cBhvr>
                                      <p:to>
                                        <p:strVal val="visible"/>
                                      </p:to>
                                    </p:set>
                                  </p:childTnLst>
                                </p:cTn>
                              </p:par>
                              <p:par>
                                <p:cTn fill="hold" grpId="0" id="9" nodeType="withEffect" presetClass="entr" presetID="1" presetSubtype="0">
                                  <p:stCondLst>
                                    <p:cond delay="0"/>
                                  </p:stCondLst>
                                  <p:childTnLst>
                                    <p:set>
                                      <p:cBhvr>
                                        <p:cTn dur="1" fill="hold" id="10">
                                          <p:stCondLst>
                                            <p:cond delay="0"/>
                                          </p:stCondLst>
                                        </p:cTn>
                                        <p:tgtEl>
                                          <p:spTgt spid="6"/>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5"/>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8"/>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3"/>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grpId="0" spid="3"/>
      <p:bldP grpId="0" spid="5"/>
      <p:bldP grpId="0" spid="6"/>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53A5672-0B62-E1A0-DCE3-4668A83F0799}"/>
              </a:ext>
            </a:extLst>
          </p:cNvPr>
          <p:cNvPicPr>
            <a:picLocks noChangeAspect="1"/>
          </p:cNvPicPr>
          <p:nvPr/>
        </p:nvPicPr>
        <p:blipFill>
          <a:blip r:embed="rId2"/>
          <a:stretch>
            <a:fillRect/>
          </a:stretch>
        </p:blipFill>
        <p:spPr>
          <a:xfrm>
            <a:off x="545867" y="280582"/>
            <a:ext cx="9318223" cy="5509016"/>
          </a:xfrm>
          <a:prstGeom prst="rect">
            <a:avLst/>
          </a:prstGeom>
        </p:spPr>
      </p:pic>
    </p:spTree>
    <p:extLst>
      <p:ext uri="{BB962C8B-B14F-4D97-AF65-F5344CB8AC3E}">
        <p14:creationId xmlns:p14="http://schemas.microsoft.com/office/powerpoint/2010/main" val="3640853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59462E-D67A-EED9-B107-11384C772A8E}"/>
              </a:ext>
            </a:extLst>
          </p:cNvPr>
          <p:cNvPicPr>
            <a:picLocks noChangeAspect="1"/>
          </p:cNvPicPr>
          <p:nvPr/>
        </p:nvPicPr>
        <p:blipFill>
          <a:blip r:embed="rId2"/>
          <a:stretch>
            <a:fillRect/>
          </a:stretch>
        </p:blipFill>
        <p:spPr>
          <a:xfrm>
            <a:off x="838674" y="394251"/>
            <a:ext cx="10145555" cy="5316311"/>
          </a:xfrm>
          <a:prstGeom prst="rect">
            <a:avLst/>
          </a:prstGeom>
        </p:spPr>
      </p:pic>
    </p:spTree>
    <p:extLst>
      <p:ext uri="{BB962C8B-B14F-4D97-AF65-F5344CB8AC3E}">
        <p14:creationId xmlns:p14="http://schemas.microsoft.com/office/powerpoint/2010/main" val="197341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8FBFC-59F1-DC65-F815-9A7944DB2067}"/>
              </a:ext>
            </a:extLst>
          </p:cNvPr>
          <p:cNvSpPr>
            <a:spLocks noGrp="1"/>
          </p:cNvSpPr>
          <p:nvPr>
            <p:ph type="title"/>
          </p:nvPr>
        </p:nvSpPr>
        <p:spPr/>
        <p:txBody>
          <a:bodyPr numCol="1"/>
          <a:lstStyle/>
          <a:p>
            <a:r>
              <a:rPr dirty="0" lang="en-US"/>
              <a:t>Derivation Tree or Parse Tree</a:t>
            </a:r>
            <a:endParaRPr altLang="en-IN" dirty="0" lang="en-IN"/>
          </a:p>
        </p:txBody>
      </p:sp>
      <p:sp>
        <p:nvSpPr>
          <p:cNvPr id="3" name="Content Placeholder 2">
            <a:extLst>
              <a:ext uri="{FF2B5EF4-FFF2-40B4-BE49-F238E27FC236}">
                <a16:creationId xmlns:a16="http://schemas.microsoft.com/office/drawing/2014/main" id="{C6583DF3-3DC7-B4BC-C0F2-F3E59B82C0AF}"/>
              </a:ext>
            </a:extLst>
          </p:cNvPr>
          <p:cNvSpPr>
            <a:spLocks noGrp="1"/>
          </p:cNvSpPr>
          <p:nvPr>
            <p:ph idx="1"/>
          </p:nvPr>
        </p:nvSpPr>
        <p:spPr/>
        <p:txBody>
          <a:bodyPr numCol="1"/>
          <a:lstStyle/>
          <a:p>
            <a:pPr>
              <a:buFont charset="0" panose="020B0604020202020204" pitchFamily="34" typeface="Arial"/>
              <a:buChar char="•"/>
            </a:pPr>
            <a:r>
              <a:rPr altLang="en-IN" dirty="0" lang="en-IN"/>
              <a:t>Pictorial representation of derivation.</a:t>
            </a:r>
          </a:p>
          <a:p>
            <a:pPr algn="just">
              <a:buFont charset="0" panose="020B0604020202020204" pitchFamily="34" typeface="Arial"/>
              <a:buChar char="•"/>
            </a:pPr>
            <a:r>
              <a:rPr dirty="0" lang="en-US"/>
              <a:t>A derivation tree or parse tree is an ordered rooted tree that graphically represents the semantic information a string derived from a context-free grammar</a:t>
            </a:r>
          </a:p>
          <a:p>
            <a:pPr>
              <a:buFont charset="0" panose="020B0604020202020204" pitchFamily="34" typeface="Arial"/>
              <a:buChar char="•"/>
            </a:pPr>
            <a:r>
              <a:rPr dirty="0" lang="en-US"/>
              <a:t>Representation Technique</a:t>
            </a:r>
          </a:p>
          <a:p>
            <a:pPr lvl="1">
              <a:buFont charset="0" panose="020B0604020202020204" pitchFamily="34" typeface="Arial"/>
              <a:buChar char="•"/>
            </a:pPr>
            <a:r>
              <a:rPr dirty="0" lang="en-US" sz="2000"/>
              <a:t>Root vertex - Must be labelled by the start symbol.</a:t>
            </a:r>
          </a:p>
          <a:p>
            <a:pPr lvl="1">
              <a:buFont charset="0" panose="020B0604020202020204" pitchFamily="34" typeface="Arial"/>
              <a:buChar char="•"/>
            </a:pPr>
            <a:r>
              <a:rPr dirty="0" lang="en-US" sz="2000"/>
              <a:t>Vertex - Labelled by a non-terminal symbol.</a:t>
            </a:r>
          </a:p>
          <a:p>
            <a:pPr lvl="1">
              <a:buFont charset="0" panose="020B0604020202020204" pitchFamily="34" typeface="Arial"/>
              <a:buChar char="•"/>
            </a:pPr>
            <a:r>
              <a:rPr dirty="0" lang="en-US" sz="2000"/>
              <a:t>Leaves - Labelled by a terminal symbol or ε. </a:t>
            </a:r>
          </a:p>
        </p:txBody>
      </p:sp>
      <p:pic>
        <p:nvPicPr>
          <p:cNvPr id="5" name="Picture 4">
            <a:extLst>
              <a:ext uri="{FF2B5EF4-FFF2-40B4-BE49-F238E27FC236}">
                <a16:creationId xmlns:a16="http://schemas.microsoft.com/office/drawing/2014/main" id="{7E948B54-6E86-13FD-E8D7-FA1583656AB1}"/>
              </a:ext>
            </a:extLst>
          </p:cNvPr>
          <p:cNvPicPr>
            <a:picLocks noChangeAspect="1"/>
          </p:cNvPicPr>
          <p:nvPr/>
        </p:nvPicPr>
        <p:blipFill>
          <a:blip r:embed="rId2"/>
          <a:stretch>
            <a:fillRect/>
          </a:stretch>
        </p:blipFill>
        <p:spPr>
          <a:xfrm>
            <a:off x="6462349" y="3857414"/>
            <a:ext cx="4632371" cy="2373476"/>
          </a:xfrm>
          <a:prstGeom prst="rect">
            <a:avLst/>
          </a:prstGeom>
        </p:spPr>
      </p:pic>
      <p:sp>
        <p:nvSpPr>
          <p:cNvPr id="7" name="TextBox 6">
            <a:extLst>
              <a:ext uri="{FF2B5EF4-FFF2-40B4-BE49-F238E27FC236}">
                <a16:creationId xmlns:a16="http://schemas.microsoft.com/office/drawing/2014/main" id="{87CCA143-01AE-7357-9DC0-2526CBBAC975}"/>
              </a:ext>
            </a:extLst>
          </p:cNvPr>
          <p:cNvSpPr txBox="1"/>
          <p:nvPr/>
        </p:nvSpPr>
        <p:spPr>
          <a:xfrm>
            <a:off x="1159781" y="4567534"/>
            <a:ext cx="5883956" cy="984885"/>
          </a:xfrm>
          <a:prstGeom prst="rect">
            <a:avLst/>
          </a:prstGeom>
          <a:noFill/>
        </p:spPr>
        <p:txBody>
          <a:bodyPr numCol="1" wrap="square">
            <a:spAutoFit/>
          </a:bodyPr>
          <a:lstStyle/>
          <a:p>
            <a:pPr indent="0" marL="0">
              <a:buNone/>
            </a:pPr>
            <a:r>
              <a:rPr dirty="0" lang="en-US" sz="2000">
                <a:solidFill>
                  <a:schemeClr val="tx1">
                    <a:lumMod val="75000"/>
                    <a:lumOff val="25000"/>
                  </a:schemeClr>
                </a:solidFill>
              </a:rPr>
              <a:t>If S </a:t>
            </a:r>
            <a:r>
              <a:rPr altLang="en-IN" dirty="0" lang="en-IN" sz="2000">
                <a:solidFill>
                  <a:schemeClr val="tx1">
                    <a:lumMod val="75000"/>
                    <a:lumOff val="25000"/>
                  </a:schemeClr>
                </a:solidFill>
              </a:rPr>
              <a:t>→ x1 x2 ….xn is a production rule in a CFG, then the parse tree/ derivation tree will be as follows: </a:t>
            </a:r>
            <a:br>
              <a:rPr dirty="0" lang="en-US"/>
            </a:br>
            <a:endParaRPr altLang="en-IN" dirty="0" lang="en-IN"/>
          </a:p>
        </p:txBody>
      </p:sp>
    </p:spTree>
    <p:extLst>
      <p:ext uri="{BB962C8B-B14F-4D97-AF65-F5344CB8AC3E}">
        <p14:creationId xmlns:p14="http://schemas.microsoft.com/office/powerpoint/2010/main" val="36374080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3">
                                            <p:txEl>
                                              <p:pRg end="2" st="2"/>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3" st="3"/>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4" st="4"/>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7"/>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7"/>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63194-1AAA-2A54-3DEE-F6132BDF498A}"/>
              </a:ext>
            </a:extLst>
          </p:cNvPr>
          <p:cNvSpPr>
            <a:spLocks noGrp="1"/>
          </p:cNvSpPr>
          <p:nvPr>
            <p:ph type="title"/>
          </p:nvPr>
        </p:nvSpPr>
        <p:spPr/>
        <p:txBody>
          <a:bodyPr numCol="1"/>
          <a:lstStyle/>
          <a:p>
            <a:r>
              <a:rPr altLang="en-IN" dirty="0" lang="en-IN"/>
              <a:t>Derivation or Yield of a Tree</a:t>
            </a:r>
          </a:p>
        </p:txBody>
      </p:sp>
      <p:sp>
        <p:nvSpPr>
          <p:cNvPr id="3" name="Content Placeholder 2">
            <a:extLst>
              <a:ext uri="{FF2B5EF4-FFF2-40B4-BE49-F238E27FC236}">
                <a16:creationId xmlns:a16="http://schemas.microsoft.com/office/drawing/2014/main" id="{30D1199F-61E4-7FAF-CE69-47DC1AEB9BF9}"/>
              </a:ext>
            </a:extLst>
          </p:cNvPr>
          <p:cNvSpPr>
            <a:spLocks noGrp="1"/>
          </p:cNvSpPr>
          <p:nvPr>
            <p:ph idx="1"/>
          </p:nvPr>
        </p:nvSpPr>
        <p:spPr>
          <a:xfrm>
            <a:off x="1097280" y="1845734"/>
            <a:ext cx="10287000" cy="1415184"/>
          </a:xfrm>
        </p:spPr>
        <p:txBody>
          <a:bodyPr numCol="1">
            <a:normAutofit/>
          </a:bodyPr>
          <a:lstStyle/>
          <a:p>
            <a:r>
              <a:rPr altLang="en-IN" dirty="0" lang="en-IN" sz="2400"/>
              <a:t>The derivation or yield of a tree is the final string obtained by concatenating the labels of leaves of the tree from left to right, ignoring the nulls.</a:t>
            </a:r>
          </a:p>
          <a:p>
            <a:r>
              <a:rPr altLang="en-IN" dirty="0" lang="en-IN" sz="2400"/>
              <a:t>However, if all the leaves are null, then derivation is null.</a:t>
            </a:r>
          </a:p>
        </p:txBody>
      </p:sp>
      <p:pic>
        <p:nvPicPr>
          <p:cNvPr id="5" name="Picture 4">
            <a:extLst>
              <a:ext uri="{FF2B5EF4-FFF2-40B4-BE49-F238E27FC236}">
                <a16:creationId xmlns:a16="http://schemas.microsoft.com/office/drawing/2014/main" id="{1FB83A4C-2A2E-04EE-93EB-4BB9EE718E3F}"/>
              </a:ext>
            </a:extLst>
          </p:cNvPr>
          <p:cNvPicPr>
            <a:picLocks noChangeAspect="1"/>
          </p:cNvPicPr>
          <p:nvPr/>
        </p:nvPicPr>
        <p:blipFill>
          <a:blip r:embed="rId2"/>
          <a:stretch>
            <a:fillRect/>
          </a:stretch>
        </p:blipFill>
        <p:spPr>
          <a:xfrm>
            <a:off x="2381250" y="3260918"/>
            <a:ext cx="3251894" cy="2830850"/>
          </a:xfrm>
          <a:prstGeom prst="rect">
            <a:avLst/>
          </a:prstGeom>
        </p:spPr>
      </p:pic>
      <p:sp>
        <p:nvSpPr>
          <p:cNvPr id="6" name="Arrow: Right 5">
            <a:extLst>
              <a:ext uri="{FF2B5EF4-FFF2-40B4-BE49-F238E27FC236}">
                <a16:creationId xmlns:a16="http://schemas.microsoft.com/office/drawing/2014/main" id="{1CCF57D6-E4CA-12F5-12EC-BE91E3DE5941}"/>
              </a:ext>
            </a:extLst>
          </p:cNvPr>
          <p:cNvSpPr/>
          <p:nvPr/>
        </p:nvSpPr>
        <p:spPr>
          <a:xfrm>
            <a:off x="5633144" y="4137660"/>
            <a:ext cx="2024956" cy="457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anchor="ctr" numCol="1" rtlCol="0"/>
          <a:lstStyle/>
          <a:p>
            <a:pPr algn="ctr"/>
            <a:endParaRPr altLang="en-IN" lang="en-IN"/>
          </a:p>
        </p:txBody>
      </p:sp>
      <p:sp>
        <p:nvSpPr>
          <p:cNvPr id="7" name="TextBox 6">
            <a:extLst>
              <a:ext uri="{FF2B5EF4-FFF2-40B4-BE49-F238E27FC236}">
                <a16:creationId xmlns:a16="http://schemas.microsoft.com/office/drawing/2014/main" id="{4AF05823-8D79-7746-829E-99C781ABE3DA}"/>
              </a:ext>
            </a:extLst>
          </p:cNvPr>
          <p:cNvSpPr txBox="1"/>
          <p:nvPr/>
        </p:nvSpPr>
        <p:spPr>
          <a:xfrm>
            <a:off x="8012430" y="4137660"/>
            <a:ext cx="1508760" cy="461665"/>
          </a:xfrm>
          <a:prstGeom prst="rect">
            <a:avLst/>
          </a:prstGeom>
          <a:noFill/>
        </p:spPr>
        <p:txBody>
          <a:bodyPr numCol="1" rtlCol="0" wrap="square">
            <a:spAutoFit/>
          </a:bodyPr>
          <a:lstStyle/>
          <a:p>
            <a:r>
              <a:rPr altLang="en-IN" b="1" dirty="0" lang="en-IN" sz="2400"/>
              <a:t>String: aa</a:t>
            </a:r>
          </a:p>
        </p:txBody>
      </p:sp>
    </p:spTree>
    <p:extLst>
      <p:ext uri="{BB962C8B-B14F-4D97-AF65-F5344CB8AC3E}">
        <p14:creationId xmlns:p14="http://schemas.microsoft.com/office/powerpoint/2010/main" val="248889404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5"/>
                                        </p:tgtEl>
                                        <p:attrNameLst>
                                          <p:attrName>style.visibility</p:attrName>
                                        </p:attrNameLst>
                                      </p:cBhvr>
                                      <p:to>
                                        <p:strVal val="visible"/>
                                      </p:to>
                                    </p:set>
                                  </p:childTnLst>
                                </p:cTn>
                              </p:par>
                              <p:par>
                                <p:cTn fill="hold" grpId="0" id="11" nodeType="withEffect" presetClass="entr" presetID="1" presetSubtype="0">
                                  <p:stCondLst>
                                    <p:cond delay="0"/>
                                  </p:stCondLst>
                                  <p:childTnLst>
                                    <p:set>
                                      <p:cBhvr>
                                        <p:cTn dur="1" fill="hold" id="12">
                                          <p:stCondLst>
                                            <p:cond delay="0"/>
                                          </p:stCondLst>
                                        </p:cTn>
                                        <p:tgtEl>
                                          <p:spTgt spid="6"/>
                                        </p:tgtEl>
                                        <p:attrNameLst>
                                          <p:attrName>style.visibility</p:attrName>
                                        </p:attrNameLst>
                                      </p:cBhvr>
                                      <p:to>
                                        <p:strVal val="visible"/>
                                      </p:to>
                                    </p:set>
                                  </p:childTnLst>
                                </p:cTn>
                              </p:par>
                              <p:par>
                                <p:cTn fill="hold" grpId="0" id="13" nodeType="withEffect" presetClass="entr" presetID="1" presetSubtype="0">
                                  <p:stCondLst>
                                    <p:cond delay="0"/>
                                  </p:stCondLst>
                                  <p:childTnLst>
                                    <p:set>
                                      <p:cBhvr>
                                        <p:cTn dur="1" fill="hold" id="14">
                                          <p:stCondLst>
                                            <p:cond delay="0"/>
                                          </p:stCondLst>
                                        </p:cTn>
                                        <p:tgtEl>
                                          <p:spTgt spid="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P grpId="0" spid="7"/>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76C0A3-175F-B5A4-0A75-3760A2257994}"/>
              </a:ext>
            </a:extLst>
          </p:cNvPr>
          <p:cNvPicPr>
            <a:picLocks noChangeAspect="1"/>
          </p:cNvPicPr>
          <p:nvPr/>
        </p:nvPicPr>
        <p:blipFill>
          <a:blip r:embed="rId2"/>
          <a:srcRect b="68665"/>
          <a:stretch/>
        </p:blipFill>
        <p:spPr>
          <a:xfrm>
            <a:off x="544137" y="97725"/>
            <a:ext cx="11103726" cy="1925385"/>
          </a:xfrm>
          <a:prstGeom prst="rect">
            <a:avLst/>
          </a:prstGeom>
        </p:spPr>
      </p:pic>
    </p:spTree>
    <p:extLst>
      <p:ext uri="{BB962C8B-B14F-4D97-AF65-F5344CB8AC3E}">
        <p14:creationId xmlns:p14="http://schemas.microsoft.com/office/powerpoint/2010/main" val="34349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945D7-ADBF-8842-3EB7-62C3298CB8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73824A-14A1-3697-B333-6FB8C6B5C5B2}"/>
              </a:ext>
            </a:extLst>
          </p:cNvPr>
          <p:cNvPicPr>
            <a:picLocks noChangeAspect="1"/>
          </p:cNvPicPr>
          <p:nvPr/>
        </p:nvPicPr>
        <p:blipFill>
          <a:blip r:embed="rId2"/>
          <a:srcRect b="68665"/>
          <a:stretch/>
        </p:blipFill>
        <p:spPr>
          <a:xfrm>
            <a:off x="544137" y="97725"/>
            <a:ext cx="11103726" cy="1925385"/>
          </a:xfrm>
          <a:prstGeom prst="rect">
            <a:avLst/>
          </a:prstGeom>
        </p:spPr>
      </p:pic>
      <p:pic>
        <p:nvPicPr>
          <p:cNvPr id="2" name="Picture 1">
            <a:extLst>
              <a:ext uri="{FF2B5EF4-FFF2-40B4-BE49-F238E27FC236}">
                <a16:creationId xmlns:a16="http://schemas.microsoft.com/office/drawing/2014/main" id="{FB7E34EF-7C25-342E-C998-1B50D3CE66B0}"/>
              </a:ext>
            </a:extLst>
          </p:cNvPr>
          <p:cNvPicPr>
            <a:picLocks noChangeAspect="1"/>
          </p:cNvPicPr>
          <p:nvPr/>
        </p:nvPicPr>
        <p:blipFill>
          <a:blip r:embed="rId2"/>
          <a:srcRect r="48387" t="30777"/>
          <a:stretch/>
        </p:blipFill>
        <p:spPr>
          <a:xfrm>
            <a:off x="544137" y="1988820"/>
            <a:ext cx="5730933" cy="4253384"/>
          </a:xfrm>
          <a:prstGeom prst="rect">
            <a:avLst/>
          </a:prstGeom>
        </p:spPr>
      </p:pic>
    </p:spTree>
    <p:extLst>
      <p:ext uri="{BB962C8B-B14F-4D97-AF65-F5344CB8AC3E}">
        <p14:creationId xmlns:p14="http://schemas.microsoft.com/office/powerpoint/2010/main" val="3847955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1F51-68AE-5196-BDB3-9AAC7463AEE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2D19F8-BB6B-9529-22AA-7F69E9BA060B}"/>
              </a:ext>
            </a:extLst>
          </p:cNvPr>
          <p:cNvPicPr>
            <a:picLocks noChangeAspect="1"/>
          </p:cNvPicPr>
          <p:nvPr/>
        </p:nvPicPr>
        <p:blipFill>
          <a:blip r:embed="rId2"/>
          <a:stretch>
            <a:fillRect/>
          </a:stretch>
        </p:blipFill>
        <p:spPr>
          <a:xfrm>
            <a:off x="544137" y="97725"/>
            <a:ext cx="11103726" cy="6144479"/>
          </a:xfrm>
          <a:prstGeom prst="rect">
            <a:avLst/>
          </a:prstGeom>
        </p:spPr>
      </p:pic>
    </p:spTree>
    <p:extLst>
      <p:ext uri="{BB962C8B-B14F-4D97-AF65-F5344CB8AC3E}">
        <p14:creationId xmlns:p14="http://schemas.microsoft.com/office/powerpoint/2010/main" val="144922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398E-3294-7FE9-31F1-E72E289BFFBC}"/>
              </a:ext>
            </a:extLst>
          </p:cNvPr>
          <p:cNvSpPr>
            <a:spLocks noGrp="1"/>
          </p:cNvSpPr>
          <p:nvPr>
            <p:ph type="title"/>
          </p:nvPr>
        </p:nvSpPr>
        <p:spPr/>
        <p:txBody>
          <a:bodyPr numCol="1"/>
          <a:lstStyle/>
          <a:p>
            <a:r>
              <a:rPr altLang="en-IN" dirty="0" lang="en-IN"/>
              <a:t>Type of Derivation Tree</a:t>
            </a:r>
          </a:p>
        </p:txBody>
      </p:sp>
      <p:sp>
        <p:nvSpPr>
          <p:cNvPr id="3" name="Content Placeholder 2">
            <a:extLst>
              <a:ext uri="{FF2B5EF4-FFF2-40B4-BE49-F238E27FC236}">
                <a16:creationId xmlns:a16="http://schemas.microsoft.com/office/drawing/2014/main" id="{2F390D1A-0598-046B-0043-973B8D73B062}"/>
              </a:ext>
            </a:extLst>
          </p:cNvPr>
          <p:cNvSpPr>
            <a:spLocks noGrp="1"/>
          </p:cNvSpPr>
          <p:nvPr>
            <p:ph idx="1"/>
          </p:nvPr>
        </p:nvSpPr>
        <p:spPr/>
        <p:txBody>
          <a:bodyPr numCol="1">
            <a:normAutofit/>
          </a:bodyPr>
          <a:lstStyle/>
          <a:p>
            <a:r>
              <a:rPr b="1" dirty="0" i="0" lang="en-US" sz="2400">
                <a:solidFill>
                  <a:srgbClr val="222222"/>
                </a:solidFill>
                <a:effectLst/>
                <a:latin charset="0" panose="02020603050405020304" pitchFamily="18" typeface="Times New Roman"/>
              </a:rPr>
              <a:t>Leftmost derivation tree</a:t>
            </a:r>
            <a:br>
              <a:rPr b="1" dirty="0" i="0" lang="en-US" sz="2400">
                <a:solidFill>
                  <a:srgbClr val="222222"/>
                </a:solidFill>
                <a:effectLst/>
                <a:latin charset="0" panose="02020603050405020304" pitchFamily="18" typeface="Times New Roman"/>
              </a:rPr>
            </a:br>
            <a:r>
              <a:rPr b="0" dirty="0" i="0" lang="en-US" sz="2400">
                <a:solidFill>
                  <a:srgbClr val="222222"/>
                </a:solidFill>
                <a:effectLst/>
                <a:latin charset="0" panose="02020603050405020304" pitchFamily="18" typeface="Times New Roman"/>
              </a:rPr>
              <a:t>A leftmost derivation tree is obtained by applying production to the leftmost vertex in each step.</a:t>
            </a:r>
          </a:p>
          <a:p>
            <a:endParaRPr dirty="0" lang="en-US" sz="2400">
              <a:solidFill>
                <a:srgbClr val="222222"/>
              </a:solidFill>
              <a:latin charset="0" panose="02020603050405020304" pitchFamily="18" typeface="Times New Roman"/>
            </a:endParaRPr>
          </a:p>
          <a:p>
            <a:r>
              <a:rPr b="1" dirty="0" i="0" lang="en-US" sz="2400">
                <a:solidFill>
                  <a:srgbClr val="222222"/>
                </a:solidFill>
                <a:effectLst/>
                <a:latin charset="0" panose="02020603050405020304" pitchFamily="18" typeface="Times New Roman"/>
              </a:rPr>
              <a:t>Rightmost derivation tree</a:t>
            </a:r>
            <a:br>
              <a:rPr b="0" dirty="0" i="0" lang="en-US" sz="2400">
                <a:solidFill>
                  <a:srgbClr val="222222"/>
                </a:solidFill>
                <a:effectLst/>
                <a:latin charset="0" panose="02020603050405020304" pitchFamily="18" typeface="Times New Roman"/>
              </a:rPr>
            </a:br>
            <a:r>
              <a:rPr b="0" dirty="0" i="0" lang="en-US" sz="2400">
                <a:solidFill>
                  <a:srgbClr val="222222"/>
                </a:solidFill>
                <a:effectLst/>
                <a:latin charset="0" panose="02020603050405020304" pitchFamily="18" typeface="Times New Roman"/>
              </a:rPr>
              <a:t>A rightmost derivation tree is obtained by applying production to the rightmost vertex in each step.</a:t>
            </a:r>
            <a:r>
              <a:rPr dirty="0" lang="en-US"/>
              <a:t> </a:t>
            </a:r>
            <a:br>
              <a:rPr dirty="0" lang="en-US"/>
            </a:br>
            <a:endParaRPr altLang="en-IN" dirty="0" lang="en-IN" sz="2800"/>
          </a:p>
        </p:txBody>
      </p:sp>
    </p:spTree>
    <p:extLst>
      <p:ext uri="{BB962C8B-B14F-4D97-AF65-F5344CB8AC3E}">
        <p14:creationId xmlns:p14="http://schemas.microsoft.com/office/powerpoint/2010/main" val="136619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54709-B843-113F-4640-EAD0C567B2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D900F00-08B7-E0A7-BF35-5DCFC7DF745A}"/>
              </a:ext>
            </a:extLst>
          </p:cNvPr>
          <p:cNvPicPr>
            <a:picLocks noChangeAspect="1"/>
          </p:cNvPicPr>
          <p:nvPr/>
        </p:nvPicPr>
        <p:blipFill>
          <a:blip r:embed="rId2"/>
          <a:srcRect b="58016" r="54827"/>
          <a:stretch/>
        </p:blipFill>
        <p:spPr>
          <a:xfrm>
            <a:off x="390299" y="125731"/>
            <a:ext cx="4981801" cy="2594610"/>
          </a:xfrm>
          <a:prstGeom prst="rect">
            <a:avLst/>
          </a:prstGeom>
        </p:spPr>
      </p:pic>
    </p:spTree>
    <p:extLst>
      <p:ext uri="{BB962C8B-B14F-4D97-AF65-F5344CB8AC3E}">
        <p14:creationId xmlns:p14="http://schemas.microsoft.com/office/powerpoint/2010/main" val="605741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7578-5FC6-B8B8-7A11-774F047238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C051BF9-722A-5193-9176-A343E4F42708}"/>
              </a:ext>
            </a:extLst>
          </p:cNvPr>
          <p:cNvPicPr>
            <a:picLocks noChangeAspect="1"/>
          </p:cNvPicPr>
          <p:nvPr/>
        </p:nvPicPr>
        <p:blipFill>
          <a:blip r:embed="rId2"/>
          <a:srcRect r="54827"/>
          <a:stretch/>
        </p:blipFill>
        <p:spPr>
          <a:xfrm>
            <a:off x="390299" y="125730"/>
            <a:ext cx="4981801" cy="6179979"/>
          </a:xfrm>
          <a:prstGeom prst="rect">
            <a:avLst/>
          </a:prstGeom>
        </p:spPr>
      </p:pic>
    </p:spTree>
    <p:extLst>
      <p:ext uri="{BB962C8B-B14F-4D97-AF65-F5344CB8AC3E}">
        <p14:creationId xmlns:p14="http://schemas.microsoft.com/office/powerpoint/2010/main" val="2989125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6F563F-DDBC-7ACD-49FB-0178E7B303BA}"/>
              </a:ext>
            </a:extLst>
          </p:cNvPr>
          <p:cNvPicPr>
            <a:picLocks noChangeAspect="1"/>
          </p:cNvPicPr>
          <p:nvPr/>
        </p:nvPicPr>
        <p:blipFill>
          <a:blip r:embed="rId2"/>
          <a:stretch>
            <a:fillRect/>
          </a:stretch>
        </p:blipFill>
        <p:spPr>
          <a:xfrm>
            <a:off x="390299" y="125730"/>
            <a:ext cx="11028271" cy="6179979"/>
          </a:xfrm>
          <a:prstGeom prst="rect">
            <a:avLst/>
          </a:prstGeom>
        </p:spPr>
      </p:pic>
    </p:spTree>
    <p:extLst>
      <p:ext uri="{BB962C8B-B14F-4D97-AF65-F5344CB8AC3E}">
        <p14:creationId xmlns:p14="http://schemas.microsoft.com/office/powerpoint/2010/main" val="2018217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35D2E0-DF25-2CAD-0E87-D25846D98940}"/>
              </a:ext>
            </a:extLst>
          </p:cNvPr>
          <p:cNvPicPr>
            <a:picLocks noChangeAspect="1"/>
          </p:cNvPicPr>
          <p:nvPr/>
        </p:nvPicPr>
        <p:blipFill>
          <a:blip r:embed="rId2"/>
          <a:srcRect b="54955" r="51629"/>
          <a:stretch/>
        </p:blipFill>
        <p:spPr>
          <a:xfrm>
            <a:off x="364059" y="141482"/>
            <a:ext cx="5545251" cy="2796028"/>
          </a:xfrm>
          <a:prstGeom prst="rect">
            <a:avLst/>
          </a:prstGeom>
        </p:spPr>
      </p:pic>
    </p:spTree>
    <p:extLst>
      <p:ext uri="{BB962C8B-B14F-4D97-AF65-F5344CB8AC3E}">
        <p14:creationId xmlns:p14="http://schemas.microsoft.com/office/powerpoint/2010/main" val="4087597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512B3-3B46-6736-CAC3-D08F87DDF8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2BCDE0-721A-1913-4CF0-2592DD4CE87D}"/>
              </a:ext>
            </a:extLst>
          </p:cNvPr>
          <p:cNvPicPr>
            <a:picLocks noChangeAspect="1"/>
          </p:cNvPicPr>
          <p:nvPr/>
        </p:nvPicPr>
        <p:blipFill>
          <a:blip r:embed="rId2"/>
          <a:stretch>
            <a:fillRect/>
          </a:stretch>
        </p:blipFill>
        <p:spPr>
          <a:xfrm>
            <a:off x="364059" y="141482"/>
            <a:ext cx="11463882" cy="6207192"/>
          </a:xfrm>
          <a:prstGeom prst="rect">
            <a:avLst/>
          </a:prstGeom>
        </p:spPr>
      </p:pic>
    </p:spTree>
    <p:extLst>
      <p:ext uri="{BB962C8B-B14F-4D97-AF65-F5344CB8AC3E}">
        <p14:creationId xmlns:p14="http://schemas.microsoft.com/office/powerpoint/2010/main" val="1373553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AA89-D540-6D8F-B2C9-AC86EFAAA66B}"/>
              </a:ext>
            </a:extLst>
          </p:cNvPr>
          <p:cNvSpPr txBox="1">
            <a:spLocks/>
          </p:cNvSpPr>
          <p:nvPr/>
        </p:nvSpPr>
        <p:spPr>
          <a:xfrm>
            <a:off x="960120" y="263743"/>
            <a:ext cx="10058400" cy="1450757"/>
          </a:xfrm>
          <a:prstGeom prst="rect">
            <a:avLst/>
          </a:prstGeom>
        </p:spPr>
        <p:txBody>
          <a:bodyPr numCol="1"/>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pPr algn="ctr"/>
            <a:r>
              <a:rPr altLang="en-IN" dirty="0" lang="en-IN"/>
              <a:t>Ambiguity in Context Free Grammar</a:t>
            </a:r>
          </a:p>
        </p:txBody>
      </p:sp>
      <p:sp>
        <p:nvSpPr>
          <p:cNvPr id="3" name="Content Placeholder 2">
            <a:extLst>
              <a:ext uri="{FF2B5EF4-FFF2-40B4-BE49-F238E27FC236}">
                <a16:creationId xmlns:a16="http://schemas.microsoft.com/office/drawing/2014/main" id="{E6B10247-42D6-B14D-BC32-5928D5FD41F1}"/>
              </a:ext>
            </a:extLst>
          </p:cNvPr>
          <p:cNvSpPr txBox="1">
            <a:spLocks/>
          </p:cNvSpPr>
          <p:nvPr/>
        </p:nvSpPr>
        <p:spPr>
          <a:xfrm>
            <a:off x="708660" y="1051561"/>
            <a:ext cx="10927080" cy="2311647"/>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lgn="just">
              <a:buFont charset="2" panose="05000000000000000000" pitchFamily="2" typeface="Wingdings"/>
              <a:buChar char="§"/>
            </a:pPr>
            <a:r>
              <a:rPr dirty="0" lang="en-US"/>
              <a:t>If a context free grammar G has more than one derivation tree (leftmost or rightmost derivation tree) for some string w</a:t>
            </a:r>
            <a:r>
              <a:rPr altLang="en-IN" dirty="0" lang="en-IN" sz="1800">
                <a:solidFill>
                  <a:srgbClr val="1F1F1F"/>
                </a:solidFill>
                <a:latin typeface="Google Sans"/>
              </a:rPr>
              <a:t>∈</a:t>
            </a:r>
            <a:r>
              <a:rPr dirty="0" lang="en-US"/>
              <a:t>L(G), it is called an ambiguous grammar. </a:t>
            </a:r>
          </a:p>
          <a:p>
            <a:pPr algn="just">
              <a:buFont charset="2" panose="05000000000000000000" pitchFamily="2" typeface="Wingdings"/>
              <a:buChar char="§"/>
            </a:pPr>
            <a:r>
              <a:rPr dirty="0" lang="en-US"/>
              <a:t>There exist multiple right-most or left-most derivations for some string generated from that grammar.  </a:t>
            </a:r>
          </a:p>
          <a:p>
            <a:pPr algn="just">
              <a:buFont charset="2" panose="05000000000000000000" pitchFamily="2" typeface="Wingdings"/>
              <a:buChar char="§"/>
            </a:pPr>
            <a:endParaRPr dirty="0" lang="en-US" sz="100"/>
          </a:p>
          <a:p>
            <a:pPr>
              <a:spcBef>
                <a:spcPts val="200"/>
              </a:spcBef>
              <a:buFont charset="0" panose="020F0502020204030204" pitchFamily="34" typeface="Calibri"/>
              <a:buNone/>
            </a:pPr>
            <a:r>
              <a:rPr b="1" dirty="0" lang="en-US"/>
              <a:t>Example</a:t>
            </a:r>
            <a:r>
              <a:rPr dirty="0" lang="en-US"/>
              <a:t>:  Check whether the grammar G with production rules −  E → E+E | E*E |E| a     is ambiguous or not.</a:t>
            </a:r>
          </a:p>
          <a:p>
            <a:pPr>
              <a:spcBef>
                <a:spcPts val="200"/>
              </a:spcBef>
              <a:buFont charset="0" panose="020F0502020204030204" pitchFamily="34" typeface="Calibri"/>
              <a:buNone/>
            </a:pPr>
            <a:r>
              <a:rPr dirty="0" lang="en-US"/>
              <a:t>Solution: Let’s assume a string w = </a:t>
            </a:r>
            <a:r>
              <a:rPr dirty="0" err="1" lang="en-US"/>
              <a:t>a+a</a:t>
            </a:r>
            <a:r>
              <a:rPr dirty="0" lang="en-US"/>
              <a:t>*a</a:t>
            </a:r>
          </a:p>
          <a:p>
            <a:pPr algn="just"/>
            <a:endParaRPr altLang="en-IN" dirty="0" lang="en-IN"/>
          </a:p>
        </p:txBody>
      </p:sp>
      <p:sp>
        <p:nvSpPr>
          <p:cNvPr id="5" name="TextBox 4">
            <a:extLst>
              <a:ext uri="{FF2B5EF4-FFF2-40B4-BE49-F238E27FC236}">
                <a16:creationId xmlns:a16="http://schemas.microsoft.com/office/drawing/2014/main" id="{D9A62412-71D9-DE11-EFF8-F0CF24A1289B}"/>
              </a:ext>
            </a:extLst>
          </p:cNvPr>
          <p:cNvSpPr txBox="1"/>
          <p:nvPr/>
        </p:nvSpPr>
        <p:spPr>
          <a:xfrm>
            <a:off x="931545" y="3564880"/>
            <a:ext cx="2322195" cy="2031325"/>
          </a:xfrm>
          <a:prstGeom prst="rect">
            <a:avLst/>
          </a:prstGeom>
          <a:noFill/>
        </p:spPr>
        <p:txBody>
          <a:bodyPr numCol="1" wrap="square">
            <a:spAutoFit/>
          </a:bodyPr>
          <a:lstStyle/>
          <a:p>
            <a:pPr>
              <a:buFont charset="0" panose="020F0502020204030204" pitchFamily="34" typeface="Calibri"/>
              <a:buNone/>
            </a:pPr>
            <a:r>
              <a:rPr altLang="en-IN" b="1" dirty="0" lang="en-IN">
                <a:solidFill>
                  <a:srgbClr val="000000"/>
                </a:solidFill>
                <a:latin charset="0" panose="020B0604030504040204" pitchFamily="34" typeface="Verdana"/>
              </a:rPr>
              <a:t>Derivation 1</a:t>
            </a:r>
            <a:r>
              <a:rPr altLang="en-IN" dirty="0" lang="en-IN">
                <a:solidFill>
                  <a:srgbClr val="000000"/>
                </a:solidFill>
                <a:latin charset="0" panose="020B0604030504040204" pitchFamily="34" typeface="Verdana"/>
              </a:rPr>
              <a:t> </a:t>
            </a:r>
          </a:p>
          <a:p>
            <a:pPr>
              <a:buFont charset="0" panose="020F0502020204030204" pitchFamily="34" typeface="Calibri"/>
              <a:buNone/>
            </a:pPr>
            <a:endParaRPr altLang="en-IN" dirty="0" lang="en-IN">
              <a:solidFill>
                <a:srgbClr val="000000"/>
              </a:solidFill>
              <a:latin charset="0" panose="020B0604030504040204" pitchFamily="34" typeface="Verdana"/>
            </a:endParaRPr>
          </a:p>
          <a:p>
            <a:pPr>
              <a:buFont charset="0" panose="020F0502020204030204" pitchFamily="34" typeface="Calibri"/>
              <a:buNone/>
            </a:pPr>
            <a:r>
              <a:rPr altLang="en-IN" dirty="0" lang="en-IN">
                <a:solidFill>
                  <a:srgbClr val="000000"/>
                </a:solidFill>
                <a:latin charset="0" panose="020B0604030504040204" pitchFamily="34" typeface="Verdana"/>
              </a:rPr>
              <a:t>E → E+E </a:t>
            </a:r>
          </a:p>
          <a:p>
            <a:pPr>
              <a:buFont charset="0" panose="020F0502020204030204" pitchFamily="34" typeface="Calibri"/>
              <a:buNone/>
            </a:pPr>
            <a:r>
              <a:rPr altLang="en-IN" dirty="0" lang="en-IN">
                <a:solidFill>
                  <a:srgbClr val="000000"/>
                </a:solidFill>
                <a:latin charset="0" panose="020B0604030504040204" pitchFamily="34" typeface="Verdana"/>
              </a:rPr>
              <a:t>   → a +E </a:t>
            </a:r>
          </a:p>
          <a:p>
            <a:pPr>
              <a:buFont charset="0" panose="020F0502020204030204" pitchFamily="34" typeface="Calibri"/>
              <a:buNone/>
            </a:pPr>
            <a:r>
              <a:rPr altLang="en-IN" dirty="0" lang="en-IN">
                <a:solidFill>
                  <a:srgbClr val="000000"/>
                </a:solidFill>
                <a:latin charset="0" panose="020B0604030504040204" pitchFamily="34" typeface="Verdana"/>
              </a:rPr>
              <a:t>   → a+ E*E </a:t>
            </a:r>
          </a:p>
          <a:p>
            <a:pPr>
              <a:buFont charset="0" panose="020F0502020204030204" pitchFamily="34" typeface="Calibri"/>
              <a:buNone/>
            </a:pPr>
            <a:r>
              <a:rPr altLang="en-IN" dirty="0" lang="en-IN">
                <a:solidFill>
                  <a:srgbClr val="000000"/>
                </a:solidFill>
                <a:latin charset="0" panose="020B0604030504040204" pitchFamily="34" typeface="Verdana"/>
              </a:rPr>
              <a:t>   → </a:t>
            </a:r>
            <a:r>
              <a:rPr altLang="en-IN" dirty="0" err="1" lang="en-IN">
                <a:solidFill>
                  <a:srgbClr val="000000"/>
                </a:solidFill>
                <a:latin charset="0" panose="020B0604030504040204" pitchFamily="34" typeface="Verdana"/>
              </a:rPr>
              <a:t>a+a</a:t>
            </a:r>
            <a:r>
              <a:rPr altLang="en-IN" dirty="0" lang="en-IN">
                <a:solidFill>
                  <a:srgbClr val="000000"/>
                </a:solidFill>
                <a:latin charset="0" panose="020B0604030504040204" pitchFamily="34" typeface="Verdana"/>
              </a:rPr>
              <a:t>*E </a:t>
            </a:r>
          </a:p>
          <a:p>
            <a:pPr>
              <a:buFont charset="0" panose="020F0502020204030204" pitchFamily="34" typeface="Calibri"/>
              <a:buNone/>
            </a:pPr>
            <a:r>
              <a:rPr altLang="en-IN" dirty="0" lang="en-IN">
                <a:solidFill>
                  <a:srgbClr val="000000"/>
                </a:solidFill>
                <a:latin charset="0" panose="020B0604030504040204" pitchFamily="34" typeface="Verdana"/>
              </a:rPr>
              <a:t>   → </a:t>
            </a:r>
            <a:r>
              <a:rPr altLang="en-IN" dirty="0" err="1" lang="en-IN">
                <a:solidFill>
                  <a:srgbClr val="000000"/>
                </a:solidFill>
                <a:latin charset="0" panose="020B0604030504040204" pitchFamily="34" typeface="Verdana"/>
              </a:rPr>
              <a:t>a+a</a:t>
            </a:r>
            <a:r>
              <a:rPr altLang="en-IN" dirty="0" lang="en-IN">
                <a:solidFill>
                  <a:srgbClr val="000000"/>
                </a:solidFill>
                <a:latin charset="0" panose="020B0604030504040204" pitchFamily="34" typeface="Verdana"/>
              </a:rPr>
              <a:t>*a</a:t>
            </a:r>
            <a:endParaRPr dirty="0" lang="en-US">
              <a:solidFill>
                <a:srgbClr val="000000"/>
              </a:solidFill>
              <a:latin charset="0" panose="020B0604030504040204" pitchFamily="34" typeface="Verdana"/>
            </a:endParaRPr>
          </a:p>
        </p:txBody>
      </p:sp>
      <p:sp>
        <p:nvSpPr>
          <p:cNvPr id="7" name="TextBox 6">
            <a:extLst>
              <a:ext uri="{FF2B5EF4-FFF2-40B4-BE49-F238E27FC236}">
                <a16:creationId xmlns:a16="http://schemas.microsoft.com/office/drawing/2014/main" id="{70EF74C8-7A91-216A-8F76-063EC0A3C07E}"/>
              </a:ext>
            </a:extLst>
          </p:cNvPr>
          <p:cNvSpPr txBox="1"/>
          <p:nvPr/>
        </p:nvSpPr>
        <p:spPr>
          <a:xfrm>
            <a:off x="6718459" y="3690153"/>
            <a:ext cx="1943100" cy="2031325"/>
          </a:xfrm>
          <a:prstGeom prst="rect">
            <a:avLst/>
          </a:prstGeom>
          <a:noFill/>
        </p:spPr>
        <p:txBody>
          <a:bodyPr numCol="1" wrap="square">
            <a:spAutoFit/>
          </a:bodyPr>
          <a:lstStyle/>
          <a:p>
            <a:r>
              <a:rPr altLang="en-IN" b="1" dirty="0" i="0" lang="en-IN">
                <a:solidFill>
                  <a:srgbClr val="000000"/>
                </a:solidFill>
                <a:effectLst/>
                <a:latin charset="0" panose="020B0604030504040204" pitchFamily="34" typeface="Verdana"/>
              </a:rPr>
              <a:t>Derivation 2</a:t>
            </a:r>
            <a:r>
              <a:rPr altLang="en-IN" b="0" dirty="0" i="0" lang="en-IN">
                <a:solidFill>
                  <a:srgbClr val="000000"/>
                </a:solidFill>
                <a:effectLst/>
                <a:latin charset="0" panose="020B0604030504040204" pitchFamily="34" typeface="Verdana"/>
              </a:rPr>
              <a:t> </a:t>
            </a:r>
          </a:p>
          <a:p>
            <a:endParaRPr altLang="en-IN" dirty="0" lang="en-IN">
              <a:solidFill>
                <a:srgbClr val="000000"/>
              </a:solidFill>
              <a:latin charset="0" panose="020B0604030504040204" pitchFamily="34" typeface="Verdana"/>
            </a:endParaRPr>
          </a:p>
          <a:p>
            <a:r>
              <a:rPr altLang="en-IN" dirty="0" lang="en-IN">
                <a:solidFill>
                  <a:srgbClr val="000000"/>
                </a:solidFill>
                <a:latin charset="0" panose="020B0604030504040204" pitchFamily="34" typeface="Verdana"/>
              </a:rPr>
              <a:t>E</a:t>
            </a:r>
            <a:r>
              <a:rPr altLang="en-IN" b="0" dirty="0" i="0" lang="en-IN">
                <a:solidFill>
                  <a:srgbClr val="000000"/>
                </a:solidFill>
                <a:effectLst/>
                <a:latin charset="0" panose="020B0604030504040204" pitchFamily="34" typeface="Verdana"/>
              </a:rPr>
              <a:t> → E*</a:t>
            </a:r>
            <a:r>
              <a:rPr altLang="en-IN" dirty="0" lang="en-IN">
                <a:solidFill>
                  <a:srgbClr val="000000"/>
                </a:solidFill>
                <a:latin charset="0" panose="020B0604030504040204" pitchFamily="34" typeface="Verdana"/>
              </a:rPr>
              <a:t>E</a:t>
            </a:r>
            <a:r>
              <a:rPr altLang="en-IN" b="0" dirty="0" i="0" lang="en-IN">
                <a:solidFill>
                  <a:srgbClr val="000000"/>
                </a:solidFill>
                <a:effectLst/>
                <a:latin charset="0" panose="020B0604030504040204" pitchFamily="34" typeface="Verdana"/>
              </a:rPr>
              <a:t> </a:t>
            </a:r>
          </a:p>
          <a:p>
            <a:r>
              <a:rPr altLang="en-IN" dirty="0" lang="en-IN">
                <a:solidFill>
                  <a:srgbClr val="000000"/>
                </a:solidFill>
                <a:latin charset="0" panose="020B0604030504040204" pitchFamily="34" typeface="Verdana"/>
              </a:rPr>
              <a:t>   </a:t>
            </a:r>
            <a:r>
              <a:rPr altLang="en-IN" b="0" dirty="0" i="0" lang="en-IN">
                <a:solidFill>
                  <a:srgbClr val="000000"/>
                </a:solidFill>
                <a:effectLst/>
                <a:latin charset="0" panose="020B0604030504040204" pitchFamily="34" typeface="Verdana"/>
              </a:rPr>
              <a:t>→ E+</a:t>
            </a:r>
            <a:r>
              <a:rPr altLang="en-IN" dirty="0" lang="en-IN">
                <a:solidFill>
                  <a:srgbClr val="000000"/>
                </a:solidFill>
                <a:latin charset="0" panose="020B0604030504040204" pitchFamily="34" typeface="Verdana"/>
              </a:rPr>
              <a:t>E</a:t>
            </a:r>
            <a:r>
              <a:rPr altLang="en-IN" b="0" dirty="0" i="0" lang="en-IN">
                <a:solidFill>
                  <a:srgbClr val="000000"/>
                </a:solidFill>
                <a:effectLst/>
                <a:latin charset="0" panose="020B0604030504040204" pitchFamily="34" typeface="Verdana"/>
              </a:rPr>
              <a:t>*</a:t>
            </a:r>
            <a:r>
              <a:rPr altLang="en-IN" dirty="0" lang="en-IN">
                <a:solidFill>
                  <a:srgbClr val="000000"/>
                </a:solidFill>
                <a:latin charset="0" panose="020B0604030504040204" pitchFamily="34" typeface="Verdana"/>
              </a:rPr>
              <a:t>E</a:t>
            </a:r>
            <a:r>
              <a:rPr altLang="en-IN" b="0" dirty="0" i="0" lang="en-IN">
                <a:solidFill>
                  <a:srgbClr val="000000"/>
                </a:solidFill>
                <a:effectLst/>
                <a:latin charset="0" panose="020B0604030504040204" pitchFamily="34" typeface="Verdana"/>
              </a:rPr>
              <a:t> </a:t>
            </a:r>
          </a:p>
          <a:p>
            <a:r>
              <a:rPr altLang="en-IN" dirty="0" lang="en-IN">
                <a:solidFill>
                  <a:srgbClr val="000000"/>
                </a:solidFill>
                <a:latin charset="0" panose="020B0604030504040204" pitchFamily="34" typeface="Verdana"/>
              </a:rPr>
              <a:t>   </a:t>
            </a:r>
            <a:r>
              <a:rPr altLang="en-IN" b="0" dirty="0" i="0" lang="en-IN">
                <a:solidFill>
                  <a:srgbClr val="000000"/>
                </a:solidFill>
                <a:effectLst/>
                <a:latin charset="0" panose="020B0604030504040204" pitchFamily="34" typeface="Verdana"/>
              </a:rPr>
              <a:t>→ a+ E*</a:t>
            </a:r>
            <a:r>
              <a:rPr altLang="en-IN" dirty="0" lang="en-IN">
                <a:solidFill>
                  <a:srgbClr val="000000"/>
                </a:solidFill>
                <a:latin charset="0" panose="020B0604030504040204" pitchFamily="34" typeface="Verdana"/>
              </a:rPr>
              <a:t>E</a:t>
            </a:r>
            <a:endParaRPr altLang="en-IN" b="0" dirty="0" i="0" lang="en-IN">
              <a:solidFill>
                <a:srgbClr val="000000"/>
              </a:solidFill>
              <a:effectLst/>
              <a:latin charset="0" panose="020B0604030504040204" pitchFamily="34" typeface="Verdana"/>
            </a:endParaRPr>
          </a:p>
          <a:p>
            <a:r>
              <a:rPr altLang="en-IN" dirty="0" lang="en-IN">
                <a:solidFill>
                  <a:srgbClr val="000000"/>
                </a:solidFill>
                <a:latin charset="0" panose="020B0604030504040204" pitchFamily="34" typeface="Verdana"/>
              </a:rPr>
              <a:t>   </a:t>
            </a:r>
            <a:r>
              <a:rPr altLang="en-IN" b="0" dirty="0" i="0" lang="en-IN">
                <a:solidFill>
                  <a:srgbClr val="000000"/>
                </a:solidFill>
                <a:effectLst/>
                <a:latin charset="0" panose="020B0604030504040204" pitchFamily="34" typeface="Verdana"/>
              </a:rPr>
              <a:t>→ </a:t>
            </a:r>
            <a:r>
              <a:rPr altLang="en-IN" b="0" dirty="0" err="1" i="0" lang="en-IN">
                <a:solidFill>
                  <a:srgbClr val="000000"/>
                </a:solidFill>
                <a:effectLst/>
                <a:latin charset="0" panose="020B0604030504040204" pitchFamily="34" typeface="Verdana"/>
              </a:rPr>
              <a:t>a+a</a:t>
            </a:r>
            <a:r>
              <a:rPr altLang="en-IN" b="0" dirty="0" i="0" lang="en-IN">
                <a:solidFill>
                  <a:srgbClr val="000000"/>
                </a:solidFill>
                <a:effectLst/>
                <a:latin charset="0" panose="020B0604030504040204" pitchFamily="34" typeface="Verdana"/>
              </a:rPr>
              <a:t>*E </a:t>
            </a:r>
          </a:p>
          <a:p>
            <a:r>
              <a:rPr altLang="en-IN" dirty="0" lang="en-IN">
                <a:solidFill>
                  <a:srgbClr val="000000"/>
                </a:solidFill>
                <a:latin charset="0" panose="020B0604030504040204" pitchFamily="34" typeface="Verdana"/>
              </a:rPr>
              <a:t>   </a:t>
            </a:r>
            <a:r>
              <a:rPr altLang="en-IN" b="0" dirty="0" i="0" lang="en-IN">
                <a:solidFill>
                  <a:srgbClr val="000000"/>
                </a:solidFill>
                <a:effectLst/>
                <a:latin charset="0" panose="020B0604030504040204" pitchFamily="34" typeface="Verdana"/>
              </a:rPr>
              <a:t>→ </a:t>
            </a:r>
            <a:r>
              <a:rPr altLang="en-IN" b="0" dirty="0" err="1" i="0" lang="en-IN">
                <a:solidFill>
                  <a:srgbClr val="000000"/>
                </a:solidFill>
                <a:effectLst/>
                <a:latin charset="0" panose="020B0604030504040204" pitchFamily="34" typeface="Verdana"/>
              </a:rPr>
              <a:t>a+a</a:t>
            </a:r>
            <a:r>
              <a:rPr altLang="en-IN" b="0" dirty="0" i="0" lang="en-IN">
                <a:solidFill>
                  <a:srgbClr val="000000"/>
                </a:solidFill>
                <a:effectLst/>
                <a:latin charset="0" panose="020B0604030504040204" pitchFamily="34" typeface="Verdana"/>
              </a:rPr>
              <a:t>*a</a:t>
            </a:r>
          </a:p>
        </p:txBody>
      </p:sp>
      <p:sp>
        <p:nvSpPr>
          <p:cNvPr id="9" name="TextBox 8">
            <a:extLst>
              <a:ext uri="{FF2B5EF4-FFF2-40B4-BE49-F238E27FC236}">
                <a16:creationId xmlns:a16="http://schemas.microsoft.com/office/drawing/2014/main" id="{3E26A3B5-4C56-DF75-1665-FB857D0172D2}"/>
              </a:ext>
            </a:extLst>
          </p:cNvPr>
          <p:cNvSpPr txBox="1"/>
          <p:nvPr/>
        </p:nvSpPr>
        <p:spPr>
          <a:xfrm>
            <a:off x="3253740" y="3363208"/>
            <a:ext cx="2433638" cy="369332"/>
          </a:xfrm>
          <a:prstGeom prst="rect">
            <a:avLst/>
          </a:prstGeom>
          <a:noFill/>
        </p:spPr>
        <p:txBody>
          <a:bodyPr numCol="1" wrap="square">
            <a:spAutoFit/>
          </a:bodyPr>
          <a:lstStyle/>
          <a:p>
            <a:pPr>
              <a:buFont charset="0" panose="020F0502020204030204" pitchFamily="34" typeface="Calibri"/>
              <a:buNone/>
            </a:pPr>
            <a:r>
              <a:rPr altLang="en-IN" b="1" dirty="0" lang="en-IN">
                <a:solidFill>
                  <a:srgbClr val="000000"/>
                </a:solidFill>
                <a:latin charset="0" panose="020B0604030504040204" pitchFamily="34" typeface="Verdana"/>
              </a:rPr>
              <a:t>Parse tree 1</a:t>
            </a:r>
            <a:r>
              <a:rPr altLang="en-IN" dirty="0" lang="en-IN">
                <a:solidFill>
                  <a:srgbClr val="000000"/>
                </a:solidFill>
                <a:latin charset="0" panose="020B0604030504040204" pitchFamily="34" typeface="Verdana"/>
              </a:rPr>
              <a:t> −</a:t>
            </a:r>
            <a:endParaRPr dirty="0" lang="en-US"/>
          </a:p>
        </p:txBody>
      </p:sp>
      <p:sp>
        <p:nvSpPr>
          <p:cNvPr id="11" name="TextBox 10">
            <a:extLst>
              <a:ext uri="{FF2B5EF4-FFF2-40B4-BE49-F238E27FC236}">
                <a16:creationId xmlns:a16="http://schemas.microsoft.com/office/drawing/2014/main" id="{CC15A6A0-AC93-C592-E257-38C6A3D5EC28}"/>
              </a:ext>
            </a:extLst>
          </p:cNvPr>
          <p:cNvSpPr txBox="1"/>
          <p:nvPr/>
        </p:nvSpPr>
        <p:spPr>
          <a:xfrm>
            <a:off x="9336405" y="3397498"/>
            <a:ext cx="2322195" cy="369332"/>
          </a:xfrm>
          <a:prstGeom prst="rect">
            <a:avLst/>
          </a:prstGeom>
          <a:noFill/>
        </p:spPr>
        <p:txBody>
          <a:bodyPr numCol="1" wrap="square">
            <a:spAutoFit/>
          </a:bodyPr>
          <a:lstStyle/>
          <a:p>
            <a:r>
              <a:rPr altLang="en-IN" b="1" dirty="0" i="0" lang="en-IN">
                <a:solidFill>
                  <a:srgbClr val="000000"/>
                </a:solidFill>
                <a:effectLst/>
                <a:latin charset="0" panose="020B0604030504040204" pitchFamily="34" typeface="Verdana"/>
              </a:rPr>
              <a:t>Parse tree 2</a:t>
            </a:r>
            <a:r>
              <a:rPr altLang="en-IN" b="0" dirty="0" i="0" lang="en-IN">
                <a:solidFill>
                  <a:srgbClr val="000000"/>
                </a:solidFill>
                <a:effectLst/>
                <a:latin charset="0" panose="020B0604030504040204" pitchFamily="34" typeface="Verdana"/>
              </a:rPr>
              <a:t> −</a:t>
            </a:r>
            <a:endParaRPr altLang="en-IN" dirty="0" lang="en-IN"/>
          </a:p>
        </p:txBody>
      </p:sp>
      <p:sp>
        <p:nvSpPr>
          <p:cNvPr id="4" name="TextBox 3">
            <a:extLst>
              <a:ext uri="{FF2B5EF4-FFF2-40B4-BE49-F238E27FC236}">
                <a16:creationId xmlns:a16="http://schemas.microsoft.com/office/drawing/2014/main" id="{2F929D36-F70D-31C7-1F38-DD7A6FAD7B08}"/>
              </a:ext>
            </a:extLst>
          </p:cNvPr>
          <p:cNvSpPr txBox="1"/>
          <p:nvPr/>
        </p:nvSpPr>
        <p:spPr>
          <a:xfrm>
            <a:off x="1682131" y="6386523"/>
            <a:ext cx="8827738" cy="400110"/>
          </a:xfrm>
          <a:prstGeom prst="rect">
            <a:avLst/>
          </a:prstGeom>
          <a:noFill/>
        </p:spPr>
        <p:txBody>
          <a:bodyPr numCol="1" rtlCol="0" wrap="none">
            <a:spAutoFit/>
          </a:bodyPr>
          <a:lstStyle/>
          <a:p>
            <a:r>
              <a:rPr altLang="en-IN" b="1" dirty="0" i="1" lang="en-IN" sz="2000">
                <a:solidFill>
                  <a:schemeClr val="bg1"/>
                </a:solidFill>
              </a:rPr>
              <a:t>Note: There is no direct algorithms to find whether grammar is ambiguous or not.</a:t>
            </a:r>
          </a:p>
        </p:txBody>
      </p:sp>
      <p:pic>
        <p:nvPicPr>
          <p:cNvPr id="12" name="Picture 11">
            <a:extLst>
              <a:ext uri="{FF2B5EF4-FFF2-40B4-BE49-F238E27FC236}">
                <a16:creationId xmlns:a16="http://schemas.microsoft.com/office/drawing/2014/main" id="{DEEDDF90-8CB8-1840-061D-63103ED2A40A}"/>
              </a:ext>
            </a:extLst>
          </p:cNvPr>
          <p:cNvPicPr>
            <a:picLocks noChangeAspect="1"/>
          </p:cNvPicPr>
          <p:nvPr/>
        </p:nvPicPr>
        <p:blipFill>
          <a:blip r:embed="rId3"/>
          <a:stretch>
            <a:fillRect/>
          </a:stretch>
        </p:blipFill>
        <p:spPr>
          <a:xfrm>
            <a:off x="3114764" y="3684698"/>
            <a:ext cx="2711589" cy="2654436"/>
          </a:xfrm>
          <a:prstGeom prst="rect">
            <a:avLst/>
          </a:prstGeom>
        </p:spPr>
      </p:pic>
      <p:pic>
        <p:nvPicPr>
          <p:cNvPr id="14" name="Picture 13">
            <a:extLst>
              <a:ext uri="{FF2B5EF4-FFF2-40B4-BE49-F238E27FC236}">
                <a16:creationId xmlns:a16="http://schemas.microsoft.com/office/drawing/2014/main" id="{0FAD5D85-4C25-01BB-47DF-2ED2ED5B299A}"/>
              </a:ext>
            </a:extLst>
          </p:cNvPr>
          <p:cNvPicPr>
            <a:picLocks noChangeAspect="1"/>
          </p:cNvPicPr>
          <p:nvPr/>
        </p:nvPicPr>
        <p:blipFill>
          <a:blip r:embed="rId4"/>
          <a:stretch>
            <a:fillRect/>
          </a:stretch>
        </p:blipFill>
        <p:spPr>
          <a:xfrm>
            <a:off x="8981304" y="3706924"/>
            <a:ext cx="2654436" cy="2609984"/>
          </a:xfrm>
          <a:prstGeom prst="rect">
            <a:avLst/>
          </a:prstGeom>
        </p:spPr>
      </p:pic>
    </p:spTree>
    <p:extLst>
      <p:ext uri="{BB962C8B-B14F-4D97-AF65-F5344CB8AC3E}">
        <p14:creationId xmlns:p14="http://schemas.microsoft.com/office/powerpoint/2010/main" val="116589970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3" st="3"/>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1" presetSubtype="0">
                                  <p:stCondLst>
                                    <p:cond delay="0"/>
                                  </p:stCondLst>
                                  <p:childTnLst>
                                    <p:set>
                                      <p:cBhvr>
                                        <p:cTn dur="1" fill="hold" id="12">
                                          <p:stCondLst>
                                            <p:cond delay="0"/>
                                          </p:stCondLst>
                                        </p:cTn>
                                        <p:tgtEl>
                                          <p:spTgt spid="5"/>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12"/>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9"/>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11"/>
                                        </p:tgtEl>
                                        <p:attrNameLst>
                                          <p:attrName>style.visibility</p:attrName>
                                        </p:attrNameLst>
                                      </p:cBhvr>
                                      <p:to>
                                        <p:strVal val="visible"/>
                                      </p:to>
                                    </p:set>
                                  </p:childTnLst>
                                </p:cTn>
                              </p:par>
                              <p:par>
                                <p:cTn fill="hold" grpId="0" id="23" nodeType="withEffect" presetClass="entr" presetID="1" presetSubtype="0">
                                  <p:stCondLst>
                                    <p:cond delay="0"/>
                                  </p:stCondLst>
                                  <p:childTnLst>
                                    <p:set>
                                      <p:cBhvr>
                                        <p:cTn dur="1" fill="hold" id="24">
                                          <p:stCondLst>
                                            <p:cond delay="0"/>
                                          </p:stCondLst>
                                        </p:cTn>
                                        <p:tgtEl>
                                          <p:spTgt spid="7"/>
                                        </p:tgtEl>
                                        <p:attrNameLst>
                                          <p:attrName>style.visibility</p:attrName>
                                        </p:attrNameLst>
                                      </p:cBhvr>
                                      <p:to>
                                        <p:strVal val="visible"/>
                                      </p:to>
                                    </p:set>
                                  </p:childTnLst>
                                </p:cTn>
                              </p:par>
                            </p:childTnLst>
                          </p:cTn>
                        </p:par>
                      </p:childTnLst>
                    </p:cTn>
                  </p:par>
                  <p:par>
                    <p:cTn fill="hold" id="25">
                      <p:stCondLst>
                        <p:cond delay="indefinite"/>
                      </p:stCondLst>
                      <p:childTnLst>
                        <p:par>
                          <p:cTn fill="hold" id="26">
                            <p:stCondLst>
                              <p:cond delay="0"/>
                            </p:stCondLst>
                            <p:childTnLst>
                              <p:par>
                                <p:cTn fill="hold" id="27" nodeType="clickEffect" presetClass="entr" presetID="1" presetSubtype="0">
                                  <p:stCondLst>
                                    <p:cond delay="0"/>
                                  </p:stCondLst>
                                  <p:childTnLst>
                                    <p:set>
                                      <p:cBhvr>
                                        <p:cTn dur="1" fill="hold" id="28">
                                          <p:stCondLst>
                                            <p:cond delay="0"/>
                                          </p:stCondLst>
                                        </p:cTn>
                                        <p:tgtEl>
                                          <p:spTgt spid="14"/>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grpId="0" id="31" nodeType="clickEffect" presetClass="entr" presetID="1" presetSubtype="0">
                                  <p:stCondLst>
                                    <p:cond delay="0"/>
                                  </p:stCondLst>
                                  <p:childTnLst>
                                    <p:set>
                                      <p:cBhvr>
                                        <p:cTn dur="1" fill="hold" id="32">
                                          <p:stCondLst>
                                            <p:cond delay="0"/>
                                          </p:stCondLst>
                                        </p:cTn>
                                        <p:tgtEl>
                                          <p:spTgt spid="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P grpId="0" spid="7"/>
      <p:bldP grpId="0" spid="9"/>
      <p:bldP grpId="0" spid="11"/>
      <p:bldP grpId="0" spid="4"/>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7A322-7B6B-20B4-11D2-B6DC7BA9F49F}"/>
              </a:ext>
            </a:extLst>
          </p:cNvPr>
          <p:cNvSpPr txBox="1">
            <a:spLocks/>
          </p:cNvSpPr>
          <p:nvPr/>
        </p:nvSpPr>
        <p:spPr>
          <a:xfrm>
            <a:off x="1097280" y="286603"/>
            <a:ext cx="10058400" cy="1450757"/>
          </a:xfrm>
          <a:prstGeom prst="rect">
            <a:avLst/>
          </a:prstGeom>
        </p:spPr>
        <p:txBody>
          <a:bodyPr numCol="1">
            <a:normAutofit/>
          </a:bodyPr>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b="1" dirty="0" lang="en-US" sz="4000"/>
              <a:t>Associativity and Precedence of Operators in CFG</a:t>
            </a:r>
            <a:endParaRPr altLang="en-IN" b="1" dirty="0" lang="en-IN" sz="4000"/>
          </a:p>
        </p:txBody>
      </p:sp>
      <p:sp>
        <p:nvSpPr>
          <p:cNvPr id="3" name="Content Placeholder 2">
            <a:extLst>
              <a:ext uri="{FF2B5EF4-FFF2-40B4-BE49-F238E27FC236}">
                <a16:creationId xmlns:a16="http://schemas.microsoft.com/office/drawing/2014/main" id="{51351F60-7BCE-9AA8-EC4C-D5B9F33E590F}"/>
              </a:ext>
            </a:extLst>
          </p:cNvPr>
          <p:cNvSpPr txBox="1">
            <a:spLocks/>
          </p:cNvSpPr>
          <p:nvPr/>
        </p:nvSpPr>
        <p:spPr>
          <a:xfrm>
            <a:off x="674370" y="1042882"/>
            <a:ext cx="11087100" cy="2646256"/>
          </a:xfrm>
          <a:prstGeom prst="rect">
            <a:avLst/>
          </a:prstGeom>
        </p:spPr>
        <p:txBody>
          <a:bodyPr numCol="1"/>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lgn="just">
              <a:buFont charset="0" panose="020B0604020202020204" pitchFamily="34" typeface="Arial"/>
              <a:buChar char="•"/>
            </a:pPr>
            <a:r>
              <a:rPr dirty="0" lang="en-US"/>
              <a:t>To solve the problem of ambiguity, extra restrictions such as associativity and precedence should be added to obtain only one parse tree for the input expression.</a:t>
            </a:r>
          </a:p>
          <a:p>
            <a:pPr algn="just">
              <a:buFont charset="0" panose="020B0604020202020204" pitchFamily="34" typeface="Arial"/>
              <a:buChar char="•"/>
            </a:pPr>
            <a:r>
              <a:rPr dirty="0" lang="en-US"/>
              <a:t>Precedence determines the order of operations in an expression. Higher precedence operations are performed before lower precedence ones.</a:t>
            </a:r>
          </a:p>
          <a:p>
            <a:pPr algn="just">
              <a:buFont charset="0" panose="020B0604020202020204" pitchFamily="34" typeface="Arial"/>
              <a:buChar char="•"/>
            </a:pPr>
            <a:r>
              <a:rPr dirty="0" lang="en-US"/>
              <a:t>Associativity defines the direction in which operations of the same precedence are evaluated.</a:t>
            </a:r>
          </a:p>
          <a:p>
            <a:pPr algn="just">
              <a:buFont charset="0" panose="020B0604020202020204" pitchFamily="34" typeface="Arial"/>
              <a:buChar char="•"/>
            </a:pPr>
            <a:r>
              <a:rPr dirty="0" lang="en-US"/>
              <a:t>Left-associative operations are evaluated from left to right, while right-associative operations are evaluated from right to left.</a:t>
            </a:r>
          </a:p>
          <a:p>
            <a:pPr algn="just">
              <a:buFont charset="0" panose="020B0604020202020204" pitchFamily="34" typeface="Arial"/>
              <a:buChar char="•"/>
            </a:pPr>
            <a:endParaRPr altLang="en-IN" dirty="0" lang="en-IN"/>
          </a:p>
        </p:txBody>
      </p:sp>
      <p:sp>
        <p:nvSpPr>
          <p:cNvPr id="4" name="TextBox 3">
            <a:extLst>
              <a:ext uri="{FF2B5EF4-FFF2-40B4-BE49-F238E27FC236}">
                <a16:creationId xmlns:a16="http://schemas.microsoft.com/office/drawing/2014/main" id="{4E6917AD-22B9-62DA-AADA-A6C0BFE2A1BA}"/>
              </a:ext>
            </a:extLst>
          </p:cNvPr>
          <p:cNvSpPr txBox="1"/>
          <p:nvPr/>
        </p:nvSpPr>
        <p:spPr>
          <a:xfrm>
            <a:off x="1097280" y="3876126"/>
            <a:ext cx="4434840" cy="1938992"/>
          </a:xfrm>
          <a:prstGeom prst="rect">
            <a:avLst/>
          </a:prstGeom>
          <a:noFill/>
        </p:spPr>
        <p:txBody>
          <a:bodyPr numCol="1" wrap="square">
            <a:spAutoFit/>
          </a:bodyPr>
          <a:lstStyle/>
          <a:p>
            <a:r>
              <a:rPr dirty="0" lang="en-US" sz="2000">
                <a:solidFill>
                  <a:schemeClr val="tx1">
                    <a:lumMod val="75000"/>
                    <a:lumOff val="25000"/>
                  </a:schemeClr>
                </a:solidFill>
              </a:rPr>
              <a:t>Left Associativity (Addition):</a:t>
            </a:r>
          </a:p>
          <a:p>
            <a:r>
              <a:rPr dirty="0" lang="en-US" sz="2000">
                <a:solidFill>
                  <a:schemeClr val="tx1">
                    <a:lumMod val="75000"/>
                    <a:lumOff val="25000"/>
                  </a:schemeClr>
                </a:solidFill>
              </a:rPr>
              <a:t>Expression: 2 + 3 + 4</a:t>
            </a:r>
          </a:p>
          <a:p>
            <a:r>
              <a:rPr dirty="0" lang="en-US" sz="2000">
                <a:solidFill>
                  <a:schemeClr val="tx1">
                    <a:lumMod val="75000"/>
                    <a:lumOff val="25000"/>
                  </a:schemeClr>
                </a:solidFill>
              </a:rPr>
              <a:t>Left-associative addition evaluates from left to right:</a:t>
            </a:r>
          </a:p>
          <a:p>
            <a:r>
              <a:rPr dirty="0" lang="en-US" sz="2000">
                <a:solidFill>
                  <a:schemeClr val="tx1">
                    <a:lumMod val="75000"/>
                    <a:lumOff val="25000"/>
                  </a:schemeClr>
                </a:solidFill>
              </a:rPr>
              <a:t>First, it adds 2 + 3 as 5.</a:t>
            </a:r>
          </a:p>
          <a:p>
            <a:r>
              <a:rPr dirty="0" lang="en-US" sz="2000">
                <a:solidFill>
                  <a:schemeClr val="tx1">
                    <a:lumMod val="75000"/>
                    <a:lumOff val="25000"/>
                  </a:schemeClr>
                </a:solidFill>
              </a:rPr>
              <a:t>Then, it adds 5 + 4 as 9.</a:t>
            </a:r>
          </a:p>
        </p:txBody>
      </p:sp>
      <p:sp>
        <p:nvSpPr>
          <p:cNvPr id="5" name="TextBox 4">
            <a:extLst>
              <a:ext uri="{FF2B5EF4-FFF2-40B4-BE49-F238E27FC236}">
                <a16:creationId xmlns:a16="http://schemas.microsoft.com/office/drawing/2014/main" id="{841DFFD7-9F86-908C-880C-3E5E1D80A81E}"/>
              </a:ext>
            </a:extLst>
          </p:cNvPr>
          <p:cNvSpPr txBox="1"/>
          <p:nvPr/>
        </p:nvSpPr>
        <p:spPr>
          <a:xfrm>
            <a:off x="6457950" y="3876126"/>
            <a:ext cx="5303520" cy="1938992"/>
          </a:xfrm>
          <a:prstGeom prst="rect">
            <a:avLst/>
          </a:prstGeom>
          <a:noFill/>
        </p:spPr>
        <p:txBody>
          <a:bodyPr numCol="1" wrap="square">
            <a:spAutoFit/>
          </a:bodyPr>
          <a:lstStyle/>
          <a:p>
            <a:r>
              <a:rPr dirty="0" lang="en-US" sz="2000">
                <a:solidFill>
                  <a:schemeClr val="tx1">
                    <a:lumMod val="75000"/>
                    <a:lumOff val="25000"/>
                  </a:schemeClr>
                </a:solidFill>
              </a:rPr>
              <a:t>Right Associativity (Exponentiation):</a:t>
            </a:r>
          </a:p>
          <a:p>
            <a:r>
              <a:rPr dirty="0" lang="en-US" sz="2000">
                <a:solidFill>
                  <a:schemeClr val="tx1">
                    <a:lumMod val="75000"/>
                    <a:lumOff val="25000"/>
                  </a:schemeClr>
                </a:solidFill>
              </a:rPr>
              <a:t>Expression: 2 ^ 3 ^ 2</a:t>
            </a:r>
          </a:p>
          <a:p>
            <a:r>
              <a:rPr dirty="0" lang="en-US" sz="2000">
                <a:solidFill>
                  <a:schemeClr val="tx1">
                    <a:lumMod val="75000"/>
                    <a:lumOff val="25000"/>
                  </a:schemeClr>
                </a:solidFill>
              </a:rPr>
              <a:t>Right-associative exponentiation evaluates from right to left:</a:t>
            </a:r>
          </a:p>
          <a:p>
            <a:r>
              <a:rPr dirty="0" lang="en-US" sz="2000">
                <a:solidFill>
                  <a:schemeClr val="tx1">
                    <a:lumMod val="75000"/>
                    <a:lumOff val="25000"/>
                  </a:schemeClr>
                </a:solidFill>
              </a:rPr>
              <a:t>First, it evaluates 3 ^ 2 as 9.</a:t>
            </a:r>
          </a:p>
          <a:p>
            <a:r>
              <a:rPr dirty="0" lang="en-US" sz="2000">
                <a:solidFill>
                  <a:schemeClr val="tx1">
                    <a:lumMod val="75000"/>
                    <a:lumOff val="25000"/>
                  </a:schemeClr>
                </a:solidFill>
              </a:rPr>
              <a:t>Then, it evaluates 2 ^ 9 as 512.</a:t>
            </a:r>
            <a:endParaRPr altLang="en-IN" dirty="0" lang="en-IN" sz="2000">
              <a:solidFill>
                <a:schemeClr val="tx1">
                  <a:lumMod val="75000"/>
                  <a:lumOff val="25000"/>
                </a:schemeClr>
              </a:solidFill>
            </a:endParaRPr>
          </a:p>
        </p:txBody>
      </p:sp>
    </p:spTree>
    <p:extLst>
      <p:ext uri="{BB962C8B-B14F-4D97-AF65-F5344CB8AC3E}">
        <p14:creationId xmlns:p14="http://schemas.microsoft.com/office/powerpoint/2010/main" val="415423764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4"/>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5"/>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151DD-4089-4001-4433-46151B715481}"/>
              </a:ext>
            </a:extLst>
          </p:cNvPr>
          <p:cNvSpPr>
            <a:spLocks noGrp="1"/>
          </p:cNvSpPr>
          <p:nvPr>
            <p:ph type="title"/>
          </p:nvPr>
        </p:nvSpPr>
        <p:spPr/>
        <p:txBody>
          <a:bodyPr numCol="1">
            <a:normAutofit/>
          </a:bodyPr>
          <a:lstStyle/>
          <a:p>
            <a:r>
              <a:rPr altLang="en-IN" dirty="0" lang="en-IN" sz="3600"/>
              <a:t>Removing ambiguity by precedence &amp; associativity rules</a:t>
            </a:r>
          </a:p>
        </p:txBody>
      </p:sp>
      <p:sp>
        <p:nvSpPr>
          <p:cNvPr id="3" name="Content Placeholder 2">
            <a:extLst>
              <a:ext uri="{FF2B5EF4-FFF2-40B4-BE49-F238E27FC236}">
                <a16:creationId xmlns:a16="http://schemas.microsoft.com/office/drawing/2014/main" id="{1B66A22E-DF25-53CF-1FF7-18F3903915AF}"/>
              </a:ext>
            </a:extLst>
          </p:cNvPr>
          <p:cNvSpPr>
            <a:spLocks noGrp="1"/>
          </p:cNvSpPr>
          <p:nvPr>
            <p:ph idx="1"/>
          </p:nvPr>
        </p:nvSpPr>
        <p:spPr/>
        <p:txBody>
          <a:bodyPr numCol="1">
            <a:normAutofit/>
          </a:bodyPr>
          <a:lstStyle/>
          <a:p>
            <a:pPr algn="just" indent="0" marL="0">
              <a:buNone/>
            </a:pPr>
            <a:r>
              <a:rPr altLang="en-IN" b="1" dirty="0" lang="en-IN" sz="2400"/>
              <a:t>1. Precedence:  </a:t>
            </a:r>
            <a:r>
              <a:rPr altLang="en-IN" dirty="0" lang="en-IN" sz="2400"/>
              <a:t>If </a:t>
            </a:r>
            <a:r>
              <a:rPr dirty="0" lang="en-US" sz="2400"/>
              <a:t>different operators are used, we will consider the precedence of the operators. The three important characteristics are:</a:t>
            </a:r>
          </a:p>
          <a:p>
            <a:pPr algn="just" indent="0" lvl="1" marL="201168">
              <a:buNone/>
            </a:pPr>
            <a:r>
              <a:rPr dirty="0" lang="en-US" sz="2400"/>
              <a:t>1. The level at which the production is present denotes the priority of the operator used.</a:t>
            </a:r>
          </a:p>
          <a:p>
            <a:pPr algn="just" indent="0" lvl="1" marL="201168">
              <a:buNone/>
            </a:pPr>
            <a:r>
              <a:rPr dirty="0" lang="en-US" sz="2400"/>
              <a:t>2. The production at higher levels will have operators with less priority. In the parse tree, the nodes which are at top levels or close to the root node will contain the lower priority operators.</a:t>
            </a:r>
          </a:p>
          <a:p>
            <a:pPr algn="just" indent="0" lvl="1" marL="201168">
              <a:buNone/>
            </a:pPr>
            <a:r>
              <a:rPr dirty="0" lang="en-US" sz="2400"/>
              <a:t>3. The production at lower levels will have operators with higher priority. In the parse tree, the nodes which are at lower levels or close to the leaf nodes will contain the higher priority operators.</a:t>
            </a:r>
          </a:p>
        </p:txBody>
      </p:sp>
    </p:spTree>
    <p:extLst>
      <p:ext uri="{BB962C8B-B14F-4D97-AF65-F5344CB8AC3E}">
        <p14:creationId xmlns:p14="http://schemas.microsoft.com/office/powerpoint/2010/main" val="13642407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560E-9F5F-1BEF-3ADF-934C30FB14E0}"/>
              </a:ext>
            </a:extLst>
          </p:cNvPr>
          <p:cNvSpPr>
            <a:spLocks noGrp="1"/>
          </p:cNvSpPr>
          <p:nvPr>
            <p:ph type="title"/>
          </p:nvPr>
        </p:nvSpPr>
        <p:spPr/>
        <p:txBody>
          <a:bodyPr numCol="1"/>
          <a:lstStyle/>
          <a:p>
            <a:endParaRPr altLang="en-IN" lang="en-IN"/>
          </a:p>
        </p:txBody>
      </p:sp>
      <p:sp>
        <p:nvSpPr>
          <p:cNvPr id="3" name="Content Placeholder 2">
            <a:extLst>
              <a:ext uri="{FF2B5EF4-FFF2-40B4-BE49-F238E27FC236}">
                <a16:creationId xmlns:a16="http://schemas.microsoft.com/office/drawing/2014/main" id="{5002F8DF-8A61-FF25-F67A-8CED6E9BE112}"/>
              </a:ext>
            </a:extLst>
          </p:cNvPr>
          <p:cNvSpPr>
            <a:spLocks noGrp="1"/>
          </p:cNvSpPr>
          <p:nvPr>
            <p:ph idx="1"/>
          </p:nvPr>
        </p:nvSpPr>
        <p:spPr/>
        <p:txBody>
          <a:bodyPr numCol="1">
            <a:normAutofit/>
          </a:bodyPr>
          <a:lstStyle/>
          <a:p>
            <a:pPr indent="0" lvl="1" marL="201168">
              <a:buNone/>
            </a:pPr>
            <a:r>
              <a:rPr b="1" dirty="0" lang="en-US" sz="2400"/>
              <a:t>2. Associativity -</a:t>
            </a:r>
            <a:r>
              <a:rPr dirty="0" lang="en-US" sz="2400"/>
              <a:t>If the same precedence operators are in production, then we will have to consider he associativity. </a:t>
            </a:r>
          </a:p>
          <a:p>
            <a:pPr indent="0" lvl="1" marL="201168">
              <a:buNone/>
            </a:pPr>
            <a:r>
              <a:rPr dirty="0" lang="en-US" sz="2400"/>
              <a:t>1. If the associativity is left to right, then we have to prompt a left recursion in the production. The parse tree will also be left recursive and grow on the left side.</a:t>
            </a:r>
          </a:p>
          <a:p>
            <a:pPr indent="0" lvl="1" marL="201168">
              <a:buNone/>
            </a:pPr>
            <a:r>
              <a:rPr dirty="0" lang="en-US" sz="2400"/>
              <a:t>	+,-,*,/ are left associative operators.</a:t>
            </a:r>
          </a:p>
          <a:p>
            <a:pPr indent="0" lvl="1" marL="201168">
              <a:buNone/>
            </a:pPr>
            <a:r>
              <a:rPr dirty="0" lang="en-US" sz="2400"/>
              <a:t>2. If the associativity is right to left, then we have to prompt the right recursion in the productions. The parse tree will also be right recursive and grow on the right side. </a:t>
            </a:r>
          </a:p>
          <a:p>
            <a:pPr indent="0" lvl="1" marL="201168">
              <a:buNone/>
            </a:pPr>
            <a:r>
              <a:rPr dirty="0" lang="en-US" sz="2400"/>
              <a:t>	^ is a right associative operator.</a:t>
            </a:r>
            <a:endParaRPr altLang="en-IN" dirty="0" lang="en-IN" sz="2400"/>
          </a:p>
          <a:p>
            <a:pPr indent="0" marL="0">
              <a:buNone/>
            </a:pPr>
            <a:endParaRPr altLang="en-IN" dirty="0" lang="en-IN" sz="2400"/>
          </a:p>
        </p:txBody>
      </p:sp>
    </p:spTree>
    <p:extLst>
      <p:ext uri="{BB962C8B-B14F-4D97-AF65-F5344CB8AC3E}">
        <p14:creationId xmlns:p14="http://schemas.microsoft.com/office/powerpoint/2010/main" val="266363837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1" st="1"/>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105357-8503-8750-BEC2-C9F15985017E}"/>
              </a:ext>
            </a:extLst>
          </p:cNvPr>
          <p:cNvSpPr txBox="1"/>
          <p:nvPr/>
        </p:nvSpPr>
        <p:spPr>
          <a:xfrm>
            <a:off x="430530" y="564634"/>
            <a:ext cx="11090910" cy="5068054"/>
          </a:xfrm>
          <a:prstGeom prst="rect">
            <a:avLst/>
          </a:prstGeom>
          <a:noFill/>
        </p:spPr>
        <p:txBody>
          <a:bodyPr numCol="1" wrap="square">
            <a:spAutoFit/>
          </a:bodyPr>
          <a:lstStyle/>
          <a:p>
            <a:pPr>
              <a:spcBef>
                <a:spcPts val="200"/>
              </a:spcBef>
              <a:buFont charset="0" panose="020F0502020204030204" pitchFamily="34" typeface="Calibri"/>
              <a:buNone/>
            </a:pPr>
            <a:r>
              <a:rPr b="1" dirty="0" lang="en-US" sz="2000">
                <a:latin charset="0" panose="02020603050405020304" pitchFamily="18" typeface="Times New Roman"/>
                <a:cs charset="0" panose="02020603050405020304" pitchFamily="18" typeface="Times New Roman"/>
              </a:rPr>
              <a:t>Given Grammar </a:t>
            </a:r>
          </a:p>
          <a:p>
            <a:pPr>
              <a:spcBef>
                <a:spcPts val="200"/>
              </a:spcBef>
              <a:buFont charset="0" panose="020F0502020204030204" pitchFamily="34" typeface="Calibri"/>
              <a:buNone/>
            </a:pPr>
            <a:r>
              <a:rPr b="1" dirty="0" lang="en-US" sz="2000">
                <a:latin charset="0" panose="02020603050405020304" pitchFamily="18" typeface="Times New Roman"/>
                <a:cs charset="0" panose="02020603050405020304" pitchFamily="18" typeface="Times New Roman"/>
              </a:rPr>
              <a:t>E → E+E </a:t>
            </a:r>
          </a:p>
          <a:p>
            <a:pPr>
              <a:spcBef>
                <a:spcPts val="200"/>
              </a:spcBef>
              <a:buFont charset="0" panose="020F0502020204030204" pitchFamily="34" typeface="Calibri"/>
              <a:buNone/>
            </a:pPr>
            <a:r>
              <a:rPr b="1" dirty="0" lang="en-US" sz="2000">
                <a:latin charset="0" panose="02020603050405020304" pitchFamily="18" typeface="Times New Roman"/>
                <a:cs charset="0" panose="02020603050405020304" pitchFamily="18" typeface="Times New Roman"/>
              </a:rPr>
              <a:t>E → E*E </a:t>
            </a:r>
          </a:p>
          <a:p>
            <a:pPr>
              <a:spcBef>
                <a:spcPts val="200"/>
              </a:spcBef>
              <a:buFont charset="0" panose="020F0502020204030204" pitchFamily="34" typeface="Calibri"/>
              <a:buNone/>
            </a:pPr>
            <a:r>
              <a:rPr b="1" dirty="0" lang="en-US" sz="2000">
                <a:latin charset="0" panose="02020603050405020304" pitchFamily="18" typeface="Times New Roman"/>
                <a:cs charset="0" panose="02020603050405020304" pitchFamily="18" typeface="Times New Roman"/>
              </a:rPr>
              <a:t>E → a</a:t>
            </a:r>
          </a:p>
          <a:p>
            <a:pPr>
              <a:spcBef>
                <a:spcPts val="200"/>
              </a:spcBef>
            </a:pPr>
            <a:r>
              <a:rPr b="1" dirty="0" lang="en-US" sz="2000">
                <a:latin charset="0" panose="02020603050405020304" pitchFamily="18" typeface="Times New Roman"/>
                <a:cs charset="0" panose="02020603050405020304" pitchFamily="18" typeface="Times New Roman"/>
              </a:rPr>
              <a:t>Remove ambiguity from the given grammar.</a:t>
            </a:r>
          </a:p>
          <a:p>
            <a:pPr>
              <a:spcBef>
                <a:spcPts val="200"/>
              </a:spcBef>
              <a:buFont charset="0" panose="020F0502020204030204" pitchFamily="34" typeface="Calibri"/>
              <a:buNone/>
            </a:pPr>
            <a:endParaRPr dirty="0" lang="en-US" sz="2000">
              <a:latin charset="0" panose="02020603050405020304" pitchFamily="18" typeface="Times New Roman"/>
              <a:cs charset="0" panose="02020603050405020304" pitchFamily="18" typeface="Times New Roman"/>
            </a:endParaRPr>
          </a:p>
          <a:p>
            <a:pPr>
              <a:spcBef>
                <a:spcPts val="200"/>
              </a:spcBef>
              <a:buFont charset="0" panose="020F0502020204030204" pitchFamily="34" typeface="Calibri"/>
              <a:buNone/>
            </a:pPr>
            <a:r>
              <a:rPr dirty="0" lang="en-US" sz="2000">
                <a:latin charset="0" panose="02020603050405020304" pitchFamily="18" typeface="Times New Roman"/>
                <a:cs charset="0" panose="02020603050405020304" pitchFamily="18" typeface="Times New Roman"/>
              </a:rPr>
              <a:t>Solution:</a:t>
            </a:r>
          </a:p>
          <a:p>
            <a:pPr>
              <a:spcBef>
                <a:spcPts val="200"/>
              </a:spcBef>
              <a:buFont charset="0" panose="020F0502020204030204" pitchFamily="34" typeface="Calibri"/>
              <a:buNone/>
            </a:pPr>
            <a:endParaRPr dirty="0" lang="en-US" sz="2000">
              <a:latin charset="0" panose="02020603050405020304" pitchFamily="18" typeface="Times New Roman"/>
              <a:cs charset="0" panose="02020603050405020304" pitchFamily="18" typeface="Times New Roman"/>
            </a:endParaRPr>
          </a:p>
          <a:p>
            <a:pPr>
              <a:spcBef>
                <a:spcPts val="200"/>
              </a:spcBef>
              <a:buFont charset="0" panose="020F0502020204030204" pitchFamily="34" typeface="Calibri"/>
              <a:buNone/>
            </a:pPr>
            <a:r>
              <a:rPr dirty="0" lang="en-US" sz="2000">
                <a:latin charset="0" panose="02020603050405020304" pitchFamily="18" typeface="Times New Roman"/>
                <a:cs charset="0" panose="02020603050405020304" pitchFamily="18" typeface="Times New Roman"/>
              </a:rPr>
              <a:t>Precedence: * has the higher priority than +. Hence , it should be at a lower level, so we should start with + </a:t>
            </a:r>
          </a:p>
          <a:p>
            <a:pPr>
              <a:spcBef>
                <a:spcPts val="200"/>
              </a:spcBef>
              <a:buFont charset="0" panose="020F0502020204030204" pitchFamily="34" typeface="Calibri"/>
              <a:buNone/>
            </a:pPr>
            <a:endParaRPr dirty="0" lang="en-US" sz="2000">
              <a:latin charset="0" panose="02020603050405020304" pitchFamily="18" typeface="Times New Roman"/>
              <a:cs charset="0" panose="02020603050405020304" pitchFamily="18" typeface="Times New Roman"/>
            </a:endParaRPr>
          </a:p>
          <a:p>
            <a:pPr>
              <a:spcBef>
                <a:spcPts val="200"/>
              </a:spcBef>
              <a:buFont charset="0" panose="020F0502020204030204" pitchFamily="34" typeface="Calibri"/>
              <a:buNone/>
            </a:pPr>
            <a:r>
              <a:rPr dirty="0" lang="en-US" sz="2000">
                <a:latin charset="0" panose="02020603050405020304" pitchFamily="18" typeface="Times New Roman"/>
                <a:cs charset="0" panose="02020603050405020304" pitchFamily="18" typeface="Times New Roman"/>
              </a:rPr>
              <a:t>Associativity: + and * both are left associative</a:t>
            </a:r>
          </a:p>
          <a:p>
            <a:pPr>
              <a:spcBef>
                <a:spcPts val="200"/>
              </a:spcBef>
              <a:buFont charset="0" panose="020F0502020204030204" pitchFamily="34" typeface="Calibri"/>
              <a:buNone/>
            </a:pPr>
            <a:endParaRPr dirty="0" lang="en-US" sz="2000">
              <a:latin charset="0" panose="02020603050405020304" pitchFamily="18" typeface="Times New Roman"/>
              <a:cs charset="0" panose="02020603050405020304" pitchFamily="18" typeface="Times New Roman"/>
            </a:endParaRPr>
          </a:p>
          <a:p>
            <a:pPr>
              <a:spcBef>
                <a:spcPts val="200"/>
              </a:spcBef>
            </a:pPr>
            <a:r>
              <a:rPr dirty="0" lang="en-US" sz="2000">
                <a:latin charset="0" panose="02020603050405020304" pitchFamily="18" typeface="Times New Roman"/>
                <a:cs charset="0" panose="02020603050405020304" pitchFamily="18" typeface="Times New Roman"/>
              </a:rPr>
              <a:t>E → E+P | P</a:t>
            </a:r>
          </a:p>
          <a:p>
            <a:pPr>
              <a:spcBef>
                <a:spcPts val="200"/>
              </a:spcBef>
            </a:pPr>
            <a:r>
              <a:rPr dirty="0" lang="en-US" sz="2000">
                <a:latin charset="0" panose="02020603050405020304" pitchFamily="18" typeface="Times New Roman"/>
                <a:cs charset="0" panose="02020603050405020304" pitchFamily="18" typeface="Times New Roman"/>
              </a:rPr>
              <a:t>P → P*Q |Q</a:t>
            </a:r>
          </a:p>
          <a:p>
            <a:pPr>
              <a:spcBef>
                <a:spcPts val="200"/>
              </a:spcBef>
            </a:pPr>
            <a:r>
              <a:rPr dirty="0" lang="en-US" sz="2000">
                <a:latin charset="0" panose="02020603050405020304" pitchFamily="18" typeface="Times New Roman"/>
                <a:cs charset="0" panose="02020603050405020304" pitchFamily="18" typeface="Times New Roman"/>
              </a:rPr>
              <a:t>Q → a</a:t>
            </a:r>
          </a:p>
        </p:txBody>
      </p:sp>
    </p:spTree>
    <p:extLst>
      <p:ext uri="{BB962C8B-B14F-4D97-AF65-F5344CB8AC3E}">
        <p14:creationId xmlns:p14="http://schemas.microsoft.com/office/powerpoint/2010/main" val="74016566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6" st="6"/>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8" st="8"/>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12" st="12"/>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13" st="13"/>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3">
                                            <p:txEl>
                                              <p:pRg end="14" st="14"/>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A76AA3-43B2-8C09-49BC-6B4CE243BEFA}"/>
              </a:ext>
            </a:extLst>
          </p:cNvPr>
          <p:cNvSpPr txBox="1"/>
          <p:nvPr/>
        </p:nvSpPr>
        <p:spPr>
          <a:xfrm>
            <a:off x="508000" y="179400"/>
            <a:ext cx="11684000" cy="5940088"/>
          </a:xfrm>
          <a:prstGeom prst="rect">
            <a:avLst/>
          </a:prstGeom>
          <a:noFill/>
        </p:spPr>
        <p:txBody>
          <a:bodyPr numCol="1" wrap="square">
            <a:spAutoFit/>
          </a:bodyPr>
          <a:lstStyle/>
          <a:p>
            <a:r>
              <a:rPr b="1" dirty="0" lang="en-US" sz="2000">
                <a:latin charset="0" panose="02020603050405020304" pitchFamily="18" typeface="Times New Roman"/>
                <a:cs charset="0" panose="02020603050405020304" pitchFamily="18" typeface="Times New Roman"/>
              </a:rPr>
              <a:t>E → E + E </a:t>
            </a:r>
          </a:p>
          <a:p>
            <a:r>
              <a:rPr b="1" dirty="0" lang="en-US" sz="2000">
                <a:latin charset="0" panose="02020603050405020304" pitchFamily="18" typeface="Times New Roman"/>
                <a:cs charset="0" panose="02020603050405020304" pitchFamily="18" typeface="Times New Roman"/>
              </a:rPr>
              <a:t>E → E * E </a:t>
            </a:r>
          </a:p>
          <a:p>
            <a:r>
              <a:rPr b="1" dirty="0" lang="en-US" sz="2000">
                <a:latin charset="0" panose="02020603050405020304" pitchFamily="18" typeface="Times New Roman"/>
                <a:cs charset="0" panose="02020603050405020304" pitchFamily="18" typeface="Times New Roman"/>
              </a:rPr>
              <a:t>E → E ^ E</a:t>
            </a:r>
          </a:p>
          <a:p>
            <a:r>
              <a:rPr b="1" dirty="0" lang="en-US" sz="2000">
                <a:latin charset="0" panose="02020603050405020304" pitchFamily="18" typeface="Times New Roman"/>
                <a:cs charset="0" panose="02020603050405020304" pitchFamily="18" typeface="Times New Roman"/>
              </a:rPr>
              <a:t>E →id</a:t>
            </a:r>
          </a:p>
          <a:p>
            <a:r>
              <a:rPr b="1" dirty="0" lang="en-US" sz="2000">
                <a:latin charset="0" panose="02020603050405020304" pitchFamily="18" typeface="Times New Roman"/>
                <a:cs charset="0" panose="02020603050405020304" pitchFamily="18" typeface="Times New Roman"/>
              </a:rPr>
              <a:t>Remove ambiguity from the given grammar.</a:t>
            </a:r>
          </a:p>
          <a:p>
            <a:endParaRPr b="1" dirty="0" lang="en-US" sz="2000">
              <a:latin charset="0" panose="02020603050405020304" pitchFamily="18" typeface="Times New Roman"/>
              <a:cs charset="0" panose="02020603050405020304" pitchFamily="18" typeface="Times New Roman"/>
            </a:endParaRPr>
          </a:p>
          <a:p>
            <a:r>
              <a:rPr b="1" dirty="0" lang="en-US" sz="2000">
                <a:latin charset="0" panose="02020603050405020304" pitchFamily="18" typeface="Times New Roman"/>
                <a:cs charset="0" panose="02020603050405020304" pitchFamily="18" typeface="Times New Roman"/>
              </a:rPr>
              <a:t>Solution</a:t>
            </a:r>
            <a:r>
              <a:rPr dirty="0" lang="en-US" sz="2000">
                <a:latin charset="0" panose="02020603050405020304" pitchFamily="18" typeface="Times New Roman"/>
                <a:cs charset="0" panose="02020603050405020304" pitchFamily="18" typeface="Times New Roman"/>
              </a:rPr>
              <a:t>: Operator +,* and ^</a:t>
            </a:r>
          </a:p>
          <a:p>
            <a:r>
              <a:rPr dirty="0" lang="en-US" sz="2000">
                <a:latin charset="0" panose="02020603050405020304" pitchFamily="18" typeface="Times New Roman"/>
                <a:cs charset="0" panose="02020603050405020304" pitchFamily="18" typeface="Times New Roman"/>
              </a:rPr>
              <a:t>Precedence: ^ &gt; * &gt; +</a:t>
            </a:r>
          </a:p>
          <a:p>
            <a:r>
              <a:rPr dirty="0" lang="en-US" sz="2000">
                <a:latin charset="0" panose="02020603050405020304" pitchFamily="18" typeface="Times New Roman"/>
                <a:cs charset="0" panose="02020603050405020304" pitchFamily="18" typeface="Times New Roman"/>
              </a:rPr>
              <a:t>Associativity : *, + -&gt; left to right</a:t>
            </a:r>
          </a:p>
          <a:p>
            <a:r>
              <a:rPr dirty="0" lang="en-US" sz="2000">
                <a:latin charset="0" panose="02020603050405020304" pitchFamily="18" typeface="Times New Roman"/>
                <a:cs charset="0" panose="02020603050405020304" pitchFamily="18" typeface="Times New Roman"/>
              </a:rPr>
              <a:t>			   ^ -&gt; right to left</a:t>
            </a:r>
          </a:p>
          <a:p>
            <a:endParaRPr dirty="0" lang="en-US" sz="2000">
              <a:latin charset="0" panose="02020603050405020304" pitchFamily="18" typeface="Times New Roman"/>
              <a:cs charset="0" panose="02020603050405020304" pitchFamily="18" typeface="Times New Roman"/>
            </a:endParaRPr>
          </a:p>
          <a:p>
            <a:r>
              <a:rPr dirty="0" lang="en-US" sz="2000">
                <a:latin charset="0" panose="02020603050405020304" pitchFamily="18" typeface="Times New Roman"/>
                <a:cs charset="0" panose="02020603050405020304" pitchFamily="18" typeface="Times New Roman"/>
              </a:rPr>
              <a:t>We need to arrange the grammar so that the production with ^ and * are in lower levels of the parse tree and every production must follow the associativity of its operator.</a:t>
            </a:r>
          </a:p>
          <a:p>
            <a:endParaRPr dirty="0" lang="en-US" sz="2000">
              <a:latin charset="0" panose="02020603050405020304" pitchFamily="18" typeface="Times New Roman"/>
              <a:cs charset="0" panose="02020603050405020304" pitchFamily="18" typeface="Times New Roman"/>
            </a:endParaRPr>
          </a:p>
          <a:p>
            <a:r>
              <a:rPr dirty="0" lang="en-US" sz="2000">
                <a:latin charset="0" panose="02020603050405020304" pitchFamily="18" typeface="Times New Roman"/>
                <a:cs charset="0" panose="02020603050405020304" pitchFamily="18" typeface="Times New Roman"/>
              </a:rPr>
              <a:t>Unambiguous Grammar: </a:t>
            </a:r>
          </a:p>
          <a:p>
            <a:r>
              <a:rPr dirty="0" lang="en-US" sz="2000">
                <a:latin charset="0" panose="02020603050405020304" pitchFamily="18" typeface="Times New Roman"/>
                <a:cs charset="0" panose="02020603050405020304" pitchFamily="18" typeface="Times New Roman"/>
              </a:rPr>
              <a:t>E → E + P | P</a:t>
            </a:r>
          </a:p>
          <a:p>
            <a:r>
              <a:rPr dirty="0" lang="en-US" sz="2000">
                <a:latin charset="0" panose="02020603050405020304" pitchFamily="18" typeface="Times New Roman"/>
                <a:cs charset="0" panose="02020603050405020304" pitchFamily="18" typeface="Times New Roman"/>
              </a:rPr>
              <a:t>P → P * Q | Q</a:t>
            </a:r>
          </a:p>
          <a:p>
            <a:r>
              <a:rPr dirty="0" lang="en-US" sz="2000">
                <a:latin charset="0" panose="02020603050405020304" pitchFamily="18" typeface="Times New Roman"/>
                <a:cs charset="0" panose="02020603050405020304" pitchFamily="18" typeface="Times New Roman"/>
              </a:rPr>
              <a:t>Q → R ^ Q | R</a:t>
            </a:r>
          </a:p>
          <a:p>
            <a:r>
              <a:rPr dirty="0" lang="en-US" sz="2000">
                <a:latin charset="0" panose="02020603050405020304" pitchFamily="18" typeface="Times New Roman"/>
                <a:cs charset="0" panose="02020603050405020304" pitchFamily="18" typeface="Times New Roman"/>
              </a:rPr>
              <a:t>R → id</a:t>
            </a:r>
            <a:endParaRPr altLang="en-IN" dirty="0" lang="en-IN" sz="2000"/>
          </a:p>
        </p:txBody>
      </p:sp>
    </p:spTree>
    <p:extLst>
      <p:ext uri="{BB962C8B-B14F-4D97-AF65-F5344CB8AC3E}">
        <p14:creationId xmlns:p14="http://schemas.microsoft.com/office/powerpoint/2010/main" val="70030013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6" st="6"/>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7" st="7"/>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8" st="8"/>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9" st="9"/>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3">
                                            <p:txEl>
                                              <p:pRg end="11" st="11"/>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13" st="13"/>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14" st="14"/>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3">
                                            <p:txEl>
                                              <p:pRg end="15" st="15"/>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
                                            <p:txEl>
                                              <p:pRg end="16" st="16"/>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3">
                                            <p:txEl>
                                              <p:pRg end="17" st="1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BDF7D-F162-B2D8-C1D3-2D387526A0FE}"/>
              </a:ext>
            </a:extLst>
          </p:cNvPr>
          <p:cNvSpPr>
            <a:spLocks noGrp="1"/>
          </p:cNvSpPr>
          <p:nvPr>
            <p:ph type="title"/>
          </p:nvPr>
        </p:nvSpPr>
        <p:spPr/>
        <p:txBody>
          <a:bodyPr numCol="1"/>
          <a:lstStyle/>
          <a:p>
            <a:r>
              <a:rPr altLang="en-IN" dirty="0" lang="en-IN"/>
              <a:t>Inherently ambiguous language</a:t>
            </a:r>
          </a:p>
        </p:txBody>
      </p:sp>
      <p:sp>
        <p:nvSpPr>
          <p:cNvPr id="3" name="Content Placeholder 2">
            <a:extLst>
              <a:ext uri="{FF2B5EF4-FFF2-40B4-BE49-F238E27FC236}">
                <a16:creationId xmlns:a16="http://schemas.microsoft.com/office/drawing/2014/main" id="{613465D2-C423-99E1-2F52-1E8F0BEC4B98}"/>
              </a:ext>
            </a:extLst>
          </p:cNvPr>
          <p:cNvSpPr>
            <a:spLocks noGrp="1"/>
          </p:cNvSpPr>
          <p:nvPr>
            <p:ph idx="1"/>
          </p:nvPr>
        </p:nvSpPr>
        <p:spPr/>
        <p:txBody>
          <a:bodyPr numCol="1">
            <a:normAutofit/>
          </a:bodyPr>
          <a:lstStyle/>
          <a:p>
            <a:pPr>
              <a:buFont charset="0" panose="020B0604020202020204" pitchFamily="34" typeface="Arial"/>
              <a:buChar char="•"/>
            </a:pPr>
            <a:r>
              <a:rPr dirty="0" lang="en-US" sz="2800"/>
              <a:t>A context-free language is called inherently ambiguous if there exists no unambiguous grammar to generate the language.</a:t>
            </a:r>
          </a:p>
          <a:p>
            <a:pPr>
              <a:buFont charset="0" panose="020B0604020202020204" pitchFamily="34" typeface="Arial"/>
              <a:buChar char="•"/>
            </a:pPr>
            <a:r>
              <a:rPr altLang="en-IN" dirty="0" lang="en-IN" sz="2800"/>
              <a:t>L = {a</a:t>
            </a:r>
            <a:r>
              <a:rPr altLang="en-IN" baseline="30000" dirty="0" lang="en-IN" sz="2800"/>
              <a:t>i</a:t>
            </a:r>
            <a:r>
              <a:rPr altLang="en-IN" dirty="0" lang="en-IN" sz="2800"/>
              <a:t> </a:t>
            </a:r>
            <a:r>
              <a:rPr altLang="en-IN" dirty="0" err="1" lang="en-IN" sz="2800"/>
              <a:t>b</a:t>
            </a:r>
            <a:r>
              <a:rPr altLang="en-IN" baseline="30000" dirty="0" err="1" lang="en-IN" sz="2800"/>
              <a:t>j</a:t>
            </a:r>
            <a:r>
              <a:rPr altLang="en-IN" dirty="0" lang="en-IN" sz="2800"/>
              <a:t> c</a:t>
            </a:r>
            <a:r>
              <a:rPr altLang="en-IN" baseline="30000" dirty="0" lang="en-IN" sz="2800"/>
              <a:t>k</a:t>
            </a:r>
            <a:r>
              <a:rPr altLang="en-IN" dirty="0" lang="en-IN" sz="2800"/>
              <a:t> | i = j or j = k}</a:t>
            </a:r>
            <a:endParaRPr dirty="0" lang="en-US" sz="2800"/>
          </a:p>
          <a:p>
            <a:pPr>
              <a:buFont charset="0" panose="020B0604020202020204" pitchFamily="34" typeface="Arial"/>
              <a:buChar char="•"/>
            </a:pPr>
            <a:r>
              <a:rPr altLang="en-IN" dirty="0" lang="en-IN" sz="2800"/>
              <a:t>L = {a</a:t>
            </a:r>
            <a:r>
              <a:rPr altLang="en-IN" baseline="30000" dirty="0" lang="en-IN" sz="2800"/>
              <a:t>i</a:t>
            </a:r>
            <a:r>
              <a:rPr altLang="en-IN" dirty="0" lang="en-IN" sz="2800"/>
              <a:t> b</a:t>
            </a:r>
            <a:r>
              <a:rPr altLang="en-IN" baseline="30000" dirty="0" lang="en-IN" sz="2800"/>
              <a:t>i</a:t>
            </a:r>
            <a:r>
              <a:rPr altLang="en-IN" dirty="0" lang="en-IN" sz="2800"/>
              <a:t> </a:t>
            </a:r>
            <a:r>
              <a:rPr altLang="en-IN" dirty="0" err="1" lang="en-IN" sz="2800"/>
              <a:t>c</a:t>
            </a:r>
            <a:r>
              <a:rPr altLang="en-IN" baseline="30000" dirty="0" err="1" lang="en-IN" sz="2800"/>
              <a:t>j</a:t>
            </a:r>
            <a:r>
              <a:rPr altLang="en-IN" baseline="30000" dirty="0" lang="en-IN" sz="2800"/>
              <a:t> </a:t>
            </a:r>
            <a:r>
              <a:rPr altLang="en-IN" dirty="0" err="1" lang="en-IN" sz="2800"/>
              <a:t>d</a:t>
            </a:r>
            <a:r>
              <a:rPr altLang="en-IN" baseline="30000" dirty="0" err="1" lang="en-IN" sz="2800"/>
              <a:t>j</a:t>
            </a:r>
            <a:r>
              <a:rPr altLang="en-IN" dirty="0" lang="en-IN" sz="2800"/>
              <a:t>} ∪ {a</a:t>
            </a:r>
            <a:r>
              <a:rPr altLang="en-IN" baseline="30000" dirty="0" lang="en-IN" sz="2800"/>
              <a:t>i</a:t>
            </a:r>
            <a:r>
              <a:rPr altLang="en-IN" dirty="0" lang="en-IN" sz="2800"/>
              <a:t> </a:t>
            </a:r>
            <a:r>
              <a:rPr altLang="en-IN" dirty="0" err="1" lang="en-IN" sz="2800"/>
              <a:t>b</a:t>
            </a:r>
            <a:r>
              <a:rPr altLang="en-IN" baseline="30000" dirty="0" err="1" lang="en-IN" sz="2800"/>
              <a:t>j</a:t>
            </a:r>
            <a:r>
              <a:rPr altLang="en-IN" dirty="0" lang="en-IN" sz="2800"/>
              <a:t> </a:t>
            </a:r>
            <a:r>
              <a:rPr altLang="en-IN" dirty="0" err="1" lang="en-IN" sz="2800"/>
              <a:t>c</a:t>
            </a:r>
            <a:r>
              <a:rPr altLang="en-IN" baseline="30000" dirty="0" err="1" lang="en-IN" sz="2800"/>
              <a:t>j</a:t>
            </a:r>
            <a:r>
              <a:rPr altLang="en-IN" baseline="30000" dirty="0" lang="en-IN" sz="2800"/>
              <a:t> </a:t>
            </a:r>
            <a:r>
              <a:rPr altLang="en-IN" dirty="0" lang="en-IN" sz="2800"/>
              <a:t>d</a:t>
            </a:r>
            <a:r>
              <a:rPr altLang="en-IN" baseline="30000" dirty="0" lang="en-IN" sz="2800"/>
              <a:t>i</a:t>
            </a:r>
            <a:r>
              <a:rPr altLang="en-IN" dirty="0" lang="en-IN" sz="2800"/>
              <a:t>}</a:t>
            </a:r>
          </a:p>
        </p:txBody>
      </p:sp>
    </p:spTree>
    <p:extLst>
      <p:ext uri="{BB962C8B-B14F-4D97-AF65-F5344CB8AC3E}">
        <p14:creationId xmlns:p14="http://schemas.microsoft.com/office/powerpoint/2010/main" val="1588726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CF17-9798-2512-3072-C70A6BB0C959}"/>
              </a:ext>
            </a:extLst>
          </p:cNvPr>
          <p:cNvSpPr txBox="1">
            <a:spLocks/>
          </p:cNvSpPr>
          <p:nvPr/>
        </p:nvSpPr>
        <p:spPr>
          <a:xfrm>
            <a:off x="1066800" y="503772"/>
            <a:ext cx="10058400" cy="1450757"/>
          </a:xfrm>
          <a:prstGeom prst="rect">
            <a:avLst/>
          </a:prstGeom>
        </p:spPr>
        <p:txBody>
          <a:bodyPr numCol="1"/>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pPr algn="ctr"/>
            <a:r>
              <a:rPr altLang="en-IN" dirty="0" lang="en-IN"/>
              <a:t>Simplification of CFGs</a:t>
            </a:r>
          </a:p>
        </p:txBody>
      </p:sp>
      <p:sp>
        <p:nvSpPr>
          <p:cNvPr id="3" name="Content Placeholder 2">
            <a:extLst>
              <a:ext uri="{FF2B5EF4-FFF2-40B4-BE49-F238E27FC236}">
                <a16:creationId xmlns:a16="http://schemas.microsoft.com/office/drawing/2014/main" id="{271E9990-3739-F6A6-8B65-98FA6F85028A}"/>
              </a:ext>
            </a:extLst>
          </p:cNvPr>
          <p:cNvSpPr txBox="1">
            <a:spLocks/>
          </p:cNvSpPr>
          <p:nvPr/>
        </p:nvSpPr>
        <p:spPr>
          <a:xfrm>
            <a:off x="790575" y="1469180"/>
            <a:ext cx="10869930" cy="4748740"/>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lgn="just">
              <a:buFont charset="2" panose="05000000000000000000" pitchFamily="2" typeface="Wingdings"/>
              <a:buChar char="§"/>
            </a:pPr>
            <a:r>
              <a:rPr dirty="0" lang="en-US" sz="2400"/>
              <a:t>In a CFG, it may happen that all the production rules and symbols are not needed for the derivation of strings. </a:t>
            </a:r>
          </a:p>
          <a:p>
            <a:pPr algn="just">
              <a:buFont charset="2" panose="05000000000000000000" pitchFamily="2" typeface="Wingdings"/>
              <a:buChar char="§"/>
            </a:pPr>
            <a:r>
              <a:rPr dirty="0" lang="en-US" sz="2400"/>
              <a:t>Besides, there may be some null productions, useless symbols and unit productions. </a:t>
            </a:r>
          </a:p>
          <a:p>
            <a:pPr algn="just">
              <a:buFont charset="2" panose="05000000000000000000" pitchFamily="2" typeface="Wingdings"/>
              <a:buChar char="§"/>
            </a:pPr>
            <a:r>
              <a:rPr dirty="0" lang="en-US" sz="2400"/>
              <a:t>Elimination of these productions and symbols is called simplification of CFGs or reduction of grammar. </a:t>
            </a:r>
          </a:p>
          <a:p>
            <a:pPr algn="just">
              <a:buFont charset="2" panose="05000000000000000000" pitchFamily="2" typeface="Wingdings"/>
              <a:buChar char="§"/>
            </a:pPr>
            <a:r>
              <a:rPr dirty="0" lang="en-US" sz="2400"/>
              <a:t>The properties of reduced grammar are given below:</a:t>
            </a:r>
          </a:p>
          <a:p>
            <a:pPr algn="just" lvl="1">
              <a:buFont charset="2" panose="05000000000000000000" pitchFamily="2" typeface="Wingdings"/>
              <a:buChar char="§"/>
            </a:pPr>
            <a:r>
              <a:rPr dirty="0" lang="en-US" sz="2400"/>
              <a:t>Each variable (i.e. non-terminal) and each terminal of G appears in the derivation of some word in L.</a:t>
            </a:r>
          </a:p>
          <a:p>
            <a:pPr algn="just" lvl="1">
              <a:buFont charset="2" panose="05000000000000000000" pitchFamily="2" typeface="Wingdings"/>
              <a:buChar char="§"/>
            </a:pPr>
            <a:r>
              <a:rPr dirty="0" lang="en-US" sz="2400"/>
              <a:t>There should not be any production as X → Y where X and Y are non-terminal.</a:t>
            </a:r>
          </a:p>
          <a:p>
            <a:pPr algn="just" lvl="1">
              <a:buFont charset="2" panose="05000000000000000000" pitchFamily="2" typeface="Wingdings"/>
              <a:buChar char="§"/>
            </a:pPr>
            <a:r>
              <a:rPr dirty="0" lang="en-US" sz="2400"/>
              <a:t>If ε is not in the language L then there need not to be the production X → ε.</a:t>
            </a:r>
          </a:p>
        </p:txBody>
      </p:sp>
    </p:spTree>
    <p:extLst>
      <p:ext uri="{BB962C8B-B14F-4D97-AF65-F5344CB8AC3E}">
        <p14:creationId xmlns:p14="http://schemas.microsoft.com/office/powerpoint/2010/main" val="230377041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4" st="4"/>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5" st="5"/>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3">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Simplification of CFG - Tpoint Tech" id="2" name="Picture 2">
            <a:extLst>
              <a:ext uri="{FF2B5EF4-FFF2-40B4-BE49-F238E27FC236}">
                <a16:creationId xmlns:a16="http://schemas.microsoft.com/office/drawing/2014/main" id="{0AA24811-4AED-8985-8429-3021E8CF75D5}"/>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45485"/>
          <a:stretch>
            <a:fillRect/>
          </a:stretch>
        </p:blipFill>
        <p:spPr>
          <a:xfrm>
            <a:off x="1838960" y="2488822"/>
            <a:ext cx="8790940" cy="180885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F150FE7-43DA-092B-BB85-77CAD65E79C8}"/>
              </a:ext>
            </a:extLst>
          </p:cNvPr>
          <p:cNvSpPr txBox="1"/>
          <p:nvPr/>
        </p:nvSpPr>
        <p:spPr>
          <a:xfrm>
            <a:off x="937260" y="719139"/>
            <a:ext cx="9258300" cy="1384995"/>
          </a:xfrm>
          <a:prstGeom prst="rect">
            <a:avLst/>
          </a:prstGeom>
          <a:noFill/>
        </p:spPr>
        <p:txBody>
          <a:bodyPr numCol="1" wrap="square">
            <a:spAutoFit/>
          </a:bodyPr>
          <a:lstStyle/>
          <a:p>
            <a:pPr algn="just">
              <a:buFont charset="2" panose="05000000000000000000" pitchFamily="2" typeface="Wingdings"/>
              <a:buChar char="§"/>
            </a:pPr>
            <a:r>
              <a:rPr dirty="0" lang="en-US" sz="2400"/>
              <a:t>Simplification essentially comprises of the following steps</a:t>
            </a:r>
          </a:p>
          <a:p>
            <a:pPr algn="just" lvl="1">
              <a:buFont charset="2" panose="05000000000000000000" pitchFamily="2" typeface="Wingdings"/>
              <a:buChar char="§"/>
            </a:pPr>
            <a:r>
              <a:rPr dirty="0" lang="en-US" sz="2000"/>
              <a:t>Elimination of Useless Symbols or Productions</a:t>
            </a:r>
          </a:p>
          <a:p>
            <a:pPr algn="just" lvl="1">
              <a:buFont charset="2" panose="05000000000000000000" pitchFamily="2" typeface="Wingdings"/>
              <a:buChar char="§"/>
            </a:pPr>
            <a:r>
              <a:rPr dirty="0" lang="en-US" sz="2000"/>
              <a:t>Elimination of Null Productions (</a:t>
            </a:r>
            <a:r>
              <a:rPr dirty="0" err="1" lang="en-US" sz="2000"/>
              <a:t>ie</a:t>
            </a:r>
            <a:r>
              <a:rPr dirty="0" lang="en-US" sz="2000"/>
              <a:t>. </a:t>
            </a:r>
            <a:r>
              <a:rPr altLang="el-GR" dirty="0" lang="el-GR" sz="2000">
                <a:solidFill>
                  <a:srgbClr val="1F1F1F"/>
                </a:solidFill>
                <a:latin typeface="Google Sans"/>
              </a:rPr>
              <a:t>ε</a:t>
            </a:r>
            <a:r>
              <a:rPr dirty="0" lang="en-US" sz="2000"/>
              <a:t>)</a:t>
            </a:r>
          </a:p>
          <a:p>
            <a:pPr algn="just" lvl="1">
              <a:buFont charset="2" panose="05000000000000000000" pitchFamily="2" typeface="Wingdings"/>
              <a:buChar char="§"/>
            </a:pPr>
            <a:r>
              <a:rPr dirty="0" lang="en-US" sz="2000"/>
              <a:t>Elimination of Unit Productions</a:t>
            </a:r>
            <a:endParaRPr altLang="en-IN" dirty="0" lang="en-IN" sz="2000"/>
          </a:p>
        </p:txBody>
      </p:sp>
      <p:pic>
        <p:nvPicPr>
          <p:cNvPr descr="Simplification of CFG - Tpoint Tech" id="4" name="Picture 2">
            <a:extLst>
              <a:ext uri="{FF2B5EF4-FFF2-40B4-BE49-F238E27FC236}">
                <a16:creationId xmlns:a16="http://schemas.microsoft.com/office/drawing/2014/main" id="{C999C877-7BB8-69C8-1104-8BA09B2BBDC0}"/>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l="37417" r="35149" t="53086"/>
          <a:stretch>
            <a:fillRect/>
          </a:stretch>
        </p:blipFill>
        <p:spPr>
          <a:xfrm>
            <a:off x="1861820" y="4217670"/>
            <a:ext cx="2411730" cy="1556638"/>
          </a:xfrm>
          <a:prstGeom prst="rect">
            <a:avLst/>
          </a:prstGeom>
          <a:noFill/>
          <a:extLst>
            <a:ext uri="{909E8E84-426E-40DD-AFC4-6F175D3DCCD1}">
              <a14:hiddenFill xmlns:a14="http://schemas.microsoft.com/office/drawing/2010/main">
                <a:solidFill>
                  <a:srgbClr val="FFFFFF"/>
                </a:solidFill>
              </a14:hiddenFill>
            </a:ext>
          </a:extLst>
        </p:spPr>
      </p:pic>
      <p:pic>
        <p:nvPicPr>
          <p:cNvPr descr="Simplification of CFG - Tpoint Tech" id="5" name="Picture 2">
            <a:extLst>
              <a:ext uri="{FF2B5EF4-FFF2-40B4-BE49-F238E27FC236}">
                <a16:creationId xmlns:a16="http://schemas.microsoft.com/office/drawing/2014/main" id="{72FD70DC-1AA2-B82C-1EDB-CAA0704076A8}"/>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r="72566" t="53086"/>
          <a:stretch>
            <a:fillRect/>
          </a:stretch>
        </p:blipFill>
        <p:spPr>
          <a:xfrm>
            <a:off x="8582660" y="4297680"/>
            <a:ext cx="2411730" cy="1556639"/>
          </a:xfrm>
          <a:prstGeom prst="rect">
            <a:avLst/>
          </a:prstGeom>
          <a:noFill/>
          <a:extLst>
            <a:ext uri="{909E8E84-426E-40DD-AFC4-6F175D3DCCD1}">
              <a14:hiddenFill xmlns:a14="http://schemas.microsoft.com/office/drawing/2010/main">
                <a:solidFill>
                  <a:srgbClr val="FFFFFF"/>
                </a:solidFill>
              </a14:hiddenFill>
            </a:ext>
          </a:extLst>
        </p:spPr>
      </p:pic>
      <p:pic>
        <p:nvPicPr>
          <p:cNvPr descr="Simplification of CFG - Tpoint Tech" id="6" name="Picture 2">
            <a:extLst>
              <a:ext uri="{FF2B5EF4-FFF2-40B4-BE49-F238E27FC236}">
                <a16:creationId xmlns:a16="http://schemas.microsoft.com/office/drawing/2014/main" id="{C30ACB2C-E3A0-2488-23CC-5894FE25B62C}"/>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l="72566" t="53087"/>
          <a:stretch>
            <a:fillRect/>
          </a:stretch>
        </p:blipFill>
        <p:spPr>
          <a:xfrm>
            <a:off x="4742815" y="4274820"/>
            <a:ext cx="2411730" cy="1556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614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88EB-4452-35B0-EEAA-508B0333AE75}"/>
              </a:ext>
            </a:extLst>
          </p:cNvPr>
          <p:cNvSpPr>
            <a:spLocks noGrp="1"/>
          </p:cNvSpPr>
          <p:nvPr>
            <p:ph type="title"/>
          </p:nvPr>
        </p:nvSpPr>
        <p:spPr/>
        <p:txBody>
          <a:bodyPr numCol="1"/>
          <a:lstStyle/>
          <a:p>
            <a:r>
              <a:rPr dirty="0" lang="en-US"/>
              <a:t>Removal of Null/Empty (ε) Production</a:t>
            </a:r>
            <a:endParaRPr altLang="en-IN" dirty="0" lang="en-IN"/>
          </a:p>
        </p:txBody>
      </p:sp>
      <p:sp>
        <p:nvSpPr>
          <p:cNvPr id="3" name="Content Placeholder 2">
            <a:extLst>
              <a:ext uri="{FF2B5EF4-FFF2-40B4-BE49-F238E27FC236}">
                <a16:creationId xmlns:a16="http://schemas.microsoft.com/office/drawing/2014/main" id="{66CD56BC-3F45-6031-2ED9-9AFB44F30A1A}"/>
              </a:ext>
            </a:extLst>
          </p:cNvPr>
          <p:cNvSpPr>
            <a:spLocks noGrp="1"/>
          </p:cNvSpPr>
          <p:nvPr>
            <p:ph idx="1"/>
          </p:nvPr>
        </p:nvSpPr>
        <p:spPr/>
        <p:txBody>
          <a:bodyPr numCol="1">
            <a:normAutofit fontScale="92500"/>
          </a:bodyPr>
          <a:lstStyle/>
          <a:p>
            <a:pPr algn="just">
              <a:buFont charset="0" panose="020B0604020202020204" pitchFamily="34" typeface="Arial"/>
              <a:buChar char="•"/>
            </a:pPr>
            <a:r>
              <a:rPr dirty="0" lang="en-US" sz="2400"/>
              <a:t>The productions of type “A→ ε” are called ε productions. </a:t>
            </a:r>
          </a:p>
          <a:p>
            <a:pPr algn="just">
              <a:buFont charset="0" panose="020B0604020202020204" pitchFamily="34" typeface="Arial"/>
              <a:buChar char="•"/>
            </a:pPr>
            <a:r>
              <a:rPr dirty="0" lang="en-US" sz="2400"/>
              <a:t>These type of productions can only be removed from those grammars that do not generate ε.</a:t>
            </a:r>
          </a:p>
          <a:p>
            <a:pPr algn="just">
              <a:buFont charset="0" panose="020B0604020202020204" pitchFamily="34" typeface="Arial"/>
              <a:buChar char="•"/>
            </a:pPr>
            <a:r>
              <a:rPr b="1" dirty="0" lang="en-US" sz="2400"/>
              <a:t>Procedure for Removing Null Production:</a:t>
            </a:r>
          </a:p>
          <a:p>
            <a:pPr algn="just" indent="-457200" lvl="1" marL="749808">
              <a:buAutoNum type="arabicPeriod"/>
            </a:pPr>
            <a:r>
              <a:rPr altLang="en-IN" dirty="0" lang="en-IN" sz="2400"/>
              <a:t>Identify the </a:t>
            </a:r>
            <a:r>
              <a:rPr dirty="0" lang="en-US" sz="2400"/>
              <a:t>ε-production in given CFG ( in form A→ ε).</a:t>
            </a:r>
          </a:p>
          <a:p>
            <a:pPr algn="just" indent="-457200" lvl="1" marL="749808">
              <a:buAutoNum type="arabicPeriod"/>
            </a:pPr>
            <a:r>
              <a:rPr dirty="0" lang="en-US" sz="2400"/>
              <a:t>To eliminate A→ ε, write all productions from CFG whose right side contains A.</a:t>
            </a:r>
          </a:p>
          <a:p>
            <a:pPr algn="just" indent="-457200" lvl="1" marL="749808">
              <a:buAutoNum type="arabicPeriod"/>
            </a:pPr>
            <a:r>
              <a:rPr dirty="0" lang="en-US" sz="2400"/>
              <a:t>Replace each occurrence of A with “ε” to get productions without “ε” and eliminate A→ ε.</a:t>
            </a:r>
          </a:p>
          <a:p>
            <a:pPr algn="just" indent="-457200" lvl="1" marL="749808">
              <a:buAutoNum type="arabicPeriod"/>
            </a:pPr>
            <a:r>
              <a:rPr dirty="0" lang="en-US" sz="2400"/>
              <a:t>The obtained productions in step3 must be added to the grammar.</a:t>
            </a:r>
          </a:p>
          <a:p>
            <a:pPr algn="just" indent="-457200" lvl="1" marL="749808">
              <a:buAutoNum type="arabicPeriod"/>
            </a:pPr>
            <a:r>
              <a:rPr dirty="0" lang="en-US" sz="2400"/>
              <a:t>A→ ε is allowed only if A is not used on RHS of any </a:t>
            </a:r>
            <a:r>
              <a:rPr lang="en-US" sz="2400"/>
              <a:t>production.</a:t>
            </a:r>
            <a:endParaRPr dirty="0" lang="en-US" sz="2400"/>
          </a:p>
        </p:txBody>
      </p:sp>
    </p:spTree>
    <p:extLst>
      <p:ext uri="{BB962C8B-B14F-4D97-AF65-F5344CB8AC3E}">
        <p14:creationId xmlns:p14="http://schemas.microsoft.com/office/powerpoint/2010/main" val="326298321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3" st="3"/>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E3B47D-3AF2-B373-EA5B-29021ECB40AC}"/>
              </a:ext>
            </a:extLst>
          </p:cNvPr>
          <p:cNvSpPr txBox="1"/>
          <p:nvPr/>
        </p:nvSpPr>
        <p:spPr>
          <a:xfrm>
            <a:off x="247650" y="74593"/>
            <a:ext cx="11822430" cy="6140142"/>
          </a:xfrm>
          <a:prstGeom prst="rect">
            <a:avLst/>
          </a:prstGeom>
          <a:noFill/>
        </p:spPr>
        <p:txBody>
          <a:bodyPr numCol="1" wrap="square">
            <a:spAutoFit/>
          </a:bodyPr>
          <a:lstStyle/>
          <a:p>
            <a:pPr algn="l">
              <a:buNone/>
            </a:pPr>
            <a:r>
              <a:rPr b="1" dirty="0" i="0" lang="en-US" sz="1700">
                <a:solidFill>
                  <a:srgbClr val="1C2833"/>
                </a:solidFill>
                <a:effectLst/>
                <a:latin charset="0" panose="02020603050405020304" pitchFamily="18" typeface="Times New Roman"/>
                <a:cs charset="0" panose="02020603050405020304" pitchFamily="18" typeface="Times New Roman"/>
              </a:rPr>
              <a:t>Example</a:t>
            </a:r>
            <a:r>
              <a:rPr b="0" dirty="0" i="0" lang="en-US" sz="1700">
                <a:solidFill>
                  <a:srgbClr val="1C2833"/>
                </a:solidFill>
                <a:effectLst/>
                <a:latin charset="0" panose="02020603050405020304" pitchFamily="18" typeface="Times New Roman"/>
                <a:cs charset="0" panose="02020603050405020304" pitchFamily="18" typeface="Times New Roman"/>
              </a:rPr>
              <a:t>: </a:t>
            </a:r>
          </a:p>
          <a:p>
            <a:pPr algn="just">
              <a:buNone/>
            </a:pPr>
            <a:r>
              <a:rPr b="0" dirty="0" i="0" lang="en-US" sz="1700">
                <a:solidFill>
                  <a:srgbClr val="333333"/>
                </a:solidFill>
                <a:effectLst/>
                <a:latin charset="0" panose="02020603050405020304" pitchFamily="18" typeface="Times New Roman"/>
                <a:cs charset="0" panose="02020603050405020304" pitchFamily="18" typeface="Times New Roman"/>
              </a:rPr>
              <a:t>Remove the null production from the following CFG by preserving the meaning of it.</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S → XYX  </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X → 0X | ε  </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Y → 1Y | ε  </a:t>
            </a:r>
            <a:endParaRPr dirty="0" lang="en-US" sz="1700">
              <a:solidFill>
                <a:srgbClr val="333333"/>
              </a:solidFill>
              <a:latin charset="0" panose="02020603050405020304" pitchFamily="18" typeface="Times New Roman"/>
              <a:cs charset="0" panose="02020603050405020304" pitchFamily="18" typeface="Times New Roman"/>
            </a:endParaRPr>
          </a:p>
          <a:p>
            <a:pPr algn="just">
              <a:spcAft>
                <a:spcPts val="600"/>
              </a:spcAft>
            </a:pPr>
            <a:r>
              <a:rPr b="0" dirty="0" i="0" lang="en-US" sz="1700">
                <a:solidFill>
                  <a:srgbClr val="333333"/>
                </a:solidFill>
                <a:effectLst/>
                <a:latin charset="0" panose="02020603050405020304" pitchFamily="18" typeface="Times New Roman"/>
                <a:cs charset="0" panose="02020603050405020304" pitchFamily="18" typeface="Times New Roman"/>
              </a:rPr>
              <a:t>Solution: There are two null productions X → ε and Y → ε. To preserve the meaning of CFG, placing ε at the right-hand side whenever X and Y have appeared.</a:t>
            </a:r>
          </a:p>
          <a:p>
            <a:pPr algn="just" indent="-342900" marL="342900">
              <a:spcAft>
                <a:spcPts val="600"/>
              </a:spcAft>
              <a:buAutoNum type="arabicPeriod"/>
            </a:pPr>
            <a:r>
              <a:rPr b="1" dirty="0" lang="en-US" sz="1700">
                <a:solidFill>
                  <a:srgbClr val="333333"/>
                </a:solidFill>
                <a:latin charset="0" panose="02020603050405020304" pitchFamily="18" typeface="Times New Roman"/>
                <a:cs charset="0" panose="02020603050405020304" pitchFamily="18" typeface="Times New Roman"/>
              </a:rPr>
              <a:t>Remove </a:t>
            </a:r>
            <a:r>
              <a:rPr b="1" dirty="0" i="0" lang="en-US" sz="1700">
                <a:solidFill>
                  <a:srgbClr val="333333"/>
                </a:solidFill>
                <a:effectLst/>
                <a:latin charset="0" panose="02020603050405020304" pitchFamily="18" typeface="Times New Roman"/>
                <a:cs charset="0" panose="02020603050405020304" pitchFamily="18" typeface="Times New Roman"/>
              </a:rPr>
              <a:t>X → ε </a:t>
            </a:r>
          </a:p>
          <a:p>
            <a:pPr algn="just">
              <a:spcAft>
                <a:spcPts val="600"/>
              </a:spcAft>
            </a:pPr>
            <a:r>
              <a:rPr altLang="en-IN" b="0" dirty="0" i="0" lang="en-IN" sz="1700">
                <a:solidFill>
                  <a:srgbClr val="333333"/>
                </a:solidFill>
                <a:effectLst/>
                <a:highlight>
                  <a:srgbClr val="FFFF00"/>
                </a:highlight>
                <a:latin charset="0" panose="02020603050405020304" pitchFamily="18" typeface="Times New Roman"/>
                <a:cs charset="0" panose="02020603050405020304" pitchFamily="18" typeface="Times New Roman"/>
              </a:rPr>
              <a:t>S → XYX </a:t>
            </a:r>
            <a:r>
              <a:rPr altLang="en-IN" b="0" dirty="0" i="0" lang="en-IN" sz="1700">
                <a:solidFill>
                  <a:srgbClr val="333333"/>
                </a:solidFill>
                <a:effectLst/>
                <a:latin charset="0" panose="02020603050405020304" pitchFamily="18" typeface="Times New Roman"/>
                <a:cs charset="0" panose="02020603050405020304" pitchFamily="18" typeface="Times New Roman"/>
              </a:rPr>
              <a:t>   </a:t>
            </a:r>
          </a:p>
          <a:p>
            <a:pPr algn="just">
              <a:buNone/>
            </a:pPr>
            <a:r>
              <a:rPr b="0" dirty="0" i="0" lang="en-US" sz="1700">
                <a:solidFill>
                  <a:srgbClr val="333333"/>
                </a:solidFill>
                <a:effectLst/>
                <a:latin charset="0" panose="02020603050405020304" pitchFamily="18" typeface="Times New Roman"/>
                <a:cs charset="0" panose="02020603050405020304" pitchFamily="18" typeface="Times New Roman"/>
              </a:rPr>
              <a:t>If the first X at right-hand side is ε. Then S → YX  </a:t>
            </a:r>
          </a:p>
          <a:p>
            <a:pPr algn="just">
              <a:spcAft>
                <a:spcPts val="600"/>
              </a:spcAft>
            </a:pPr>
            <a:r>
              <a:rPr b="0" dirty="0" i="0" lang="en-US" sz="1700">
                <a:solidFill>
                  <a:srgbClr val="333333"/>
                </a:solidFill>
                <a:effectLst/>
                <a:latin charset="0" panose="02020603050405020304" pitchFamily="18" typeface="Times New Roman"/>
                <a:cs charset="0" panose="02020603050405020304" pitchFamily="18" typeface="Times New Roman"/>
              </a:rPr>
              <a:t>Similarly, if the last X in R.H.S. = ε. Then </a:t>
            </a:r>
            <a:r>
              <a:rPr altLang="en-IN" b="0" dirty="0" i="0" lang="en-IN" sz="1700">
                <a:solidFill>
                  <a:srgbClr val="333333"/>
                </a:solidFill>
                <a:effectLst/>
                <a:latin charset="0" panose="02020603050405020304" pitchFamily="18" typeface="Times New Roman"/>
                <a:cs charset="0" panose="02020603050405020304" pitchFamily="18" typeface="Times New Roman"/>
              </a:rPr>
              <a:t>S → XY  </a:t>
            </a:r>
          </a:p>
          <a:p>
            <a:pPr algn="just">
              <a:spcAft>
                <a:spcPts val="600"/>
              </a:spcAft>
            </a:pPr>
            <a:r>
              <a:rPr b="0" dirty="0" i="0" lang="en-US" sz="1700">
                <a:solidFill>
                  <a:srgbClr val="333333"/>
                </a:solidFill>
                <a:effectLst/>
                <a:latin charset="0" panose="02020603050405020304" pitchFamily="18" typeface="Times New Roman"/>
                <a:cs charset="0" panose="02020603050405020304" pitchFamily="18" typeface="Times New Roman"/>
              </a:rPr>
              <a:t>If both X are replaced by ε. </a:t>
            </a:r>
            <a:r>
              <a:rPr dirty="0" lang="en-US" sz="1700">
                <a:solidFill>
                  <a:srgbClr val="333333"/>
                </a:solidFill>
                <a:latin charset="0" panose="02020603050405020304" pitchFamily="18" typeface="Times New Roman"/>
                <a:cs charset="0" panose="02020603050405020304" pitchFamily="18" typeface="Times New Roman"/>
              </a:rPr>
              <a:t>Then</a:t>
            </a:r>
            <a:r>
              <a:rPr b="0" dirty="0" i="0" lang="en-US" sz="1700">
                <a:solidFill>
                  <a:srgbClr val="333333"/>
                </a:solidFill>
                <a:effectLst/>
                <a:latin charset="0" panose="02020603050405020304" pitchFamily="18" typeface="Times New Roman"/>
                <a:cs charset="0" panose="02020603050405020304" pitchFamily="18" typeface="Times New Roman"/>
              </a:rPr>
              <a:t> </a:t>
            </a:r>
            <a:r>
              <a:rPr altLang="en-IN" b="0" dirty="0" i="0" lang="en-IN" sz="1700">
                <a:solidFill>
                  <a:srgbClr val="333333"/>
                </a:solidFill>
                <a:effectLst/>
                <a:latin charset="0" panose="02020603050405020304" pitchFamily="18" typeface="Times New Roman"/>
                <a:cs charset="0" panose="02020603050405020304" pitchFamily="18" typeface="Times New Roman"/>
              </a:rPr>
              <a:t>S → Y    Therefore, S → XY | YX | Y</a:t>
            </a:r>
          </a:p>
          <a:p>
            <a:pPr algn="just">
              <a:spcAft>
                <a:spcPts val="600"/>
              </a:spcAft>
            </a:pPr>
            <a:r>
              <a:rPr b="0" dirty="0" i="0" lang="en-US" sz="1700">
                <a:solidFill>
                  <a:srgbClr val="333333"/>
                </a:solidFill>
                <a:effectLst/>
                <a:highlight>
                  <a:srgbClr val="FFFF00"/>
                </a:highlight>
                <a:latin charset="0" panose="02020603050405020304" pitchFamily="18" typeface="Times New Roman"/>
                <a:cs charset="0" panose="02020603050405020304" pitchFamily="18" typeface="Times New Roman"/>
              </a:rPr>
              <a:t>X → 0X </a:t>
            </a:r>
            <a:endParaRPr altLang="en-IN" b="0" dirty="0" i="0" lang="en-IN" sz="1700">
              <a:solidFill>
                <a:srgbClr val="333333"/>
              </a:solidFill>
              <a:effectLst/>
              <a:highlight>
                <a:srgbClr val="FFFF00"/>
              </a:highlight>
              <a:latin charset="0" panose="02020603050405020304" pitchFamily="18" typeface="Times New Roman"/>
              <a:cs charset="0" panose="02020603050405020304" pitchFamily="18" typeface="Times New Roman"/>
            </a:endParaRPr>
          </a:p>
          <a:p>
            <a:pPr algn="just">
              <a:spcAft>
                <a:spcPts val="600"/>
              </a:spcAft>
            </a:pPr>
            <a:r>
              <a:rPr b="0" dirty="0" i="0" lang="en-US" sz="1700">
                <a:solidFill>
                  <a:srgbClr val="333333"/>
                </a:solidFill>
                <a:effectLst/>
                <a:latin charset="0" panose="02020603050405020304" pitchFamily="18" typeface="Times New Roman"/>
                <a:cs charset="0" panose="02020603050405020304" pitchFamily="18" typeface="Times New Roman"/>
              </a:rPr>
              <a:t>If we place ε at right-hand side for X then, </a:t>
            </a:r>
            <a:r>
              <a:rPr altLang="en-IN" b="0" dirty="0" i="0" lang="en-IN" sz="1700">
                <a:solidFill>
                  <a:srgbClr val="333333"/>
                </a:solidFill>
                <a:effectLst/>
                <a:latin charset="0" panose="02020603050405020304" pitchFamily="18" typeface="Times New Roman"/>
                <a:cs charset="0" panose="02020603050405020304" pitchFamily="18" typeface="Times New Roman"/>
              </a:rPr>
              <a:t>X → 0X | </a:t>
            </a:r>
            <a:r>
              <a:rPr altLang="en-IN" dirty="0" i="0" lang="en-IN" sz="1700">
                <a:effectLst/>
                <a:latin charset="0" panose="02020603050405020304" pitchFamily="18" typeface="Times New Roman"/>
                <a:cs charset="0" panose="02020603050405020304" pitchFamily="18" typeface="Times New Roman"/>
              </a:rPr>
              <a:t>0</a:t>
            </a:r>
            <a:r>
              <a:rPr altLang="en-IN" b="0" dirty="0" i="0" lang="en-IN" sz="1700">
                <a:solidFill>
                  <a:srgbClr val="333333"/>
                </a:solidFill>
                <a:effectLst/>
                <a:latin charset="0" panose="02020603050405020304" pitchFamily="18" typeface="Times New Roman"/>
                <a:cs charset="0" panose="02020603050405020304" pitchFamily="18" typeface="Times New Roman"/>
              </a:rPr>
              <a:t> </a:t>
            </a:r>
          </a:p>
          <a:p>
            <a:pPr algn="just">
              <a:spcAft>
                <a:spcPts val="600"/>
              </a:spcAft>
            </a:pPr>
            <a:r>
              <a:rPr b="1" dirty="0" i="0" lang="en-US" sz="1700">
                <a:solidFill>
                  <a:srgbClr val="333333"/>
                </a:solidFill>
                <a:effectLst/>
                <a:latin charset="0" panose="02020603050405020304" pitchFamily="18" typeface="Times New Roman"/>
                <a:cs charset="0" panose="02020603050405020304" pitchFamily="18" typeface="Times New Roman"/>
              </a:rPr>
              <a:t>2. Remove Y → ε</a:t>
            </a:r>
          </a:p>
          <a:p>
            <a:pPr algn="just">
              <a:spcAft>
                <a:spcPts val="600"/>
              </a:spcAft>
            </a:pPr>
            <a:r>
              <a:rPr altLang="en-IN" b="0" dirty="0" i="0" lang="en-IN" sz="1700">
                <a:solidFill>
                  <a:srgbClr val="333333"/>
                </a:solidFill>
                <a:effectLst/>
                <a:highlight>
                  <a:srgbClr val="FFFF00"/>
                </a:highlight>
                <a:latin charset="0" panose="02020603050405020304" pitchFamily="18" typeface="Times New Roman"/>
                <a:cs charset="0" panose="02020603050405020304" pitchFamily="18" typeface="Times New Roman"/>
              </a:rPr>
              <a:t>S → XYX| XY | YX | Y </a:t>
            </a:r>
          </a:p>
          <a:p>
            <a:pPr algn="just">
              <a:spcAft>
                <a:spcPts val="600"/>
              </a:spcAft>
            </a:pPr>
            <a:r>
              <a:rPr altLang="en-IN" b="0" dirty="0" i="0" lang="en-IN" sz="1700">
                <a:solidFill>
                  <a:srgbClr val="333333"/>
                </a:solidFill>
                <a:effectLst/>
                <a:latin charset="0" panose="02020603050405020304" pitchFamily="18" typeface="Times New Roman"/>
                <a:cs charset="0" panose="02020603050405020304" pitchFamily="18" typeface="Times New Roman"/>
              </a:rPr>
              <a:t>If Y = </a:t>
            </a:r>
            <a:r>
              <a:rPr altLang="el-GR" b="0" dirty="0" i="0" lang="el-GR" sz="1700">
                <a:solidFill>
                  <a:srgbClr val="333333"/>
                </a:solidFill>
                <a:effectLst/>
                <a:latin charset="0" panose="02020603050405020304" pitchFamily="18" typeface="Times New Roman"/>
                <a:cs charset="0" panose="02020603050405020304" pitchFamily="18" typeface="Times New Roman"/>
              </a:rPr>
              <a:t>ε </a:t>
            </a:r>
            <a:r>
              <a:rPr altLang="en-IN" b="0" dirty="0" i="0" lang="en-IN" sz="1700">
                <a:solidFill>
                  <a:srgbClr val="333333"/>
                </a:solidFill>
                <a:effectLst/>
                <a:latin charset="0" panose="02020603050405020304" pitchFamily="18" typeface="Times New Roman"/>
                <a:cs charset="0" panose="02020603050405020304" pitchFamily="18" typeface="Times New Roman"/>
              </a:rPr>
              <a:t>then</a:t>
            </a:r>
            <a:r>
              <a:rPr altLang="en-IN" dirty="0" lang="en-IN" sz="1700">
                <a:solidFill>
                  <a:srgbClr val="333333"/>
                </a:solidFill>
                <a:latin charset="0" panose="02020603050405020304" pitchFamily="18" typeface="Times New Roman"/>
                <a:cs charset="0" panose="02020603050405020304" pitchFamily="18" typeface="Times New Roman"/>
              </a:rPr>
              <a:t> </a:t>
            </a:r>
            <a:r>
              <a:rPr altLang="en-IN" b="0" dirty="0" i="0" lang="en-IN" sz="1700">
                <a:solidFill>
                  <a:srgbClr val="333333"/>
                </a:solidFill>
                <a:effectLst/>
                <a:latin charset="0" panose="02020603050405020304" pitchFamily="18" typeface="Times New Roman"/>
                <a:cs charset="0" panose="02020603050405020304" pitchFamily="18" typeface="Times New Roman"/>
              </a:rPr>
              <a:t>S → XX | X|</a:t>
            </a:r>
            <a:r>
              <a:rPr b="0" dirty="0" i="0" lang="en-US" sz="1700">
                <a:solidFill>
                  <a:srgbClr val="333333"/>
                </a:solidFill>
                <a:effectLst/>
                <a:latin charset="0" panose="02020603050405020304" pitchFamily="18" typeface="Times New Roman"/>
                <a:cs charset="0" panose="02020603050405020304" pitchFamily="18" typeface="Times New Roman"/>
              </a:rPr>
              <a:t> ε</a:t>
            </a:r>
            <a:endParaRPr altLang="en-IN" b="0" dirty="0" i="0" lang="en-IN" sz="1700">
              <a:solidFill>
                <a:srgbClr val="333333"/>
              </a:solidFill>
              <a:effectLst/>
              <a:latin charset="0" panose="02020603050405020304" pitchFamily="18" typeface="Times New Roman"/>
              <a:cs charset="0" panose="02020603050405020304" pitchFamily="18" typeface="Times New Roman"/>
            </a:endParaRPr>
          </a:p>
          <a:p>
            <a:pPr algn="just">
              <a:spcAft>
                <a:spcPts val="600"/>
              </a:spcAft>
            </a:pPr>
            <a:r>
              <a:rPr b="0" dirty="0" i="0" lang="en-US" sz="1700">
                <a:solidFill>
                  <a:srgbClr val="333333"/>
                </a:solidFill>
                <a:effectLst/>
                <a:highlight>
                  <a:srgbClr val="FFFF00"/>
                </a:highlight>
                <a:latin charset="0" panose="02020603050405020304" pitchFamily="18" typeface="Times New Roman"/>
                <a:cs charset="0" panose="02020603050405020304" pitchFamily="18" typeface="Times New Roman"/>
              </a:rPr>
              <a:t>Y → 1Y </a:t>
            </a:r>
          </a:p>
          <a:p>
            <a:pPr algn="just">
              <a:spcAft>
                <a:spcPts val="600"/>
              </a:spcAft>
            </a:pPr>
            <a:r>
              <a:rPr b="0" dirty="0" i="0" lang="en-US" sz="1700">
                <a:solidFill>
                  <a:srgbClr val="333333"/>
                </a:solidFill>
                <a:effectLst/>
                <a:latin charset="0" panose="02020603050405020304" pitchFamily="18" typeface="Times New Roman"/>
                <a:cs charset="0" panose="02020603050405020304" pitchFamily="18" typeface="Times New Roman"/>
              </a:rPr>
              <a:t>If we place ε at right-hand side for Y then </a:t>
            </a:r>
            <a:r>
              <a:rPr altLang="en-IN" b="0" dirty="0" i="0" lang="en-IN" sz="1700">
                <a:solidFill>
                  <a:srgbClr val="333333"/>
                </a:solidFill>
                <a:effectLst/>
                <a:latin charset="0" panose="02020603050405020304" pitchFamily="18" typeface="Times New Roman"/>
                <a:cs charset="0" panose="02020603050405020304" pitchFamily="18" typeface="Times New Roman"/>
              </a:rPr>
              <a:t>Y → 1Y | 1</a:t>
            </a:r>
            <a:endParaRPr b="0" dirty="0" i="0" lang="en-US" sz="1700">
              <a:solidFill>
                <a:srgbClr val="333333"/>
              </a:solidFill>
              <a:effectLst/>
              <a:latin charset="0" panose="02020603050405020304" pitchFamily="18" typeface="Times New Roman"/>
              <a:cs charset="0" panose="02020603050405020304" pitchFamily="18" typeface="Times New Roman"/>
            </a:endParaRPr>
          </a:p>
        </p:txBody>
      </p:sp>
      <p:sp>
        <p:nvSpPr>
          <p:cNvPr id="4" name="Right Brace 3">
            <a:extLst>
              <a:ext uri="{FF2B5EF4-FFF2-40B4-BE49-F238E27FC236}">
                <a16:creationId xmlns:a16="http://schemas.microsoft.com/office/drawing/2014/main" id="{4190956A-B5CB-072B-4514-928F9F05EE8E}"/>
              </a:ext>
            </a:extLst>
          </p:cNvPr>
          <p:cNvSpPr/>
          <p:nvPr/>
        </p:nvSpPr>
        <p:spPr>
          <a:xfrm>
            <a:off x="6096000" y="2536031"/>
            <a:ext cx="847725" cy="1785938"/>
          </a:xfrm>
          <a:prstGeom prst="rightBrace">
            <a:avLst/>
          </a:prstGeom>
        </p:spPr>
        <p:style>
          <a:lnRef idx="1">
            <a:schemeClr val="accent1"/>
          </a:lnRef>
          <a:fillRef idx="0">
            <a:schemeClr val="accent1"/>
          </a:fillRef>
          <a:effectRef idx="0">
            <a:schemeClr val="accent1"/>
          </a:effectRef>
          <a:fontRef idx="minor">
            <a:schemeClr val="tx1"/>
          </a:fontRef>
        </p:style>
        <p:txBody>
          <a:bodyPr anchor="ctr" numCol="1" rtlCol="0"/>
          <a:lstStyle/>
          <a:p>
            <a:pPr algn="ctr"/>
            <a:endParaRPr altLang="en-IN" lang="en-IN"/>
          </a:p>
        </p:txBody>
      </p:sp>
      <p:sp>
        <p:nvSpPr>
          <p:cNvPr id="5" name="TextBox 4">
            <a:extLst>
              <a:ext uri="{FF2B5EF4-FFF2-40B4-BE49-F238E27FC236}">
                <a16:creationId xmlns:a16="http://schemas.microsoft.com/office/drawing/2014/main" id="{64252D0A-7365-3129-3016-35CEB98BDCEC}"/>
              </a:ext>
            </a:extLst>
          </p:cNvPr>
          <p:cNvSpPr txBox="1"/>
          <p:nvPr/>
        </p:nvSpPr>
        <p:spPr>
          <a:xfrm>
            <a:off x="7134226" y="2890391"/>
            <a:ext cx="3105150" cy="1077218"/>
          </a:xfrm>
          <a:prstGeom prst="rect">
            <a:avLst/>
          </a:prstGeom>
          <a:noFill/>
        </p:spPr>
        <p:txBody>
          <a:bodyPr numCol="1" rtlCol="0" wrap="square">
            <a:spAutoFit/>
          </a:bodyPr>
          <a:lstStyle/>
          <a:p>
            <a:r>
              <a:rPr altLang="en-IN" dirty="0" lang="en-IN" sz="1600">
                <a:latin charset="0" panose="02020603050405020304" pitchFamily="18" typeface="Times New Roman"/>
                <a:cs charset="0" panose="02020603050405020304" pitchFamily="18" typeface="Times New Roman"/>
              </a:rPr>
              <a:t>After removing </a:t>
            </a:r>
            <a:r>
              <a:rPr dirty="0" i="0" lang="en-US" sz="1600">
                <a:solidFill>
                  <a:srgbClr val="333333"/>
                </a:solidFill>
                <a:effectLst/>
                <a:latin charset="0" panose="02020603050405020304" pitchFamily="18" typeface="Times New Roman"/>
                <a:cs charset="0" panose="02020603050405020304" pitchFamily="18" typeface="Times New Roman"/>
              </a:rPr>
              <a:t>X → ε :</a:t>
            </a:r>
          </a:p>
          <a:p>
            <a:r>
              <a:rPr altLang="en-IN" dirty="0" i="0" lang="en-IN" sz="1600">
                <a:solidFill>
                  <a:srgbClr val="333333"/>
                </a:solidFill>
                <a:effectLst/>
                <a:latin charset="0" panose="02020603050405020304" pitchFamily="18" typeface="Times New Roman"/>
                <a:cs charset="0" panose="02020603050405020304" pitchFamily="18" typeface="Times New Roman"/>
              </a:rPr>
              <a:t>S → XYX| XY | YX | Y</a:t>
            </a:r>
          </a:p>
          <a:p>
            <a:r>
              <a:rPr altLang="en-IN" dirty="0" i="0" lang="en-IN" sz="1600">
                <a:solidFill>
                  <a:srgbClr val="333333"/>
                </a:solidFill>
                <a:effectLst/>
                <a:latin charset="0" panose="02020603050405020304" pitchFamily="18" typeface="Times New Roman"/>
                <a:cs charset="0" panose="02020603050405020304" pitchFamily="18" typeface="Times New Roman"/>
              </a:rPr>
              <a:t>X → 0X | </a:t>
            </a:r>
            <a:r>
              <a:rPr altLang="en-IN" dirty="0" i="0" lang="en-IN" sz="1600">
                <a:effectLst/>
                <a:latin charset="0" panose="02020603050405020304" pitchFamily="18" typeface="Times New Roman"/>
                <a:cs charset="0" panose="02020603050405020304" pitchFamily="18" typeface="Times New Roman"/>
              </a:rPr>
              <a:t>0</a:t>
            </a:r>
            <a:r>
              <a:rPr altLang="en-IN" dirty="0" i="0" lang="en-IN" sz="1600">
                <a:solidFill>
                  <a:srgbClr val="333333"/>
                </a:solidFill>
                <a:effectLst/>
                <a:latin charset="0" panose="02020603050405020304" pitchFamily="18" typeface="Times New Roman"/>
                <a:cs charset="0" panose="02020603050405020304" pitchFamily="18" typeface="Times New Roman"/>
              </a:rPr>
              <a:t> </a:t>
            </a:r>
          </a:p>
          <a:p>
            <a:r>
              <a:rPr dirty="0" i="0" lang="en-US" sz="1600">
                <a:solidFill>
                  <a:srgbClr val="333333"/>
                </a:solidFill>
                <a:effectLst/>
                <a:latin charset="0" panose="02020603050405020304" pitchFamily="18" typeface="Times New Roman"/>
                <a:cs charset="0" panose="02020603050405020304" pitchFamily="18" typeface="Times New Roman"/>
              </a:rPr>
              <a:t>Y → 1Y | ε  </a:t>
            </a:r>
            <a:endParaRPr dirty="0" lang="en-US" sz="1600">
              <a:solidFill>
                <a:srgbClr val="333333"/>
              </a:solidFill>
              <a:latin charset="0" panose="02020603050405020304" pitchFamily="18" typeface="Times New Roman"/>
              <a:cs charset="0" panose="02020603050405020304" pitchFamily="18" typeface="Times New Roman"/>
            </a:endParaRPr>
          </a:p>
        </p:txBody>
      </p:sp>
      <p:sp>
        <p:nvSpPr>
          <p:cNvPr id="7" name="TextBox 6">
            <a:extLst>
              <a:ext uri="{FF2B5EF4-FFF2-40B4-BE49-F238E27FC236}">
                <a16:creationId xmlns:a16="http://schemas.microsoft.com/office/drawing/2014/main" id="{21A98B00-2E30-6F36-E820-4CFEA02ACF98}"/>
              </a:ext>
            </a:extLst>
          </p:cNvPr>
          <p:cNvSpPr txBox="1"/>
          <p:nvPr/>
        </p:nvSpPr>
        <p:spPr>
          <a:xfrm>
            <a:off x="6200775" y="4947910"/>
            <a:ext cx="3105150" cy="1077218"/>
          </a:xfrm>
          <a:prstGeom prst="rect">
            <a:avLst/>
          </a:prstGeom>
          <a:noFill/>
        </p:spPr>
        <p:txBody>
          <a:bodyPr numCol="1" wrap="square">
            <a:spAutoFit/>
          </a:bodyPr>
          <a:lstStyle/>
          <a:p>
            <a:r>
              <a:rPr altLang="en-IN" dirty="0" lang="en-IN" sz="1600">
                <a:latin charset="0" panose="02020603050405020304" pitchFamily="18" typeface="Times New Roman"/>
                <a:cs charset="0" panose="02020603050405020304" pitchFamily="18" typeface="Times New Roman"/>
              </a:rPr>
              <a:t>After removing </a:t>
            </a:r>
            <a:r>
              <a:rPr dirty="0" lang="en-US" sz="1600">
                <a:solidFill>
                  <a:srgbClr val="333333"/>
                </a:solidFill>
                <a:latin charset="0" panose="02020603050405020304" pitchFamily="18" typeface="Times New Roman"/>
                <a:cs charset="0" panose="02020603050405020304" pitchFamily="18" typeface="Times New Roman"/>
              </a:rPr>
              <a:t>Y</a:t>
            </a:r>
            <a:r>
              <a:rPr dirty="0" i="0" lang="en-US" sz="1600">
                <a:solidFill>
                  <a:srgbClr val="333333"/>
                </a:solidFill>
                <a:effectLst/>
                <a:latin charset="0" panose="02020603050405020304" pitchFamily="18" typeface="Times New Roman"/>
                <a:cs charset="0" panose="02020603050405020304" pitchFamily="18" typeface="Times New Roman"/>
              </a:rPr>
              <a:t> → ε :</a:t>
            </a:r>
          </a:p>
          <a:p>
            <a:r>
              <a:rPr altLang="en-IN" dirty="0" i="0" lang="en-IN" sz="1600">
                <a:solidFill>
                  <a:srgbClr val="333333"/>
                </a:solidFill>
                <a:effectLst/>
                <a:latin charset="0" panose="02020603050405020304" pitchFamily="18" typeface="Times New Roman"/>
                <a:cs charset="0" panose="02020603050405020304" pitchFamily="18" typeface="Times New Roman"/>
              </a:rPr>
              <a:t>S → XYX|XY | YX |XX|X| Y|</a:t>
            </a:r>
            <a:r>
              <a:rPr b="0" dirty="0" i="0" lang="en-US" sz="1600">
                <a:solidFill>
                  <a:srgbClr val="333333"/>
                </a:solidFill>
                <a:effectLst/>
                <a:latin typeface="Inter-Regular"/>
              </a:rPr>
              <a:t> </a:t>
            </a:r>
            <a:r>
              <a:rPr b="0" dirty="0" i="0" lang="en-US" sz="1600">
                <a:solidFill>
                  <a:srgbClr val="333333"/>
                </a:solidFill>
                <a:effectLst/>
                <a:highlight>
                  <a:srgbClr val="FFFF00"/>
                </a:highlight>
                <a:latin typeface="Inter-Regular"/>
              </a:rPr>
              <a:t>ε</a:t>
            </a:r>
            <a:endParaRPr altLang="en-IN" dirty="0" i="0" lang="en-IN" sz="1600">
              <a:solidFill>
                <a:srgbClr val="333333"/>
              </a:solidFill>
              <a:effectLst/>
              <a:highlight>
                <a:srgbClr val="FFFF00"/>
              </a:highlight>
              <a:latin charset="0" panose="02020603050405020304" pitchFamily="18" typeface="Times New Roman"/>
              <a:cs charset="0" panose="02020603050405020304" pitchFamily="18" typeface="Times New Roman"/>
            </a:endParaRPr>
          </a:p>
          <a:p>
            <a:r>
              <a:rPr altLang="en-IN" dirty="0" i="0" lang="en-IN" sz="1600">
                <a:solidFill>
                  <a:srgbClr val="333333"/>
                </a:solidFill>
                <a:effectLst/>
                <a:latin charset="0" panose="02020603050405020304" pitchFamily="18" typeface="Times New Roman"/>
                <a:cs charset="0" panose="02020603050405020304" pitchFamily="18" typeface="Times New Roman"/>
              </a:rPr>
              <a:t>X → 0X | </a:t>
            </a:r>
            <a:r>
              <a:rPr altLang="en-IN" dirty="0" i="0" lang="en-IN" sz="1600">
                <a:effectLst/>
                <a:latin charset="0" panose="02020603050405020304" pitchFamily="18" typeface="Times New Roman"/>
                <a:cs charset="0" panose="02020603050405020304" pitchFamily="18" typeface="Times New Roman"/>
              </a:rPr>
              <a:t>0</a:t>
            </a:r>
            <a:r>
              <a:rPr altLang="en-IN" dirty="0" i="0" lang="en-IN" sz="1600">
                <a:solidFill>
                  <a:srgbClr val="333333"/>
                </a:solidFill>
                <a:effectLst/>
                <a:latin charset="0" panose="02020603050405020304" pitchFamily="18" typeface="Times New Roman"/>
                <a:cs charset="0" panose="02020603050405020304" pitchFamily="18" typeface="Times New Roman"/>
              </a:rPr>
              <a:t> </a:t>
            </a:r>
          </a:p>
          <a:p>
            <a:r>
              <a:rPr dirty="0" i="0" lang="en-US" sz="1600">
                <a:solidFill>
                  <a:srgbClr val="333333"/>
                </a:solidFill>
                <a:effectLst/>
                <a:latin charset="0" panose="02020603050405020304" pitchFamily="18" typeface="Times New Roman"/>
                <a:cs charset="0" panose="02020603050405020304" pitchFamily="18" typeface="Times New Roman"/>
              </a:rPr>
              <a:t>Y → 1Y | </a:t>
            </a:r>
            <a:r>
              <a:rPr dirty="0" lang="en-US" sz="1600">
                <a:solidFill>
                  <a:srgbClr val="333333"/>
                </a:solidFill>
                <a:latin charset="0" panose="02020603050405020304" pitchFamily="18" typeface="Times New Roman"/>
                <a:cs charset="0" panose="02020603050405020304" pitchFamily="18" typeface="Times New Roman"/>
              </a:rPr>
              <a:t>0</a:t>
            </a:r>
            <a:r>
              <a:rPr dirty="0" i="0" lang="en-US" sz="1600">
                <a:solidFill>
                  <a:srgbClr val="333333"/>
                </a:solidFill>
                <a:effectLst/>
                <a:latin charset="0" panose="02020603050405020304" pitchFamily="18" typeface="Times New Roman"/>
                <a:cs charset="0" panose="02020603050405020304" pitchFamily="18" typeface="Times New Roman"/>
              </a:rPr>
              <a:t> </a:t>
            </a:r>
            <a:endParaRPr dirty="0" lang="en-US" sz="1600">
              <a:solidFill>
                <a:srgbClr val="333333"/>
              </a:solidFill>
              <a:latin charset="0" panose="02020603050405020304" pitchFamily="18" typeface="Times New Roman"/>
              <a:cs charset="0" panose="02020603050405020304" pitchFamily="18" typeface="Times New Roman"/>
            </a:endParaRPr>
          </a:p>
        </p:txBody>
      </p:sp>
      <p:sp>
        <p:nvSpPr>
          <p:cNvPr id="8" name="Right Brace 7">
            <a:extLst>
              <a:ext uri="{FF2B5EF4-FFF2-40B4-BE49-F238E27FC236}">
                <a16:creationId xmlns:a16="http://schemas.microsoft.com/office/drawing/2014/main" id="{04CD24DC-15E0-720E-62D7-3FF4A3A09D91}"/>
              </a:ext>
            </a:extLst>
          </p:cNvPr>
          <p:cNvSpPr/>
          <p:nvPr/>
        </p:nvSpPr>
        <p:spPr>
          <a:xfrm>
            <a:off x="5048250" y="4751306"/>
            <a:ext cx="828676" cy="1405891"/>
          </a:xfrm>
          <a:prstGeom prst="rightBrace">
            <a:avLst/>
          </a:prstGeom>
        </p:spPr>
        <p:style>
          <a:lnRef idx="1">
            <a:schemeClr val="accent1"/>
          </a:lnRef>
          <a:fillRef idx="0">
            <a:schemeClr val="accent1"/>
          </a:fillRef>
          <a:effectRef idx="0">
            <a:schemeClr val="accent1"/>
          </a:effectRef>
          <a:fontRef idx="minor">
            <a:schemeClr val="tx1"/>
          </a:fontRef>
        </p:style>
        <p:txBody>
          <a:bodyPr anchor="ctr" numCol="1" rtlCol="0"/>
          <a:lstStyle/>
          <a:p>
            <a:pPr algn="ctr"/>
            <a:endParaRPr altLang="en-IN" lang="en-IN"/>
          </a:p>
        </p:txBody>
      </p:sp>
      <p:sp>
        <p:nvSpPr>
          <p:cNvPr id="2" name="TextBox 1">
            <a:extLst>
              <a:ext uri="{FF2B5EF4-FFF2-40B4-BE49-F238E27FC236}">
                <a16:creationId xmlns:a16="http://schemas.microsoft.com/office/drawing/2014/main" id="{DF9C6571-4B85-15C8-13E4-D418EAB25415}"/>
              </a:ext>
            </a:extLst>
          </p:cNvPr>
          <p:cNvSpPr txBox="1"/>
          <p:nvPr/>
        </p:nvSpPr>
        <p:spPr>
          <a:xfrm>
            <a:off x="10001250" y="3188970"/>
            <a:ext cx="1943100" cy="1477328"/>
          </a:xfrm>
          <a:prstGeom prst="rect">
            <a:avLst/>
          </a:prstGeom>
          <a:solidFill>
            <a:schemeClr val="bg2"/>
          </a:solidFill>
          <a:ln>
            <a:solidFill>
              <a:srgbClr val="00B0F0"/>
            </a:solidFill>
          </a:ln>
        </p:spPr>
        <p:style>
          <a:lnRef idx="2">
            <a:schemeClr val="dk1"/>
          </a:lnRef>
          <a:fillRef idx="1">
            <a:schemeClr val="lt1"/>
          </a:fillRef>
          <a:effectRef idx="0">
            <a:schemeClr val="dk1"/>
          </a:effectRef>
          <a:fontRef idx="minor">
            <a:schemeClr val="dk1"/>
          </a:fontRef>
        </p:style>
        <p:txBody>
          <a:bodyPr numCol="1" rtlCol="0" wrap="square">
            <a:spAutoFit/>
          </a:bodyPr>
          <a:lstStyle/>
          <a:p>
            <a:r>
              <a:rPr altLang="en-IN" dirty="0" lang="en-IN">
                <a:latin charset="0" panose="02020603050405020304" pitchFamily="18" typeface="Times New Roman"/>
                <a:cs charset="0" panose="02020603050405020304" pitchFamily="18" typeface="Times New Roman"/>
              </a:rPr>
              <a:t>If we do not </a:t>
            </a:r>
            <a:r>
              <a:rPr altLang="en-IN" dirty="0" lang="en-IN">
                <a:solidFill>
                  <a:schemeClr val="tx1"/>
                </a:solidFill>
                <a:latin charset="0" panose="02020603050405020304" pitchFamily="18" typeface="Times New Roman"/>
                <a:cs charset="0" panose="02020603050405020304" pitchFamily="18" typeface="Times New Roman"/>
              </a:rPr>
              <a:t>include S</a:t>
            </a:r>
            <a:r>
              <a:rPr altLang="en-IN" dirty="0" i="0" lang="en-IN" sz="1800">
                <a:solidFill>
                  <a:schemeClr val="tx1"/>
                </a:solidFill>
                <a:effectLst/>
                <a:latin charset="0" panose="02020603050405020304" pitchFamily="18" typeface="Times New Roman"/>
                <a:cs charset="0" panose="02020603050405020304" pitchFamily="18" typeface="Times New Roman"/>
              </a:rPr>
              <a:t> →</a:t>
            </a:r>
            <a:r>
              <a:rPr b="0" dirty="0" i="0" lang="en-US" sz="1800">
                <a:solidFill>
                  <a:schemeClr val="tx1"/>
                </a:solidFill>
                <a:effectLst/>
                <a:latin charset="0" panose="02020603050405020304" pitchFamily="18" typeface="Times New Roman"/>
                <a:cs charset="0" panose="02020603050405020304" pitchFamily="18" typeface="Times New Roman"/>
              </a:rPr>
              <a:t> ε, then obtained grammar will be L(G ) − {ε} </a:t>
            </a:r>
            <a:endParaRPr altLang="en-IN" dirty="0" lang="en-IN">
              <a:solidFill>
                <a:schemeClr val="tx1"/>
              </a:solidFill>
              <a:latin charset="0" panose="02020603050405020304" pitchFamily="18" typeface="Times New Roman"/>
              <a:cs charset="0" panose="02020603050405020304" pitchFamily="18" typeface="Times New Roman"/>
            </a:endParaRPr>
          </a:p>
        </p:txBody>
      </p:sp>
      <p:sp>
        <p:nvSpPr>
          <p:cNvPr id="6" name="Arrow: Bent 5">
            <a:extLst>
              <a:ext uri="{FF2B5EF4-FFF2-40B4-BE49-F238E27FC236}">
                <a16:creationId xmlns:a16="http://schemas.microsoft.com/office/drawing/2014/main" id="{ACFA15A2-6ABE-62B1-576E-2D10CB139DA4}"/>
              </a:ext>
            </a:extLst>
          </p:cNvPr>
          <p:cNvSpPr/>
          <p:nvPr/>
        </p:nvSpPr>
        <p:spPr>
          <a:xfrm>
            <a:off x="8787765" y="3728338"/>
            <a:ext cx="1152102" cy="1405891"/>
          </a:xfrm>
          <a:prstGeom prst="bentArrow">
            <a:avLst>
              <a:gd fmla="val 10294" name="adj1"/>
              <a:gd fmla="val 16013" name="adj2"/>
              <a:gd fmla="val 31536" name="adj3"/>
              <a:gd fmla="val 41707" name="adj4"/>
            </a:avLst>
          </a:prstGeom>
        </p:spPr>
        <p:style>
          <a:lnRef idx="2">
            <a:schemeClr val="accent1">
              <a:shade val="15000"/>
            </a:schemeClr>
          </a:lnRef>
          <a:fillRef idx="1">
            <a:schemeClr val="accent1"/>
          </a:fillRef>
          <a:effectRef idx="0">
            <a:schemeClr val="accent1"/>
          </a:effectRef>
          <a:fontRef idx="minor">
            <a:schemeClr val="lt1"/>
          </a:fontRef>
        </p:style>
        <p:txBody>
          <a:bodyPr anchor="ctr" numCol="1" rtlCol="0"/>
          <a:lstStyle/>
          <a:p>
            <a:pPr algn="ctr"/>
            <a:endParaRPr altLang="en-IN" lang="en-IN">
              <a:solidFill>
                <a:schemeClr val="tx1"/>
              </a:solidFill>
            </a:endParaRPr>
          </a:p>
        </p:txBody>
      </p:sp>
    </p:spTree>
    <p:extLst>
      <p:ext uri="{BB962C8B-B14F-4D97-AF65-F5344CB8AC3E}">
        <p14:creationId xmlns:p14="http://schemas.microsoft.com/office/powerpoint/2010/main" val="238189431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6" st="6"/>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3">
                                            <p:txEl>
                                              <p:pRg end="7" st="7"/>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
                                            <p:txEl>
                                              <p:pRg end="8" st="8"/>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3">
                                            <p:txEl>
                                              <p:pRg end="9" st="9"/>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3">
                                            <p:txEl>
                                              <p:pRg end="11" st="11"/>
                                            </p:txEl>
                                          </p:spTgt>
                                        </p:tgtEl>
                                        <p:attrNameLst>
                                          <p:attrName>style.visibility</p:attrName>
                                        </p:attrNameLst>
                                      </p:cBhvr>
                                      <p:to>
                                        <p:strVal val="visible"/>
                                      </p:to>
                                    </p:set>
                                  </p:childTnLst>
                                </p:cTn>
                              </p:par>
                              <p:par>
                                <p:cTn fill="hold" id="35" nodeType="withEffect" presetClass="entr" presetID="1" presetSubtype="0">
                                  <p:stCondLst>
                                    <p:cond delay="0"/>
                                  </p:stCondLst>
                                  <p:childTnLst>
                                    <p:set>
                                      <p:cBhvr>
                                        <p:cTn dur="1" fill="hold" id="36">
                                          <p:stCondLst>
                                            <p:cond delay="0"/>
                                          </p:stCondLst>
                                        </p:cTn>
                                        <p:tgtEl>
                                          <p:spTgt spid="3">
                                            <p:txEl>
                                              <p:pRg end="12" st="12"/>
                                            </p:txEl>
                                          </p:spTgt>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grpId="0" id="39" nodeType="clickEffect" presetClass="entr" presetID="1" presetSubtype="0">
                                  <p:stCondLst>
                                    <p:cond delay="0"/>
                                  </p:stCondLst>
                                  <p:childTnLst>
                                    <p:set>
                                      <p:cBhvr>
                                        <p:cTn dur="1" fill="hold" id="40">
                                          <p:stCondLst>
                                            <p:cond delay="0"/>
                                          </p:stCondLst>
                                        </p:cTn>
                                        <p:tgtEl>
                                          <p:spTgt spid="4"/>
                                        </p:tgtEl>
                                        <p:attrNameLst>
                                          <p:attrName>style.visibility</p:attrName>
                                        </p:attrNameLst>
                                      </p:cBhvr>
                                      <p:to>
                                        <p:strVal val="visible"/>
                                      </p:to>
                                    </p:set>
                                  </p:childTnLst>
                                </p:cTn>
                              </p:par>
                              <p:par>
                                <p:cTn fill="hold" grpId="0" id="41" nodeType="withEffect" presetClass="entr" presetID="1" presetSubtype="0">
                                  <p:stCondLst>
                                    <p:cond delay="0"/>
                                  </p:stCondLst>
                                  <p:childTnLst>
                                    <p:set>
                                      <p:cBhvr>
                                        <p:cTn dur="1" fill="hold" id="42">
                                          <p:stCondLst>
                                            <p:cond delay="0"/>
                                          </p:stCondLst>
                                        </p:cTn>
                                        <p:tgtEl>
                                          <p:spTgt spid="5"/>
                                        </p:tgtEl>
                                        <p:attrNameLst>
                                          <p:attrName>style.visibility</p:attrName>
                                        </p:attrNameLst>
                                      </p:cBhvr>
                                      <p:to>
                                        <p:strVal val="visible"/>
                                      </p:to>
                                    </p:set>
                                  </p:childTnLst>
                                </p:cTn>
                              </p:par>
                            </p:childTnLst>
                          </p:cTn>
                        </p:par>
                      </p:childTnLst>
                    </p:cTn>
                  </p:par>
                  <p:par>
                    <p:cTn fill="hold" id="43">
                      <p:stCondLst>
                        <p:cond delay="indefinite"/>
                      </p:stCondLst>
                      <p:childTnLst>
                        <p:par>
                          <p:cTn fill="hold" id="44">
                            <p:stCondLst>
                              <p:cond delay="0"/>
                            </p:stCondLst>
                            <p:childTnLst>
                              <p:par>
                                <p:cTn fill="hold" id="45" nodeType="clickEffect" presetClass="entr" presetID="1" presetSubtype="0">
                                  <p:stCondLst>
                                    <p:cond delay="0"/>
                                  </p:stCondLst>
                                  <p:childTnLst>
                                    <p:set>
                                      <p:cBhvr>
                                        <p:cTn dur="1" fill="hold" id="46">
                                          <p:stCondLst>
                                            <p:cond delay="0"/>
                                          </p:stCondLst>
                                        </p:cTn>
                                        <p:tgtEl>
                                          <p:spTgt spid="3">
                                            <p:txEl>
                                              <p:pRg end="13" st="13"/>
                                            </p:txEl>
                                          </p:spTgt>
                                        </p:tgtEl>
                                        <p:attrNameLst>
                                          <p:attrName>style.visibility</p:attrName>
                                        </p:attrNameLst>
                                      </p:cBhvr>
                                      <p:to>
                                        <p:strVal val="visible"/>
                                      </p:to>
                                    </p:set>
                                  </p:childTnLst>
                                </p:cTn>
                              </p:par>
                            </p:childTnLst>
                          </p:cTn>
                        </p:par>
                      </p:childTnLst>
                    </p:cTn>
                  </p:par>
                  <p:par>
                    <p:cTn fill="hold" id="47">
                      <p:stCondLst>
                        <p:cond delay="indefinite"/>
                      </p:stCondLst>
                      <p:childTnLst>
                        <p:par>
                          <p:cTn fill="hold" id="48">
                            <p:stCondLst>
                              <p:cond delay="0"/>
                            </p:stCondLst>
                            <p:childTnLst>
                              <p:par>
                                <p:cTn fill="hold" id="49" nodeType="clickEffect" presetClass="entr" presetID="1" presetSubtype="0">
                                  <p:stCondLst>
                                    <p:cond delay="0"/>
                                  </p:stCondLst>
                                  <p:childTnLst>
                                    <p:set>
                                      <p:cBhvr>
                                        <p:cTn dur="1" fill="hold" id="50">
                                          <p:stCondLst>
                                            <p:cond delay="0"/>
                                          </p:stCondLst>
                                        </p:cTn>
                                        <p:tgtEl>
                                          <p:spTgt spid="3">
                                            <p:txEl>
                                              <p:pRg end="14" st="14"/>
                                            </p:txEl>
                                          </p:spTgt>
                                        </p:tgtEl>
                                        <p:attrNameLst>
                                          <p:attrName>style.visibility</p:attrName>
                                        </p:attrNameLst>
                                      </p:cBhvr>
                                      <p:to>
                                        <p:strVal val="visible"/>
                                      </p:to>
                                    </p:set>
                                  </p:childTnLst>
                                </p:cTn>
                              </p:par>
                              <p:par>
                                <p:cTn fill="hold" id="51" nodeType="withEffect" presetClass="entr" presetID="1" presetSubtype="0">
                                  <p:stCondLst>
                                    <p:cond delay="0"/>
                                  </p:stCondLst>
                                  <p:childTnLst>
                                    <p:set>
                                      <p:cBhvr>
                                        <p:cTn dur="1" fill="hold" id="52">
                                          <p:stCondLst>
                                            <p:cond delay="0"/>
                                          </p:stCondLst>
                                        </p:cTn>
                                        <p:tgtEl>
                                          <p:spTgt spid="3">
                                            <p:txEl>
                                              <p:pRg end="15" st="15"/>
                                            </p:txEl>
                                          </p:spTgt>
                                        </p:tgtEl>
                                        <p:attrNameLst>
                                          <p:attrName>style.visibility</p:attrName>
                                        </p:attrNameLst>
                                      </p:cBhvr>
                                      <p:to>
                                        <p:strVal val="visible"/>
                                      </p:to>
                                    </p:set>
                                  </p:childTnLst>
                                </p:cTn>
                              </p:par>
                              <p:par>
                                <p:cTn fill="hold" id="53" nodeType="withEffect" presetClass="entr" presetID="1" presetSubtype="0">
                                  <p:stCondLst>
                                    <p:cond delay="0"/>
                                  </p:stCondLst>
                                  <p:childTnLst>
                                    <p:set>
                                      <p:cBhvr>
                                        <p:cTn dur="1" fill="hold" id="54">
                                          <p:stCondLst>
                                            <p:cond delay="0"/>
                                          </p:stCondLst>
                                        </p:cTn>
                                        <p:tgtEl>
                                          <p:spTgt spid="3">
                                            <p:txEl>
                                              <p:pRg end="16" st="16"/>
                                            </p:txEl>
                                          </p:spTgt>
                                        </p:tgtEl>
                                        <p:attrNameLst>
                                          <p:attrName>style.visibility</p:attrName>
                                        </p:attrNameLst>
                                      </p:cBhvr>
                                      <p:to>
                                        <p:strVal val="visible"/>
                                      </p:to>
                                    </p:set>
                                  </p:childTnLst>
                                </p:cTn>
                              </p:par>
                              <p:par>
                                <p:cTn fill="hold" id="55" nodeType="withEffect" presetClass="entr" presetID="1" presetSubtype="0">
                                  <p:stCondLst>
                                    <p:cond delay="0"/>
                                  </p:stCondLst>
                                  <p:childTnLst>
                                    <p:set>
                                      <p:cBhvr>
                                        <p:cTn dur="1" fill="hold" id="56">
                                          <p:stCondLst>
                                            <p:cond delay="0"/>
                                          </p:stCondLst>
                                        </p:cTn>
                                        <p:tgtEl>
                                          <p:spTgt spid="3">
                                            <p:txEl>
                                              <p:pRg end="17" st="17"/>
                                            </p:txEl>
                                          </p:spTgt>
                                        </p:tgtEl>
                                        <p:attrNameLst>
                                          <p:attrName>style.visibility</p:attrName>
                                        </p:attrNameLst>
                                      </p:cBhvr>
                                      <p:to>
                                        <p:strVal val="visible"/>
                                      </p:to>
                                    </p:set>
                                  </p:childTnLst>
                                </p:cTn>
                              </p:par>
                            </p:childTnLst>
                          </p:cTn>
                        </p:par>
                      </p:childTnLst>
                    </p:cTn>
                  </p:par>
                  <p:par>
                    <p:cTn fill="hold" id="57">
                      <p:stCondLst>
                        <p:cond delay="indefinite"/>
                      </p:stCondLst>
                      <p:childTnLst>
                        <p:par>
                          <p:cTn fill="hold" id="58">
                            <p:stCondLst>
                              <p:cond delay="0"/>
                            </p:stCondLst>
                            <p:childTnLst>
                              <p:par>
                                <p:cTn fill="hold" grpId="0" id="59" nodeType="clickEffect" presetClass="entr" presetID="1" presetSubtype="0">
                                  <p:stCondLst>
                                    <p:cond delay="0"/>
                                  </p:stCondLst>
                                  <p:childTnLst>
                                    <p:set>
                                      <p:cBhvr>
                                        <p:cTn dur="1" fill="hold" id="60">
                                          <p:stCondLst>
                                            <p:cond delay="0"/>
                                          </p:stCondLst>
                                        </p:cTn>
                                        <p:tgtEl>
                                          <p:spTgt spid="8"/>
                                        </p:tgtEl>
                                        <p:attrNameLst>
                                          <p:attrName>style.visibility</p:attrName>
                                        </p:attrNameLst>
                                      </p:cBhvr>
                                      <p:to>
                                        <p:strVal val="visible"/>
                                      </p:to>
                                    </p:set>
                                  </p:childTnLst>
                                </p:cTn>
                              </p:par>
                              <p:par>
                                <p:cTn fill="hold" grpId="0" id="61" nodeType="withEffect" presetClass="entr" presetID="1" presetSubtype="0">
                                  <p:stCondLst>
                                    <p:cond delay="0"/>
                                  </p:stCondLst>
                                  <p:childTnLst>
                                    <p:set>
                                      <p:cBhvr>
                                        <p:cTn dur="1" fill="hold" id="62">
                                          <p:stCondLst>
                                            <p:cond delay="0"/>
                                          </p:stCondLst>
                                        </p:cTn>
                                        <p:tgtEl>
                                          <p:spTgt spid="7"/>
                                        </p:tgtEl>
                                        <p:attrNameLst>
                                          <p:attrName>style.visibility</p:attrName>
                                        </p:attrNameLst>
                                      </p:cBhvr>
                                      <p:to>
                                        <p:strVal val="visible"/>
                                      </p:to>
                                    </p:set>
                                  </p:childTnLst>
                                </p:cTn>
                              </p:par>
                            </p:childTnLst>
                          </p:cTn>
                        </p:par>
                      </p:childTnLst>
                    </p:cTn>
                  </p:par>
                  <p:par>
                    <p:cTn fill="hold" id="63">
                      <p:stCondLst>
                        <p:cond delay="indefinite"/>
                      </p:stCondLst>
                      <p:childTnLst>
                        <p:par>
                          <p:cTn fill="hold" id="64">
                            <p:stCondLst>
                              <p:cond delay="0"/>
                            </p:stCondLst>
                            <p:childTnLst>
                              <p:par>
                                <p:cTn fill="hold" grpId="0" id="65" nodeType="clickEffect" presetClass="entr" presetID="1" presetSubtype="0">
                                  <p:stCondLst>
                                    <p:cond delay="0"/>
                                  </p:stCondLst>
                                  <p:childTnLst>
                                    <p:set>
                                      <p:cBhvr>
                                        <p:cTn dur="1" fill="hold" id="66">
                                          <p:stCondLst>
                                            <p:cond delay="0"/>
                                          </p:stCondLst>
                                        </p:cTn>
                                        <p:tgtEl>
                                          <p:spTgt spid="6"/>
                                        </p:tgtEl>
                                        <p:attrNameLst>
                                          <p:attrName>style.visibility</p:attrName>
                                        </p:attrNameLst>
                                      </p:cBhvr>
                                      <p:to>
                                        <p:strVal val="visible"/>
                                      </p:to>
                                    </p:set>
                                  </p:childTnLst>
                                </p:cTn>
                              </p:par>
                              <p:par>
                                <p:cTn fill="hold" grpId="0" id="67" nodeType="withEffect" presetClass="entr" presetID="1" presetSubtype="0">
                                  <p:stCondLst>
                                    <p:cond delay="0"/>
                                  </p:stCondLst>
                                  <p:childTnLst>
                                    <p:set>
                                      <p:cBhvr>
                                        <p:cTn dur="1" fill="hold" id="68">
                                          <p:stCondLst>
                                            <p:cond delay="0"/>
                                          </p:stCondLst>
                                        </p:cTn>
                                        <p:tgtEl>
                                          <p:spTgt spid="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4"/>
      <p:bldP grpId="0" spid="5"/>
      <p:bldP grpId="0" spid="7"/>
      <p:bldP animBg="1" grpId="0" spid="8"/>
      <p:bldP animBg="1" grpId="0" spid="2"/>
      <p:bldP animBg="1" grpId="0" spid="6"/>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924DE4-61C8-6B4D-30CA-8C82D1D05CE7}"/>
              </a:ext>
            </a:extLst>
          </p:cNvPr>
          <p:cNvSpPr txBox="1"/>
          <p:nvPr/>
        </p:nvSpPr>
        <p:spPr>
          <a:xfrm>
            <a:off x="225742" y="155555"/>
            <a:ext cx="9135427" cy="646331"/>
          </a:xfrm>
          <a:prstGeom prst="rect">
            <a:avLst/>
          </a:prstGeom>
          <a:noFill/>
        </p:spPr>
        <p:txBody>
          <a:bodyPr numCol="1" wrap="square">
            <a:spAutoFit/>
          </a:bodyPr>
          <a:lstStyle/>
          <a:p>
            <a:pPr algn="l">
              <a:buNone/>
            </a:pPr>
            <a:r>
              <a:rPr b="1" dirty="0" i="0" lang="en-US" sz="1800">
                <a:solidFill>
                  <a:srgbClr val="1C2833"/>
                </a:solidFill>
                <a:effectLst/>
                <a:latin charset="0" panose="02020603050405020304" pitchFamily="18" typeface="Times New Roman"/>
                <a:cs charset="0" panose="02020603050405020304" pitchFamily="18" typeface="Times New Roman"/>
              </a:rPr>
              <a:t>Example</a:t>
            </a:r>
            <a:r>
              <a:rPr b="0" dirty="0" i="0" lang="en-US" sz="1800">
                <a:solidFill>
                  <a:srgbClr val="1C2833"/>
                </a:solidFill>
                <a:effectLst/>
                <a:latin charset="0" panose="02020603050405020304" pitchFamily="18" typeface="Times New Roman"/>
                <a:cs charset="0" panose="02020603050405020304" pitchFamily="18" typeface="Times New Roman"/>
              </a:rPr>
              <a:t>: </a:t>
            </a:r>
          </a:p>
          <a:p>
            <a:pPr algn="just">
              <a:buNone/>
            </a:pPr>
            <a:r>
              <a:rPr b="0" dirty="0" i="0" lang="en-US" sz="1800">
                <a:solidFill>
                  <a:srgbClr val="333333"/>
                </a:solidFill>
                <a:effectLst/>
                <a:latin charset="0" panose="02020603050405020304" pitchFamily="18" typeface="Times New Roman"/>
                <a:cs charset="0" panose="02020603050405020304" pitchFamily="18" typeface="Times New Roman"/>
              </a:rPr>
              <a:t>Remove the null production from the following CFG by preserving the meaning of it.</a:t>
            </a:r>
          </a:p>
        </p:txBody>
      </p:sp>
      <p:sp>
        <p:nvSpPr>
          <p:cNvPr id="5" name="TextBox 4">
            <a:extLst>
              <a:ext uri="{FF2B5EF4-FFF2-40B4-BE49-F238E27FC236}">
                <a16:creationId xmlns:a16="http://schemas.microsoft.com/office/drawing/2014/main" id="{E7E278D9-AA47-5C5F-C2FA-CD273611AC79}"/>
              </a:ext>
            </a:extLst>
          </p:cNvPr>
          <p:cNvSpPr txBox="1"/>
          <p:nvPr/>
        </p:nvSpPr>
        <p:spPr>
          <a:xfrm>
            <a:off x="534353" y="801886"/>
            <a:ext cx="6097904" cy="1477328"/>
          </a:xfrm>
          <a:prstGeom prst="rect">
            <a:avLst/>
          </a:prstGeom>
          <a:noFill/>
        </p:spPr>
        <p:txBody>
          <a:bodyPr numCol="1" wrap="square">
            <a:spAutoFit/>
          </a:bodyPr>
          <a:lstStyle/>
          <a:p>
            <a:r>
              <a:rPr b="0" dirty="0" i="0" lang="en-US" sz="1800">
                <a:solidFill>
                  <a:srgbClr val="333333"/>
                </a:solidFill>
                <a:effectLst/>
                <a:latin charset="0" panose="02020603050405020304" pitchFamily="18" typeface="Times New Roman"/>
                <a:cs charset="0" panose="02020603050405020304" pitchFamily="18" typeface="Times New Roman"/>
              </a:rPr>
              <a:t>S → ABaC</a:t>
            </a:r>
          </a:p>
          <a:p>
            <a:r>
              <a:rPr dirty="0" lang="en-US">
                <a:solidFill>
                  <a:srgbClr val="333333"/>
                </a:solidFill>
                <a:latin charset="0" panose="02020603050405020304" pitchFamily="18" typeface="Times New Roman"/>
                <a:cs charset="0" panose="02020603050405020304" pitchFamily="18" typeface="Times New Roman"/>
              </a:rPr>
              <a:t>A → BC</a:t>
            </a:r>
          </a:p>
          <a:p>
            <a:r>
              <a:rPr dirty="0" lang="en-US">
                <a:solidFill>
                  <a:srgbClr val="333333"/>
                </a:solidFill>
                <a:latin charset="0" panose="02020603050405020304" pitchFamily="18" typeface="Times New Roman"/>
                <a:cs charset="0" panose="02020603050405020304" pitchFamily="18" typeface="Times New Roman"/>
              </a:rPr>
              <a:t>B → b | ε</a:t>
            </a:r>
          </a:p>
          <a:p>
            <a:r>
              <a:rPr dirty="0" lang="en-US">
                <a:solidFill>
                  <a:srgbClr val="333333"/>
                </a:solidFill>
                <a:latin charset="0" panose="02020603050405020304" pitchFamily="18" typeface="Times New Roman"/>
                <a:cs charset="0" panose="02020603050405020304" pitchFamily="18" typeface="Times New Roman"/>
              </a:rPr>
              <a:t>C → D | ε</a:t>
            </a:r>
          </a:p>
          <a:p>
            <a:r>
              <a:rPr altLang="en-IN" dirty="0" lang="en-IN"/>
              <a:t>D </a:t>
            </a:r>
            <a:r>
              <a:rPr dirty="0" lang="en-US">
                <a:solidFill>
                  <a:srgbClr val="333333"/>
                </a:solidFill>
                <a:latin charset="0" panose="02020603050405020304" pitchFamily="18" typeface="Times New Roman"/>
                <a:cs charset="0" panose="02020603050405020304" pitchFamily="18" typeface="Times New Roman"/>
              </a:rPr>
              <a:t>→ d</a:t>
            </a:r>
            <a:endParaRPr altLang="en-IN" dirty="0" lang="en-IN"/>
          </a:p>
        </p:txBody>
      </p:sp>
      <p:sp>
        <p:nvSpPr>
          <p:cNvPr id="7" name="TextBox 6">
            <a:extLst>
              <a:ext uri="{FF2B5EF4-FFF2-40B4-BE49-F238E27FC236}">
                <a16:creationId xmlns:a16="http://schemas.microsoft.com/office/drawing/2014/main" id="{9E765C35-CC3E-2E28-86A9-C5EE7D1FD65F}"/>
              </a:ext>
            </a:extLst>
          </p:cNvPr>
          <p:cNvSpPr txBox="1"/>
          <p:nvPr/>
        </p:nvSpPr>
        <p:spPr>
          <a:xfrm>
            <a:off x="328613" y="2279214"/>
            <a:ext cx="11329034" cy="646331"/>
          </a:xfrm>
          <a:prstGeom prst="rect">
            <a:avLst/>
          </a:prstGeom>
          <a:noFill/>
        </p:spPr>
        <p:txBody>
          <a:bodyPr numCol="1" wrap="square">
            <a:spAutoFit/>
          </a:bodyPr>
          <a:lstStyle/>
          <a:p>
            <a:pPr algn="just">
              <a:spcAft>
                <a:spcPts val="600"/>
              </a:spcAft>
            </a:pPr>
            <a:r>
              <a:rPr b="0" dirty="0" i="0" lang="en-US" sz="1800">
                <a:solidFill>
                  <a:srgbClr val="333333"/>
                </a:solidFill>
                <a:effectLst/>
                <a:latin charset="0" panose="02020603050405020304" pitchFamily="18" typeface="Times New Roman"/>
                <a:cs charset="0" panose="02020603050405020304" pitchFamily="18" typeface="Times New Roman"/>
              </a:rPr>
              <a:t>Solution: There are two null productions B → ε and C → ε. To preserve the meaning of CFG, placing ε at the right-hand side whenever </a:t>
            </a:r>
            <a:r>
              <a:rPr dirty="0" lang="en-US">
                <a:solidFill>
                  <a:srgbClr val="333333"/>
                </a:solidFill>
                <a:latin charset="0" panose="02020603050405020304" pitchFamily="18" typeface="Times New Roman"/>
                <a:cs charset="0" panose="02020603050405020304" pitchFamily="18" typeface="Times New Roman"/>
              </a:rPr>
              <a:t>B</a:t>
            </a:r>
            <a:r>
              <a:rPr b="0" dirty="0" i="0" lang="en-US" sz="1800">
                <a:solidFill>
                  <a:srgbClr val="333333"/>
                </a:solidFill>
                <a:effectLst/>
                <a:latin charset="0" panose="02020603050405020304" pitchFamily="18" typeface="Times New Roman"/>
                <a:cs charset="0" panose="02020603050405020304" pitchFamily="18" typeface="Times New Roman"/>
              </a:rPr>
              <a:t> and C have appeared.</a:t>
            </a:r>
          </a:p>
        </p:txBody>
      </p:sp>
      <p:sp>
        <p:nvSpPr>
          <p:cNvPr id="9" name="TextBox 8">
            <a:extLst>
              <a:ext uri="{FF2B5EF4-FFF2-40B4-BE49-F238E27FC236}">
                <a16:creationId xmlns:a16="http://schemas.microsoft.com/office/drawing/2014/main" id="{F00D5CAD-017B-C109-C305-4E739A78F5D3}"/>
              </a:ext>
            </a:extLst>
          </p:cNvPr>
          <p:cNvSpPr txBox="1"/>
          <p:nvPr/>
        </p:nvSpPr>
        <p:spPr>
          <a:xfrm>
            <a:off x="328613" y="2925545"/>
            <a:ext cx="2220277" cy="2139047"/>
          </a:xfrm>
          <a:prstGeom prst="rect">
            <a:avLst/>
          </a:prstGeom>
          <a:noFill/>
        </p:spPr>
        <p:txBody>
          <a:bodyPr numCol="1" wrap="square">
            <a:spAutoFit/>
          </a:bodyPr>
          <a:lstStyle/>
          <a:p>
            <a:pPr algn="just" indent="-342900" marL="342900">
              <a:spcAft>
                <a:spcPts val="600"/>
              </a:spcAft>
              <a:buAutoNum type="arabicPeriod"/>
            </a:pPr>
            <a:r>
              <a:rPr b="1" dirty="0" lang="en-US" sz="1800">
                <a:solidFill>
                  <a:srgbClr val="333333"/>
                </a:solidFill>
                <a:latin charset="0" panose="02020603050405020304" pitchFamily="18" typeface="Times New Roman"/>
                <a:cs charset="0" panose="02020603050405020304" pitchFamily="18" typeface="Times New Roman"/>
              </a:rPr>
              <a:t>Remove </a:t>
            </a:r>
            <a:r>
              <a:rPr b="1" dirty="0" lang="en-US">
                <a:solidFill>
                  <a:srgbClr val="333333"/>
                </a:solidFill>
                <a:latin charset="0" panose="02020603050405020304" pitchFamily="18" typeface="Times New Roman"/>
                <a:cs charset="0" panose="02020603050405020304" pitchFamily="18" typeface="Times New Roman"/>
              </a:rPr>
              <a:t>B</a:t>
            </a:r>
            <a:r>
              <a:rPr b="1" dirty="0" i="0" lang="en-US" sz="1800">
                <a:solidFill>
                  <a:srgbClr val="333333"/>
                </a:solidFill>
                <a:effectLst/>
                <a:latin charset="0" panose="02020603050405020304" pitchFamily="18" typeface="Times New Roman"/>
                <a:cs charset="0" panose="02020603050405020304" pitchFamily="18" typeface="Times New Roman"/>
              </a:rPr>
              <a:t> → ε </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S → ABaC | </a:t>
            </a:r>
            <a:r>
              <a:rPr dirty="0" err="1" lang="en-US">
                <a:solidFill>
                  <a:srgbClr val="333333"/>
                </a:solidFill>
                <a:latin charset="0" panose="02020603050405020304" pitchFamily="18" typeface="Times New Roman"/>
                <a:cs charset="0" panose="02020603050405020304" pitchFamily="18" typeface="Times New Roman"/>
              </a:rPr>
              <a:t>AaC</a:t>
            </a:r>
            <a:endParaRPr dirty="0" lang="en-US">
              <a:solidFill>
                <a:srgbClr val="333333"/>
              </a:solidFill>
              <a:latin charset="0" panose="02020603050405020304" pitchFamily="18" typeface="Times New Roman"/>
              <a:cs charset="0" panose="02020603050405020304" pitchFamily="18" typeface="Times New Roman"/>
            </a:endParaRPr>
          </a:p>
          <a:p>
            <a:pPr algn="just">
              <a:spcAft>
                <a:spcPts val="600"/>
              </a:spcAft>
            </a:pPr>
            <a:r>
              <a:rPr dirty="0" i="0" lang="en-US" sz="1800">
                <a:solidFill>
                  <a:srgbClr val="333333"/>
                </a:solidFill>
                <a:effectLst/>
                <a:latin charset="0" panose="02020603050405020304" pitchFamily="18" typeface="Times New Roman"/>
                <a:cs charset="0" panose="02020603050405020304" pitchFamily="18" typeface="Times New Roman"/>
              </a:rPr>
              <a:t>A </a:t>
            </a:r>
            <a:r>
              <a:rPr dirty="0" lang="en-US">
                <a:solidFill>
                  <a:srgbClr val="333333"/>
                </a:solidFill>
                <a:latin charset="0" panose="02020603050405020304" pitchFamily="18" typeface="Times New Roman"/>
                <a:cs charset="0" panose="02020603050405020304" pitchFamily="18" typeface="Times New Roman"/>
              </a:rPr>
              <a:t>→ BC | C</a:t>
            </a:r>
          </a:p>
          <a:p>
            <a:pPr algn="just">
              <a:spcAft>
                <a:spcPts val="600"/>
              </a:spcAft>
            </a:pPr>
            <a:r>
              <a:rPr dirty="0" i="0" lang="en-US" sz="1800">
                <a:solidFill>
                  <a:srgbClr val="333333"/>
                </a:solidFill>
                <a:effectLst/>
                <a:latin charset="0" panose="02020603050405020304" pitchFamily="18" typeface="Times New Roman"/>
                <a:cs charset="0" panose="02020603050405020304" pitchFamily="18" typeface="Times New Roman"/>
              </a:rPr>
              <a:t>B </a:t>
            </a:r>
            <a:r>
              <a:rPr b="1" dirty="0" lang="en-US">
                <a:solidFill>
                  <a:srgbClr val="333333"/>
                </a:solidFill>
                <a:latin charset="0" panose="02020603050405020304" pitchFamily="18" typeface="Times New Roman"/>
                <a:cs charset="0" panose="02020603050405020304" pitchFamily="18" typeface="Times New Roman"/>
              </a:rPr>
              <a:t>→ </a:t>
            </a:r>
            <a:r>
              <a:rPr dirty="0" lang="en-US">
                <a:solidFill>
                  <a:srgbClr val="333333"/>
                </a:solidFill>
                <a:latin charset="0" panose="02020603050405020304" pitchFamily="18" typeface="Times New Roman"/>
                <a:cs charset="0" panose="02020603050405020304" pitchFamily="18" typeface="Times New Roman"/>
              </a:rPr>
              <a:t>b</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C → D | ε</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D → d </a:t>
            </a:r>
          </a:p>
        </p:txBody>
      </p:sp>
      <p:cxnSp>
        <p:nvCxnSpPr>
          <p:cNvPr id="11" name="Straight Connector 10">
            <a:extLst>
              <a:ext uri="{FF2B5EF4-FFF2-40B4-BE49-F238E27FC236}">
                <a16:creationId xmlns:a16="http://schemas.microsoft.com/office/drawing/2014/main" id="{439104C0-FD10-FDCE-D4B9-D31C9852E53F}"/>
              </a:ext>
            </a:extLst>
          </p:cNvPr>
          <p:cNvCxnSpPr>
            <a:cxnSpLocks/>
          </p:cNvCxnSpPr>
          <p:nvPr/>
        </p:nvCxnSpPr>
        <p:spPr>
          <a:xfrm>
            <a:off x="2880360" y="2936975"/>
            <a:ext cx="0" cy="33266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4740F23-ED42-6DC9-FB5C-5A535B4A8658}"/>
              </a:ext>
            </a:extLst>
          </p:cNvPr>
          <p:cNvSpPr txBox="1"/>
          <p:nvPr/>
        </p:nvSpPr>
        <p:spPr>
          <a:xfrm>
            <a:off x="3315653" y="2936975"/>
            <a:ext cx="3416616" cy="2139047"/>
          </a:xfrm>
          <a:prstGeom prst="rect">
            <a:avLst/>
          </a:prstGeom>
          <a:noFill/>
        </p:spPr>
        <p:txBody>
          <a:bodyPr numCol="1" wrap="square">
            <a:spAutoFit/>
          </a:bodyPr>
          <a:lstStyle/>
          <a:p>
            <a:pPr algn="just">
              <a:spcAft>
                <a:spcPts val="600"/>
              </a:spcAft>
            </a:pPr>
            <a:r>
              <a:rPr b="1" dirty="0" lang="en-US" sz="1800">
                <a:solidFill>
                  <a:srgbClr val="333333"/>
                </a:solidFill>
                <a:latin charset="0" panose="02020603050405020304" pitchFamily="18" typeface="Times New Roman"/>
                <a:cs charset="0" panose="02020603050405020304" pitchFamily="18" typeface="Times New Roman"/>
              </a:rPr>
              <a:t>2.  Remove C</a:t>
            </a:r>
            <a:r>
              <a:rPr b="1" dirty="0" i="0" lang="en-US" sz="1800">
                <a:solidFill>
                  <a:srgbClr val="333333"/>
                </a:solidFill>
                <a:effectLst/>
                <a:latin charset="0" panose="02020603050405020304" pitchFamily="18" typeface="Times New Roman"/>
                <a:cs charset="0" panose="02020603050405020304" pitchFamily="18" typeface="Times New Roman"/>
              </a:rPr>
              <a:t> → ε </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S → ABaC | </a:t>
            </a:r>
            <a:r>
              <a:rPr dirty="0" err="1" lang="en-US">
                <a:solidFill>
                  <a:srgbClr val="333333"/>
                </a:solidFill>
                <a:latin charset="0" panose="02020603050405020304" pitchFamily="18" typeface="Times New Roman"/>
                <a:cs charset="0" panose="02020603050405020304" pitchFamily="18" typeface="Times New Roman"/>
              </a:rPr>
              <a:t>AaC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ABa</a:t>
            </a:r>
            <a:r>
              <a:rPr dirty="0" lang="en-US">
                <a:solidFill>
                  <a:srgbClr val="333333"/>
                </a:solidFill>
                <a:latin charset="0" panose="02020603050405020304" pitchFamily="18" typeface="Times New Roman"/>
                <a:cs charset="0" panose="02020603050405020304" pitchFamily="18" typeface="Times New Roman"/>
              </a:rPr>
              <a:t> | Aa</a:t>
            </a:r>
          </a:p>
          <a:p>
            <a:pPr algn="just">
              <a:spcAft>
                <a:spcPts val="600"/>
              </a:spcAft>
            </a:pPr>
            <a:r>
              <a:rPr dirty="0" i="0" lang="en-US" sz="1800">
                <a:solidFill>
                  <a:srgbClr val="333333"/>
                </a:solidFill>
                <a:effectLst/>
                <a:latin charset="0" panose="02020603050405020304" pitchFamily="18" typeface="Times New Roman"/>
                <a:cs charset="0" panose="02020603050405020304" pitchFamily="18" typeface="Times New Roman"/>
              </a:rPr>
              <a:t>A </a:t>
            </a:r>
            <a:r>
              <a:rPr dirty="0" lang="en-US">
                <a:solidFill>
                  <a:srgbClr val="333333"/>
                </a:solidFill>
                <a:latin charset="0" panose="02020603050405020304" pitchFamily="18" typeface="Times New Roman"/>
                <a:cs charset="0" panose="02020603050405020304" pitchFamily="18" typeface="Times New Roman"/>
              </a:rPr>
              <a:t>→ BC | C | B | ε</a:t>
            </a:r>
          </a:p>
          <a:p>
            <a:pPr algn="just">
              <a:spcAft>
                <a:spcPts val="600"/>
              </a:spcAft>
            </a:pPr>
            <a:r>
              <a:rPr dirty="0" i="0" lang="en-US" sz="1800">
                <a:solidFill>
                  <a:srgbClr val="333333"/>
                </a:solidFill>
                <a:effectLst/>
                <a:latin charset="0" panose="02020603050405020304" pitchFamily="18" typeface="Times New Roman"/>
                <a:cs charset="0" panose="02020603050405020304" pitchFamily="18" typeface="Times New Roman"/>
              </a:rPr>
              <a:t>B </a:t>
            </a:r>
            <a:r>
              <a:rPr b="1" dirty="0" lang="en-US">
                <a:solidFill>
                  <a:srgbClr val="333333"/>
                </a:solidFill>
                <a:latin charset="0" panose="02020603050405020304" pitchFamily="18" typeface="Times New Roman"/>
                <a:cs charset="0" panose="02020603050405020304" pitchFamily="18" typeface="Times New Roman"/>
              </a:rPr>
              <a:t>→ </a:t>
            </a:r>
            <a:r>
              <a:rPr dirty="0" lang="en-US">
                <a:solidFill>
                  <a:srgbClr val="333333"/>
                </a:solidFill>
                <a:latin charset="0" panose="02020603050405020304" pitchFamily="18" typeface="Times New Roman"/>
                <a:cs charset="0" panose="02020603050405020304" pitchFamily="18" typeface="Times New Roman"/>
              </a:rPr>
              <a:t>b</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C → D </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D → d </a:t>
            </a:r>
          </a:p>
        </p:txBody>
      </p:sp>
      <p:cxnSp>
        <p:nvCxnSpPr>
          <p:cNvPr id="16" name="Straight Connector 15">
            <a:extLst>
              <a:ext uri="{FF2B5EF4-FFF2-40B4-BE49-F238E27FC236}">
                <a16:creationId xmlns:a16="http://schemas.microsoft.com/office/drawing/2014/main" id="{9BDF9F75-2E9A-7F28-4F59-E148361795E7}"/>
              </a:ext>
            </a:extLst>
          </p:cNvPr>
          <p:cNvCxnSpPr>
            <a:cxnSpLocks/>
          </p:cNvCxnSpPr>
          <p:nvPr/>
        </p:nvCxnSpPr>
        <p:spPr>
          <a:xfrm>
            <a:off x="6473190" y="2936975"/>
            <a:ext cx="0" cy="332666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FF67F79-1CA9-7DD6-5D95-A511B5773C06}"/>
              </a:ext>
            </a:extLst>
          </p:cNvPr>
          <p:cNvSpPr txBox="1"/>
          <p:nvPr/>
        </p:nvSpPr>
        <p:spPr>
          <a:xfrm>
            <a:off x="6698457" y="2862932"/>
            <a:ext cx="4788691" cy="2769989"/>
          </a:xfrm>
          <a:prstGeom prst="rect">
            <a:avLst/>
          </a:prstGeom>
          <a:noFill/>
        </p:spPr>
        <p:txBody>
          <a:bodyPr numCol="1" wrap="square">
            <a:spAutoFit/>
          </a:bodyPr>
          <a:lstStyle/>
          <a:p>
            <a:pPr algn="just">
              <a:spcAft>
                <a:spcPts val="600"/>
              </a:spcAft>
            </a:pPr>
            <a:r>
              <a:rPr b="1" dirty="0" lang="en-US" sz="1800">
                <a:solidFill>
                  <a:srgbClr val="333333"/>
                </a:solidFill>
                <a:latin charset="0" panose="02020603050405020304" pitchFamily="18" typeface="Times New Roman"/>
                <a:cs charset="0" panose="02020603050405020304" pitchFamily="18" typeface="Times New Roman"/>
              </a:rPr>
              <a:t>As the last step generate one new null production A </a:t>
            </a:r>
            <a:r>
              <a:rPr b="1" dirty="0" lang="en-US">
                <a:solidFill>
                  <a:srgbClr val="333333"/>
                </a:solidFill>
                <a:latin charset="0" panose="02020603050405020304" pitchFamily="18" typeface="Times New Roman"/>
                <a:cs charset="0" panose="02020603050405020304" pitchFamily="18" typeface="Times New Roman"/>
              </a:rPr>
              <a:t>→ ε</a:t>
            </a:r>
            <a:endParaRPr b="1" dirty="0" lang="en-US" sz="1800">
              <a:solidFill>
                <a:srgbClr val="333333"/>
              </a:solidFill>
              <a:latin charset="0" panose="02020603050405020304" pitchFamily="18" typeface="Times New Roman"/>
              <a:cs charset="0" panose="02020603050405020304" pitchFamily="18" typeface="Times New Roman"/>
            </a:endParaRPr>
          </a:p>
          <a:p>
            <a:pPr algn="just">
              <a:spcAft>
                <a:spcPts val="600"/>
              </a:spcAft>
            </a:pPr>
            <a:r>
              <a:rPr b="1" dirty="0" lang="en-US" sz="1800">
                <a:solidFill>
                  <a:srgbClr val="333333"/>
                </a:solidFill>
                <a:latin charset="0" panose="02020603050405020304" pitchFamily="18" typeface="Times New Roman"/>
                <a:cs charset="0" panose="02020603050405020304" pitchFamily="18" typeface="Times New Roman"/>
              </a:rPr>
              <a:t>3.  Remove A</a:t>
            </a:r>
            <a:r>
              <a:rPr b="1" dirty="0" i="0" lang="en-US" sz="1800">
                <a:solidFill>
                  <a:srgbClr val="333333"/>
                </a:solidFill>
                <a:effectLst/>
                <a:latin charset="0" panose="02020603050405020304" pitchFamily="18" typeface="Times New Roman"/>
                <a:cs charset="0" panose="02020603050405020304" pitchFamily="18" typeface="Times New Roman"/>
              </a:rPr>
              <a:t> → ε </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S → ABaC | </a:t>
            </a:r>
            <a:r>
              <a:rPr dirty="0" err="1" lang="en-US">
                <a:solidFill>
                  <a:srgbClr val="333333"/>
                </a:solidFill>
                <a:latin charset="0" panose="02020603050405020304" pitchFamily="18" typeface="Times New Roman"/>
                <a:cs charset="0" panose="02020603050405020304" pitchFamily="18" typeface="Times New Roman"/>
              </a:rPr>
              <a:t>AaC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ABa</a:t>
            </a:r>
            <a:r>
              <a:rPr dirty="0" lang="en-US">
                <a:solidFill>
                  <a:srgbClr val="333333"/>
                </a:solidFill>
                <a:latin charset="0" panose="02020603050405020304" pitchFamily="18" typeface="Times New Roman"/>
                <a:cs charset="0" panose="02020603050405020304" pitchFamily="18" typeface="Times New Roman"/>
              </a:rPr>
              <a:t> | Aa | </a:t>
            </a:r>
            <a:r>
              <a:rPr dirty="0" err="1" lang="en-US">
                <a:solidFill>
                  <a:srgbClr val="333333"/>
                </a:solidFill>
                <a:latin charset="0" panose="02020603050405020304" pitchFamily="18" typeface="Times New Roman"/>
                <a:cs charset="0" panose="02020603050405020304" pitchFamily="18" typeface="Times New Roman"/>
              </a:rPr>
              <a:t>BaC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aC</a:t>
            </a:r>
            <a:r>
              <a:rPr dirty="0" lang="en-US">
                <a:solidFill>
                  <a:srgbClr val="333333"/>
                </a:solidFill>
                <a:latin charset="0" panose="02020603050405020304" pitchFamily="18" typeface="Times New Roman"/>
                <a:cs charset="0" panose="02020603050405020304" pitchFamily="18" typeface="Times New Roman"/>
              </a:rPr>
              <a:t> | Ba | a</a:t>
            </a:r>
          </a:p>
          <a:p>
            <a:pPr algn="just">
              <a:spcAft>
                <a:spcPts val="600"/>
              </a:spcAft>
            </a:pPr>
            <a:r>
              <a:rPr dirty="0" i="0" lang="en-US" sz="1800">
                <a:solidFill>
                  <a:srgbClr val="333333"/>
                </a:solidFill>
                <a:effectLst/>
                <a:latin charset="0" panose="02020603050405020304" pitchFamily="18" typeface="Times New Roman"/>
                <a:cs charset="0" panose="02020603050405020304" pitchFamily="18" typeface="Times New Roman"/>
              </a:rPr>
              <a:t>A </a:t>
            </a:r>
            <a:r>
              <a:rPr dirty="0" lang="en-US">
                <a:solidFill>
                  <a:srgbClr val="333333"/>
                </a:solidFill>
                <a:latin charset="0" panose="02020603050405020304" pitchFamily="18" typeface="Times New Roman"/>
                <a:cs charset="0" panose="02020603050405020304" pitchFamily="18" typeface="Times New Roman"/>
              </a:rPr>
              <a:t>→ BC | C | B </a:t>
            </a:r>
          </a:p>
          <a:p>
            <a:pPr algn="just">
              <a:spcAft>
                <a:spcPts val="600"/>
              </a:spcAft>
            </a:pPr>
            <a:r>
              <a:rPr dirty="0" i="0" lang="en-US" sz="1800">
                <a:solidFill>
                  <a:srgbClr val="333333"/>
                </a:solidFill>
                <a:effectLst/>
                <a:latin charset="0" panose="02020603050405020304" pitchFamily="18" typeface="Times New Roman"/>
                <a:cs charset="0" panose="02020603050405020304" pitchFamily="18" typeface="Times New Roman"/>
              </a:rPr>
              <a:t>B </a:t>
            </a:r>
            <a:r>
              <a:rPr b="1" dirty="0" lang="en-US">
                <a:solidFill>
                  <a:srgbClr val="333333"/>
                </a:solidFill>
                <a:latin charset="0" panose="02020603050405020304" pitchFamily="18" typeface="Times New Roman"/>
                <a:cs charset="0" panose="02020603050405020304" pitchFamily="18" typeface="Times New Roman"/>
              </a:rPr>
              <a:t>→ </a:t>
            </a:r>
            <a:r>
              <a:rPr dirty="0" lang="en-US">
                <a:solidFill>
                  <a:srgbClr val="333333"/>
                </a:solidFill>
                <a:latin charset="0" panose="02020603050405020304" pitchFamily="18" typeface="Times New Roman"/>
                <a:cs charset="0" panose="02020603050405020304" pitchFamily="18" typeface="Times New Roman"/>
              </a:rPr>
              <a:t>b</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C → D </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D → d </a:t>
            </a:r>
          </a:p>
        </p:txBody>
      </p:sp>
    </p:spTree>
    <p:extLst>
      <p:ext uri="{BB962C8B-B14F-4D97-AF65-F5344CB8AC3E}">
        <p14:creationId xmlns:p14="http://schemas.microsoft.com/office/powerpoint/2010/main" val="258766905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7"/>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9"/>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11"/>
                                        </p:tgtEl>
                                        <p:attrNameLst>
                                          <p:attrName>style.visibility</p:attrName>
                                        </p:attrNameLst>
                                      </p:cBhvr>
                                      <p:to>
                                        <p:strVal val="visible"/>
                                      </p:to>
                                    </p:set>
                                  </p:childTnLst>
                                </p:cTn>
                              </p:par>
                              <p:par>
                                <p:cTn fill="hold" grpId="0" id="15" nodeType="withEffect" presetClass="entr" presetID="1" presetSubtype="0">
                                  <p:stCondLst>
                                    <p:cond delay="0"/>
                                  </p:stCondLst>
                                  <p:childTnLst>
                                    <p:set>
                                      <p:cBhvr>
                                        <p:cTn dur="1" fill="hold" id="16">
                                          <p:stCondLst>
                                            <p:cond delay="0"/>
                                          </p:stCondLst>
                                        </p:cTn>
                                        <p:tgtEl>
                                          <p:spTgt spid="15"/>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16"/>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1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7"/>
      <p:bldP grpId="0" spid="9"/>
      <p:bldP grpId="0" spid="15"/>
      <p:bldP grpId="0" spid="17"/>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63062-B02F-4ED4-4836-DB0E89AE7284}"/>
              </a:ext>
            </a:extLst>
          </p:cNvPr>
          <p:cNvSpPr>
            <a:spLocks noGrp="1"/>
          </p:cNvSpPr>
          <p:nvPr>
            <p:ph type="title"/>
          </p:nvPr>
        </p:nvSpPr>
        <p:spPr/>
        <p:txBody>
          <a:bodyPr numCol="1"/>
          <a:lstStyle/>
          <a:p>
            <a:r>
              <a:rPr altLang="en-IN" dirty="0" lang="en-IN"/>
              <a:t>Removing Unit Productions</a:t>
            </a:r>
          </a:p>
        </p:txBody>
      </p:sp>
      <p:sp>
        <p:nvSpPr>
          <p:cNvPr id="3" name="Content Placeholder 2">
            <a:extLst>
              <a:ext uri="{FF2B5EF4-FFF2-40B4-BE49-F238E27FC236}">
                <a16:creationId xmlns:a16="http://schemas.microsoft.com/office/drawing/2014/main" id="{C7083DF6-1966-162B-8FFC-AF71AF75CA9A}"/>
              </a:ext>
            </a:extLst>
          </p:cNvPr>
          <p:cNvSpPr>
            <a:spLocks noGrp="1"/>
          </p:cNvSpPr>
          <p:nvPr>
            <p:ph idx="1"/>
          </p:nvPr>
        </p:nvSpPr>
        <p:spPr/>
        <p:txBody>
          <a:bodyPr numCol="1"/>
          <a:lstStyle/>
          <a:p>
            <a:pPr algn="just">
              <a:buFont charset="0" panose="020B0604020202020204" pitchFamily="34" typeface="Arial"/>
              <a:buChar char="•"/>
            </a:pPr>
            <a:r>
              <a:rPr dirty="0" lang="en-US"/>
              <a:t>Any production of the form A </a:t>
            </a:r>
            <a:r>
              <a:rPr b="0" dirty="0" i="0" lang="en-US" sz="2000">
                <a:solidFill>
                  <a:srgbClr val="333333"/>
                </a:solidFill>
                <a:effectLst/>
                <a:latin charset="0" panose="02020603050405020304" pitchFamily="18" typeface="Times New Roman"/>
                <a:cs charset="0" panose="02020603050405020304" pitchFamily="18" typeface="Times New Roman"/>
              </a:rPr>
              <a:t>→</a:t>
            </a:r>
            <a:r>
              <a:rPr dirty="0" lang="en-US"/>
              <a:t> B is called a unit production where A,B </a:t>
            </a:r>
            <a:r>
              <a:rPr altLang="en-IN" b="0" dirty="0" i="0" lang="en-IN">
                <a:solidFill>
                  <a:srgbClr val="1F1F1F"/>
                </a:solidFill>
                <a:effectLst/>
                <a:latin typeface="Google Sans"/>
              </a:rPr>
              <a:t>∈ </a:t>
            </a:r>
            <a:r>
              <a:rPr dirty="0" lang="en-US"/>
              <a:t>Non-terminal.</a:t>
            </a:r>
          </a:p>
          <a:p>
            <a:pPr algn="just">
              <a:buFont charset="0" panose="020B0604020202020204" pitchFamily="34" typeface="Arial"/>
              <a:buChar char="•"/>
            </a:pPr>
            <a:r>
              <a:rPr dirty="0" lang="en-US"/>
              <a:t>A unit production maybe defined as a production which contains single non-terminals on both sides.</a:t>
            </a:r>
          </a:p>
          <a:p>
            <a:pPr algn="just">
              <a:buFont charset="0" panose="020B0604020202020204" pitchFamily="34" typeface="Arial"/>
              <a:buChar char="•"/>
            </a:pPr>
            <a:r>
              <a:rPr dirty="0" lang="en-US"/>
              <a:t>Unit productions can be removed without affecting the language generation power of the grammar.</a:t>
            </a:r>
          </a:p>
          <a:p>
            <a:pPr algn="just"/>
            <a:r>
              <a:rPr b="1" dirty="0" lang="en-US"/>
              <a:t>Procedure to remove unit productions:</a:t>
            </a:r>
          </a:p>
          <a:p>
            <a:pPr algn="just" indent="-342900" lvl="1" marL="544068">
              <a:buAutoNum type="arabicPeriod"/>
            </a:pPr>
            <a:r>
              <a:rPr dirty="0" lang="en-US"/>
              <a:t>To remove A </a:t>
            </a:r>
            <a:r>
              <a:rPr b="0" dirty="0" i="0" lang="en-US">
                <a:solidFill>
                  <a:srgbClr val="333333"/>
                </a:solidFill>
                <a:effectLst/>
                <a:latin charset="0" panose="02020603050405020304" pitchFamily="18" typeface="Times New Roman"/>
                <a:cs charset="0" panose="02020603050405020304" pitchFamily="18" typeface="Times New Roman"/>
              </a:rPr>
              <a:t>→</a:t>
            </a:r>
            <a:r>
              <a:rPr dirty="0" lang="en-US"/>
              <a:t> B , add production A </a:t>
            </a:r>
            <a:r>
              <a:rPr b="0" dirty="0" i="0" lang="en-US">
                <a:solidFill>
                  <a:srgbClr val="333333"/>
                </a:solidFill>
                <a:effectLst/>
                <a:latin charset="0" panose="02020603050405020304" pitchFamily="18" typeface="Times New Roman"/>
                <a:cs charset="0" panose="02020603050405020304" pitchFamily="18" typeface="Times New Roman"/>
              </a:rPr>
              <a:t>→</a:t>
            </a:r>
            <a:r>
              <a:rPr dirty="0" lang="en-US"/>
              <a:t> x to the grammar rule whenever B </a:t>
            </a:r>
            <a:r>
              <a:rPr b="0" dirty="0" i="0" lang="en-US">
                <a:solidFill>
                  <a:srgbClr val="333333"/>
                </a:solidFill>
                <a:effectLst/>
                <a:latin charset="0" panose="02020603050405020304" pitchFamily="18" typeface="Times New Roman"/>
                <a:cs charset="0" panose="02020603050405020304" pitchFamily="18" typeface="Times New Roman"/>
              </a:rPr>
              <a:t>→</a:t>
            </a:r>
            <a:r>
              <a:rPr dirty="0" lang="en-US"/>
              <a:t> x occurs in the grammar.</a:t>
            </a:r>
          </a:p>
          <a:p>
            <a:pPr algn="just" indent="-342900" lvl="1" marL="544068">
              <a:buAutoNum type="arabicPeriod"/>
            </a:pPr>
            <a:r>
              <a:rPr dirty="0" lang="en-US"/>
              <a:t>Delete A </a:t>
            </a:r>
            <a:r>
              <a:rPr b="0" dirty="0" i="0" lang="en-US">
                <a:solidFill>
                  <a:srgbClr val="333333"/>
                </a:solidFill>
                <a:effectLst/>
                <a:latin charset="0" panose="02020603050405020304" pitchFamily="18" typeface="Times New Roman"/>
                <a:cs charset="0" panose="02020603050405020304" pitchFamily="18" typeface="Times New Roman"/>
              </a:rPr>
              <a:t>→</a:t>
            </a:r>
            <a:r>
              <a:rPr dirty="0" lang="en-US"/>
              <a:t> B from the grammar.</a:t>
            </a:r>
          </a:p>
          <a:p>
            <a:pPr algn="just" indent="-342900" lvl="1" marL="544068">
              <a:buAutoNum type="arabicPeriod"/>
            </a:pPr>
            <a:r>
              <a:rPr dirty="0" lang="en-US"/>
              <a:t>Repeat from step 1 until all the unit productions are removed.</a:t>
            </a:r>
            <a:endParaRPr altLang="en-IN" b="1" dirty="0" lang="en-IN"/>
          </a:p>
        </p:txBody>
      </p:sp>
    </p:spTree>
    <p:extLst>
      <p:ext uri="{BB962C8B-B14F-4D97-AF65-F5344CB8AC3E}">
        <p14:creationId xmlns:p14="http://schemas.microsoft.com/office/powerpoint/2010/main" val="17623433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3" st="3"/>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3">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20A694-F82F-36A9-F972-EB50D2282A8D}"/>
              </a:ext>
            </a:extLst>
          </p:cNvPr>
          <p:cNvSpPr txBox="1"/>
          <p:nvPr/>
        </p:nvSpPr>
        <p:spPr>
          <a:xfrm>
            <a:off x="247650" y="74593"/>
            <a:ext cx="10382250" cy="6294031"/>
          </a:xfrm>
          <a:prstGeom prst="rect">
            <a:avLst/>
          </a:prstGeom>
          <a:noFill/>
        </p:spPr>
        <p:txBody>
          <a:bodyPr numCol="1" wrap="square">
            <a:spAutoFit/>
          </a:bodyPr>
          <a:lstStyle/>
          <a:p>
            <a:pPr algn="l">
              <a:buNone/>
            </a:pPr>
            <a:r>
              <a:rPr b="1" dirty="0" i="0" lang="en-US" sz="1700">
                <a:solidFill>
                  <a:srgbClr val="1C2833"/>
                </a:solidFill>
                <a:effectLst/>
                <a:latin charset="0" panose="02020603050405020304" pitchFamily="18" typeface="Times New Roman"/>
                <a:cs charset="0" panose="02020603050405020304" pitchFamily="18" typeface="Times New Roman"/>
              </a:rPr>
              <a:t>Example</a:t>
            </a:r>
            <a:r>
              <a:rPr b="0" dirty="0" i="0" lang="en-US" sz="1700">
                <a:solidFill>
                  <a:srgbClr val="1C2833"/>
                </a:solidFill>
                <a:effectLst/>
                <a:latin charset="0" panose="02020603050405020304" pitchFamily="18" typeface="Times New Roman"/>
                <a:cs charset="0" panose="02020603050405020304" pitchFamily="18" typeface="Times New Roman"/>
              </a:rPr>
              <a:t>: </a:t>
            </a:r>
          </a:p>
          <a:p>
            <a:pPr algn="just">
              <a:buNone/>
            </a:pPr>
            <a:r>
              <a:rPr b="0" dirty="0" i="0" lang="en-US" sz="1700">
                <a:solidFill>
                  <a:srgbClr val="333333"/>
                </a:solidFill>
                <a:effectLst/>
                <a:latin charset="0" panose="02020603050405020304" pitchFamily="18" typeface="Times New Roman"/>
                <a:cs charset="0" panose="02020603050405020304" pitchFamily="18" typeface="Times New Roman"/>
              </a:rPr>
              <a:t>Remove the unit production from the following CFG by preserving the meaning of it.</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S → 0A | 1B | C  </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A → 0S | 00  </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B → 1 | A  </a:t>
            </a:r>
          </a:p>
          <a:p>
            <a:pPr algn="just">
              <a:spcAft>
                <a:spcPts val="600"/>
              </a:spcAft>
              <a:buFont typeface="+mj-lt"/>
              <a:buAutoNum type="arabicPeriod"/>
            </a:pPr>
            <a:r>
              <a:rPr b="0" dirty="0" i="0" lang="en-US" sz="1700">
                <a:solidFill>
                  <a:srgbClr val="333333"/>
                </a:solidFill>
                <a:effectLst/>
                <a:latin charset="0" panose="02020603050405020304" pitchFamily="18" typeface="Times New Roman"/>
                <a:cs charset="0" panose="02020603050405020304" pitchFamily="18" typeface="Times New Roman"/>
              </a:rPr>
              <a:t>C → 01 </a:t>
            </a:r>
          </a:p>
          <a:p>
            <a:pPr algn="just">
              <a:spcAft>
                <a:spcPts val="600"/>
              </a:spcAft>
            </a:pPr>
            <a:r>
              <a:rPr b="0" dirty="0" i="0" lang="en-US" sz="1700">
                <a:solidFill>
                  <a:srgbClr val="333333"/>
                </a:solidFill>
                <a:effectLst/>
                <a:latin charset="0" panose="02020603050405020304" pitchFamily="18" typeface="Times New Roman"/>
                <a:cs charset="0" panose="02020603050405020304" pitchFamily="18" typeface="Times New Roman"/>
              </a:rPr>
              <a:t>Solution: There are 2-unit productions S → C and B → A. </a:t>
            </a:r>
          </a:p>
          <a:p>
            <a:pPr algn="just" indent="-342900" marL="342900">
              <a:spcAft>
                <a:spcPts val="600"/>
              </a:spcAft>
              <a:buAutoNum type="arabicPeriod"/>
            </a:pPr>
            <a:r>
              <a:rPr b="1" dirty="0" lang="en-US" sz="1700">
                <a:solidFill>
                  <a:srgbClr val="333333"/>
                </a:solidFill>
                <a:latin charset="0" panose="02020603050405020304" pitchFamily="18" typeface="Times New Roman"/>
                <a:cs charset="0" panose="02020603050405020304" pitchFamily="18" typeface="Times New Roman"/>
              </a:rPr>
              <a:t>Remove S</a:t>
            </a:r>
            <a:r>
              <a:rPr b="1" dirty="0" i="0" lang="en-US" sz="1700">
                <a:solidFill>
                  <a:srgbClr val="333333"/>
                </a:solidFill>
                <a:effectLst/>
                <a:latin charset="0" panose="02020603050405020304" pitchFamily="18" typeface="Times New Roman"/>
                <a:cs charset="0" panose="02020603050405020304" pitchFamily="18" typeface="Times New Roman"/>
              </a:rPr>
              <a:t> → C </a:t>
            </a:r>
          </a:p>
          <a:p>
            <a:pPr algn="just">
              <a:spcAft>
                <a:spcPts val="600"/>
              </a:spcAft>
            </a:pPr>
            <a:r>
              <a:rPr altLang="en-IN" b="0" dirty="0" i="0" lang="en-IN" sz="1700">
                <a:solidFill>
                  <a:srgbClr val="333333"/>
                </a:solidFill>
                <a:effectLst/>
                <a:highlight>
                  <a:srgbClr val="FFFF00"/>
                </a:highlight>
                <a:latin charset="0" panose="02020603050405020304" pitchFamily="18" typeface="Times New Roman"/>
                <a:cs charset="0" panose="02020603050405020304" pitchFamily="18" typeface="Times New Roman"/>
              </a:rPr>
              <a:t>S → 0A | 1B | C </a:t>
            </a: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After removing the unit production C will be replaced by 01. Then </a:t>
            </a:r>
            <a:r>
              <a:rPr altLang="en-IN" b="0" dirty="0" i="0" lang="en-IN" sz="1700">
                <a:solidFill>
                  <a:srgbClr val="333333"/>
                </a:solidFill>
                <a:effectLst/>
                <a:latin charset="0" panose="02020603050405020304" pitchFamily="18" typeface="Times New Roman"/>
                <a:cs charset="0" panose="02020603050405020304" pitchFamily="18" typeface="Times New Roman"/>
              </a:rPr>
              <a:t>S → 0A | 1B | </a:t>
            </a:r>
            <a:r>
              <a:rPr altLang="en-IN" b="1" dirty="0" i="0" lang="en-IN" sz="1700">
                <a:solidFill>
                  <a:srgbClr val="FF0000"/>
                </a:solidFill>
                <a:effectLst/>
                <a:latin charset="0" panose="02020603050405020304" pitchFamily="18" typeface="Times New Roman"/>
                <a:cs charset="0" panose="02020603050405020304" pitchFamily="18" typeface="Times New Roman"/>
              </a:rPr>
              <a:t>01</a:t>
            </a:r>
            <a:r>
              <a:rPr altLang="en-IN" b="0" dirty="0" i="0" lang="en-IN" sz="1700">
                <a:solidFill>
                  <a:srgbClr val="333333"/>
                </a:solidFill>
                <a:effectLst/>
                <a:latin charset="0" panose="02020603050405020304" pitchFamily="18" typeface="Times New Roman"/>
                <a:cs charset="0" panose="02020603050405020304" pitchFamily="18" typeface="Times New Roman"/>
              </a:rPr>
              <a:t>  </a:t>
            </a:r>
          </a:p>
          <a:p>
            <a:pPr algn="just">
              <a:spcAft>
                <a:spcPts val="600"/>
              </a:spcAft>
            </a:pPr>
            <a:r>
              <a:rPr b="1" dirty="0" i="0" lang="en-US" sz="1700">
                <a:solidFill>
                  <a:srgbClr val="333333"/>
                </a:solidFill>
                <a:effectLst/>
                <a:latin charset="0" panose="02020603050405020304" pitchFamily="18" typeface="Times New Roman"/>
                <a:cs charset="0" panose="02020603050405020304" pitchFamily="18" typeface="Times New Roman"/>
              </a:rPr>
              <a:t>2. Remove B → A</a:t>
            </a:r>
          </a:p>
          <a:p>
            <a:pPr algn="just">
              <a:spcAft>
                <a:spcPts val="600"/>
              </a:spcAft>
            </a:pPr>
            <a:r>
              <a:rPr altLang="en-IN" b="0" dirty="0" i="0" lang="en-IN" sz="1700">
                <a:solidFill>
                  <a:srgbClr val="333333"/>
                </a:solidFill>
                <a:effectLst/>
                <a:highlight>
                  <a:srgbClr val="FFFF00"/>
                </a:highlight>
                <a:latin charset="0" panose="02020603050405020304" pitchFamily="18" typeface="Times New Roman"/>
                <a:cs charset="0" panose="02020603050405020304" pitchFamily="18" typeface="Times New Roman"/>
              </a:rPr>
              <a:t>B → 1 | A </a:t>
            </a: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After removing the unit production, A will be replaced by </a:t>
            </a:r>
            <a:r>
              <a:rPr b="0" dirty="0" i="0" lang="en-US" sz="1700">
                <a:solidFill>
                  <a:srgbClr val="333333"/>
                </a:solidFill>
                <a:effectLst/>
                <a:latin charset="0" panose="02020603050405020304" pitchFamily="18" typeface="Times New Roman"/>
                <a:cs charset="0" panose="02020603050405020304" pitchFamily="18" typeface="Times New Roman"/>
              </a:rPr>
              <a:t>0S | 00. Then B → 1 | </a:t>
            </a:r>
            <a:r>
              <a:rPr b="1" dirty="0" i="0" lang="en-US" sz="1700">
                <a:solidFill>
                  <a:srgbClr val="FF0000"/>
                </a:solidFill>
                <a:effectLst/>
                <a:latin charset="0" panose="02020603050405020304" pitchFamily="18" typeface="Times New Roman"/>
                <a:cs charset="0" panose="02020603050405020304" pitchFamily="18" typeface="Times New Roman"/>
              </a:rPr>
              <a:t>0S | 00 </a:t>
            </a:r>
          </a:p>
          <a:p>
            <a:pPr algn="just">
              <a:spcAft>
                <a:spcPts val="600"/>
              </a:spcAft>
            </a:pPr>
            <a:endParaRPr dirty="0" lang="en-US" sz="1700">
              <a:solidFill>
                <a:srgbClr val="333333"/>
              </a:solidFill>
              <a:latin charset="0" panose="02020603050405020304" pitchFamily="18" typeface="Times New Roman"/>
              <a:cs charset="0" panose="02020603050405020304" pitchFamily="18" typeface="Times New Roman"/>
            </a:endParaRP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Final CGF without unit productions:</a:t>
            </a: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S → 0A | 1B | 01  </a:t>
            </a: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A → 0S | 00  </a:t>
            </a: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B → 1 | 0S | 00  </a:t>
            </a:r>
          </a:p>
          <a:p>
            <a:pPr algn="just">
              <a:spcAft>
                <a:spcPts val="600"/>
              </a:spcAft>
            </a:pPr>
            <a:r>
              <a:rPr dirty="0" lang="en-US" sz="1700">
                <a:solidFill>
                  <a:srgbClr val="333333"/>
                </a:solidFill>
                <a:latin charset="0" panose="02020603050405020304" pitchFamily="18" typeface="Times New Roman"/>
                <a:cs charset="0" panose="02020603050405020304" pitchFamily="18" typeface="Times New Roman"/>
              </a:rPr>
              <a:t>C → 01 </a:t>
            </a:r>
          </a:p>
        </p:txBody>
      </p:sp>
    </p:spTree>
    <p:extLst>
      <p:ext uri="{BB962C8B-B14F-4D97-AF65-F5344CB8AC3E}">
        <p14:creationId xmlns:p14="http://schemas.microsoft.com/office/powerpoint/2010/main" val="403638953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2">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2">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2">
                                            <p:txEl>
                                              <p:pRg end="4" st="4"/>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2">
                                            <p:txEl>
                                              <p:pRg end="5" st="5"/>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2">
                                            <p:txEl>
                                              <p:pRg end="6" st="6"/>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2">
                                            <p:txEl>
                                              <p:pRg end="7" st="7"/>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2">
                                            <p:txEl>
                                              <p:pRg end="8" st="8"/>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2">
                                            <p:txEl>
                                              <p:pRg end="9" st="9"/>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2">
                                            <p:txEl>
                                              <p:pRg end="10" st="10"/>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2">
                                            <p:txEl>
                                              <p:pRg end="11" st="11"/>
                                            </p:txEl>
                                          </p:spTgt>
                                        </p:tgtEl>
                                        <p:attrNameLst>
                                          <p:attrName>style.visibility</p:attrName>
                                        </p:attrNameLst>
                                      </p:cBhvr>
                                      <p:to>
                                        <p:strVal val="visible"/>
                                      </p:to>
                                    </p:set>
                                  </p:childTnLst>
                                </p:cTn>
                              </p:par>
                              <p:par>
                                <p:cTn fill="hold" id="33" nodeType="withEffect" presetClass="entr" presetID="1" presetSubtype="0">
                                  <p:stCondLst>
                                    <p:cond delay="0"/>
                                  </p:stCondLst>
                                  <p:childTnLst>
                                    <p:set>
                                      <p:cBhvr>
                                        <p:cTn dur="1" fill="hold" id="34">
                                          <p:stCondLst>
                                            <p:cond delay="0"/>
                                          </p:stCondLst>
                                        </p:cTn>
                                        <p:tgtEl>
                                          <p:spTgt spid="2">
                                            <p:txEl>
                                              <p:pRg end="12" st="12"/>
                                            </p:txEl>
                                          </p:spTgt>
                                        </p:tgtEl>
                                        <p:attrNameLst>
                                          <p:attrName>style.visibility</p:attrName>
                                        </p:attrNameLst>
                                      </p:cBhvr>
                                      <p:to>
                                        <p:strVal val="visible"/>
                                      </p:to>
                                    </p:set>
                                  </p:childTnLst>
                                </p:cTn>
                              </p:par>
                            </p:childTnLst>
                          </p:cTn>
                        </p:par>
                      </p:childTnLst>
                    </p:cTn>
                  </p:par>
                  <p:par>
                    <p:cTn fill="hold" id="35">
                      <p:stCondLst>
                        <p:cond delay="indefinite"/>
                      </p:stCondLst>
                      <p:childTnLst>
                        <p:par>
                          <p:cTn fill="hold" id="36">
                            <p:stCondLst>
                              <p:cond delay="0"/>
                            </p:stCondLst>
                            <p:childTnLst>
                              <p:par>
                                <p:cTn fill="hold" id="37" nodeType="clickEffect" presetClass="entr" presetID="1" presetSubtype="0">
                                  <p:stCondLst>
                                    <p:cond delay="0"/>
                                  </p:stCondLst>
                                  <p:childTnLst>
                                    <p:set>
                                      <p:cBhvr>
                                        <p:cTn dur="1" fill="hold" id="38">
                                          <p:stCondLst>
                                            <p:cond delay="0"/>
                                          </p:stCondLst>
                                        </p:cTn>
                                        <p:tgtEl>
                                          <p:spTgt spid="2">
                                            <p:txEl>
                                              <p:pRg end="14" st="14"/>
                                            </p:txEl>
                                          </p:spTgt>
                                        </p:tgtEl>
                                        <p:attrNameLst>
                                          <p:attrName>style.visibility</p:attrName>
                                        </p:attrNameLst>
                                      </p:cBhvr>
                                      <p:to>
                                        <p:strVal val="visible"/>
                                      </p:to>
                                    </p:set>
                                  </p:childTnLst>
                                </p:cTn>
                              </p:par>
                              <p:par>
                                <p:cTn fill="hold" id="39" nodeType="withEffect" presetClass="entr" presetID="1" presetSubtype="0">
                                  <p:stCondLst>
                                    <p:cond delay="0"/>
                                  </p:stCondLst>
                                  <p:childTnLst>
                                    <p:set>
                                      <p:cBhvr>
                                        <p:cTn dur="1" fill="hold" id="40">
                                          <p:stCondLst>
                                            <p:cond delay="0"/>
                                          </p:stCondLst>
                                        </p:cTn>
                                        <p:tgtEl>
                                          <p:spTgt spid="2">
                                            <p:txEl>
                                              <p:pRg end="15" st="15"/>
                                            </p:txEl>
                                          </p:spTgt>
                                        </p:tgtEl>
                                        <p:attrNameLst>
                                          <p:attrName>style.visibility</p:attrName>
                                        </p:attrNameLst>
                                      </p:cBhvr>
                                      <p:to>
                                        <p:strVal val="visible"/>
                                      </p:to>
                                    </p:set>
                                  </p:childTnLst>
                                </p:cTn>
                              </p:par>
                              <p:par>
                                <p:cTn fill="hold" id="41" nodeType="withEffect" presetClass="entr" presetID="1" presetSubtype="0">
                                  <p:stCondLst>
                                    <p:cond delay="0"/>
                                  </p:stCondLst>
                                  <p:childTnLst>
                                    <p:set>
                                      <p:cBhvr>
                                        <p:cTn dur="1" fill="hold" id="42">
                                          <p:stCondLst>
                                            <p:cond delay="0"/>
                                          </p:stCondLst>
                                        </p:cTn>
                                        <p:tgtEl>
                                          <p:spTgt spid="2">
                                            <p:txEl>
                                              <p:pRg end="16" st="16"/>
                                            </p:txEl>
                                          </p:spTgt>
                                        </p:tgtEl>
                                        <p:attrNameLst>
                                          <p:attrName>style.visibility</p:attrName>
                                        </p:attrNameLst>
                                      </p:cBhvr>
                                      <p:to>
                                        <p:strVal val="visible"/>
                                      </p:to>
                                    </p:set>
                                  </p:childTnLst>
                                </p:cTn>
                              </p:par>
                              <p:par>
                                <p:cTn fill="hold" id="43" nodeType="withEffect" presetClass="entr" presetID="1" presetSubtype="0">
                                  <p:stCondLst>
                                    <p:cond delay="0"/>
                                  </p:stCondLst>
                                  <p:childTnLst>
                                    <p:set>
                                      <p:cBhvr>
                                        <p:cTn dur="1" fill="hold" id="44">
                                          <p:stCondLst>
                                            <p:cond delay="0"/>
                                          </p:stCondLst>
                                        </p:cTn>
                                        <p:tgtEl>
                                          <p:spTgt spid="2">
                                            <p:txEl>
                                              <p:pRg end="17" st="17"/>
                                            </p:txEl>
                                          </p:spTgt>
                                        </p:tgtEl>
                                        <p:attrNameLst>
                                          <p:attrName>style.visibility</p:attrName>
                                        </p:attrNameLst>
                                      </p:cBhvr>
                                      <p:to>
                                        <p:strVal val="visible"/>
                                      </p:to>
                                    </p:set>
                                  </p:childTnLst>
                                </p:cTn>
                              </p:par>
                              <p:par>
                                <p:cTn fill="hold" id="45" nodeType="withEffect" presetClass="entr" presetID="1" presetSubtype="0">
                                  <p:stCondLst>
                                    <p:cond delay="0"/>
                                  </p:stCondLst>
                                  <p:childTnLst>
                                    <p:set>
                                      <p:cBhvr>
                                        <p:cTn dur="1" fill="hold" id="46">
                                          <p:stCondLst>
                                            <p:cond delay="0"/>
                                          </p:stCondLst>
                                        </p:cTn>
                                        <p:tgtEl>
                                          <p:spTgt spid="2">
                                            <p:txEl>
                                              <p:pRg end="18" st="18"/>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5F5033-4BB3-72F6-F28E-19F3826BC374}"/>
              </a:ext>
            </a:extLst>
          </p:cNvPr>
          <p:cNvSpPr txBox="1"/>
          <p:nvPr/>
        </p:nvSpPr>
        <p:spPr>
          <a:xfrm>
            <a:off x="362902" y="359956"/>
            <a:ext cx="9672637" cy="1631216"/>
          </a:xfrm>
          <a:prstGeom prst="rect">
            <a:avLst/>
          </a:prstGeom>
          <a:noFill/>
        </p:spPr>
        <p:txBody>
          <a:bodyPr numCol="1" wrap="square">
            <a:spAutoFit/>
          </a:bodyPr>
          <a:lstStyle/>
          <a:p>
            <a:pPr algn="l">
              <a:buNone/>
            </a:pPr>
            <a:r>
              <a:rPr b="1" dirty="0" i="0" lang="en-US" sz="1800">
                <a:solidFill>
                  <a:srgbClr val="1C2833"/>
                </a:solidFill>
                <a:effectLst/>
                <a:latin charset="0" panose="02020603050405020304" pitchFamily="18" typeface="Times New Roman"/>
                <a:cs charset="0" panose="02020603050405020304" pitchFamily="18" typeface="Times New Roman"/>
              </a:rPr>
              <a:t>Example</a:t>
            </a:r>
            <a:r>
              <a:rPr b="0" dirty="0" i="0" lang="en-US" sz="1800">
                <a:solidFill>
                  <a:srgbClr val="1C2833"/>
                </a:solidFill>
                <a:effectLst/>
                <a:latin charset="0" panose="02020603050405020304" pitchFamily="18" typeface="Times New Roman"/>
                <a:cs charset="0" panose="02020603050405020304" pitchFamily="18" typeface="Times New Roman"/>
              </a:rPr>
              <a:t>: </a:t>
            </a:r>
          </a:p>
          <a:p>
            <a:pPr algn="just">
              <a:buNone/>
            </a:pPr>
            <a:r>
              <a:rPr b="0" dirty="0" i="0" lang="en-US" sz="1800">
                <a:solidFill>
                  <a:srgbClr val="333333"/>
                </a:solidFill>
                <a:effectLst/>
                <a:latin charset="0" panose="02020603050405020304" pitchFamily="18" typeface="Times New Roman"/>
                <a:cs charset="0" panose="02020603050405020304" pitchFamily="18" typeface="Times New Roman"/>
              </a:rPr>
              <a:t>Remove the unit production from the following CFG by preserving the meaning of it.</a:t>
            </a:r>
          </a:p>
          <a:p>
            <a:pPr algn="just">
              <a:spcAft>
                <a:spcPts val="600"/>
              </a:spcAft>
            </a:pPr>
            <a:r>
              <a:rPr b="0" dirty="0" i="0" lang="en-US" sz="1800">
                <a:solidFill>
                  <a:srgbClr val="333333"/>
                </a:solidFill>
                <a:effectLst/>
                <a:latin charset="0" panose="02020603050405020304" pitchFamily="18" typeface="Times New Roman"/>
                <a:cs charset="0" panose="02020603050405020304" pitchFamily="18" typeface="Times New Roman"/>
              </a:rPr>
              <a:t>S → Aa | B</a:t>
            </a:r>
          </a:p>
          <a:p>
            <a:pPr algn="just">
              <a:spcAft>
                <a:spcPts val="600"/>
              </a:spcAft>
            </a:pPr>
            <a:r>
              <a:rPr dirty="0" lang="en-US">
                <a:solidFill>
                  <a:srgbClr val="333333"/>
                </a:solidFill>
                <a:latin charset="0" panose="02020603050405020304" pitchFamily="18" typeface="Times New Roman"/>
                <a:cs charset="0" panose="02020603050405020304" pitchFamily="18" typeface="Times New Roman"/>
              </a:rPr>
              <a:t>B → A | bb</a:t>
            </a:r>
          </a:p>
          <a:p>
            <a:pPr algn="just">
              <a:spcAft>
                <a:spcPts val="600"/>
              </a:spcAft>
            </a:pPr>
            <a:r>
              <a:rPr b="0" dirty="0" i="0" lang="en-US" sz="1800">
                <a:solidFill>
                  <a:srgbClr val="333333"/>
                </a:solidFill>
                <a:effectLst/>
                <a:latin charset="0" panose="02020603050405020304" pitchFamily="18" typeface="Times New Roman"/>
                <a:cs charset="0" panose="02020603050405020304" pitchFamily="18" typeface="Times New Roman"/>
              </a:rPr>
              <a:t>A </a:t>
            </a:r>
            <a:r>
              <a:rPr dirty="0" lang="en-US">
                <a:solidFill>
                  <a:srgbClr val="333333"/>
                </a:solidFill>
                <a:latin charset="0" panose="02020603050405020304" pitchFamily="18" typeface="Times New Roman"/>
                <a:cs charset="0" panose="02020603050405020304" pitchFamily="18" typeface="Times New Roman"/>
              </a:rPr>
              <a:t>→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a:t>
            </a:r>
            <a:r>
              <a:rPr b="0" dirty="0" i="0" lang="en-US" sz="1800">
                <a:solidFill>
                  <a:srgbClr val="333333"/>
                </a:solidFill>
                <a:effectLst/>
                <a:latin charset="0" panose="02020603050405020304" pitchFamily="18" typeface="Times New Roman"/>
                <a:cs charset="0" panose="02020603050405020304" pitchFamily="18" typeface="Times New Roman"/>
              </a:rPr>
              <a:t>  </a:t>
            </a:r>
          </a:p>
        </p:txBody>
      </p:sp>
      <p:sp>
        <p:nvSpPr>
          <p:cNvPr id="5" name="TextBox 4">
            <a:extLst>
              <a:ext uri="{FF2B5EF4-FFF2-40B4-BE49-F238E27FC236}">
                <a16:creationId xmlns:a16="http://schemas.microsoft.com/office/drawing/2014/main" id="{233AC379-B94F-26C0-7293-456198B6F015}"/>
              </a:ext>
            </a:extLst>
          </p:cNvPr>
          <p:cNvSpPr txBox="1"/>
          <p:nvPr/>
        </p:nvSpPr>
        <p:spPr>
          <a:xfrm>
            <a:off x="362902" y="1991172"/>
            <a:ext cx="6483668" cy="369332"/>
          </a:xfrm>
          <a:prstGeom prst="rect">
            <a:avLst/>
          </a:prstGeom>
          <a:noFill/>
        </p:spPr>
        <p:txBody>
          <a:bodyPr numCol="1" wrap="square">
            <a:spAutoFit/>
          </a:bodyPr>
          <a:lstStyle/>
          <a:p>
            <a:r>
              <a:rPr b="0" dirty="0" i="0" lang="en-US" sz="1800">
                <a:solidFill>
                  <a:srgbClr val="333333"/>
                </a:solidFill>
                <a:effectLst/>
                <a:latin charset="0" panose="02020603050405020304" pitchFamily="18" typeface="Times New Roman"/>
                <a:cs charset="0" panose="02020603050405020304" pitchFamily="18" typeface="Times New Roman"/>
              </a:rPr>
              <a:t>Solution: There are 3-unit productions S → </a:t>
            </a:r>
            <a:r>
              <a:rPr dirty="0" lang="en-US">
                <a:solidFill>
                  <a:srgbClr val="333333"/>
                </a:solidFill>
                <a:latin charset="0" panose="02020603050405020304" pitchFamily="18" typeface="Times New Roman"/>
                <a:cs charset="0" panose="02020603050405020304" pitchFamily="18" typeface="Times New Roman"/>
              </a:rPr>
              <a:t>B, B →</a:t>
            </a:r>
            <a:r>
              <a:rPr b="0" dirty="0" i="0" lang="en-US" sz="1800">
                <a:solidFill>
                  <a:srgbClr val="333333"/>
                </a:solidFill>
                <a:effectLst/>
                <a:latin charset="0" panose="02020603050405020304" pitchFamily="18" typeface="Times New Roman"/>
                <a:cs charset="0" panose="02020603050405020304" pitchFamily="18" typeface="Times New Roman"/>
              </a:rPr>
              <a:t> A and A → B</a:t>
            </a:r>
            <a:endParaRPr altLang="en-IN" dirty="0" lang="en-IN"/>
          </a:p>
        </p:txBody>
      </p:sp>
      <p:sp>
        <p:nvSpPr>
          <p:cNvPr id="7" name="TextBox 6">
            <a:extLst>
              <a:ext uri="{FF2B5EF4-FFF2-40B4-BE49-F238E27FC236}">
                <a16:creationId xmlns:a16="http://schemas.microsoft.com/office/drawing/2014/main" id="{A2CFFF4C-F5F6-9094-C78E-DF8994458CF9}"/>
              </a:ext>
            </a:extLst>
          </p:cNvPr>
          <p:cNvSpPr txBox="1"/>
          <p:nvPr/>
        </p:nvSpPr>
        <p:spPr>
          <a:xfrm>
            <a:off x="362902" y="2440752"/>
            <a:ext cx="4952048" cy="3970318"/>
          </a:xfrm>
          <a:prstGeom prst="rect">
            <a:avLst/>
          </a:prstGeom>
          <a:noFill/>
        </p:spPr>
        <p:txBody>
          <a:bodyPr numCol="1" wrap="square">
            <a:spAutoFit/>
          </a:bodyPr>
          <a:lstStyle/>
          <a:p>
            <a:pPr indent="-342900" marL="342900">
              <a:buAutoNum type="arabicPeriod"/>
            </a:pPr>
            <a:r>
              <a:rPr dirty="0" lang="en-US">
                <a:solidFill>
                  <a:srgbClr val="333333"/>
                </a:solidFill>
                <a:latin charset="0" panose="02020603050405020304" pitchFamily="18" typeface="Times New Roman"/>
                <a:cs charset="0" panose="02020603050405020304" pitchFamily="18" typeface="Times New Roman"/>
              </a:rPr>
              <a:t>Remove S → B</a:t>
            </a:r>
          </a:p>
          <a:p>
            <a:r>
              <a:rPr b="0" dirty="0" i="0" lang="en-US" sz="1800">
                <a:solidFill>
                  <a:srgbClr val="333333"/>
                </a:solidFill>
                <a:effectLst/>
                <a:latin charset="0" panose="02020603050405020304" pitchFamily="18" typeface="Times New Roman"/>
                <a:cs charset="0" panose="02020603050405020304" pitchFamily="18" typeface="Times New Roman"/>
              </a:rPr>
              <a:t> S </a:t>
            </a:r>
            <a:r>
              <a:rPr dirty="0" lang="en-US">
                <a:solidFill>
                  <a:srgbClr val="333333"/>
                </a:solidFill>
                <a:latin charset="0" panose="02020603050405020304" pitchFamily="18" typeface="Times New Roman"/>
                <a:cs charset="0" panose="02020603050405020304" pitchFamily="18" typeface="Times New Roman"/>
              </a:rPr>
              <a:t>→ Aa | A | bb</a:t>
            </a:r>
          </a:p>
          <a:p>
            <a:r>
              <a:rPr dirty="0" lang="en-US">
                <a:solidFill>
                  <a:srgbClr val="333333"/>
                </a:solidFill>
                <a:latin charset="0" panose="02020603050405020304" pitchFamily="18" typeface="Times New Roman"/>
                <a:cs charset="0" panose="02020603050405020304" pitchFamily="18" typeface="Times New Roman"/>
              </a:rPr>
              <a:t> B → A | bb</a:t>
            </a:r>
          </a:p>
          <a:p>
            <a:r>
              <a:rPr dirty="0" lang="en-US">
                <a:solidFill>
                  <a:srgbClr val="333333"/>
                </a:solidFill>
                <a:latin charset="0" panose="02020603050405020304" pitchFamily="18" typeface="Times New Roman"/>
                <a:cs charset="0" panose="02020603050405020304" pitchFamily="18" typeface="Times New Roman"/>
              </a:rPr>
              <a:t> A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a:t>
            </a:r>
          </a:p>
          <a:p>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2. Remove B → A</a:t>
            </a:r>
          </a:p>
          <a:p>
            <a:r>
              <a:rPr dirty="0" lang="en-US">
                <a:solidFill>
                  <a:srgbClr val="333333"/>
                </a:solidFill>
                <a:latin charset="0" panose="02020603050405020304" pitchFamily="18" typeface="Times New Roman"/>
                <a:cs charset="0" panose="02020603050405020304" pitchFamily="18" typeface="Times New Roman"/>
              </a:rPr>
              <a:t>S → Aa | A | bb</a:t>
            </a:r>
          </a:p>
          <a:p>
            <a:r>
              <a:rPr dirty="0" lang="en-US">
                <a:solidFill>
                  <a:srgbClr val="333333"/>
                </a:solidFill>
                <a:latin charset="0" panose="02020603050405020304" pitchFamily="18" typeface="Times New Roman"/>
                <a:cs charset="0" panose="02020603050405020304" pitchFamily="18" typeface="Times New Roman"/>
              </a:rPr>
              <a:t>B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bb</a:t>
            </a:r>
          </a:p>
          <a:p>
            <a:r>
              <a:rPr dirty="0" lang="en-US">
                <a:solidFill>
                  <a:srgbClr val="333333"/>
                </a:solidFill>
                <a:latin charset="0" panose="02020603050405020304" pitchFamily="18" typeface="Times New Roman"/>
                <a:cs charset="0" panose="02020603050405020304" pitchFamily="18" typeface="Times New Roman"/>
              </a:rPr>
              <a:t>A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a:t>
            </a:r>
          </a:p>
          <a:p>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3. Remove A → B</a:t>
            </a:r>
          </a:p>
          <a:p>
            <a:r>
              <a:rPr dirty="0" lang="en-US">
                <a:solidFill>
                  <a:srgbClr val="333333"/>
                </a:solidFill>
                <a:latin charset="0" panose="02020603050405020304" pitchFamily="18" typeface="Times New Roman"/>
                <a:cs charset="0" panose="02020603050405020304" pitchFamily="18" typeface="Times New Roman"/>
              </a:rPr>
              <a:t>S → Aa | A | bb</a:t>
            </a:r>
          </a:p>
          <a:p>
            <a:r>
              <a:rPr dirty="0" lang="en-US">
                <a:solidFill>
                  <a:srgbClr val="333333"/>
                </a:solidFill>
                <a:latin charset="0" panose="02020603050405020304" pitchFamily="18" typeface="Times New Roman"/>
                <a:cs charset="0" panose="02020603050405020304" pitchFamily="18" typeface="Times New Roman"/>
              </a:rPr>
              <a:t>B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bb</a:t>
            </a:r>
          </a:p>
          <a:p>
            <a:r>
              <a:rPr dirty="0" lang="en-US">
                <a:solidFill>
                  <a:srgbClr val="333333"/>
                </a:solidFill>
                <a:latin charset="0" panose="02020603050405020304" pitchFamily="18" typeface="Times New Roman"/>
                <a:cs charset="0" panose="02020603050405020304" pitchFamily="18" typeface="Times New Roman"/>
              </a:rPr>
              <a:t>A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bb</a:t>
            </a:r>
            <a:endParaRPr altLang="en-IN" dirty="0" lang="en-IN"/>
          </a:p>
        </p:txBody>
      </p:sp>
      <p:sp>
        <p:nvSpPr>
          <p:cNvPr id="9" name="TextBox 8">
            <a:extLst>
              <a:ext uri="{FF2B5EF4-FFF2-40B4-BE49-F238E27FC236}">
                <a16:creationId xmlns:a16="http://schemas.microsoft.com/office/drawing/2014/main" id="{31005E88-470F-4185-2207-8E91970C4B4E}"/>
              </a:ext>
            </a:extLst>
          </p:cNvPr>
          <p:cNvSpPr txBox="1"/>
          <p:nvPr/>
        </p:nvSpPr>
        <p:spPr>
          <a:xfrm>
            <a:off x="6096000" y="3059668"/>
            <a:ext cx="6097904" cy="1477328"/>
          </a:xfrm>
          <a:prstGeom prst="rect">
            <a:avLst/>
          </a:prstGeom>
          <a:noFill/>
        </p:spPr>
        <p:txBody>
          <a:bodyPr numCol="1" wrap="square">
            <a:spAutoFit/>
          </a:bodyPr>
          <a:lstStyle/>
          <a:p>
            <a:r>
              <a:rPr dirty="0" lang="en-US">
                <a:solidFill>
                  <a:srgbClr val="333333"/>
                </a:solidFill>
                <a:latin charset="0" panose="02020603050405020304" pitchFamily="18" typeface="Times New Roman"/>
                <a:cs charset="0" panose="02020603050405020304" pitchFamily="18" typeface="Times New Roman"/>
              </a:rPr>
              <a:t>4. Remove S → A</a:t>
            </a:r>
          </a:p>
          <a:p>
            <a:r>
              <a:rPr dirty="0" lang="en-US">
                <a:solidFill>
                  <a:srgbClr val="333333"/>
                </a:solidFill>
                <a:latin charset="0" panose="02020603050405020304" pitchFamily="18" typeface="Times New Roman"/>
                <a:cs charset="0" panose="02020603050405020304" pitchFamily="18" typeface="Times New Roman"/>
              </a:rPr>
              <a:t>S → Aa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bb </a:t>
            </a:r>
          </a:p>
          <a:p>
            <a:r>
              <a:rPr dirty="0" lang="en-US">
                <a:solidFill>
                  <a:srgbClr val="333333"/>
                </a:solidFill>
                <a:latin charset="0" panose="02020603050405020304" pitchFamily="18" typeface="Times New Roman"/>
                <a:cs charset="0" panose="02020603050405020304" pitchFamily="18" typeface="Times New Roman"/>
              </a:rPr>
              <a:t>B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bb</a:t>
            </a:r>
          </a:p>
          <a:p>
            <a:r>
              <a:rPr dirty="0" lang="en-US">
                <a:solidFill>
                  <a:srgbClr val="333333"/>
                </a:solidFill>
                <a:latin charset="0" panose="02020603050405020304" pitchFamily="18" typeface="Times New Roman"/>
                <a:cs charset="0" panose="02020603050405020304" pitchFamily="18" typeface="Times New Roman"/>
              </a:rPr>
              <a:t>A → a | </a:t>
            </a:r>
            <a:r>
              <a:rPr dirty="0" err="1" lang="en-US">
                <a:solidFill>
                  <a:srgbClr val="333333"/>
                </a:solidFill>
                <a:latin charset="0" panose="02020603050405020304" pitchFamily="18" typeface="Times New Roman"/>
                <a:cs charset="0" panose="02020603050405020304" pitchFamily="18" typeface="Times New Roman"/>
              </a:rPr>
              <a:t>bc</a:t>
            </a:r>
            <a:r>
              <a:rPr dirty="0" lang="en-US">
                <a:solidFill>
                  <a:srgbClr val="333333"/>
                </a:solidFill>
                <a:latin charset="0" panose="02020603050405020304" pitchFamily="18" typeface="Times New Roman"/>
                <a:cs charset="0" panose="02020603050405020304" pitchFamily="18" typeface="Times New Roman"/>
              </a:rPr>
              <a:t> | bb</a:t>
            </a:r>
            <a:endParaRPr altLang="en-IN" dirty="0" lang="en-IN"/>
          </a:p>
          <a:p>
            <a:endParaRPr dirty="0" lang="en-US">
              <a:solidFill>
                <a:srgbClr val="333333"/>
              </a:solidFill>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196848604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7">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7">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7">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7">
                                            <p:txEl>
                                              <p:pRg end="3" st="3"/>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7">
                                            <p:txEl>
                                              <p:pRg end="5" st="5"/>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7">
                                            <p:txEl>
                                              <p:pRg end="6" st="6"/>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7">
                                            <p:txEl>
                                              <p:pRg end="7" st="7"/>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7">
                                            <p:txEl>
                                              <p:pRg end="8" st="8"/>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7">
                                            <p:txEl>
                                              <p:pRg end="10" st="10"/>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7">
                                            <p:txEl>
                                              <p:pRg end="11" st="11"/>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7">
                                            <p:txEl>
                                              <p:pRg end="12" st="12"/>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7">
                                            <p:txEl>
                                              <p:pRg end="13" st="13"/>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 presetSubtype="0">
                                  <p:stCondLst>
                                    <p:cond delay="0"/>
                                  </p:stCondLst>
                                  <p:childTnLst>
                                    <p:set>
                                      <p:cBhvr>
                                        <p:cTn dur="1" fill="hold" id="36">
                                          <p:stCondLst>
                                            <p:cond delay="0"/>
                                          </p:stCondLst>
                                        </p:cTn>
                                        <p:tgtEl>
                                          <p:spTgt spid="9"/>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9"/>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94C4-60D3-02CA-744F-4954B0F0E954}"/>
              </a:ext>
            </a:extLst>
          </p:cNvPr>
          <p:cNvSpPr>
            <a:spLocks noGrp="1"/>
          </p:cNvSpPr>
          <p:nvPr>
            <p:ph type="title"/>
          </p:nvPr>
        </p:nvSpPr>
        <p:spPr/>
        <p:txBody>
          <a:bodyPr numCol="1">
            <a:normAutofit/>
          </a:bodyPr>
          <a:lstStyle/>
          <a:p>
            <a:r>
              <a:rPr dirty="0" lang="en-US" sz="4000"/>
              <a:t>Elimination of Useless Symbols or Productions</a:t>
            </a:r>
            <a:endParaRPr altLang="en-IN" dirty="0" lang="en-IN" sz="4000"/>
          </a:p>
        </p:txBody>
      </p:sp>
      <p:sp>
        <p:nvSpPr>
          <p:cNvPr id="3" name="Content Placeholder 2">
            <a:extLst>
              <a:ext uri="{FF2B5EF4-FFF2-40B4-BE49-F238E27FC236}">
                <a16:creationId xmlns:a16="http://schemas.microsoft.com/office/drawing/2014/main" id="{06D439E8-114B-EE69-8DFE-B7627814BCDF}"/>
              </a:ext>
            </a:extLst>
          </p:cNvPr>
          <p:cNvSpPr>
            <a:spLocks noGrp="1"/>
          </p:cNvSpPr>
          <p:nvPr>
            <p:ph idx="1"/>
          </p:nvPr>
        </p:nvSpPr>
        <p:spPr/>
        <p:txBody>
          <a:bodyPr numCol="1">
            <a:normAutofit/>
          </a:bodyPr>
          <a:lstStyle/>
          <a:p>
            <a:pPr algn="just">
              <a:buFont charset="0" panose="020B0604020202020204" pitchFamily="34" typeface="Arial"/>
              <a:buChar char="•"/>
            </a:pPr>
            <a:r>
              <a:rPr dirty="0" lang="en-US"/>
              <a:t>The productions that can never take part in derivation of any string are called useless productions. </a:t>
            </a:r>
          </a:p>
          <a:p>
            <a:pPr algn="just">
              <a:buFont charset="0" panose="020B0604020202020204" pitchFamily="34" typeface="Arial"/>
              <a:buChar char="•"/>
            </a:pPr>
            <a:r>
              <a:rPr dirty="0" lang="en-US"/>
              <a:t>Similarly, </a:t>
            </a:r>
            <a:r>
              <a:rPr dirty="0" lang="en-US">
                <a:solidFill>
                  <a:srgbClr val="333333"/>
                </a:solidFill>
                <a:latin typeface="Inter-Regular"/>
              </a:rPr>
              <a:t>a</a:t>
            </a:r>
            <a:r>
              <a:rPr b="0" dirty="0" i="0" lang="en-US">
                <a:solidFill>
                  <a:srgbClr val="333333"/>
                </a:solidFill>
                <a:effectLst/>
                <a:latin typeface="Inter-Regular"/>
              </a:rPr>
              <a:t> symbol can be useless if it does not appear on the right-hand side of the production rule and does not take part in the derivation of any string. </a:t>
            </a:r>
          </a:p>
          <a:p>
            <a:pPr algn="just">
              <a:buFont charset="0" panose="020B0604020202020204" pitchFamily="34" typeface="Arial"/>
              <a:buChar char="•"/>
            </a:pPr>
            <a:r>
              <a:rPr altLang="en-IN" dirty="0" lang="en-IN"/>
              <a:t>Simply </a:t>
            </a:r>
            <a:r>
              <a:rPr altLang="en-IN" b="1" dirty="0" lang="en-IN"/>
              <a:t>removing variables (non-terminals)</a:t>
            </a:r>
            <a:r>
              <a:rPr altLang="en-IN" dirty="0" lang="en-IN"/>
              <a:t> and </a:t>
            </a:r>
            <a:r>
              <a:rPr altLang="en-IN" b="1" dirty="0" lang="en-IN"/>
              <a:t>productions</a:t>
            </a:r>
            <a:r>
              <a:rPr altLang="en-IN" dirty="0" lang="en-IN"/>
              <a:t> </a:t>
            </a:r>
          </a:p>
          <a:p>
            <a:pPr algn="just" lvl="1">
              <a:buFont charset="0" panose="020B0604020202020204" pitchFamily="34" typeface="Arial"/>
              <a:buChar char="•"/>
            </a:pPr>
            <a:r>
              <a:rPr dirty="0" lang="en-US"/>
              <a:t>Can never derive a terminal string (non-generating symbols).</a:t>
            </a:r>
          </a:p>
          <a:p>
            <a:pPr algn="just" lvl="1">
              <a:buFont charset="0" panose="020B0604020202020204" pitchFamily="34" typeface="Arial"/>
              <a:buChar char="•"/>
            </a:pPr>
            <a:r>
              <a:rPr dirty="0" lang="en-US"/>
              <a:t>Can never be reached from the start symbol (unreachable symbols).</a:t>
            </a:r>
          </a:p>
          <a:p>
            <a:pPr algn="just" lvl="1">
              <a:buFont charset="0" panose="020B0604020202020204" pitchFamily="34" typeface="Arial"/>
              <a:buChar char="•"/>
            </a:pPr>
            <a:endParaRPr dirty="0" lang="en-US"/>
          </a:p>
          <a:p>
            <a:pPr algn="just">
              <a:buFont charset="0" panose="020B0604020202020204" pitchFamily="34" typeface="Arial"/>
              <a:buChar char="•"/>
            </a:pPr>
            <a:r>
              <a:rPr dirty="0" i="1" lang="en-US">
                <a:solidFill>
                  <a:srgbClr val="FF0000"/>
                </a:solidFill>
              </a:rPr>
              <a:t>Note: First eliminate non-generating symbol and productions involving one or more of those symbol. Second, eliminate all the symbols that are not reachable in the grammar.</a:t>
            </a:r>
            <a:endParaRPr altLang="en-IN" dirty="0" i="1" lang="en-IN">
              <a:solidFill>
                <a:srgbClr val="FF0000"/>
              </a:solidFill>
            </a:endParaRPr>
          </a:p>
          <a:p>
            <a:pPr algn="just">
              <a:buFont charset="0" panose="020B0604020202020204" pitchFamily="34" typeface="Arial"/>
              <a:buChar char="•"/>
            </a:pPr>
            <a:endParaRPr altLang="en-IN" dirty="0" lang="en-IN"/>
          </a:p>
        </p:txBody>
      </p:sp>
    </p:spTree>
    <p:extLst>
      <p:ext uri="{BB962C8B-B14F-4D97-AF65-F5344CB8AC3E}">
        <p14:creationId xmlns:p14="http://schemas.microsoft.com/office/powerpoint/2010/main" val="414912038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2" st="2"/>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3" st="3"/>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97AFF86-0A3C-43A2-442C-E29EF6B400C5}"/>
              </a:ext>
            </a:extLst>
          </p:cNvPr>
          <p:cNvSpPr txBox="1">
            <a:spLocks/>
          </p:cNvSpPr>
          <p:nvPr/>
        </p:nvSpPr>
        <p:spPr>
          <a:xfrm>
            <a:off x="706754" y="493183"/>
            <a:ext cx="10677525" cy="5478991"/>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lgn="just">
              <a:buFont charset="0" panose="020B0604020202020204" pitchFamily="34" typeface="Arial"/>
              <a:buChar char="•"/>
            </a:pPr>
            <a:r>
              <a:rPr altLang="en-IN" dirty="0" lang="en-IN"/>
              <a:t>For example: </a:t>
            </a:r>
            <a:r>
              <a:rPr b="0" dirty="0" i="0" lang="en-US" sz="2000">
                <a:solidFill>
                  <a:srgbClr val="333333"/>
                </a:solidFill>
                <a:effectLst/>
                <a:latin charset="0" panose="02020603050405020304" pitchFamily="18" typeface="Times New Roman"/>
                <a:cs charset="0" panose="02020603050405020304" pitchFamily="18" typeface="Times New Roman"/>
              </a:rPr>
              <a:t>Remove the useless production from the following CFG </a:t>
            </a:r>
            <a:endParaRPr altLang="en-IN" dirty="0" lang="en-IN"/>
          </a:p>
          <a:p>
            <a:pPr algn="just" indent="0" marL="0">
              <a:buNone/>
            </a:pPr>
            <a:r>
              <a:rPr altLang="en-IN" dirty="0" lang="en-IN">
                <a:solidFill>
                  <a:srgbClr val="333333"/>
                </a:solidFill>
                <a:latin typeface="Inter-Regular"/>
              </a:rPr>
              <a:t>T → </a:t>
            </a:r>
            <a:r>
              <a:rPr altLang="en-IN" dirty="0" err="1" lang="en-IN">
                <a:solidFill>
                  <a:srgbClr val="333333"/>
                </a:solidFill>
                <a:latin typeface="Inter-Regular"/>
              </a:rPr>
              <a:t>aaB</a:t>
            </a:r>
            <a:r>
              <a:rPr altLang="en-IN" dirty="0" lang="en-IN">
                <a:solidFill>
                  <a:srgbClr val="333333"/>
                </a:solidFill>
                <a:latin typeface="Inter-Regular"/>
              </a:rPr>
              <a:t> | </a:t>
            </a:r>
            <a:r>
              <a:rPr altLang="en-IN" dirty="0" err="1" lang="en-IN">
                <a:solidFill>
                  <a:srgbClr val="333333"/>
                </a:solidFill>
                <a:latin typeface="Inter-Regular"/>
              </a:rPr>
              <a:t>abA</a:t>
            </a:r>
            <a:r>
              <a:rPr altLang="en-IN" dirty="0" lang="en-IN">
                <a:solidFill>
                  <a:srgbClr val="333333"/>
                </a:solidFill>
                <a:latin typeface="Inter-Regular"/>
              </a:rPr>
              <a:t> | </a:t>
            </a:r>
            <a:r>
              <a:rPr altLang="en-IN" dirty="0" err="1" lang="en-IN">
                <a:solidFill>
                  <a:srgbClr val="333333"/>
                </a:solidFill>
                <a:latin typeface="Inter-Regular"/>
              </a:rPr>
              <a:t>aaT</a:t>
            </a:r>
            <a:r>
              <a:rPr altLang="en-IN" dirty="0" lang="en-IN">
                <a:solidFill>
                  <a:srgbClr val="333333"/>
                </a:solidFill>
                <a:latin typeface="Inter-Regular"/>
              </a:rPr>
              <a:t>  </a:t>
            </a:r>
          </a:p>
          <a:p>
            <a:pPr algn="just" indent="0" marL="0">
              <a:buNone/>
            </a:pPr>
            <a:r>
              <a:rPr altLang="en-IN" dirty="0" lang="en-IN">
                <a:solidFill>
                  <a:srgbClr val="333333"/>
                </a:solidFill>
                <a:latin typeface="Inter-Regular"/>
              </a:rPr>
              <a:t>A → </a:t>
            </a:r>
            <a:r>
              <a:rPr altLang="en-IN" dirty="0" err="1" lang="en-IN">
                <a:solidFill>
                  <a:srgbClr val="333333"/>
                </a:solidFill>
                <a:latin typeface="Inter-Regular"/>
              </a:rPr>
              <a:t>aA</a:t>
            </a:r>
            <a:r>
              <a:rPr altLang="en-IN" dirty="0" lang="en-IN">
                <a:solidFill>
                  <a:srgbClr val="333333"/>
                </a:solidFill>
                <a:latin typeface="Inter-Regular"/>
              </a:rPr>
              <a:t>  </a:t>
            </a:r>
          </a:p>
          <a:p>
            <a:pPr algn="just" indent="0" marL="0">
              <a:buNone/>
            </a:pPr>
            <a:r>
              <a:rPr altLang="en-IN" dirty="0" lang="en-IN">
                <a:solidFill>
                  <a:srgbClr val="333333"/>
                </a:solidFill>
                <a:latin typeface="Inter-Regular"/>
              </a:rPr>
              <a:t>B → ab | b  </a:t>
            </a:r>
          </a:p>
          <a:p>
            <a:pPr algn="just" indent="0" marL="0">
              <a:buNone/>
            </a:pPr>
            <a:r>
              <a:rPr altLang="en-IN" dirty="0" lang="en-IN">
                <a:solidFill>
                  <a:srgbClr val="333333"/>
                </a:solidFill>
                <a:latin typeface="Inter-Regular"/>
              </a:rPr>
              <a:t>C → ad  </a:t>
            </a:r>
          </a:p>
          <a:p>
            <a:pPr algn="just" indent="0" marL="0">
              <a:buNone/>
            </a:pPr>
            <a:r>
              <a:rPr dirty="0" lang="en-US">
                <a:solidFill>
                  <a:srgbClr val="333333"/>
                </a:solidFill>
                <a:latin typeface="Inter-Regular"/>
              </a:rPr>
              <a:t>Solution:</a:t>
            </a:r>
          </a:p>
          <a:p>
            <a:pPr algn="just" indent="0" marL="0">
              <a:buNone/>
            </a:pPr>
            <a:r>
              <a:rPr dirty="0" lang="en-US">
                <a:solidFill>
                  <a:srgbClr val="333333"/>
                </a:solidFill>
                <a:latin typeface="Inter-Regular"/>
              </a:rPr>
              <a:t>Production C → ad is useless, so we will eliminate it.  (</a:t>
            </a:r>
            <a:r>
              <a:rPr dirty="0" lang="en-US"/>
              <a:t>unreachable symbols)</a:t>
            </a:r>
            <a:endParaRPr dirty="0" lang="en-US">
              <a:solidFill>
                <a:srgbClr val="333333"/>
              </a:solidFill>
              <a:latin typeface="Inter-Regular"/>
            </a:endParaRPr>
          </a:p>
          <a:p>
            <a:pPr algn="just" indent="0" marL="0">
              <a:buNone/>
            </a:pPr>
            <a:r>
              <a:rPr dirty="0" lang="en-US">
                <a:solidFill>
                  <a:srgbClr val="333333"/>
                </a:solidFill>
                <a:latin typeface="Inter-Regular"/>
              </a:rPr>
              <a:t>Production A → </a:t>
            </a:r>
            <a:r>
              <a:rPr dirty="0" err="1" lang="en-US">
                <a:solidFill>
                  <a:srgbClr val="333333"/>
                </a:solidFill>
                <a:latin typeface="Inter-Regular"/>
              </a:rPr>
              <a:t>aA</a:t>
            </a:r>
            <a:r>
              <a:rPr dirty="0" lang="en-US">
                <a:solidFill>
                  <a:srgbClr val="333333"/>
                </a:solidFill>
                <a:latin typeface="Inter-Regular"/>
              </a:rPr>
              <a:t> is also useless because there is no way to terminate it .</a:t>
            </a:r>
            <a:r>
              <a:rPr dirty="0" lang="en-US"/>
              <a:t>(non-generating symbols).</a:t>
            </a:r>
          </a:p>
          <a:p>
            <a:pPr algn="just" indent="0" marL="0">
              <a:buNone/>
            </a:pPr>
            <a:endParaRPr dirty="0" lang="en-US">
              <a:solidFill>
                <a:srgbClr val="333333"/>
              </a:solidFill>
              <a:latin typeface="Inter-Regular"/>
            </a:endParaRPr>
          </a:p>
          <a:p>
            <a:pPr algn="just" indent="0" marL="0">
              <a:buNone/>
            </a:pPr>
            <a:r>
              <a:rPr dirty="0" lang="en-US">
                <a:solidFill>
                  <a:srgbClr val="333333"/>
                </a:solidFill>
                <a:latin typeface="Inter-Regular"/>
              </a:rPr>
              <a:t>Therefore, final CFG is </a:t>
            </a:r>
          </a:p>
          <a:p>
            <a:pPr algn="just" indent="0" marL="0">
              <a:buNone/>
            </a:pPr>
            <a:r>
              <a:rPr altLang="en-IN" dirty="0" lang="en-IN">
                <a:solidFill>
                  <a:srgbClr val="333333"/>
                </a:solidFill>
                <a:latin typeface="Inter-Regular"/>
              </a:rPr>
              <a:t>T → </a:t>
            </a:r>
            <a:r>
              <a:rPr altLang="en-IN" dirty="0" err="1" lang="en-IN">
                <a:solidFill>
                  <a:srgbClr val="333333"/>
                </a:solidFill>
                <a:latin typeface="Inter-Regular"/>
              </a:rPr>
              <a:t>aaB</a:t>
            </a:r>
            <a:r>
              <a:rPr altLang="en-IN" dirty="0" lang="en-IN">
                <a:solidFill>
                  <a:srgbClr val="333333"/>
                </a:solidFill>
                <a:latin typeface="Inter-Regular"/>
              </a:rPr>
              <a:t> | </a:t>
            </a:r>
            <a:r>
              <a:rPr altLang="en-IN" dirty="0" err="1" lang="en-IN">
                <a:solidFill>
                  <a:srgbClr val="333333"/>
                </a:solidFill>
                <a:latin typeface="Inter-Regular"/>
              </a:rPr>
              <a:t>aaT</a:t>
            </a:r>
            <a:r>
              <a:rPr altLang="en-IN" dirty="0" lang="en-IN">
                <a:solidFill>
                  <a:srgbClr val="333333"/>
                </a:solidFill>
                <a:latin typeface="Inter-Regular"/>
              </a:rPr>
              <a:t>  </a:t>
            </a:r>
          </a:p>
          <a:p>
            <a:pPr algn="just" indent="0" marL="0">
              <a:buNone/>
            </a:pPr>
            <a:r>
              <a:rPr altLang="en-IN" dirty="0" lang="en-IN">
                <a:solidFill>
                  <a:srgbClr val="333333"/>
                </a:solidFill>
                <a:latin typeface="Inter-Regular"/>
              </a:rPr>
              <a:t>B → ab | b  </a:t>
            </a:r>
          </a:p>
          <a:p>
            <a:pPr algn="just" indent="0" marL="0">
              <a:buNone/>
            </a:pPr>
            <a:endParaRPr dirty="0" lang="en-US">
              <a:solidFill>
                <a:srgbClr val="333333"/>
              </a:solidFill>
              <a:latin typeface="Inter-Regular"/>
            </a:endParaRPr>
          </a:p>
          <a:p>
            <a:pPr algn="just" indent="0" marL="0">
              <a:buNone/>
            </a:pPr>
            <a:endParaRPr dirty="0" lang="en-US">
              <a:solidFill>
                <a:srgbClr val="333333"/>
              </a:solidFill>
              <a:latin typeface="Inter-Regular"/>
            </a:endParaRPr>
          </a:p>
          <a:p>
            <a:pPr algn="just">
              <a:buFont charset="0" panose="020B0604020202020204" pitchFamily="34" typeface="Arial"/>
              <a:buChar char="•"/>
            </a:pPr>
            <a:endParaRPr altLang="en-IN" dirty="0" lang="en-IN"/>
          </a:p>
        </p:txBody>
      </p:sp>
    </p:spTree>
    <p:extLst>
      <p:ext uri="{BB962C8B-B14F-4D97-AF65-F5344CB8AC3E}">
        <p14:creationId xmlns:p14="http://schemas.microsoft.com/office/powerpoint/2010/main" val="17479089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2">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2">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2">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2">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2">
                                            <p:txEl>
                                              <p:pRg end="5" st="5"/>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2">
                                            <p:txEl>
                                              <p:pRg end="6" st="6"/>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2">
                                            <p:txEl>
                                              <p:pRg end="7" st="7"/>
                                            </p:txEl>
                                          </p:spTgt>
                                        </p:tgtEl>
                                        <p:attrNameLst>
                                          <p:attrName>style.visibility</p:attrName>
                                        </p:attrNameLst>
                                      </p:cBhvr>
                                      <p:to>
                                        <p:strVal val="visible"/>
                                      </p:to>
                                    </p:set>
                                  </p:childTnLst>
                                </p:cTn>
                              </p:par>
                            </p:childTnLst>
                          </p:cTn>
                        </p:par>
                      </p:childTnLst>
                    </p:cTn>
                  </p:par>
                  <p:par>
                    <p:cTn fill="hold" id="25">
                      <p:stCondLst>
                        <p:cond delay="indefinite"/>
                      </p:stCondLst>
                      <p:childTnLst>
                        <p:par>
                          <p:cTn fill="hold" id="26">
                            <p:stCondLst>
                              <p:cond delay="0"/>
                            </p:stCondLst>
                            <p:childTnLst>
                              <p:par>
                                <p:cTn fill="hold" id="27" nodeType="clickEffect" presetClass="entr" presetID="1" presetSubtype="0">
                                  <p:stCondLst>
                                    <p:cond delay="0"/>
                                  </p:stCondLst>
                                  <p:childTnLst>
                                    <p:set>
                                      <p:cBhvr>
                                        <p:cTn dur="1" fill="hold" id="28">
                                          <p:stCondLst>
                                            <p:cond delay="0"/>
                                          </p:stCondLst>
                                        </p:cTn>
                                        <p:tgtEl>
                                          <p:spTgt spid="2">
                                            <p:txEl>
                                              <p:pRg end="9" st="9"/>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2">
                                            <p:txEl>
                                              <p:pRg end="10" st="10"/>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2">
                                            <p:txEl>
                                              <p:pRg end="11" st="1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C04759-D6C6-0D0F-4C6F-B7ABFBA7B4D5}"/>
              </a:ext>
            </a:extLst>
          </p:cNvPr>
          <p:cNvPicPr>
            <a:picLocks noChangeAspect="1"/>
          </p:cNvPicPr>
          <p:nvPr/>
        </p:nvPicPr>
        <p:blipFill>
          <a:blip r:embed="rId2"/>
          <a:stretch>
            <a:fillRect/>
          </a:stretch>
        </p:blipFill>
        <p:spPr>
          <a:xfrm>
            <a:off x="493850" y="75380"/>
            <a:ext cx="8135800" cy="1247686"/>
          </a:xfrm>
          <a:prstGeom prst="rect">
            <a:avLst/>
          </a:prstGeom>
        </p:spPr>
      </p:pic>
      <p:sp>
        <p:nvSpPr>
          <p:cNvPr id="4" name="TextBox 3">
            <a:extLst>
              <a:ext uri="{FF2B5EF4-FFF2-40B4-BE49-F238E27FC236}">
                <a16:creationId xmlns:a16="http://schemas.microsoft.com/office/drawing/2014/main" id="{1E564C51-5F8D-0BC7-1694-F10FC0E89977}"/>
              </a:ext>
            </a:extLst>
          </p:cNvPr>
          <p:cNvSpPr txBox="1"/>
          <p:nvPr/>
        </p:nvSpPr>
        <p:spPr>
          <a:xfrm>
            <a:off x="493850" y="1246487"/>
            <a:ext cx="9697719" cy="369332"/>
          </a:xfrm>
          <a:prstGeom prst="rect">
            <a:avLst/>
          </a:prstGeom>
          <a:noFill/>
        </p:spPr>
        <p:txBody>
          <a:bodyPr numCol="1" rtlCol="0" wrap="none">
            <a:spAutoFit/>
          </a:bodyPr>
          <a:lstStyle/>
          <a:p>
            <a:r>
              <a:rPr dirty="0" lang="en-US"/>
              <a:t>Solution: B is non-generating symbols, we must eliminate the production S </a:t>
            </a:r>
            <a:r>
              <a:rPr altLang="en-IN" dirty="0" lang="en-IN">
                <a:solidFill>
                  <a:srgbClr val="333333"/>
                </a:solidFill>
                <a:latin typeface="Inter-Regular"/>
              </a:rPr>
              <a:t>→ AB, leaving the grammar</a:t>
            </a:r>
            <a:endParaRPr altLang="en-IN" dirty="0" lang="en-IN"/>
          </a:p>
        </p:txBody>
      </p:sp>
      <p:pic>
        <p:nvPicPr>
          <p:cNvPr id="6" name="Picture 5">
            <a:extLst>
              <a:ext uri="{FF2B5EF4-FFF2-40B4-BE49-F238E27FC236}">
                <a16:creationId xmlns:a16="http://schemas.microsoft.com/office/drawing/2014/main" id="{16595737-6FAA-ACAE-9469-E6DB14DA39C4}"/>
              </a:ext>
            </a:extLst>
          </p:cNvPr>
          <p:cNvPicPr>
            <a:picLocks noChangeAspect="1"/>
          </p:cNvPicPr>
          <p:nvPr/>
        </p:nvPicPr>
        <p:blipFill>
          <a:blip r:embed="rId3"/>
          <a:srcRect t="19824"/>
          <a:stretch/>
        </p:blipFill>
        <p:spPr>
          <a:xfrm>
            <a:off x="3772548" y="1640653"/>
            <a:ext cx="1578403" cy="662181"/>
          </a:xfrm>
          <a:prstGeom prst="rect">
            <a:avLst/>
          </a:prstGeom>
        </p:spPr>
      </p:pic>
      <p:pic>
        <p:nvPicPr>
          <p:cNvPr id="8" name="Picture 7">
            <a:extLst>
              <a:ext uri="{FF2B5EF4-FFF2-40B4-BE49-F238E27FC236}">
                <a16:creationId xmlns:a16="http://schemas.microsoft.com/office/drawing/2014/main" id="{68F95EB1-6218-8553-B1D3-3640FB247725}"/>
              </a:ext>
            </a:extLst>
          </p:cNvPr>
          <p:cNvPicPr>
            <a:picLocks noChangeAspect="1"/>
          </p:cNvPicPr>
          <p:nvPr/>
        </p:nvPicPr>
        <p:blipFill>
          <a:blip r:embed="rId4"/>
          <a:stretch>
            <a:fillRect/>
          </a:stretch>
        </p:blipFill>
        <p:spPr>
          <a:xfrm>
            <a:off x="501152" y="2310444"/>
            <a:ext cx="10261780" cy="1163612"/>
          </a:xfrm>
          <a:prstGeom prst="rect">
            <a:avLst/>
          </a:prstGeom>
        </p:spPr>
      </p:pic>
      <p:pic>
        <p:nvPicPr>
          <p:cNvPr id="10" name="Picture 9">
            <a:extLst>
              <a:ext uri="{FF2B5EF4-FFF2-40B4-BE49-F238E27FC236}">
                <a16:creationId xmlns:a16="http://schemas.microsoft.com/office/drawing/2014/main" id="{E84A9138-40F6-C9FF-171E-DBF1303AB491}"/>
              </a:ext>
            </a:extLst>
          </p:cNvPr>
          <p:cNvPicPr>
            <a:picLocks noChangeAspect="1"/>
          </p:cNvPicPr>
          <p:nvPr/>
        </p:nvPicPr>
        <p:blipFill>
          <a:blip r:embed="rId5"/>
          <a:stretch>
            <a:fillRect/>
          </a:stretch>
        </p:blipFill>
        <p:spPr>
          <a:xfrm>
            <a:off x="501152" y="3678118"/>
            <a:ext cx="9949995" cy="1545256"/>
          </a:xfrm>
          <a:prstGeom prst="rect">
            <a:avLst/>
          </a:prstGeom>
        </p:spPr>
      </p:pic>
      <p:pic>
        <p:nvPicPr>
          <p:cNvPr id="12" name="Picture 11">
            <a:extLst>
              <a:ext uri="{FF2B5EF4-FFF2-40B4-BE49-F238E27FC236}">
                <a16:creationId xmlns:a16="http://schemas.microsoft.com/office/drawing/2014/main" id="{3A57AC0C-91F8-AA6E-8A05-31BF5F17E777}"/>
              </a:ext>
            </a:extLst>
          </p:cNvPr>
          <p:cNvPicPr>
            <a:picLocks noChangeAspect="1"/>
          </p:cNvPicPr>
          <p:nvPr/>
        </p:nvPicPr>
        <p:blipFill>
          <a:blip r:embed="rId6"/>
          <a:stretch>
            <a:fillRect/>
          </a:stretch>
        </p:blipFill>
        <p:spPr>
          <a:xfrm>
            <a:off x="501152" y="5427436"/>
            <a:ext cx="10403068" cy="1020644"/>
          </a:xfrm>
          <a:prstGeom prst="rect">
            <a:avLst/>
          </a:prstGeom>
        </p:spPr>
      </p:pic>
    </p:spTree>
    <p:extLst>
      <p:ext uri="{BB962C8B-B14F-4D97-AF65-F5344CB8AC3E}">
        <p14:creationId xmlns:p14="http://schemas.microsoft.com/office/powerpoint/2010/main" val="356012963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4"/>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6"/>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8"/>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10"/>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1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A1867-5C32-F510-E42D-D98A5136A127}"/>
              </a:ext>
            </a:extLst>
          </p:cNvPr>
          <p:cNvSpPr>
            <a:spLocks noGrp="1"/>
          </p:cNvSpPr>
          <p:nvPr>
            <p:ph type="title"/>
          </p:nvPr>
        </p:nvSpPr>
        <p:spPr/>
        <p:txBody>
          <a:bodyPr numCol="1"/>
          <a:lstStyle/>
          <a:p>
            <a:r>
              <a:rPr altLang="en-IN" dirty="0" lang="en-IN"/>
              <a:t>Order of Elimination</a:t>
            </a:r>
          </a:p>
        </p:txBody>
      </p:sp>
      <p:sp>
        <p:nvSpPr>
          <p:cNvPr id="3" name="Content Placeholder 2">
            <a:extLst>
              <a:ext uri="{FF2B5EF4-FFF2-40B4-BE49-F238E27FC236}">
                <a16:creationId xmlns:a16="http://schemas.microsoft.com/office/drawing/2014/main" id="{728E85B1-4630-688B-720C-D3FF855DEEF8}"/>
              </a:ext>
            </a:extLst>
          </p:cNvPr>
          <p:cNvSpPr>
            <a:spLocks noGrp="1"/>
          </p:cNvSpPr>
          <p:nvPr>
            <p:ph idx="1"/>
          </p:nvPr>
        </p:nvSpPr>
        <p:spPr/>
        <p:txBody>
          <a:bodyPr numCol="1">
            <a:normAutofit/>
          </a:bodyPr>
          <a:lstStyle/>
          <a:p>
            <a:pPr>
              <a:buFont charset="0" panose="020B0604020202020204" pitchFamily="34" typeface="Arial"/>
              <a:buChar char="•"/>
            </a:pPr>
            <a:r>
              <a:rPr dirty="0" lang="en-US" sz="2800"/>
              <a:t>We must follow the following order of eliminations. </a:t>
            </a:r>
          </a:p>
          <a:p>
            <a:pPr>
              <a:buFont charset="0" panose="020B0604020202020204" pitchFamily="34" typeface="Arial"/>
              <a:buChar char="•"/>
            </a:pPr>
            <a:r>
              <a:rPr dirty="0" lang="en-US" sz="2800"/>
              <a:t>Eliminate null productions</a:t>
            </a:r>
          </a:p>
          <a:p>
            <a:pPr>
              <a:buFont charset="0" panose="020B0604020202020204" pitchFamily="34" typeface="Arial"/>
              <a:buChar char="•"/>
            </a:pPr>
            <a:r>
              <a:rPr dirty="0" lang="en-US" sz="2800"/>
              <a:t>Eliminate unit productions</a:t>
            </a:r>
          </a:p>
          <a:p>
            <a:pPr>
              <a:buFont charset="0" panose="020B0604020202020204" pitchFamily="34" typeface="Arial"/>
              <a:buChar char="•"/>
            </a:pPr>
            <a:r>
              <a:rPr dirty="0" lang="en-US" sz="2800"/>
              <a:t>Eliminate useless symbols</a:t>
            </a:r>
            <a:endParaRPr altLang="en-IN" dirty="0" lang="en-IN" sz="2800"/>
          </a:p>
        </p:txBody>
      </p:sp>
    </p:spTree>
    <p:extLst>
      <p:ext uri="{BB962C8B-B14F-4D97-AF65-F5344CB8AC3E}">
        <p14:creationId xmlns:p14="http://schemas.microsoft.com/office/powerpoint/2010/main" val="6541281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29ACD6-82F0-BFA9-A656-32ED9E930B87}"/>
              </a:ext>
            </a:extLst>
          </p:cNvPr>
          <p:cNvSpPr txBox="1"/>
          <p:nvPr/>
        </p:nvSpPr>
        <p:spPr>
          <a:xfrm>
            <a:off x="342900" y="148590"/>
            <a:ext cx="2794355" cy="1754326"/>
          </a:xfrm>
          <a:prstGeom prst="rect">
            <a:avLst/>
          </a:prstGeom>
          <a:noFill/>
        </p:spPr>
        <p:txBody>
          <a:bodyPr numCol="1" rtlCol="0" wrap="none">
            <a:spAutoFit/>
          </a:bodyPr>
          <a:lstStyle/>
          <a:p>
            <a:r>
              <a:rPr dirty="0" lang="en-US">
                <a:latin charset="0" panose="02020603050405020304" pitchFamily="18" typeface="Times New Roman"/>
                <a:cs charset="0" panose="02020603050405020304" pitchFamily="18" typeface="Times New Roman"/>
              </a:rPr>
              <a:t>Simplify the following CFG</a:t>
            </a:r>
          </a:p>
          <a:p>
            <a:r>
              <a:rPr dirty="0" lang="en-US">
                <a:latin charset="0" panose="02020603050405020304" pitchFamily="18" typeface="Times New Roman"/>
                <a:cs charset="0" panose="02020603050405020304" pitchFamily="18" typeface="Times New Roman"/>
              </a:rPr>
              <a:t>S </a:t>
            </a:r>
            <a:r>
              <a:rPr dirty="0" lang="en-US">
                <a:solidFill>
                  <a:srgbClr val="333333"/>
                </a:solidFill>
                <a:latin charset="0" panose="02020603050405020304" pitchFamily="18" typeface="Times New Roman"/>
                <a:cs charset="0" panose="02020603050405020304" pitchFamily="18" typeface="Times New Roman"/>
              </a:rPr>
              <a:t>→ ABC | </a:t>
            </a:r>
            <a:r>
              <a:rPr dirty="0" err="1" lang="en-US">
                <a:solidFill>
                  <a:srgbClr val="333333"/>
                </a:solidFill>
                <a:latin charset="0" panose="02020603050405020304" pitchFamily="18" typeface="Times New Roman"/>
                <a:cs charset="0" panose="02020603050405020304" pitchFamily="18" typeface="Times New Roman"/>
              </a:rPr>
              <a:t>BaB</a:t>
            </a: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A → </a:t>
            </a:r>
            <a:r>
              <a:rPr dirty="0" err="1" lang="en-US">
                <a:solidFill>
                  <a:srgbClr val="333333"/>
                </a:solidFill>
                <a:latin charset="0" panose="02020603050405020304" pitchFamily="18" typeface="Times New Roman"/>
                <a:cs charset="0" panose="02020603050405020304" pitchFamily="18" typeface="Times New Roman"/>
              </a:rPr>
              <a:t>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BaC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aaa</a:t>
            </a: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B → </a:t>
            </a:r>
            <a:r>
              <a:rPr dirty="0" err="1" lang="en-US">
                <a:solidFill>
                  <a:srgbClr val="333333"/>
                </a:solidFill>
                <a:latin charset="0" panose="02020603050405020304" pitchFamily="18" typeface="Times New Roman"/>
                <a:cs charset="0" panose="02020603050405020304" pitchFamily="18" typeface="Times New Roman"/>
              </a:rPr>
              <a:t>bBb</a:t>
            </a:r>
            <a:r>
              <a:rPr dirty="0" lang="en-US">
                <a:solidFill>
                  <a:srgbClr val="333333"/>
                </a:solidFill>
                <a:latin charset="0" panose="02020603050405020304" pitchFamily="18" typeface="Times New Roman"/>
                <a:cs charset="0" panose="02020603050405020304" pitchFamily="18" typeface="Times New Roman"/>
              </a:rPr>
              <a:t> | a | D</a:t>
            </a:r>
            <a:br>
              <a:rPr dirty="0" lang="en-US">
                <a:solidFill>
                  <a:srgbClr val="333333"/>
                </a:solidFill>
                <a:latin charset="0" panose="02020603050405020304" pitchFamily="18" typeface="Times New Roman"/>
                <a:cs charset="0" panose="02020603050405020304" pitchFamily="18" typeface="Times New Roman"/>
              </a:rPr>
            </a:br>
            <a:r>
              <a:rPr dirty="0" lang="en-US">
                <a:solidFill>
                  <a:srgbClr val="333333"/>
                </a:solidFill>
                <a:latin charset="0" panose="02020603050405020304" pitchFamily="18" typeface="Times New Roman"/>
                <a:cs charset="0" panose="02020603050405020304" pitchFamily="18" typeface="Times New Roman"/>
              </a:rPr>
              <a:t>C → CA | AC</a:t>
            </a:r>
          </a:p>
          <a:p>
            <a:r>
              <a:rPr dirty="0" lang="en-US">
                <a:solidFill>
                  <a:srgbClr val="333333"/>
                </a:solidFill>
                <a:latin charset="0" panose="02020603050405020304" pitchFamily="18" typeface="Times New Roman"/>
                <a:cs charset="0" panose="02020603050405020304" pitchFamily="18" typeface="Times New Roman"/>
              </a:rPr>
              <a:t>D → ε</a:t>
            </a:r>
            <a:endParaRPr altLang="en-IN" dirty="0" lang="en-IN">
              <a:latin charset="0" panose="02020603050405020304" pitchFamily="18" typeface="Times New Roman"/>
              <a:cs charset="0" panose="02020603050405020304" pitchFamily="18" typeface="Times New Roman"/>
            </a:endParaRPr>
          </a:p>
        </p:txBody>
      </p:sp>
      <p:sp>
        <p:nvSpPr>
          <p:cNvPr id="4" name="TextBox 3">
            <a:extLst>
              <a:ext uri="{FF2B5EF4-FFF2-40B4-BE49-F238E27FC236}">
                <a16:creationId xmlns:a16="http://schemas.microsoft.com/office/drawing/2014/main" id="{E1651410-3566-3BD8-D608-04B6811EA2C3}"/>
              </a:ext>
            </a:extLst>
          </p:cNvPr>
          <p:cNvSpPr txBox="1"/>
          <p:nvPr/>
        </p:nvSpPr>
        <p:spPr>
          <a:xfrm>
            <a:off x="342900" y="2023110"/>
            <a:ext cx="5753100" cy="4524315"/>
          </a:xfrm>
          <a:prstGeom prst="rect">
            <a:avLst/>
          </a:prstGeom>
          <a:noFill/>
        </p:spPr>
        <p:txBody>
          <a:bodyPr numCol="1" rtlCol="0" wrap="square">
            <a:spAutoFit/>
          </a:bodyPr>
          <a:lstStyle/>
          <a:p>
            <a:r>
              <a:rPr b="1" dirty="0" lang="en-US">
                <a:latin charset="0" panose="02020603050405020304" pitchFamily="18" typeface="Times New Roman"/>
                <a:cs charset="0" panose="02020603050405020304" pitchFamily="18" typeface="Times New Roman"/>
              </a:rPr>
              <a:t>Step 1 :  Removal of </a:t>
            </a:r>
            <a:r>
              <a:rPr b="1" dirty="0" lang="en-US">
                <a:solidFill>
                  <a:srgbClr val="333333"/>
                </a:solidFill>
                <a:latin charset="0" panose="02020603050405020304" pitchFamily="18" typeface="Times New Roman"/>
                <a:cs charset="0" panose="02020603050405020304" pitchFamily="18" typeface="Times New Roman"/>
              </a:rPr>
              <a:t>ε Productions</a:t>
            </a:r>
          </a:p>
          <a:p>
            <a:r>
              <a:rPr dirty="0" lang="en-US">
                <a:solidFill>
                  <a:srgbClr val="333333"/>
                </a:solidFill>
                <a:latin charset="0" panose="02020603050405020304" pitchFamily="18" typeface="Times New Roman"/>
                <a:cs charset="0" panose="02020603050405020304" pitchFamily="18" typeface="Times New Roman"/>
              </a:rPr>
              <a:t>The given grammar contains two nullable productions.  Variables D (directly nullable) and B (indirectly nullable) </a:t>
            </a:r>
          </a:p>
          <a:p>
            <a:endParaRPr dirty="0" lang="en-US">
              <a:solidFill>
                <a:srgbClr val="333333"/>
              </a:solidFill>
              <a:latin charset="0" panose="02020603050405020304" pitchFamily="18" typeface="Times New Roman"/>
              <a:cs charset="0" panose="02020603050405020304" pitchFamily="18" typeface="Times New Roman"/>
            </a:endParaRPr>
          </a:p>
          <a:p>
            <a:r>
              <a:rPr b="1" dirty="0" lang="en-US">
                <a:solidFill>
                  <a:srgbClr val="333333"/>
                </a:solidFill>
                <a:latin charset="0" panose="02020603050405020304" pitchFamily="18" typeface="Times New Roman"/>
                <a:cs charset="0" panose="02020603050405020304" pitchFamily="18" typeface="Times New Roman"/>
              </a:rPr>
              <a:t>i. Remove D → ε</a:t>
            </a:r>
            <a:endParaRPr altLang="en-IN" b="1" dirty="0" lang="en-IN">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S </a:t>
            </a:r>
            <a:r>
              <a:rPr dirty="0" lang="en-US">
                <a:solidFill>
                  <a:srgbClr val="333333"/>
                </a:solidFill>
                <a:latin charset="0" panose="02020603050405020304" pitchFamily="18" typeface="Times New Roman"/>
                <a:cs charset="0" panose="02020603050405020304" pitchFamily="18" typeface="Times New Roman"/>
              </a:rPr>
              <a:t>→ ABC | </a:t>
            </a:r>
            <a:r>
              <a:rPr dirty="0" err="1" lang="en-US">
                <a:solidFill>
                  <a:srgbClr val="333333"/>
                </a:solidFill>
                <a:latin charset="0" panose="02020603050405020304" pitchFamily="18" typeface="Times New Roman"/>
                <a:cs charset="0" panose="02020603050405020304" pitchFamily="18" typeface="Times New Roman"/>
              </a:rPr>
              <a:t>BaB</a:t>
            </a: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A → </a:t>
            </a:r>
            <a:r>
              <a:rPr dirty="0" err="1" lang="en-US">
                <a:solidFill>
                  <a:srgbClr val="333333"/>
                </a:solidFill>
                <a:latin charset="0" panose="02020603050405020304" pitchFamily="18" typeface="Times New Roman"/>
                <a:cs charset="0" panose="02020603050405020304" pitchFamily="18" typeface="Times New Roman"/>
              </a:rPr>
              <a:t>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BaC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aaa</a:t>
            </a: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B → </a:t>
            </a:r>
            <a:r>
              <a:rPr dirty="0" err="1" lang="en-US">
                <a:solidFill>
                  <a:srgbClr val="333333"/>
                </a:solidFill>
                <a:latin charset="0" panose="02020603050405020304" pitchFamily="18" typeface="Times New Roman"/>
                <a:cs charset="0" panose="02020603050405020304" pitchFamily="18" typeface="Times New Roman"/>
              </a:rPr>
              <a:t>bBb</a:t>
            </a:r>
            <a:r>
              <a:rPr dirty="0" lang="en-US">
                <a:solidFill>
                  <a:srgbClr val="333333"/>
                </a:solidFill>
                <a:latin charset="0" panose="02020603050405020304" pitchFamily="18" typeface="Times New Roman"/>
                <a:cs charset="0" panose="02020603050405020304" pitchFamily="18" typeface="Times New Roman"/>
              </a:rPr>
              <a:t> | a | D | ε</a:t>
            </a:r>
            <a:br>
              <a:rPr dirty="0" lang="en-US">
                <a:solidFill>
                  <a:srgbClr val="333333"/>
                </a:solidFill>
                <a:latin charset="0" panose="02020603050405020304" pitchFamily="18" typeface="Times New Roman"/>
                <a:cs charset="0" panose="02020603050405020304" pitchFamily="18" typeface="Times New Roman"/>
              </a:rPr>
            </a:br>
            <a:r>
              <a:rPr dirty="0" lang="en-US">
                <a:solidFill>
                  <a:srgbClr val="333333"/>
                </a:solidFill>
                <a:latin charset="0" panose="02020603050405020304" pitchFamily="18" typeface="Times New Roman"/>
                <a:cs charset="0" panose="02020603050405020304" pitchFamily="18" typeface="Times New Roman"/>
              </a:rPr>
              <a:t>C → CA | AC</a:t>
            </a:r>
          </a:p>
          <a:p>
            <a:endParaRPr altLang="en-IN" dirty="0" lang="en-IN">
              <a:latin charset="0" panose="02020603050405020304" pitchFamily="18" typeface="Times New Roman"/>
              <a:cs charset="0" panose="02020603050405020304" pitchFamily="18" typeface="Times New Roman"/>
            </a:endParaRPr>
          </a:p>
          <a:p>
            <a:r>
              <a:rPr b="1" dirty="0" lang="en-US">
                <a:solidFill>
                  <a:srgbClr val="333333"/>
                </a:solidFill>
                <a:latin charset="0" panose="02020603050405020304" pitchFamily="18" typeface="Times New Roman"/>
                <a:cs charset="0" panose="02020603050405020304" pitchFamily="18" typeface="Times New Roman"/>
              </a:rPr>
              <a:t>ii. Remove B → ε</a:t>
            </a:r>
            <a:endParaRPr altLang="en-IN" b="1" dirty="0" lang="en-IN">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S </a:t>
            </a:r>
            <a:r>
              <a:rPr dirty="0" lang="en-US">
                <a:solidFill>
                  <a:srgbClr val="333333"/>
                </a:solidFill>
                <a:latin charset="0" panose="02020603050405020304" pitchFamily="18" typeface="Times New Roman"/>
                <a:cs charset="0" panose="02020603050405020304" pitchFamily="18" typeface="Times New Roman"/>
              </a:rPr>
              <a:t>→ ABC | </a:t>
            </a:r>
            <a:r>
              <a:rPr dirty="0" err="1" lang="en-US">
                <a:solidFill>
                  <a:srgbClr val="333333"/>
                </a:solidFill>
                <a:latin charset="0" panose="02020603050405020304" pitchFamily="18" typeface="Times New Roman"/>
                <a:cs charset="0" panose="02020603050405020304" pitchFamily="18" typeface="Times New Roman"/>
              </a:rPr>
              <a:t>BaB</a:t>
            </a:r>
            <a:r>
              <a:rPr dirty="0" lang="en-US">
                <a:solidFill>
                  <a:srgbClr val="333333"/>
                </a:solidFill>
                <a:latin charset="0" panose="02020603050405020304" pitchFamily="18" typeface="Times New Roman"/>
                <a:cs charset="0" panose="02020603050405020304" pitchFamily="18" typeface="Times New Roman"/>
              </a:rPr>
              <a:t> | AC | Ba | </a:t>
            </a:r>
            <a:r>
              <a:rPr dirty="0" err="1" lang="en-US">
                <a:solidFill>
                  <a:srgbClr val="333333"/>
                </a:solidFill>
                <a:latin charset="0" panose="02020603050405020304" pitchFamily="18" typeface="Times New Roman"/>
                <a:cs charset="0" panose="02020603050405020304" pitchFamily="18" typeface="Times New Roman"/>
              </a:rPr>
              <a:t>aB</a:t>
            </a:r>
            <a:r>
              <a:rPr dirty="0" lang="en-US">
                <a:solidFill>
                  <a:srgbClr val="333333"/>
                </a:solidFill>
                <a:latin charset="0" panose="02020603050405020304" pitchFamily="18" typeface="Times New Roman"/>
                <a:cs charset="0" panose="02020603050405020304" pitchFamily="18" typeface="Times New Roman"/>
              </a:rPr>
              <a:t> | a</a:t>
            </a:r>
          </a:p>
          <a:p>
            <a:r>
              <a:rPr dirty="0" lang="en-US">
                <a:solidFill>
                  <a:srgbClr val="333333"/>
                </a:solidFill>
                <a:latin charset="0" panose="02020603050405020304" pitchFamily="18" typeface="Times New Roman"/>
                <a:cs charset="0" panose="02020603050405020304" pitchFamily="18" typeface="Times New Roman"/>
              </a:rPr>
              <a:t>A → </a:t>
            </a:r>
            <a:r>
              <a:rPr dirty="0" err="1" lang="en-US">
                <a:solidFill>
                  <a:srgbClr val="333333"/>
                </a:solidFill>
                <a:latin charset="0" panose="02020603050405020304" pitchFamily="18" typeface="Times New Roman"/>
                <a:cs charset="0" panose="02020603050405020304" pitchFamily="18" typeface="Times New Roman"/>
              </a:rPr>
              <a:t>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BaC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aC</a:t>
            </a: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B → </a:t>
            </a:r>
            <a:r>
              <a:rPr dirty="0" err="1" lang="en-US">
                <a:solidFill>
                  <a:srgbClr val="333333"/>
                </a:solidFill>
                <a:latin charset="0" panose="02020603050405020304" pitchFamily="18" typeface="Times New Roman"/>
                <a:cs charset="0" panose="02020603050405020304" pitchFamily="18" typeface="Times New Roman"/>
              </a:rPr>
              <a:t>bBb</a:t>
            </a:r>
            <a:r>
              <a:rPr dirty="0" lang="en-US">
                <a:solidFill>
                  <a:srgbClr val="333333"/>
                </a:solidFill>
                <a:latin charset="0" panose="02020603050405020304" pitchFamily="18" typeface="Times New Roman"/>
                <a:cs charset="0" panose="02020603050405020304" pitchFamily="18" typeface="Times New Roman"/>
              </a:rPr>
              <a:t> | a | D | bb</a:t>
            </a:r>
            <a:br>
              <a:rPr dirty="0" lang="en-US">
                <a:solidFill>
                  <a:srgbClr val="333333"/>
                </a:solidFill>
                <a:latin charset="0" panose="02020603050405020304" pitchFamily="18" typeface="Times New Roman"/>
                <a:cs charset="0" panose="02020603050405020304" pitchFamily="18" typeface="Times New Roman"/>
              </a:rPr>
            </a:br>
            <a:r>
              <a:rPr dirty="0" lang="en-US">
                <a:solidFill>
                  <a:srgbClr val="333333"/>
                </a:solidFill>
                <a:latin charset="0" panose="02020603050405020304" pitchFamily="18" typeface="Times New Roman"/>
                <a:cs charset="0" panose="02020603050405020304" pitchFamily="18" typeface="Times New Roman"/>
              </a:rPr>
              <a:t>C → CA | AC</a:t>
            </a:r>
          </a:p>
          <a:p>
            <a:endParaRPr altLang="en-IN" dirty="0" lang="en-IN">
              <a:latin charset="0" panose="02020603050405020304" pitchFamily="18" typeface="Times New Roman"/>
              <a:cs charset="0" panose="02020603050405020304" pitchFamily="18" typeface="Times New Roman"/>
            </a:endParaRPr>
          </a:p>
        </p:txBody>
      </p:sp>
      <p:cxnSp>
        <p:nvCxnSpPr>
          <p:cNvPr id="6" name="Straight Connector 5">
            <a:extLst>
              <a:ext uri="{FF2B5EF4-FFF2-40B4-BE49-F238E27FC236}">
                <a16:creationId xmlns:a16="http://schemas.microsoft.com/office/drawing/2014/main" id="{83DE4FF0-8A1C-BDD5-B345-9C156691EACF}"/>
              </a:ext>
            </a:extLst>
          </p:cNvPr>
          <p:cNvCxnSpPr/>
          <p:nvPr/>
        </p:nvCxnSpPr>
        <p:spPr>
          <a:xfrm>
            <a:off x="5875020" y="1937206"/>
            <a:ext cx="0" cy="436072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98DFEC2-0A21-BBFE-411F-567D149999FF}"/>
              </a:ext>
            </a:extLst>
          </p:cNvPr>
          <p:cNvSpPr txBox="1"/>
          <p:nvPr/>
        </p:nvSpPr>
        <p:spPr>
          <a:xfrm>
            <a:off x="6178197" y="1902916"/>
            <a:ext cx="5753100" cy="3139321"/>
          </a:xfrm>
          <a:prstGeom prst="rect">
            <a:avLst/>
          </a:prstGeom>
          <a:noFill/>
        </p:spPr>
        <p:txBody>
          <a:bodyPr numCol="1" rtlCol="0" wrap="square">
            <a:spAutoFit/>
          </a:bodyPr>
          <a:lstStyle/>
          <a:p>
            <a:r>
              <a:rPr b="1" dirty="0" lang="en-US">
                <a:latin charset="0" panose="02020603050405020304" pitchFamily="18" typeface="Times New Roman"/>
                <a:cs charset="0" panose="02020603050405020304" pitchFamily="18" typeface="Times New Roman"/>
              </a:rPr>
              <a:t>Step 2 :  Removal of </a:t>
            </a:r>
            <a:r>
              <a:rPr b="1" dirty="0" lang="en-US">
                <a:solidFill>
                  <a:srgbClr val="333333"/>
                </a:solidFill>
                <a:latin charset="0" panose="02020603050405020304" pitchFamily="18" typeface="Times New Roman"/>
                <a:cs charset="0" panose="02020603050405020304" pitchFamily="18" typeface="Times New Roman"/>
              </a:rPr>
              <a:t>Unit Productions</a:t>
            </a:r>
          </a:p>
          <a:p>
            <a:r>
              <a:rPr dirty="0" lang="en-US">
                <a:solidFill>
                  <a:srgbClr val="333333"/>
                </a:solidFill>
                <a:latin charset="0" panose="02020603050405020304" pitchFamily="18" typeface="Times New Roman"/>
                <a:cs charset="0" panose="02020603050405020304" pitchFamily="18" typeface="Times New Roman"/>
              </a:rPr>
              <a:t>The given grammar contains a single unit production ( B → D).  </a:t>
            </a:r>
          </a:p>
          <a:p>
            <a:r>
              <a:rPr b="1" dirty="0" lang="en-US">
                <a:solidFill>
                  <a:srgbClr val="333333"/>
                </a:solidFill>
                <a:latin charset="0" panose="02020603050405020304" pitchFamily="18" typeface="Times New Roman"/>
                <a:cs charset="0" panose="02020603050405020304" pitchFamily="18" typeface="Times New Roman"/>
              </a:rPr>
              <a:t>Remove B → D</a:t>
            </a:r>
            <a:endParaRPr altLang="en-IN" b="1" dirty="0" lang="en-IN">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S </a:t>
            </a:r>
            <a:r>
              <a:rPr dirty="0" lang="en-US">
                <a:solidFill>
                  <a:srgbClr val="333333"/>
                </a:solidFill>
                <a:latin charset="0" panose="02020603050405020304" pitchFamily="18" typeface="Times New Roman"/>
                <a:cs charset="0" panose="02020603050405020304" pitchFamily="18" typeface="Times New Roman"/>
              </a:rPr>
              <a:t>→ ABC | </a:t>
            </a:r>
            <a:r>
              <a:rPr dirty="0" err="1" lang="en-US">
                <a:solidFill>
                  <a:srgbClr val="333333"/>
                </a:solidFill>
                <a:latin charset="0" panose="02020603050405020304" pitchFamily="18" typeface="Times New Roman"/>
                <a:cs charset="0" panose="02020603050405020304" pitchFamily="18" typeface="Times New Roman"/>
              </a:rPr>
              <a:t>BaB</a:t>
            </a:r>
            <a:r>
              <a:rPr dirty="0" lang="en-US">
                <a:solidFill>
                  <a:srgbClr val="333333"/>
                </a:solidFill>
                <a:latin charset="0" panose="02020603050405020304" pitchFamily="18" typeface="Times New Roman"/>
                <a:cs charset="0" panose="02020603050405020304" pitchFamily="18" typeface="Times New Roman"/>
              </a:rPr>
              <a:t> | AC | Ba | </a:t>
            </a:r>
            <a:r>
              <a:rPr dirty="0" err="1" lang="en-US">
                <a:solidFill>
                  <a:srgbClr val="333333"/>
                </a:solidFill>
                <a:latin charset="0" panose="02020603050405020304" pitchFamily="18" typeface="Times New Roman"/>
                <a:cs charset="0" panose="02020603050405020304" pitchFamily="18" typeface="Times New Roman"/>
              </a:rPr>
              <a:t>aB</a:t>
            </a:r>
            <a:r>
              <a:rPr dirty="0" lang="en-US">
                <a:solidFill>
                  <a:srgbClr val="333333"/>
                </a:solidFill>
                <a:latin charset="0" panose="02020603050405020304" pitchFamily="18" typeface="Times New Roman"/>
                <a:cs charset="0" panose="02020603050405020304" pitchFamily="18" typeface="Times New Roman"/>
              </a:rPr>
              <a:t> | a</a:t>
            </a:r>
          </a:p>
          <a:p>
            <a:r>
              <a:rPr dirty="0" lang="en-US">
                <a:solidFill>
                  <a:srgbClr val="333333"/>
                </a:solidFill>
                <a:latin charset="0" panose="02020603050405020304" pitchFamily="18" typeface="Times New Roman"/>
                <a:cs charset="0" panose="02020603050405020304" pitchFamily="18" typeface="Times New Roman"/>
              </a:rPr>
              <a:t>A → </a:t>
            </a:r>
            <a:r>
              <a:rPr dirty="0" err="1" lang="en-US">
                <a:solidFill>
                  <a:srgbClr val="333333"/>
                </a:solidFill>
                <a:latin charset="0" panose="02020603050405020304" pitchFamily="18" typeface="Times New Roman"/>
                <a:cs charset="0" panose="02020603050405020304" pitchFamily="18" typeface="Times New Roman"/>
              </a:rPr>
              <a:t>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BaC</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aC</a:t>
            </a: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B → </a:t>
            </a:r>
            <a:r>
              <a:rPr dirty="0" err="1" lang="en-US">
                <a:solidFill>
                  <a:srgbClr val="333333"/>
                </a:solidFill>
                <a:latin charset="0" panose="02020603050405020304" pitchFamily="18" typeface="Times New Roman"/>
                <a:cs charset="0" panose="02020603050405020304" pitchFamily="18" typeface="Times New Roman"/>
              </a:rPr>
              <a:t>bBb</a:t>
            </a:r>
            <a:r>
              <a:rPr dirty="0" lang="en-US">
                <a:solidFill>
                  <a:srgbClr val="333333"/>
                </a:solidFill>
                <a:latin charset="0" panose="02020603050405020304" pitchFamily="18" typeface="Times New Roman"/>
                <a:cs charset="0" panose="02020603050405020304" pitchFamily="18" typeface="Times New Roman"/>
              </a:rPr>
              <a:t> | a | bb</a:t>
            </a:r>
            <a:br>
              <a:rPr dirty="0" lang="en-US">
                <a:solidFill>
                  <a:srgbClr val="333333"/>
                </a:solidFill>
                <a:latin charset="0" panose="02020603050405020304" pitchFamily="18" typeface="Times New Roman"/>
                <a:cs charset="0" panose="02020603050405020304" pitchFamily="18" typeface="Times New Roman"/>
              </a:rPr>
            </a:br>
            <a:r>
              <a:rPr dirty="0" lang="en-US">
                <a:solidFill>
                  <a:srgbClr val="333333"/>
                </a:solidFill>
                <a:latin charset="0" panose="02020603050405020304" pitchFamily="18" typeface="Times New Roman"/>
                <a:cs charset="0" panose="02020603050405020304" pitchFamily="18" typeface="Times New Roman"/>
              </a:rPr>
              <a:t>C → CA | AC</a:t>
            </a:r>
          </a:p>
          <a:p>
            <a:endParaRPr dirty="0" lang="en-US">
              <a:solidFill>
                <a:srgbClr val="333333"/>
              </a:solidFill>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Note: Here, D derives nothing so removing B -&gt; D is simply deleted.  </a:t>
            </a:r>
          </a:p>
        </p:txBody>
      </p:sp>
    </p:spTree>
    <p:extLst>
      <p:ext uri="{BB962C8B-B14F-4D97-AF65-F5344CB8AC3E}">
        <p14:creationId xmlns:p14="http://schemas.microsoft.com/office/powerpoint/2010/main" val="21521756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4"/>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7"/>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985F9-B789-FCC4-0A05-66FC7177AE39}"/>
              </a:ext>
            </a:extLst>
          </p:cNvPr>
          <p:cNvSpPr txBox="1"/>
          <p:nvPr/>
        </p:nvSpPr>
        <p:spPr>
          <a:xfrm>
            <a:off x="182880" y="285750"/>
            <a:ext cx="11269980" cy="3970318"/>
          </a:xfrm>
          <a:prstGeom prst="rect">
            <a:avLst/>
          </a:prstGeom>
          <a:noFill/>
        </p:spPr>
        <p:txBody>
          <a:bodyPr numCol="1" rtlCol="0" wrap="square">
            <a:spAutoFit/>
          </a:bodyPr>
          <a:lstStyle/>
          <a:p>
            <a:r>
              <a:rPr b="1" dirty="0" lang="en-US">
                <a:latin charset="0" panose="02020603050405020304" pitchFamily="18" typeface="Times New Roman"/>
                <a:cs charset="0" panose="02020603050405020304" pitchFamily="18" typeface="Times New Roman"/>
              </a:rPr>
              <a:t>Step 3 :  Removal of </a:t>
            </a:r>
            <a:r>
              <a:rPr b="1" dirty="0" lang="en-US">
                <a:solidFill>
                  <a:srgbClr val="333333"/>
                </a:solidFill>
                <a:latin charset="0" panose="02020603050405020304" pitchFamily="18" typeface="Times New Roman"/>
                <a:cs charset="0" panose="02020603050405020304" pitchFamily="18" typeface="Times New Roman"/>
              </a:rPr>
              <a:t>useless symbols</a:t>
            </a:r>
          </a:p>
          <a:p>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Symbol C is non-generating, so it will be removed. Now, the resultant grammar after removing non-generating symbol C is as follows: </a:t>
            </a:r>
          </a:p>
          <a:p>
            <a:endParaRPr dirty="0" lang="en-US">
              <a:solidFill>
                <a:srgbClr val="333333"/>
              </a:solidFill>
              <a:latin charset="0" panose="02020603050405020304" pitchFamily="18" typeface="Times New Roman"/>
              <a:cs charset="0" panose="02020603050405020304" pitchFamily="18" typeface="Times New Roman"/>
            </a:endParaRPr>
          </a:p>
          <a:p>
            <a:r>
              <a:rPr dirty="0" lang="en-US">
                <a:latin charset="0" panose="02020603050405020304" pitchFamily="18" typeface="Times New Roman"/>
                <a:cs charset="0" panose="02020603050405020304" pitchFamily="18" typeface="Times New Roman"/>
              </a:rPr>
              <a:t>S </a:t>
            </a:r>
            <a:r>
              <a:rPr dirty="0" lang="en-US">
                <a:solidFill>
                  <a:srgbClr val="333333"/>
                </a:solidFill>
                <a:latin charset="0" panose="02020603050405020304" pitchFamily="18" typeface="Times New Roman"/>
                <a:cs charset="0" panose="02020603050405020304" pitchFamily="18" typeface="Times New Roman"/>
              </a:rPr>
              <a:t>→ </a:t>
            </a:r>
            <a:r>
              <a:rPr dirty="0" err="1" lang="en-US">
                <a:solidFill>
                  <a:srgbClr val="333333"/>
                </a:solidFill>
                <a:latin charset="0" panose="02020603050405020304" pitchFamily="18" typeface="Times New Roman"/>
                <a:cs charset="0" panose="02020603050405020304" pitchFamily="18" typeface="Times New Roman"/>
              </a:rPr>
              <a:t>BaB</a:t>
            </a:r>
            <a:r>
              <a:rPr dirty="0" lang="en-US">
                <a:solidFill>
                  <a:srgbClr val="333333"/>
                </a:solidFill>
                <a:latin charset="0" panose="02020603050405020304" pitchFamily="18" typeface="Times New Roman"/>
                <a:cs charset="0" panose="02020603050405020304" pitchFamily="18" typeface="Times New Roman"/>
              </a:rPr>
              <a:t>  | Ba | </a:t>
            </a:r>
            <a:r>
              <a:rPr dirty="0" err="1" lang="en-US">
                <a:solidFill>
                  <a:srgbClr val="333333"/>
                </a:solidFill>
                <a:latin charset="0" panose="02020603050405020304" pitchFamily="18" typeface="Times New Roman"/>
                <a:cs charset="0" panose="02020603050405020304" pitchFamily="18" typeface="Times New Roman"/>
              </a:rPr>
              <a:t>aB</a:t>
            </a:r>
            <a:r>
              <a:rPr dirty="0" lang="en-US">
                <a:solidFill>
                  <a:srgbClr val="333333"/>
                </a:solidFill>
                <a:latin charset="0" panose="02020603050405020304" pitchFamily="18" typeface="Times New Roman"/>
                <a:cs charset="0" panose="02020603050405020304" pitchFamily="18" typeface="Times New Roman"/>
              </a:rPr>
              <a:t> | a</a:t>
            </a:r>
          </a:p>
          <a:p>
            <a:r>
              <a:rPr dirty="0" lang="en-US">
                <a:solidFill>
                  <a:srgbClr val="333333"/>
                </a:solidFill>
                <a:latin charset="0" panose="02020603050405020304" pitchFamily="18" typeface="Times New Roman"/>
                <a:cs charset="0" panose="02020603050405020304" pitchFamily="18" typeface="Times New Roman"/>
              </a:rPr>
              <a:t>A → </a:t>
            </a:r>
            <a:r>
              <a:rPr dirty="0" err="1" lang="en-US">
                <a:solidFill>
                  <a:srgbClr val="333333"/>
                </a:solidFill>
                <a:latin charset="0" panose="02020603050405020304" pitchFamily="18" typeface="Times New Roman"/>
                <a:cs charset="0" panose="02020603050405020304" pitchFamily="18" typeface="Times New Roman"/>
              </a:rPr>
              <a:t>aA</a:t>
            </a:r>
            <a:r>
              <a:rPr dirty="0" lang="en-US">
                <a:solidFill>
                  <a:srgbClr val="333333"/>
                </a:solidFill>
                <a:latin charset="0" panose="02020603050405020304" pitchFamily="18" typeface="Times New Roman"/>
                <a:cs charset="0" panose="02020603050405020304" pitchFamily="18" typeface="Times New Roman"/>
              </a:rPr>
              <a:t>  | </a:t>
            </a:r>
            <a:r>
              <a:rPr dirty="0" err="1" lang="en-US">
                <a:solidFill>
                  <a:srgbClr val="333333"/>
                </a:solidFill>
                <a:latin charset="0" panose="02020603050405020304" pitchFamily="18" typeface="Times New Roman"/>
                <a:cs charset="0" panose="02020603050405020304" pitchFamily="18" typeface="Times New Roman"/>
              </a:rPr>
              <a:t>aaa</a:t>
            </a:r>
            <a:r>
              <a:rPr dirty="0" lang="en-US">
                <a:solidFill>
                  <a:srgbClr val="333333"/>
                </a:solidFill>
                <a:latin charset="0" panose="02020603050405020304" pitchFamily="18" typeface="Times New Roman"/>
                <a:cs charset="0" panose="02020603050405020304" pitchFamily="18" typeface="Times New Roman"/>
              </a:rPr>
              <a:t> </a:t>
            </a:r>
          </a:p>
          <a:p>
            <a:r>
              <a:rPr dirty="0" lang="en-US">
                <a:solidFill>
                  <a:srgbClr val="333333"/>
                </a:solidFill>
                <a:latin charset="0" panose="02020603050405020304" pitchFamily="18" typeface="Times New Roman"/>
                <a:cs charset="0" panose="02020603050405020304" pitchFamily="18" typeface="Times New Roman"/>
              </a:rPr>
              <a:t>B → </a:t>
            </a:r>
            <a:r>
              <a:rPr dirty="0" err="1" lang="en-US">
                <a:solidFill>
                  <a:srgbClr val="333333"/>
                </a:solidFill>
                <a:latin charset="0" panose="02020603050405020304" pitchFamily="18" typeface="Times New Roman"/>
                <a:cs charset="0" panose="02020603050405020304" pitchFamily="18" typeface="Times New Roman"/>
              </a:rPr>
              <a:t>bBb</a:t>
            </a:r>
            <a:r>
              <a:rPr dirty="0" lang="en-US">
                <a:solidFill>
                  <a:srgbClr val="333333"/>
                </a:solidFill>
                <a:latin charset="0" panose="02020603050405020304" pitchFamily="18" typeface="Times New Roman"/>
                <a:cs charset="0" panose="02020603050405020304" pitchFamily="18" typeface="Times New Roman"/>
              </a:rPr>
              <a:t> | a | bb</a:t>
            </a:r>
            <a:br>
              <a:rPr dirty="0" lang="en-US">
                <a:solidFill>
                  <a:srgbClr val="333333"/>
                </a:solidFill>
                <a:latin charset="0" panose="02020603050405020304" pitchFamily="18" typeface="Times New Roman"/>
                <a:cs charset="0" panose="02020603050405020304" pitchFamily="18" typeface="Times New Roman"/>
              </a:rPr>
            </a:br>
            <a:endParaRPr dirty="0" lang="en-US">
              <a:solidFill>
                <a:srgbClr val="333333"/>
              </a:solidFill>
              <a:latin charset="0" panose="02020603050405020304" pitchFamily="18" typeface="Times New Roman"/>
              <a:cs charset="0" panose="02020603050405020304" pitchFamily="18" typeface="Times New Roman"/>
            </a:endParaRPr>
          </a:p>
          <a:p>
            <a:r>
              <a:rPr dirty="0" lang="en-US">
                <a:solidFill>
                  <a:srgbClr val="333333"/>
                </a:solidFill>
                <a:latin charset="0" panose="02020603050405020304" pitchFamily="18" typeface="Times New Roman"/>
                <a:cs charset="0" panose="02020603050405020304" pitchFamily="18" typeface="Times New Roman"/>
              </a:rPr>
              <a:t>Next, grammar contains an unreachable symbol A.</a:t>
            </a:r>
          </a:p>
          <a:p>
            <a:r>
              <a:rPr dirty="0" lang="en-US">
                <a:solidFill>
                  <a:srgbClr val="333333"/>
                </a:solidFill>
                <a:latin charset="0" panose="02020603050405020304" pitchFamily="18" typeface="Times New Roman"/>
                <a:cs charset="0" panose="02020603050405020304" pitchFamily="18" typeface="Times New Roman"/>
              </a:rPr>
              <a:t>Resultant grammar after unreachable symbol:</a:t>
            </a:r>
          </a:p>
          <a:p>
            <a:endParaRPr dirty="0" lang="en-US">
              <a:solidFill>
                <a:srgbClr val="333333"/>
              </a:solidFill>
              <a:latin charset="0" panose="02020603050405020304" pitchFamily="18" typeface="Times New Roman"/>
              <a:cs charset="0" panose="02020603050405020304" pitchFamily="18" typeface="Times New Roman"/>
            </a:endParaRPr>
          </a:p>
          <a:p>
            <a:r>
              <a:rPr dirty="0" lang="en-US">
                <a:latin charset="0" panose="02020603050405020304" pitchFamily="18" typeface="Times New Roman"/>
                <a:cs charset="0" panose="02020603050405020304" pitchFamily="18" typeface="Times New Roman"/>
              </a:rPr>
              <a:t>S </a:t>
            </a:r>
            <a:r>
              <a:rPr dirty="0" lang="en-US">
                <a:solidFill>
                  <a:srgbClr val="333333"/>
                </a:solidFill>
                <a:latin charset="0" panose="02020603050405020304" pitchFamily="18" typeface="Times New Roman"/>
                <a:cs charset="0" panose="02020603050405020304" pitchFamily="18" typeface="Times New Roman"/>
              </a:rPr>
              <a:t>→ </a:t>
            </a:r>
            <a:r>
              <a:rPr dirty="0" err="1" lang="en-US">
                <a:solidFill>
                  <a:srgbClr val="333333"/>
                </a:solidFill>
                <a:latin charset="0" panose="02020603050405020304" pitchFamily="18" typeface="Times New Roman"/>
                <a:cs charset="0" panose="02020603050405020304" pitchFamily="18" typeface="Times New Roman"/>
              </a:rPr>
              <a:t>BaB</a:t>
            </a:r>
            <a:r>
              <a:rPr dirty="0" lang="en-US">
                <a:solidFill>
                  <a:srgbClr val="333333"/>
                </a:solidFill>
                <a:latin charset="0" panose="02020603050405020304" pitchFamily="18" typeface="Times New Roman"/>
                <a:cs charset="0" panose="02020603050405020304" pitchFamily="18" typeface="Times New Roman"/>
              </a:rPr>
              <a:t>  | Ba | </a:t>
            </a:r>
            <a:r>
              <a:rPr dirty="0" err="1" lang="en-US">
                <a:solidFill>
                  <a:srgbClr val="333333"/>
                </a:solidFill>
                <a:latin charset="0" panose="02020603050405020304" pitchFamily="18" typeface="Times New Roman"/>
                <a:cs charset="0" panose="02020603050405020304" pitchFamily="18" typeface="Times New Roman"/>
              </a:rPr>
              <a:t>aB</a:t>
            </a:r>
            <a:r>
              <a:rPr dirty="0" lang="en-US">
                <a:solidFill>
                  <a:srgbClr val="333333"/>
                </a:solidFill>
                <a:latin charset="0" panose="02020603050405020304" pitchFamily="18" typeface="Times New Roman"/>
                <a:cs charset="0" panose="02020603050405020304" pitchFamily="18" typeface="Times New Roman"/>
              </a:rPr>
              <a:t> | a</a:t>
            </a:r>
          </a:p>
          <a:p>
            <a:r>
              <a:rPr dirty="0" lang="en-US">
                <a:solidFill>
                  <a:srgbClr val="333333"/>
                </a:solidFill>
                <a:latin charset="0" panose="02020603050405020304" pitchFamily="18" typeface="Times New Roman"/>
                <a:cs charset="0" panose="02020603050405020304" pitchFamily="18" typeface="Times New Roman"/>
              </a:rPr>
              <a:t>B → </a:t>
            </a:r>
            <a:r>
              <a:rPr dirty="0" err="1" lang="en-US">
                <a:solidFill>
                  <a:srgbClr val="333333"/>
                </a:solidFill>
                <a:latin charset="0" panose="02020603050405020304" pitchFamily="18" typeface="Times New Roman"/>
                <a:cs charset="0" panose="02020603050405020304" pitchFamily="18" typeface="Times New Roman"/>
              </a:rPr>
              <a:t>bBb</a:t>
            </a:r>
            <a:r>
              <a:rPr dirty="0" lang="en-US">
                <a:solidFill>
                  <a:srgbClr val="333333"/>
                </a:solidFill>
                <a:latin charset="0" panose="02020603050405020304" pitchFamily="18" typeface="Times New Roman"/>
                <a:cs charset="0" panose="02020603050405020304" pitchFamily="18" typeface="Times New Roman"/>
              </a:rPr>
              <a:t> | a | bb</a:t>
            </a:r>
            <a:endParaRPr altLang="en-IN" dirty="0" lang="en-IN">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28165567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3727-F595-D423-99F8-449849B27412}"/>
              </a:ext>
            </a:extLst>
          </p:cNvPr>
          <p:cNvSpPr>
            <a:spLocks noGrp="1"/>
          </p:cNvSpPr>
          <p:nvPr>
            <p:ph type="title"/>
          </p:nvPr>
        </p:nvSpPr>
        <p:spPr/>
        <p:txBody>
          <a:bodyPr numCol="1"/>
          <a:lstStyle/>
          <a:p>
            <a:r>
              <a:rPr altLang="en-IN" dirty="0" lang="en-IN"/>
              <a:t>Removal of Left Recursion</a:t>
            </a:r>
          </a:p>
        </p:txBody>
      </p:sp>
      <p:sp>
        <p:nvSpPr>
          <p:cNvPr id="3" name="Content Placeholder 2">
            <a:extLst>
              <a:ext uri="{FF2B5EF4-FFF2-40B4-BE49-F238E27FC236}">
                <a16:creationId xmlns:a16="http://schemas.microsoft.com/office/drawing/2014/main" id="{923AE2C3-7A2A-ED09-A9DD-747B4459E78D}"/>
              </a:ext>
            </a:extLst>
          </p:cNvPr>
          <p:cNvSpPr>
            <a:spLocks noGrp="1"/>
          </p:cNvSpPr>
          <p:nvPr>
            <p:ph idx="1"/>
          </p:nvPr>
        </p:nvSpPr>
        <p:spPr>
          <a:xfrm>
            <a:off x="1097280" y="1845734"/>
            <a:ext cx="5886450" cy="4189306"/>
          </a:xfrm>
        </p:spPr>
        <p:txBody>
          <a:bodyPr numCol="1">
            <a:normAutofit/>
          </a:bodyPr>
          <a:lstStyle/>
          <a:p>
            <a:pPr algn="just">
              <a:buFont charset="0" panose="020B0604020202020204" pitchFamily="34" typeface="Arial"/>
              <a:buChar char="•"/>
            </a:pPr>
            <a:r>
              <a:rPr dirty="0" lang="en-US" sz="2400"/>
              <a:t>A context-free grammar is said to be left recursive if it contains a production rule where the non-terminal on the left-hand side of the rule also appears as the first symbol on the right-hand side.</a:t>
            </a:r>
          </a:p>
          <a:p>
            <a:pPr algn="just">
              <a:buFont charset="0" panose="020B0604020202020204" pitchFamily="34" typeface="Arial"/>
              <a:buChar char="•"/>
            </a:pPr>
            <a:r>
              <a:rPr dirty="0" lang="en-US" sz="2400"/>
              <a:t>the grammar is trying to define a non-terminal in terms of itself, creating a recursive loop.</a:t>
            </a:r>
          </a:p>
          <a:p>
            <a:pPr algn="ctr"/>
            <a:r>
              <a:rPr altLang="en-IN" dirty="0" lang="en-IN" sz="2400"/>
              <a:t>A→A</a:t>
            </a:r>
            <a:r>
              <a:rPr altLang="el-GR" dirty="0" lang="el-GR" sz="2400"/>
              <a:t>α|β</a:t>
            </a:r>
            <a:endParaRPr altLang="en-IN" dirty="0" lang="en-IN" sz="2400"/>
          </a:p>
          <a:p>
            <a:pPr algn="just"/>
            <a:r>
              <a:rPr dirty="0" lang="en-US" sz="2400"/>
              <a:t> </a:t>
            </a:r>
            <a:endParaRPr altLang="en-IN" dirty="0" lang="en-IN" sz="2400"/>
          </a:p>
        </p:txBody>
      </p:sp>
      <p:pic>
        <p:nvPicPr>
          <p:cNvPr descr="Left-Recursion" id="1026" name="Picture 2">
            <a:extLst>
              <a:ext uri="{FF2B5EF4-FFF2-40B4-BE49-F238E27FC236}">
                <a16:creationId xmlns:a16="http://schemas.microsoft.com/office/drawing/2014/main" id="{4A650F3D-4A99-F6BC-D5DA-E648735972AA}"/>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a:xfrm>
            <a:off x="7169468" y="1845734"/>
            <a:ext cx="4619625"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03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EEE5A-EC99-74FB-D3AE-150791C44669}"/>
              </a:ext>
            </a:extLst>
          </p:cNvPr>
          <p:cNvSpPr>
            <a:spLocks noGrp="1"/>
          </p:cNvSpPr>
          <p:nvPr>
            <p:ph type="title"/>
          </p:nvPr>
        </p:nvSpPr>
        <p:spPr/>
        <p:txBody>
          <a:bodyPr numCol="1"/>
          <a:lstStyle/>
          <a:p>
            <a:r>
              <a:rPr altLang="en-IN" dirty="0" lang="en-IN"/>
              <a:t>Elimination of Left Recursion</a:t>
            </a:r>
          </a:p>
        </p:txBody>
      </p:sp>
      <p:sp>
        <p:nvSpPr>
          <p:cNvPr id="3" name="Content Placeholder 2">
            <a:extLst>
              <a:ext uri="{FF2B5EF4-FFF2-40B4-BE49-F238E27FC236}">
                <a16:creationId xmlns:a16="http://schemas.microsoft.com/office/drawing/2014/main" id="{9310DBFB-4214-C6F6-C2E6-FF2E6231CFA9}"/>
              </a:ext>
            </a:extLst>
          </p:cNvPr>
          <p:cNvSpPr>
            <a:spLocks noGrp="1"/>
          </p:cNvSpPr>
          <p:nvPr>
            <p:ph idx="1"/>
          </p:nvPr>
        </p:nvSpPr>
        <p:spPr>
          <a:xfrm>
            <a:off x="1263516" y="1864116"/>
            <a:ext cx="10058400" cy="4148064"/>
          </a:xfrm>
        </p:spPr>
        <p:txBody>
          <a:bodyPr numCol="1">
            <a:normAutofit/>
          </a:bodyPr>
          <a:lstStyle/>
          <a:p>
            <a:pPr>
              <a:buFont charset="0" panose="020B0604020202020204" pitchFamily="34" typeface="Arial"/>
              <a:buChar char="•"/>
            </a:pPr>
            <a:r>
              <a:rPr dirty="0" lang="en-US"/>
              <a:t>If the left-recursive pair of productions-  A → Aα / β</a:t>
            </a:r>
          </a:p>
          <a:p>
            <a:pPr>
              <a:buFont charset="0" panose="020B0604020202020204" pitchFamily="34" typeface="Arial"/>
              <a:buChar char="•"/>
            </a:pPr>
            <a:r>
              <a:rPr dirty="0" lang="en-US"/>
              <a:t>Where −</a:t>
            </a:r>
          </a:p>
          <a:p>
            <a:pPr lvl="1">
              <a:buFont charset="0" panose="020B0604020202020204" pitchFamily="34" typeface="Arial"/>
              <a:buChar char="•"/>
            </a:pPr>
            <a:r>
              <a:rPr dirty="0" lang="en-US"/>
              <a:t>A is a non-terminal symbol.</a:t>
            </a:r>
          </a:p>
          <a:p>
            <a:pPr lvl="1">
              <a:buFont charset="0" panose="020B0604020202020204" pitchFamily="34" typeface="Arial"/>
              <a:buChar char="•"/>
            </a:pPr>
            <a:r>
              <a:rPr dirty="0" lang="en-US"/>
              <a:t>α represents a sequence of terminals and/or non-terminals.</a:t>
            </a:r>
          </a:p>
          <a:p>
            <a:pPr lvl="1">
              <a:buFont charset="0" panose="020B0604020202020204" pitchFamily="34" typeface="Arial"/>
              <a:buChar char="•"/>
            </a:pPr>
            <a:r>
              <a:rPr dirty="0" lang="en-US"/>
              <a:t>β represents another sequence of terminals and/or non-terminals, where β does not begin with an A.</a:t>
            </a:r>
          </a:p>
          <a:p>
            <a:pPr>
              <a:buFont charset="0" panose="020B0604020202020204" pitchFamily="34" typeface="Arial"/>
              <a:buChar char="•"/>
            </a:pPr>
            <a:r>
              <a:rPr dirty="0" lang="en-US"/>
              <a:t>Then, we can eliminate left recursion by replacing the pair of productions with-</a:t>
            </a:r>
          </a:p>
          <a:p>
            <a:pPr algn="ctr" indent="0" marL="0">
              <a:buNone/>
            </a:pPr>
            <a:r>
              <a:rPr dirty="0" lang="en-US"/>
              <a:t>A → βA’</a:t>
            </a:r>
          </a:p>
          <a:p>
            <a:pPr algn="ctr" indent="0" marL="0">
              <a:buNone/>
            </a:pPr>
            <a:r>
              <a:rPr dirty="0" lang="en-US"/>
              <a:t>A’ → αA’ / ∈</a:t>
            </a:r>
          </a:p>
        </p:txBody>
      </p:sp>
      <p:grpSp>
        <p:nvGrpSpPr>
          <p:cNvPr id="4" name="Group 3">
            <a:extLst>
              <a:ext uri="{FF2B5EF4-FFF2-40B4-BE49-F238E27FC236}">
                <a16:creationId xmlns:a16="http://schemas.microsoft.com/office/drawing/2014/main" id="{3D28223C-BCC3-CF56-306A-AAE84D1A4192}"/>
              </a:ext>
            </a:extLst>
          </p:cNvPr>
          <p:cNvGrpSpPr/>
          <p:nvPr/>
        </p:nvGrpSpPr>
        <p:grpSpPr>
          <a:xfrm>
            <a:off x="3943349" y="5295542"/>
            <a:ext cx="4965795" cy="1081951"/>
            <a:chOff x="4003779" y="3141441"/>
            <a:chExt cx="5456902" cy="923330"/>
          </a:xfrm>
        </p:grpSpPr>
        <p:sp>
          <p:nvSpPr>
            <p:cNvPr id="5" name="TextBox 4">
              <a:extLst>
                <a:ext uri="{FF2B5EF4-FFF2-40B4-BE49-F238E27FC236}">
                  <a16:creationId xmlns:a16="http://schemas.microsoft.com/office/drawing/2014/main" id="{F32B329B-AEEC-A7BB-8CFB-2671C4B5D875}"/>
                </a:ext>
              </a:extLst>
            </p:cNvPr>
            <p:cNvSpPr txBox="1"/>
            <p:nvPr/>
          </p:nvSpPr>
          <p:spPr>
            <a:xfrm>
              <a:off x="4003779" y="3335774"/>
              <a:ext cx="1688361" cy="341451"/>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numCol="1" wrap="square">
              <a:spAutoFit/>
            </a:bodyPr>
            <a:lstStyle/>
            <a:p>
              <a:pPr algn="ctr"/>
              <a:r>
                <a:rPr dirty="0" lang="en-US" sz="2000">
                  <a:latin charset="0" panose="02020603050405020304" pitchFamily="18" typeface="Times New Roman"/>
                  <a:cs charset="0" panose="02020603050405020304" pitchFamily="18" typeface="Times New Roman"/>
                </a:rPr>
                <a:t>A → Aα / β</a:t>
              </a:r>
            </a:p>
          </p:txBody>
        </p:sp>
        <p:sp>
          <p:nvSpPr>
            <p:cNvPr id="6" name="TextBox 5">
              <a:extLst>
                <a:ext uri="{FF2B5EF4-FFF2-40B4-BE49-F238E27FC236}">
                  <a16:creationId xmlns:a16="http://schemas.microsoft.com/office/drawing/2014/main" id="{18E29152-80D4-B1B3-2EFE-4C66C1CA1123}"/>
                </a:ext>
              </a:extLst>
            </p:cNvPr>
            <p:cNvSpPr txBox="1"/>
            <p:nvPr/>
          </p:nvSpPr>
          <p:spPr>
            <a:xfrm>
              <a:off x="7384315" y="3158132"/>
              <a:ext cx="2076366" cy="60410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numCol="1" wrap="square">
              <a:spAutoFit/>
            </a:bodyPr>
            <a:lstStyle/>
            <a:p>
              <a:pPr algn="ctr" indent="0" marL="0">
                <a:buNone/>
              </a:pPr>
              <a:r>
                <a:rPr dirty="0" lang="en-US" sz="2000">
                  <a:latin charset="0" panose="02020603050405020304" pitchFamily="18" typeface="Times New Roman"/>
                  <a:cs charset="0" panose="02020603050405020304" pitchFamily="18" typeface="Times New Roman"/>
                </a:rPr>
                <a:t>A → βA’</a:t>
              </a:r>
            </a:p>
            <a:p>
              <a:pPr algn="ctr" indent="0" marL="0">
                <a:buNone/>
              </a:pPr>
              <a:r>
                <a:rPr dirty="0" lang="en-US" sz="2000">
                  <a:latin charset="0" panose="02020603050405020304" pitchFamily="18" typeface="Times New Roman"/>
                  <a:cs charset="0" panose="02020603050405020304" pitchFamily="18" typeface="Times New Roman"/>
                </a:rPr>
                <a:t>A’ → αA’ / ∈</a:t>
              </a:r>
            </a:p>
          </p:txBody>
        </p:sp>
        <p:sp>
          <p:nvSpPr>
            <p:cNvPr id="7" name="Arrow: Right 6">
              <a:extLst>
                <a:ext uri="{FF2B5EF4-FFF2-40B4-BE49-F238E27FC236}">
                  <a16:creationId xmlns:a16="http://schemas.microsoft.com/office/drawing/2014/main" id="{CA9720A4-33B5-C3D5-3330-47421269A0CF}"/>
                </a:ext>
              </a:extLst>
            </p:cNvPr>
            <p:cNvSpPr/>
            <p:nvPr/>
          </p:nvSpPr>
          <p:spPr>
            <a:xfrm>
              <a:off x="5840730" y="3348990"/>
              <a:ext cx="1348740" cy="32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numCol="1" rtlCol="0"/>
            <a:lstStyle/>
            <a:p>
              <a:pPr algn="ctr"/>
              <a:endParaRPr altLang="en-IN" lang="en-IN">
                <a:latin charset="0" panose="02020603050405020304" pitchFamily="18" typeface="Times New Roman"/>
                <a:cs charset="0" panose="02020603050405020304" pitchFamily="18" typeface="Times New Roman"/>
              </a:endParaRPr>
            </a:p>
          </p:txBody>
        </p:sp>
        <p:sp>
          <p:nvSpPr>
            <p:cNvPr id="8" name="TextBox 7">
              <a:extLst>
                <a:ext uri="{FF2B5EF4-FFF2-40B4-BE49-F238E27FC236}">
                  <a16:creationId xmlns:a16="http://schemas.microsoft.com/office/drawing/2014/main" id="{443E5AAE-066F-4A5C-9141-6486BCF071A6}"/>
                </a:ext>
              </a:extLst>
            </p:cNvPr>
            <p:cNvSpPr txBox="1"/>
            <p:nvPr/>
          </p:nvSpPr>
          <p:spPr>
            <a:xfrm>
              <a:off x="5764149" y="3141441"/>
              <a:ext cx="1582484" cy="923330"/>
            </a:xfrm>
            <a:prstGeom prst="rect">
              <a:avLst/>
            </a:prstGeom>
            <a:noFill/>
          </p:spPr>
          <p:txBody>
            <a:bodyPr numCol="1" rtlCol="0" wrap="none">
              <a:spAutoFit/>
            </a:bodyPr>
            <a:lstStyle/>
            <a:p>
              <a:r>
                <a:rPr altLang="en-IN" dirty="0" lang="en-IN">
                  <a:latin charset="0" panose="02020603050405020304" pitchFamily="18" typeface="Times New Roman"/>
                  <a:cs charset="0" panose="02020603050405020304" pitchFamily="18" typeface="Times New Roman"/>
                </a:rPr>
                <a:t>Elimination of </a:t>
              </a:r>
            </a:p>
            <a:p>
              <a:endParaRPr altLang="en-IN" dirty="0" lang="en-IN">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left recursion</a:t>
              </a:r>
            </a:p>
          </p:txBody>
        </p:sp>
      </p:grpSp>
    </p:spTree>
    <p:extLst>
      <p:ext uri="{BB962C8B-B14F-4D97-AF65-F5344CB8AC3E}">
        <p14:creationId xmlns:p14="http://schemas.microsoft.com/office/powerpoint/2010/main" val="34433406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6" st="6"/>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7" st="7"/>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A5FBD3-D7E7-D23B-B0D2-C75DABDB4C43}"/>
              </a:ext>
            </a:extLst>
          </p:cNvPr>
          <p:cNvSpPr txBox="1"/>
          <p:nvPr/>
        </p:nvSpPr>
        <p:spPr>
          <a:xfrm>
            <a:off x="299628" y="297330"/>
            <a:ext cx="8788467" cy="5586145"/>
          </a:xfrm>
          <a:prstGeom prst="rect">
            <a:avLst/>
          </a:prstGeom>
          <a:noFill/>
        </p:spPr>
        <p:txBody>
          <a:bodyPr numCol="1" wrap="square">
            <a:spAutoFit/>
          </a:bodyPr>
          <a:lstStyle/>
          <a:p>
            <a:r>
              <a:rPr b="1" dirty="0" lang="en-US" sz="2100"/>
              <a:t>Example: Remove left recursion from the following</a:t>
            </a:r>
          </a:p>
          <a:p>
            <a:r>
              <a:rPr b="1" dirty="0" lang="en-US" sz="2100"/>
              <a:t> Grammar:						  </a:t>
            </a:r>
            <a:r>
              <a:rPr altLang="en-IN" b="1" dirty="0" lang="en-IN" sz="2100"/>
              <a:t>E→E+T|T</a:t>
            </a:r>
          </a:p>
          <a:p>
            <a:pPr algn="ctr"/>
            <a:r>
              <a:rPr altLang="en-IN" b="1" dirty="0" lang="en-IN" sz="2100"/>
              <a:t>T→T∗F|F</a:t>
            </a:r>
          </a:p>
          <a:p>
            <a:pPr algn="ctr"/>
            <a:r>
              <a:rPr altLang="en-IN" b="1" dirty="0" lang="en-IN" sz="2100"/>
              <a:t>F→(E)|id</a:t>
            </a:r>
          </a:p>
          <a:p>
            <a:r>
              <a:rPr altLang="en-IN" b="1" dirty="0" lang="en-IN" sz="2100"/>
              <a:t>Solution</a:t>
            </a:r>
            <a:r>
              <a:rPr altLang="en-IN" dirty="0" lang="en-IN" sz="2100"/>
              <a:t>: </a:t>
            </a:r>
            <a:r>
              <a:rPr dirty="0" lang="en-US" sz="2100"/>
              <a:t>This grammar contains left recursion in the rules for both `E` and `T`.</a:t>
            </a:r>
            <a:endParaRPr altLang="en-IN" dirty="0" lang="en-IN" sz="2100"/>
          </a:p>
          <a:p>
            <a:r>
              <a:rPr altLang="en-IN" b="1" dirty="0" lang="en-IN" sz="2100"/>
              <a:t>Eliminating Left Recursion in `E`:</a:t>
            </a:r>
          </a:p>
          <a:p>
            <a:pPr algn="ctr"/>
            <a:r>
              <a:rPr altLang="en-IN" dirty="0" lang="en-IN" sz="2100"/>
              <a:t>E→TE′</a:t>
            </a:r>
          </a:p>
          <a:p>
            <a:pPr algn="ctr"/>
            <a:r>
              <a:rPr altLang="en-IN" dirty="0" lang="en-IN" sz="2100"/>
              <a:t>E′→+TE′|</a:t>
            </a:r>
            <a:r>
              <a:rPr altLang="el-GR" dirty="0" lang="el-GR" sz="2100"/>
              <a:t>ε</a:t>
            </a:r>
          </a:p>
          <a:p>
            <a:pPr indent="0" marL="0">
              <a:buNone/>
            </a:pPr>
            <a:r>
              <a:rPr altLang="en-IN" b="1" dirty="0" lang="en-IN" sz="2100"/>
              <a:t>Eliminating Left Recursion in `T`:</a:t>
            </a:r>
          </a:p>
          <a:p>
            <a:pPr algn="ctr"/>
            <a:r>
              <a:rPr altLang="en-IN" dirty="0" lang="en-IN" sz="2100"/>
              <a:t>T→FT′</a:t>
            </a:r>
          </a:p>
          <a:p>
            <a:pPr algn="ctr"/>
            <a:r>
              <a:rPr altLang="en-IN" dirty="0" lang="en-IN" sz="2100"/>
              <a:t>T′→∗FT′|</a:t>
            </a:r>
            <a:r>
              <a:rPr altLang="el-GR" dirty="0" lang="el-GR" sz="2100"/>
              <a:t>ε</a:t>
            </a:r>
          </a:p>
          <a:p>
            <a:r>
              <a:rPr altLang="en-IN" dirty="0" lang="en-IN" sz="2100"/>
              <a:t>The final transformed grammar, free from left recursion, becomes −</a:t>
            </a:r>
          </a:p>
          <a:p>
            <a:pPr algn="ctr"/>
            <a:r>
              <a:rPr altLang="en-IN" dirty="0" lang="en-IN" sz="2100"/>
              <a:t>E→TE′</a:t>
            </a:r>
          </a:p>
          <a:p>
            <a:pPr algn="ctr"/>
            <a:r>
              <a:rPr altLang="en-IN" dirty="0" lang="en-IN" sz="2100"/>
              <a:t>E′→+TE′|</a:t>
            </a:r>
            <a:r>
              <a:rPr altLang="el-GR" dirty="0" lang="el-GR" sz="2100"/>
              <a:t>ε</a:t>
            </a:r>
          </a:p>
          <a:p>
            <a:pPr algn="ctr"/>
            <a:r>
              <a:rPr altLang="en-IN" dirty="0" lang="en-IN" sz="2100"/>
              <a:t>T→FT′</a:t>
            </a:r>
          </a:p>
          <a:p>
            <a:pPr algn="ctr"/>
            <a:r>
              <a:rPr altLang="en-IN" dirty="0" lang="en-IN" sz="2100"/>
              <a:t>T′→∗FT′|</a:t>
            </a:r>
            <a:r>
              <a:rPr altLang="el-GR" dirty="0" lang="el-GR" sz="2100"/>
              <a:t>ε</a:t>
            </a:r>
          </a:p>
          <a:p>
            <a:pPr algn="ctr"/>
            <a:r>
              <a:rPr altLang="en-IN" dirty="0" lang="en-IN" sz="2100"/>
              <a:t>F→(E)|id</a:t>
            </a:r>
          </a:p>
        </p:txBody>
      </p:sp>
      <p:grpSp>
        <p:nvGrpSpPr>
          <p:cNvPr id="15" name="Group 14">
            <a:extLst>
              <a:ext uri="{FF2B5EF4-FFF2-40B4-BE49-F238E27FC236}">
                <a16:creationId xmlns:a16="http://schemas.microsoft.com/office/drawing/2014/main" id="{9A4A436F-68D9-87E6-E72B-8107D63540EB}"/>
              </a:ext>
            </a:extLst>
          </p:cNvPr>
          <p:cNvGrpSpPr/>
          <p:nvPr/>
        </p:nvGrpSpPr>
        <p:grpSpPr>
          <a:xfrm>
            <a:off x="6960869" y="277772"/>
            <a:ext cx="4965795" cy="1081951"/>
            <a:chOff x="4003779" y="3141441"/>
            <a:chExt cx="5456902" cy="923330"/>
          </a:xfrm>
        </p:grpSpPr>
        <p:sp>
          <p:nvSpPr>
            <p:cNvPr id="16" name="TextBox 15">
              <a:extLst>
                <a:ext uri="{FF2B5EF4-FFF2-40B4-BE49-F238E27FC236}">
                  <a16:creationId xmlns:a16="http://schemas.microsoft.com/office/drawing/2014/main" id="{86434989-6274-CB3D-A349-10E4571CFA67}"/>
                </a:ext>
              </a:extLst>
            </p:cNvPr>
            <p:cNvSpPr txBox="1"/>
            <p:nvPr/>
          </p:nvSpPr>
          <p:spPr>
            <a:xfrm>
              <a:off x="4003779" y="3335774"/>
              <a:ext cx="1688361" cy="341451"/>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numCol="1" wrap="square">
              <a:spAutoFit/>
            </a:bodyPr>
            <a:lstStyle/>
            <a:p>
              <a:pPr algn="ctr"/>
              <a:r>
                <a:rPr dirty="0" lang="en-US" sz="2000">
                  <a:latin charset="0" panose="02020603050405020304" pitchFamily="18" typeface="Times New Roman"/>
                  <a:cs charset="0" panose="02020603050405020304" pitchFamily="18" typeface="Times New Roman"/>
                </a:rPr>
                <a:t>A → Aα / β</a:t>
              </a:r>
            </a:p>
          </p:txBody>
        </p:sp>
        <p:sp>
          <p:nvSpPr>
            <p:cNvPr id="17" name="TextBox 16">
              <a:extLst>
                <a:ext uri="{FF2B5EF4-FFF2-40B4-BE49-F238E27FC236}">
                  <a16:creationId xmlns:a16="http://schemas.microsoft.com/office/drawing/2014/main" id="{17C2AD10-44DC-C18A-E88F-0A9A8BBA994F}"/>
                </a:ext>
              </a:extLst>
            </p:cNvPr>
            <p:cNvSpPr txBox="1"/>
            <p:nvPr/>
          </p:nvSpPr>
          <p:spPr>
            <a:xfrm>
              <a:off x="7384315" y="3158132"/>
              <a:ext cx="2076366" cy="60410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numCol="1" wrap="square">
              <a:spAutoFit/>
            </a:bodyPr>
            <a:lstStyle/>
            <a:p>
              <a:pPr algn="ctr" indent="0" marL="0">
                <a:buNone/>
              </a:pPr>
              <a:r>
                <a:rPr dirty="0" lang="en-US" sz="2000">
                  <a:latin charset="0" panose="02020603050405020304" pitchFamily="18" typeface="Times New Roman"/>
                  <a:cs charset="0" panose="02020603050405020304" pitchFamily="18" typeface="Times New Roman"/>
                </a:rPr>
                <a:t>A → βA’</a:t>
              </a:r>
            </a:p>
            <a:p>
              <a:pPr algn="ctr" indent="0" marL="0">
                <a:buNone/>
              </a:pPr>
              <a:r>
                <a:rPr dirty="0" lang="en-US" sz="2000">
                  <a:latin charset="0" panose="02020603050405020304" pitchFamily="18" typeface="Times New Roman"/>
                  <a:cs charset="0" panose="02020603050405020304" pitchFamily="18" typeface="Times New Roman"/>
                </a:rPr>
                <a:t>A’ → αA’ / ∈</a:t>
              </a:r>
            </a:p>
          </p:txBody>
        </p:sp>
        <p:sp>
          <p:nvSpPr>
            <p:cNvPr id="18" name="Arrow: Right 17">
              <a:extLst>
                <a:ext uri="{FF2B5EF4-FFF2-40B4-BE49-F238E27FC236}">
                  <a16:creationId xmlns:a16="http://schemas.microsoft.com/office/drawing/2014/main" id="{2B25DBE5-C855-0D58-6D5A-D6E1B71CCA65}"/>
                </a:ext>
              </a:extLst>
            </p:cNvPr>
            <p:cNvSpPr/>
            <p:nvPr/>
          </p:nvSpPr>
          <p:spPr>
            <a:xfrm>
              <a:off x="5840730" y="3348990"/>
              <a:ext cx="1348740" cy="32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numCol="1" rtlCol="0"/>
            <a:lstStyle/>
            <a:p>
              <a:pPr algn="ctr"/>
              <a:endParaRPr altLang="en-IN" lang="en-IN">
                <a:latin charset="0" panose="02020603050405020304" pitchFamily="18" typeface="Times New Roman"/>
                <a:cs charset="0" panose="02020603050405020304" pitchFamily="18" typeface="Times New Roman"/>
              </a:endParaRPr>
            </a:p>
          </p:txBody>
        </p:sp>
        <p:sp>
          <p:nvSpPr>
            <p:cNvPr id="19" name="TextBox 18">
              <a:extLst>
                <a:ext uri="{FF2B5EF4-FFF2-40B4-BE49-F238E27FC236}">
                  <a16:creationId xmlns:a16="http://schemas.microsoft.com/office/drawing/2014/main" id="{13A7FE11-AA89-1A24-D12B-7A3A6CD998D4}"/>
                </a:ext>
              </a:extLst>
            </p:cNvPr>
            <p:cNvSpPr txBox="1"/>
            <p:nvPr/>
          </p:nvSpPr>
          <p:spPr>
            <a:xfrm>
              <a:off x="5764149" y="3141441"/>
              <a:ext cx="1582484" cy="923330"/>
            </a:xfrm>
            <a:prstGeom prst="rect">
              <a:avLst/>
            </a:prstGeom>
            <a:noFill/>
          </p:spPr>
          <p:txBody>
            <a:bodyPr numCol="1" rtlCol="0" wrap="none">
              <a:spAutoFit/>
            </a:bodyPr>
            <a:lstStyle/>
            <a:p>
              <a:r>
                <a:rPr altLang="en-IN" dirty="0" lang="en-IN">
                  <a:latin charset="0" panose="02020603050405020304" pitchFamily="18" typeface="Times New Roman"/>
                  <a:cs charset="0" panose="02020603050405020304" pitchFamily="18" typeface="Times New Roman"/>
                </a:rPr>
                <a:t>Elimination of </a:t>
              </a:r>
            </a:p>
            <a:p>
              <a:endParaRPr altLang="en-IN" dirty="0" lang="en-IN">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left recursion</a:t>
              </a:r>
            </a:p>
          </p:txBody>
        </p:sp>
      </p:grpSp>
    </p:spTree>
    <p:extLst>
      <p:ext uri="{BB962C8B-B14F-4D97-AF65-F5344CB8AC3E}">
        <p14:creationId xmlns:p14="http://schemas.microsoft.com/office/powerpoint/2010/main" val="296954557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2" st="2"/>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15"/>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
                                            <p:txEl>
                                              <p:pRg end="6" st="6"/>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3">
                                            <p:txEl>
                                              <p:pRg end="7" st="7"/>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 presetSubtype="0">
                                  <p:stCondLst>
                                    <p:cond delay="0"/>
                                  </p:stCondLst>
                                  <p:childTnLst>
                                    <p:set>
                                      <p:cBhvr>
                                        <p:cTn dur="1" fill="hold" id="36">
                                          <p:stCondLst>
                                            <p:cond delay="0"/>
                                          </p:stCondLst>
                                        </p:cTn>
                                        <p:tgtEl>
                                          <p:spTgt spid="3">
                                            <p:txEl>
                                              <p:pRg end="8" st="8"/>
                                            </p:txEl>
                                          </p:spTgt>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id="39" nodeType="clickEffect" presetClass="entr" presetID="1" presetSubtype="0">
                                  <p:stCondLst>
                                    <p:cond delay="0"/>
                                  </p:stCondLst>
                                  <p:childTnLst>
                                    <p:set>
                                      <p:cBhvr>
                                        <p:cTn dur="1" fill="hold" id="40">
                                          <p:stCondLst>
                                            <p:cond delay="0"/>
                                          </p:stCondLst>
                                        </p:cTn>
                                        <p:tgtEl>
                                          <p:spTgt spid="3">
                                            <p:txEl>
                                              <p:pRg end="9" st="9"/>
                                            </p:txEl>
                                          </p:spTgt>
                                        </p:tgtEl>
                                        <p:attrNameLst>
                                          <p:attrName>style.visibility</p:attrName>
                                        </p:attrNameLst>
                                      </p:cBhvr>
                                      <p:to>
                                        <p:strVal val="visible"/>
                                      </p:to>
                                    </p:set>
                                  </p:childTnLst>
                                </p:cTn>
                              </p:par>
                              <p:par>
                                <p:cTn fill="hold" id="41" nodeType="withEffect" presetClass="entr" presetID="1" presetSubtype="0">
                                  <p:stCondLst>
                                    <p:cond delay="0"/>
                                  </p:stCondLst>
                                  <p:childTnLst>
                                    <p:set>
                                      <p:cBhvr>
                                        <p:cTn dur="1" fill="hold" id="42">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43">
                      <p:stCondLst>
                        <p:cond delay="indefinite"/>
                      </p:stCondLst>
                      <p:childTnLst>
                        <p:par>
                          <p:cTn fill="hold" id="44">
                            <p:stCondLst>
                              <p:cond delay="0"/>
                            </p:stCondLst>
                            <p:childTnLst>
                              <p:par>
                                <p:cTn fill="hold" id="45" nodeType="clickEffect" presetClass="entr" presetID="1" presetSubtype="0">
                                  <p:stCondLst>
                                    <p:cond delay="0"/>
                                  </p:stCondLst>
                                  <p:childTnLst>
                                    <p:set>
                                      <p:cBhvr>
                                        <p:cTn dur="1" fill="hold" id="46">
                                          <p:stCondLst>
                                            <p:cond delay="0"/>
                                          </p:stCondLst>
                                        </p:cTn>
                                        <p:tgtEl>
                                          <p:spTgt spid="3">
                                            <p:txEl>
                                              <p:pRg end="11" st="11"/>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3">
                                            <p:txEl>
                                              <p:pRg end="12" st="12"/>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3">
                                            <p:txEl>
                                              <p:pRg end="13" st="13"/>
                                            </p:txEl>
                                          </p:spTgt>
                                        </p:tgtEl>
                                        <p:attrNameLst>
                                          <p:attrName>style.visibility</p:attrName>
                                        </p:attrNameLst>
                                      </p:cBhvr>
                                      <p:to>
                                        <p:strVal val="visible"/>
                                      </p:to>
                                    </p:set>
                                  </p:childTnLst>
                                </p:cTn>
                              </p:par>
                              <p:par>
                                <p:cTn fill="hold" id="51" nodeType="withEffect" presetClass="entr" presetID="1" presetSubtype="0">
                                  <p:stCondLst>
                                    <p:cond delay="0"/>
                                  </p:stCondLst>
                                  <p:childTnLst>
                                    <p:set>
                                      <p:cBhvr>
                                        <p:cTn dur="1" fill="hold" id="52">
                                          <p:stCondLst>
                                            <p:cond delay="0"/>
                                          </p:stCondLst>
                                        </p:cTn>
                                        <p:tgtEl>
                                          <p:spTgt spid="3">
                                            <p:txEl>
                                              <p:pRg end="14" st="14"/>
                                            </p:txEl>
                                          </p:spTgt>
                                        </p:tgtEl>
                                        <p:attrNameLst>
                                          <p:attrName>style.visibility</p:attrName>
                                        </p:attrNameLst>
                                      </p:cBhvr>
                                      <p:to>
                                        <p:strVal val="visible"/>
                                      </p:to>
                                    </p:set>
                                  </p:childTnLst>
                                </p:cTn>
                              </p:par>
                              <p:par>
                                <p:cTn fill="hold" id="53" nodeType="withEffect" presetClass="entr" presetID="1" presetSubtype="0">
                                  <p:stCondLst>
                                    <p:cond delay="0"/>
                                  </p:stCondLst>
                                  <p:childTnLst>
                                    <p:set>
                                      <p:cBhvr>
                                        <p:cTn dur="1" fill="hold" id="54">
                                          <p:stCondLst>
                                            <p:cond delay="0"/>
                                          </p:stCondLst>
                                        </p:cTn>
                                        <p:tgtEl>
                                          <p:spTgt spid="3">
                                            <p:txEl>
                                              <p:pRg end="15" st="15"/>
                                            </p:txEl>
                                          </p:spTgt>
                                        </p:tgtEl>
                                        <p:attrNameLst>
                                          <p:attrName>style.visibility</p:attrName>
                                        </p:attrNameLst>
                                      </p:cBhvr>
                                      <p:to>
                                        <p:strVal val="visible"/>
                                      </p:to>
                                    </p:set>
                                  </p:childTnLst>
                                </p:cTn>
                              </p:par>
                              <p:par>
                                <p:cTn fill="hold" id="55" nodeType="withEffect" presetClass="entr" presetID="1" presetSubtype="0">
                                  <p:stCondLst>
                                    <p:cond delay="0"/>
                                  </p:stCondLst>
                                  <p:childTnLst>
                                    <p:set>
                                      <p:cBhvr>
                                        <p:cTn dur="1" fill="hold" id="56">
                                          <p:stCondLst>
                                            <p:cond delay="0"/>
                                          </p:stCondLst>
                                        </p:cTn>
                                        <p:tgtEl>
                                          <p:spTgt spid="3">
                                            <p:txEl>
                                              <p:pRg end="16" st="1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E447D-1849-BD60-1350-01B767DD3A57}"/>
              </a:ext>
            </a:extLst>
          </p:cNvPr>
          <p:cNvSpPr>
            <a:spLocks noGrp="1"/>
          </p:cNvSpPr>
          <p:nvPr>
            <p:ph type="title"/>
          </p:nvPr>
        </p:nvSpPr>
        <p:spPr/>
        <p:txBody>
          <a:bodyPr numCol="1"/>
          <a:lstStyle/>
          <a:p>
            <a:r>
              <a:rPr altLang="en-IN" dirty="0" lang="en-IN"/>
              <a:t>Removal of Left Factoring</a:t>
            </a:r>
          </a:p>
        </p:txBody>
      </p:sp>
      <p:sp>
        <p:nvSpPr>
          <p:cNvPr id="3" name="Content Placeholder 2">
            <a:extLst>
              <a:ext uri="{FF2B5EF4-FFF2-40B4-BE49-F238E27FC236}">
                <a16:creationId xmlns:a16="http://schemas.microsoft.com/office/drawing/2014/main" id="{5C3E197B-2211-4CF0-8EE5-069F7D285B7A}"/>
              </a:ext>
            </a:extLst>
          </p:cNvPr>
          <p:cNvSpPr>
            <a:spLocks noGrp="1"/>
          </p:cNvSpPr>
          <p:nvPr>
            <p:ph idx="1"/>
          </p:nvPr>
        </p:nvSpPr>
        <p:spPr/>
        <p:txBody>
          <a:bodyPr numCol="1">
            <a:normAutofit/>
          </a:bodyPr>
          <a:lstStyle/>
          <a:p>
            <a:r>
              <a:rPr dirty="0" lang="en-US"/>
              <a:t>A grammar has left factoring problem if two or more productions share a common prefix. Such as</a:t>
            </a:r>
          </a:p>
          <a:p>
            <a:pPr algn="ctr"/>
            <a:r>
              <a:rPr altLang="en-IN" dirty="0" lang="en-IN"/>
              <a:t>A→</a:t>
            </a:r>
            <a:r>
              <a:rPr altLang="el-GR" dirty="0" lang="el-GR"/>
              <a:t>αβ</a:t>
            </a:r>
            <a:r>
              <a:rPr altLang="el-GR" baseline="-25000" dirty="0" lang="el-GR"/>
              <a:t>1</a:t>
            </a:r>
            <a:r>
              <a:rPr altLang="el-GR" dirty="0" lang="el-GR"/>
              <a:t>|αβ</a:t>
            </a:r>
            <a:r>
              <a:rPr altLang="el-GR" baseline="-25000" dirty="0" lang="el-GR"/>
              <a:t>2</a:t>
            </a:r>
            <a:r>
              <a:rPr altLang="el-GR" dirty="0" lang="el-GR"/>
              <a:t>|…|αβ</a:t>
            </a:r>
            <a:r>
              <a:rPr altLang="en-IN" baseline="-25000" dirty="0" lang="en-IN"/>
              <a:t>n</a:t>
            </a:r>
            <a:r>
              <a:rPr altLang="en-IN" dirty="0" lang="en-IN"/>
              <a:t>|</a:t>
            </a:r>
            <a:r>
              <a:rPr altLang="el-GR" dirty="0" lang="el-GR"/>
              <a:t>γ</a:t>
            </a:r>
            <a:endParaRPr altLang="en-IN" dirty="0" lang="en-IN"/>
          </a:p>
          <a:p>
            <a:r>
              <a:rPr dirty="0" lang="en-US"/>
              <a:t>This creates ambiguity for predictive parsers when choosing which rule to apply.</a:t>
            </a:r>
          </a:p>
          <a:p>
            <a:r>
              <a:rPr b="1" dirty="0" lang="en-US" sz="2400"/>
              <a:t>Elimination of Left Factoring:</a:t>
            </a:r>
          </a:p>
          <a:p>
            <a:pPr algn="ctr"/>
            <a:r>
              <a:rPr altLang="en-IN" dirty="0" lang="en-IN"/>
              <a:t>A→</a:t>
            </a:r>
            <a:r>
              <a:rPr altLang="el-GR" dirty="0" lang="el-GR"/>
              <a:t>α</a:t>
            </a:r>
            <a:r>
              <a:rPr altLang="en-IN" dirty="0" lang="en-IN"/>
              <a:t>A′|</a:t>
            </a:r>
            <a:r>
              <a:rPr altLang="el-GR" dirty="0" lang="el-GR"/>
              <a:t>γ</a:t>
            </a:r>
          </a:p>
          <a:p>
            <a:pPr algn="ctr"/>
            <a:r>
              <a:rPr altLang="en-IN" dirty="0" lang="en-IN"/>
              <a:t>A’→</a:t>
            </a:r>
            <a:r>
              <a:rPr altLang="el-GR" dirty="0" lang="el-GR"/>
              <a:t>β</a:t>
            </a:r>
            <a:r>
              <a:rPr altLang="el-GR" baseline="-25000" dirty="0" lang="el-GR"/>
              <a:t>1</a:t>
            </a:r>
            <a:r>
              <a:rPr altLang="el-GR" dirty="0" lang="el-GR"/>
              <a:t>|β</a:t>
            </a:r>
            <a:r>
              <a:rPr altLang="el-GR" baseline="-25000" dirty="0" lang="el-GR"/>
              <a:t>2</a:t>
            </a:r>
            <a:r>
              <a:rPr altLang="el-GR" dirty="0" lang="el-GR"/>
              <a:t>|…|β</a:t>
            </a:r>
            <a:r>
              <a:rPr altLang="en-IN" baseline="-25000" dirty="0" lang="en-IN"/>
              <a:t>n</a:t>
            </a:r>
          </a:p>
        </p:txBody>
      </p:sp>
    </p:spTree>
    <p:extLst>
      <p:ext uri="{BB962C8B-B14F-4D97-AF65-F5344CB8AC3E}">
        <p14:creationId xmlns:p14="http://schemas.microsoft.com/office/powerpoint/2010/main" val="86101470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3" st="3"/>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4" st="4"/>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7BA6-AD84-087A-D504-31DB9E2A7623}"/>
              </a:ext>
            </a:extLst>
          </p:cNvPr>
          <p:cNvSpPr>
            <a:spLocks noGrp="1"/>
          </p:cNvSpPr>
          <p:nvPr>
            <p:ph type="title"/>
          </p:nvPr>
        </p:nvSpPr>
        <p:spPr/>
        <p:txBody>
          <a:bodyPr numCol="1"/>
          <a:lstStyle/>
          <a:p>
            <a:r>
              <a:rPr altLang="en-IN" dirty="0" lang="en-IN"/>
              <a:t>Normal Forms</a:t>
            </a:r>
          </a:p>
        </p:txBody>
      </p:sp>
      <p:sp>
        <p:nvSpPr>
          <p:cNvPr id="3" name="Content Placeholder 2">
            <a:extLst>
              <a:ext uri="{FF2B5EF4-FFF2-40B4-BE49-F238E27FC236}">
                <a16:creationId xmlns:a16="http://schemas.microsoft.com/office/drawing/2014/main" id="{C4D8BD8B-68B2-43E0-C9D6-1D553BE6C25A}"/>
              </a:ext>
            </a:extLst>
          </p:cNvPr>
          <p:cNvSpPr>
            <a:spLocks noGrp="1"/>
          </p:cNvSpPr>
          <p:nvPr>
            <p:ph idx="1"/>
          </p:nvPr>
        </p:nvSpPr>
        <p:spPr/>
        <p:txBody>
          <a:bodyPr numCol="1">
            <a:normAutofit/>
          </a:bodyPr>
          <a:lstStyle/>
          <a:p>
            <a:pPr>
              <a:buFont charset="0" panose="020B0604020202020204" pitchFamily="34" typeface="Arial"/>
              <a:buChar char="•"/>
            </a:pPr>
            <a:r>
              <a:rPr dirty="0" lang="en-US" sz="2800"/>
              <a:t>A CFG is convert into a specific form is called as Normal forms. </a:t>
            </a:r>
          </a:p>
          <a:p>
            <a:pPr>
              <a:buFont charset="0" panose="020B0604020202020204" pitchFamily="34" typeface="Arial"/>
              <a:buChar char="•"/>
            </a:pPr>
            <a:r>
              <a:rPr dirty="0" lang="en-US" sz="2800"/>
              <a:t>There are two types of Normal Norms.</a:t>
            </a:r>
          </a:p>
          <a:p>
            <a:pPr lvl="1">
              <a:buFont charset="0" panose="020B0604020202020204" pitchFamily="34" typeface="Arial"/>
              <a:buChar char="•"/>
            </a:pPr>
            <a:r>
              <a:rPr dirty="0" lang="en-US" sz="2400"/>
              <a:t>Chomsky Normal Form (CNF)</a:t>
            </a:r>
          </a:p>
          <a:p>
            <a:pPr lvl="1">
              <a:buFont charset="0" panose="020B0604020202020204" pitchFamily="34" typeface="Arial"/>
              <a:buChar char="•"/>
            </a:pPr>
            <a:r>
              <a:rPr dirty="0" err="1" lang="en-US" sz="2400"/>
              <a:t>Greibach</a:t>
            </a:r>
            <a:r>
              <a:rPr dirty="0" lang="en-US" sz="2400"/>
              <a:t> Normal Form (GNF)</a:t>
            </a:r>
            <a:endParaRPr altLang="en-IN" dirty="0" lang="en-IN" sz="2400"/>
          </a:p>
        </p:txBody>
      </p:sp>
    </p:spTree>
    <p:extLst>
      <p:ext uri="{BB962C8B-B14F-4D97-AF65-F5344CB8AC3E}">
        <p14:creationId xmlns:p14="http://schemas.microsoft.com/office/powerpoint/2010/main" val="3384427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055C-BBD2-F81C-184F-6AA87411C1D1}"/>
              </a:ext>
            </a:extLst>
          </p:cNvPr>
          <p:cNvSpPr>
            <a:spLocks noGrp="1"/>
          </p:cNvSpPr>
          <p:nvPr>
            <p:ph type="title"/>
          </p:nvPr>
        </p:nvSpPr>
        <p:spPr/>
        <p:txBody>
          <a:bodyPr numCol="1"/>
          <a:lstStyle/>
          <a:p>
            <a:r>
              <a:rPr altLang="en-IN" dirty="0" lang="en-IN"/>
              <a:t>Chomsky Normal Form (CNF)</a:t>
            </a:r>
          </a:p>
        </p:txBody>
      </p:sp>
      <p:sp>
        <p:nvSpPr>
          <p:cNvPr id="3" name="Content Placeholder 2">
            <a:extLst>
              <a:ext uri="{FF2B5EF4-FFF2-40B4-BE49-F238E27FC236}">
                <a16:creationId xmlns:a16="http://schemas.microsoft.com/office/drawing/2014/main" id="{6A622A29-5D14-AC73-F977-5F7FDBD83DBC}"/>
              </a:ext>
            </a:extLst>
          </p:cNvPr>
          <p:cNvSpPr>
            <a:spLocks noGrp="1"/>
          </p:cNvSpPr>
          <p:nvPr>
            <p:ph idx="1"/>
          </p:nvPr>
        </p:nvSpPr>
        <p:spPr/>
        <p:txBody>
          <a:bodyPr numCol="1">
            <a:normAutofit/>
          </a:bodyPr>
          <a:lstStyle/>
          <a:p>
            <a:pPr algn="just">
              <a:buFont charset="0" panose="020B0604020202020204" pitchFamily="34" typeface="Arial"/>
              <a:buChar char="•"/>
              <a:tabLst>
                <a:tab algn="l" pos="4479925"/>
              </a:tabLst>
            </a:pPr>
            <a:r>
              <a:rPr b="0" dirty="0" i="0" lang="en-US" sz="2400">
                <a:solidFill>
                  <a:srgbClr val="333333"/>
                </a:solidFill>
                <a:effectLst/>
                <a:latin typeface="Inter-Regular"/>
              </a:rPr>
              <a:t>In CNF, we have restrictions on the length of RHS and symbols in RHS of productions.</a:t>
            </a:r>
          </a:p>
          <a:p>
            <a:pPr algn="just">
              <a:buFont charset="0" panose="020B0604020202020204" pitchFamily="34" typeface="Arial"/>
              <a:buChar char="•"/>
              <a:tabLst>
                <a:tab algn="l" pos="4479925"/>
              </a:tabLst>
            </a:pPr>
            <a:r>
              <a:rPr b="0" dirty="0" i="0" lang="en-US" sz="2400">
                <a:solidFill>
                  <a:srgbClr val="333333"/>
                </a:solidFill>
                <a:effectLst/>
                <a:latin typeface="Inter-Regular"/>
              </a:rPr>
              <a:t>A CFG(context free grammar) is in CNF(Chomsky normal form) if all production rules satisfy one of the following conditions:</a:t>
            </a:r>
          </a:p>
          <a:p>
            <a:pPr algn="just" lvl="1">
              <a:buFont charset="0" panose="020B0604020202020204" pitchFamily="34" typeface="Arial"/>
              <a:buChar char="•"/>
              <a:tabLst>
                <a:tab algn="l" pos="4479925"/>
              </a:tabLst>
            </a:pPr>
            <a:r>
              <a:rPr dirty="0" lang="en-US" sz="2400"/>
              <a:t>A non-terminal generating two non-terminals. For example, A → BC.</a:t>
            </a:r>
          </a:p>
          <a:p>
            <a:pPr algn="just" lvl="1">
              <a:buFont charset="0" panose="020B0604020202020204" pitchFamily="34" typeface="Arial"/>
              <a:buChar char="•"/>
              <a:tabLst>
                <a:tab algn="l" pos="4479925"/>
              </a:tabLst>
            </a:pPr>
            <a:r>
              <a:rPr dirty="0" lang="en-US" sz="2400"/>
              <a:t>A non-terminal generating a terminal. For example, A → a.</a:t>
            </a:r>
          </a:p>
          <a:p>
            <a:pPr algn="just" lvl="1">
              <a:buFont charset="0" panose="020B0604020202020204" pitchFamily="34" typeface="Arial"/>
              <a:buChar char="•"/>
              <a:tabLst>
                <a:tab algn="l" pos="4479925"/>
              </a:tabLst>
            </a:pPr>
            <a:endParaRPr dirty="0" lang="en-US" sz="2400"/>
          </a:p>
          <a:p>
            <a:pPr algn="just">
              <a:buFont charset="0" panose="020B0604020202020204" pitchFamily="34" typeface="Arial"/>
              <a:buChar char="•"/>
              <a:tabLst>
                <a:tab algn="l" pos="4479925"/>
              </a:tabLst>
            </a:pPr>
            <a:r>
              <a:rPr dirty="0" i="1" lang="en-US">
                <a:solidFill>
                  <a:srgbClr val="FF0000"/>
                </a:solidFill>
              </a:rPr>
              <a:t>Note: Start symbol generating ε (S → ε) will be in G if ε is in L(G) and S does not appear on RHS of any production. </a:t>
            </a:r>
          </a:p>
          <a:p>
            <a:pPr algn="just">
              <a:buFont charset="0" panose="020B0604020202020204" pitchFamily="34" typeface="Arial"/>
              <a:buChar char="•"/>
              <a:tabLst>
                <a:tab algn="l" pos="4479925"/>
              </a:tabLst>
            </a:pPr>
            <a:endParaRPr altLang="en-IN" dirty="0" lang="en-IN" sz="2400"/>
          </a:p>
        </p:txBody>
      </p:sp>
    </p:spTree>
    <p:extLst>
      <p:ext uri="{BB962C8B-B14F-4D97-AF65-F5344CB8AC3E}">
        <p14:creationId xmlns:p14="http://schemas.microsoft.com/office/powerpoint/2010/main" val="46054911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par>
                                <p:cTn fill="hold" grpId="0" id="11" nodeType="withEffect" presetClass="entr" presetID="1" presetSubtype="0">
                                  <p:stCondLst>
                                    <p:cond delay="0"/>
                                  </p:stCondLst>
                                  <p:childTnLst>
                                    <p:set>
                                      <p:cBhvr>
                                        <p:cTn dur="1" fill="hold" id="12">
                                          <p:stCondLst>
                                            <p:cond delay="0"/>
                                          </p:stCondLst>
                                        </p:cTn>
                                        <p:tgtEl>
                                          <p:spTgt spid="3">
                                            <p:txEl>
                                              <p:pRg end="2" st="2"/>
                                            </p:txEl>
                                          </p:spTgt>
                                        </p:tgtEl>
                                        <p:attrNameLst>
                                          <p:attrName>style.visibility</p:attrName>
                                        </p:attrNameLst>
                                      </p:cBhvr>
                                      <p:to>
                                        <p:strVal val="visible"/>
                                      </p:to>
                                    </p:set>
                                  </p:childTnLst>
                                </p:cTn>
                              </p:par>
                              <p:par>
                                <p:cTn fill="hold" grpId="0" id="13" nodeType="withEffect" presetClass="entr" presetID="1" presetSubtype="0">
                                  <p:stCondLst>
                                    <p:cond delay="0"/>
                                  </p:stCondLst>
                                  <p:childTnLst>
                                    <p:set>
                                      <p:cBhvr>
                                        <p:cTn dur="1" fill="hold" id="14">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5B7EB-F744-E342-B3E4-09EF0A837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8C921-F369-73CF-DE49-6AF0A4149DF8}"/>
              </a:ext>
            </a:extLst>
          </p:cNvPr>
          <p:cNvSpPr>
            <a:spLocks noGrp="1"/>
          </p:cNvSpPr>
          <p:nvPr>
            <p:ph type="title"/>
          </p:nvPr>
        </p:nvSpPr>
        <p:spPr/>
        <p:txBody>
          <a:bodyPr numCol="1"/>
          <a:lstStyle/>
          <a:p>
            <a:r>
              <a:rPr dirty="0" lang="en-US"/>
              <a:t>Steps for converting CFG into CNF</a:t>
            </a:r>
            <a:endParaRPr altLang="en-IN" dirty="0" lang="en-IN"/>
          </a:p>
        </p:txBody>
      </p:sp>
      <p:sp>
        <p:nvSpPr>
          <p:cNvPr id="3" name="Content Placeholder 2">
            <a:extLst>
              <a:ext uri="{FF2B5EF4-FFF2-40B4-BE49-F238E27FC236}">
                <a16:creationId xmlns:a16="http://schemas.microsoft.com/office/drawing/2014/main" id="{41CF3209-A03B-CF3D-B0B6-568E47E19280}"/>
              </a:ext>
            </a:extLst>
          </p:cNvPr>
          <p:cNvSpPr>
            <a:spLocks noGrp="1"/>
          </p:cNvSpPr>
          <p:nvPr>
            <p:ph idx="1"/>
          </p:nvPr>
        </p:nvSpPr>
        <p:spPr/>
        <p:txBody>
          <a:bodyPr numCol="1">
            <a:normAutofit fontScale="92500" lnSpcReduction="20000"/>
          </a:bodyPr>
          <a:lstStyle/>
          <a:p>
            <a:pPr algn="just" indent="0" marL="0">
              <a:lnSpc>
                <a:spcPct val="150000"/>
              </a:lnSpc>
              <a:buNone/>
            </a:pPr>
            <a:r>
              <a:rPr altLang="en-IN" b="1" dirty="0" lang="en-IN" sz="2400"/>
              <a:t>Step 1: </a:t>
            </a:r>
            <a:r>
              <a:rPr altLang="en-IN" dirty="0" lang="en-IN" sz="2400"/>
              <a:t>Simplify the given CFG, Elimination of null production, elimination of unit production and elimination of useless production.</a:t>
            </a:r>
          </a:p>
          <a:p>
            <a:pPr algn="just" indent="0" marL="0">
              <a:lnSpc>
                <a:spcPct val="150000"/>
              </a:lnSpc>
              <a:buNone/>
            </a:pPr>
            <a:r>
              <a:rPr altLang="en-IN" b="1" dirty="0" lang="en-IN" sz="2400"/>
              <a:t>Step 2: </a:t>
            </a:r>
            <a:r>
              <a:rPr dirty="0" lang="en-US" sz="2400"/>
              <a:t>Replace each production A → B1…Bn where n &gt; 2 with A → B1C. Where C → B2 …Bn. Repeat this step for all productions having more than two non-terminals in the right side.</a:t>
            </a:r>
          </a:p>
          <a:p>
            <a:pPr algn="just" indent="0" marL="0">
              <a:lnSpc>
                <a:spcPct val="150000"/>
              </a:lnSpc>
              <a:buNone/>
            </a:pPr>
            <a:r>
              <a:rPr b="1" dirty="0" lang="en-US" sz="2400"/>
              <a:t>Step 3: </a:t>
            </a:r>
            <a:r>
              <a:rPr dirty="0" lang="en-US" sz="2400"/>
              <a:t>If the right side of any production is in the form A → </a:t>
            </a:r>
            <a:r>
              <a:rPr dirty="0" err="1" lang="en-US" sz="2400"/>
              <a:t>aB</a:t>
            </a:r>
            <a:r>
              <a:rPr dirty="0" lang="en-US" sz="2400"/>
              <a:t> where a is a terminal and A, B are non-terminal, then the production is replaced by A → XB and X → a. Repeat this step for every production which is in the form A → </a:t>
            </a:r>
            <a:r>
              <a:rPr dirty="0" err="1" lang="en-US" sz="2400"/>
              <a:t>aB.</a:t>
            </a:r>
            <a:endParaRPr dirty="0" lang="en-US" sz="2400"/>
          </a:p>
          <a:p>
            <a:pPr algn="just" indent="0" marL="0">
              <a:lnSpc>
                <a:spcPct val="150000"/>
              </a:lnSpc>
              <a:buNone/>
            </a:pPr>
            <a:endParaRPr altLang="en-IN" dirty="0" lang="en-IN" sz="2400"/>
          </a:p>
        </p:txBody>
      </p:sp>
    </p:spTree>
    <p:extLst>
      <p:ext uri="{BB962C8B-B14F-4D97-AF65-F5344CB8AC3E}">
        <p14:creationId xmlns:p14="http://schemas.microsoft.com/office/powerpoint/2010/main" val="130318251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A5F88D-EACE-5110-EA68-0B7E11131716}"/>
              </a:ext>
            </a:extLst>
          </p:cNvPr>
          <p:cNvSpPr txBox="1"/>
          <p:nvPr/>
        </p:nvSpPr>
        <p:spPr>
          <a:xfrm>
            <a:off x="465772" y="294055"/>
            <a:ext cx="10758488" cy="6217087"/>
          </a:xfrm>
          <a:prstGeom prst="rect">
            <a:avLst/>
          </a:prstGeom>
          <a:noFill/>
        </p:spPr>
        <p:txBody>
          <a:bodyPr numCol="1" wrap="square">
            <a:spAutoFit/>
          </a:bodyPr>
          <a:lstStyle/>
          <a:p>
            <a:pPr algn="l">
              <a:buNone/>
            </a:pPr>
            <a:r>
              <a:rPr b="1" dirty="0" i="0" lang="en-US">
                <a:effectLst/>
                <a:latin charset="0" panose="02020603050405020304" pitchFamily="18" typeface="Times New Roman"/>
                <a:cs charset="0" panose="02020603050405020304" pitchFamily="18" typeface="Times New Roman"/>
              </a:rPr>
              <a:t>Example: Convert the given CFG to CNF. Consider the given grammar G1:</a:t>
            </a:r>
          </a:p>
          <a:p>
            <a:pPr algn="l">
              <a:buNone/>
            </a:pPr>
            <a:r>
              <a:rPr altLang="pt-BR" b="1" dirty="0" i="0" lang="pt-BR">
                <a:effectLst/>
                <a:latin charset="0" panose="02020603050405020304" pitchFamily="18" typeface="Times New Roman"/>
                <a:cs charset="0" panose="02020603050405020304" pitchFamily="18" typeface="Times New Roman"/>
              </a:rPr>
              <a:t>S → bA / aB</a:t>
            </a:r>
          </a:p>
          <a:p>
            <a:pPr algn="l">
              <a:buNone/>
            </a:pPr>
            <a:r>
              <a:rPr altLang="pt-BR" b="1" dirty="0" i="0" lang="pt-BR">
                <a:effectLst/>
                <a:latin charset="0" panose="02020603050405020304" pitchFamily="18" typeface="Times New Roman"/>
                <a:cs charset="0" panose="02020603050405020304" pitchFamily="18" typeface="Times New Roman"/>
              </a:rPr>
              <a:t>A → bAA / aS / a</a:t>
            </a:r>
          </a:p>
          <a:p>
            <a:pPr algn="l">
              <a:buNone/>
            </a:pPr>
            <a:r>
              <a:rPr altLang="pt-BR" b="1" dirty="0" i="0" lang="pt-BR">
                <a:effectLst/>
                <a:latin charset="0" panose="02020603050405020304" pitchFamily="18" typeface="Times New Roman"/>
                <a:cs charset="0" panose="02020603050405020304" pitchFamily="18" typeface="Times New Roman"/>
              </a:rPr>
              <a:t>B → aBB / bS / b.</a:t>
            </a:r>
          </a:p>
          <a:p>
            <a:pPr algn="l">
              <a:buNone/>
            </a:pPr>
            <a:endParaRPr altLang="pt-BR" dirty="0" lang="pt-BR">
              <a:latin charset="0" panose="02020603050405020304" pitchFamily="18" typeface="Times New Roman"/>
              <a:cs charset="0" panose="02020603050405020304" pitchFamily="18" typeface="Times New Roman"/>
            </a:endParaRPr>
          </a:p>
          <a:p>
            <a:pPr algn="l">
              <a:buNone/>
            </a:pPr>
            <a:r>
              <a:rPr altLang="pt-BR" b="1" dirty="0" i="0" lang="pt-BR">
                <a:effectLst/>
                <a:latin charset="0" panose="02020603050405020304" pitchFamily="18" typeface="Times New Roman"/>
                <a:cs charset="0" panose="02020603050405020304" pitchFamily="18" typeface="Times New Roman"/>
              </a:rPr>
              <a:t>Solution</a:t>
            </a:r>
            <a:r>
              <a:rPr altLang="pt-BR" b="0" dirty="0" i="0" lang="pt-BR">
                <a:effectLst/>
                <a:latin charset="0" panose="02020603050405020304" pitchFamily="18" typeface="Times New Roman"/>
                <a:cs charset="0" panose="02020603050405020304" pitchFamily="18" typeface="Times New Roman"/>
              </a:rPr>
              <a:t>: Step 1: there is no null production, unit production and useless production.</a:t>
            </a:r>
          </a:p>
          <a:p>
            <a:pPr algn="l">
              <a:buNone/>
            </a:pPr>
            <a:r>
              <a:rPr altLang="pt-BR" dirty="0" lang="pt-BR">
                <a:latin charset="0" panose="02020603050405020304" pitchFamily="18" typeface="Times New Roman"/>
                <a:cs charset="0" panose="02020603050405020304" pitchFamily="18" typeface="Times New Roman"/>
              </a:rPr>
              <a:t>Step 2: </a:t>
            </a:r>
            <a:r>
              <a:rPr b="0" dirty="0" i="0" lang="en-US">
                <a:effectLst/>
                <a:latin charset="0" panose="02020603050405020304" pitchFamily="18" typeface="Times New Roman"/>
              </a:rPr>
              <a:t>Find the productions which are already in CNF.</a:t>
            </a:r>
          </a:p>
          <a:p>
            <a:pPr algn="l">
              <a:buNone/>
            </a:pPr>
            <a:r>
              <a:rPr b="0" dirty="0" i="0" lang="en-US">
                <a:effectLst/>
                <a:highlight>
                  <a:srgbClr val="FFFF00"/>
                </a:highlight>
                <a:latin charset="0" panose="02020603050405020304" pitchFamily="18" typeface="Times New Roman"/>
              </a:rPr>
              <a:t>A → a</a:t>
            </a:r>
          </a:p>
          <a:p>
            <a:pPr algn="l">
              <a:buNone/>
            </a:pPr>
            <a:r>
              <a:rPr b="0" dirty="0" i="0" lang="en-US">
                <a:effectLst/>
                <a:highlight>
                  <a:srgbClr val="FFFF00"/>
                </a:highlight>
                <a:latin charset="0" panose="02020603050405020304" pitchFamily="18" typeface="Times New Roman"/>
              </a:rPr>
              <a:t>B → b</a:t>
            </a:r>
            <a:r>
              <a:rPr dirty="0" lang="en-US">
                <a:highlight>
                  <a:srgbClr val="FFFF00"/>
                </a:highlight>
              </a:rPr>
              <a:t> </a:t>
            </a:r>
          </a:p>
          <a:p>
            <a:pPr algn="l">
              <a:buNone/>
            </a:pPr>
            <a:r>
              <a:rPr altLang="pt-BR" dirty="0" lang="pt-BR">
                <a:latin charset="0" panose="02020603050405020304" pitchFamily="18" typeface="Times New Roman"/>
                <a:cs charset="0" panose="02020603050405020304" pitchFamily="18" typeface="Times New Roman"/>
              </a:rPr>
              <a:t>Step 3: </a:t>
            </a:r>
            <a:r>
              <a:rPr b="0" dirty="0" i="0" lang="en-US">
                <a:effectLst/>
                <a:latin charset="0" panose="02020603050405020304" pitchFamily="18" typeface="Times New Roman"/>
              </a:rPr>
              <a:t>Replace all remaining productions into CNF.</a:t>
            </a:r>
            <a:r>
              <a:rPr dirty="0" lang="en-US"/>
              <a:t> </a:t>
            </a:r>
          </a:p>
          <a:p>
            <a:pPr algn="l" indent="-514350" marL="514350">
              <a:buAutoNum type="romanLcPeriod"/>
            </a:pPr>
            <a:r>
              <a:rPr altLang="pl-PL" b="1" dirty="0" i="0" lang="pl-PL" sz="2000">
                <a:effectLst/>
                <a:highlight>
                  <a:srgbClr val="FFFF00"/>
                </a:highlight>
                <a:latin charset="0" panose="02020603050405020304" pitchFamily="18" typeface="Times New Roman"/>
              </a:rPr>
              <a:t>S → bA</a:t>
            </a:r>
            <a:br>
              <a:rPr altLang="pl-PL" b="1" dirty="0" i="0" lang="pl-PL" sz="2000">
                <a:effectLst/>
                <a:latin charset="0" panose="02020603050405020304" pitchFamily="18" typeface="Times New Roman"/>
              </a:rPr>
            </a:br>
            <a:r>
              <a:rPr altLang="en-IN" b="1" dirty="0" i="0" lang="en-IN" sz="2000">
                <a:effectLst/>
                <a:latin charset="0" panose="02020603050405020304" pitchFamily="18" typeface="Times New Roman"/>
              </a:rPr>
              <a:t>	</a:t>
            </a:r>
            <a:r>
              <a:rPr altLang="pl-PL" b="0" dirty="0" i="0" lang="pl-PL" sz="2000">
                <a:effectLst/>
                <a:latin charset="0" panose="02020603050405020304" pitchFamily="18" typeface="Times New Roman"/>
              </a:rPr>
              <a:t>S → C</a:t>
            </a:r>
            <a:r>
              <a:rPr altLang="pl-PL" b="0" baseline="-25000" dirty="0" i="0" lang="pl-PL" sz="2000">
                <a:effectLst/>
                <a:latin charset="0" panose="02020603050405020304" pitchFamily="18" typeface="Times New Roman"/>
              </a:rPr>
              <a:t>b</a:t>
            </a:r>
            <a:r>
              <a:rPr altLang="pl-PL" b="0" dirty="0" i="0" lang="pl-PL" sz="2000">
                <a:effectLst/>
                <a:latin charset="0" panose="02020603050405020304" pitchFamily="18" typeface="Times New Roman"/>
              </a:rPr>
              <a:t>A</a:t>
            </a:r>
            <a:br>
              <a:rPr altLang="pl-PL" b="0" dirty="0" i="0" lang="pl-PL" sz="2000">
                <a:effectLst/>
                <a:latin charset="0" panose="02020603050405020304" pitchFamily="18" typeface="Times New Roman"/>
              </a:rPr>
            </a:br>
            <a:r>
              <a:rPr altLang="en-IN" b="0" dirty="0" i="0" lang="en-IN" sz="2000">
                <a:effectLst/>
                <a:latin charset="0" panose="02020603050405020304" pitchFamily="18" typeface="Times New Roman"/>
              </a:rPr>
              <a:t>	</a:t>
            </a:r>
            <a:r>
              <a:rPr altLang="pl-PL" b="0" dirty="0" i="0" lang="pl-PL" sz="2000">
                <a:effectLst/>
                <a:latin charset="0" panose="02020603050405020304" pitchFamily="18" typeface="Times New Roman"/>
              </a:rPr>
              <a:t>C</a:t>
            </a:r>
            <a:r>
              <a:rPr altLang="pl-PL" b="0" baseline="-25000" dirty="0" i="0" lang="pl-PL" sz="2000">
                <a:effectLst/>
                <a:latin charset="0" panose="02020603050405020304" pitchFamily="18" typeface="Times New Roman"/>
              </a:rPr>
              <a:t>b</a:t>
            </a:r>
            <a:r>
              <a:rPr altLang="pl-PL" b="0" dirty="0" i="0" lang="pl-PL" sz="2000">
                <a:effectLst/>
                <a:latin charset="0" panose="02020603050405020304" pitchFamily="18" typeface="Times New Roman"/>
              </a:rPr>
              <a:t> → b</a:t>
            </a:r>
            <a:r>
              <a:rPr altLang="pl-PL" dirty="0" lang="pl-PL" sz="2000"/>
              <a:t> </a:t>
            </a:r>
            <a:endParaRPr dirty="0" lang="en-US" sz="2000"/>
          </a:p>
          <a:p>
            <a:pPr algn="l" indent="-514350" marL="514350">
              <a:buAutoNum type="romanLcPeriod"/>
            </a:pPr>
            <a:r>
              <a:rPr altLang="en-IN" b="1" dirty="0" i="0" lang="en-IN" sz="2000">
                <a:effectLst/>
                <a:highlight>
                  <a:srgbClr val="FFFF00"/>
                </a:highlight>
                <a:latin charset="0" panose="02020603050405020304" pitchFamily="18" typeface="Times New Roman"/>
              </a:rPr>
              <a:t>S → </a:t>
            </a:r>
            <a:r>
              <a:rPr altLang="en-IN" b="1" dirty="0" err="1" i="0" lang="en-IN" sz="2000">
                <a:effectLst/>
                <a:highlight>
                  <a:srgbClr val="FFFF00"/>
                </a:highlight>
                <a:latin charset="0" panose="02020603050405020304" pitchFamily="18" typeface="Times New Roman"/>
              </a:rPr>
              <a:t>aB</a:t>
            </a:r>
            <a:br>
              <a:rPr altLang="en-IN" b="1" dirty="0" i="0" lang="en-IN" sz="2000">
                <a:effectLst/>
                <a:latin charset="0" panose="02020603050405020304" pitchFamily="18" typeface="Times New Roman"/>
              </a:rPr>
            </a:br>
            <a:r>
              <a:rPr altLang="en-IN" b="1" dirty="0" i="0" lang="en-IN" sz="2000">
                <a:effectLst/>
                <a:latin charset="0" panose="02020603050405020304" pitchFamily="18" typeface="Times New Roman"/>
              </a:rPr>
              <a:t>	</a:t>
            </a:r>
            <a:r>
              <a:rPr altLang="en-IN" b="0" dirty="0" i="0" lang="en-IN" sz="2000">
                <a:effectLst/>
                <a:latin charset="0" panose="02020603050405020304" pitchFamily="18" typeface="Times New Roman"/>
              </a:rPr>
              <a:t>S → </a:t>
            </a:r>
            <a:r>
              <a:rPr altLang="en-IN" b="0" dirty="0" err="1" i="0" lang="en-IN" sz="2000">
                <a:effectLst/>
                <a:latin charset="0" panose="02020603050405020304" pitchFamily="18" typeface="Times New Roman"/>
              </a:rPr>
              <a:t>C</a:t>
            </a:r>
            <a:r>
              <a:rPr altLang="en-IN" b="0" baseline="-25000" dirty="0" err="1" i="0" lang="en-IN" sz="2000">
                <a:effectLst/>
                <a:latin charset="0" panose="02020603050405020304" pitchFamily="18" typeface="Times New Roman"/>
              </a:rPr>
              <a:t>a</a:t>
            </a:r>
            <a:r>
              <a:rPr altLang="en-IN" b="0" dirty="0" err="1" i="0" lang="en-IN" sz="2000">
                <a:effectLst/>
                <a:latin charset="0" panose="02020603050405020304" pitchFamily="18" typeface="Times New Roman"/>
              </a:rPr>
              <a:t>B</a:t>
            </a:r>
            <a:br>
              <a:rPr altLang="en-IN" b="0" dirty="0" i="0" lang="en-IN" sz="2000">
                <a:effectLst/>
                <a:latin charset="0" panose="02020603050405020304" pitchFamily="18" typeface="Times New Roman"/>
              </a:rPr>
            </a:br>
            <a:r>
              <a:rPr altLang="en-IN" b="0" dirty="0" i="0" lang="en-IN" sz="2000">
                <a:effectLst/>
                <a:latin charset="0" panose="02020603050405020304" pitchFamily="18" typeface="Times New Roman"/>
              </a:rPr>
              <a:t>	C</a:t>
            </a:r>
            <a:r>
              <a:rPr altLang="en-IN" b="0" baseline="-25000" dirty="0" i="0" lang="en-IN" sz="2000">
                <a:effectLst/>
                <a:latin charset="0" panose="02020603050405020304" pitchFamily="18" typeface="Times New Roman"/>
              </a:rPr>
              <a:t>a</a:t>
            </a:r>
            <a:r>
              <a:rPr altLang="en-IN" b="0" dirty="0" i="0" lang="en-IN" sz="2000">
                <a:effectLst/>
                <a:latin charset="0" panose="02020603050405020304" pitchFamily="18" typeface="Times New Roman"/>
              </a:rPr>
              <a:t> → a</a:t>
            </a:r>
            <a:r>
              <a:rPr altLang="en-IN" dirty="0" lang="en-IN" sz="2000"/>
              <a:t> </a:t>
            </a:r>
          </a:p>
          <a:p>
            <a:pPr algn="l" indent="-514350" marL="514350">
              <a:buAutoNum type="romanLcPeriod"/>
            </a:pPr>
            <a:r>
              <a:rPr altLang="en-IN" b="1" dirty="0" i="0" lang="en-IN" sz="2000">
                <a:effectLst/>
                <a:highlight>
                  <a:srgbClr val="FFFF00"/>
                </a:highlight>
                <a:latin charset="0" panose="02020603050405020304" pitchFamily="18" typeface="Times New Roman"/>
              </a:rPr>
              <a:t>A → </a:t>
            </a:r>
            <a:r>
              <a:rPr altLang="en-IN" b="1" dirty="0" err="1" i="0" lang="en-IN" sz="2000">
                <a:effectLst/>
                <a:highlight>
                  <a:srgbClr val="FFFF00"/>
                </a:highlight>
                <a:latin charset="0" panose="02020603050405020304" pitchFamily="18" typeface="Times New Roman"/>
              </a:rPr>
              <a:t>bAA</a:t>
            </a:r>
            <a:br>
              <a:rPr altLang="en-IN" b="0" dirty="0" i="0" lang="en-IN" sz="2000">
                <a:effectLst/>
                <a:latin charset="0" panose="02020603050405020304" pitchFamily="18" typeface="Times New Roman"/>
              </a:rPr>
            </a:br>
            <a:r>
              <a:rPr altLang="en-IN" b="0" dirty="0" i="0" lang="en-IN" sz="2000">
                <a:effectLst/>
                <a:latin charset="0" panose="02020603050405020304" pitchFamily="18" typeface="Times New Roman"/>
              </a:rPr>
              <a:t>	A → C</a:t>
            </a:r>
            <a:r>
              <a:rPr altLang="en-IN" b="0" baseline="-25000" dirty="0" i="0" lang="en-IN" sz="2000">
                <a:effectLst/>
                <a:latin charset="0" panose="02020603050405020304" pitchFamily="18" typeface="Times New Roman"/>
              </a:rPr>
              <a:t>b</a:t>
            </a:r>
            <a:r>
              <a:rPr altLang="en-IN" b="0" dirty="0" i="0" lang="en-IN" sz="2000">
                <a:effectLst/>
                <a:latin charset="0" panose="02020603050405020304" pitchFamily="18" typeface="Times New Roman"/>
              </a:rPr>
              <a:t>D</a:t>
            </a:r>
            <a:r>
              <a:rPr altLang="en-IN" b="0" baseline="-25000" dirty="0" i="0" lang="en-IN" sz="2000">
                <a:effectLst/>
                <a:latin charset="0" panose="02020603050405020304" pitchFamily="18" typeface="Times New Roman"/>
              </a:rPr>
              <a:t>1</a:t>
            </a:r>
            <a:br>
              <a:rPr altLang="en-IN" b="0" dirty="0" i="0" lang="en-IN" sz="2000">
                <a:effectLst/>
                <a:latin charset="0" panose="02020603050405020304" pitchFamily="18" typeface="Times New Roman"/>
              </a:rPr>
            </a:br>
            <a:r>
              <a:rPr altLang="en-IN" b="0" dirty="0" i="0" lang="en-IN" sz="2000">
                <a:effectLst/>
                <a:latin charset="0" panose="02020603050405020304" pitchFamily="18" typeface="Times New Roman"/>
              </a:rPr>
              <a:t>	D</a:t>
            </a:r>
            <a:r>
              <a:rPr altLang="en-IN" b="0" baseline="-25000" dirty="0" i="0" lang="en-IN" sz="2000">
                <a:effectLst/>
                <a:latin charset="0" panose="02020603050405020304" pitchFamily="18" typeface="Times New Roman"/>
              </a:rPr>
              <a:t>1</a:t>
            </a:r>
            <a:r>
              <a:rPr altLang="en-IN" b="0" dirty="0" i="0" lang="en-IN" sz="2000">
                <a:effectLst/>
                <a:latin charset="0" panose="02020603050405020304" pitchFamily="18" typeface="Times New Roman"/>
              </a:rPr>
              <a:t> → AA</a:t>
            </a:r>
            <a:br>
              <a:rPr altLang="en-IN" b="0" dirty="0" i="0" lang="en-IN" sz="2000">
                <a:effectLst/>
                <a:latin charset="0" panose="02020603050405020304" pitchFamily="18" typeface="Times New Roman"/>
              </a:rPr>
            </a:br>
            <a:r>
              <a:rPr altLang="en-IN" b="0" dirty="0" i="0" lang="en-IN" sz="2000">
                <a:effectLst/>
                <a:latin charset="0" panose="02020603050405020304" pitchFamily="18" typeface="Times New Roman"/>
              </a:rPr>
              <a:t>	</a:t>
            </a:r>
            <a:r>
              <a:rPr altLang="en-IN" b="0" dirty="0" err="1" i="0" lang="en-IN" sz="2000">
                <a:effectLst/>
                <a:latin charset="0" panose="02020603050405020304" pitchFamily="18" typeface="Times New Roman"/>
              </a:rPr>
              <a:t>C</a:t>
            </a:r>
            <a:r>
              <a:rPr altLang="en-IN" b="0" baseline="-25000" dirty="0" err="1" i="0" lang="en-IN" sz="2000">
                <a:effectLst/>
                <a:latin charset="0" panose="02020603050405020304" pitchFamily="18" typeface="Times New Roman"/>
              </a:rPr>
              <a:t>b</a:t>
            </a:r>
            <a:r>
              <a:rPr altLang="en-IN" b="0" dirty="0" i="0" lang="en-IN" sz="2000">
                <a:effectLst/>
                <a:latin charset="0" panose="02020603050405020304" pitchFamily="18" typeface="Times New Roman"/>
              </a:rPr>
              <a:t> → b</a:t>
            </a:r>
            <a:r>
              <a:rPr altLang="en-IN" dirty="0" lang="en-IN" sz="2000"/>
              <a:t> </a:t>
            </a:r>
            <a:br>
              <a:rPr altLang="en-IN" dirty="0" lang="en-IN"/>
            </a:br>
            <a:endParaRPr altLang="pt-BR" dirty="0" lang="pt-BR">
              <a:latin charset="0" panose="02020603050405020304" pitchFamily="18" typeface="Times New Roman"/>
              <a:cs charset="0" panose="02020603050405020304" pitchFamily="18" typeface="Times New Roman"/>
            </a:endParaRPr>
          </a:p>
        </p:txBody>
      </p:sp>
      <p:sp>
        <p:nvSpPr>
          <p:cNvPr id="5" name="TextBox 4">
            <a:extLst>
              <a:ext uri="{FF2B5EF4-FFF2-40B4-BE49-F238E27FC236}">
                <a16:creationId xmlns:a16="http://schemas.microsoft.com/office/drawing/2014/main" id="{B2DBFF89-1CBD-9D46-57EB-A9593A90A139}"/>
              </a:ext>
            </a:extLst>
          </p:cNvPr>
          <p:cNvSpPr txBox="1"/>
          <p:nvPr/>
        </p:nvSpPr>
        <p:spPr>
          <a:xfrm>
            <a:off x="8375333" y="3248710"/>
            <a:ext cx="3431857" cy="2672030"/>
          </a:xfrm>
          <a:prstGeom prst="rect">
            <a:avLst/>
          </a:prstGeom>
          <a:noFill/>
        </p:spPr>
        <p:txBody>
          <a:bodyPr numCol="1" wrap="square">
            <a:spAutoFit/>
          </a:bodyPr>
          <a:lstStyle/>
          <a:p>
            <a:r>
              <a:rPr altLang="en-IN" b="0" dirty="0" i="0" lang="en-IN" sz="1800">
                <a:solidFill>
                  <a:srgbClr val="222222"/>
                </a:solidFill>
                <a:effectLst/>
                <a:latin charset="0" panose="02020603050405020304" pitchFamily="18" typeface="Times New Roman"/>
              </a:rPr>
              <a:t>Final Resultant Grammar</a:t>
            </a:r>
            <a:br>
              <a:rPr altLang="en-IN" b="0" dirty="0" i="0" lang="en-IN" sz="1800">
                <a:solidFill>
                  <a:srgbClr val="222222"/>
                </a:solidFill>
                <a:effectLst/>
                <a:latin charset="0" panose="02020603050405020304" pitchFamily="18" typeface="Times New Roman"/>
              </a:rPr>
            </a:br>
            <a:r>
              <a:rPr altLang="en-IN" b="0" dirty="0" i="0" lang="en-IN" sz="1800">
                <a:solidFill>
                  <a:srgbClr val="222222"/>
                </a:solidFill>
                <a:effectLst/>
                <a:latin charset="0" panose="02020603050405020304" pitchFamily="18" typeface="Times New Roman"/>
              </a:rPr>
              <a:t>G1: </a:t>
            </a:r>
            <a:r>
              <a:rPr altLang="en-IN" b="0" dirty="0" i="0" lang="en-IN" sz="1800">
                <a:solidFill>
                  <a:srgbClr val="000000"/>
                </a:solidFill>
                <a:effectLst/>
                <a:latin charset="0" panose="02020603050405020304" pitchFamily="18" typeface="Times New Roman"/>
              </a:rPr>
              <a:t>S </a:t>
            </a:r>
            <a:r>
              <a:rPr altLang="en-IN" b="0" dirty="0" i="0" lang="en-IN" sz="1800">
                <a:solidFill>
                  <a:srgbClr val="222222"/>
                </a:solidFill>
                <a:effectLst/>
                <a:latin charset="0" panose="02020603050405020304" pitchFamily="18" typeface="Times New Roman"/>
              </a:rPr>
              <a:t>→ </a:t>
            </a:r>
            <a:r>
              <a:rPr altLang="en-IN" b="0" dirty="0" err="1" i="0" lang="en-IN" sz="1800">
                <a:solidFill>
                  <a:srgbClr val="000000"/>
                </a:solidFill>
                <a:effectLst/>
                <a:latin charset="0" panose="02020603050405020304" pitchFamily="18" typeface="Times New Roman"/>
              </a:rPr>
              <a:t>C</a:t>
            </a:r>
            <a:r>
              <a:rPr altLang="en-IN" b="0" dirty="0" err="1" i="0" lang="en-IN" sz="1050">
                <a:solidFill>
                  <a:srgbClr val="000000"/>
                </a:solidFill>
                <a:effectLst/>
                <a:latin charset="0" panose="02020603050405020304" pitchFamily="18" typeface="Times New Roman"/>
              </a:rPr>
              <a:t>b</a:t>
            </a:r>
            <a:r>
              <a:rPr altLang="en-IN" b="0" dirty="0" err="1" i="0" lang="en-IN" sz="1800">
                <a:solidFill>
                  <a:srgbClr val="000000"/>
                </a:solidFill>
                <a:effectLst/>
                <a:latin charset="0" panose="02020603050405020304" pitchFamily="18" typeface="Times New Roman"/>
              </a:rPr>
              <a:t>A</a:t>
            </a:r>
            <a:r>
              <a:rPr altLang="en-IN" b="0" dirty="0" i="0" lang="en-IN" sz="1800">
                <a:solidFill>
                  <a:srgbClr val="000000"/>
                </a:solidFill>
                <a:effectLst/>
                <a:latin charset="0" panose="02020603050405020304" pitchFamily="18" typeface="Times New Roman"/>
              </a:rPr>
              <a:t> / </a:t>
            </a:r>
            <a:r>
              <a:rPr altLang="en-IN" b="0" dirty="0" err="1" i="0" lang="en-IN" sz="1800">
                <a:solidFill>
                  <a:srgbClr val="000000"/>
                </a:solidFill>
                <a:effectLst/>
                <a:latin charset="0" panose="02020603050405020304" pitchFamily="18" typeface="Times New Roman"/>
              </a:rPr>
              <a:t>C</a:t>
            </a:r>
            <a:r>
              <a:rPr altLang="en-IN" b="0" dirty="0" err="1" i="0" lang="en-IN" sz="1050">
                <a:solidFill>
                  <a:srgbClr val="000000"/>
                </a:solidFill>
                <a:effectLst/>
                <a:latin charset="0" panose="02020603050405020304" pitchFamily="18" typeface="Times New Roman"/>
              </a:rPr>
              <a:t>a</a:t>
            </a:r>
            <a:r>
              <a:rPr altLang="en-IN" b="0" dirty="0" err="1" i="0" lang="en-IN" sz="1800">
                <a:solidFill>
                  <a:srgbClr val="000000"/>
                </a:solidFill>
                <a:effectLst/>
                <a:latin charset="0" panose="02020603050405020304" pitchFamily="18" typeface="Times New Roman"/>
              </a:rPr>
              <a:t>B</a:t>
            </a:r>
            <a:br>
              <a:rPr altLang="en-IN" b="0" dirty="0" i="0" lang="en-IN" sz="1800">
                <a:solidFill>
                  <a:srgbClr val="000000"/>
                </a:solidFill>
                <a:effectLst/>
                <a:latin charset="0" panose="02020603050405020304" pitchFamily="18" typeface="Times New Roman"/>
              </a:rPr>
            </a:br>
            <a:r>
              <a:rPr altLang="en-IN" b="0" dirty="0" i="0" lang="en-IN" sz="1800">
                <a:solidFill>
                  <a:srgbClr val="000000"/>
                </a:solidFill>
                <a:effectLst/>
                <a:latin charset="0" panose="02020603050405020304" pitchFamily="18" typeface="Times New Roman"/>
              </a:rPr>
              <a:t>A </a:t>
            </a:r>
            <a:r>
              <a:rPr altLang="en-IN" b="0" dirty="0" i="0" lang="en-IN" sz="1800">
                <a:solidFill>
                  <a:srgbClr val="222222"/>
                </a:solidFill>
                <a:effectLst/>
                <a:latin charset="0" panose="02020603050405020304" pitchFamily="18" typeface="Times New Roman"/>
              </a:rPr>
              <a:t>→ </a:t>
            </a:r>
            <a:r>
              <a:rPr altLang="en-IN" b="0" dirty="0" i="0" lang="en-IN" sz="1800">
                <a:solidFill>
                  <a:srgbClr val="000000"/>
                </a:solidFill>
                <a:effectLst/>
                <a:latin charset="0" panose="02020603050405020304" pitchFamily="18" typeface="Times New Roman"/>
              </a:rPr>
              <a:t>C</a:t>
            </a:r>
            <a:r>
              <a:rPr altLang="en-IN" b="0" dirty="0" i="0" lang="en-IN" sz="1050">
                <a:solidFill>
                  <a:srgbClr val="000000"/>
                </a:solidFill>
                <a:effectLst/>
                <a:latin charset="0" panose="02020603050405020304" pitchFamily="18" typeface="Times New Roman"/>
              </a:rPr>
              <a:t>b</a:t>
            </a:r>
            <a:r>
              <a:rPr altLang="en-IN" b="0" dirty="0" i="0" lang="en-IN" sz="1800">
                <a:solidFill>
                  <a:srgbClr val="000000"/>
                </a:solidFill>
                <a:effectLst/>
                <a:latin charset="0" panose="02020603050405020304" pitchFamily="18" typeface="Times New Roman"/>
              </a:rPr>
              <a:t>D</a:t>
            </a:r>
            <a:r>
              <a:rPr altLang="en-IN" b="0" dirty="0" i="0" lang="en-IN" sz="1050">
                <a:solidFill>
                  <a:srgbClr val="000000"/>
                </a:solidFill>
                <a:effectLst/>
                <a:latin charset="0" panose="02020603050405020304" pitchFamily="18" typeface="Times New Roman"/>
              </a:rPr>
              <a:t>1 </a:t>
            </a:r>
            <a:r>
              <a:rPr altLang="en-IN" b="0" dirty="0" i="0" lang="en-IN" sz="1800">
                <a:solidFill>
                  <a:srgbClr val="000000"/>
                </a:solidFill>
                <a:effectLst/>
                <a:latin charset="0" panose="02020603050405020304" pitchFamily="18" typeface="Times New Roman"/>
              </a:rPr>
              <a:t>/ </a:t>
            </a:r>
            <a:r>
              <a:rPr altLang="en-IN" b="0" dirty="0" err="1" i="0" lang="en-IN" sz="1800">
                <a:solidFill>
                  <a:srgbClr val="000000"/>
                </a:solidFill>
                <a:effectLst/>
                <a:latin charset="0" panose="02020603050405020304" pitchFamily="18" typeface="Times New Roman"/>
              </a:rPr>
              <a:t>C</a:t>
            </a:r>
            <a:r>
              <a:rPr altLang="en-IN" b="0" dirty="0" err="1" i="0" lang="en-IN" sz="1050">
                <a:solidFill>
                  <a:srgbClr val="000000"/>
                </a:solidFill>
                <a:effectLst/>
                <a:latin charset="0" panose="02020603050405020304" pitchFamily="18" typeface="Times New Roman"/>
              </a:rPr>
              <a:t>a</a:t>
            </a:r>
            <a:r>
              <a:rPr altLang="en-IN" b="0" dirty="0" err="1" i="0" lang="en-IN" sz="1800">
                <a:solidFill>
                  <a:srgbClr val="000000"/>
                </a:solidFill>
                <a:effectLst/>
                <a:latin charset="0" panose="02020603050405020304" pitchFamily="18" typeface="Times New Roman"/>
              </a:rPr>
              <a:t>S</a:t>
            </a:r>
            <a:r>
              <a:rPr altLang="en-IN" b="0" dirty="0" i="0" lang="en-IN" sz="1800">
                <a:solidFill>
                  <a:srgbClr val="000000"/>
                </a:solidFill>
                <a:effectLst/>
                <a:latin charset="0" panose="02020603050405020304" pitchFamily="18" typeface="Times New Roman"/>
              </a:rPr>
              <a:t> / a</a:t>
            </a:r>
            <a:br>
              <a:rPr altLang="en-IN" b="0" dirty="0" i="0" lang="en-IN" sz="1800">
                <a:solidFill>
                  <a:srgbClr val="000000"/>
                </a:solidFill>
                <a:effectLst/>
                <a:latin charset="0" panose="02020603050405020304" pitchFamily="18" typeface="Times New Roman"/>
              </a:rPr>
            </a:br>
            <a:r>
              <a:rPr altLang="en-IN" b="0" dirty="0" i="0" lang="en-IN" sz="1800">
                <a:solidFill>
                  <a:srgbClr val="000000"/>
                </a:solidFill>
                <a:effectLst/>
                <a:latin charset="0" panose="02020603050405020304" pitchFamily="18" typeface="Times New Roman"/>
              </a:rPr>
              <a:t>B </a:t>
            </a:r>
            <a:r>
              <a:rPr altLang="en-IN" b="0" dirty="0" i="0" lang="en-IN" sz="1800">
                <a:solidFill>
                  <a:srgbClr val="222222"/>
                </a:solidFill>
                <a:effectLst/>
                <a:latin charset="0" panose="02020603050405020304" pitchFamily="18" typeface="Times New Roman"/>
              </a:rPr>
              <a:t>→ </a:t>
            </a:r>
            <a:r>
              <a:rPr altLang="en-IN" b="0" dirty="0" i="0" lang="en-IN" sz="1800">
                <a:solidFill>
                  <a:srgbClr val="000000"/>
                </a:solidFill>
                <a:effectLst/>
                <a:latin charset="0" panose="02020603050405020304" pitchFamily="18" typeface="Times New Roman"/>
              </a:rPr>
              <a:t>C</a:t>
            </a:r>
            <a:r>
              <a:rPr altLang="en-IN" b="0" dirty="0" i="0" lang="en-IN" sz="1050">
                <a:solidFill>
                  <a:srgbClr val="000000"/>
                </a:solidFill>
                <a:effectLst/>
                <a:latin charset="0" panose="02020603050405020304" pitchFamily="18" typeface="Times New Roman"/>
              </a:rPr>
              <a:t>a </a:t>
            </a:r>
            <a:r>
              <a:rPr altLang="en-IN" b="0" dirty="0" i="0" lang="en-IN" sz="1800">
                <a:solidFill>
                  <a:srgbClr val="000000"/>
                </a:solidFill>
                <a:effectLst/>
                <a:latin charset="0" panose="02020603050405020304" pitchFamily="18" typeface="Times New Roman"/>
              </a:rPr>
              <a:t>D</a:t>
            </a:r>
            <a:r>
              <a:rPr altLang="en-IN" b="0" dirty="0" i="0" lang="en-IN" sz="1050">
                <a:solidFill>
                  <a:srgbClr val="000000"/>
                </a:solidFill>
                <a:effectLst/>
                <a:latin charset="0" panose="02020603050405020304" pitchFamily="18" typeface="Times New Roman"/>
              </a:rPr>
              <a:t>2 </a:t>
            </a:r>
            <a:r>
              <a:rPr altLang="en-IN" b="0" dirty="0" i="0" lang="en-IN" sz="1800">
                <a:solidFill>
                  <a:srgbClr val="000000"/>
                </a:solidFill>
                <a:effectLst/>
                <a:latin charset="0" panose="02020603050405020304" pitchFamily="18" typeface="Times New Roman"/>
              </a:rPr>
              <a:t>/ </a:t>
            </a:r>
            <a:r>
              <a:rPr altLang="en-IN" b="0" dirty="0" err="1" i="0" lang="en-IN" sz="1800">
                <a:solidFill>
                  <a:srgbClr val="000000"/>
                </a:solidFill>
                <a:effectLst/>
                <a:latin charset="0" panose="02020603050405020304" pitchFamily="18" typeface="Times New Roman"/>
              </a:rPr>
              <a:t>C</a:t>
            </a:r>
            <a:r>
              <a:rPr altLang="en-IN" b="0" dirty="0" err="1" i="0" lang="en-IN" sz="1050">
                <a:solidFill>
                  <a:srgbClr val="000000"/>
                </a:solidFill>
                <a:effectLst/>
                <a:latin charset="0" panose="02020603050405020304" pitchFamily="18" typeface="Times New Roman"/>
              </a:rPr>
              <a:t>b</a:t>
            </a:r>
            <a:r>
              <a:rPr altLang="en-IN" b="0" dirty="0" err="1" i="0" lang="en-IN" sz="1800">
                <a:solidFill>
                  <a:srgbClr val="000000"/>
                </a:solidFill>
                <a:effectLst/>
                <a:latin charset="0" panose="02020603050405020304" pitchFamily="18" typeface="Times New Roman"/>
              </a:rPr>
              <a:t>S</a:t>
            </a:r>
            <a:r>
              <a:rPr altLang="en-IN" b="0" dirty="0" i="0" lang="en-IN" sz="1800">
                <a:solidFill>
                  <a:srgbClr val="000000"/>
                </a:solidFill>
                <a:effectLst/>
                <a:latin charset="0" panose="02020603050405020304" pitchFamily="18" typeface="Times New Roman"/>
              </a:rPr>
              <a:t> / b</a:t>
            </a:r>
            <a:br>
              <a:rPr altLang="en-IN" b="0" dirty="0" i="0" lang="en-IN" sz="1800">
                <a:solidFill>
                  <a:srgbClr val="000000"/>
                </a:solidFill>
                <a:effectLst/>
                <a:latin charset="0" panose="02020603050405020304" pitchFamily="18" typeface="Times New Roman"/>
              </a:rPr>
            </a:br>
            <a:r>
              <a:rPr altLang="en-IN" b="0" dirty="0" i="0" lang="en-IN" sz="1800">
                <a:solidFill>
                  <a:srgbClr val="000000"/>
                </a:solidFill>
                <a:effectLst/>
                <a:latin charset="0" panose="02020603050405020304" pitchFamily="18" typeface="Times New Roman"/>
              </a:rPr>
              <a:t>D</a:t>
            </a:r>
            <a:r>
              <a:rPr altLang="en-IN" b="0" dirty="0" i="0" lang="en-IN" sz="1050">
                <a:solidFill>
                  <a:srgbClr val="000000"/>
                </a:solidFill>
                <a:effectLst/>
                <a:latin charset="0" panose="02020603050405020304" pitchFamily="18" typeface="Times New Roman"/>
              </a:rPr>
              <a:t>1 </a:t>
            </a:r>
            <a:r>
              <a:rPr altLang="en-IN" b="0" dirty="0" i="0" lang="en-IN" sz="1800">
                <a:solidFill>
                  <a:srgbClr val="222222"/>
                </a:solidFill>
                <a:effectLst/>
                <a:latin charset="0" panose="02020603050405020304" pitchFamily="18" typeface="Times New Roman"/>
              </a:rPr>
              <a:t>→ </a:t>
            </a:r>
            <a:r>
              <a:rPr altLang="en-IN" b="0" dirty="0" i="0" lang="en-IN" sz="1800">
                <a:solidFill>
                  <a:srgbClr val="000000"/>
                </a:solidFill>
                <a:effectLst/>
                <a:latin charset="0" panose="02020603050405020304" pitchFamily="18" typeface="Times New Roman"/>
              </a:rPr>
              <a:t>AA</a:t>
            </a:r>
            <a:br>
              <a:rPr altLang="en-IN" b="0" dirty="0" i="0" lang="en-IN" sz="1800">
                <a:solidFill>
                  <a:srgbClr val="000000"/>
                </a:solidFill>
                <a:effectLst/>
                <a:latin charset="0" panose="02020603050405020304" pitchFamily="18" typeface="Times New Roman"/>
              </a:rPr>
            </a:br>
            <a:r>
              <a:rPr altLang="en-IN" b="0" dirty="0" i="0" lang="en-IN" sz="1800">
                <a:solidFill>
                  <a:srgbClr val="000000"/>
                </a:solidFill>
                <a:effectLst/>
                <a:latin charset="0" panose="02020603050405020304" pitchFamily="18" typeface="Times New Roman"/>
              </a:rPr>
              <a:t>D</a:t>
            </a:r>
            <a:r>
              <a:rPr altLang="en-IN" b="0" dirty="0" i="0" lang="en-IN" sz="1050">
                <a:solidFill>
                  <a:srgbClr val="000000"/>
                </a:solidFill>
                <a:effectLst/>
                <a:latin charset="0" panose="02020603050405020304" pitchFamily="18" typeface="Times New Roman"/>
              </a:rPr>
              <a:t>2 </a:t>
            </a:r>
            <a:r>
              <a:rPr altLang="en-IN" b="0" dirty="0" i="0" lang="en-IN" sz="1800">
                <a:solidFill>
                  <a:srgbClr val="222222"/>
                </a:solidFill>
                <a:effectLst/>
                <a:latin charset="0" panose="02020603050405020304" pitchFamily="18" typeface="Times New Roman"/>
              </a:rPr>
              <a:t>→ </a:t>
            </a:r>
            <a:r>
              <a:rPr altLang="en-IN" b="0" dirty="0" i="0" lang="en-IN" sz="1800">
                <a:solidFill>
                  <a:srgbClr val="000000"/>
                </a:solidFill>
                <a:effectLst/>
                <a:latin charset="0" panose="02020603050405020304" pitchFamily="18" typeface="Times New Roman"/>
              </a:rPr>
              <a:t>BB</a:t>
            </a:r>
            <a:br>
              <a:rPr altLang="en-IN" b="0" dirty="0" i="0" lang="en-IN" sz="1800">
                <a:solidFill>
                  <a:srgbClr val="000000"/>
                </a:solidFill>
                <a:effectLst/>
                <a:latin charset="0" panose="02020603050405020304" pitchFamily="18" typeface="Times New Roman"/>
              </a:rPr>
            </a:br>
            <a:r>
              <a:rPr altLang="en-IN" b="0" dirty="0" i="0" lang="en-IN" sz="1800">
                <a:solidFill>
                  <a:srgbClr val="000000"/>
                </a:solidFill>
                <a:effectLst/>
                <a:latin charset="0" panose="02020603050405020304" pitchFamily="18" typeface="Times New Roman"/>
              </a:rPr>
              <a:t>C</a:t>
            </a:r>
            <a:r>
              <a:rPr altLang="en-IN" b="0" dirty="0" i="0" lang="en-IN" sz="1050">
                <a:solidFill>
                  <a:srgbClr val="000000"/>
                </a:solidFill>
                <a:effectLst/>
                <a:latin charset="0" panose="02020603050405020304" pitchFamily="18" typeface="Times New Roman"/>
              </a:rPr>
              <a:t>a </a:t>
            </a:r>
            <a:r>
              <a:rPr altLang="en-IN" b="0" dirty="0" i="0" lang="en-IN" sz="1800">
                <a:solidFill>
                  <a:srgbClr val="222222"/>
                </a:solidFill>
                <a:effectLst/>
                <a:latin charset="0" panose="02020603050405020304" pitchFamily="18" typeface="Times New Roman"/>
              </a:rPr>
              <a:t>→ a</a:t>
            </a:r>
            <a:br>
              <a:rPr altLang="en-IN" b="0" dirty="0" i="0" lang="en-IN" sz="1800">
                <a:solidFill>
                  <a:srgbClr val="222222"/>
                </a:solidFill>
                <a:effectLst/>
                <a:latin charset="0" panose="02020603050405020304" pitchFamily="18" typeface="Times New Roman"/>
              </a:rPr>
            </a:br>
            <a:r>
              <a:rPr altLang="en-IN" b="0" dirty="0" err="1" i="0" lang="en-IN" sz="1800">
                <a:solidFill>
                  <a:srgbClr val="000000"/>
                </a:solidFill>
                <a:effectLst/>
                <a:latin charset="0" panose="02020603050405020304" pitchFamily="18" typeface="Times New Roman"/>
              </a:rPr>
              <a:t>C</a:t>
            </a:r>
            <a:r>
              <a:rPr altLang="en-IN" b="0" dirty="0" err="1" i="0" lang="en-IN" sz="1050">
                <a:solidFill>
                  <a:srgbClr val="000000"/>
                </a:solidFill>
                <a:effectLst/>
                <a:latin charset="0" panose="02020603050405020304" pitchFamily="18" typeface="Times New Roman"/>
              </a:rPr>
              <a:t>b</a:t>
            </a:r>
            <a:r>
              <a:rPr altLang="en-IN" b="0" dirty="0" i="0" lang="en-IN" sz="1050">
                <a:solidFill>
                  <a:srgbClr val="000000"/>
                </a:solidFill>
                <a:effectLst/>
                <a:latin charset="0" panose="02020603050405020304" pitchFamily="18" typeface="Times New Roman"/>
              </a:rPr>
              <a:t> </a:t>
            </a:r>
            <a:r>
              <a:rPr altLang="en-IN" b="0" dirty="0" i="0" lang="en-IN" sz="1800">
                <a:solidFill>
                  <a:srgbClr val="222222"/>
                </a:solidFill>
                <a:effectLst/>
                <a:latin charset="0" panose="02020603050405020304" pitchFamily="18" typeface="Times New Roman"/>
              </a:rPr>
              <a:t>→ b</a:t>
            </a:r>
            <a:r>
              <a:rPr altLang="en-IN" dirty="0" lang="en-IN"/>
              <a:t> </a:t>
            </a:r>
            <a:br>
              <a:rPr altLang="en-IN" dirty="0" lang="en-IN"/>
            </a:br>
            <a:endParaRPr altLang="en-IN" dirty="0" lang="en-IN"/>
          </a:p>
        </p:txBody>
      </p:sp>
      <p:sp>
        <p:nvSpPr>
          <p:cNvPr id="7" name="TextBox 6">
            <a:extLst>
              <a:ext uri="{FF2B5EF4-FFF2-40B4-BE49-F238E27FC236}">
                <a16:creationId xmlns:a16="http://schemas.microsoft.com/office/drawing/2014/main" id="{6A65D222-3469-599E-1E23-383138CBFA05}"/>
              </a:ext>
            </a:extLst>
          </p:cNvPr>
          <p:cNvSpPr txBox="1"/>
          <p:nvPr/>
        </p:nvSpPr>
        <p:spPr>
          <a:xfrm>
            <a:off x="4603433" y="3064044"/>
            <a:ext cx="2540317" cy="3477875"/>
          </a:xfrm>
          <a:prstGeom prst="rect">
            <a:avLst/>
          </a:prstGeom>
          <a:noFill/>
        </p:spPr>
        <p:txBody>
          <a:bodyPr numCol="1" wrap="square">
            <a:spAutoFit/>
          </a:bodyPr>
          <a:lstStyle/>
          <a:p>
            <a:r>
              <a:rPr b="1" dirty="0" lang="en-US" sz="2000">
                <a:highlight>
                  <a:srgbClr val="FFFF00"/>
                </a:highlight>
              </a:rPr>
              <a:t>iv. </a:t>
            </a:r>
            <a:r>
              <a:rPr altLang="pt-BR" b="1" dirty="0" i="0" lang="pt-BR" sz="2000">
                <a:solidFill>
                  <a:srgbClr val="000000"/>
                </a:solidFill>
                <a:effectLst/>
                <a:highlight>
                  <a:srgbClr val="FFFF00"/>
                </a:highlight>
                <a:latin charset="0" panose="02020603050405020304" pitchFamily="18" typeface="Times New Roman"/>
              </a:rPr>
              <a:t>A </a:t>
            </a:r>
            <a:r>
              <a:rPr altLang="pt-BR" b="1" dirty="0" i="0" lang="pt-BR" sz="2000">
                <a:solidFill>
                  <a:srgbClr val="222222"/>
                </a:solidFill>
                <a:effectLst/>
                <a:highlight>
                  <a:srgbClr val="FFFF00"/>
                </a:highlight>
                <a:latin charset="0" panose="02020603050405020304" pitchFamily="18" typeface="Times New Roman"/>
              </a:rPr>
              <a:t>→ </a:t>
            </a:r>
            <a:r>
              <a:rPr altLang="pt-BR" b="1" dirty="0" i="0" lang="pt-BR" sz="2000">
                <a:solidFill>
                  <a:srgbClr val="000000"/>
                </a:solidFill>
                <a:effectLst/>
                <a:highlight>
                  <a:srgbClr val="FFFF00"/>
                </a:highlight>
                <a:latin charset="0" panose="02020603050405020304" pitchFamily="18" typeface="Times New Roman"/>
              </a:rPr>
              <a:t>aS</a:t>
            </a:r>
            <a:br>
              <a:rPr altLang="pt-BR" b="0" dirty="0" i="0" lang="pt-BR" sz="2000">
                <a:solidFill>
                  <a:srgbClr val="000000"/>
                </a:solidFill>
                <a:effectLst/>
                <a:latin charset="0" panose="02020603050405020304" pitchFamily="18" typeface="Times New Roman"/>
              </a:rPr>
            </a:br>
            <a:r>
              <a:rPr altLang="pt-BR" b="0" dirty="0" i="0" lang="pt-BR" sz="2000">
                <a:solidFill>
                  <a:srgbClr val="000000"/>
                </a:solidFill>
                <a:effectLst/>
                <a:latin charset="0" panose="02020603050405020304" pitchFamily="18" typeface="Times New Roman"/>
              </a:rPr>
              <a:t>	A </a:t>
            </a:r>
            <a:r>
              <a:rPr altLang="pt-BR" b="0" dirty="0" i="0" lang="pt-BR" sz="2000">
                <a:solidFill>
                  <a:srgbClr val="222222"/>
                </a:solidFill>
                <a:effectLst/>
                <a:latin charset="0" panose="02020603050405020304" pitchFamily="18" typeface="Times New Roman"/>
              </a:rPr>
              <a:t>→ </a:t>
            </a:r>
            <a:r>
              <a:rPr altLang="pt-BR" b="0" dirty="0" i="0" lang="pt-BR" sz="2000">
                <a:solidFill>
                  <a:srgbClr val="000000"/>
                </a:solidFill>
                <a:effectLst/>
                <a:latin charset="0" panose="02020603050405020304" pitchFamily="18" typeface="Times New Roman"/>
              </a:rPr>
              <a:t>C</a:t>
            </a:r>
            <a:r>
              <a:rPr altLang="pt-BR" b="0" baseline="-25000" dirty="0" i="0" lang="pt-BR" sz="2000">
                <a:solidFill>
                  <a:srgbClr val="000000"/>
                </a:solidFill>
                <a:effectLst/>
                <a:latin charset="0" panose="02020603050405020304" pitchFamily="18" typeface="Times New Roman"/>
              </a:rPr>
              <a:t>a</a:t>
            </a:r>
            <a:r>
              <a:rPr altLang="pt-BR" b="0" dirty="0" i="0" lang="pt-BR" sz="2000">
                <a:solidFill>
                  <a:srgbClr val="000000"/>
                </a:solidFill>
                <a:effectLst/>
                <a:latin charset="0" panose="02020603050405020304" pitchFamily="18" typeface="Times New Roman"/>
              </a:rPr>
              <a:t>S</a:t>
            </a:r>
            <a:br>
              <a:rPr altLang="pt-BR" b="0" dirty="0" i="0" lang="pt-BR" sz="2000">
                <a:solidFill>
                  <a:srgbClr val="000000"/>
                </a:solidFill>
                <a:effectLst/>
                <a:latin charset="0" panose="02020603050405020304" pitchFamily="18" typeface="Times New Roman"/>
              </a:rPr>
            </a:br>
            <a:r>
              <a:rPr altLang="pt-BR" b="0" dirty="0" i="0" lang="pt-BR" sz="2000">
                <a:solidFill>
                  <a:srgbClr val="000000"/>
                </a:solidFill>
                <a:effectLst/>
                <a:latin charset="0" panose="02020603050405020304" pitchFamily="18" typeface="Times New Roman"/>
              </a:rPr>
              <a:t>	C</a:t>
            </a:r>
            <a:r>
              <a:rPr altLang="pt-BR" b="0" baseline="-25000" dirty="0" i="0" lang="pt-BR" sz="2000">
                <a:solidFill>
                  <a:srgbClr val="000000"/>
                </a:solidFill>
                <a:effectLst/>
                <a:latin charset="0" panose="02020603050405020304" pitchFamily="18" typeface="Times New Roman"/>
              </a:rPr>
              <a:t>a</a:t>
            </a:r>
            <a:r>
              <a:rPr altLang="pt-BR" b="0" dirty="0" i="0" lang="pt-BR" sz="2000">
                <a:solidFill>
                  <a:srgbClr val="000000"/>
                </a:solidFill>
                <a:effectLst/>
                <a:latin charset="0" panose="02020603050405020304" pitchFamily="18" typeface="Times New Roman"/>
              </a:rPr>
              <a:t> </a:t>
            </a:r>
            <a:r>
              <a:rPr altLang="pt-BR" b="0" dirty="0" i="0" lang="pt-BR" sz="2000">
                <a:solidFill>
                  <a:srgbClr val="222222"/>
                </a:solidFill>
                <a:effectLst/>
                <a:latin charset="0" panose="02020603050405020304" pitchFamily="18" typeface="Times New Roman"/>
              </a:rPr>
              <a:t>→ a</a:t>
            </a:r>
            <a:r>
              <a:rPr altLang="pt-BR" dirty="0" lang="pt-BR" sz="2000"/>
              <a:t> </a:t>
            </a:r>
          </a:p>
          <a:p>
            <a:r>
              <a:rPr altLang="pt-BR" b="1" dirty="0" lang="pt-BR" sz="2000">
                <a:highlight>
                  <a:srgbClr val="FFFF00"/>
                </a:highlight>
              </a:rPr>
              <a:t>v. </a:t>
            </a:r>
            <a:r>
              <a:rPr altLang="en-IN" b="1" dirty="0" i="0" lang="en-IN" sz="2000">
                <a:solidFill>
                  <a:srgbClr val="000000"/>
                </a:solidFill>
                <a:effectLst/>
                <a:highlight>
                  <a:srgbClr val="FFFF00"/>
                </a:highlight>
                <a:latin charset="0" panose="02020603050405020304" pitchFamily="18" typeface="Times New Roman"/>
              </a:rPr>
              <a:t>B </a:t>
            </a:r>
            <a:r>
              <a:rPr altLang="en-IN" b="1" dirty="0" i="0" lang="en-IN" sz="2000">
                <a:solidFill>
                  <a:srgbClr val="222222"/>
                </a:solidFill>
                <a:effectLst/>
                <a:highlight>
                  <a:srgbClr val="FFFF00"/>
                </a:highlight>
                <a:latin charset="0" panose="02020603050405020304" pitchFamily="18" typeface="Times New Roman"/>
              </a:rPr>
              <a:t>→ </a:t>
            </a:r>
            <a:r>
              <a:rPr altLang="en-IN" b="1" dirty="0" err="1" i="0" lang="en-IN" sz="2000">
                <a:solidFill>
                  <a:srgbClr val="000000"/>
                </a:solidFill>
                <a:effectLst/>
                <a:highlight>
                  <a:srgbClr val="FFFF00"/>
                </a:highlight>
                <a:latin charset="0" panose="02020603050405020304" pitchFamily="18" typeface="Times New Roman"/>
              </a:rPr>
              <a:t>aBB</a:t>
            </a:r>
            <a:br>
              <a:rPr altLang="en-IN" b="0" dirty="0" i="0" lang="en-IN" sz="2000">
                <a:solidFill>
                  <a:srgbClr val="000000"/>
                </a:solidFill>
                <a:effectLst/>
                <a:latin charset="0" panose="02020603050405020304" pitchFamily="18" typeface="Times New Roman"/>
              </a:rPr>
            </a:br>
            <a:r>
              <a:rPr altLang="en-IN" b="0" dirty="0" i="0" lang="en-IN" sz="2000">
                <a:solidFill>
                  <a:srgbClr val="000000"/>
                </a:solidFill>
                <a:effectLst/>
                <a:latin charset="0" panose="02020603050405020304" pitchFamily="18" typeface="Times New Roman"/>
              </a:rPr>
              <a:t>	B </a:t>
            </a:r>
            <a:r>
              <a:rPr altLang="en-IN" b="0" dirty="0" i="0" lang="en-IN" sz="2000">
                <a:solidFill>
                  <a:srgbClr val="222222"/>
                </a:solidFill>
                <a:effectLst/>
                <a:latin charset="0" panose="02020603050405020304" pitchFamily="18" typeface="Times New Roman"/>
              </a:rPr>
              <a:t>→ </a:t>
            </a:r>
            <a:r>
              <a:rPr altLang="en-IN" b="0" dirty="0" i="0" lang="en-IN" sz="2000">
                <a:solidFill>
                  <a:srgbClr val="000000"/>
                </a:solidFill>
                <a:effectLst/>
                <a:latin charset="0" panose="02020603050405020304" pitchFamily="18" typeface="Times New Roman"/>
              </a:rPr>
              <a:t>C</a:t>
            </a:r>
            <a:r>
              <a:rPr altLang="en-IN" b="0" baseline="-25000" dirty="0" i="0" lang="en-IN" sz="2000">
                <a:solidFill>
                  <a:srgbClr val="000000"/>
                </a:solidFill>
                <a:effectLst/>
                <a:latin charset="0" panose="02020603050405020304" pitchFamily="18" typeface="Times New Roman"/>
              </a:rPr>
              <a:t>a</a:t>
            </a:r>
            <a:r>
              <a:rPr altLang="en-IN" b="0" dirty="0" i="0" lang="en-IN" sz="2000">
                <a:solidFill>
                  <a:srgbClr val="000000"/>
                </a:solidFill>
                <a:effectLst/>
                <a:latin charset="0" panose="02020603050405020304" pitchFamily="18" typeface="Times New Roman"/>
              </a:rPr>
              <a:t> D</a:t>
            </a:r>
            <a:r>
              <a:rPr altLang="en-IN" b="0" baseline="-25000" dirty="0" i="0" lang="en-IN" sz="2000">
                <a:solidFill>
                  <a:srgbClr val="000000"/>
                </a:solidFill>
                <a:effectLst/>
                <a:latin charset="0" panose="02020603050405020304" pitchFamily="18" typeface="Times New Roman"/>
              </a:rPr>
              <a:t>2</a:t>
            </a:r>
            <a:br>
              <a:rPr altLang="en-IN" b="0" dirty="0" i="0" lang="en-IN" sz="2000">
                <a:solidFill>
                  <a:srgbClr val="000000"/>
                </a:solidFill>
                <a:effectLst/>
                <a:latin charset="0" panose="02020603050405020304" pitchFamily="18" typeface="Times New Roman"/>
              </a:rPr>
            </a:br>
            <a:r>
              <a:rPr altLang="en-IN" b="0" dirty="0" i="0" lang="en-IN" sz="2000">
                <a:solidFill>
                  <a:srgbClr val="000000"/>
                </a:solidFill>
                <a:effectLst/>
                <a:latin charset="0" panose="02020603050405020304" pitchFamily="18" typeface="Times New Roman"/>
              </a:rPr>
              <a:t>	D</a:t>
            </a:r>
            <a:r>
              <a:rPr altLang="en-IN" b="0" baseline="-25000" dirty="0" i="0" lang="en-IN" sz="2000">
                <a:solidFill>
                  <a:srgbClr val="000000"/>
                </a:solidFill>
                <a:effectLst/>
                <a:latin charset="0" panose="02020603050405020304" pitchFamily="18" typeface="Times New Roman"/>
              </a:rPr>
              <a:t>2</a:t>
            </a:r>
            <a:r>
              <a:rPr altLang="en-IN" b="0" dirty="0" i="0" lang="en-IN" sz="2000">
                <a:solidFill>
                  <a:srgbClr val="000000"/>
                </a:solidFill>
                <a:effectLst/>
                <a:latin charset="0" panose="02020603050405020304" pitchFamily="18" typeface="Times New Roman"/>
              </a:rPr>
              <a:t> </a:t>
            </a:r>
            <a:r>
              <a:rPr altLang="en-IN" b="0" dirty="0" i="0" lang="en-IN" sz="2000">
                <a:solidFill>
                  <a:srgbClr val="222222"/>
                </a:solidFill>
                <a:effectLst/>
                <a:latin charset="0" panose="02020603050405020304" pitchFamily="18" typeface="Times New Roman"/>
              </a:rPr>
              <a:t>→ </a:t>
            </a:r>
            <a:r>
              <a:rPr altLang="en-IN" b="0" dirty="0" i="0" lang="en-IN" sz="2000">
                <a:solidFill>
                  <a:srgbClr val="000000"/>
                </a:solidFill>
                <a:effectLst/>
                <a:latin charset="0" panose="02020603050405020304" pitchFamily="18" typeface="Times New Roman"/>
              </a:rPr>
              <a:t>BB</a:t>
            </a:r>
            <a:br>
              <a:rPr altLang="en-IN" b="0" dirty="0" i="0" lang="en-IN" sz="2000">
                <a:solidFill>
                  <a:srgbClr val="000000"/>
                </a:solidFill>
                <a:effectLst/>
                <a:latin charset="0" panose="02020603050405020304" pitchFamily="18" typeface="Times New Roman"/>
              </a:rPr>
            </a:br>
            <a:r>
              <a:rPr altLang="en-IN" b="0" dirty="0" i="0" lang="en-IN" sz="2000">
                <a:solidFill>
                  <a:srgbClr val="000000"/>
                </a:solidFill>
                <a:effectLst/>
                <a:latin charset="0" panose="02020603050405020304" pitchFamily="18" typeface="Times New Roman"/>
              </a:rPr>
              <a:t>	C</a:t>
            </a:r>
            <a:r>
              <a:rPr altLang="en-IN" b="0" baseline="-25000" dirty="0" i="0" lang="en-IN" sz="2000">
                <a:solidFill>
                  <a:srgbClr val="000000"/>
                </a:solidFill>
                <a:effectLst/>
                <a:latin charset="0" panose="02020603050405020304" pitchFamily="18" typeface="Times New Roman"/>
              </a:rPr>
              <a:t>a</a:t>
            </a:r>
            <a:r>
              <a:rPr altLang="en-IN" b="0" dirty="0" i="0" lang="en-IN" sz="2000">
                <a:solidFill>
                  <a:srgbClr val="000000"/>
                </a:solidFill>
                <a:effectLst/>
                <a:latin charset="0" panose="02020603050405020304" pitchFamily="18" typeface="Times New Roman"/>
              </a:rPr>
              <a:t> </a:t>
            </a:r>
            <a:r>
              <a:rPr altLang="en-IN" b="0" dirty="0" i="0" lang="en-IN" sz="2000">
                <a:solidFill>
                  <a:srgbClr val="222222"/>
                </a:solidFill>
                <a:effectLst/>
                <a:latin charset="0" panose="02020603050405020304" pitchFamily="18" typeface="Times New Roman"/>
              </a:rPr>
              <a:t>→ a</a:t>
            </a:r>
            <a:r>
              <a:rPr altLang="en-IN" dirty="0" lang="en-IN" sz="2000"/>
              <a:t> </a:t>
            </a:r>
          </a:p>
          <a:p>
            <a:r>
              <a:rPr altLang="en-IN" b="1" dirty="0" lang="en-IN" sz="2000">
                <a:highlight>
                  <a:srgbClr val="FFFF00"/>
                </a:highlight>
              </a:rPr>
              <a:t>vi. </a:t>
            </a:r>
            <a:r>
              <a:rPr altLang="en-IN" b="1" dirty="0" i="0" lang="en-IN" sz="2000">
                <a:solidFill>
                  <a:srgbClr val="000000"/>
                </a:solidFill>
                <a:effectLst/>
                <a:highlight>
                  <a:srgbClr val="FFFF00"/>
                </a:highlight>
                <a:latin charset="0" panose="02020603050405020304" pitchFamily="18" typeface="Times New Roman"/>
              </a:rPr>
              <a:t>B </a:t>
            </a:r>
            <a:r>
              <a:rPr altLang="en-IN" b="1" dirty="0" i="0" lang="en-IN" sz="2000">
                <a:solidFill>
                  <a:srgbClr val="222222"/>
                </a:solidFill>
                <a:effectLst/>
                <a:highlight>
                  <a:srgbClr val="FFFF00"/>
                </a:highlight>
                <a:latin charset="0" panose="02020603050405020304" pitchFamily="18" typeface="Times New Roman"/>
              </a:rPr>
              <a:t>→ </a:t>
            </a:r>
            <a:r>
              <a:rPr altLang="en-IN" b="1" dirty="0" err="1" i="0" lang="en-IN" sz="2000">
                <a:solidFill>
                  <a:srgbClr val="000000"/>
                </a:solidFill>
                <a:effectLst/>
                <a:highlight>
                  <a:srgbClr val="FFFF00"/>
                </a:highlight>
                <a:latin charset="0" panose="02020603050405020304" pitchFamily="18" typeface="Times New Roman"/>
              </a:rPr>
              <a:t>bS</a:t>
            </a:r>
            <a:br>
              <a:rPr altLang="en-IN" b="0" dirty="0" i="0" lang="en-IN" sz="2000">
                <a:solidFill>
                  <a:srgbClr val="000000"/>
                </a:solidFill>
                <a:effectLst/>
                <a:latin charset="0" panose="02020603050405020304" pitchFamily="18" typeface="Times New Roman"/>
              </a:rPr>
            </a:br>
            <a:r>
              <a:rPr altLang="en-IN" b="0" dirty="0" i="0" lang="en-IN" sz="2000">
                <a:solidFill>
                  <a:srgbClr val="000000"/>
                </a:solidFill>
                <a:effectLst/>
                <a:latin charset="0" panose="02020603050405020304" pitchFamily="18" typeface="Times New Roman"/>
              </a:rPr>
              <a:t>	B </a:t>
            </a:r>
            <a:r>
              <a:rPr altLang="en-IN" b="0" dirty="0" i="0" lang="en-IN" sz="2000">
                <a:solidFill>
                  <a:srgbClr val="222222"/>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C</a:t>
            </a:r>
            <a:r>
              <a:rPr altLang="en-IN" b="0" baseline="-25000" dirty="0" err="1" i="0" lang="en-IN" sz="2000">
                <a:solidFill>
                  <a:srgbClr val="000000"/>
                </a:solidFill>
                <a:effectLst/>
                <a:latin charset="0" panose="02020603050405020304" pitchFamily="18" typeface="Times New Roman"/>
              </a:rPr>
              <a:t>b</a:t>
            </a:r>
            <a:r>
              <a:rPr altLang="en-IN" b="0" dirty="0" err="1" i="0" lang="en-IN" sz="2000">
                <a:solidFill>
                  <a:srgbClr val="000000"/>
                </a:solidFill>
                <a:effectLst/>
                <a:latin charset="0" panose="02020603050405020304" pitchFamily="18" typeface="Times New Roman"/>
              </a:rPr>
              <a:t>S</a:t>
            </a:r>
            <a:br>
              <a:rPr altLang="en-IN" b="0" dirty="0" i="0" lang="en-IN" sz="2000">
                <a:solidFill>
                  <a:srgbClr val="000000"/>
                </a:solidFill>
                <a:effectLst/>
                <a:latin charset="0" panose="02020603050405020304" pitchFamily="18" typeface="Times New Roman"/>
              </a:rPr>
            </a:br>
            <a:r>
              <a:rPr altLang="en-IN" b="0" dirty="0" i="0" lang="en-IN" sz="2000">
                <a:solidFill>
                  <a:srgbClr val="000000"/>
                </a:solidFill>
                <a:effectLst/>
                <a:latin charset="0" panose="02020603050405020304" pitchFamily="18" typeface="Times New Roman"/>
              </a:rPr>
              <a:t>	</a:t>
            </a:r>
            <a:r>
              <a:rPr altLang="en-IN" b="0" dirty="0" err="1" i="0" lang="en-IN" sz="2000">
                <a:solidFill>
                  <a:srgbClr val="000000"/>
                </a:solidFill>
                <a:effectLst/>
                <a:latin charset="0" panose="02020603050405020304" pitchFamily="18" typeface="Times New Roman"/>
              </a:rPr>
              <a:t>C</a:t>
            </a:r>
            <a:r>
              <a:rPr altLang="en-IN" b="0" baseline="-25000" dirty="0" err="1" i="0" lang="en-IN" sz="2000">
                <a:solidFill>
                  <a:srgbClr val="000000"/>
                </a:solidFill>
                <a:effectLst/>
                <a:latin charset="0" panose="02020603050405020304" pitchFamily="18" typeface="Times New Roman"/>
              </a:rPr>
              <a:t>b</a:t>
            </a:r>
            <a:r>
              <a:rPr altLang="en-IN" b="0" dirty="0" i="0" lang="en-IN" sz="2000">
                <a:solidFill>
                  <a:srgbClr val="000000"/>
                </a:solidFill>
                <a:effectLst/>
                <a:latin charset="0" panose="02020603050405020304" pitchFamily="18" typeface="Times New Roman"/>
              </a:rPr>
              <a:t> </a:t>
            </a:r>
            <a:r>
              <a:rPr altLang="en-IN" b="0" dirty="0" i="0" lang="en-IN" sz="2000">
                <a:solidFill>
                  <a:srgbClr val="222222"/>
                </a:solidFill>
                <a:effectLst/>
                <a:latin charset="0" panose="02020603050405020304" pitchFamily="18" typeface="Times New Roman"/>
              </a:rPr>
              <a:t>→ b</a:t>
            </a:r>
            <a:r>
              <a:rPr altLang="en-IN" dirty="0" lang="en-IN" sz="2000"/>
              <a:t> </a:t>
            </a:r>
            <a:br>
              <a:rPr altLang="en-IN" dirty="0" lang="en-IN" sz="2000"/>
            </a:br>
            <a:endParaRPr altLang="en-IN" dirty="0" lang="en-IN" sz="2000"/>
          </a:p>
        </p:txBody>
      </p:sp>
    </p:spTree>
    <p:extLst>
      <p:ext uri="{BB962C8B-B14F-4D97-AF65-F5344CB8AC3E}">
        <p14:creationId xmlns:p14="http://schemas.microsoft.com/office/powerpoint/2010/main" val="370929491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3">
                                            <p:txEl>
                                              <p:pRg end="7" st="7"/>
                                            </p:txEl>
                                          </p:spTgt>
                                        </p:tgtEl>
                                        <p:attrNameLst>
                                          <p:attrName>style.visibility</p:attrName>
                                        </p:attrNameLst>
                                      </p:cBhvr>
                                      <p:to>
                                        <p:strVal val="visible"/>
                                      </p:to>
                                    </p:set>
                                  </p:childTnLst>
                                </p:cTn>
                              </p:par>
                            </p:childTnLst>
                          </p:cTn>
                        </p:par>
                      </p:childTnLst>
                    </p:cTn>
                  </p:par>
                  <p:par>
                    <p:cTn fill="hold" id="25">
                      <p:stCondLst>
                        <p:cond delay="indefinite"/>
                      </p:stCondLst>
                      <p:childTnLst>
                        <p:par>
                          <p:cTn fill="hold" id="26">
                            <p:stCondLst>
                              <p:cond delay="0"/>
                            </p:stCondLst>
                            <p:childTnLst>
                              <p:par>
                                <p:cTn fill="hold" id="27" nodeType="clickEffect" presetClass="entr" presetID="1" presetSubtype="0">
                                  <p:stCondLst>
                                    <p:cond delay="0"/>
                                  </p:stCondLst>
                                  <p:childTnLst>
                                    <p:set>
                                      <p:cBhvr>
                                        <p:cTn dur="1" fill="hold" id="28">
                                          <p:stCondLst>
                                            <p:cond delay="0"/>
                                          </p:stCondLst>
                                        </p:cTn>
                                        <p:tgtEl>
                                          <p:spTgt spid="3">
                                            <p:txEl>
                                              <p:pRg end="8" st="8"/>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id="31" nodeType="clickEffect" presetClass="entr" presetID="1" presetSubtype="0">
                                  <p:stCondLst>
                                    <p:cond delay="0"/>
                                  </p:stCondLst>
                                  <p:childTnLst>
                                    <p:set>
                                      <p:cBhvr>
                                        <p:cTn dur="1" fill="hold" id="32">
                                          <p:stCondLst>
                                            <p:cond delay="0"/>
                                          </p:stCondLst>
                                        </p:cTn>
                                        <p:tgtEl>
                                          <p:spTgt spid="3">
                                            <p:txEl>
                                              <p:pRg end="9" st="9"/>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 presetSubtype="0">
                                  <p:stCondLst>
                                    <p:cond delay="0"/>
                                  </p:stCondLst>
                                  <p:childTnLst>
                                    <p:set>
                                      <p:cBhvr>
                                        <p:cTn dur="1" fill="hold" id="36">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id="39" nodeType="clickEffect" presetClass="entr" presetID="1" presetSubtype="0">
                                  <p:stCondLst>
                                    <p:cond delay="0"/>
                                  </p:stCondLst>
                                  <p:childTnLst>
                                    <p:set>
                                      <p:cBhvr>
                                        <p:cTn dur="1" fill="hold" id="40">
                                          <p:stCondLst>
                                            <p:cond delay="0"/>
                                          </p:stCondLst>
                                        </p:cTn>
                                        <p:tgtEl>
                                          <p:spTgt spid="3">
                                            <p:txEl>
                                              <p:pRg end="11" st="11"/>
                                            </p:txEl>
                                          </p:spTgt>
                                        </p:tgtEl>
                                        <p:attrNameLst>
                                          <p:attrName>style.visibility</p:attrName>
                                        </p:attrNameLst>
                                      </p:cBhvr>
                                      <p:to>
                                        <p:strVal val="visible"/>
                                      </p:to>
                                    </p:set>
                                  </p:childTnLst>
                                </p:cTn>
                              </p:par>
                            </p:childTnLst>
                          </p:cTn>
                        </p:par>
                      </p:childTnLst>
                    </p:cTn>
                  </p:par>
                  <p:par>
                    <p:cTn fill="hold" id="41">
                      <p:stCondLst>
                        <p:cond delay="indefinite"/>
                      </p:stCondLst>
                      <p:childTnLst>
                        <p:par>
                          <p:cTn fill="hold" id="42">
                            <p:stCondLst>
                              <p:cond delay="0"/>
                            </p:stCondLst>
                            <p:childTnLst>
                              <p:par>
                                <p:cTn fill="hold" id="43" nodeType="clickEffect" presetClass="entr" presetID="1" presetSubtype="0">
                                  <p:stCondLst>
                                    <p:cond delay="0"/>
                                  </p:stCondLst>
                                  <p:childTnLst>
                                    <p:set>
                                      <p:cBhvr>
                                        <p:cTn dur="1" fill="hold" id="44">
                                          <p:stCondLst>
                                            <p:cond delay="0"/>
                                          </p:stCondLst>
                                        </p:cTn>
                                        <p:tgtEl>
                                          <p:spTgt spid="3">
                                            <p:txEl>
                                              <p:pRg end="12" st="12"/>
                                            </p:txEl>
                                          </p:spTgt>
                                        </p:tgtEl>
                                        <p:attrNameLst>
                                          <p:attrName>style.visibility</p:attrName>
                                        </p:attrNameLst>
                                      </p:cBhvr>
                                      <p:to>
                                        <p:strVal val="visible"/>
                                      </p:to>
                                    </p:set>
                                  </p:childTnLst>
                                </p:cTn>
                              </p:par>
                            </p:childTnLst>
                          </p:cTn>
                        </p:par>
                      </p:childTnLst>
                    </p:cTn>
                  </p:par>
                  <p:par>
                    <p:cTn fill="hold" id="45">
                      <p:stCondLst>
                        <p:cond delay="indefinite"/>
                      </p:stCondLst>
                      <p:childTnLst>
                        <p:par>
                          <p:cTn fill="hold" id="46">
                            <p:stCondLst>
                              <p:cond delay="0"/>
                            </p:stCondLst>
                            <p:childTnLst>
                              <p:par>
                                <p:cTn fill="hold" id="47" nodeType="clickEffect" presetClass="entr" presetID="1" presetSubtype="0">
                                  <p:stCondLst>
                                    <p:cond delay="0"/>
                                  </p:stCondLst>
                                  <p:childTnLst>
                                    <p:set>
                                      <p:cBhvr>
                                        <p:cTn dur="1" fill="hold" id="48">
                                          <p:stCondLst>
                                            <p:cond delay="0"/>
                                          </p:stCondLst>
                                        </p:cTn>
                                        <p:tgtEl>
                                          <p:spTgt spid="7">
                                            <p:txEl>
                                              <p:pRg end="0" st="0"/>
                                            </p:txEl>
                                          </p:spTgt>
                                        </p:tgtEl>
                                        <p:attrNameLst>
                                          <p:attrName>style.visibility</p:attrName>
                                        </p:attrNameLst>
                                      </p:cBhvr>
                                      <p:to>
                                        <p:strVal val="visible"/>
                                      </p:to>
                                    </p:set>
                                  </p:childTnLst>
                                </p:cTn>
                              </p:par>
                            </p:childTnLst>
                          </p:cTn>
                        </p:par>
                      </p:childTnLst>
                    </p:cTn>
                  </p:par>
                  <p:par>
                    <p:cTn fill="hold" id="49">
                      <p:stCondLst>
                        <p:cond delay="indefinite"/>
                      </p:stCondLst>
                      <p:childTnLst>
                        <p:par>
                          <p:cTn fill="hold" id="50">
                            <p:stCondLst>
                              <p:cond delay="0"/>
                            </p:stCondLst>
                            <p:childTnLst>
                              <p:par>
                                <p:cTn fill="hold" id="51" nodeType="clickEffect" presetClass="entr" presetID="1" presetSubtype="0">
                                  <p:stCondLst>
                                    <p:cond delay="0"/>
                                  </p:stCondLst>
                                  <p:childTnLst>
                                    <p:set>
                                      <p:cBhvr>
                                        <p:cTn dur="1" fill="hold" id="52">
                                          <p:stCondLst>
                                            <p:cond delay="0"/>
                                          </p:stCondLst>
                                        </p:cTn>
                                        <p:tgtEl>
                                          <p:spTgt spid="7">
                                            <p:txEl>
                                              <p:pRg end="1" st="1"/>
                                            </p:txEl>
                                          </p:spTgt>
                                        </p:tgtEl>
                                        <p:attrNameLst>
                                          <p:attrName>style.visibility</p:attrName>
                                        </p:attrNameLst>
                                      </p:cBhvr>
                                      <p:to>
                                        <p:strVal val="visible"/>
                                      </p:to>
                                    </p:set>
                                  </p:childTnLst>
                                </p:cTn>
                              </p:par>
                            </p:childTnLst>
                          </p:cTn>
                        </p:par>
                      </p:childTnLst>
                    </p:cTn>
                  </p:par>
                  <p:par>
                    <p:cTn fill="hold" id="53">
                      <p:stCondLst>
                        <p:cond delay="indefinite"/>
                      </p:stCondLst>
                      <p:childTnLst>
                        <p:par>
                          <p:cTn fill="hold" id="54">
                            <p:stCondLst>
                              <p:cond delay="0"/>
                            </p:stCondLst>
                            <p:childTnLst>
                              <p:par>
                                <p:cTn fill="hold" id="55" nodeType="clickEffect" presetClass="entr" presetID="1" presetSubtype="0">
                                  <p:stCondLst>
                                    <p:cond delay="0"/>
                                  </p:stCondLst>
                                  <p:childTnLst>
                                    <p:set>
                                      <p:cBhvr>
                                        <p:cTn dur="1" fill="hold" id="56">
                                          <p:stCondLst>
                                            <p:cond delay="0"/>
                                          </p:stCondLst>
                                        </p:cTn>
                                        <p:tgtEl>
                                          <p:spTgt spid="7">
                                            <p:txEl>
                                              <p:pRg end="2" st="2"/>
                                            </p:txEl>
                                          </p:spTgt>
                                        </p:tgtEl>
                                        <p:attrNameLst>
                                          <p:attrName>style.visibility</p:attrName>
                                        </p:attrNameLst>
                                      </p:cBhvr>
                                      <p:to>
                                        <p:strVal val="visible"/>
                                      </p:to>
                                    </p:set>
                                  </p:childTnLst>
                                </p:cTn>
                              </p:par>
                            </p:childTnLst>
                          </p:cTn>
                        </p:par>
                      </p:childTnLst>
                    </p:cTn>
                  </p:par>
                  <p:par>
                    <p:cTn fill="hold" id="57">
                      <p:stCondLst>
                        <p:cond delay="indefinite"/>
                      </p:stCondLst>
                      <p:childTnLst>
                        <p:par>
                          <p:cTn fill="hold" id="58">
                            <p:stCondLst>
                              <p:cond delay="0"/>
                            </p:stCondLst>
                            <p:childTnLst>
                              <p:par>
                                <p:cTn fill="hold" grpId="0" id="59" nodeType="clickEffect" presetClass="entr" presetID="1" presetSubtype="0">
                                  <p:stCondLst>
                                    <p:cond delay="0"/>
                                  </p:stCondLst>
                                  <p:childTnLst>
                                    <p:set>
                                      <p:cBhvr>
                                        <p:cTn dur="1" fill="hold" id="60">
                                          <p:stCondLst>
                                            <p:cond delay="0"/>
                                          </p:stCondLst>
                                        </p:cTn>
                                        <p:tgtEl>
                                          <p:spTgt spid="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F6E067-D090-110B-CF71-02C3A0BD7070}"/>
              </a:ext>
            </a:extLst>
          </p:cNvPr>
          <p:cNvSpPr txBox="1"/>
          <p:nvPr/>
        </p:nvSpPr>
        <p:spPr>
          <a:xfrm>
            <a:off x="682942" y="225475"/>
            <a:ext cx="7809547" cy="6186309"/>
          </a:xfrm>
          <a:prstGeom prst="rect">
            <a:avLst/>
          </a:prstGeom>
          <a:noFill/>
        </p:spPr>
        <p:txBody>
          <a:bodyPr numCol="1" wrap="square">
            <a:spAutoFit/>
          </a:bodyPr>
          <a:lstStyle/>
          <a:p>
            <a:pPr algn="l">
              <a:buNone/>
            </a:pPr>
            <a:r>
              <a:rPr b="1" dirty="0" i="0" lang="en-US">
                <a:effectLst/>
                <a:latin charset="0" panose="02020603050405020304" pitchFamily="18" typeface="Times New Roman"/>
                <a:cs charset="0" panose="02020603050405020304" pitchFamily="18" typeface="Times New Roman"/>
              </a:rPr>
              <a:t>Example: Convert the given CFG to CNF. Consider the given grammar G1:</a:t>
            </a:r>
          </a:p>
          <a:p>
            <a:pPr algn="l">
              <a:buNone/>
            </a:pPr>
            <a:r>
              <a:rPr b="1" dirty="0" lang="en-US">
                <a:latin charset="0" panose="02020603050405020304" pitchFamily="18" typeface="Times New Roman"/>
                <a:cs charset="0" panose="02020603050405020304" pitchFamily="18" typeface="Times New Roman"/>
              </a:rPr>
              <a:t>S</a:t>
            </a:r>
            <a:r>
              <a:rPr altLang="pt-BR" b="1" dirty="0" i="0" lang="pt-BR">
                <a:effectLst/>
                <a:latin charset="0" panose="02020603050405020304" pitchFamily="18" typeface="Times New Roman"/>
                <a:cs charset="0" panose="02020603050405020304" pitchFamily="18" typeface="Times New Roman"/>
              </a:rPr>
              <a:t> →</a:t>
            </a:r>
            <a:r>
              <a:rPr b="1" dirty="0" err="1" lang="en-US">
                <a:latin charset="0" panose="02020603050405020304" pitchFamily="18" typeface="Times New Roman"/>
                <a:cs charset="0" panose="02020603050405020304" pitchFamily="18" typeface="Times New Roman"/>
              </a:rPr>
              <a:t>aAbB</a:t>
            </a:r>
            <a:endParaRPr b="1" dirty="0" lang="en-US">
              <a:latin charset="0" panose="02020603050405020304" pitchFamily="18" typeface="Times New Roman"/>
              <a:cs charset="0" panose="02020603050405020304" pitchFamily="18" typeface="Times New Roman"/>
            </a:endParaRPr>
          </a:p>
          <a:p>
            <a:pPr algn="l">
              <a:buNone/>
            </a:pPr>
            <a:r>
              <a:rPr b="1" dirty="0" i="0" lang="en-US">
                <a:effectLst/>
                <a:latin charset="0" panose="02020603050405020304" pitchFamily="18" typeface="Times New Roman"/>
                <a:cs charset="0" panose="02020603050405020304" pitchFamily="18" typeface="Times New Roman"/>
              </a:rPr>
              <a:t>A </a:t>
            </a:r>
            <a:r>
              <a:rPr altLang="pt-BR" b="1" dirty="0" i="0" lang="pt-BR">
                <a:effectLst/>
                <a:latin charset="0" panose="02020603050405020304" pitchFamily="18" typeface="Times New Roman"/>
                <a:cs charset="0" panose="02020603050405020304" pitchFamily="18" typeface="Times New Roman"/>
              </a:rPr>
              <a:t>→</a:t>
            </a:r>
            <a:r>
              <a:rPr b="1" dirty="0" i="0" lang="en-US">
                <a:effectLst/>
                <a:latin charset="0" panose="02020603050405020304" pitchFamily="18" typeface="Times New Roman"/>
                <a:cs charset="0" panose="02020603050405020304" pitchFamily="18" typeface="Times New Roman"/>
              </a:rPr>
              <a:t> </a:t>
            </a:r>
            <a:r>
              <a:rPr b="1" dirty="0" err="1" i="0" lang="en-US">
                <a:effectLst/>
                <a:latin charset="0" panose="02020603050405020304" pitchFamily="18" typeface="Times New Roman"/>
                <a:cs charset="0" panose="02020603050405020304" pitchFamily="18" typeface="Times New Roman"/>
              </a:rPr>
              <a:t>aA</a:t>
            </a:r>
            <a:r>
              <a:rPr b="1" dirty="0" lang="en-US">
                <a:latin charset="0" panose="02020603050405020304" pitchFamily="18" typeface="Times New Roman"/>
                <a:cs charset="0" panose="02020603050405020304" pitchFamily="18" typeface="Times New Roman"/>
              </a:rPr>
              <a:t> |a </a:t>
            </a:r>
          </a:p>
          <a:p>
            <a:pPr algn="l">
              <a:buNone/>
            </a:pPr>
            <a:r>
              <a:rPr b="1" dirty="0" i="0" lang="en-US">
                <a:effectLst/>
                <a:latin charset="0" panose="02020603050405020304" pitchFamily="18" typeface="Times New Roman"/>
                <a:cs charset="0" panose="02020603050405020304" pitchFamily="18" typeface="Times New Roman"/>
              </a:rPr>
              <a:t>B</a:t>
            </a:r>
            <a:r>
              <a:rPr altLang="pt-BR" b="1" dirty="0" i="0" lang="pt-BR">
                <a:effectLst/>
                <a:latin charset="0" panose="02020603050405020304" pitchFamily="18" typeface="Times New Roman"/>
                <a:cs charset="0" panose="02020603050405020304" pitchFamily="18" typeface="Times New Roman"/>
              </a:rPr>
              <a:t> →</a:t>
            </a:r>
            <a:r>
              <a:rPr b="1" dirty="0" err="1" i="0" lang="en-US">
                <a:effectLst/>
                <a:latin charset="0" panose="02020603050405020304" pitchFamily="18" typeface="Times New Roman"/>
                <a:cs charset="0" panose="02020603050405020304" pitchFamily="18" typeface="Times New Roman"/>
              </a:rPr>
              <a:t>bB|b</a:t>
            </a:r>
            <a:endParaRPr b="1" dirty="0" i="0" lang="en-US">
              <a:effectLst/>
              <a:latin charset="0" panose="02020603050405020304" pitchFamily="18" typeface="Times New Roman"/>
              <a:cs charset="0" panose="02020603050405020304" pitchFamily="18" typeface="Times New Roman"/>
            </a:endParaRPr>
          </a:p>
          <a:p>
            <a:pPr algn="l">
              <a:buNone/>
            </a:pPr>
            <a:endParaRPr dirty="0" lang="en-US">
              <a:latin charset="0" panose="02020603050405020304" pitchFamily="18" typeface="Times New Roman"/>
              <a:cs charset="0" panose="02020603050405020304" pitchFamily="18" typeface="Times New Roman"/>
            </a:endParaRPr>
          </a:p>
          <a:p>
            <a:pPr algn="l">
              <a:buNone/>
            </a:pPr>
            <a:r>
              <a:rPr b="1" dirty="0" i="0" lang="en-US">
                <a:effectLst/>
                <a:latin charset="0" panose="02020603050405020304" pitchFamily="18" typeface="Times New Roman"/>
                <a:cs charset="0" panose="02020603050405020304" pitchFamily="18" typeface="Times New Roman"/>
              </a:rPr>
              <a:t>Solution</a:t>
            </a:r>
            <a:r>
              <a:rPr b="0" dirty="0" i="0" lang="en-US">
                <a:effectLst/>
                <a:latin charset="0" panose="02020603050405020304" pitchFamily="18" typeface="Times New Roman"/>
                <a:cs charset="0" panose="02020603050405020304" pitchFamily="18" typeface="Times New Roman"/>
              </a:rPr>
              <a:t>: Step 1: There is no unit production or nul</a:t>
            </a:r>
            <a:r>
              <a:rPr dirty="0" lang="en-US">
                <a:latin charset="0" panose="02020603050405020304" pitchFamily="18" typeface="Times New Roman"/>
                <a:cs charset="0" panose="02020603050405020304" pitchFamily="18" typeface="Times New Roman"/>
              </a:rPr>
              <a:t>l production.</a:t>
            </a:r>
          </a:p>
          <a:p>
            <a:pPr algn="l">
              <a:buNone/>
            </a:pPr>
            <a:r>
              <a:rPr altLang="pt-BR" dirty="0" lang="pt-BR">
                <a:latin charset="0" panose="02020603050405020304" pitchFamily="18" typeface="Times New Roman"/>
                <a:cs charset="0" panose="02020603050405020304" pitchFamily="18" typeface="Times New Roman"/>
              </a:rPr>
              <a:t>Step 2: </a:t>
            </a:r>
            <a:r>
              <a:rPr b="0" dirty="0" i="0" lang="en-US">
                <a:effectLst/>
                <a:latin charset="0" panose="02020603050405020304" pitchFamily="18" typeface="Times New Roman"/>
              </a:rPr>
              <a:t>Find the productions which are already in CNF.</a:t>
            </a:r>
          </a:p>
          <a:p>
            <a:pPr algn="l">
              <a:buNone/>
            </a:pPr>
            <a:r>
              <a:rPr b="0" dirty="0" i="0" lang="en-US">
                <a:effectLst/>
                <a:highlight>
                  <a:srgbClr val="FFFF00"/>
                </a:highlight>
                <a:latin charset="0" panose="02020603050405020304" pitchFamily="18" typeface="Times New Roman"/>
              </a:rPr>
              <a:t>A </a:t>
            </a:r>
            <a:r>
              <a:rPr altLang="pt-BR" b="0" dirty="0" i="0" lang="pt-BR">
                <a:effectLst/>
                <a:highlight>
                  <a:srgbClr val="FFFF00"/>
                </a:highlight>
                <a:latin charset="0" panose="02020603050405020304" pitchFamily="18" typeface="Times New Roman"/>
                <a:cs charset="0" panose="02020603050405020304" pitchFamily="18" typeface="Times New Roman"/>
              </a:rPr>
              <a:t>→a</a:t>
            </a:r>
            <a:endParaRPr altLang="pt-BR" dirty="0" lang="pt-BR">
              <a:highlight>
                <a:srgbClr val="FFFF00"/>
              </a:highlight>
              <a:latin charset="0" panose="02020603050405020304" pitchFamily="18" typeface="Times New Roman"/>
              <a:cs charset="0" panose="02020603050405020304" pitchFamily="18" typeface="Times New Roman"/>
            </a:endParaRPr>
          </a:p>
          <a:p>
            <a:pPr algn="l">
              <a:buNone/>
            </a:pPr>
            <a:r>
              <a:rPr altLang="pt-BR" dirty="0" lang="pt-BR">
                <a:highlight>
                  <a:srgbClr val="FFFF00"/>
                </a:highlight>
                <a:latin charset="0" panose="02020603050405020304" pitchFamily="18" typeface="Times New Roman"/>
                <a:cs charset="0" panose="02020603050405020304" pitchFamily="18" typeface="Times New Roman"/>
              </a:rPr>
              <a:t>B</a:t>
            </a:r>
            <a:r>
              <a:rPr altLang="pt-BR" b="0" dirty="0" i="0" lang="pt-BR">
                <a:effectLst/>
                <a:highlight>
                  <a:srgbClr val="FFFF00"/>
                </a:highlight>
                <a:latin charset="0" panose="02020603050405020304" pitchFamily="18" typeface="Times New Roman"/>
                <a:cs charset="0" panose="02020603050405020304" pitchFamily="18" typeface="Times New Roman"/>
              </a:rPr>
              <a:t> →</a:t>
            </a:r>
            <a:r>
              <a:rPr altLang="pt-BR" dirty="0" lang="pt-BR">
                <a:highlight>
                  <a:srgbClr val="FFFF00"/>
                </a:highlight>
                <a:latin charset="0" panose="02020603050405020304" pitchFamily="18" typeface="Times New Roman"/>
                <a:cs charset="0" panose="02020603050405020304" pitchFamily="18" typeface="Times New Roman"/>
              </a:rPr>
              <a:t>b</a:t>
            </a:r>
          </a:p>
          <a:p>
            <a:pPr algn="l">
              <a:buNone/>
            </a:pPr>
            <a:r>
              <a:rPr altLang="pt-BR" b="0" dirty="0" i="0" lang="pt-BR">
                <a:effectLst/>
                <a:latin charset="0" panose="02020603050405020304" pitchFamily="18" typeface="Times New Roman"/>
                <a:cs charset="0" panose="02020603050405020304" pitchFamily="18" typeface="Times New Roman"/>
              </a:rPr>
              <a:t>Step 3: </a:t>
            </a:r>
            <a:r>
              <a:rPr b="0" dirty="0" i="0" lang="en-US">
                <a:effectLst/>
                <a:latin charset="0" panose="02020603050405020304" pitchFamily="18" typeface="Times New Roman"/>
              </a:rPr>
              <a:t>Replace all remaining productions into CNF.</a:t>
            </a:r>
            <a:r>
              <a:rPr dirty="0" lang="en-US"/>
              <a:t> </a:t>
            </a:r>
          </a:p>
          <a:p>
            <a:pPr algn="l">
              <a:buNone/>
            </a:pPr>
            <a:r>
              <a:rPr b="1" dirty="0" lang="en-US">
                <a:highlight>
                  <a:srgbClr val="FFFF00"/>
                </a:highlight>
                <a:latin charset="0" panose="02020603050405020304" pitchFamily="18" typeface="Times New Roman"/>
                <a:cs charset="0" panose="02020603050405020304" pitchFamily="18" typeface="Times New Roman"/>
              </a:rPr>
              <a:t>i. S </a:t>
            </a:r>
            <a:r>
              <a:rPr altLang="pt-BR" b="1" dirty="0" i="0" lang="pt-BR">
                <a:effectLst/>
                <a:highlight>
                  <a:srgbClr val="FFFF00"/>
                </a:highlight>
                <a:latin charset="0" panose="02020603050405020304" pitchFamily="18" typeface="Times New Roman"/>
                <a:cs charset="0" panose="02020603050405020304" pitchFamily="18" typeface="Times New Roman"/>
              </a:rPr>
              <a:t>→ aAbB</a:t>
            </a:r>
          </a:p>
          <a:p>
            <a:pPr algn="l"/>
            <a:r>
              <a:rPr b="0" dirty="0" i="0" lang="en-US">
                <a:effectLst/>
                <a:latin charset="0" panose="02020603050405020304" pitchFamily="18" typeface="Times New Roman"/>
                <a:cs charset="0" panose="02020603050405020304" pitchFamily="18" typeface="Times New Roman"/>
              </a:rPr>
              <a:t>	C</a:t>
            </a:r>
            <a:r>
              <a:rPr b="0" baseline="-25000" dirty="0" i="0" lang="en-US">
                <a:effectLst/>
                <a:latin charset="0" panose="02020603050405020304" pitchFamily="18" typeface="Times New Roman"/>
                <a:cs charset="0" panose="02020603050405020304" pitchFamily="18" typeface="Times New Roman"/>
              </a:rPr>
              <a:t>a</a:t>
            </a:r>
            <a:r>
              <a:rPr altLang="pt-BR" b="0" dirty="0" i="0" lang="pt-BR">
                <a:effectLst/>
                <a:latin charset="0" panose="02020603050405020304" pitchFamily="18" typeface="Times New Roman"/>
                <a:cs charset="0" panose="02020603050405020304" pitchFamily="18" typeface="Times New Roman"/>
              </a:rPr>
              <a:t> → a</a:t>
            </a:r>
          </a:p>
          <a:p>
            <a:pPr algn="l"/>
            <a:r>
              <a:rPr altLang="pt-BR" baseline="-25000" dirty="0" lang="pt-BR">
                <a:latin charset="0" panose="02020603050405020304" pitchFamily="18" typeface="Times New Roman"/>
                <a:cs charset="0" panose="02020603050405020304" pitchFamily="18" typeface="Times New Roman"/>
              </a:rPr>
              <a:t>	</a:t>
            </a:r>
            <a:r>
              <a:rPr altLang="pt-BR" dirty="0" lang="pt-BR">
                <a:latin charset="0" panose="02020603050405020304" pitchFamily="18" typeface="Times New Roman"/>
                <a:cs charset="0" panose="02020603050405020304" pitchFamily="18" typeface="Times New Roman"/>
              </a:rPr>
              <a:t>C</a:t>
            </a:r>
            <a:r>
              <a:rPr altLang="pt-BR" baseline="-25000" dirty="0" lang="pt-BR">
                <a:latin charset="0" panose="02020603050405020304" pitchFamily="18" typeface="Times New Roman"/>
                <a:cs charset="0" panose="02020603050405020304" pitchFamily="18" typeface="Times New Roman"/>
              </a:rPr>
              <a:t>b</a:t>
            </a:r>
            <a:r>
              <a:rPr altLang="pt-BR" b="0" dirty="0" i="0" lang="pt-BR">
                <a:effectLst/>
                <a:latin charset="0" panose="02020603050405020304" pitchFamily="18" typeface="Times New Roman"/>
                <a:cs charset="0" panose="02020603050405020304" pitchFamily="18" typeface="Times New Roman"/>
              </a:rPr>
              <a:t> → b</a:t>
            </a:r>
          </a:p>
          <a:p>
            <a:pPr algn="l"/>
            <a:r>
              <a:rPr altLang="pt-BR" baseline="-25000" dirty="0" lang="pt-BR">
                <a:latin charset="0" panose="02020603050405020304" pitchFamily="18" typeface="Times New Roman"/>
                <a:cs charset="0" panose="02020603050405020304" pitchFamily="18" typeface="Times New Roman"/>
              </a:rPr>
              <a:t>	</a:t>
            </a:r>
            <a:r>
              <a:rPr altLang="pt-BR" dirty="0" lang="pt-BR">
                <a:latin charset="0" panose="02020603050405020304" pitchFamily="18" typeface="Times New Roman"/>
                <a:cs charset="0" panose="02020603050405020304" pitchFamily="18" typeface="Times New Roman"/>
              </a:rPr>
              <a:t>S </a:t>
            </a:r>
            <a:r>
              <a:rPr altLang="pt-BR" b="0" dirty="0" i="0" lang="pt-BR">
                <a:effectLst/>
                <a:latin charset="0" panose="02020603050405020304" pitchFamily="18" typeface="Times New Roman"/>
                <a:cs charset="0" panose="02020603050405020304" pitchFamily="18" typeface="Times New Roman"/>
              </a:rPr>
              <a:t>→C</a:t>
            </a:r>
            <a:r>
              <a:rPr altLang="pt-BR" b="0" baseline="-25000" dirty="0" i="0" lang="pt-BR">
                <a:effectLst/>
                <a:latin charset="0" panose="02020603050405020304" pitchFamily="18" typeface="Times New Roman"/>
                <a:cs charset="0" panose="02020603050405020304" pitchFamily="18" typeface="Times New Roman"/>
              </a:rPr>
              <a:t>a</a:t>
            </a:r>
            <a:r>
              <a:rPr altLang="pt-BR" b="0" dirty="0" i="0" lang="pt-BR">
                <a:effectLst/>
                <a:latin charset="0" panose="02020603050405020304" pitchFamily="18" typeface="Times New Roman"/>
                <a:cs charset="0" panose="02020603050405020304" pitchFamily="18" typeface="Times New Roman"/>
              </a:rPr>
              <a:t>AC</a:t>
            </a:r>
            <a:r>
              <a:rPr altLang="pt-BR" b="0" baseline="-25000" dirty="0" i="0" lang="pt-BR">
                <a:effectLst/>
                <a:latin charset="0" panose="02020603050405020304" pitchFamily="18" typeface="Times New Roman"/>
                <a:cs charset="0" panose="02020603050405020304" pitchFamily="18" typeface="Times New Roman"/>
              </a:rPr>
              <a:t>b</a:t>
            </a:r>
            <a:r>
              <a:rPr altLang="pt-BR" b="0" dirty="0" i="0" lang="pt-BR">
                <a:effectLst/>
                <a:latin charset="0" panose="02020603050405020304" pitchFamily="18" typeface="Times New Roman"/>
                <a:cs charset="0" panose="02020603050405020304" pitchFamily="18" typeface="Times New Roman"/>
              </a:rPr>
              <a:t>B</a:t>
            </a:r>
          </a:p>
          <a:p>
            <a:pPr algn="l"/>
            <a:r>
              <a:rPr altLang="pt-BR" baseline="-25000" dirty="0" lang="pt-BR">
                <a:latin charset="0" panose="02020603050405020304" pitchFamily="18" typeface="Times New Roman"/>
                <a:cs charset="0" panose="02020603050405020304" pitchFamily="18" typeface="Times New Roman"/>
              </a:rPr>
              <a:t>	</a:t>
            </a:r>
            <a:r>
              <a:rPr altLang="pt-BR" dirty="0" lang="pt-BR">
                <a:latin charset="0" panose="02020603050405020304" pitchFamily="18" typeface="Times New Roman"/>
                <a:cs charset="0" panose="02020603050405020304" pitchFamily="18" typeface="Times New Roman"/>
              </a:rPr>
              <a:t>S </a:t>
            </a:r>
            <a:r>
              <a:rPr altLang="pt-BR" b="0" dirty="0" i="0" lang="pt-BR">
                <a:effectLst/>
                <a:latin charset="0" panose="02020603050405020304" pitchFamily="18" typeface="Times New Roman"/>
                <a:cs charset="0" panose="02020603050405020304" pitchFamily="18" typeface="Times New Roman"/>
              </a:rPr>
              <a:t>→ C</a:t>
            </a:r>
            <a:r>
              <a:rPr altLang="pt-BR" b="0" baseline="-25000" dirty="0" i="0" lang="pt-BR">
                <a:effectLst/>
                <a:latin charset="0" panose="02020603050405020304" pitchFamily="18" typeface="Times New Roman"/>
                <a:cs charset="0" panose="02020603050405020304" pitchFamily="18" typeface="Times New Roman"/>
              </a:rPr>
              <a:t>a</a:t>
            </a:r>
            <a:r>
              <a:rPr altLang="pt-BR" b="0" dirty="0" i="0" lang="pt-BR">
                <a:effectLst/>
                <a:latin charset="0" panose="02020603050405020304" pitchFamily="18" typeface="Times New Roman"/>
                <a:cs charset="0" panose="02020603050405020304" pitchFamily="18" typeface="Times New Roman"/>
              </a:rPr>
              <a:t>D</a:t>
            </a:r>
            <a:r>
              <a:rPr altLang="pt-BR" b="0" baseline="-25000" dirty="0" i="0" lang="pt-BR">
                <a:effectLst/>
                <a:latin charset="0" panose="02020603050405020304" pitchFamily="18" typeface="Times New Roman"/>
                <a:cs charset="0" panose="02020603050405020304" pitchFamily="18" typeface="Times New Roman"/>
              </a:rPr>
              <a:t>1</a:t>
            </a:r>
          </a:p>
          <a:p>
            <a:pPr algn="l"/>
            <a:r>
              <a:rPr altLang="pt-BR" dirty="0" lang="pt-BR">
                <a:latin charset="0" panose="02020603050405020304" pitchFamily="18" typeface="Times New Roman"/>
                <a:cs charset="0" panose="02020603050405020304" pitchFamily="18" typeface="Times New Roman"/>
              </a:rPr>
              <a:t>	D</a:t>
            </a:r>
            <a:r>
              <a:rPr altLang="pt-BR" baseline="-25000" dirty="0" lang="pt-BR">
                <a:latin charset="0" panose="02020603050405020304" pitchFamily="18" typeface="Times New Roman"/>
                <a:cs charset="0" panose="02020603050405020304" pitchFamily="18" typeface="Times New Roman"/>
              </a:rPr>
              <a:t>1</a:t>
            </a:r>
            <a:r>
              <a:rPr altLang="pt-BR" b="0" dirty="0" i="0" lang="pt-BR">
                <a:effectLst/>
                <a:latin charset="0" panose="02020603050405020304" pitchFamily="18" typeface="Times New Roman"/>
                <a:cs charset="0" panose="02020603050405020304" pitchFamily="18" typeface="Times New Roman"/>
              </a:rPr>
              <a:t> →</a:t>
            </a:r>
            <a:r>
              <a:rPr altLang="pt-BR" dirty="0" lang="pt-BR">
                <a:latin charset="0" panose="02020603050405020304" pitchFamily="18" typeface="Times New Roman"/>
                <a:cs charset="0" panose="02020603050405020304" pitchFamily="18" typeface="Times New Roman"/>
              </a:rPr>
              <a:t>AC</a:t>
            </a:r>
            <a:r>
              <a:rPr altLang="pt-BR" baseline="-25000" dirty="0" lang="pt-BR">
                <a:latin charset="0" panose="02020603050405020304" pitchFamily="18" typeface="Times New Roman"/>
                <a:cs charset="0" panose="02020603050405020304" pitchFamily="18" typeface="Times New Roman"/>
              </a:rPr>
              <a:t>b</a:t>
            </a:r>
            <a:r>
              <a:rPr altLang="pt-BR" dirty="0" lang="pt-BR">
                <a:latin charset="0" panose="02020603050405020304" pitchFamily="18" typeface="Times New Roman"/>
                <a:cs charset="0" panose="02020603050405020304" pitchFamily="18" typeface="Times New Roman"/>
              </a:rPr>
              <a:t>B</a:t>
            </a:r>
          </a:p>
          <a:p>
            <a:pPr algn="l"/>
            <a:r>
              <a:rPr altLang="pt-BR" b="0" dirty="0" i="0" lang="pt-BR">
                <a:effectLst/>
                <a:latin charset="0" panose="02020603050405020304" pitchFamily="18" typeface="Times New Roman"/>
                <a:cs charset="0" panose="02020603050405020304" pitchFamily="18" typeface="Times New Roman"/>
              </a:rPr>
              <a:t>	D</a:t>
            </a:r>
            <a:r>
              <a:rPr altLang="pt-BR" b="0" baseline="-25000" dirty="0" i="0" lang="pt-BR">
                <a:effectLst/>
                <a:latin charset="0" panose="02020603050405020304" pitchFamily="18" typeface="Times New Roman"/>
                <a:cs charset="0" panose="02020603050405020304" pitchFamily="18" typeface="Times New Roman"/>
              </a:rPr>
              <a:t>1</a:t>
            </a:r>
            <a:r>
              <a:rPr altLang="pt-BR" b="0" dirty="0" i="0" lang="pt-BR">
                <a:effectLst/>
                <a:latin charset="0" panose="02020603050405020304" pitchFamily="18" typeface="Times New Roman"/>
                <a:cs charset="0" panose="02020603050405020304" pitchFamily="18" typeface="Times New Roman"/>
              </a:rPr>
              <a:t> →A</a:t>
            </a:r>
            <a:r>
              <a:rPr altLang="pt-BR" dirty="0" lang="pt-BR">
                <a:latin charset="0" panose="02020603050405020304" pitchFamily="18" typeface="Times New Roman"/>
                <a:cs charset="0" panose="02020603050405020304" pitchFamily="18" typeface="Times New Roman"/>
              </a:rPr>
              <a:t>D</a:t>
            </a:r>
            <a:r>
              <a:rPr altLang="pt-BR" baseline="-25000" dirty="0" lang="pt-BR">
                <a:latin charset="0" panose="02020603050405020304" pitchFamily="18" typeface="Times New Roman"/>
                <a:cs charset="0" panose="02020603050405020304" pitchFamily="18" typeface="Times New Roman"/>
              </a:rPr>
              <a:t>2</a:t>
            </a:r>
          </a:p>
          <a:p>
            <a:pPr algn="l"/>
            <a:r>
              <a:rPr altLang="pt-BR" b="0" dirty="0" i="0" lang="pt-BR">
                <a:effectLst/>
                <a:latin charset="0" panose="02020603050405020304" pitchFamily="18" typeface="Times New Roman"/>
                <a:cs charset="0" panose="02020603050405020304" pitchFamily="18" typeface="Times New Roman"/>
              </a:rPr>
              <a:t>	D</a:t>
            </a:r>
            <a:r>
              <a:rPr altLang="pt-BR" b="0" baseline="-25000" dirty="0" i="0" lang="pt-BR">
                <a:effectLst/>
                <a:latin charset="0" panose="02020603050405020304" pitchFamily="18" typeface="Times New Roman"/>
                <a:cs charset="0" panose="02020603050405020304" pitchFamily="18" typeface="Times New Roman"/>
              </a:rPr>
              <a:t>2</a:t>
            </a:r>
            <a:r>
              <a:rPr altLang="pt-BR" b="0" dirty="0" i="0" lang="pt-BR">
                <a:effectLst/>
                <a:latin charset="0" panose="02020603050405020304" pitchFamily="18" typeface="Times New Roman"/>
                <a:cs charset="0" panose="02020603050405020304" pitchFamily="18" typeface="Times New Roman"/>
              </a:rPr>
              <a:t> →C</a:t>
            </a:r>
            <a:r>
              <a:rPr altLang="pt-BR" b="0" baseline="-25000" dirty="0" i="0" lang="pt-BR">
                <a:effectLst/>
                <a:latin charset="0" panose="02020603050405020304" pitchFamily="18" typeface="Times New Roman"/>
                <a:cs charset="0" panose="02020603050405020304" pitchFamily="18" typeface="Times New Roman"/>
              </a:rPr>
              <a:t>b</a:t>
            </a:r>
            <a:r>
              <a:rPr altLang="pt-BR" b="0" dirty="0" i="0" lang="pt-BR">
                <a:effectLst/>
                <a:latin charset="0" panose="02020603050405020304" pitchFamily="18" typeface="Times New Roman"/>
                <a:cs charset="0" panose="02020603050405020304" pitchFamily="18" typeface="Times New Roman"/>
              </a:rPr>
              <a:t>B</a:t>
            </a:r>
          </a:p>
          <a:p>
            <a:pPr algn="l"/>
            <a:r>
              <a:rPr altLang="pt-BR" b="1" dirty="0" lang="pt-BR">
                <a:highlight>
                  <a:srgbClr val="FFFF00"/>
                </a:highlight>
                <a:latin charset="0" panose="02020603050405020304" pitchFamily="18" typeface="Times New Roman"/>
                <a:cs charset="0" panose="02020603050405020304" pitchFamily="18" typeface="Times New Roman"/>
              </a:rPr>
              <a:t>ii. A</a:t>
            </a:r>
            <a:r>
              <a:rPr altLang="pt-BR" b="1" dirty="0" i="0" lang="pt-BR">
                <a:effectLst/>
                <a:highlight>
                  <a:srgbClr val="FFFF00"/>
                </a:highlight>
                <a:latin charset="0" panose="02020603050405020304" pitchFamily="18" typeface="Times New Roman"/>
                <a:cs charset="0" panose="02020603050405020304" pitchFamily="18" typeface="Times New Roman"/>
              </a:rPr>
              <a:t> →</a:t>
            </a:r>
            <a:r>
              <a:rPr altLang="pt-BR" b="1" dirty="0" lang="pt-BR">
                <a:highlight>
                  <a:srgbClr val="FFFF00"/>
                </a:highlight>
                <a:latin charset="0" panose="02020603050405020304" pitchFamily="18" typeface="Times New Roman"/>
                <a:cs charset="0" panose="02020603050405020304" pitchFamily="18" typeface="Times New Roman"/>
              </a:rPr>
              <a:t>aA</a:t>
            </a:r>
          </a:p>
          <a:p>
            <a:pPr algn="l"/>
            <a:r>
              <a:rPr altLang="pt-BR" b="0" dirty="0" i="0" lang="pt-BR">
                <a:effectLst/>
                <a:latin charset="0" panose="02020603050405020304" pitchFamily="18" typeface="Times New Roman"/>
                <a:cs charset="0" panose="02020603050405020304" pitchFamily="18" typeface="Times New Roman"/>
              </a:rPr>
              <a:t>	A →</a:t>
            </a:r>
            <a:r>
              <a:rPr altLang="pt-BR" dirty="0" lang="pt-BR">
                <a:latin charset="0" panose="02020603050405020304" pitchFamily="18" typeface="Times New Roman"/>
                <a:cs charset="0" panose="02020603050405020304" pitchFamily="18" typeface="Times New Roman"/>
              </a:rPr>
              <a:t>C</a:t>
            </a:r>
            <a:r>
              <a:rPr altLang="pt-BR" baseline="-25000" dirty="0" lang="pt-BR">
                <a:latin charset="0" panose="02020603050405020304" pitchFamily="18" typeface="Times New Roman"/>
                <a:cs charset="0" panose="02020603050405020304" pitchFamily="18" typeface="Times New Roman"/>
              </a:rPr>
              <a:t>a</a:t>
            </a:r>
            <a:r>
              <a:rPr altLang="pt-BR" dirty="0" lang="pt-BR">
                <a:latin charset="0" panose="02020603050405020304" pitchFamily="18" typeface="Times New Roman"/>
                <a:cs charset="0" panose="02020603050405020304" pitchFamily="18" typeface="Times New Roman"/>
              </a:rPr>
              <a:t>A</a:t>
            </a:r>
          </a:p>
          <a:p>
            <a:pPr algn="l"/>
            <a:r>
              <a:rPr altLang="pt-BR" b="1" dirty="0" i="0" lang="pt-BR">
                <a:effectLst/>
                <a:highlight>
                  <a:srgbClr val="FFFF00"/>
                </a:highlight>
                <a:latin charset="0" panose="02020603050405020304" pitchFamily="18" typeface="Times New Roman"/>
                <a:cs charset="0" panose="02020603050405020304" pitchFamily="18" typeface="Times New Roman"/>
              </a:rPr>
              <a:t>iii. B →bB</a:t>
            </a:r>
          </a:p>
          <a:p>
            <a:pPr algn="l"/>
            <a:r>
              <a:rPr altLang="pt-BR" dirty="0" lang="pt-BR">
                <a:latin charset="0" panose="02020603050405020304" pitchFamily="18" typeface="Times New Roman"/>
                <a:cs charset="0" panose="02020603050405020304" pitchFamily="18" typeface="Times New Roman"/>
              </a:rPr>
              <a:t>	B</a:t>
            </a:r>
            <a:r>
              <a:rPr altLang="pt-BR" b="0" dirty="0" i="0" lang="pt-BR">
                <a:effectLst/>
                <a:latin charset="0" panose="02020603050405020304" pitchFamily="18" typeface="Times New Roman"/>
                <a:cs charset="0" panose="02020603050405020304" pitchFamily="18" typeface="Times New Roman"/>
              </a:rPr>
              <a:t> →</a:t>
            </a:r>
            <a:r>
              <a:rPr altLang="pt-BR" dirty="0" lang="pt-BR">
                <a:latin charset="0" panose="02020603050405020304" pitchFamily="18" typeface="Times New Roman"/>
                <a:cs charset="0" panose="02020603050405020304" pitchFamily="18" typeface="Times New Roman"/>
              </a:rPr>
              <a:t>C</a:t>
            </a:r>
            <a:r>
              <a:rPr altLang="pt-BR" baseline="-25000" dirty="0" lang="pt-BR">
                <a:latin charset="0" panose="02020603050405020304" pitchFamily="18" typeface="Times New Roman"/>
                <a:cs charset="0" panose="02020603050405020304" pitchFamily="18" typeface="Times New Roman"/>
              </a:rPr>
              <a:t>b</a:t>
            </a:r>
            <a:r>
              <a:rPr altLang="pt-BR" dirty="0" lang="pt-BR">
                <a:latin charset="0" panose="02020603050405020304" pitchFamily="18" typeface="Times New Roman"/>
                <a:cs charset="0" panose="02020603050405020304" pitchFamily="18" typeface="Times New Roman"/>
              </a:rPr>
              <a:t>B</a:t>
            </a:r>
            <a:endParaRPr b="0" dirty="0" i="0" lang="en-US">
              <a:effectLst/>
              <a:latin charset="0" panose="02020603050405020304" pitchFamily="18" typeface="Times New Roman"/>
              <a:cs charset="0" panose="02020603050405020304" pitchFamily="18" typeface="Times New Roman"/>
            </a:endParaRPr>
          </a:p>
        </p:txBody>
      </p:sp>
      <p:sp>
        <p:nvSpPr>
          <p:cNvPr id="5" name="TextBox 4">
            <a:extLst>
              <a:ext uri="{FF2B5EF4-FFF2-40B4-BE49-F238E27FC236}">
                <a16:creationId xmlns:a16="http://schemas.microsoft.com/office/drawing/2014/main" id="{01FB3041-CA51-B892-AB76-F51B909F8187}"/>
              </a:ext>
            </a:extLst>
          </p:cNvPr>
          <p:cNvSpPr txBox="1"/>
          <p:nvPr/>
        </p:nvSpPr>
        <p:spPr>
          <a:xfrm>
            <a:off x="8352473" y="3003768"/>
            <a:ext cx="2917507" cy="2554545"/>
          </a:xfrm>
          <a:prstGeom prst="rect">
            <a:avLst/>
          </a:prstGeom>
          <a:noFill/>
        </p:spPr>
        <p:txBody>
          <a:bodyPr numCol="1" wrap="square">
            <a:spAutoFit/>
          </a:bodyPr>
          <a:lstStyle/>
          <a:p>
            <a:r>
              <a:rPr altLang="en-IN" b="0" dirty="0" i="0" lang="en-IN" sz="2000">
                <a:effectLst/>
                <a:latin charset="0" panose="02020603050405020304" pitchFamily="18" typeface="Times New Roman"/>
              </a:rPr>
              <a:t>Final Resultant Grammar</a:t>
            </a:r>
            <a:br>
              <a:rPr altLang="en-IN" b="0" dirty="0" i="0" lang="en-IN" sz="2000">
                <a:effectLst/>
                <a:latin charset="0" panose="02020603050405020304" pitchFamily="18" typeface="Times New Roman"/>
              </a:rPr>
            </a:br>
            <a:r>
              <a:rPr altLang="en-IN" b="0" dirty="0" i="0" lang="en-IN" sz="2000">
                <a:effectLst/>
                <a:latin charset="0" panose="02020603050405020304" pitchFamily="18" typeface="Times New Roman"/>
              </a:rPr>
              <a:t>G1: </a:t>
            </a:r>
            <a:r>
              <a:rPr altLang="pt-BR" dirty="0" lang="pt-BR" sz="2000">
                <a:latin charset="0" panose="02020603050405020304" pitchFamily="18" typeface="Times New Roman"/>
                <a:cs charset="0" panose="02020603050405020304" pitchFamily="18" typeface="Times New Roman"/>
              </a:rPr>
              <a:t>S </a:t>
            </a:r>
            <a:r>
              <a:rPr altLang="pt-BR" b="0" dirty="0" i="0" lang="pt-BR" sz="2000">
                <a:effectLst/>
                <a:latin charset="0" panose="02020603050405020304" pitchFamily="18" typeface="Times New Roman"/>
                <a:cs charset="0" panose="02020603050405020304" pitchFamily="18" typeface="Times New Roman"/>
              </a:rPr>
              <a:t>→ C</a:t>
            </a:r>
            <a:r>
              <a:rPr altLang="pt-BR" b="0" baseline="-25000" dirty="0" i="0" lang="pt-BR" sz="2000">
                <a:effectLst/>
                <a:latin charset="0" panose="02020603050405020304" pitchFamily="18" typeface="Times New Roman"/>
                <a:cs charset="0" panose="02020603050405020304" pitchFamily="18" typeface="Times New Roman"/>
              </a:rPr>
              <a:t>a</a:t>
            </a:r>
            <a:r>
              <a:rPr altLang="pt-BR" b="0" dirty="0" i="0" lang="pt-BR" sz="2000">
                <a:effectLst/>
                <a:latin charset="0" panose="02020603050405020304" pitchFamily="18" typeface="Times New Roman"/>
                <a:cs charset="0" panose="02020603050405020304" pitchFamily="18" typeface="Times New Roman"/>
              </a:rPr>
              <a:t>D</a:t>
            </a:r>
            <a:r>
              <a:rPr altLang="pt-BR" b="0" baseline="-25000" dirty="0" i="0" lang="pt-BR" sz="2000">
                <a:effectLst/>
                <a:latin charset="0" panose="02020603050405020304" pitchFamily="18" typeface="Times New Roman"/>
                <a:cs charset="0" panose="02020603050405020304" pitchFamily="18" typeface="Times New Roman"/>
              </a:rPr>
              <a:t>1</a:t>
            </a:r>
          </a:p>
          <a:p>
            <a:pPr algn="l"/>
            <a:r>
              <a:rPr altLang="pt-BR" b="0" dirty="0" i="0" lang="pt-BR" sz="2000">
                <a:effectLst/>
                <a:latin charset="0" panose="02020603050405020304" pitchFamily="18" typeface="Times New Roman"/>
                <a:cs charset="0" panose="02020603050405020304" pitchFamily="18" typeface="Times New Roman"/>
              </a:rPr>
              <a:t>D</a:t>
            </a:r>
            <a:r>
              <a:rPr altLang="pt-BR" b="0" baseline="-25000" dirty="0" i="0" lang="pt-BR" sz="2000">
                <a:effectLst/>
                <a:latin charset="0" panose="02020603050405020304" pitchFamily="18" typeface="Times New Roman"/>
                <a:cs charset="0" panose="02020603050405020304" pitchFamily="18" typeface="Times New Roman"/>
              </a:rPr>
              <a:t>1</a:t>
            </a:r>
            <a:r>
              <a:rPr altLang="pt-BR" b="0" dirty="0" i="0" lang="pt-BR" sz="2000">
                <a:effectLst/>
                <a:latin charset="0" panose="02020603050405020304" pitchFamily="18" typeface="Times New Roman"/>
                <a:cs charset="0" panose="02020603050405020304" pitchFamily="18" typeface="Times New Roman"/>
              </a:rPr>
              <a:t> →A</a:t>
            </a:r>
            <a:r>
              <a:rPr altLang="pt-BR" dirty="0" lang="pt-BR" sz="2000">
                <a:latin charset="0" panose="02020603050405020304" pitchFamily="18" typeface="Times New Roman"/>
                <a:cs charset="0" panose="02020603050405020304" pitchFamily="18" typeface="Times New Roman"/>
              </a:rPr>
              <a:t>D</a:t>
            </a:r>
            <a:r>
              <a:rPr altLang="pt-BR" baseline="-25000" dirty="0" lang="pt-BR" sz="2000">
                <a:latin charset="0" panose="02020603050405020304" pitchFamily="18" typeface="Times New Roman"/>
                <a:cs charset="0" panose="02020603050405020304" pitchFamily="18" typeface="Times New Roman"/>
              </a:rPr>
              <a:t>2</a:t>
            </a:r>
          </a:p>
          <a:p>
            <a:pPr algn="l"/>
            <a:r>
              <a:rPr altLang="pt-BR" b="0" dirty="0" i="0" lang="pt-BR" sz="2000">
                <a:effectLst/>
                <a:latin charset="0" panose="02020603050405020304" pitchFamily="18" typeface="Times New Roman"/>
                <a:cs charset="0" panose="02020603050405020304" pitchFamily="18" typeface="Times New Roman"/>
              </a:rPr>
              <a:t>D</a:t>
            </a:r>
            <a:r>
              <a:rPr altLang="pt-BR" b="0" baseline="-25000" dirty="0" i="0" lang="pt-BR" sz="2000">
                <a:effectLst/>
                <a:latin charset="0" panose="02020603050405020304" pitchFamily="18" typeface="Times New Roman"/>
                <a:cs charset="0" panose="02020603050405020304" pitchFamily="18" typeface="Times New Roman"/>
              </a:rPr>
              <a:t>2</a:t>
            </a:r>
            <a:r>
              <a:rPr altLang="pt-BR" b="0" dirty="0" i="0" lang="pt-BR" sz="2000">
                <a:effectLst/>
                <a:latin charset="0" panose="02020603050405020304" pitchFamily="18" typeface="Times New Roman"/>
                <a:cs charset="0" panose="02020603050405020304" pitchFamily="18" typeface="Times New Roman"/>
              </a:rPr>
              <a:t> →C</a:t>
            </a:r>
            <a:r>
              <a:rPr altLang="pt-BR" b="0" baseline="-25000" dirty="0" i="0" lang="pt-BR" sz="2000">
                <a:effectLst/>
                <a:latin charset="0" panose="02020603050405020304" pitchFamily="18" typeface="Times New Roman"/>
                <a:cs charset="0" panose="02020603050405020304" pitchFamily="18" typeface="Times New Roman"/>
              </a:rPr>
              <a:t>b</a:t>
            </a:r>
            <a:r>
              <a:rPr altLang="pt-BR" b="0" dirty="0" i="0" lang="pt-BR" sz="2000">
                <a:effectLst/>
                <a:latin charset="0" panose="02020603050405020304" pitchFamily="18" typeface="Times New Roman"/>
                <a:cs charset="0" panose="02020603050405020304" pitchFamily="18" typeface="Times New Roman"/>
              </a:rPr>
              <a:t>B</a:t>
            </a:r>
          </a:p>
          <a:p>
            <a:pPr algn="l"/>
            <a:r>
              <a:rPr altLang="pt-BR" b="0" dirty="0" i="0" lang="pt-BR" sz="2000">
                <a:effectLst/>
                <a:latin charset="0" panose="02020603050405020304" pitchFamily="18" typeface="Times New Roman"/>
                <a:cs charset="0" panose="02020603050405020304" pitchFamily="18" typeface="Times New Roman"/>
              </a:rPr>
              <a:t>A →</a:t>
            </a:r>
            <a:r>
              <a:rPr altLang="pt-BR" dirty="0" lang="pt-BR" sz="2000">
                <a:latin charset="0" panose="02020603050405020304" pitchFamily="18" typeface="Times New Roman"/>
                <a:cs charset="0" panose="02020603050405020304" pitchFamily="18" typeface="Times New Roman"/>
              </a:rPr>
              <a:t>C</a:t>
            </a:r>
            <a:r>
              <a:rPr altLang="pt-BR" baseline="-25000" dirty="0" lang="pt-BR" sz="2000">
                <a:latin charset="0" panose="02020603050405020304" pitchFamily="18" typeface="Times New Roman"/>
                <a:cs charset="0" panose="02020603050405020304" pitchFamily="18" typeface="Times New Roman"/>
              </a:rPr>
              <a:t>a</a:t>
            </a:r>
            <a:r>
              <a:rPr altLang="pt-BR" dirty="0" lang="pt-BR" sz="2000">
                <a:latin charset="0" panose="02020603050405020304" pitchFamily="18" typeface="Times New Roman"/>
                <a:cs charset="0" panose="02020603050405020304" pitchFamily="18" typeface="Times New Roman"/>
              </a:rPr>
              <a:t>A|a</a:t>
            </a:r>
          </a:p>
          <a:p>
            <a:pPr algn="l"/>
            <a:r>
              <a:rPr altLang="pt-BR" dirty="0" lang="pt-BR" sz="2000">
                <a:latin charset="0" panose="02020603050405020304" pitchFamily="18" typeface="Times New Roman"/>
                <a:cs charset="0" panose="02020603050405020304" pitchFamily="18" typeface="Times New Roman"/>
              </a:rPr>
              <a:t>B</a:t>
            </a:r>
            <a:r>
              <a:rPr altLang="pt-BR" b="0" dirty="0" i="0" lang="pt-BR" sz="2000">
                <a:effectLst/>
                <a:latin charset="0" panose="02020603050405020304" pitchFamily="18" typeface="Times New Roman"/>
                <a:cs charset="0" panose="02020603050405020304" pitchFamily="18" typeface="Times New Roman"/>
              </a:rPr>
              <a:t> →</a:t>
            </a:r>
            <a:r>
              <a:rPr altLang="pt-BR" dirty="0" lang="pt-BR" sz="2000">
                <a:latin charset="0" panose="02020603050405020304" pitchFamily="18" typeface="Times New Roman"/>
                <a:cs charset="0" panose="02020603050405020304" pitchFamily="18" typeface="Times New Roman"/>
              </a:rPr>
              <a:t>C</a:t>
            </a:r>
            <a:r>
              <a:rPr altLang="pt-BR" baseline="-25000" dirty="0" lang="pt-BR" sz="2000">
                <a:latin charset="0" panose="02020603050405020304" pitchFamily="18" typeface="Times New Roman"/>
                <a:cs charset="0" panose="02020603050405020304" pitchFamily="18" typeface="Times New Roman"/>
              </a:rPr>
              <a:t>b</a:t>
            </a:r>
            <a:r>
              <a:rPr altLang="pt-BR" dirty="0" lang="pt-BR" sz="2000">
                <a:latin charset="0" panose="02020603050405020304" pitchFamily="18" typeface="Times New Roman"/>
                <a:cs charset="0" panose="02020603050405020304" pitchFamily="18" typeface="Times New Roman"/>
              </a:rPr>
              <a:t>B|b</a:t>
            </a:r>
          </a:p>
          <a:p>
            <a:pPr algn="l"/>
            <a:r>
              <a:rPr b="0" dirty="0" i="0" lang="en-US" sz="2000">
                <a:effectLst/>
                <a:latin charset="0" panose="02020603050405020304" pitchFamily="18" typeface="Times New Roman"/>
                <a:cs charset="0" panose="02020603050405020304" pitchFamily="18" typeface="Times New Roman"/>
              </a:rPr>
              <a:t>C</a:t>
            </a:r>
            <a:r>
              <a:rPr b="0" baseline="-25000" dirty="0" i="0" lang="en-US" sz="2000">
                <a:effectLst/>
                <a:latin charset="0" panose="02020603050405020304" pitchFamily="18" typeface="Times New Roman"/>
                <a:cs charset="0" panose="02020603050405020304" pitchFamily="18" typeface="Times New Roman"/>
              </a:rPr>
              <a:t>a</a:t>
            </a:r>
            <a:r>
              <a:rPr altLang="pt-BR" b="0" dirty="0" i="0" lang="pt-BR" sz="2000">
                <a:effectLst/>
                <a:latin charset="0" panose="02020603050405020304" pitchFamily="18" typeface="Times New Roman"/>
                <a:cs charset="0" panose="02020603050405020304" pitchFamily="18" typeface="Times New Roman"/>
              </a:rPr>
              <a:t> → a</a:t>
            </a:r>
          </a:p>
          <a:p>
            <a:pPr algn="l"/>
            <a:r>
              <a:rPr altLang="pt-BR" dirty="0" lang="pt-BR" sz="2000">
                <a:latin charset="0" panose="02020603050405020304" pitchFamily="18" typeface="Times New Roman"/>
                <a:cs charset="0" panose="02020603050405020304" pitchFamily="18" typeface="Times New Roman"/>
              </a:rPr>
              <a:t>C</a:t>
            </a:r>
            <a:r>
              <a:rPr altLang="pt-BR" baseline="-25000" dirty="0" lang="pt-BR" sz="2000">
                <a:latin charset="0" panose="02020603050405020304" pitchFamily="18" typeface="Times New Roman"/>
                <a:cs charset="0" panose="02020603050405020304" pitchFamily="18" typeface="Times New Roman"/>
              </a:rPr>
              <a:t>b</a:t>
            </a:r>
            <a:r>
              <a:rPr altLang="pt-BR" b="0" dirty="0" i="0" lang="pt-BR" sz="2000">
                <a:effectLst/>
                <a:latin charset="0" panose="02020603050405020304" pitchFamily="18" typeface="Times New Roman"/>
                <a:cs charset="0" panose="02020603050405020304" pitchFamily="18" typeface="Times New Roman"/>
              </a:rPr>
              <a:t> → b</a:t>
            </a:r>
          </a:p>
        </p:txBody>
      </p:sp>
    </p:spTree>
    <p:extLst>
      <p:ext uri="{BB962C8B-B14F-4D97-AF65-F5344CB8AC3E}">
        <p14:creationId xmlns:p14="http://schemas.microsoft.com/office/powerpoint/2010/main" val="4353045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3">
                                            <p:txEl>
                                              <p:pRg end="7" st="7"/>
                                            </p:txEl>
                                          </p:spTgt>
                                        </p:tgtEl>
                                        <p:attrNameLst>
                                          <p:attrName>style.visibility</p:attrName>
                                        </p:attrNameLst>
                                      </p:cBhvr>
                                      <p:to>
                                        <p:strVal val="visible"/>
                                      </p:to>
                                    </p:set>
                                  </p:childTnLst>
                                </p:cTn>
                              </p:par>
                            </p:childTnLst>
                          </p:cTn>
                        </p:par>
                      </p:childTnLst>
                    </p:cTn>
                  </p:par>
                  <p:par>
                    <p:cTn fill="hold" id="25">
                      <p:stCondLst>
                        <p:cond delay="indefinite"/>
                      </p:stCondLst>
                      <p:childTnLst>
                        <p:par>
                          <p:cTn fill="hold" id="26">
                            <p:stCondLst>
                              <p:cond delay="0"/>
                            </p:stCondLst>
                            <p:childTnLst>
                              <p:par>
                                <p:cTn fill="hold" id="27" nodeType="clickEffect" presetClass="entr" presetID="1" presetSubtype="0">
                                  <p:stCondLst>
                                    <p:cond delay="0"/>
                                  </p:stCondLst>
                                  <p:childTnLst>
                                    <p:set>
                                      <p:cBhvr>
                                        <p:cTn dur="1" fill="hold" id="28">
                                          <p:stCondLst>
                                            <p:cond delay="0"/>
                                          </p:stCondLst>
                                        </p:cTn>
                                        <p:tgtEl>
                                          <p:spTgt spid="3">
                                            <p:txEl>
                                              <p:pRg end="8" st="8"/>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id="31" nodeType="clickEffect" presetClass="entr" presetID="1" presetSubtype="0">
                                  <p:stCondLst>
                                    <p:cond delay="0"/>
                                  </p:stCondLst>
                                  <p:childTnLst>
                                    <p:set>
                                      <p:cBhvr>
                                        <p:cTn dur="1" fill="hold" id="32">
                                          <p:stCondLst>
                                            <p:cond delay="0"/>
                                          </p:stCondLst>
                                        </p:cTn>
                                        <p:tgtEl>
                                          <p:spTgt spid="3">
                                            <p:txEl>
                                              <p:pRg end="9" st="9"/>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 presetSubtype="0">
                                  <p:stCondLst>
                                    <p:cond delay="0"/>
                                  </p:stCondLst>
                                  <p:childTnLst>
                                    <p:set>
                                      <p:cBhvr>
                                        <p:cTn dur="1" fill="hold" id="36">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id="39" nodeType="clickEffect" presetClass="entr" presetID="1" presetSubtype="0">
                                  <p:stCondLst>
                                    <p:cond delay="0"/>
                                  </p:stCondLst>
                                  <p:childTnLst>
                                    <p:set>
                                      <p:cBhvr>
                                        <p:cTn dur="1" fill="hold" id="40">
                                          <p:stCondLst>
                                            <p:cond delay="0"/>
                                          </p:stCondLst>
                                        </p:cTn>
                                        <p:tgtEl>
                                          <p:spTgt spid="3">
                                            <p:txEl>
                                              <p:pRg end="11" st="11"/>
                                            </p:txEl>
                                          </p:spTgt>
                                        </p:tgtEl>
                                        <p:attrNameLst>
                                          <p:attrName>style.visibility</p:attrName>
                                        </p:attrNameLst>
                                      </p:cBhvr>
                                      <p:to>
                                        <p:strVal val="visible"/>
                                      </p:to>
                                    </p:set>
                                  </p:childTnLst>
                                </p:cTn>
                              </p:par>
                              <p:par>
                                <p:cTn fill="hold" id="41" nodeType="withEffect" presetClass="entr" presetID="1" presetSubtype="0">
                                  <p:stCondLst>
                                    <p:cond delay="0"/>
                                  </p:stCondLst>
                                  <p:childTnLst>
                                    <p:set>
                                      <p:cBhvr>
                                        <p:cTn dur="1" fill="hold" id="42">
                                          <p:stCondLst>
                                            <p:cond delay="0"/>
                                          </p:stCondLst>
                                        </p:cTn>
                                        <p:tgtEl>
                                          <p:spTgt spid="3">
                                            <p:txEl>
                                              <p:pRg end="12" st="12"/>
                                            </p:txEl>
                                          </p:spTgt>
                                        </p:tgtEl>
                                        <p:attrNameLst>
                                          <p:attrName>style.visibility</p:attrName>
                                        </p:attrNameLst>
                                      </p:cBhvr>
                                      <p:to>
                                        <p:strVal val="visible"/>
                                      </p:to>
                                    </p:set>
                                  </p:childTnLst>
                                </p:cTn>
                              </p:par>
                              <p:par>
                                <p:cTn fill="hold" id="43" nodeType="withEffect" presetClass="entr" presetID="1" presetSubtype="0">
                                  <p:stCondLst>
                                    <p:cond delay="0"/>
                                  </p:stCondLst>
                                  <p:childTnLst>
                                    <p:set>
                                      <p:cBhvr>
                                        <p:cTn dur="1" fill="hold" id="44">
                                          <p:stCondLst>
                                            <p:cond delay="0"/>
                                          </p:stCondLst>
                                        </p:cTn>
                                        <p:tgtEl>
                                          <p:spTgt spid="3">
                                            <p:txEl>
                                              <p:pRg end="13" st="13"/>
                                            </p:txEl>
                                          </p:spTgt>
                                        </p:tgtEl>
                                        <p:attrNameLst>
                                          <p:attrName>style.visibility</p:attrName>
                                        </p:attrNameLst>
                                      </p:cBhvr>
                                      <p:to>
                                        <p:strVal val="visible"/>
                                      </p:to>
                                    </p:set>
                                  </p:childTnLst>
                                </p:cTn>
                              </p:par>
                              <p:par>
                                <p:cTn fill="hold" id="45" nodeType="withEffect" presetClass="entr" presetID="1" presetSubtype="0">
                                  <p:stCondLst>
                                    <p:cond delay="0"/>
                                  </p:stCondLst>
                                  <p:childTnLst>
                                    <p:set>
                                      <p:cBhvr>
                                        <p:cTn dur="1" fill="hold" id="46">
                                          <p:stCondLst>
                                            <p:cond delay="0"/>
                                          </p:stCondLst>
                                        </p:cTn>
                                        <p:tgtEl>
                                          <p:spTgt spid="3">
                                            <p:txEl>
                                              <p:pRg end="14" st="14"/>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3">
                                            <p:txEl>
                                              <p:pRg end="15" st="15"/>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3">
                                            <p:txEl>
                                              <p:pRg end="16" st="16"/>
                                            </p:txEl>
                                          </p:spTgt>
                                        </p:tgtEl>
                                        <p:attrNameLst>
                                          <p:attrName>style.visibility</p:attrName>
                                        </p:attrNameLst>
                                      </p:cBhvr>
                                      <p:to>
                                        <p:strVal val="visible"/>
                                      </p:to>
                                    </p:set>
                                  </p:childTnLst>
                                </p:cTn>
                              </p:par>
                              <p:par>
                                <p:cTn fill="hold" id="51" nodeType="withEffect" presetClass="entr" presetID="1" presetSubtype="0">
                                  <p:stCondLst>
                                    <p:cond delay="0"/>
                                  </p:stCondLst>
                                  <p:childTnLst>
                                    <p:set>
                                      <p:cBhvr>
                                        <p:cTn dur="1" fill="hold" id="52">
                                          <p:stCondLst>
                                            <p:cond delay="0"/>
                                          </p:stCondLst>
                                        </p:cTn>
                                        <p:tgtEl>
                                          <p:spTgt spid="3">
                                            <p:txEl>
                                              <p:pRg end="17" st="17"/>
                                            </p:txEl>
                                          </p:spTgt>
                                        </p:tgtEl>
                                        <p:attrNameLst>
                                          <p:attrName>style.visibility</p:attrName>
                                        </p:attrNameLst>
                                      </p:cBhvr>
                                      <p:to>
                                        <p:strVal val="visible"/>
                                      </p:to>
                                    </p:set>
                                  </p:childTnLst>
                                </p:cTn>
                              </p:par>
                            </p:childTnLst>
                          </p:cTn>
                        </p:par>
                      </p:childTnLst>
                    </p:cTn>
                  </p:par>
                  <p:par>
                    <p:cTn fill="hold" id="53">
                      <p:stCondLst>
                        <p:cond delay="indefinite"/>
                      </p:stCondLst>
                      <p:childTnLst>
                        <p:par>
                          <p:cTn fill="hold" id="54">
                            <p:stCondLst>
                              <p:cond delay="0"/>
                            </p:stCondLst>
                            <p:childTnLst>
                              <p:par>
                                <p:cTn fill="hold" id="55" nodeType="clickEffect" presetClass="entr" presetID="1" presetSubtype="0">
                                  <p:stCondLst>
                                    <p:cond delay="0"/>
                                  </p:stCondLst>
                                  <p:childTnLst>
                                    <p:set>
                                      <p:cBhvr>
                                        <p:cTn dur="1" fill="hold" id="56">
                                          <p:stCondLst>
                                            <p:cond delay="0"/>
                                          </p:stCondLst>
                                        </p:cTn>
                                        <p:tgtEl>
                                          <p:spTgt spid="3">
                                            <p:txEl>
                                              <p:pRg end="18" st="18"/>
                                            </p:txEl>
                                          </p:spTgt>
                                        </p:tgtEl>
                                        <p:attrNameLst>
                                          <p:attrName>style.visibility</p:attrName>
                                        </p:attrNameLst>
                                      </p:cBhvr>
                                      <p:to>
                                        <p:strVal val="visible"/>
                                      </p:to>
                                    </p:set>
                                  </p:childTnLst>
                                </p:cTn>
                              </p:par>
                              <p:par>
                                <p:cTn fill="hold" id="57" nodeType="withEffect" presetClass="entr" presetID="1" presetSubtype="0">
                                  <p:stCondLst>
                                    <p:cond delay="0"/>
                                  </p:stCondLst>
                                  <p:childTnLst>
                                    <p:set>
                                      <p:cBhvr>
                                        <p:cTn dur="1" fill="hold" id="58">
                                          <p:stCondLst>
                                            <p:cond delay="0"/>
                                          </p:stCondLst>
                                        </p:cTn>
                                        <p:tgtEl>
                                          <p:spTgt spid="3">
                                            <p:txEl>
                                              <p:pRg end="19" st="19"/>
                                            </p:txEl>
                                          </p:spTgt>
                                        </p:tgtEl>
                                        <p:attrNameLst>
                                          <p:attrName>style.visibility</p:attrName>
                                        </p:attrNameLst>
                                      </p:cBhvr>
                                      <p:to>
                                        <p:strVal val="visible"/>
                                      </p:to>
                                    </p:set>
                                  </p:childTnLst>
                                </p:cTn>
                              </p:par>
                              <p:par>
                                <p:cTn fill="hold" id="59" nodeType="withEffect" presetClass="entr" presetID="1" presetSubtype="0">
                                  <p:stCondLst>
                                    <p:cond delay="0"/>
                                  </p:stCondLst>
                                  <p:childTnLst>
                                    <p:set>
                                      <p:cBhvr>
                                        <p:cTn dur="1" fill="hold" id="60">
                                          <p:stCondLst>
                                            <p:cond delay="0"/>
                                          </p:stCondLst>
                                        </p:cTn>
                                        <p:tgtEl>
                                          <p:spTgt spid="3">
                                            <p:txEl>
                                              <p:pRg end="20" st="20"/>
                                            </p:txEl>
                                          </p:spTgt>
                                        </p:tgtEl>
                                        <p:attrNameLst>
                                          <p:attrName>style.visibility</p:attrName>
                                        </p:attrNameLst>
                                      </p:cBhvr>
                                      <p:to>
                                        <p:strVal val="visible"/>
                                      </p:to>
                                    </p:set>
                                  </p:childTnLst>
                                </p:cTn>
                              </p:par>
                              <p:par>
                                <p:cTn fill="hold" id="61" nodeType="withEffect" presetClass="entr" presetID="1" presetSubtype="0">
                                  <p:stCondLst>
                                    <p:cond delay="0"/>
                                  </p:stCondLst>
                                  <p:childTnLst>
                                    <p:set>
                                      <p:cBhvr>
                                        <p:cTn dur="1" fill="hold" id="62">
                                          <p:stCondLst>
                                            <p:cond delay="0"/>
                                          </p:stCondLst>
                                        </p:cTn>
                                        <p:tgtEl>
                                          <p:spTgt spid="3">
                                            <p:txEl>
                                              <p:pRg end="21" st="21"/>
                                            </p:txEl>
                                          </p:spTgt>
                                        </p:tgtEl>
                                        <p:attrNameLst>
                                          <p:attrName>style.visibility</p:attrName>
                                        </p:attrNameLst>
                                      </p:cBhvr>
                                      <p:to>
                                        <p:strVal val="visible"/>
                                      </p:to>
                                    </p:set>
                                  </p:childTnLst>
                                </p:cTn>
                              </p:par>
                            </p:childTnLst>
                          </p:cTn>
                        </p:par>
                      </p:childTnLst>
                    </p:cTn>
                  </p:par>
                  <p:par>
                    <p:cTn fill="hold" id="63">
                      <p:stCondLst>
                        <p:cond delay="indefinite"/>
                      </p:stCondLst>
                      <p:childTnLst>
                        <p:par>
                          <p:cTn fill="hold" id="64">
                            <p:stCondLst>
                              <p:cond delay="0"/>
                            </p:stCondLst>
                            <p:childTnLst>
                              <p:par>
                                <p:cTn fill="hold" grpId="0" id="65" nodeType="clickEffect" presetClass="entr" presetID="1" presetSubtype="0">
                                  <p:stCondLst>
                                    <p:cond delay="0"/>
                                  </p:stCondLst>
                                  <p:childTnLst>
                                    <p:set>
                                      <p:cBhvr>
                                        <p:cTn dur="1" fill="hold" id="66">
                                          <p:stCondLst>
                                            <p:cond delay="0"/>
                                          </p:stCondLst>
                                        </p:cTn>
                                        <p:tgtEl>
                                          <p:spTgt spid="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74AC7A-6F60-B697-5B82-EE6356F48C0C}"/>
              </a:ext>
            </a:extLst>
          </p:cNvPr>
          <p:cNvSpPr txBox="1"/>
          <p:nvPr/>
        </p:nvSpPr>
        <p:spPr>
          <a:xfrm>
            <a:off x="470702" y="236840"/>
            <a:ext cx="8025598" cy="6186309"/>
          </a:xfrm>
          <a:prstGeom prst="rect">
            <a:avLst/>
          </a:prstGeom>
          <a:noFill/>
        </p:spPr>
        <p:txBody>
          <a:bodyPr numCol="1" wrap="square">
            <a:spAutoFit/>
          </a:bodyPr>
          <a:lstStyle/>
          <a:p>
            <a:r>
              <a:rPr altLang="en-IN" b="1" dirty="0" lang="en-IN">
                <a:latin charset="0" panose="02020603050405020304" pitchFamily="18" typeface="Times New Roman"/>
                <a:cs charset="0" panose="02020603050405020304" pitchFamily="18" typeface="Times New Roman"/>
              </a:rPr>
              <a:t>Consider the CFG and convert it into CNF:</a:t>
            </a:r>
          </a:p>
          <a:p>
            <a:r>
              <a:rPr altLang="en-IN" b="1" dirty="0" lang="en-IN">
                <a:latin charset="0" panose="02020603050405020304" pitchFamily="18" typeface="Times New Roman"/>
                <a:cs charset="0" panose="02020603050405020304" pitchFamily="18" typeface="Times New Roman"/>
              </a:rPr>
              <a:t>S → </a:t>
            </a:r>
            <a:r>
              <a:rPr altLang="en-IN" b="1" dirty="0" err="1" lang="en-IN">
                <a:latin charset="0" panose="02020603050405020304" pitchFamily="18" typeface="Times New Roman"/>
                <a:cs charset="0" panose="02020603050405020304" pitchFamily="18" typeface="Times New Roman"/>
              </a:rPr>
              <a:t>aXbX</a:t>
            </a:r>
            <a:endParaRPr altLang="en-IN" b="1" dirty="0" lang="en-IN">
              <a:latin charset="0" panose="02020603050405020304" pitchFamily="18" typeface="Times New Roman"/>
              <a:cs charset="0" panose="02020603050405020304" pitchFamily="18" typeface="Times New Roman"/>
            </a:endParaRPr>
          </a:p>
          <a:p>
            <a:r>
              <a:rPr altLang="en-IN" b="1" dirty="0" lang="en-IN">
                <a:latin charset="0" panose="02020603050405020304" pitchFamily="18" typeface="Times New Roman"/>
                <a:cs charset="0" panose="02020603050405020304" pitchFamily="18" typeface="Times New Roman"/>
              </a:rPr>
              <a:t>X → </a:t>
            </a:r>
            <a:r>
              <a:rPr altLang="en-IN" b="1" dirty="0" err="1" lang="en-IN">
                <a:latin charset="0" panose="02020603050405020304" pitchFamily="18" typeface="Times New Roman"/>
                <a:cs charset="0" panose="02020603050405020304" pitchFamily="18" typeface="Times New Roman"/>
              </a:rPr>
              <a:t>aY</a:t>
            </a:r>
            <a:r>
              <a:rPr altLang="en-IN" b="1" dirty="0" lang="en-IN">
                <a:latin charset="0" panose="02020603050405020304" pitchFamily="18" typeface="Times New Roman"/>
                <a:cs charset="0" panose="02020603050405020304" pitchFamily="18" typeface="Times New Roman"/>
              </a:rPr>
              <a:t> | </a:t>
            </a:r>
            <a:r>
              <a:rPr altLang="en-IN" b="1" dirty="0" err="1" lang="en-IN">
                <a:latin charset="0" panose="02020603050405020304" pitchFamily="18" typeface="Times New Roman"/>
                <a:cs charset="0" panose="02020603050405020304" pitchFamily="18" typeface="Times New Roman"/>
              </a:rPr>
              <a:t>bY</a:t>
            </a:r>
            <a:r>
              <a:rPr altLang="en-IN" b="1" dirty="0" lang="en-IN">
                <a:latin charset="0" panose="02020603050405020304" pitchFamily="18" typeface="Times New Roman"/>
                <a:cs charset="0" panose="02020603050405020304" pitchFamily="18" typeface="Times New Roman"/>
              </a:rPr>
              <a:t> | ε</a:t>
            </a:r>
          </a:p>
          <a:p>
            <a:r>
              <a:rPr altLang="en-IN" b="1" dirty="0" lang="en-IN">
                <a:latin charset="0" panose="02020603050405020304" pitchFamily="18" typeface="Times New Roman"/>
                <a:cs charset="0" panose="02020603050405020304" pitchFamily="18" typeface="Times New Roman"/>
              </a:rPr>
              <a:t>Y → X |c| ε</a:t>
            </a:r>
          </a:p>
          <a:p>
            <a:r>
              <a:rPr altLang="en-IN" b="1" dirty="0" lang="en-IN">
                <a:latin charset="0" panose="02020603050405020304" pitchFamily="18" typeface="Times New Roman"/>
                <a:cs charset="0" panose="02020603050405020304" pitchFamily="18" typeface="Times New Roman"/>
              </a:rPr>
              <a:t>Solution</a:t>
            </a:r>
            <a:r>
              <a:rPr altLang="en-IN" dirty="0" lang="en-IN">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The variable X and Y are nullable. After elimination of ε, we obtain:</a:t>
            </a:r>
          </a:p>
          <a:p>
            <a:r>
              <a:rPr dirty="0" lang="en-US">
                <a:latin charset="0" panose="02020603050405020304" pitchFamily="18" typeface="Times New Roman"/>
                <a:cs charset="0" panose="02020603050405020304" pitchFamily="18" typeface="Times New Roman"/>
              </a:rPr>
              <a:t>S → </a:t>
            </a:r>
            <a:r>
              <a:rPr dirty="0" err="1" lang="en-US">
                <a:latin charset="0" panose="02020603050405020304" pitchFamily="18" typeface="Times New Roman"/>
                <a:cs charset="0" panose="02020603050405020304" pitchFamily="18" typeface="Times New Roman"/>
              </a:rPr>
              <a:t>aXbX</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abX</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aXb</a:t>
            </a:r>
            <a:r>
              <a:rPr dirty="0" lang="en-US">
                <a:latin charset="0" panose="02020603050405020304" pitchFamily="18" typeface="Times New Roman"/>
                <a:cs charset="0" panose="02020603050405020304" pitchFamily="18" typeface="Times New Roman"/>
              </a:rPr>
              <a:t> | ab</a:t>
            </a:r>
          </a:p>
          <a:p>
            <a:r>
              <a:rPr dirty="0" lang="en-US">
                <a:latin charset="0" panose="02020603050405020304" pitchFamily="18" typeface="Times New Roman"/>
                <a:cs charset="0" panose="02020603050405020304" pitchFamily="18" typeface="Times New Roman"/>
              </a:rPr>
              <a:t>X → </a:t>
            </a:r>
            <a:r>
              <a:rPr dirty="0" err="1" lang="en-US">
                <a:latin charset="0" panose="02020603050405020304" pitchFamily="18" typeface="Times New Roman"/>
                <a:cs charset="0" panose="02020603050405020304" pitchFamily="18" typeface="Times New Roman"/>
              </a:rPr>
              <a:t>aY</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bY</a:t>
            </a:r>
            <a:r>
              <a:rPr dirty="0" lang="en-US">
                <a:latin charset="0" panose="02020603050405020304" pitchFamily="18" typeface="Times New Roman"/>
                <a:cs charset="0" panose="02020603050405020304" pitchFamily="18" typeface="Times New Roman"/>
              </a:rPr>
              <a:t> | a | b</a:t>
            </a:r>
          </a:p>
          <a:p>
            <a:r>
              <a:rPr dirty="0" lang="en-US">
                <a:latin charset="0" panose="02020603050405020304" pitchFamily="18" typeface="Times New Roman"/>
                <a:cs charset="0" panose="02020603050405020304" pitchFamily="18" typeface="Times New Roman"/>
              </a:rPr>
              <a:t>Y → X | c</a:t>
            </a:r>
          </a:p>
          <a:p>
            <a:endParaRPr dirty="0" lang="en-US">
              <a:latin charset="0" panose="02020603050405020304" pitchFamily="18" typeface="Times New Roman"/>
              <a:cs charset="0" panose="02020603050405020304" pitchFamily="18" typeface="Times New Roman"/>
            </a:endParaRPr>
          </a:p>
          <a:p>
            <a:r>
              <a:rPr altLang="en-IN" dirty="0" lang="en-IN">
                <a:latin charset="0" panose="02020603050405020304" pitchFamily="18" typeface="Times New Roman"/>
                <a:cs charset="0" panose="02020603050405020304" pitchFamily="18" typeface="Times New Roman"/>
              </a:rPr>
              <a:t>After </a:t>
            </a:r>
            <a:r>
              <a:rPr dirty="0" lang="en-US">
                <a:latin charset="0" panose="02020603050405020304" pitchFamily="18" typeface="Times New Roman"/>
                <a:cs charset="0" panose="02020603050405020304" pitchFamily="18" typeface="Times New Roman"/>
              </a:rPr>
              <a:t>elimination of the unit production Y → X, we obtain:</a:t>
            </a:r>
          </a:p>
          <a:p>
            <a:r>
              <a:rPr dirty="0" lang="en-US">
                <a:latin charset="0" panose="02020603050405020304" pitchFamily="18" typeface="Times New Roman"/>
                <a:cs charset="0" panose="02020603050405020304" pitchFamily="18" typeface="Times New Roman"/>
              </a:rPr>
              <a:t>S → </a:t>
            </a:r>
            <a:r>
              <a:rPr dirty="0" err="1" lang="en-US">
                <a:latin charset="0" panose="02020603050405020304" pitchFamily="18" typeface="Times New Roman"/>
                <a:cs charset="0" panose="02020603050405020304" pitchFamily="18" typeface="Times New Roman"/>
              </a:rPr>
              <a:t>aXbX</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abX</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aXb</a:t>
            </a:r>
            <a:r>
              <a:rPr dirty="0" lang="en-US">
                <a:latin charset="0" panose="02020603050405020304" pitchFamily="18" typeface="Times New Roman"/>
                <a:cs charset="0" panose="02020603050405020304" pitchFamily="18" typeface="Times New Roman"/>
              </a:rPr>
              <a:t> | ab</a:t>
            </a:r>
          </a:p>
          <a:p>
            <a:r>
              <a:rPr dirty="0" lang="en-US">
                <a:latin charset="0" panose="02020603050405020304" pitchFamily="18" typeface="Times New Roman"/>
                <a:cs charset="0" panose="02020603050405020304" pitchFamily="18" typeface="Times New Roman"/>
              </a:rPr>
              <a:t>X → </a:t>
            </a:r>
            <a:r>
              <a:rPr dirty="0" err="1" lang="en-US">
                <a:latin charset="0" panose="02020603050405020304" pitchFamily="18" typeface="Times New Roman"/>
                <a:cs charset="0" panose="02020603050405020304" pitchFamily="18" typeface="Times New Roman"/>
              </a:rPr>
              <a:t>aY</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bY</a:t>
            </a:r>
            <a:r>
              <a:rPr dirty="0" lang="en-US">
                <a:latin charset="0" panose="02020603050405020304" pitchFamily="18" typeface="Times New Roman"/>
                <a:cs charset="0" panose="02020603050405020304" pitchFamily="18" typeface="Times New Roman"/>
              </a:rPr>
              <a:t> | a | b</a:t>
            </a:r>
          </a:p>
          <a:p>
            <a:r>
              <a:rPr dirty="0" lang="en-US">
                <a:latin charset="0" panose="02020603050405020304" pitchFamily="18" typeface="Times New Roman"/>
                <a:cs charset="0" panose="02020603050405020304" pitchFamily="18" typeface="Times New Roman"/>
              </a:rPr>
              <a:t>Y → </a:t>
            </a:r>
            <a:r>
              <a:rPr dirty="0" err="1" lang="en-US">
                <a:latin charset="0" panose="02020603050405020304" pitchFamily="18" typeface="Times New Roman"/>
                <a:cs charset="0" panose="02020603050405020304" pitchFamily="18" typeface="Times New Roman"/>
              </a:rPr>
              <a:t>aY</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bY</a:t>
            </a:r>
            <a:r>
              <a:rPr dirty="0" lang="en-US">
                <a:latin charset="0" panose="02020603050405020304" pitchFamily="18" typeface="Times New Roman"/>
                <a:cs charset="0" panose="02020603050405020304" pitchFamily="18" typeface="Times New Roman"/>
              </a:rPr>
              <a:t> | a | b | c</a:t>
            </a:r>
          </a:p>
          <a:p>
            <a:endParaRPr dirty="0" lang="en-US">
              <a:latin charset="0" panose="02020603050405020304" pitchFamily="18" typeface="Times New Roman"/>
              <a:cs charset="0" panose="02020603050405020304" pitchFamily="18" typeface="Times New Roman"/>
            </a:endParaRPr>
          </a:p>
          <a:p>
            <a:r>
              <a:rPr dirty="0" lang="en-US">
                <a:highlight>
                  <a:srgbClr val="FFFF00"/>
                </a:highlight>
                <a:latin charset="0" panose="02020603050405020304" pitchFamily="18" typeface="Times New Roman"/>
                <a:cs charset="0" panose="02020603050405020304" pitchFamily="18" typeface="Times New Roman"/>
              </a:rPr>
              <a:t>i) S → </a:t>
            </a:r>
            <a:r>
              <a:rPr dirty="0" err="1" lang="en-US">
                <a:highlight>
                  <a:srgbClr val="FFFF00"/>
                </a:highlight>
                <a:latin charset="0" panose="02020603050405020304" pitchFamily="18" typeface="Times New Roman"/>
                <a:cs charset="0" panose="02020603050405020304" pitchFamily="18" typeface="Times New Roman"/>
              </a:rPr>
              <a:t>aXbX</a:t>
            </a:r>
            <a:r>
              <a:rPr dirty="0" lang="en-US">
                <a:highlight>
                  <a:srgbClr val="FFFF00"/>
                </a:highlight>
                <a:latin charset="0" panose="02020603050405020304" pitchFamily="18" typeface="Times New Roman"/>
                <a:cs charset="0" panose="02020603050405020304" pitchFamily="18" typeface="Times New Roman"/>
              </a:rPr>
              <a:t> | </a:t>
            </a:r>
            <a:r>
              <a:rPr dirty="0" err="1" lang="en-US">
                <a:highlight>
                  <a:srgbClr val="FFFF00"/>
                </a:highlight>
                <a:latin charset="0" panose="02020603050405020304" pitchFamily="18" typeface="Times New Roman"/>
                <a:cs charset="0" panose="02020603050405020304" pitchFamily="18" typeface="Times New Roman"/>
              </a:rPr>
              <a:t>abX</a:t>
            </a:r>
            <a:r>
              <a:rPr dirty="0" lang="en-US">
                <a:highlight>
                  <a:srgbClr val="FFFF00"/>
                </a:highlight>
                <a:latin charset="0" panose="02020603050405020304" pitchFamily="18" typeface="Times New Roman"/>
                <a:cs charset="0" panose="02020603050405020304" pitchFamily="18" typeface="Times New Roman"/>
              </a:rPr>
              <a:t> | </a:t>
            </a:r>
            <a:r>
              <a:rPr dirty="0" err="1" lang="en-US">
                <a:highlight>
                  <a:srgbClr val="FFFF00"/>
                </a:highlight>
                <a:latin charset="0" panose="02020603050405020304" pitchFamily="18" typeface="Times New Roman"/>
                <a:cs charset="0" panose="02020603050405020304" pitchFamily="18" typeface="Times New Roman"/>
              </a:rPr>
              <a:t>aXb</a:t>
            </a:r>
            <a:r>
              <a:rPr dirty="0" lang="en-US">
                <a:highlight>
                  <a:srgbClr val="FFFF00"/>
                </a:highlight>
                <a:latin charset="0" panose="02020603050405020304" pitchFamily="18" typeface="Times New Roman"/>
                <a:cs charset="0" panose="02020603050405020304" pitchFamily="18" typeface="Times New Roman"/>
              </a:rPr>
              <a:t> | ab</a:t>
            </a:r>
          </a:p>
          <a:p>
            <a:r>
              <a:rPr altLang="en-IN" dirty="0" lang="en-IN">
                <a:latin charset="0" panose="02020603050405020304" pitchFamily="18" typeface="Times New Roman"/>
                <a:cs charset="0" panose="02020603050405020304" pitchFamily="18" typeface="Times New Roman"/>
              </a:rPr>
              <a:t>	C</a:t>
            </a:r>
            <a:r>
              <a:rPr altLang="en-IN" baseline="-25000" dirty="0" lang="en-IN">
                <a:latin charset="0" panose="02020603050405020304" pitchFamily="18" typeface="Times New Roman"/>
                <a:cs charset="0" panose="02020603050405020304" pitchFamily="18" typeface="Times New Roman"/>
              </a:rPr>
              <a:t>a</a:t>
            </a:r>
            <a:r>
              <a:rPr dirty="0" lang="en-US">
                <a:latin charset="0" panose="02020603050405020304" pitchFamily="18" typeface="Times New Roman"/>
                <a:cs charset="0" panose="02020603050405020304" pitchFamily="18" typeface="Times New Roman"/>
              </a:rPr>
              <a:t> → </a:t>
            </a:r>
            <a:r>
              <a:rPr altLang="en-IN" dirty="0" lang="en-IN">
                <a:latin charset="0" panose="02020603050405020304" pitchFamily="18" typeface="Times New Roman"/>
                <a:cs charset="0" panose="02020603050405020304" pitchFamily="18" typeface="Times New Roman"/>
              </a:rPr>
              <a:t>a</a:t>
            </a:r>
          </a:p>
          <a:p>
            <a:r>
              <a:rPr altLang="en-IN" dirty="0" lang="en-IN">
                <a:latin charset="0" panose="02020603050405020304" pitchFamily="18" typeface="Times New Roman"/>
                <a:cs charset="0" panose="02020603050405020304" pitchFamily="18" typeface="Times New Roman"/>
              </a:rPr>
              <a:t>	</a:t>
            </a:r>
            <a:r>
              <a:rPr altLang="en-IN" dirty="0" err="1" lang="en-IN">
                <a:latin charset="0" panose="02020603050405020304" pitchFamily="18" typeface="Times New Roman"/>
                <a:cs charset="0" panose="02020603050405020304" pitchFamily="18" typeface="Times New Roman"/>
              </a:rPr>
              <a:t>C</a:t>
            </a:r>
            <a:r>
              <a:rPr altLang="en-IN" baseline="-25000" dirty="0" err="1" lang="en-IN">
                <a:latin charset="0" panose="02020603050405020304" pitchFamily="18" typeface="Times New Roman"/>
                <a:cs charset="0" panose="02020603050405020304" pitchFamily="18" typeface="Times New Roman"/>
              </a:rPr>
              <a:t>b</a:t>
            </a:r>
            <a:r>
              <a:rPr dirty="0" lang="en-US">
                <a:latin charset="0" panose="02020603050405020304" pitchFamily="18" typeface="Times New Roman"/>
                <a:cs charset="0" panose="02020603050405020304" pitchFamily="18" typeface="Times New Roman"/>
              </a:rPr>
              <a:t> → </a:t>
            </a:r>
            <a:r>
              <a:rPr altLang="en-IN" dirty="0" lang="en-IN">
                <a:latin charset="0" panose="02020603050405020304" pitchFamily="18" typeface="Times New Roman"/>
                <a:cs charset="0" panose="02020603050405020304" pitchFamily="18" typeface="Times New Roman"/>
              </a:rPr>
              <a:t>b</a:t>
            </a:r>
          </a:p>
          <a:p>
            <a:r>
              <a:rPr altLang="en-IN" dirty="0" lang="en-IN">
                <a:latin charset="0" panose="02020603050405020304" pitchFamily="18" typeface="Times New Roman"/>
                <a:cs charset="0" panose="02020603050405020304" pitchFamily="18" typeface="Times New Roman"/>
              </a:rPr>
              <a:t>	S </a:t>
            </a:r>
            <a:r>
              <a:rPr dirty="0" lang="en-US">
                <a:latin charset="0" panose="02020603050405020304" pitchFamily="18" typeface="Times New Roman"/>
                <a:cs charset="0" panose="02020603050405020304" pitchFamily="18" typeface="Times New Roman"/>
              </a:rPr>
              <a:t>→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XC</a:t>
            </a:r>
            <a:r>
              <a:rPr baseline="-25000" dirty="0" err="1" lang="en-US">
                <a:latin charset="0" panose="02020603050405020304" pitchFamily="18" typeface="Times New Roman"/>
                <a:cs charset="0" panose="02020603050405020304" pitchFamily="18" typeface="Times New Roman"/>
              </a:rPr>
              <a:t>b</a:t>
            </a:r>
            <a:r>
              <a:rPr dirty="0" err="1" lang="en-US">
                <a:latin charset="0" panose="02020603050405020304" pitchFamily="18" typeface="Times New Roman"/>
                <a:cs charset="0" panose="02020603050405020304" pitchFamily="18" typeface="Times New Roman"/>
              </a:rPr>
              <a:t>X</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b</a:t>
            </a:r>
            <a:r>
              <a:rPr dirty="0" err="1" lang="en-US">
                <a:latin charset="0" panose="02020603050405020304" pitchFamily="18" typeface="Times New Roman"/>
                <a:cs charset="0" panose="02020603050405020304" pitchFamily="18" typeface="Times New Roman"/>
              </a:rPr>
              <a:t>X</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XC</a:t>
            </a:r>
            <a:r>
              <a:rPr baseline="-25000" dirty="0" err="1" lang="en-US">
                <a:latin charset="0" panose="02020603050405020304" pitchFamily="18" typeface="Times New Roman"/>
                <a:cs charset="0" panose="02020603050405020304" pitchFamily="18" typeface="Times New Roman"/>
              </a:rPr>
              <a:t>b</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b</a:t>
            </a:r>
            <a:endParaRPr baseline="-25000" dirty="0" lang="en-US">
              <a:latin charset="0" panose="02020603050405020304" pitchFamily="18" typeface="Times New Roman"/>
              <a:cs charset="0" panose="02020603050405020304" pitchFamily="18" typeface="Times New Roman"/>
            </a:endParaRPr>
          </a:p>
          <a:p>
            <a:r>
              <a:rPr baseline="-25000" dirty="0" lang="en-US">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S → C</a:t>
            </a:r>
            <a:r>
              <a:rPr baseline="-25000" dirty="0" lang="en-US">
                <a:latin charset="0" panose="02020603050405020304" pitchFamily="18" typeface="Times New Roman"/>
                <a:cs charset="0" panose="02020603050405020304" pitchFamily="18" typeface="Times New Roman"/>
              </a:rPr>
              <a:t>a</a:t>
            </a:r>
            <a:r>
              <a:rPr dirty="0" lang="en-US">
                <a:latin charset="0" panose="02020603050405020304" pitchFamily="18" typeface="Times New Roman"/>
                <a:cs charset="0" panose="02020603050405020304" pitchFamily="18" typeface="Times New Roman"/>
              </a:rPr>
              <a:t>D</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C</a:t>
            </a:r>
            <a:r>
              <a:rPr baseline="-25000" dirty="0" lang="en-US">
                <a:latin charset="0" panose="02020603050405020304" pitchFamily="18" typeface="Times New Roman"/>
                <a:cs charset="0" panose="02020603050405020304" pitchFamily="18" typeface="Times New Roman"/>
              </a:rPr>
              <a:t>a</a:t>
            </a:r>
            <a:r>
              <a:rPr dirty="0" lang="en-US">
                <a:latin charset="0" panose="02020603050405020304" pitchFamily="18" typeface="Times New Roman"/>
                <a:cs charset="0" panose="02020603050405020304" pitchFamily="18" typeface="Times New Roman"/>
              </a:rPr>
              <a:t>D</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 C</a:t>
            </a:r>
            <a:r>
              <a:rPr baseline="-25000" dirty="0" lang="en-US">
                <a:latin charset="0" panose="02020603050405020304" pitchFamily="18" typeface="Times New Roman"/>
                <a:cs charset="0" panose="02020603050405020304" pitchFamily="18" typeface="Times New Roman"/>
              </a:rPr>
              <a:t>a</a:t>
            </a:r>
            <a:r>
              <a:rPr dirty="0" lang="en-US">
                <a:latin charset="0" panose="02020603050405020304" pitchFamily="18" typeface="Times New Roman"/>
                <a:cs charset="0" panose="02020603050405020304" pitchFamily="18" typeface="Times New Roman"/>
              </a:rPr>
              <a:t> D</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b</a:t>
            </a:r>
            <a:endParaRPr baseline="-25000" dirty="0" lang="en-US">
              <a:latin charset="0" panose="02020603050405020304" pitchFamily="18" typeface="Times New Roman"/>
              <a:cs charset="0" panose="02020603050405020304" pitchFamily="18" typeface="Times New Roman"/>
            </a:endParaRPr>
          </a:p>
          <a:p>
            <a:r>
              <a:rPr baseline="-25000" dirty="0" lang="en-US">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D</a:t>
            </a:r>
            <a:r>
              <a:rPr baseline="-25000" dirty="0" lang="en-US">
                <a:latin charset="0" panose="02020603050405020304" pitchFamily="18" typeface="Times New Roman"/>
                <a:cs charset="0" panose="02020603050405020304" pitchFamily="18" typeface="Times New Roman"/>
              </a:rPr>
              <a:t>1 </a:t>
            </a:r>
            <a:r>
              <a:rPr dirty="0" lang="en-US">
                <a:latin charset="0" panose="02020603050405020304" pitchFamily="18" typeface="Times New Roman"/>
                <a:cs charset="0" panose="02020603050405020304" pitchFamily="18" typeface="Times New Roman"/>
              </a:rPr>
              <a:t>→ X D</a:t>
            </a:r>
            <a:r>
              <a:rPr baseline="-25000" dirty="0" lang="en-US">
                <a:latin charset="0" panose="02020603050405020304" pitchFamily="18" typeface="Times New Roman"/>
                <a:cs charset="0" panose="02020603050405020304" pitchFamily="18" typeface="Times New Roman"/>
              </a:rPr>
              <a:t>2</a:t>
            </a:r>
          </a:p>
          <a:p>
            <a:r>
              <a:rPr baseline="-25000" dirty="0" lang="en-US">
                <a:latin charset="0" panose="02020603050405020304" pitchFamily="18" typeface="Times New Roman"/>
                <a:cs charset="0" panose="02020603050405020304" pitchFamily="18" typeface="Times New Roman"/>
              </a:rPr>
              <a:t>	</a:t>
            </a:r>
            <a:r>
              <a:rPr dirty="0" lang="en-US">
                <a:latin charset="0" panose="02020603050405020304" pitchFamily="18" typeface="Times New Roman"/>
                <a:cs charset="0" panose="02020603050405020304" pitchFamily="18" typeface="Times New Roman"/>
              </a:rPr>
              <a:t>D</a:t>
            </a:r>
            <a:r>
              <a:rPr baseline="-25000" dirty="0" lang="en-US">
                <a:latin charset="0" panose="02020603050405020304" pitchFamily="18" typeface="Times New Roman"/>
                <a:cs charset="0" panose="02020603050405020304" pitchFamily="18" typeface="Times New Roman"/>
              </a:rPr>
              <a:t>2 </a:t>
            </a:r>
            <a:r>
              <a:rPr dirty="0" lang="en-US">
                <a:latin charset="0" panose="02020603050405020304" pitchFamily="18" typeface="Times New Roman"/>
                <a:cs charset="0" panose="02020603050405020304" pitchFamily="18" typeface="Times New Roman"/>
              </a:rPr>
              <a:t>→</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b</a:t>
            </a:r>
            <a:r>
              <a:rPr dirty="0" err="1" lang="en-US">
                <a:latin charset="0" panose="02020603050405020304" pitchFamily="18" typeface="Times New Roman"/>
                <a:cs charset="0" panose="02020603050405020304" pitchFamily="18" typeface="Times New Roman"/>
              </a:rPr>
              <a:t>X</a:t>
            </a:r>
            <a:endParaRPr dirty="0" lang="en-US">
              <a:latin charset="0" panose="02020603050405020304" pitchFamily="18" typeface="Times New Roman"/>
              <a:cs charset="0" panose="02020603050405020304" pitchFamily="18" typeface="Times New Roman"/>
            </a:endParaRPr>
          </a:p>
          <a:p>
            <a:r>
              <a:rPr dirty="0" lang="en-US">
                <a:latin charset="0" panose="02020603050405020304" pitchFamily="18" typeface="Times New Roman"/>
                <a:cs charset="0" panose="02020603050405020304" pitchFamily="18" typeface="Times New Roman"/>
              </a:rPr>
              <a:t>	D</a:t>
            </a:r>
            <a:r>
              <a:rPr baseline="-25000" dirty="0" lang="en-US">
                <a:latin charset="0" panose="02020603050405020304" pitchFamily="18" typeface="Times New Roman"/>
                <a:cs charset="0" panose="02020603050405020304" pitchFamily="18" typeface="Times New Roman"/>
              </a:rPr>
              <a:t>3 </a:t>
            </a:r>
            <a:r>
              <a:rPr dirty="0" lang="en-US">
                <a:latin charset="0" panose="02020603050405020304" pitchFamily="18" typeface="Times New Roman"/>
                <a:cs charset="0" panose="02020603050405020304" pitchFamily="18" typeface="Times New Roman"/>
              </a:rPr>
              <a:t>→ </a:t>
            </a:r>
            <a:r>
              <a:rPr dirty="0" err="1" lang="en-US">
                <a:latin charset="0" panose="02020603050405020304" pitchFamily="18" typeface="Times New Roman"/>
                <a:cs charset="0" panose="02020603050405020304" pitchFamily="18" typeface="Times New Roman"/>
              </a:rPr>
              <a:t>XC</a:t>
            </a:r>
            <a:r>
              <a:rPr baseline="-25000" dirty="0" err="1" lang="en-US">
                <a:latin charset="0" panose="02020603050405020304" pitchFamily="18" typeface="Times New Roman"/>
                <a:cs charset="0" panose="02020603050405020304" pitchFamily="18" typeface="Times New Roman"/>
              </a:rPr>
              <a:t>b</a:t>
            </a:r>
            <a:endParaRPr altLang="en-IN" baseline="-25000" dirty="0" lang="en-IN">
              <a:latin charset="0" panose="02020603050405020304" pitchFamily="18" typeface="Times New Roman"/>
              <a:cs charset="0" panose="02020603050405020304" pitchFamily="18" typeface="Times New Roman"/>
            </a:endParaRPr>
          </a:p>
        </p:txBody>
      </p:sp>
      <p:sp>
        <p:nvSpPr>
          <p:cNvPr id="5" name="TextBox 4">
            <a:extLst>
              <a:ext uri="{FF2B5EF4-FFF2-40B4-BE49-F238E27FC236}">
                <a16:creationId xmlns:a16="http://schemas.microsoft.com/office/drawing/2014/main" id="{40928380-C453-CAE7-5456-A24ABB504B42}"/>
              </a:ext>
            </a:extLst>
          </p:cNvPr>
          <p:cNvSpPr txBox="1"/>
          <p:nvPr/>
        </p:nvSpPr>
        <p:spPr>
          <a:xfrm>
            <a:off x="4483501" y="4082534"/>
            <a:ext cx="3136499" cy="2308324"/>
          </a:xfrm>
          <a:prstGeom prst="rect">
            <a:avLst/>
          </a:prstGeom>
          <a:noFill/>
        </p:spPr>
        <p:txBody>
          <a:bodyPr numCol="1" wrap="square">
            <a:spAutoFit/>
          </a:bodyPr>
          <a:lstStyle/>
          <a:p>
            <a:r>
              <a:rPr dirty="0" lang="en-US">
                <a:highlight>
                  <a:srgbClr val="FFFF00"/>
                </a:highlight>
                <a:latin charset="0" panose="02020603050405020304" pitchFamily="18" typeface="Times New Roman"/>
                <a:cs charset="0" panose="02020603050405020304" pitchFamily="18" typeface="Times New Roman"/>
              </a:rPr>
              <a:t>ii) X → </a:t>
            </a:r>
            <a:r>
              <a:rPr dirty="0" err="1" lang="en-US">
                <a:highlight>
                  <a:srgbClr val="FFFF00"/>
                </a:highlight>
                <a:latin charset="0" panose="02020603050405020304" pitchFamily="18" typeface="Times New Roman"/>
                <a:cs charset="0" panose="02020603050405020304" pitchFamily="18" typeface="Times New Roman"/>
              </a:rPr>
              <a:t>aY</a:t>
            </a:r>
            <a:r>
              <a:rPr dirty="0" lang="en-US">
                <a:highlight>
                  <a:srgbClr val="FFFF00"/>
                </a:highlight>
                <a:latin charset="0" panose="02020603050405020304" pitchFamily="18" typeface="Times New Roman"/>
                <a:cs charset="0" panose="02020603050405020304" pitchFamily="18" typeface="Times New Roman"/>
              </a:rPr>
              <a:t> | </a:t>
            </a:r>
            <a:r>
              <a:rPr dirty="0" err="1" lang="en-US">
                <a:highlight>
                  <a:srgbClr val="FFFF00"/>
                </a:highlight>
                <a:latin charset="0" panose="02020603050405020304" pitchFamily="18" typeface="Times New Roman"/>
                <a:cs charset="0" panose="02020603050405020304" pitchFamily="18" typeface="Times New Roman"/>
              </a:rPr>
              <a:t>bY</a:t>
            </a:r>
            <a:r>
              <a:rPr dirty="0" lang="en-US">
                <a:highlight>
                  <a:srgbClr val="FFFF00"/>
                </a:highlight>
                <a:latin charset="0" panose="02020603050405020304" pitchFamily="18" typeface="Times New Roman"/>
                <a:cs charset="0" panose="02020603050405020304" pitchFamily="18" typeface="Times New Roman"/>
              </a:rPr>
              <a:t> | a | b</a:t>
            </a:r>
          </a:p>
          <a:p>
            <a:endParaRPr dirty="0" lang="en-US">
              <a:latin charset="0" panose="02020603050405020304" pitchFamily="18" typeface="Times New Roman"/>
              <a:cs charset="0" panose="02020603050405020304" pitchFamily="18" typeface="Times New Roman"/>
            </a:endParaRPr>
          </a:p>
          <a:p>
            <a:r>
              <a:rPr dirty="0" lang="en-US">
                <a:latin charset="0" panose="02020603050405020304" pitchFamily="18" typeface="Times New Roman"/>
                <a:cs charset="0" panose="02020603050405020304" pitchFamily="18" typeface="Times New Roman"/>
              </a:rPr>
              <a:t>	X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Y</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b</a:t>
            </a:r>
            <a:r>
              <a:rPr dirty="0" err="1" lang="en-US">
                <a:latin charset="0" panose="02020603050405020304" pitchFamily="18" typeface="Times New Roman"/>
                <a:cs charset="0" panose="02020603050405020304" pitchFamily="18" typeface="Times New Roman"/>
              </a:rPr>
              <a:t>Y</a:t>
            </a:r>
            <a:r>
              <a:rPr dirty="0" lang="en-US">
                <a:latin charset="0" panose="02020603050405020304" pitchFamily="18" typeface="Times New Roman"/>
                <a:cs charset="0" panose="02020603050405020304" pitchFamily="18" typeface="Times New Roman"/>
              </a:rPr>
              <a:t> |a | b</a:t>
            </a:r>
          </a:p>
          <a:p>
            <a:endParaRPr dirty="0" lang="en-US">
              <a:latin charset="0" panose="02020603050405020304" pitchFamily="18" typeface="Times New Roman"/>
              <a:cs charset="0" panose="02020603050405020304" pitchFamily="18" typeface="Times New Roman"/>
            </a:endParaRPr>
          </a:p>
          <a:p>
            <a:r>
              <a:rPr dirty="0" lang="en-US">
                <a:highlight>
                  <a:srgbClr val="FFFF00"/>
                </a:highlight>
                <a:latin charset="0" panose="02020603050405020304" pitchFamily="18" typeface="Times New Roman"/>
                <a:cs charset="0" panose="02020603050405020304" pitchFamily="18" typeface="Times New Roman"/>
              </a:rPr>
              <a:t>iii) Y → </a:t>
            </a:r>
            <a:r>
              <a:rPr dirty="0" err="1" lang="en-US">
                <a:highlight>
                  <a:srgbClr val="FFFF00"/>
                </a:highlight>
                <a:latin charset="0" panose="02020603050405020304" pitchFamily="18" typeface="Times New Roman"/>
                <a:cs charset="0" panose="02020603050405020304" pitchFamily="18" typeface="Times New Roman"/>
              </a:rPr>
              <a:t>aY</a:t>
            </a:r>
            <a:r>
              <a:rPr dirty="0" lang="en-US">
                <a:highlight>
                  <a:srgbClr val="FFFF00"/>
                </a:highlight>
                <a:latin charset="0" panose="02020603050405020304" pitchFamily="18" typeface="Times New Roman"/>
                <a:cs charset="0" panose="02020603050405020304" pitchFamily="18" typeface="Times New Roman"/>
              </a:rPr>
              <a:t> |</a:t>
            </a:r>
            <a:r>
              <a:rPr dirty="0" err="1" lang="en-US">
                <a:highlight>
                  <a:srgbClr val="FFFF00"/>
                </a:highlight>
                <a:latin charset="0" panose="02020603050405020304" pitchFamily="18" typeface="Times New Roman"/>
                <a:cs charset="0" panose="02020603050405020304" pitchFamily="18" typeface="Times New Roman"/>
              </a:rPr>
              <a:t>bY</a:t>
            </a:r>
            <a:r>
              <a:rPr dirty="0" lang="en-US">
                <a:highlight>
                  <a:srgbClr val="FFFF00"/>
                </a:highlight>
                <a:latin charset="0" panose="02020603050405020304" pitchFamily="18" typeface="Times New Roman"/>
                <a:cs charset="0" panose="02020603050405020304" pitchFamily="18" typeface="Times New Roman"/>
              </a:rPr>
              <a:t>| a | b| c</a:t>
            </a:r>
          </a:p>
          <a:p>
            <a:endParaRPr dirty="0" lang="en-US">
              <a:highlight>
                <a:srgbClr val="FFFF00"/>
              </a:highlight>
              <a:latin charset="0" panose="02020603050405020304" pitchFamily="18" typeface="Times New Roman"/>
              <a:cs charset="0" panose="02020603050405020304" pitchFamily="18" typeface="Times New Roman"/>
            </a:endParaRPr>
          </a:p>
          <a:p>
            <a:r>
              <a:rPr dirty="0" lang="en-US">
                <a:latin charset="0" panose="02020603050405020304" pitchFamily="18" typeface="Times New Roman"/>
                <a:cs charset="0" panose="02020603050405020304" pitchFamily="18" typeface="Times New Roman"/>
              </a:rPr>
              <a:t>	Y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a</a:t>
            </a:r>
            <a:r>
              <a:rPr dirty="0" err="1" lang="en-US">
                <a:latin charset="0" panose="02020603050405020304" pitchFamily="18" typeface="Times New Roman"/>
                <a:cs charset="0" panose="02020603050405020304" pitchFamily="18" typeface="Times New Roman"/>
              </a:rPr>
              <a:t>Y</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C</a:t>
            </a:r>
            <a:r>
              <a:rPr baseline="-25000" dirty="0" err="1" lang="en-US">
                <a:latin charset="0" panose="02020603050405020304" pitchFamily="18" typeface="Times New Roman"/>
                <a:cs charset="0" panose="02020603050405020304" pitchFamily="18" typeface="Times New Roman"/>
              </a:rPr>
              <a:t>b</a:t>
            </a:r>
            <a:r>
              <a:rPr dirty="0" err="1" lang="en-US">
                <a:latin charset="0" panose="02020603050405020304" pitchFamily="18" typeface="Times New Roman"/>
                <a:cs charset="0" panose="02020603050405020304" pitchFamily="18" typeface="Times New Roman"/>
              </a:rPr>
              <a:t>Y</a:t>
            </a:r>
            <a:r>
              <a:rPr dirty="0" lang="en-US">
                <a:latin charset="0" panose="02020603050405020304" pitchFamily="18" typeface="Times New Roman"/>
                <a:cs charset="0" panose="02020603050405020304" pitchFamily="18" typeface="Times New Roman"/>
              </a:rPr>
              <a:t> |a | b |C</a:t>
            </a:r>
          </a:p>
          <a:p>
            <a:endParaRPr dirty="0" lang="en-US">
              <a:latin charset="0" panose="02020603050405020304" pitchFamily="18" typeface="Times New Roman"/>
              <a:cs charset="0" panose="02020603050405020304" pitchFamily="18" typeface="Times New Roman"/>
            </a:endParaRPr>
          </a:p>
        </p:txBody>
      </p:sp>
      <p:sp>
        <p:nvSpPr>
          <p:cNvPr id="6" name="TextBox 5">
            <a:extLst>
              <a:ext uri="{FF2B5EF4-FFF2-40B4-BE49-F238E27FC236}">
                <a16:creationId xmlns:a16="http://schemas.microsoft.com/office/drawing/2014/main" id="{5E674B5D-55E8-955C-5003-39C3B5439799}"/>
              </a:ext>
            </a:extLst>
          </p:cNvPr>
          <p:cNvSpPr txBox="1"/>
          <p:nvPr/>
        </p:nvSpPr>
        <p:spPr>
          <a:xfrm>
            <a:off x="8407400" y="3395166"/>
            <a:ext cx="3454400" cy="3683060"/>
          </a:xfrm>
          <a:prstGeom prst="rect">
            <a:avLst/>
          </a:prstGeom>
          <a:noFill/>
        </p:spPr>
        <p:txBody>
          <a:bodyPr numCol="1" rtlCol="0" wrap="square">
            <a:spAutoFit/>
          </a:bodyPr>
          <a:lstStyle/>
          <a:p>
            <a:r>
              <a:rPr altLang="en-IN" dirty="0" lang="en-IN" sz="2000">
                <a:latin charset="0" panose="02020603050405020304" pitchFamily="18" typeface="Times New Roman"/>
                <a:cs charset="0" panose="02020603050405020304" pitchFamily="18" typeface="Times New Roman"/>
              </a:rPr>
              <a:t>Final Grammar:</a:t>
            </a:r>
          </a:p>
          <a:p>
            <a:r>
              <a:rPr dirty="0" lang="en-US" sz="2000">
                <a:latin charset="0" panose="02020603050405020304" pitchFamily="18" typeface="Times New Roman"/>
                <a:cs charset="0" panose="02020603050405020304" pitchFamily="18" typeface="Times New Roman"/>
              </a:rPr>
              <a:t>S → C</a:t>
            </a:r>
            <a:r>
              <a:rPr baseline="-25000" dirty="0" lang="en-US" sz="2000">
                <a:latin charset="0" panose="02020603050405020304" pitchFamily="18" typeface="Times New Roman"/>
                <a:cs charset="0" panose="02020603050405020304" pitchFamily="18" typeface="Times New Roman"/>
              </a:rPr>
              <a:t>a</a:t>
            </a:r>
            <a:r>
              <a:rPr dirty="0" lang="en-US" sz="2000">
                <a:latin charset="0" panose="02020603050405020304" pitchFamily="18" typeface="Times New Roman"/>
                <a:cs charset="0" panose="02020603050405020304" pitchFamily="18" typeface="Times New Roman"/>
              </a:rPr>
              <a:t>D</a:t>
            </a:r>
            <a:r>
              <a:rPr baseline="-25000" dirty="0" lang="en-US" sz="2000">
                <a:latin charset="0" panose="02020603050405020304" pitchFamily="18" typeface="Times New Roman"/>
                <a:cs charset="0" panose="02020603050405020304" pitchFamily="18" typeface="Times New Roman"/>
              </a:rPr>
              <a:t>1</a:t>
            </a:r>
            <a:r>
              <a:rPr dirty="0" lang="en-US" sz="2000">
                <a:latin charset="0" panose="02020603050405020304" pitchFamily="18" typeface="Times New Roman"/>
                <a:cs charset="0" panose="02020603050405020304" pitchFamily="18" typeface="Times New Roman"/>
              </a:rPr>
              <a:t> | C</a:t>
            </a:r>
            <a:r>
              <a:rPr baseline="-25000" dirty="0" lang="en-US" sz="2000">
                <a:latin charset="0" panose="02020603050405020304" pitchFamily="18" typeface="Times New Roman"/>
                <a:cs charset="0" panose="02020603050405020304" pitchFamily="18" typeface="Times New Roman"/>
              </a:rPr>
              <a:t>a</a:t>
            </a:r>
            <a:r>
              <a:rPr dirty="0" lang="en-US" sz="2000">
                <a:latin charset="0" panose="02020603050405020304" pitchFamily="18" typeface="Times New Roman"/>
                <a:cs charset="0" panose="02020603050405020304" pitchFamily="18" typeface="Times New Roman"/>
              </a:rPr>
              <a:t>D</a:t>
            </a:r>
            <a:r>
              <a:rPr baseline="-25000" dirty="0" lang="en-US" sz="2000">
                <a:latin charset="0" panose="02020603050405020304" pitchFamily="18" typeface="Times New Roman"/>
                <a:cs charset="0" panose="02020603050405020304" pitchFamily="18" typeface="Times New Roman"/>
              </a:rPr>
              <a:t>2</a:t>
            </a:r>
            <a:r>
              <a:rPr dirty="0" lang="en-US" sz="2000">
                <a:latin charset="0" panose="02020603050405020304" pitchFamily="18" typeface="Times New Roman"/>
                <a:cs charset="0" panose="02020603050405020304" pitchFamily="18" typeface="Times New Roman"/>
              </a:rPr>
              <a:t> | C</a:t>
            </a:r>
            <a:r>
              <a:rPr baseline="-25000" dirty="0" lang="en-US" sz="2000">
                <a:latin charset="0" panose="02020603050405020304" pitchFamily="18" typeface="Times New Roman"/>
                <a:cs charset="0" panose="02020603050405020304" pitchFamily="18" typeface="Times New Roman"/>
              </a:rPr>
              <a:t>a</a:t>
            </a:r>
            <a:r>
              <a:rPr dirty="0" lang="en-US" sz="2000">
                <a:latin charset="0" panose="02020603050405020304" pitchFamily="18" typeface="Times New Roman"/>
                <a:cs charset="0" panose="02020603050405020304" pitchFamily="18" typeface="Times New Roman"/>
              </a:rPr>
              <a:t> D</a:t>
            </a:r>
            <a:r>
              <a:rPr baseline="-25000" dirty="0" lang="en-US" sz="2000">
                <a:latin charset="0" panose="02020603050405020304" pitchFamily="18" typeface="Times New Roman"/>
                <a:cs charset="0" panose="02020603050405020304" pitchFamily="18" typeface="Times New Roman"/>
              </a:rPr>
              <a:t>3</a:t>
            </a:r>
            <a:r>
              <a:rPr dirty="0" lang="en-US" sz="2000">
                <a:latin charset="0" panose="02020603050405020304" pitchFamily="18" typeface="Times New Roman"/>
                <a:cs charset="0" panose="02020603050405020304" pitchFamily="18" typeface="Times New Roman"/>
              </a:rPr>
              <a:t> | </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a</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b</a:t>
            </a:r>
            <a:endParaRPr baseline="-25000" dirty="0" lang="en-US" sz="2000">
              <a:latin charset="0" panose="02020603050405020304" pitchFamily="18" typeface="Times New Roman"/>
              <a:cs charset="0" panose="02020603050405020304" pitchFamily="18" typeface="Times New Roman"/>
            </a:endParaRPr>
          </a:p>
          <a:p>
            <a:r>
              <a:rPr dirty="0" lang="en-US" sz="2000">
                <a:latin charset="0" panose="02020603050405020304" pitchFamily="18" typeface="Times New Roman"/>
                <a:cs charset="0" panose="02020603050405020304" pitchFamily="18" typeface="Times New Roman"/>
              </a:rPr>
              <a:t>D</a:t>
            </a:r>
            <a:r>
              <a:rPr baseline="-25000" dirty="0" lang="en-US" sz="2000">
                <a:latin charset="0" panose="02020603050405020304" pitchFamily="18" typeface="Times New Roman"/>
                <a:cs charset="0" panose="02020603050405020304" pitchFamily="18" typeface="Times New Roman"/>
              </a:rPr>
              <a:t>1 </a:t>
            </a:r>
            <a:r>
              <a:rPr dirty="0" lang="en-US" sz="2000">
                <a:latin charset="0" panose="02020603050405020304" pitchFamily="18" typeface="Times New Roman"/>
                <a:cs charset="0" panose="02020603050405020304" pitchFamily="18" typeface="Times New Roman"/>
              </a:rPr>
              <a:t>→ X D</a:t>
            </a:r>
            <a:r>
              <a:rPr baseline="-25000" dirty="0" lang="en-US" sz="2000">
                <a:latin charset="0" panose="02020603050405020304" pitchFamily="18" typeface="Times New Roman"/>
                <a:cs charset="0" panose="02020603050405020304" pitchFamily="18" typeface="Times New Roman"/>
              </a:rPr>
              <a:t>2</a:t>
            </a:r>
          </a:p>
          <a:p>
            <a:r>
              <a:rPr dirty="0" lang="en-US" sz="2000">
                <a:latin charset="0" panose="02020603050405020304" pitchFamily="18" typeface="Times New Roman"/>
                <a:cs charset="0" panose="02020603050405020304" pitchFamily="18" typeface="Times New Roman"/>
              </a:rPr>
              <a:t>D</a:t>
            </a:r>
            <a:r>
              <a:rPr baseline="-25000" dirty="0" lang="en-US" sz="2000">
                <a:latin charset="0" panose="02020603050405020304" pitchFamily="18" typeface="Times New Roman"/>
                <a:cs charset="0" panose="02020603050405020304" pitchFamily="18" typeface="Times New Roman"/>
              </a:rPr>
              <a:t>2 </a:t>
            </a:r>
            <a:r>
              <a:rPr dirty="0" lang="en-US" sz="2000">
                <a:latin charset="0" panose="02020603050405020304" pitchFamily="18" typeface="Times New Roman"/>
                <a:cs charset="0" panose="02020603050405020304" pitchFamily="18" typeface="Times New Roman"/>
              </a:rPr>
              <a:t>→</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b</a:t>
            </a:r>
            <a:r>
              <a:rPr dirty="0" err="1" lang="en-US" sz="2000">
                <a:latin charset="0" panose="02020603050405020304" pitchFamily="18" typeface="Times New Roman"/>
                <a:cs charset="0" panose="02020603050405020304" pitchFamily="18" typeface="Times New Roman"/>
              </a:rPr>
              <a:t>X</a:t>
            </a:r>
            <a:endParaRPr dirty="0" lang="en-US" sz="2000">
              <a:latin charset="0" panose="02020603050405020304" pitchFamily="18" typeface="Times New Roman"/>
              <a:cs charset="0" panose="02020603050405020304" pitchFamily="18" typeface="Times New Roman"/>
            </a:endParaRPr>
          </a:p>
          <a:p>
            <a:r>
              <a:rPr dirty="0" lang="en-US" sz="2000">
                <a:latin charset="0" panose="02020603050405020304" pitchFamily="18" typeface="Times New Roman"/>
                <a:cs charset="0" panose="02020603050405020304" pitchFamily="18" typeface="Times New Roman"/>
              </a:rPr>
              <a:t>D</a:t>
            </a:r>
            <a:r>
              <a:rPr baseline="-25000" dirty="0" lang="en-US" sz="2000">
                <a:latin charset="0" panose="02020603050405020304" pitchFamily="18" typeface="Times New Roman"/>
                <a:cs charset="0" panose="02020603050405020304" pitchFamily="18" typeface="Times New Roman"/>
              </a:rPr>
              <a:t>3 </a:t>
            </a:r>
            <a:r>
              <a:rPr dirty="0" lang="en-US" sz="2000">
                <a:latin charset="0" panose="02020603050405020304" pitchFamily="18" typeface="Times New Roman"/>
                <a:cs charset="0" panose="02020603050405020304" pitchFamily="18" typeface="Times New Roman"/>
              </a:rPr>
              <a:t>→ </a:t>
            </a:r>
            <a:r>
              <a:rPr dirty="0" err="1" lang="en-US" sz="2000">
                <a:latin charset="0" panose="02020603050405020304" pitchFamily="18" typeface="Times New Roman"/>
                <a:cs charset="0" panose="02020603050405020304" pitchFamily="18" typeface="Times New Roman"/>
              </a:rPr>
              <a:t>XC</a:t>
            </a:r>
            <a:r>
              <a:rPr baseline="-25000" dirty="0" err="1" lang="en-US" sz="2000">
                <a:latin charset="0" panose="02020603050405020304" pitchFamily="18" typeface="Times New Roman"/>
                <a:cs charset="0" panose="02020603050405020304" pitchFamily="18" typeface="Times New Roman"/>
              </a:rPr>
              <a:t>b</a:t>
            </a:r>
            <a:endParaRPr baseline="-25000" dirty="0" lang="en-US" sz="2000">
              <a:latin charset="0" panose="02020603050405020304" pitchFamily="18" typeface="Times New Roman"/>
              <a:cs charset="0" panose="02020603050405020304" pitchFamily="18" typeface="Times New Roman"/>
            </a:endParaRPr>
          </a:p>
          <a:p>
            <a:r>
              <a:rPr dirty="0" lang="en-US" sz="2000">
                <a:latin charset="0" panose="02020603050405020304" pitchFamily="18" typeface="Times New Roman"/>
                <a:cs charset="0" panose="02020603050405020304" pitchFamily="18" typeface="Times New Roman"/>
              </a:rPr>
              <a:t>X → </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a</a:t>
            </a:r>
            <a:r>
              <a:rPr dirty="0" err="1" lang="en-US" sz="2000">
                <a:latin charset="0" panose="02020603050405020304" pitchFamily="18" typeface="Times New Roman"/>
                <a:cs charset="0" panose="02020603050405020304" pitchFamily="18" typeface="Times New Roman"/>
              </a:rPr>
              <a:t>Y</a:t>
            </a:r>
            <a:r>
              <a:rPr dirty="0" lang="en-US" sz="2000">
                <a:latin charset="0" panose="02020603050405020304" pitchFamily="18" typeface="Times New Roman"/>
                <a:cs charset="0" panose="02020603050405020304" pitchFamily="18" typeface="Times New Roman"/>
              </a:rPr>
              <a:t> | </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b</a:t>
            </a:r>
            <a:r>
              <a:rPr dirty="0" err="1" lang="en-US" sz="2000">
                <a:latin charset="0" panose="02020603050405020304" pitchFamily="18" typeface="Times New Roman"/>
                <a:cs charset="0" panose="02020603050405020304" pitchFamily="18" typeface="Times New Roman"/>
              </a:rPr>
              <a:t>Y</a:t>
            </a:r>
            <a:r>
              <a:rPr dirty="0" lang="en-US" sz="2000">
                <a:latin charset="0" panose="02020603050405020304" pitchFamily="18" typeface="Times New Roman"/>
                <a:cs charset="0" panose="02020603050405020304" pitchFamily="18" typeface="Times New Roman"/>
              </a:rPr>
              <a:t> |a | b</a:t>
            </a:r>
          </a:p>
          <a:p>
            <a:r>
              <a:rPr dirty="0" lang="en-US" sz="2000">
                <a:latin charset="0" panose="02020603050405020304" pitchFamily="18" typeface="Times New Roman"/>
                <a:cs charset="0" panose="02020603050405020304" pitchFamily="18" typeface="Times New Roman"/>
              </a:rPr>
              <a:t>Y → </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a</a:t>
            </a:r>
            <a:r>
              <a:rPr dirty="0" err="1" lang="en-US" sz="2000">
                <a:latin charset="0" panose="02020603050405020304" pitchFamily="18" typeface="Times New Roman"/>
                <a:cs charset="0" panose="02020603050405020304" pitchFamily="18" typeface="Times New Roman"/>
              </a:rPr>
              <a:t>Y</a:t>
            </a:r>
            <a:r>
              <a:rPr dirty="0" lang="en-US" sz="2000">
                <a:latin charset="0" panose="02020603050405020304" pitchFamily="18" typeface="Times New Roman"/>
                <a:cs charset="0" panose="02020603050405020304" pitchFamily="18" typeface="Times New Roman"/>
              </a:rPr>
              <a:t> | </a:t>
            </a:r>
            <a:r>
              <a:rPr dirty="0" err="1" lang="en-US" sz="2000">
                <a:latin charset="0" panose="02020603050405020304" pitchFamily="18" typeface="Times New Roman"/>
                <a:cs charset="0" panose="02020603050405020304" pitchFamily="18" typeface="Times New Roman"/>
              </a:rPr>
              <a:t>C</a:t>
            </a:r>
            <a:r>
              <a:rPr baseline="-25000" dirty="0" err="1" lang="en-US" sz="2000">
                <a:latin charset="0" panose="02020603050405020304" pitchFamily="18" typeface="Times New Roman"/>
                <a:cs charset="0" panose="02020603050405020304" pitchFamily="18" typeface="Times New Roman"/>
              </a:rPr>
              <a:t>b</a:t>
            </a:r>
            <a:r>
              <a:rPr dirty="0" err="1" lang="en-US" sz="2000">
                <a:latin charset="0" panose="02020603050405020304" pitchFamily="18" typeface="Times New Roman"/>
                <a:cs charset="0" panose="02020603050405020304" pitchFamily="18" typeface="Times New Roman"/>
              </a:rPr>
              <a:t>Y</a:t>
            </a:r>
            <a:r>
              <a:rPr dirty="0" lang="en-US" sz="2000">
                <a:latin charset="0" panose="02020603050405020304" pitchFamily="18" typeface="Times New Roman"/>
                <a:cs charset="0" panose="02020603050405020304" pitchFamily="18" typeface="Times New Roman"/>
              </a:rPr>
              <a:t> |a | b |c</a:t>
            </a:r>
          </a:p>
          <a:p>
            <a:r>
              <a:rPr altLang="en-IN" dirty="0" lang="en-IN" sz="2000">
                <a:latin charset="0" panose="02020603050405020304" pitchFamily="18" typeface="Times New Roman"/>
                <a:cs charset="0" panose="02020603050405020304" pitchFamily="18" typeface="Times New Roman"/>
              </a:rPr>
              <a:t>C</a:t>
            </a:r>
            <a:r>
              <a:rPr altLang="en-IN" baseline="-25000" dirty="0" lang="en-IN" sz="2000">
                <a:latin charset="0" panose="02020603050405020304" pitchFamily="18" typeface="Times New Roman"/>
                <a:cs charset="0" panose="02020603050405020304" pitchFamily="18" typeface="Times New Roman"/>
              </a:rPr>
              <a:t>a</a:t>
            </a:r>
            <a:r>
              <a:rPr dirty="0" lang="en-US" sz="2000">
                <a:latin charset="0" panose="02020603050405020304" pitchFamily="18" typeface="Times New Roman"/>
                <a:cs charset="0" panose="02020603050405020304" pitchFamily="18" typeface="Times New Roman"/>
              </a:rPr>
              <a:t> → </a:t>
            </a:r>
            <a:r>
              <a:rPr altLang="en-IN" dirty="0" lang="en-IN" sz="2000">
                <a:latin charset="0" panose="02020603050405020304" pitchFamily="18" typeface="Times New Roman"/>
                <a:cs charset="0" panose="02020603050405020304" pitchFamily="18" typeface="Times New Roman"/>
              </a:rPr>
              <a:t>a</a:t>
            </a:r>
          </a:p>
          <a:p>
            <a:r>
              <a:rPr altLang="en-IN" dirty="0" err="1" lang="en-IN" sz="2000">
                <a:latin charset="0" panose="02020603050405020304" pitchFamily="18" typeface="Times New Roman"/>
                <a:cs charset="0" panose="02020603050405020304" pitchFamily="18" typeface="Times New Roman"/>
              </a:rPr>
              <a:t>C</a:t>
            </a:r>
            <a:r>
              <a:rPr altLang="en-IN" baseline="-25000" dirty="0" err="1" lang="en-IN" sz="2000">
                <a:latin charset="0" panose="02020603050405020304" pitchFamily="18" typeface="Times New Roman"/>
                <a:cs charset="0" panose="02020603050405020304" pitchFamily="18" typeface="Times New Roman"/>
              </a:rPr>
              <a:t>b</a:t>
            </a:r>
            <a:r>
              <a:rPr dirty="0" lang="en-US" sz="2000">
                <a:latin charset="0" panose="02020603050405020304" pitchFamily="18" typeface="Times New Roman"/>
                <a:cs charset="0" panose="02020603050405020304" pitchFamily="18" typeface="Times New Roman"/>
              </a:rPr>
              <a:t> → </a:t>
            </a:r>
            <a:r>
              <a:rPr altLang="en-IN" dirty="0" lang="en-IN" sz="2000">
                <a:latin charset="0" panose="02020603050405020304" pitchFamily="18" typeface="Times New Roman"/>
                <a:cs charset="0" panose="02020603050405020304" pitchFamily="18" typeface="Times New Roman"/>
              </a:rPr>
              <a:t>b</a:t>
            </a:r>
          </a:p>
          <a:p>
            <a:endParaRPr dirty="0" lang="en-US" sz="2000">
              <a:latin charset="0" panose="02020603050405020304" pitchFamily="18" typeface="Times New Roman"/>
              <a:cs charset="0" panose="02020603050405020304" pitchFamily="18" typeface="Times New Roman"/>
            </a:endParaRPr>
          </a:p>
          <a:p>
            <a:endParaRPr altLang="en-IN" baseline="-25000" dirty="0" lang="en-IN" sz="2000">
              <a:latin charset="0" panose="02020603050405020304" pitchFamily="18" typeface="Times New Roman"/>
              <a:cs charset="0" panose="02020603050405020304" pitchFamily="18" typeface="Times New Roman"/>
            </a:endParaRPr>
          </a:p>
          <a:p>
            <a:endParaRPr altLang="en-IN" dirty="0" lang="en-IN" sz="2000">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147345628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4" st="4"/>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5" st="5"/>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6" st="6"/>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7" st="7"/>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14" st="14"/>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15" st="15"/>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3">
                                            <p:txEl>
                                              <p:pRg end="16" st="16"/>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17" st="17"/>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18" st="18"/>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3">
                                            <p:txEl>
                                              <p:pRg end="19" st="19"/>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
                                            <p:txEl>
                                              <p:pRg end="9" st="9"/>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3">
                                            <p:txEl>
                                              <p:pRg end="10" st="10"/>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3">
                                            <p:txEl>
                                              <p:pRg end="11" st="11"/>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3">
                                            <p:txEl>
                                              <p:pRg end="12" st="12"/>
                                            </p:txEl>
                                          </p:spTgt>
                                        </p:tgtEl>
                                        <p:attrNameLst>
                                          <p:attrName>style.visibility</p:attrName>
                                        </p:attrNameLst>
                                      </p:cBhvr>
                                      <p:to>
                                        <p:strVal val="visible"/>
                                      </p:to>
                                    </p:set>
                                  </p:childTnLst>
                                </p:cTn>
                              </p:par>
                              <p:par>
                                <p:cTn fill="hold" id="33" nodeType="withEffect" presetClass="entr" presetID="1" presetSubtype="0">
                                  <p:stCondLst>
                                    <p:cond delay="0"/>
                                  </p:stCondLst>
                                  <p:childTnLst>
                                    <p:set>
                                      <p:cBhvr>
                                        <p:cTn dur="1" fill="hold" id="34">
                                          <p:stCondLst>
                                            <p:cond delay="0"/>
                                          </p:stCondLst>
                                        </p:cTn>
                                        <p:tgtEl>
                                          <p:spTgt spid="3">
                                            <p:txEl>
                                              <p:pRg end="20" st="20"/>
                                            </p:txEl>
                                          </p:spTgt>
                                        </p:tgtEl>
                                        <p:attrNameLst>
                                          <p:attrName>style.visibility</p:attrName>
                                        </p:attrNameLst>
                                      </p:cBhvr>
                                      <p:to>
                                        <p:strVal val="visible"/>
                                      </p:to>
                                    </p:set>
                                  </p:childTnLst>
                                </p:cTn>
                              </p:par>
                              <p:par>
                                <p:cTn fill="hold" id="35" nodeType="withEffect" presetClass="entr" presetID="1" presetSubtype="0">
                                  <p:stCondLst>
                                    <p:cond delay="0"/>
                                  </p:stCondLst>
                                  <p:childTnLst>
                                    <p:set>
                                      <p:cBhvr>
                                        <p:cTn dur="1" fill="hold" id="36">
                                          <p:stCondLst>
                                            <p:cond delay="0"/>
                                          </p:stCondLst>
                                        </p:cTn>
                                        <p:tgtEl>
                                          <p:spTgt spid="3">
                                            <p:txEl>
                                              <p:pRg end="21" st="21"/>
                                            </p:txEl>
                                          </p:spTgt>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grpId="0" id="39" nodeType="clickEffect" presetClass="entr" presetID="1" presetSubtype="0">
                                  <p:stCondLst>
                                    <p:cond delay="0"/>
                                  </p:stCondLst>
                                  <p:childTnLst>
                                    <p:set>
                                      <p:cBhvr>
                                        <p:cTn dur="1" fill="hold" id="40">
                                          <p:stCondLst>
                                            <p:cond delay="0"/>
                                          </p:stCondLst>
                                        </p:cTn>
                                        <p:tgtEl>
                                          <p:spTgt spid="5"/>
                                        </p:tgtEl>
                                        <p:attrNameLst>
                                          <p:attrName>style.visibility</p:attrName>
                                        </p:attrNameLst>
                                      </p:cBhvr>
                                      <p:to>
                                        <p:strVal val="visible"/>
                                      </p:to>
                                    </p:set>
                                  </p:childTnLst>
                                </p:cTn>
                              </p:par>
                              <p:par>
                                <p:cTn fill="hold" grpId="0" id="41" nodeType="withEffect" presetClass="entr" presetID="1" presetSubtype="0">
                                  <p:stCondLst>
                                    <p:cond delay="0"/>
                                  </p:stCondLst>
                                  <p:childTnLst>
                                    <p:set>
                                      <p:cBhvr>
                                        <p:cTn dur="1" fill="hold" id="42">
                                          <p:stCondLst>
                                            <p:cond delay="0"/>
                                          </p:stCondLst>
                                        </p:cTn>
                                        <p:tgtEl>
                                          <p:spTgt spid="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P grpId="0" spid="6"/>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10570C-FF90-EDA8-544C-95669A280D7E}"/>
              </a:ext>
            </a:extLst>
          </p:cNvPr>
          <p:cNvSpPr txBox="1"/>
          <p:nvPr/>
        </p:nvSpPr>
        <p:spPr>
          <a:xfrm>
            <a:off x="408622" y="478274"/>
            <a:ext cx="10598467" cy="5940088"/>
          </a:xfrm>
          <a:prstGeom prst="rect">
            <a:avLst/>
          </a:prstGeom>
          <a:noFill/>
        </p:spPr>
        <p:txBody>
          <a:bodyPr numCol="1" wrap="square">
            <a:spAutoFit/>
          </a:bodyPr>
          <a:lstStyle/>
          <a:p>
            <a:r>
              <a:rPr altLang="en-IN" b="1" dirty="0" lang="en-IN" sz="2000">
                <a:latin charset="0" panose="02020603050405020304" pitchFamily="18" typeface="Times New Roman"/>
                <a:cs charset="0" panose="02020603050405020304" pitchFamily="18" typeface="Times New Roman"/>
              </a:rPr>
              <a:t>Convert the following grammar to CNF: </a:t>
            </a:r>
          </a:p>
          <a:p>
            <a:r>
              <a:rPr altLang="en-IN" b="1" dirty="0" lang="en-IN" sz="2000">
                <a:latin charset="0" panose="02020603050405020304" pitchFamily="18" typeface="Times New Roman"/>
                <a:cs charset="0" panose="02020603050405020304" pitchFamily="18" typeface="Times New Roman"/>
              </a:rPr>
              <a:t>S → SS | (S) | ε</a:t>
            </a:r>
          </a:p>
          <a:p>
            <a:endParaRPr altLang="en-IN" b="1" dirty="0" lang="en-IN" sz="2000">
              <a:latin charset="0" panose="02020603050405020304" pitchFamily="18" typeface="Times New Roman"/>
              <a:cs charset="0" panose="02020603050405020304" pitchFamily="18" typeface="Times New Roman"/>
            </a:endParaRPr>
          </a:p>
          <a:p>
            <a:r>
              <a:rPr altLang="en-IN" b="1" dirty="0" lang="en-IN" sz="2000">
                <a:latin charset="0" panose="02020603050405020304" pitchFamily="18" typeface="Times New Roman"/>
                <a:cs charset="0" panose="02020603050405020304" pitchFamily="18" typeface="Times New Roman"/>
              </a:rPr>
              <a:t>Solution: </a:t>
            </a:r>
            <a:r>
              <a:rPr dirty="0" lang="en-US" sz="2000">
                <a:latin charset="0" panose="02020603050405020304" pitchFamily="18" typeface="Times New Roman"/>
                <a:cs charset="0" panose="02020603050405020304" pitchFamily="18" typeface="Times New Roman"/>
              </a:rPr>
              <a:t>Step 1: Add a new start symbol (since S → ε and S is on RHS)</a:t>
            </a:r>
          </a:p>
          <a:p>
            <a:r>
              <a:rPr altLang="en-IN" dirty="0" lang="en-IN" sz="2000">
                <a:latin charset="0" panose="02020603050405020304" pitchFamily="18" typeface="Times New Roman"/>
                <a:cs charset="0" panose="02020603050405020304" pitchFamily="18" typeface="Times New Roman"/>
              </a:rPr>
              <a:t>S₀ → S | </a:t>
            </a:r>
            <a:r>
              <a:rPr altLang="el-GR" dirty="0" lang="el-GR" sz="2000">
                <a:latin charset="0" panose="02020603050405020304" pitchFamily="18" typeface="Times New Roman"/>
                <a:cs charset="0" panose="02020603050405020304" pitchFamily="18" typeface="Times New Roman"/>
              </a:rPr>
              <a:t>ε</a:t>
            </a:r>
          </a:p>
          <a:p>
            <a:endParaRPr dirty="0" lang="en-US" sz="2000">
              <a:latin charset="0" panose="02020603050405020304" pitchFamily="18" typeface="Times New Roman"/>
              <a:cs charset="0" panose="02020603050405020304" pitchFamily="18" typeface="Times New Roman"/>
            </a:endParaRPr>
          </a:p>
          <a:p>
            <a:r>
              <a:rPr dirty="0" lang="en-US" sz="2000">
                <a:latin charset="0" panose="02020603050405020304" pitchFamily="18" typeface="Times New Roman"/>
                <a:cs charset="0" panose="02020603050405020304" pitchFamily="18" typeface="Times New Roman"/>
              </a:rPr>
              <a:t>Updated Grammar: </a:t>
            </a:r>
          </a:p>
          <a:p>
            <a:r>
              <a:rPr altLang="en-IN" dirty="0" lang="en-IN" sz="2000">
                <a:latin charset="0" panose="02020603050405020304" pitchFamily="18" typeface="Times New Roman"/>
                <a:cs charset="0" panose="02020603050405020304" pitchFamily="18" typeface="Times New Roman"/>
              </a:rPr>
              <a:t>S₀ → S | </a:t>
            </a:r>
            <a:r>
              <a:rPr altLang="el-GR" dirty="0" lang="el-GR" sz="2000">
                <a:latin charset="0" panose="02020603050405020304" pitchFamily="18" typeface="Times New Roman"/>
                <a:cs charset="0" panose="02020603050405020304" pitchFamily="18" typeface="Times New Roman"/>
              </a:rPr>
              <a:t>ε</a:t>
            </a:r>
          </a:p>
          <a:p>
            <a:r>
              <a:rPr altLang="en-IN" dirty="0" lang="en-IN" sz="2000">
                <a:latin charset="0" panose="02020603050405020304" pitchFamily="18" typeface="Times New Roman"/>
                <a:cs charset="0" panose="02020603050405020304" pitchFamily="18" typeface="Times New Roman"/>
              </a:rPr>
              <a:t>S → SS | (S) | ε</a:t>
            </a:r>
          </a:p>
          <a:p>
            <a:endParaRPr altLang="en-IN" dirty="0" lang="en-IN" sz="2000">
              <a:latin charset="0" panose="02020603050405020304" pitchFamily="18" typeface="Times New Roman"/>
              <a:cs charset="0" panose="02020603050405020304" pitchFamily="18" typeface="Times New Roman"/>
            </a:endParaRPr>
          </a:p>
          <a:p>
            <a:r>
              <a:rPr altLang="en-IN" dirty="0" lang="en-IN" sz="2000">
                <a:latin charset="0" panose="02020603050405020304" pitchFamily="18" typeface="Times New Roman"/>
                <a:cs charset="0" panose="02020603050405020304" pitchFamily="18" typeface="Times New Roman"/>
              </a:rPr>
              <a:t>Step 2: Remove </a:t>
            </a:r>
            <a:r>
              <a:rPr altLang="el-GR" dirty="0" lang="el-GR" sz="2000">
                <a:latin charset="0" panose="02020603050405020304" pitchFamily="18" typeface="Times New Roman"/>
                <a:cs charset="0" panose="02020603050405020304" pitchFamily="18" typeface="Times New Roman"/>
              </a:rPr>
              <a:t>ε-</a:t>
            </a:r>
            <a:r>
              <a:rPr altLang="en-IN" dirty="0" lang="en-IN" sz="2000">
                <a:latin charset="0" panose="02020603050405020304" pitchFamily="18" typeface="Times New Roman"/>
                <a:cs charset="0" panose="02020603050405020304" pitchFamily="18" typeface="Times New Roman"/>
              </a:rPr>
              <a:t>productions (nullable symbol is S)</a:t>
            </a:r>
          </a:p>
          <a:p>
            <a:r>
              <a:rPr altLang="en-IN" dirty="0" lang="en-IN" sz="2000">
                <a:latin charset="0" panose="02020603050405020304" pitchFamily="18" typeface="Times New Roman"/>
                <a:cs charset="0" panose="02020603050405020304" pitchFamily="18" typeface="Times New Roman"/>
              </a:rPr>
              <a:t>S₀ → S | </a:t>
            </a:r>
            <a:r>
              <a:rPr altLang="el-GR" dirty="0" lang="el-GR" sz="2000">
                <a:latin charset="0" panose="02020603050405020304" pitchFamily="18" typeface="Times New Roman"/>
                <a:cs charset="0" panose="02020603050405020304" pitchFamily="18" typeface="Times New Roman"/>
              </a:rPr>
              <a:t>ε</a:t>
            </a:r>
          </a:p>
          <a:p>
            <a:r>
              <a:rPr altLang="en-IN" dirty="0" lang="en-IN" sz="2000">
                <a:latin charset="0" panose="02020603050405020304" pitchFamily="18" typeface="Times New Roman"/>
                <a:cs charset="0" panose="02020603050405020304" pitchFamily="18" typeface="Times New Roman"/>
              </a:rPr>
              <a:t>S → SS | ( S ) | S | ( )</a:t>
            </a:r>
          </a:p>
          <a:p>
            <a:endParaRPr altLang="en-IN" dirty="0" lang="en-IN" sz="2000">
              <a:latin charset="0" panose="02020603050405020304" pitchFamily="18" typeface="Times New Roman"/>
              <a:cs charset="0" panose="02020603050405020304" pitchFamily="18" typeface="Times New Roman"/>
            </a:endParaRPr>
          </a:p>
          <a:p>
            <a:r>
              <a:rPr altLang="en-IN" dirty="0" lang="en-IN" sz="2000">
                <a:latin charset="0" panose="02020603050405020304" pitchFamily="18" typeface="Times New Roman"/>
                <a:cs charset="0" panose="02020603050405020304" pitchFamily="18" typeface="Times New Roman"/>
              </a:rPr>
              <a:t>Step 3: Eliminate unit productions</a:t>
            </a:r>
          </a:p>
          <a:p>
            <a:r>
              <a:rPr altLang="en-IN" dirty="0" lang="en-IN" sz="2000">
                <a:latin charset="0" panose="02020603050405020304" pitchFamily="18" typeface="Times New Roman"/>
                <a:cs charset="0" panose="02020603050405020304" pitchFamily="18" typeface="Times New Roman"/>
              </a:rPr>
              <a:t>S₀ → S | </a:t>
            </a:r>
            <a:r>
              <a:rPr altLang="el-GR" dirty="0" lang="el-GR" sz="2000">
                <a:latin charset="0" panose="02020603050405020304" pitchFamily="18" typeface="Times New Roman"/>
                <a:cs charset="0" panose="02020603050405020304" pitchFamily="18" typeface="Times New Roman"/>
              </a:rPr>
              <a:t>ε</a:t>
            </a:r>
          </a:p>
          <a:p>
            <a:r>
              <a:rPr altLang="en-IN" dirty="0" lang="en-IN" sz="2000">
                <a:latin charset="0" panose="02020603050405020304" pitchFamily="18" typeface="Times New Roman"/>
                <a:cs charset="0" panose="02020603050405020304" pitchFamily="18" typeface="Times New Roman"/>
              </a:rPr>
              <a:t>S → SS | ( S ) | ( )</a:t>
            </a:r>
          </a:p>
          <a:p>
            <a:endParaRPr altLang="en-IN" dirty="0" lang="en-IN" sz="2000">
              <a:latin charset="0" panose="02020603050405020304" pitchFamily="18" typeface="Times New Roman"/>
              <a:cs charset="0" panose="02020603050405020304" pitchFamily="18" typeface="Times New Roman"/>
            </a:endParaRPr>
          </a:p>
          <a:p>
            <a:endParaRPr altLang="en-IN" dirty="0" lang="en-IN" sz="2000">
              <a:latin charset="0" panose="02020603050405020304" pitchFamily="18" typeface="Times New Roman"/>
              <a:cs charset="0" panose="02020603050405020304" pitchFamily="18" typeface="Times New Roman"/>
            </a:endParaRPr>
          </a:p>
        </p:txBody>
      </p:sp>
      <p:sp>
        <p:nvSpPr>
          <p:cNvPr id="7" name="TextBox 6">
            <a:extLst>
              <a:ext uri="{FF2B5EF4-FFF2-40B4-BE49-F238E27FC236}">
                <a16:creationId xmlns:a16="http://schemas.microsoft.com/office/drawing/2014/main" id="{E631D418-04A1-3216-45C6-ABEBF8DC1B6D}"/>
              </a:ext>
            </a:extLst>
          </p:cNvPr>
          <p:cNvSpPr txBox="1"/>
          <p:nvPr/>
        </p:nvSpPr>
        <p:spPr>
          <a:xfrm>
            <a:off x="6763703" y="2186076"/>
            <a:ext cx="5214937" cy="2246769"/>
          </a:xfrm>
          <a:prstGeom prst="rect">
            <a:avLst/>
          </a:prstGeom>
          <a:noFill/>
        </p:spPr>
        <p:txBody>
          <a:bodyPr numCol="1" wrap="square">
            <a:spAutoFit/>
          </a:bodyPr>
          <a:lstStyle/>
          <a:p>
            <a:r>
              <a:rPr altLang="en-IN" dirty="0" lang="en-IN" sz="2000">
                <a:latin charset="0" panose="02020603050405020304" pitchFamily="18" typeface="Times New Roman"/>
                <a:cs charset="0" panose="02020603050405020304" pitchFamily="18" typeface="Times New Roman"/>
              </a:rPr>
              <a:t>Step 4: </a:t>
            </a:r>
            <a:r>
              <a:rPr dirty="0" lang="en-US" sz="2000">
                <a:latin charset="0" panose="02020603050405020304" pitchFamily="18" typeface="Times New Roman"/>
                <a:cs charset="0" panose="02020603050405020304" pitchFamily="18" typeface="Times New Roman"/>
              </a:rPr>
              <a:t>Convert RHS to CNF (2 non-terminals or 1 terminal)</a:t>
            </a:r>
          </a:p>
          <a:p>
            <a:r>
              <a:rPr altLang="en-IN" dirty="0" lang="en-IN" sz="2000">
                <a:latin charset="0" panose="02020603050405020304" pitchFamily="18" typeface="Times New Roman"/>
                <a:cs charset="0" panose="02020603050405020304" pitchFamily="18" typeface="Times New Roman"/>
              </a:rPr>
              <a:t>S₀ → S | </a:t>
            </a:r>
            <a:r>
              <a:rPr altLang="el-GR" dirty="0" lang="el-GR" sz="2000">
                <a:latin charset="0" panose="02020603050405020304" pitchFamily="18" typeface="Times New Roman"/>
                <a:cs charset="0" panose="02020603050405020304" pitchFamily="18" typeface="Times New Roman"/>
              </a:rPr>
              <a:t>ε  </a:t>
            </a:r>
          </a:p>
          <a:p>
            <a:r>
              <a:rPr altLang="en-IN" dirty="0" lang="en-IN" sz="2000">
                <a:latin charset="0" panose="02020603050405020304" pitchFamily="18" typeface="Times New Roman"/>
                <a:cs charset="0" panose="02020603050405020304" pitchFamily="18" typeface="Times New Roman"/>
              </a:rPr>
              <a:t>S → SS | A C | A B  </a:t>
            </a:r>
          </a:p>
          <a:p>
            <a:r>
              <a:rPr altLang="en-IN" dirty="0" lang="en-IN" sz="2000">
                <a:latin charset="0" panose="02020603050405020304" pitchFamily="18" typeface="Times New Roman"/>
                <a:cs charset="0" panose="02020603050405020304" pitchFamily="18" typeface="Times New Roman"/>
              </a:rPr>
              <a:t>C → S B  </a:t>
            </a:r>
          </a:p>
          <a:p>
            <a:r>
              <a:rPr altLang="en-IN" dirty="0" lang="en-IN" sz="2000">
                <a:latin charset="0" panose="02020603050405020304" pitchFamily="18" typeface="Times New Roman"/>
                <a:cs charset="0" panose="02020603050405020304" pitchFamily="18" typeface="Times New Roman"/>
              </a:rPr>
              <a:t>A → (  </a:t>
            </a:r>
          </a:p>
          <a:p>
            <a:r>
              <a:rPr altLang="en-IN" dirty="0" lang="en-IN" sz="2000">
                <a:latin charset="0" panose="02020603050405020304" pitchFamily="18" typeface="Times New Roman"/>
                <a:cs charset="0" panose="02020603050405020304" pitchFamily="18" typeface="Times New Roman"/>
              </a:rPr>
              <a:t>B → )</a:t>
            </a:r>
          </a:p>
        </p:txBody>
      </p:sp>
    </p:spTree>
    <p:extLst>
      <p:ext uri="{BB962C8B-B14F-4D97-AF65-F5344CB8AC3E}">
        <p14:creationId xmlns:p14="http://schemas.microsoft.com/office/powerpoint/2010/main" val="173557296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6" st="6"/>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7" st="7"/>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8" st="8"/>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10" st="10"/>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3">
                                            <p:txEl>
                                              <p:pRg end="11" st="11"/>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3">
                                            <p:txEl>
                                              <p:pRg end="12" st="12"/>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3">
                                            <p:txEl>
                                              <p:pRg end="14" st="14"/>
                                            </p:txEl>
                                          </p:spTgt>
                                        </p:tgtEl>
                                        <p:attrNameLst>
                                          <p:attrName>style.visibility</p:attrName>
                                        </p:attrNameLst>
                                      </p:cBhvr>
                                      <p:to>
                                        <p:strVal val="visible"/>
                                      </p:to>
                                    </p:set>
                                  </p:childTnLst>
                                </p:cTn>
                              </p:par>
                              <p:par>
                                <p:cTn fill="hold" id="35" nodeType="withEffect" presetClass="entr" presetID="1" presetSubtype="0">
                                  <p:stCondLst>
                                    <p:cond delay="0"/>
                                  </p:stCondLst>
                                  <p:childTnLst>
                                    <p:set>
                                      <p:cBhvr>
                                        <p:cTn dur="1" fill="hold" id="36">
                                          <p:stCondLst>
                                            <p:cond delay="0"/>
                                          </p:stCondLst>
                                        </p:cTn>
                                        <p:tgtEl>
                                          <p:spTgt spid="3">
                                            <p:txEl>
                                              <p:pRg end="15" st="15"/>
                                            </p:txEl>
                                          </p:spTgt>
                                        </p:tgtEl>
                                        <p:attrNameLst>
                                          <p:attrName>style.visibility</p:attrName>
                                        </p:attrNameLst>
                                      </p:cBhvr>
                                      <p:to>
                                        <p:strVal val="visible"/>
                                      </p:to>
                                    </p:set>
                                  </p:childTnLst>
                                </p:cTn>
                              </p:par>
                              <p:par>
                                <p:cTn fill="hold" id="37" nodeType="withEffect" presetClass="entr" presetID="1" presetSubtype="0">
                                  <p:stCondLst>
                                    <p:cond delay="0"/>
                                  </p:stCondLst>
                                  <p:childTnLst>
                                    <p:set>
                                      <p:cBhvr>
                                        <p:cTn dur="1" fill="hold" id="38">
                                          <p:stCondLst>
                                            <p:cond delay="0"/>
                                          </p:stCondLst>
                                        </p:cTn>
                                        <p:tgtEl>
                                          <p:spTgt spid="3">
                                            <p:txEl>
                                              <p:pRg end="16" st="16"/>
                                            </p:txEl>
                                          </p:spTgt>
                                        </p:tgtEl>
                                        <p:attrNameLst>
                                          <p:attrName>style.visibility</p:attrName>
                                        </p:attrNameLst>
                                      </p:cBhvr>
                                      <p:to>
                                        <p:strVal val="visible"/>
                                      </p:to>
                                    </p:set>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1" presetSubtype="0">
                                  <p:stCondLst>
                                    <p:cond delay="0"/>
                                  </p:stCondLst>
                                  <p:childTnLst>
                                    <p:set>
                                      <p:cBhvr>
                                        <p:cTn dur="1" fill="hold" id="42">
                                          <p:stCondLst>
                                            <p:cond delay="0"/>
                                          </p:stCondLst>
                                        </p:cTn>
                                        <p:tgtEl>
                                          <p:spTgt spid="7">
                                            <p:txEl>
                                              <p:pRg end="0" st="0"/>
                                            </p:txEl>
                                          </p:spTgt>
                                        </p:tgtEl>
                                        <p:attrNameLst>
                                          <p:attrName>style.visibility</p:attrName>
                                        </p:attrNameLst>
                                      </p:cBhvr>
                                      <p:to>
                                        <p:strVal val="visible"/>
                                      </p:to>
                                    </p:set>
                                  </p:childTnLst>
                                </p:cTn>
                              </p:par>
                              <p:par>
                                <p:cTn fill="hold" id="43" nodeType="withEffect" presetClass="entr" presetID="1" presetSubtype="0">
                                  <p:stCondLst>
                                    <p:cond delay="0"/>
                                  </p:stCondLst>
                                  <p:childTnLst>
                                    <p:set>
                                      <p:cBhvr>
                                        <p:cTn dur="1" fill="hold" id="44">
                                          <p:stCondLst>
                                            <p:cond delay="0"/>
                                          </p:stCondLst>
                                        </p:cTn>
                                        <p:tgtEl>
                                          <p:spTgt spid="7">
                                            <p:txEl>
                                              <p:pRg end="1" st="1"/>
                                            </p:txEl>
                                          </p:spTgt>
                                        </p:tgtEl>
                                        <p:attrNameLst>
                                          <p:attrName>style.visibility</p:attrName>
                                        </p:attrNameLst>
                                      </p:cBhvr>
                                      <p:to>
                                        <p:strVal val="visible"/>
                                      </p:to>
                                    </p:set>
                                  </p:childTnLst>
                                </p:cTn>
                              </p:par>
                              <p:par>
                                <p:cTn fill="hold" id="45" nodeType="withEffect" presetClass="entr" presetID="1" presetSubtype="0">
                                  <p:stCondLst>
                                    <p:cond delay="0"/>
                                  </p:stCondLst>
                                  <p:childTnLst>
                                    <p:set>
                                      <p:cBhvr>
                                        <p:cTn dur="1" fill="hold" id="46">
                                          <p:stCondLst>
                                            <p:cond delay="0"/>
                                          </p:stCondLst>
                                        </p:cTn>
                                        <p:tgtEl>
                                          <p:spTgt spid="7">
                                            <p:txEl>
                                              <p:pRg end="2" st="2"/>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7">
                                            <p:txEl>
                                              <p:pRg end="3" st="3"/>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7">
                                            <p:txEl>
                                              <p:pRg end="4" st="4"/>
                                            </p:txEl>
                                          </p:spTgt>
                                        </p:tgtEl>
                                        <p:attrNameLst>
                                          <p:attrName>style.visibility</p:attrName>
                                        </p:attrNameLst>
                                      </p:cBhvr>
                                      <p:to>
                                        <p:strVal val="visible"/>
                                      </p:to>
                                    </p:set>
                                  </p:childTnLst>
                                </p:cTn>
                              </p:par>
                              <p:par>
                                <p:cTn fill="hold" id="51" nodeType="withEffect" presetClass="entr" presetID="1" presetSubtype="0">
                                  <p:stCondLst>
                                    <p:cond delay="0"/>
                                  </p:stCondLst>
                                  <p:childTnLst>
                                    <p:set>
                                      <p:cBhvr>
                                        <p:cTn dur="1" fill="hold" id="52">
                                          <p:stCondLst>
                                            <p:cond delay="0"/>
                                          </p:stCondLst>
                                        </p:cTn>
                                        <p:tgtEl>
                                          <p:spTgt spid="7">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0E6A-BBB3-015B-A038-AF98D86BE4B6}"/>
              </a:ext>
            </a:extLst>
          </p:cNvPr>
          <p:cNvSpPr>
            <a:spLocks noGrp="1"/>
          </p:cNvSpPr>
          <p:nvPr>
            <p:ph type="title"/>
          </p:nvPr>
        </p:nvSpPr>
        <p:spPr/>
        <p:txBody>
          <a:bodyPr numCol="1"/>
          <a:lstStyle/>
          <a:p>
            <a:r>
              <a:rPr altLang="en-IN" dirty="0" err="1" lang="en-IN"/>
              <a:t>Greibach</a:t>
            </a:r>
            <a:r>
              <a:rPr altLang="en-IN" dirty="0" lang="en-IN"/>
              <a:t> Normal Form (GNF)</a:t>
            </a:r>
          </a:p>
        </p:txBody>
      </p:sp>
      <p:sp>
        <p:nvSpPr>
          <p:cNvPr id="3" name="Content Placeholder 2">
            <a:extLst>
              <a:ext uri="{FF2B5EF4-FFF2-40B4-BE49-F238E27FC236}">
                <a16:creationId xmlns:a16="http://schemas.microsoft.com/office/drawing/2014/main" id="{1D1127D5-7A5D-BE27-5633-8D577913087C}"/>
              </a:ext>
            </a:extLst>
          </p:cNvPr>
          <p:cNvSpPr>
            <a:spLocks noGrp="1"/>
          </p:cNvSpPr>
          <p:nvPr>
            <p:ph idx="1"/>
          </p:nvPr>
        </p:nvSpPr>
        <p:spPr>
          <a:xfrm>
            <a:off x="1097280" y="1845734"/>
            <a:ext cx="10058400" cy="4452196"/>
          </a:xfrm>
        </p:spPr>
        <p:txBody>
          <a:bodyPr numCol="1">
            <a:normAutofit/>
          </a:bodyPr>
          <a:lstStyle/>
          <a:p>
            <a:pPr algn="just">
              <a:buFont charset="0" panose="020B0604020202020204" pitchFamily="34" typeface="Arial"/>
              <a:buChar char="•"/>
            </a:pPr>
            <a:r>
              <a:rPr altLang="en-IN" dirty="0" lang="en-IN">
                <a:solidFill>
                  <a:schemeClr val="tx1"/>
                </a:solidFill>
                <a:latin charset="0" panose="02020603050405020304" pitchFamily="18" typeface="Times New Roman"/>
                <a:cs charset="0" panose="02020603050405020304" pitchFamily="18" typeface="Times New Roman"/>
              </a:rPr>
              <a:t>A context free grammar generated by a pushdown automata is in GNF.</a:t>
            </a:r>
          </a:p>
          <a:p>
            <a:pPr algn="just">
              <a:buFont charset="0" panose="020B0604020202020204" pitchFamily="34" typeface="Arial"/>
              <a:buChar char="•"/>
            </a:pPr>
            <a:r>
              <a:rPr altLang="en-IN" dirty="0" lang="en-IN">
                <a:solidFill>
                  <a:schemeClr val="tx1"/>
                </a:solidFill>
                <a:latin charset="0" panose="02020603050405020304" pitchFamily="18" typeface="Times New Roman"/>
                <a:cs charset="0" panose="02020603050405020304" pitchFamily="18" typeface="Times New Roman"/>
              </a:rPr>
              <a:t>A CFG is in </a:t>
            </a:r>
            <a:r>
              <a:rPr altLang="en-IN" dirty="0" err="1" lang="en-IN">
                <a:solidFill>
                  <a:schemeClr val="tx1"/>
                </a:solidFill>
                <a:latin charset="0" panose="02020603050405020304" pitchFamily="18" typeface="Times New Roman"/>
                <a:cs charset="0" panose="02020603050405020304" pitchFamily="18" typeface="Times New Roman"/>
              </a:rPr>
              <a:t>Greibach</a:t>
            </a:r>
            <a:r>
              <a:rPr altLang="en-IN" dirty="0" lang="en-IN">
                <a:solidFill>
                  <a:schemeClr val="tx1"/>
                </a:solidFill>
                <a:latin charset="0" panose="02020603050405020304" pitchFamily="18" typeface="Times New Roman"/>
                <a:cs charset="0" panose="02020603050405020304" pitchFamily="18" typeface="Times New Roman"/>
              </a:rPr>
              <a:t> Normal Form (GNF) if every production is in following form:</a:t>
            </a:r>
          </a:p>
          <a:p>
            <a:pPr algn="just" indent="0" lvl="1" marL="292608">
              <a:buNone/>
            </a:pPr>
            <a:r>
              <a:rPr altLang="en-IN" dirty="0" lang="en-IN" sz="2000">
                <a:solidFill>
                  <a:schemeClr val="tx1"/>
                </a:solidFill>
                <a:latin charset="0" panose="02020603050405020304" pitchFamily="18" typeface="Times New Roman"/>
                <a:cs charset="0" panose="02020603050405020304" pitchFamily="18" typeface="Times New Roman"/>
              </a:rPr>
              <a:t>1. </a:t>
            </a:r>
            <a:r>
              <a:rPr dirty="0" lang="en-US" sz="2000">
                <a:solidFill>
                  <a:schemeClr val="tx1"/>
                </a:solidFill>
                <a:latin charset="0" panose="02020603050405020304" pitchFamily="18" typeface="Times New Roman"/>
                <a:cs charset="0" panose="02020603050405020304" pitchFamily="18" typeface="Times New Roman"/>
              </a:rPr>
              <a:t>A non-terminal generating a terminal which is followed by any number of non-terminals.</a:t>
            </a:r>
            <a:r>
              <a:rPr altLang="en-IN" dirty="0" lang="en-IN" sz="2000">
                <a:solidFill>
                  <a:schemeClr val="tx1"/>
                </a:solidFill>
                <a:latin charset="0" panose="02020603050405020304" pitchFamily="18" typeface="Times New Roman"/>
                <a:cs charset="0" panose="02020603050405020304" pitchFamily="18" typeface="Times New Roman"/>
              </a:rPr>
              <a:t> For example: A → a</a:t>
            </a:r>
            <a:r>
              <a:rPr altLang="el-GR" dirty="0" lang="el-GR" sz="2000">
                <a:solidFill>
                  <a:schemeClr val="tx1"/>
                </a:solidFill>
                <a:latin charset="0" panose="02020603050405020304" pitchFamily="18" typeface="Times New Roman"/>
                <a:cs charset="0" panose="02020603050405020304" pitchFamily="18" typeface="Times New Roman"/>
              </a:rPr>
              <a:t>α</a:t>
            </a:r>
            <a:r>
              <a:rPr altLang="en-IN" dirty="0" lang="en-IN" sz="2000">
                <a:solidFill>
                  <a:schemeClr val="tx1"/>
                </a:solidFill>
                <a:latin charset="0" panose="02020603050405020304" pitchFamily="18" typeface="Times New Roman"/>
                <a:cs charset="0" panose="02020603050405020304" pitchFamily="18" typeface="Times New Roman"/>
              </a:rPr>
              <a:t>*, where </a:t>
            </a:r>
            <a:r>
              <a:rPr altLang="el-GR" dirty="0" lang="el-GR" sz="2000">
                <a:solidFill>
                  <a:schemeClr val="tx1"/>
                </a:solidFill>
                <a:latin charset="0" panose="02020603050405020304" pitchFamily="18" typeface="Times New Roman"/>
                <a:cs charset="0" panose="02020603050405020304" pitchFamily="18" typeface="Times New Roman"/>
              </a:rPr>
              <a:t>α</a:t>
            </a:r>
            <a:r>
              <a:rPr altLang="en-IN" dirty="0" lang="en-IN" sz="2000">
                <a:solidFill>
                  <a:schemeClr val="tx1"/>
                </a:solidFill>
                <a:latin charset="0" panose="02020603050405020304" pitchFamily="18" typeface="Times New Roman"/>
                <a:cs charset="0" panose="02020603050405020304" pitchFamily="18" typeface="Times New Roman"/>
              </a:rPr>
              <a:t> ∈ N* (maybe null) and a ∈ </a:t>
            </a:r>
            <a:r>
              <a:rPr altLang="el-GR" dirty="0" lang="el-GR" sz="2000">
                <a:solidFill>
                  <a:schemeClr val="tx1"/>
                </a:solidFill>
                <a:latin charset="0" panose="02020603050405020304" pitchFamily="18" typeface="Times New Roman"/>
                <a:cs charset="0" panose="02020603050405020304" pitchFamily="18" typeface="Times New Roman"/>
              </a:rPr>
              <a:t>Σ</a:t>
            </a:r>
            <a:r>
              <a:rPr altLang="en-IN" dirty="0" lang="en-IN" sz="2000">
                <a:solidFill>
                  <a:schemeClr val="tx1"/>
                </a:solidFill>
                <a:latin charset="0" panose="02020603050405020304" pitchFamily="18" typeface="Times New Roman"/>
                <a:cs charset="0" panose="02020603050405020304" pitchFamily="18" typeface="Times New Roman"/>
              </a:rPr>
              <a:t>.</a:t>
            </a:r>
          </a:p>
          <a:p>
            <a:pPr algn="just" indent="0" lvl="1" marL="292608">
              <a:buNone/>
            </a:pPr>
            <a:r>
              <a:rPr altLang="en-IN" dirty="0" lang="en-IN" sz="2000">
                <a:solidFill>
                  <a:schemeClr val="tx1"/>
                </a:solidFill>
                <a:latin charset="0" panose="02020603050405020304" pitchFamily="18" typeface="Times New Roman"/>
                <a:cs charset="0" panose="02020603050405020304" pitchFamily="18" typeface="Times New Roman"/>
              </a:rPr>
              <a:t>2. </a:t>
            </a:r>
            <a:r>
              <a:rPr altLang="en-IN" b="0" dirty="0" i="0" lang="en-IN" sz="2000">
                <a:solidFill>
                  <a:schemeClr val="tx1"/>
                </a:solidFill>
                <a:effectLst/>
                <a:latin charset="0" panose="02020603050405020304" pitchFamily="18" typeface="Times New Roman"/>
                <a:cs charset="0" panose="02020603050405020304" pitchFamily="18" typeface="Times New Roman"/>
              </a:rPr>
              <a:t>A non-terminal generating a terminal. For example, A → a.</a:t>
            </a:r>
          </a:p>
          <a:p>
            <a:endParaRPr altLang="en-IN" dirty="0" lang="en-IN" sz="1800">
              <a:latin charset="0" panose="02020603050405020304" pitchFamily="18" typeface="Times New Roman"/>
              <a:cs charset="0" panose="02020603050405020304" pitchFamily="18" typeface="Times New Roman"/>
            </a:endParaRPr>
          </a:p>
          <a:p>
            <a:endParaRPr altLang="en-IN" dirty="0" lang="en-IN" sz="1800">
              <a:latin charset="0" panose="02020603050405020304" pitchFamily="18" typeface="Times New Roman"/>
              <a:cs charset="0" panose="02020603050405020304" pitchFamily="18" typeface="Times New Roman"/>
            </a:endParaRPr>
          </a:p>
          <a:p>
            <a:endParaRPr altLang="en-IN" dirty="0" lang="en-IN" sz="1800">
              <a:latin charset="0" panose="02020603050405020304" pitchFamily="18" typeface="Times New Roman"/>
              <a:cs charset="0" panose="02020603050405020304" pitchFamily="18" typeface="Times New Roman"/>
            </a:endParaRPr>
          </a:p>
        </p:txBody>
      </p:sp>
      <p:pic>
        <p:nvPicPr>
          <p:cNvPr id="5" name="Picture 4">
            <a:extLst>
              <a:ext uri="{FF2B5EF4-FFF2-40B4-BE49-F238E27FC236}">
                <a16:creationId xmlns:a16="http://schemas.microsoft.com/office/drawing/2014/main" id="{4E161E3A-8272-DD76-FF88-296868ECD6AF}"/>
              </a:ext>
            </a:extLst>
          </p:cNvPr>
          <p:cNvPicPr>
            <a:picLocks noChangeAspect="1"/>
          </p:cNvPicPr>
          <p:nvPr/>
        </p:nvPicPr>
        <p:blipFill>
          <a:blip r:embed="rId2"/>
          <a:stretch>
            <a:fillRect/>
          </a:stretch>
        </p:blipFill>
        <p:spPr>
          <a:xfrm>
            <a:off x="3153340" y="3838554"/>
            <a:ext cx="5293430" cy="1514167"/>
          </a:xfrm>
          <a:prstGeom prst="rect">
            <a:avLst/>
          </a:prstGeom>
        </p:spPr>
      </p:pic>
      <p:sp>
        <p:nvSpPr>
          <p:cNvPr id="7" name="TextBox 6">
            <a:extLst>
              <a:ext uri="{FF2B5EF4-FFF2-40B4-BE49-F238E27FC236}">
                <a16:creationId xmlns:a16="http://schemas.microsoft.com/office/drawing/2014/main" id="{14689332-B54A-D1F5-7D8E-A00B47F11AAE}"/>
              </a:ext>
            </a:extLst>
          </p:cNvPr>
          <p:cNvSpPr txBox="1"/>
          <p:nvPr/>
        </p:nvSpPr>
        <p:spPr>
          <a:xfrm>
            <a:off x="671512" y="5653317"/>
            <a:ext cx="11124247" cy="369332"/>
          </a:xfrm>
          <a:prstGeom prst="rect">
            <a:avLst/>
          </a:prstGeom>
          <a:noFill/>
        </p:spPr>
        <p:txBody>
          <a:bodyPr numCol="1" wrap="square">
            <a:spAutoFit/>
          </a:bodyPr>
          <a:lstStyle/>
          <a:p>
            <a:r>
              <a:rPr dirty="0" i="1" lang="en-US" sz="1800">
                <a:solidFill>
                  <a:srgbClr val="FF0000"/>
                </a:solidFill>
                <a:latin charset="0" panose="02020603050405020304" pitchFamily="18" typeface="Times New Roman"/>
                <a:cs charset="0" panose="02020603050405020304" pitchFamily="18" typeface="Times New Roman"/>
              </a:rPr>
              <a:t>Note: Start symbol generating ε (S → ε) will be in G if ε is in L(G) and S does not appear on RHS of any production. </a:t>
            </a:r>
          </a:p>
        </p:txBody>
      </p:sp>
    </p:spTree>
    <p:extLst>
      <p:ext uri="{BB962C8B-B14F-4D97-AF65-F5344CB8AC3E}">
        <p14:creationId xmlns:p14="http://schemas.microsoft.com/office/powerpoint/2010/main" val="887254773"/>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5"/>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7"/>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335D9BE-D8F0-C02D-01DF-A8FDA441758F}"/>
              </a:ext>
            </a:extLst>
          </p:cNvPr>
          <p:cNvSpPr txBox="1">
            <a:spLocks/>
          </p:cNvSpPr>
          <p:nvPr/>
        </p:nvSpPr>
        <p:spPr>
          <a:xfrm>
            <a:off x="106680" y="131234"/>
            <a:ext cx="11869420" cy="5799666"/>
          </a:xfrm>
          <a:prstGeom prst="rect">
            <a:avLst/>
          </a:prstGeom>
        </p:spPr>
        <p:txBody>
          <a:bodyPr numCol="1"/>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indent="0" marL="0">
              <a:spcBef>
                <a:spcPts val="600"/>
              </a:spcBef>
              <a:spcAft>
                <a:spcPts val="0"/>
              </a:spcAft>
              <a:buNone/>
            </a:pPr>
            <a:r>
              <a:rPr altLang="en-IN" b="1" dirty="0" lang="en-IN" sz="2200">
                <a:solidFill>
                  <a:schemeClr val="tx1"/>
                </a:solidFill>
                <a:latin charset="0" panose="02020603050405020304" pitchFamily="18" typeface="Times New Roman"/>
                <a:cs charset="0" panose="02020603050405020304" pitchFamily="18" typeface="Times New Roman"/>
              </a:rPr>
              <a:t>For converting the given grammar to GNF, we use 2 theorems:</a:t>
            </a:r>
          </a:p>
          <a:p>
            <a:pPr indent="0" marL="0">
              <a:spcBef>
                <a:spcPts val="600"/>
              </a:spcBef>
              <a:spcAft>
                <a:spcPts val="0"/>
              </a:spcAft>
              <a:buNone/>
            </a:pPr>
            <a:endParaRPr altLang="en-IN" b="1" dirty="0" lang="en-IN" sz="1000">
              <a:solidFill>
                <a:schemeClr val="tx1"/>
              </a:solidFill>
              <a:latin charset="0" panose="02020603050405020304" pitchFamily="18" typeface="Times New Roman"/>
              <a:cs charset="0" panose="02020603050405020304" pitchFamily="18" typeface="Times New Roman"/>
            </a:endParaRPr>
          </a:p>
          <a:p>
            <a:pPr algn="just" indent="0" marL="0">
              <a:spcBef>
                <a:spcPts val="600"/>
              </a:spcBef>
              <a:spcAft>
                <a:spcPts val="0"/>
              </a:spcAft>
              <a:buNone/>
            </a:pPr>
            <a:r>
              <a:rPr altLang="en-IN" b="1" dirty="0" lang="en-IN" sz="2200">
                <a:solidFill>
                  <a:schemeClr val="tx1"/>
                </a:solidFill>
                <a:latin charset="0" panose="02020603050405020304" pitchFamily="18" typeface="Times New Roman"/>
                <a:cs charset="0" panose="02020603050405020304" pitchFamily="18" typeface="Times New Roman"/>
              </a:rPr>
              <a:t>Theorem 1: Substitution Rule: </a:t>
            </a:r>
            <a:r>
              <a:rPr altLang="en-IN" dirty="0" lang="en-IN" sz="2200">
                <a:solidFill>
                  <a:schemeClr val="tx1"/>
                </a:solidFill>
                <a:latin charset="0" panose="02020603050405020304" pitchFamily="18" typeface="Times New Roman"/>
                <a:cs charset="0" panose="02020603050405020304" pitchFamily="18" typeface="Times New Roman"/>
              </a:rPr>
              <a:t>If there is a production rule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A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α</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B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γ</a:t>
            </a:r>
            <a:r>
              <a:rPr altLang="en-IN" dirty="0" lang="en-IN" sz="2200">
                <a:solidFill>
                  <a:schemeClr val="tx1"/>
                </a:solidFill>
                <a:latin charset="0" panose="02020603050405020304" pitchFamily="18" typeface="Times New Roman"/>
                <a:cs charset="0" panose="02020603050405020304" pitchFamily="18" typeface="Times New Roman"/>
              </a:rPr>
              <a:t>  and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B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2</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n</a:t>
            </a:r>
            <a:r>
              <a:rPr altLang="en-IN" dirty="0" lang="en-IN" sz="2200">
                <a:solidFill>
                  <a:schemeClr val="tx1"/>
                </a:solidFill>
                <a:latin charset="0" panose="02020603050405020304" pitchFamily="18" typeface="Times New Roman"/>
                <a:cs charset="0" panose="02020603050405020304" pitchFamily="18" typeface="Times New Roman"/>
              </a:rPr>
              <a:t>.</a:t>
            </a:r>
          </a:p>
          <a:p>
            <a:pPr algn="just" indent="0" marL="0">
              <a:spcBef>
                <a:spcPts val="600"/>
              </a:spcBef>
              <a:spcAft>
                <a:spcPts val="0"/>
              </a:spcAft>
              <a:buNone/>
            </a:pPr>
            <a:r>
              <a:rPr altLang="en-IN" dirty="0" lang="en-IN" sz="2200">
                <a:solidFill>
                  <a:schemeClr val="tx1"/>
                </a:solidFill>
                <a:latin charset="0" panose="02020603050405020304" pitchFamily="18" typeface="Times New Roman"/>
                <a:cs charset="0" panose="02020603050405020304" pitchFamily="18" typeface="Times New Roman"/>
              </a:rPr>
              <a:t>Then equivalent grammar can be obtained by substituting B in A. then resultant grammar will be: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A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α</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1</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γ</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α</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2</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γ</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α</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3</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γ</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α</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n</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γ</a:t>
            </a:r>
            <a:endPar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endParaRPr>
          </a:p>
          <a:p>
            <a:pPr indent="0" marL="0">
              <a:spcBef>
                <a:spcPts val="600"/>
              </a:spcBef>
              <a:spcAft>
                <a:spcPts val="0"/>
              </a:spcAft>
              <a:buNone/>
            </a:pPr>
            <a:endParaRPr altLang="en-IN" dirty="0" lang="en-IN" sz="1200">
              <a:solidFill>
                <a:schemeClr val="tx1"/>
              </a:solidFill>
              <a:highlight>
                <a:srgbClr val="FFFF00"/>
              </a:highlight>
              <a:latin charset="0" panose="02020603050405020304" pitchFamily="18" typeface="Times New Roman"/>
              <a:cs charset="0" panose="02020603050405020304" pitchFamily="18" typeface="Times New Roman"/>
            </a:endParaRPr>
          </a:p>
          <a:p>
            <a:pPr indent="0" marL="0">
              <a:spcBef>
                <a:spcPts val="600"/>
              </a:spcBef>
              <a:spcAft>
                <a:spcPts val="0"/>
              </a:spcAft>
              <a:buNone/>
            </a:pPr>
            <a:r>
              <a:rPr altLang="en-IN" b="1" dirty="0" lang="en-IN" sz="2200">
                <a:solidFill>
                  <a:schemeClr val="tx1"/>
                </a:solidFill>
                <a:latin charset="0" panose="02020603050405020304" pitchFamily="18" typeface="Times New Roman"/>
                <a:cs charset="0" panose="02020603050405020304" pitchFamily="18" typeface="Times New Roman"/>
              </a:rPr>
              <a:t>Theorem 2: Elimination of left recursion:</a:t>
            </a:r>
            <a:r>
              <a:rPr altLang="en-IN" dirty="0" lang="en-IN" sz="2200">
                <a:solidFill>
                  <a:schemeClr val="tx1"/>
                </a:solidFill>
                <a:latin charset="0" panose="02020603050405020304" pitchFamily="18" typeface="Times New Roman"/>
                <a:cs charset="0" panose="02020603050405020304" pitchFamily="18" typeface="Times New Roman"/>
              </a:rPr>
              <a:t> A grammar of form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A → Aα / β </a:t>
            </a:r>
            <a:r>
              <a:rPr dirty="0" lang="en-US" sz="2200">
                <a:solidFill>
                  <a:schemeClr val="tx1"/>
                </a:solidFill>
                <a:latin charset="0" panose="02020603050405020304" pitchFamily="18" typeface="Times New Roman"/>
                <a:cs charset="0" panose="02020603050405020304" pitchFamily="18" typeface="Times New Roman"/>
              </a:rPr>
              <a:t>is called left recursive which will be eliminated by rewriting the grammar as </a:t>
            </a:r>
          </a:p>
          <a:p>
            <a:pPr algn="ctr" indent="0" marL="0">
              <a:spcBef>
                <a:spcPts val="600"/>
              </a:spcBef>
              <a:spcAft>
                <a:spcPts val="0"/>
              </a:spcAft>
              <a:buNone/>
            </a:pP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A → βZ</a:t>
            </a:r>
          </a:p>
          <a:p>
            <a:pPr algn="ctr" indent="0" marL="0">
              <a:spcBef>
                <a:spcPts val="600"/>
              </a:spcBef>
              <a:spcAft>
                <a:spcPts val="0"/>
              </a:spcAft>
              <a:buNone/>
            </a:pP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 → αZ / ∈</a:t>
            </a:r>
          </a:p>
          <a:p>
            <a:pPr indent="0" marL="0">
              <a:spcBef>
                <a:spcPts val="600"/>
              </a:spcBef>
              <a:spcAft>
                <a:spcPts val="0"/>
              </a:spcAft>
              <a:buNone/>
            </a:pPr>
            <a:r>
              <a:rPr dirty="0" lang="en-US" sz="2200">
                <a:solidFill>
                  <a:schemeClr val="tx1"/>
                </a:solidFill>
                <a:latin charset="0" panose="02020603050405020304" pitchFamily="18" typeface="Times New Roman"/>
                <a:cs charset="0" panose="02020603050405020304" pitchFamily="18" typeface="Times New Roman"/>
              </a:rPr>
              <a:t>If we eliminate ∈ production, then we get:</a:t>
            </a:r>
          </a:p>
          <a:p>
            <a:pPr algn="ctr" indent="0" marL="0">
              <a:spcBef>
                <a:spcPts val="600"/>
              </a:spcBef>
              <a:spcAft>
                <a:spcPts val="0"/>
              </a:spcAft>
              <a:buNone/>
            </a:pP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A → βZ | β</a:t>
            </a:r>
          </a:p>
          <a:p>
            <a:pPr algn="ctr" indent="0" marL="0">
              <a:spcBef>
                <a:spcPts val="600"/>
              </a:spcBef>
              <a:spcAft>
                <a:spcPts val="0"/>
              </a:spcAft>
              <a:buNone/>
            </a:pP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 → αZ / α</a:t>
            </a:r>
          </a:p>
          <a:p>
            <a:pPr indent="0" marL="0">
              <a:spcBef>
                <a:spcPts val="600"/>
              </a:spcBef>
              <a:spcAft>
                <a:spcPts val="0"/>
              </a:spcAft>
              <a:buNone/>
            </a:pPr>
            <a:r>
              <a:rPr dirty="0" lang="en-US" sz="2200">
                <a:solidFill>
                  <a:schemeClr val="tx1"/>
                </a:solidFill>
                <a:latin charset="0" panose="02020603050405020304" pitchFamily="18" typeface="Times New Roman"/>
                <a:cs charset="0" panose="02020603050405020304" pitchFamily="18" typeface="Times New Roman"/>
              </a:rPr>
              <a:t>We can generalize this grammar. If there is CFG productions as: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A → Aα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1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 Aα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2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 Aα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3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 …. Aα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n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2</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n</a:t>
            </a:r>
          </a:p>
          <a:p>
            <a:pPr indent="0" marL="0">
              <a:spcBef>
                <a:spcPts val="600"/>
              </a:spcBef>
              <a:spcAft>
                <a:spcPts val="0"/>
              </a:spcAft>
              <a:buNone/>
            </a:pPr>
            <a:r>
              <a:rPr altLang="en-IN" dirty="0" lang="en-IN" sz="2200">
                <a:solidFill>
                  <a:schemeClr val="tx1"/>
                </a:solidFill>
                <a:latin charset="0" panose="02020603050405020304" pitchFamily="18" typeface="Times New Roman"/>
                <a:cs charset="0" panose="02020603050405020304" pitchFamily="18" typeface="Times New Roman"/>
              </a:rPr>
              <a:t>Then equivalent grammar without left recursion will be : </a:t>
            </a:r>
          </a:p>
          <a:p>
            <a:pPr algn="ctr" indent="0" marL="0">
              <a:spcBef>
                <a:spcPts val="600"/>
              </a:spcBef>
              <a:spcAft>
                <a:spcPts val="0"/>
              </a:spcAft>
              <a:buNone/>
            </a:pP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A →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2</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n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2200">
                <a:solidFill>
                  <a:schemeClr val="tx1"/>
                </a:solidFill>
                <a:highlight>
                  <a:srgbClr val="FFFF00"/>
                </a:highlight>
                <a:latin charset="0" panose="02020603050405020304" pitchFamily="18" typeface="Times New Roman"/>
                <a:cs charset="0" panose="02020603050405020304" pitchFamily="18" typeface="Times New Roman"/>
              </a:rPr>
              <a:t>2</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22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2200">
                <a:solidFill>
                  <a:schemeClr val="tx1"/>
                </a:solidFill>
                <a:highlight>
                  <a:srgbClr val="FFFF00"/>
                </a:highlight>
                <a:latin charset="0" panose="02020603050405020304" pitchFamily="18" typeface="Times New Roman"/>
                <a:cs charset="0" panose="02020603050405020304" pitchFamily="18" typeface="Times New Roman"/>
              </a:rPr>
              <a:t>n</a:t>
            </a:r>
          </a:p>
          <a:p>
            <a:pPr algn="ctr" indent="0" marL="0">
              <a:spcBef>
                <a:spcPts val="600"/>
              </a:spcBef>
              <a:spcAft>
                <a:spcPts val="0"/>
              </a:spcAft>
              <a:buNone/>
            </a:pP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 → 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1</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 | 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2</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 | 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3</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Z | ……..| 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1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2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 </a:t>
            </a:r>
            <a:r>
              <a:rPr dirty="0" lang="en-US" sz="2200">
                <a:solidFill>
                  <a:schemeClr val="tx1"/>
                </a:solidFill>
                <a:highlight>
                  <a:srgbClr val="FFFF00"/>
                </a:highlight>
                <a:latin charset="0" panose="02020603050405020304" pitchFamily="18" typeface="Times New Roman"/>
                <a:cs charset="0" panose="02020603050405020304" pitchFamily="18" typeface="Times New Roman"/>
              </a:rPr>
              <a:t>α</a:t>
            </a:r>
            <a:r>
              <a:rPr baseline="-25000" dirty="0" lang="en-US" sz="2200">
                <a:solidFill>
                  <a:schemeClr val="tx1"/>
                </a:solidFill>
                <a:highlight>
                  <a:srgbClr val="FFFF00"/>
                </a:highlight>
                <a:latin charset="0" panose="02020603050405020304" pitchFamily="18" typeface="Times New Roman"/>
                <a:cs charset="0" panose="02020603050405020304" pitchFamily="18" typeface="Times New Roman"/>
              </a:rPr>
              <a:t>3 …..</a:t>
            </a:r>
            <a:endParaRPr altLang="en-IN" dirty="0" lang="en-IN" sz="2200">
              <a:solidFill>
                <a:schemeClr val="tx1"/>
              </a:solidFill>
              <a:highlight>
                <a:srgbClr val="FFFF00"/>
              </a:highlight>
              <a:latin charset="0" panose="02020603050405020304" pitchFamily="18" typeface="Times New Roman"/>
              <a:cs charset="0" panose="02020603050405020304" pitchFamily="18" typeface="Times New Roman"/>
            </a:endParaRPr>
          </a:p>
        </p:txBody>
      </p:sp>
      <p:cxnSp>
        <p:nvCxnSpPr>
          <p:cNvPr id="4" name="Straight Connector 3">
            <a:extLst>
              <a:ext uri="{FF2B5EF4-FFF2-40B4-BE49-F238E27FC236}">
                <a16:creationId xmlns:a16="http://schemas.microsoft.com/office/drawing/2014/main" id="{EB298DFA-1ECD-48D6-DDA9-EE86DBF46A08}"/>
              </a:ext>
            </a:extLst>
          </p:cNvPr>
          <p:cNvCxnSpPr/>
          <p:nvPr/>
        </p:nvCxnSpPr>
        <p:spPr>
          <a:xfrm>
            <a:off x="0" y="1955800"/>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CC0EA7-D475-15D7-8B1C-54CE17554434}"/>
              </a:ext>
            </a:extLst>
          </p:cNvPr>
          <p:cNvCxnSpPr/>
          <p:nvPr/>
        </p:nvCxnSpPr>
        <p:spPr>
          <a:xfrm>
            <a:off x="0" y="596900"/>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44811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5"/>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2">
                                            <p:txEl>
                                              <p:pRg end="2" st="2"/>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2">
                                            <p:txEl>
                                              <p:pRg end="3" st="3"/>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4"/>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2">
                                            <p:txEl>
                                              <p:pRg end="5" st="5"/>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2">
                                            <p:txEl>
                                              <p:pRg end="6" st="6"/>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2">
                                            <p:txEl>
                                              <p:pRg end="7" st="7"/>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id="31" nodeType="clickEffect" presetClass="entr" presetID="1" presetSubtype="0">
                                  <p:stCondLst>
                                    <p:cond delay="0"/>
                                  </p:stCondLst>
                                  <p:childTnLst>
                                    <p:set>
                                      <p:cBhvr>
                                        <p:cTn dur="1" fill="hold" id="32">
                                          <p:stCondLst>
                                            <p:cond delay="0"/>
                                          </p:stCondLst>
                                        </p:cTn>
                                        <p:tgtEl>
                                          <p:spTgt spid="2">
                                            <p:txEl>
                                              <p:pRg end="8" st="8"/>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1" presetSubtype="0">
                                  <p:stCondLst>
                                    <p:cond delay="0"/>
                                  </p:stCondLst>
                                  <p:childTnLst>
                                    <p:set>
                                      <p:cBhvr>
                                        <p:cTn dur="1" fill="hold" id="36">
                                          <p:stCondLst>
                                            <p:cond delay="0"/>
                                          </p:stCondLst>
                                        </p:cTn>
                                        <p:tgtEl>
                                          <p:spTgt spid="2">
                                            <p:txEl>
                                              <p:pRg end="9" st="9"/>
                                            </p:txEl>
                                          </p:spTgt>
                                        </p:tgtEl>
                                        <p:attrNameLst>
                                          <p:attrName>style.visibility</p:attrName>
                                        </p:attrNameLst>
                                      </p:cBhvr>
                                      <p:to>
                                        <p:strVal val="visible"/>
                                      </p:to>
                                    </p:set>
                                  </p:childTnLst>
                                </p:cTn>
                              </p:par>
                              <p:par>
                                <p:cTn fill="hold" id="37" nodeType="withEffect" presetClass="entr" presetID="1" presetSubtype="0">
                                  <p:stCondLst>
                                    <p:cond delay="0"/>
                                  </p:stCondLst>
                                  <p:childTnLst>
                                    <p:set>
                                      <p:cBhvr>
                                        <p:cTn dur="1" fill="hold" id="38">
                                          <p:stCondLst>
                                            <p:cond delay="0"/>
                                          </p:stCondLst>
                                        </p:cTn>
                                        <p:tgtEl>
                                          <p:spTgt spid="2">
                                            <p:txEl>
                                              <p:pRg end="10" st="10"/>
                                            </p:txEl>
                                          </p:spTgt>
                                        </p:tgtEl>
                                        <p:attrNameLst>
                                          <p:attrName>style.visibility</p:attrName>
                                        </p:attrNameLst>
                                      </p:cBhvr>
                                      <p:to>
                                        <p:strVal val="visible"/>
                                      </p:to>
                                    </p:set>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1" presetSubtype="0">
                                  <p:stCondLst>
                                    <p:cond delay="0"/>
                                  </p:stCondLst>
                                  <p:childTnLst>
                                    <p:set>
                                      <p:cBhvr>
                                        <p:cTn dur="1" fill="hold" id="42">
                                          <p:stCondLst>
                                            <p:cond delay="0"/>
                                          </p:stCondLst>
                                        </p:cTn>
                                        <p:tgtEl>
                                          <p:spTgt spid="2">
                                            <p:txEl>
                                              <p:pRg end="11" st="11"/>
                                            </p:txEl>
                                          </p:spTgt>
                                        </p:tgtEl>
                                        <p:attrNameLst>
                                          <p:attrName>style.visibility</p:attrName>
                                        </p:attrNameLst>
                                      </p:cBhvr>
                                      <p:to>
                                        <p:strVal val="visible"/>
                                      </p:to>
                                    </p:set>
                                  </p:childTnLst>
                                </p:cTn>
                              </p:par>
                            </p:childTnLst>
                          </p:cTn>
                        </p:par>
                      </p:childTnLst>
                    </p:cTn>
                  </p:par>
                  <p:par>
                    <p:cTn fill="hold" id="43">
                      <p:stCondLst>
                        <p:cond delay="indefinite"/>
                      </p:stCondLst>
                      <p:childTnLst>
                        <p:par>
                          <p:cTn fill="hold" id="44">
                            <p:stCondLst>
                              <p:cond delay="0"/>
                            </p:stCondLst>
                            <p:childTnLst>
                              <p:par>
                                <p:cTn fill="hold" id="45" nodeType="clickEffect" presetClass="entr" presetID="1" presetSubtype="0">
                                  <p:stCondLst>
                                    <p:cond delay="0"/>
                                  </p:stCondLst>
                                  <p:childTnLst>
                                    <p:set>
                                      <p:cBhvr>
                                        <p:cTn dur="1" fill="hold" id="46">
                                          <p:stCondLst>
                                            <p:cond delay="0"/>
                                          </p:stCondLst>
                                        </p:cTn>
                                        <p:tgtEl>
                                          <p:spTgt spid="2">
                                            <p:txEl>
                                              <p:pRg end="12" st="12"/>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2">
                                            <p:txEl>
                                              <p:pRg end="13" st="13"/>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2">
                                            <p:txEl>
                                              <p:pRg end="14" st="14"/>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2514-7934-CC82-480C-A02FC3D9EEA8}"/>
              </a:ext>
            </a:extLst>
          </p:cNvPr>
          <p:cNvSpPr>
            <a:spLocks noGrp="1"/>
          </p:cNvSpPr>
          <p:nvPr>
            <p:ph type="title"/>
          </p:nvPr>
        </p:nvSpPr>
        <p:spPr/>
        <p:txBody>
          <a:bodyPr numCol="1"/>
          <a:lstStyle/>
          <a:p>
            <a:r>
              <a:rPr dirty="0" lang="en-US">
                <a:solidFill>
                  <a:schemeClr val="tx1"/>
                </a:solidFill>
              </a:rPr>
              <a:t>Steps for converting CFG into GNF</a:t>
            </a:r>
            <a:endParaRPr altLang="en-IN" dirty="0" lang="en-IN">
              <a:solidFill>
                <a:schemeClr val="tx1"/>
              </a:solidFill>
            </a:endParaRPr>
          </a:p>
        </p:txBody>
      </p:sp>
      <p:sp>
        <p:nvSpPr>
          <p:cNvPr id="3" name="Content Placeholder 2">
            <a:extLst>
              <a:ext uri="{FF2B5EF4-FFF2-40B4-BE49-F238E27FC236}">
                <a16:creationId xmlns:a16="http://schemas.microsoft.com/office/drawing/2014/main" id="{DBFBBCA4-CD65-1CCB-FBFE-7521397CCFD6}"/>
              </a:ext>
            </a:extLst>
          </p:cNvPr>
          <p:cNvSpPr>
            <a:spLocks noGrp="1"/>
          </p:cNvSpPr>
          <p:nvPr>
            <p:ph idx="1"/>
          </p:nvPr>
        </p:nvSpPr>
        <p:spPr/>
        <p:txBody>
          <a:bodyPr numCol="1">
            <a:normAutofit fontScale="85000" lnSpcReduction="20000"/>
          </a:bodyPr>
          <a:lstStyle/>
          <a:p>
            <a:pPr algn="just" indent="0" marL="0">
              <a:lnSpc>
                <a:spcPct val="120000"/>
              </a:lnSpc>
              <a:buNone/>
            </a:pPr>
            <a:r>
              <a:rPr altLang="en-IN" dirty="0" lang="en-IN" sz="2800">
                <a:solidFill>
                  <a:schemeClr val="tx1"/>
                </a:solidFill>
                <a:latin charset="0" panose="02020603050405020304" pitchFamily="18" typeface="Times New Roman"/>
                <a:cs charset="0" panose="02020603050405020304" pitchFamily="18" typeface="Times New Roman"/>
              </a:rPr>
              <a:t>1. Simplify the grammar (eliminate null symbol, unit production and useless symbols) and convert it into Chomsky normal form  (CNF)</a:t>
            </a:r>
          </a:p>
          <a:p>
            <a:pPr algn="just" indent="0" marL="0">
              <a:lnSpc>
                <a:spcPct val="120000"/>
              </a:lnSpc>
              <a:buNone/>
            </a:pPr>
            <a:r>
              <a:rPr altLang="en-IN" dirty="0" lang="en-IN" sz="2800">
                <a:solidFill>
                  <a:schemeClr val="tx1"/>
                </a:solidFill>
                <a:latin charset="0" panose="02020603050405020304" pitchFamily="18" typeface="Times New Roman"/>
                <a:cs charset="0" panose="02020603050405020304" pitchFamily="18" typeface="Times New Roman"/>
              </a:rPr>
              <a:t>2. </a:t>
            </a:r>
            <a:r>
              <a:rPr b="0" dirty="0" i="0" lang="en-US" sz="2800">
                <a:solidFill>
                  <a:schemeClr val="tx1"/>
                </a:solidFill>
                <a:effectLst/>
                <a:latin charset="0" panose="02020603050405020304" pitchFamily="18" typeface="Times New Roman"/>
                <a:cs charset="0" panose="02020603050405020304" pitchFamily="18" typeface="Times New Roman"/>
              </a:rPr>
              <a:t>Change the names of non terminal symbols to A</a:t>
            </a:r>
            <a:r>
              <a:rPr b="0" baseline="-25000" dirty="0" i="0" lang="en-US" sz="2800">
                <a:solidFill>
                  <a:schemeClr val="tx1"/>
                </a:solidFill>
                <a:effectLst/>
                <a:latin charset="0" panose="02020603050405020304" pitchFamily="18" typeface="Times New Roman"/>
                <a:cs charset="0" panose="02020603050405020304" pitchFamily="18" typeface="Times New Roman"/>
              </a:rPr>
              <a:t>1</a:t>
            </a:r>
            <a:r>
              <a:rPr b="0" dirty="0" i="0" lang="en-US" sz="2800">
                <a:solidFill>
                  <a:schemeClr val="tx1"/>
                </a:solidFill>
                <a:effectLst/>
                <a:latin charset="0" panose="02020603050405020304" pitchFamily="18" typeface="Times New Roman"/>
                <a:cs charset="0" panose="02020603050405020304" pitchFamily="18" typeface="Times New Roman"/>
              </a:rPr>
              <a:t> till A</a:t>
            </a:r>
            <a:r>
              <a:rPr b="0" baseline="-25000" dirty="0" i="0" lang="en-US" sz="2800">
                <a:solidFill>
                  <a:schemeClr val="tx1"/>
                </a:solidFill>
                <a:effectLst/>
                <a:latin charset="0" panose="02020603050405020304" pitchFamily="18" typeface="Times New Roman"/>
                <a:cs charset="0" panose="02020603050405020304" pitchFamily="18" typeface="Times New Roman"/>
              </a:rPr>
              <a:t>N</a:t>
            </a:r>
            <a:r>
              <a:rPr b="0" dirty="0" i="0" lang="en-US" sz="2800">
                <a:solidFill>
                  <a:schemeClr val="tx1"/>
                </a:solidFill>
                <a:effectLst/>
                <a:latin charset="0" panose="02020603050405020304" pitchFamily="18" typeface="Times New Roman"/>
                <a:cs charset="0" panose="02020603050405020304" pitchFamily="18" typeface="Times New Roman"/>
              </a:rPr>
              <a:t> in same sequence.</a:t>
            </a:r>
          </a:p>
          <a:p>
            <a:pPr algn="just" indent="0" marL="0">
              <a:lnSpc>
                <a:spcPct val="120000"/>
              </a:lnSpc>
              <a:buNone/>
            </a:pPr>
            <a:r>
              <a:rPr dirty="0" lang="en-US" sz="2800">
                <a:solidFill>
                  <a:schemeClr val="tx1"/>
                </a:solidFill>
                <a:latin charset="0" panose="02020603050405020304" pitchFamily="18" typeface="Times New Roman"/>
                <a:cs charset="0" panose="02020603050405020304" pitchFamily="18" typeface="Times New Roman"/>
              </a:rPr>
              <a:t>3. </a:t>
            </a:r>
            <a:r>
              <a:rPr b="0" dirty="0" i="0" lang="en-US" sz="2800">
                <a:solidFill>
                  <a:schemeClr val="tx1"/>
                </a:solidFill>
                <a:effectLst/>
                <a:latin charset="0" panose="02020603050405020304" pitchFamily="18" typeface="Times New Roman"/>
                <a:cs charset="0" panose="02020603050405020304" pitchFamily="18" typeface="Times New Roman"/>
              </a:rPr>
              <a:t>Check for every production rule of form A</a:t>
            </a:r>
            <a:r>
              <a:rPr b="0" baseline="-25000" dirty="0" i="0" lang="en-US" sz="2800">
                <a:solidFill>
                  <a:schemeClr val="tx1"/>
                </a:solidFill>
                <a:effectLst/>
                <a:latin charset="0" panose="02020603050405020304" pitchFamily="18" typeface="Times New Roman"/>
                <a:cs charset="0" panose="02020603050405020304" pitchFamily="18" typeface="Times New Roman"/>
              </a:rPr>
              <a:t>i</a:t>
            </a:r>
            <a:r>
              <a:rPr b="0" dirty="0" i="0" lang="en-US" sz="2800">
                <a:solidFill>
                  <a:schemeClr val="tx1"/>
                </a:solidFill>
                <a:effectLst/>
                <a:latin charset="0" panose="02020603050405020304" pitchFamily="18" typeface="Times New Roman"/>
                <a:cs charset="0" panose="02020603050405020304" pitchFamily="18" typeface="Times New Roman"/>
              </a:rPr>
              <a:t> </a:t>
            </a:r>
            <a:r>
              <a:rPr altLang="en-IN" b="0" dirty="0" i="0" lang="en-IN" sz="2800">
                <a:solidFill>
                  <a:schemeClr val="tx1"/>
                </a:solidFill>
                <a:effectLst/>
                <a:latin charset="0" panose="02020603050405020304" pitchFamily="18" typeface="Times New Roman"/>
                <a:cs charset="0" panose="02020603050405020304" pitchFamily="18" typeface="Times New Roman"/>
              </a:rPr>
              <a:t>→ A</a:t>
            </a:r>
            <a:r>
              <a:rPr altLang="en-IN" b="0" baseline="-25000" dirty="0" i="0" lang="en-IN" sz="2800">
                <a:solidFill>
                  <a:schemeClr val="tx1"/>
                </a:solidFill>
                <a:effectLst/>
                <a:latin charset="0" panose="02020603050405020304" pitchFamily="18" typeface="Times New Roman"/>
                <a:cs charset="0" panose="02020603050405020304" pitchFamily="18" typeface="Times New Roman"/>
              </a:rPr>
              <a:t>j </a:t>
            </a:r>
            <a:r>
              <a:rPr altLang="en-IN" b="0" dirty="0" i="0" lang="en-IN" sz="2800">
                <a:solidFill>
                  <a:schemeClr val="tx1"/>
                </a:solidFill>
                <a:effectLst/>
                <a:latin charset="0" panose="02020603050405020304" pitchFamily="18" typeface="Times New Roman"/>
                <a:cs charset="0" panose="02020603050405020304" pitchFamily="18" typeface="Times New Roman"/>
              </a:rPr>
              <a:t>X</a:t>
            </a:r>
            <a:r>
              <a:rPr altLang="en-IN" dirty="0" lang="en-IN" sz="2800">
                <a:solidFill>
                  <a:schemeClr val="tx1"/>
                </a:solidFill>
                <a:latin charset="0" panose="02020603050405020304" pitchFamily="18" typeface="Times New Roman"/>
                <a:cs charset="0" panose="02020603050405020304" pitchFamily="18" typeface="Times New Roman"/>
              </a:rPr>
              <a:t> and apply the following</a:t>
            </a:r>
          </a:p>
          <a:p>
            <a:pPr algn="just" indent="-342900" lvl="1" marL="635508">
              <a:lnSpc>
                <a:spcPct val="120000"/>
              </a:lnSpc>
              <a:buAutoNum type="alphaLcPeriod"/>
            </a:pPr>
            <a:r>
              <a:rPr b="0" dirty="0" i="0" lang="en-US" sz="2400">
                <a:solidFill>
                  <a:schemeClr val="tx1"/>
                </a:solidFill>
                <a:effectLst/>
                <a:latin charset="0" panose="02020603050405020304" pitchFamily="18" typeface="Times New Roman"/>
                <a:cs charset="0" panose="02020603050405020304" pitchFamily="18" typeface="Times New Roman"/>
              </a:rPr>
              <a:t>If j &gt; i, then leave the production rule as it is.</a:t>
            </a:r>
          </a:p>
          <a:p>
            <a:pPr algn="just" indent="-342900" lvl="1" marL="635508">
              <a:lnSpc>
                <a:spcPct val="120000"/>
              </a:lnSpc>
              <a:buAutoNum type="alphaLcPeriod"/>
            </a:pPr>
            <a:r>
              <a:rPr dirty="0" lang="en-US" sz="2400">
                <a:solidFill>
                  <a:schemeClr val="tx1"/>
                </a:solidFill>
                <a:latin charset="0" panose="02020603050405020304" pitchFamily="18" typeface="Times New Roman"/>
                <a:cs charset="0" panose="02020603050405020304" pitchFamily="18" typeface="Times New Roman"/>
              </a:rPr>
              <a:t>If j = i , then apply elimination of left recursion rule.</a:t>
            </a:r>
          </a:p>
          <a:p>
            <a:pPr algn="just" indent="-342900" lvl="1" marL="635508">
              <a:lnSpc>
                <a:spcPct val="120000"/>
              </a:lnSpc>
              <a:buAutoNum type="alphaLcPeriod"/>
            </a:pPr>
            <a:r>
              <a:rPr b="0" dirty="0" i="0" lang="en-US" sz="2400">
                <a:solidFill>
                  <a:schemeClr val="tx1"/>
                </a:solidFill>
                <a:effectLst/>
                <a:latin charset="0" panose="02020603050405020304" pitchFamily="18" typeface="Times New Roman"/>
                <a:cs charset="0" panose="02020603050405020304" pitchFamily="18" typeface="Times New Roman"/>
              </a:rPr>
              <a:t>If j &lt; </a:t>
            </a:r>
            <a:r>
              <a:rPr dirty="0" lang="en-US" sz="2400">
                <a:solidFill>
                  <a:schemeClr val="tx1"/>
                </a:solidFill>
                <a:latin charset="0" panose="02020603050405020304" pitchFamily="18" typeface="Times New Roman"/>
                <a:cs charset="0" panose="02020603050405020304" pitchFamily="18" typeface="Times New Roman"/>
              </a:rPr>
              <a:t>i, then apply substitution rule.</a:t>
            </a:r>
          </a:p>
          <a:p>
            <a:pPr algn="just" indent="0" marL="0">
              <a:lnSpc>
                <a:spcPct val="120000"/>
              </a:lnSpc>
              <a:buNone/>
            </a:pPr>
            <a:r>
              <a:rPr dirty="0" lang="en-US" sz="2800">
                <a:solidFill>
                  <a:schemeClr val="tx1"/>
                </a:solidFill>
                <a:latin charset="0" panose="02020603050405020304" pitchFamily="18" typeface="Times New Roman"/>
                <a:cs charset="0" panose="02020603050405020304" pitchFamily="18" typeface="Times New Roman"/>
              </a:rPr>
              <a:t>4.  For each production rule of form </a:t>
            </a:r>
            <a:r>
              <a:rPr b="0" dirty="0" i="0" lang="en-US" sz="2800">
                <a:solidFill>
                  <a:schemeClr val="tx1"/>
                </a:solidFill>
                <a:effectLst/>
                <a:latin charset="0" panose="02020603050405020304" pitchFamily="18" typeface="Times New Roman"/>
                <a:cs charset="0" panose="02020603050405020304" pitchFamily="18" typeface="Times New Roman"/>
              </a:rPr>
              <a:t>A</a:t>
            </a:r>
            <a:r>
              <a:rPr b="0" baseline="-25000" dirty="0" i="0" lang="en-US" sz="2800">
                <a:solidFill>
                  <a:schemeClr val="tx1"/>
                </a:solidFill>
                <a:effectLst/>
                <a:latin charset="0" panose="02020603050405020304" pitchFamily="18" typeface="Times New Roman"/>
                <a:cs charset="0" panose="02020603050405020304" pitchFamily="18" typeface="Times New Roman"/>
              </a:rPr>
              <a:t>i</a:t>
            </a:r>
            <a:r>
              <a:rPr b="0" dirty="0" i="0" lang="en-US" sz="2800">
                <a:solidFill>
                  <a:schemeClr val="tx1"/>
                </a:solidFill>
                <a:effectLst/>
                <a:latin charset="0" panose="02020603050405020304" pitchFamily="18" typeface="Times New Roman"/>
                <a:cs charset="0" panose="02020603050405020304" pitchFamily="18" typeface="Times New Roman"/>
              </a:rPr>
              <a:t> </a:t>
            </a:r>
            <a:r>
              <a:rPr altLang="en-IN" b="0" dirty="0" i="0" lang="en-IN" sz="2800">
                <a:solidFill>
                  <a:schemeClr val="tx1"/>
                </a:solidFill>
                <a:effectLst/>
                <a:latin charset="0" panose="02020603050405020304" pitchFamily="18" typeface="Times New Roman"/>
                <a:cs charset="0" panose="02020603050405020304" pitchFamily="18" typeface="Times New Roman"/>
              </a:rPr>
              <a:t>→ A</a:t>
            </a:r>
            <a:r>
              <a:rPr altLang="en-IN" b="0" baseline="-25000" dirty="0" i="0" lang="en-IN" sz="2800">
                <a:solidFill>
                  <a:schemeClr val="tx1"/>
                </a:solidFill>
                <a:effectLst/>
                <a:latin charset="0" panose="02020603050405020304" pitchFamily="18" typeface="Times New Roman"/>
                <a:cs charset="0" panose="02020603050405020304" pitchFamily="18" typeface="Times New Roman"/>
              </a:rPr>
              <a:t>j </a:t>
            </a:r>
            <a:r>
              <a:rPr altLang="en-IN" b="0" dirty="0" i="0" lang="en-IN" sz="2800">
                <a:solidFill>
                  <a:schemeClr val="tx1"/>
                </a:solidFill>
                <a:effectLst/>
                <a:latin charset="0" panose="02020603050405020304" pitchFamily="18" typeface="Times New Roman"/>
                <a:cs charset="0" panose="02020603050405020304" pitchFamily="18" typeface="Times New Roman"/>
              </a:rPr>
              <a:t>X</a:t>
            </a:r>
            <a:r>
              <a:rPr altLang="en-IN" dirty="0" lang="en-IN" sz="2800">
                <a:solidFill>
                  <a:schemeClr val="tx1"/>
                </a:solidFill>
                <a:latin charset="0" panose="02020603050405020304" pitchFamily="18" typeface="Times New Roman"/>
                <a:cs charset="0" panose="02020603050405020304" pitchFamily="18" typeface="Times New Roman"/>
              </a:rPr>
              <a:t>, where j &gt; i, apply the substitution rule if A</a:t>
            </a:r>
            <a:r>
              <a:rPr altLang="en-IN" baseline="-25000" dirty="0" lang="en-IN" sz="2800">
                <a:solidFill>
                  <a:schemeClr val="tx1"/>
                </a:solidFill>
                <a:latin charset="0" panose="02020603050405020304" pitchFamily="18" typeface="Times New Roman"/>
                <a:cs charset="0" panose="02020603050405020304" pitchFamily="18" typeface="Times New Roman"/>
              </a:rPr>
              <a:t>j</a:t>
            </a:r>
            <a:r>
              <a:rPr altLang="en-IN" dirty="0" lang="en-IN" sz="2800">
                <a:solidFill>
                  <a:schemeClr val="tx1"/>
                </a:solidFill>
                <a:latin charset="0" panose="02020603050405020304" pitchFamily="18" typeface="Times New Roman"/>
                <a:cs charset="0" panose="02020603050405020304" pitchFamily="18" typeface="Times New Roman"/>
              </a:rPr>
              <a:t> is in GNF, to bring A</a:t>
            </a:r>
            <a:r>
              <a:rPr altLang="en-IN" baseline="-25000" dirty="0" lang="en-IN" sz="2800">
                <a:solidFill>
                  <a:schemeClr val="tx1"/>
                </a:solidFill>
                <a:latin charset="0" panose="02020603050405020304" pitchFamily="18" typeface="Times New Roman"/>
                <a:cs charset="0" panose="02020603050405020304" pitchFamily="18" typeface="Times New Roman"/>
              </a:rPr>
              <a:t>i</a:t>
            </a:r>
            <a:r>
              <a:rPr altLang="en-IN" dirty="0" lang="en-IN" sz="2800">
                <a:solidFill>
                  <a:schemeClr val="tx1"/>
                </a:solidFill>
                <a:latin charset="0" panose="02020603050405020304" pitchFamily="18" typeface="Times New Roman"/>
                <a:cs charset="0" panose="02020603050405020304" pitchFamily="18" typeface="Times New Roman"/>
              </a:rPr>
              <a:t> to GNF.</a:t>
            </a:r>
          </a:p>
        </p:txBody>
      </p:sp>
    </p:spTree>
    <p:extLst>
      <p:ext uri="{BB962C8B-B14F-4D97-AF65-F5344CB8AC3E}">
        <p14:creationId xmlns:p14="http://schemas.microsoft.com/office/powerpoint/2010/main" val="410970096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
                                            <p:txEl>
                                              <p:pRg end="6" st="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D0729C3-46BE-8BF9-A5E7-AA458294604C}"/>
              </a:ext>
            </a:extLst>
          </p:cNvPr>
          <p:cNvSpPr/>
          <p:nvPr/>
        </p:nvSpPr>
        <p:spPr>
          <a:xfrm>
            <a:off x="160020" y="5146930"/>
            <a:ext cx="2062480" cy="669057"/>
          </a:xfrm>
          <a:prstGeom prst="ellipse">
            <a:avLst/>
          </a:prstGeom>
          <a:solidFill>
            <a:srgbClr val="FAA4A4"/>
          </a:solidFill>
        </p:spPr>
        <p:style>
          <a:lnRef idx="2">
            <a:schemeClr val="accent1">
              <a:shade val="15000"/>
            </a:schemeClr>
          </a:lnRef>
          <a:fillRef idx="1">
            <a:schemeClr val="accent1"/>
          </a:fillRef>
          <a:effectRef idx="0">
            <a:schemeClr val="accent1"/>
          </a:effectRef>
          <a:fontRef idx="minor">
            <a:schemeClr val="lt1"/>
          </a:fontRef>
        </p:style>
        <p:txBody>
          <a:bodyPr anchor="ctr" numCol="1" rtlCol="0"/>
          <a:lstStyle/>
          <a:p>
            <a:pPr algn="ctr"/>
            <a:endParaRPr altLang="en-IN" lang="en-IN"/>
          </a:p>
        </p:txBody>
      </p:sp>
      <p:sp>
        <p:nvSpPr>
          <p:cNvPr id="3" name="TextBox 2">
            <a:extLst>
              <a:ext uri="{FF2B5EF4-FFF2-40B4-BE49-F238E27FC236}">
                <a16:creationId xmlns:a16="http://schemas.microsoft.com/office/drawing/2014/main" id="{AA21F27E-109D-97F8-196D-62F8F40FF956}"/>
              </a:ext>
            </a:extLst>
          </p:cNvPr>
          <p:cNvSpPr txBox="1"/>
          <p:nvPr/>
        </p:nvSpPr>
        <p:spPr>
          <a:xfrm>
            <a:off x="355600" y="53757"/>
            <a:ext cx="11508740" cy="5847755"/>
          </a:xfrm>
          <a:prstGeom prst="rect">
            <a:avLst/>
          </a:prstGeom>
          <a:noFill/>
        </p:spPr>
        <p:txBody>
          <a:bodyPr numCol="1" wrap="square">
            <a:spAutoFit/>
          </a:bodyPr>
          <a:lstStyle/>
          <a:p>
            <a:pPr algn="just">
              <a:spcBef>
                <a:spcPts val="300"/>
              </a:spcBef>
            </a:pPr>
            <a:r>
              <a:rPr altLang="en-IN" b="1" dirty="0" i="0" lang="en-IN">
                <a:effectLst/>
                <a:latin charset="0" panose="02020603050405020304" pitchFamily="18" typeface="Times New Roman"/>
                <a:cs charset="0" panose="02020603050405020304" pitchFamily="18" typeface="Times New Roman"/>
              </a:rPr>
              <a:t>Example: Consider the given Grammar and convert it into GNF</a:t>
            </a:r>
          </a:p>
          <a:p>
            <a:pPr algn="just">
              <a:spcBef>
                <a:spcPts val="300"/>
              </a:spcBef>
            </a:pPr>
            <a:r>
              <a:rPr altLang="en-IN" dirty="0" lang="en-IN">
                <a:latin charset="0" panose="02020603050405020304" pitchFamily="18" typeface="Times New Roman"/>
                <a:cs charset="0" panose="02020603050405020304" pitchFamily="18" typeface="Times New Roman"/>
              </a:rPr>
              <a:t>S → XA | BB </a:t>
            </a:r>
          </a:p>
          <a:p>
            <a:pPr algn="just">
              <a:spcBef>
                <a:spcPts val="300"/>
              </a:spcBef>
            </a:pPr>
            <a:r>
              <a:rPr altLang="en-IN" dirty="0" lang="en-IN">
                <a:latin charset="0" panose="02020603050405020304" pitchFamily="18" typeface="Times New Roman"/>
                <a:cs charset="0" panose="02020603050405020304" pitchFamily="18" typeface="Times New Roman"/>
              </a:rPr>
              <a:t>B → b | SB </a:t>
            </a:r>
          </a:p>
          <a:p>
            <a:pPr algn="just">
              <a:spcBef>
                <a:spcPts val="300"/>
              </a:spcBef>
            </a:pPr>
            <a:r>
              <a:rPr altLang="en-IN" dirty="0" lang="en-IN">
                <a:latin charset="0" panose="02020603050405020304" pitchFamily="18" typeface="Times New Roman"/>
                <a:cs charset="0" panose="02020603050405020304" pitchFamily="18" typeface="Times New Roman"/>
              </a:rPr>
              <a:t>X → b </a:t>
            </a:r>
          </a:p>
          <a:p>
            <a:pPr algn="just">
              <a:spcBef>
                <a:spcPts val="300"/>
              </a:spcBef>
            </a:pPr>
            <a:r>
              <a:rPr altLang="en-IN" dirty="0" lang="en-IN">
                <a:latin charset="0" panose="02020603050405020304" pitchFamily="18" typeface="Times New Roman"/>
                <a:cs charset="0" panose="02020603050405020304" pitchFamily="18" typeface="Times New Roman"/>
              </a:rPr>
              <a:t>A → a</a:t>
            </a:r>
          </a:p>
          <a:p>
            <a:pPr algn="just">
              <a:spcBef>
                <a:spcPts val="300"/>
              </a:spcBef>
            </a:pPr>
            <a:r>
              <a:rPr altLang="en-IN" dirty="0" lang="en-IN">
                <a:latin charset="0" panose="02020603050405020304" pitchFamily="18" typeface="Times New Roman"/>
                <a:cs charset="0" panose="02020603050405020304" pitchFamily="18" typeface="Times New Roman"/>
              </a:rPr>
              <a:t>Solution: </a:t>
            </a:r>
            <a:r>
              <a:rPr altLang="pt-BR" b="0" dirty="0" i="0" lang="pt-BR">
                <a:effectLst/>
                <a:latin charset="0" panose="02020603050405020304" pitchFamily="18" typeface="Times New Roman"/>
                <a:cs charset="0" panose="02020603050405020304" pitchFamily="18" typeface="Times New Roman"/>
              </a:rPr>
              <a:t>Step 1: there is no null production, unit production and useless production. And grammar is already in CNF.</a:t>
            </a:r>
          </a:p>
          <a:p>
            <a:pPr algn="just">
              <a:spcBef>
                <a:spcPts val="300"/>
              </a:spcBef>
            </a:pPr>
            <a:r>
              <a:rPr altLang="pt-BR" dirty="0" lang="pt-BR">
                <a:latin charset="0" panose="02020603050405020304" pitchFamily="18" typeface="Times New Roman"/>
                <a:cs charset="0" panose="02020603050405020304" pitchFamily="18" typeface="Times New Roman"/>
              </a:rPr>
              <a:t>Step 2: </a:t>
            </a:r>
            <a:r>
              <a:rPr b="0" dirty="0" i="0" lang="en-US">
                <a:effectLst/>
                <a:latin charset="0" panose="02020603050405020304" pitchFamily="18" typeface="Times New Roman"/>
                <a:cs charset="0" panose="02020603050405020304" pitchFamily="18" typeface="Times New Roman"/>
              </a:rPr>
              <a:t>For converting a CNF to GNF first rename the non terminal symbols to A</a:t>
            </a:r>
            <a:r>
              <a:rPr b="0" baseline="-25000" dirty="0" i="0" lang="en-US">
                <a:effectLst/>
                <a:latin charset="0" panose="02020603050405020304" pitchFamily="18" typeface="Times New Roman"/>
                <a:cs charset="0" panose="02020603050405020304" pitchFamily="18" typeface="Times New Roman"/>
              </a:rPr>
              <a:t>1</a:t>
            </a: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2</a:t>
            </a:r>
            <a:r>
              <a:rPr b="0" dirty="0" i="0" lang="en-US">
                <a:effectLst/>
                <a:latin charset="0" panose="02020603050405020304" pitchFamily="18" typeface="Times New Roman"/>
                <a:cs charset="0" panose="02020603050405020304" pitchFamily="18" typeface="Times New Roman"/>
              </a:rPr>
              <a:t> till A</a:t>
            </a:r>
            <a:r>
              <a:rPr b="0" baseline="-25000" dirty="0" i="0" lang="en-US">
                <a:effectLst/>
                <a:latin charset="0" panose="02020603050405020304" pitchFamily="18" typeface="Times New Roman"/>
                <a:cs charset="0" panose="02020603050405020304" pitchFamily="18" typeface="Times New Roman"/>
              </a:rPr>
              <a:t>N </a:t>
            </a:r>
            <a:r>
              <a:rPr b="0" dirty="0" i="0" lang="en-US">
                <a:effectLst/>
                <a:latin charset="0" panose="02020603050405020304" pitchFamily="18" typeface="Times New Roman"/>
                <a:cs charset="0" panose="02020603050405020304" pitchFamily="18" typeface="Times New Roman"/>
              </a:rPr>
              <a:t>in same sequence as they are used. </a:t>
            </a:r>
          </a:p>
          <a:p>
            <a:pPr algn="just">
              <a:spcBef>
                <a:spcPts val="300"/>
              </a:spcBef>
            </a:pPr>
            <a:endParaRPr b="0" dirty="0" i="0" lang="en-US" sz="700">
              <a:effectLst/>
              <a:latin charset="0" panose="02020603050405020304" pitchFamily="18" typeface="Times New Roman"/>
              <a:cs charset="0" panose="02020603050405020304" pitchFamily="18" typeface="Times New Roman"/>
            </a:endParaRPr>
          </a:p>
          <a:p>
            <a:pPr algn="just">
              <a:spcBef>
                <a:spcPts val="300"/>
              </a:spcBef>
            </a:pPr>
            <a:r>
              <a:rPr altLang="pt-BR" b="0" dirty="0" i="0" lang="pt-BR">
                <a:effectLst/>
                <a:latin charset="0" panose="02020603050405020304" pitchFamily="18" typeface="Times New Roman"/>
                <a:cs charset="0" panose="02020603050405020304" pitchFamily="18" typeface="Times New Roman"/>
              </a:rPr>
              <a:t>A</a:t>
            </a:r>
            <a:r>
              <a:rPr altLang="pt-BR" b="0" baseline="-25000" dirty="0" i="0" lang="pt-BR">
                <a:effectLst/>
                <a:latin charset="0" panose="02020603050405020304" pitchFamily="18" typeface="Times New Roman"/>
                <a:cs charset="0" panose="02020603050405020304" pitchFamily="18" typeface="Times New Roman"/>
              </a:rPr>
              <a:t>1</a:t>
            </a:r>
            <a:r>
              <a:rPr altLang="pt-BR" b="0" dirty="0" i="0" lang="pt-BR">
                <a:effectLst/>
                <a:latin charset="0" panose="02020603050405020304" pitchFamily="18" typeface="Times New Roman"/>
                <a:cs charset="0" panose="02020603050405020304" pitchFamily="18" typeface="Times New Roman"/>
              </a:rPr>
              <a:t> = S</a:t>
            </a:r>
          </a:p>
          <a:p>
            <a:pPr algn="just">
              <a:spcBef>
                <a:spcPts val="300"/>
              </a:spcBef>
            </a:pPr>
            <a:r>
              <a:rPr altLang="pt-BR" b="0" dirty="0" i="0" lang="pt-BR">
                <a:effectLst/>
                <a:latin charset="0" panose="02020603050405020304" pitchFamily="18" typeface="Times New Roman"/>
                <a:cs charset="0" panose="02020603050405020304" pitchFamily="18" typeface="Times New Roman"/>
              </a:rPr>
              <a:t>A</a:t>
            </a:r>
            <a:r>
              <a:rPr altLang="pt-BR" b="0" baseline="-25000" dirty="0" i="0" lang="pt-BR">
                <a:effectLst/>
                <a:latin charset="0" panose="02020603050405020304" pitchFamily="18" typeface="Times New Roman"/>
                <a:cs charset="0" panose="02020603050405020304" pitchFamily="18" typeface="Times New Roman"/>
              </a:rPr>
              <a:t>2</a:t>
            </a:r>
            <a:r>
              <a:rPr altLang="pt-BR" b="0" dirty="0" i="0" lang="pt-BR">
                <a:effectLst/>
                <a:latin charset="0" panose="02020603050405020304" pitchFamily="18" typeface="Times New Roman"/>
                <a:cs charset="0" panose="02020603050405020304" pitchFamily="18" typeface="Times New Roman"/>
              </a:rPr>
              <a:t> = X</a:t>
            </a:r>
          </a:p>
          <a:p>
            <a:pPr algn="just">
              <a:spcBef>
                <a:spcPts val="300"/>
              </a:spcBef>
            </a:pPr>
            <a:r>
              <a:rPr altLang="pt-BR" b="0" dirty="0" i="0" lang="pt-BR">
                <a:effectLst/>
                <a:latin charset="0" panose="02020603050405020304" pitchFamily="18" typeface="Times New Roman"/>
                <a:cs charset="0" panose="02020603050405020304" pitchFamily="18" typeface="Times New Roman"/>
              </a:rPr>
              <a:t>A</a:t>
            </a:r>
            <a:r>
              <a:rPr altLang="pt-BR" b="0" baseline="-25000" dirty="0" i="0" lang="pt-BR">
                <a:effectLst/>
                <a:latin charset="0" panose="02020603050405020304" pitchFamily="18" typeface="Times New Roman"/>
                <a:cs charset="0" panose="02020603050405020304" pitchFamily="18" typeface="Times New Roman"/>
              </a:rPr>
              <a:t>3</a:t>
            </a:r>
            <a:r>
              <a:rPr altLang="pt-BR" b="0" dirty="0" i="0" lang="pt-BR">
                <a:effectLst/>
                <a:latin charset="0" panose="02020603050405020304" pitchFamily="18" typeface="Times New Roman"/>
                <a:cs charset="0" panose="02020603050405020304" pitchFamily="18" typeface="Times New Roman"/>
              </a:rPr>
              <a:t> = A</a:t>
            </a:r>
          </a:p>
          <a:p>
            <a:pPr algn="just">
              <a:spcBef>
                <a:spcPts val="300"/>
              </a:spcBef>
            </a:pPr>
            <a:r>
              <a:rPr altLang="pt-BR" b="0" dirty="0" i="0" lang="pt-BR">
                <a:effectLst/>
                <a:latin charset="0" panose="02020603050405020304" pitchFamily="18" typeface="Times New Roman"/>
                <a:cs charset="0" panose="02020603050405020304" pitchFamily="18" typeface="Times New Roman"/>
              </a:rPr>
              <a:t>A</a:t>
            </a:r>
            <a:r>
              <a:rPr altLang="pt-BR" b="0" baseline="-25000" dirty="0" i="0" lang="pt-BR">
                <a:effectLst/>
                <a:latin charset="0" panose="02020603050405020304" pitchFamily="18" typeface="Times New Roman"/>
                <a:cs charset="0" panose="02020603050405020304" pitchFamily="18" typeface="Times New Roman"/>
              </a:rPr>
              <a:t>4</a:t>
            </a:r>
            <a:r>
              <a:rPr altLang="pt-BR" b="0" dirty="0" i="0" lang="pt-BR">
                <a:effectLst/>
                <a:latin charset="0" panose="02020603050405020304" pitchFamily="18" typeface="Times New Roman"/>
                <a:cs charset="0" panose="02020603050405020304" pitchFamily="18" typeface="Times New Roman"/>
              </a:rPr>
              <a:t> = B</a:t>
            </a:r>
          </a:p>
          <a:p>
            <a:pPr algn="just">
              <a:spcBef>
                <a:spcPts val="300"/>
              </a:spcBef>
            </a:pPr>
            <a:r>
              <a:rPr b="1" dirty="0" i="0" lang="en-US">
                <a:effectLst/>
                <a:latin charset="0" panose="02020603050405020304" pitchFamily="18" typeface="Times New Roman"/>
                <a:cs charset="0" panose="02020603050405020304" pitchFamily="18" typeface="Times New Roman"/>
              </a:rPr>
              <a:t>Therefore, now the new production rule is, </a:t>
            </a:r>
          </a:p>
          <a:p>
            <a:pPr algn="just">
              <a:spcBef>
                <a:spcPts val="300"/>
              </a:spcBef>
            </a:pP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1</a:t>
            </a:r>
            <a:r>
              <a:rPr b="0" dirty="0" i="0" lang="en-US">
                <a:effectLst/>
                <a:latin charset="0" panose="02020603050405020304" pitchFamily="18" typeface="Times New Roman"/>
                <a:cs charset="0" panose="02020603050405020304" pitchFamily="18" typeface="Times New Roman"/>
              </a:rPr>
              <a:t> → A</a:t>
            </a:r>
            <a:r>
              <a:rPr b="0" baseline="-25000" dirty="0" i="0" lang="en-US">
                <a:effectLst/>
                <a:latin charset="0" panose="02020603050405020304" pitchFamily="18" typeface="Times New Roman"/>
                <a:cs charset="0" panose="02020603050405020304" pitchFamily="18" typeface="Times New Roman"/>
              </a:rPr>
              <a:t>2</a:t>
            </a: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3</a:t>
            </a:r>
            <a:r>
              <a:rPr b="0" dirty="0" i="0" lang="en-US">
                <a:effectLst/>
                <a:latin charset="0" panose="02020603050405020304" pitchFamily="18" typeface="Times New Roman"/>
                <a:cs charset="0" panose="02020603050405020304" pitchFamily="18" typeface="Times New Roman"/>
              </a:rPr>
              <a:t> | A</a:t>
            </a:r>
            <a:r>
              <a:rPr b="0" baseline="-25000" dirty="0" i="0" lang="en-US">
                <a:effectLst/>
                <a:latin charset="0" panose="02020603050405020304" pitchFamily="18" typeface="Times New Roman"/>
                <a:cs charset="0" panose="02020603050405020304" pitchFamily="18" typeface="Times New Roman"/>
              </a:rPr>
              <a:t>4</a:t>
            </a: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4</a:t>
            </a:r>
          </a:p>
          <a:p>
            <a:pPr algn="just">
              <a:spcBef>
                <a:spcPts val="300"/>
              </a:spcBef>
            </a:pP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2</a:t>
            </a:r>
            <a:r>
              <a:rPr b="0" dirty="0" i="0" lang="en-US">
                <a:effectLst/>
                <a:latin charset="0" panose="02020603050405020304" pitchFamily="18" typeface="Times New Roman"/>
                <a:cs charset="0" panose="02020603050405020304" pitchFamily="18" typeface="Times New Roman"/>
              </a:rPr>
              <a:t> → b</a:t>
            </a:r>
          </a:p>
          <a:p>
            <a:pPr algn="just">
              <a:spcBef>
                <a:spcPts val="300"/>
              </a:spcBef>
            </a:pP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3</a:t>
            </a:r>
            <a:r>
              <a:rPr b="0" dirty="0" i="0" lang="en-US">
                <a:effectLst/>
                <a:latin charset="0" panose="02020603050405020304" pitchFamily="18" typeface="Times New Roman"/>
                <a:cs charset="0" panose="02020603050405020304" pitchFamily="18" typeface="Times New Roman"/>
              </a:rPr>
              <a:t> → a</a:t>
            </a:r>
          </a:p>
          <a:p>
            <a:pPr algn="just">
              <a:spcBef>
                <a:spcPts val="300"/>
              </a:spcBef>
            </a:pPr>
            <a:endParaRPr b="0" dirty="0" i="0" lang="en-US" sz="700">
              <a:effectLst/>
              <a:latin charset="0" panose="02020603050405020304" pitchFamily="18" typeface="Times New Roman"/>
              <a:cs charset="0" panose="02020603050405020304" pitchFamily="18" typeface="Times New Roman"/>
            </a:endParaRPr>
          </a:p>
          <a:p>
            <a:pPr algn="just">
              <a:spcBef>
                <a:spcPts val="300"/>
              </a:spcBef>
            </a:pP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4</a:t>
            </a:r>
            <a:r>
              <a:rPr b="0" dirty="0" i="0" lang="en-US">
                <a:effectLst/>
                <a:latin charset="0" panose="02020603050405020304" pitchFamily="18" typeface="Times New Roman"/>
                <a:cs charset="0" panose="02020603050405020304" pitchFamily="18" typeface="Times New Roman"/>
              </a:rPr>
              <a:t> → b | A</a:t>
            </a:r>
            <a:r>
              <a:rPr b="0" baseline="-25000" dirty="0" i="0" lang="en-US">
                <a:effectLst/>
                <a:latin charset="0" panose="02020603050405020304" pitchFamily="18" typeface="Times New Roman"/>
                <a:cs charset="0" panose="02020603050405020304" pitchFamily="18" typeface="Times New Roman"/>
              </a:rPr>
              <a:t>1</a:t>
            </a:r>
            <a:r>
              <a:rPr b="0" dirty="0" i="0" lang="en-US">
                <a:effectLst/>
                <a:latin charset="0" panose="02020603050405020304" pitchFamily="18" typeface="Times New Roman"/>
                <a:cs charset="0" panose="02020603050405020304" pitchFamily="18" typeface="Times New Roman"/>
              </a:rPr>
              <a:t>A</a:t>
            </a:r>
            <a:r>
              <a:rPr b="0" baseline="-25000" dirty="0" i="0" lang="en-US">
                <a:effectLst/>
                <a:latin charset="0" panose="02020603050405020304" pitchFamily="18" typeface="Times New Roman"/>
                <a:cs charset="0" panose="02020603050405020304" pitchFamily="18" typeface="Times New Roman"/>
              </a:rPr>
              <a:t>4</a:t>
            </a:r>
            <a:endParaRPr altLang="pt-BR" b="0" baseline="-25000" dirty="0" i="0" lang="pt-BR">
              <a:effectLst/>
              <a:latin charset="0" panose="02020603050405020304" pitchFamily="18" typeface="Times New Roman"/>
              <a:cs charset="0" panose="02020603050405020304" pitchFamily="18" typeface="Times New Roman"/>
            </a:endParaRPr>
          </a:p>
        </p:txBody>
      </p:sp>
      <p:sp>
        <p:nvSpPr>
          <p:cNvPr id="8" name="TextBox 7">
            <a:extLst>
              <a:ext uri="{FF2B5EF4-FFF2-40B4-BE49-F238E27FC236}">
                <a16:creationId xmlns:a16="http://schemas.microsoft.com/office/drawing/2014/main" id="{F0EDDBDE-68F9-9D0E-A413-202DF8F9C3DA}"/>
              </a:ext>
            </a:extLst>
          </p:cNvPr>
          <p:cNvSpPr txBox="1"/>
          <p:nvPr/>
        </p:nvSpPr>
        <p:spPr>
          <a:xfrm>
            <a:off x="4469131" y="4742795"/>
            <a:ext cx="7395209" cy="1477328"/>
          </a:xfrm>
          <a:prstGeom prst="rect">
            <a:avLst/>
          </a:prstGeom>
          <a:ln>
            <a:prstDash val="sysDash"/>
          </a:ln>
        </p:spPr>
        <p:style>
          <a:lnRef idx="2">
            <a:schemeClr val="dk1"/>
          </a:lnRef>
          <a:fillRef idx="1">
            <a:schemeClr val="lt1"/>
          </a:fillRef>
          <a:effectRef idx="0">
            <a:schemeClr val="dk1"/>
          </a:effectRef>
          <a:fontRef idx="minor">
            <a:schemeClr val="dk1"/>
          </a:fontRef>
        </p:style>
        <p:txBody>
          <a:bodyPr numCol="1" wrap="square">
            <a:spAutoFit/>
          </a:bodyPr>
          <a:lstStyle/>
          <a:p>
            <a:pPr algn="just">
              <a:spcBef>
                <a:spcPts val="300"/>
              </a:spcBef>
            </a:pPr>
            <a:r>
              <a:rPr b="0" dirty="0" i="1" lang="en-US">
                <a:solidFill>
                  <a:srgbClr val="273239"/>
                </a:solidFill>
                <a:effectLst/>
                <a:highlight>
                  <a:srgbClr val="00FFFF"/>
                </a:highlight>
                <a:latin charset="0" panose="02020603050405020304" pitchFamily="18" typeface="Times New Roman"/>
                <a:cs charset="0" panose="02020603050405020304" pitchFamily="18" typeface="Times New Roman"/>
              </a:rPr>
              <a:t>Now, check for every production A</a:t>
            </a:r>
            <a:r>
              <a:rPr b="0" baseline="-25000" dirty="0" i="1" lang="en-US">
                <a:solidFill>
                  <a:srgbClr val="273239"/>
                </a:solidFill>
                <a:effectLst/>
                <a:highlight>
                  <a:srgbClr val="00FFFF"/>
                </a:highlight>
                <a:latin charset="0" panose="02020603050405020304" pitchFamily="18" typeface="Times New Roman"/>
                <a:cs charset="0" panose="02020603050405020304" pitchFamily="18" typeface="Times New Roman"/>
              </a:rPr>
              <a:t>i</a:t>
            </a:r>
            <a:r>
              <a:rPr b="0" dirty="0" i="1" lang="en-US">
                <a:solidFill>
                  <a:srgbClr val="273239"/>
                </a:solidFill>
                <a:effectLst/>
                <a:highlight>
                  <a:srgbClr val="00FFFF"/>
                </a:highlight>
                <a:latin charset="0" panose="02020603050405020304" pitchFamily="18" typeface="Times New Roman"/>
                <a:cs charset="0" panose="02020603050405020304" pitchFamily="18" typeface="Times New Roman"/>
              </a:rPr>
              <a:t> → A</a:t>
            </a:r>
            <a:r>
              <a:rPr b="0" baseline="-25000" dirty="0" i="1" lang="en-US">
                <a:solidFill>
                  <a:srgbClr val="273239"/>
                </a:solidFill>
                <a:effectLst/>
                <a:highlight>
                  <a:srgbClr val="00FFFF"/>
                </a:highlight>
                <a:latin charset="0" panose="02020603050405020304" pitchFamily="18" typeface="Times New Roman"/>
                <a:cs charset="0" panose="02020603050405020304" pitchFamily="18" typeface="Times New Roman"/>
              </a:rPr>
              <a:t>j </a:t>
            </a:r>
            <a:r>
              <a:rPr b="0" dirty="0" i="1" lang="en-US">
                <a:solidFill>
                  <a:srgbClr val="273239"/>
                </a:solidFill>
                <a:effectLst/>
                <a:highlight>
                  <a:srgbClr val="00FFFF"/>
                </a:highlight>
                <a:latin charset="0" panose="02020603050405020304" pitchFamily="18" typeface="Times New Roman"/>
                <a:cs charset="0" panose="02020603050405020304" pitchFamily="18" typeface="Times New Roman"/>
              </a:rPr>
              <a:t>X, where  X can be any number of terminal symbols. If i&lt;j in the production then it is good to go to the next step but if i&gt;j then change the production by replacing it with that terminal symbol’s production. if i=j then it is a left recursion and you need to remove left recursion.</a:t>
            </a:r>
            <a:endParaRPr altLang="en-IN" dirty="0" i="1" lang="en-IN">
              <a:highlight>
                <a:srgbClr val="00FFFF"/>
              </a:highlight>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252094865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3">
                                            <p:txEl>
                                              <p:pRg end="8" st="8"/>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
                                            <p:txEl>
                                              <p:pRg end="9" st="9"/>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3">
                                            <p:txEl>
                                              <p:pRg end="10" st="10"/>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3">
                                            <p:txEl>
                                              <p:pRg end="11" st="11"/>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3">
                                            <p:txEl>
                                              <p:pRg end="12" st="12"/>
                                            </p:txEl>
                                          </p:spTgt>
                                        </p:tgtEl>
                                        <p:attrNameLst>
                                          <p:attrName>style.visibility</p:attrName>
                                        </p:attrNameLst>
                                      </p:cBhvr>
                                      <p:to>
                                        <p:strVal val="visible"/>
                                      </p:to>
                                    </p:set>
                                  </p:childTnLst>
                                </p:cTn>
                              </p:par>
                              <p:par>
                                <p:cTn fill="hold" id="35" nodeType="withEffect" presetClass="entr" presetID="1" presetSubtype="0">
                                  <p:stCondLst>
                                    <p:cond delay="0"/>
                                  </p:stCondLst>
                                  <p:childTnLst>
                                    <p:set>
                                      <p:cBhvr>
                                        <p:cTn dur="1" fill="hold" id="36">
                                          <p:stCondLst>
                                            <p:cond delay="0"/>
                                          </p:stCondLst>
                                        </p:cTn>
                                        <p:tgtEl>
                                          <p:spTgt spid="3">
                                            <p:txEl>
                                              <p:pRg end="13" st="13"/>
                                            </p:txEl>
                                          </p:spTgt>
                                        </p:tgtEl>
                                        <p:attrNameLst>
                                          <p:attrName>style.visibility</p:attrName>
                                        </p:attrNameLst>
                                      </p:cBhvr>
                                      <p:to>
                                        <p:strVal val="visible"/>
                                      </p:to>
                                    </p:set>
                                  </p:childTnLst>
                                </p:cTn>
                              </p:par>
                              <p:par>
                                <p:cTn fill="hold" id="37" nodeType="withEffect" presetClass="entr" presetID="1" presetSubtype="0">
                                  <p:stCondLst>
                                    <p:cond delay="0"/>
                                  </p:stCondLst>
                                  <p:childTnLst>
                                    <p:set>
                                      <p:cBhvr>
                                        <p:cTn dur="1" fill="hold" id="38">
                                          <p:stCondLst>
                                            <p:cond delay="0"/>
                                          </p:stCondLst>
                                        </p:cTn>
                                        <p:tgtEl>
                                          <p:spTgt spid="3">
                                            <p:txEl>
                                              <p:pRg end="14" st="14"/>
                                            </p:txEl>
                                          </p:spTgt>
                                        </p:tgtEl>
                                        <p:attrNameLst>
                                          <p:attrName>style.visibility</p:attrName>
                                        </p:attrNameLst>
                                      </p:cBhvr>
                                      <p:to>
                                        <p:strVal val="visible"/>
                                      </p:to>
                                    </p:set>
                                  </p:childTnLst>
                                </p:cTn>
                              </p:par>
                              <p:par>
                                <p:cTn fill="hold" id="39" nodeType="withEffect" presetClass="entr" presetID="1" presetSubtype="0">
                                  <p:stCondLst>
                                    <p:cond delay="0"/>
                                  </p:stCondLst>
                                  <p:childTnLst>
                                    <p:set>
                                      <p:cBhvr>
                                        <p:cTn dur="1" fill="hold" id="40">
                                          <p:stCondLst>
                                            <p:cond delay="0"/>
                                          </p:stCondLst>
                                        </p:cTn>
                                        <p:tgtEl>
                                          <p:spTgt spid="3">
                                            <p:txEl>
                                              <p:pRg end="15" st="15"/>
                                            </p:txEl>
                                          </p:spTgt>
                                        </p:tgtEl>
                                        <p:attrNameLst>
                                          <p:attrName>style.visibility</p:attrName>
                                        </p:attrNameLst>
                                      </p:cBhvr>
                                      <p:to>
                                        <p:strVal val="visible"/>
                                      </p:to>
                                    </p:set>
                                  </p:childTnLst>
                                </p:cTn>
                              </p:par>
                              <p:par>
                                <p:cTn fill="hold" id="41" nodeType="withEffect" presetClass="entr" presetID="1" presetSubtype="0">
                                  <p:stCondLst>
                                    <p:cond delay="0"/>
                                  </p:stCondLst>
                                  <p:childTnLst>
                                    <p:set>
                                      <p:cBhvr>
                                        <p:cTn dur="1" fill="hold" id="42">
                                          <p:stCondLst>
                                            <p:cond delay="0"/>
                                          </p:stCondLst>
                                        </p:cTn>
                                        <p:tgtEl>
                                          <p:spTgt spid="3">
                                            <p:txEl>
                                              <p:pRg end="17" st="17"/>
                                            </p:txEl>
                                          </p:spTgt>
                                        </p:tgtEl>
                                        <p:attrNameLst>
                                          <p:attrName>style.visibility</p:attrName>
                                        </p:attrNameLst>
                                      </p:cBhvr>
                                      <p:to>
                                        <p:strVal val="visible"/>
                                      </p:to>
                                    </p:set>
                                  </p:childTnLst>
                                </p:cTn>
                              </p:par>
                            </p:childTnLst>
                          </p:cTn>
                        </p:par>
                      </p:childTnLst>
                    </p:cTn>
                  </p:par>
                  <p:par>
                    <p:cTn fill="hold" id="43">
                      <p:stCondLst>
                        <p:cond delay="indefinite"/>
                      </p:stCondLst>
                      <p:childTnLst>
                        <p:par>
                          <p:cTn fill="hold" id="44">
                            <p:stCondLst>
                              <p:cond delay="0"/>
                            </p:stCondLst>
                            <p:childTnLst>
                              <p:par>
                                <p:cTn fill="hold" grpId="0" id="45" nodeType="clickEffect" presetClass="entr" presetID="1" presetSubtype="0">
                                  <p:stCondLst>
                                    <p:cond delay="0"/>
                                  </p:stCondLst>
                                  <p:childTnLst>
                                    <p:set>
                                      <p:cBhvr>
                                        <p:cTn dur="1" fill="hold" id="46">
                                          <p:stCondLst>
                                            <p:cond delay="0"/>
                                          </p:stCondLst>
                                        </p:cTn>
                                        <p:tgtEl>
                                          <p:spTgt spid="8"/>
                                        </p:tgtEl>
                                        <p:attrNameLst>
                                          <p:attrName>style.visibility</p:attrName>
                                        </p:attrNameLst>
                                      </p:cBhvr>
                                      <p:to>
                                        <p:strVal val="visible"/>
                                      </p:to>
                                    </p:set>
                                  </p:childTnLst>
                                </p:cTn>
                              </p:par>
                            </p:childTnLst>
                          </p:cTn>
                        </p:par>
                      </p:childTnLst>
                    </p:cTn>
                  </p:par>
                  <p:par>
                    <p:cTn fill="hold" id="47">
                      <p:stCondLst>
                        <p:cond delay="indefinite"/>
                      </p:stCondLst>
                      <p:childTnLst>
                        <p:par>
                          <p:cTn fill="hold" id="48">
                            <p:stCondLst>
                              <p:cond delay="0"/>
                            </p:stCondLst>
                            <p:childTnLst>
                              <p:par>
                                <p:cTn fill="hold" grpId="0" id="49" nodeType="clickEffect" presetClass="entr" presetID="1" presetSubtype="0">
                                  <p:stCondLst>
                                    <p:cond delay="0"/>
                                  </p:stCondLst>
                                  <p:childTnLst>
                                    <p:set>
                                      <p:cBhvr>
                                        <p:cTn dur="1" fill="hold" id="50">
                                          <p:stCondLst>
                                            <p:cond delay="0"/>
                                          </p:stCondLst>
                                        </p:cTn>
                                        <p:tgtEl>
                                          <p:spTgt spid="10"/>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10"/>
      <p:bldP animBg="1" grpId="0" spid="8"/>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A65E84-9A4F-9B00-A446-A13D5CC7C18E}"/>
              </a:ext>
            </a:extLst>
          </p:cNvPr>
          <p:cNvSpPr txBox="1"/>
          <p:nvPr/>
        </p:nvSpPr>
        <p:spPr>
          <a:xfrm>
            <a:off x="225742" y="181094"/>
            <a:ext cx="9981247" cy="6422271"/>
          </a:xfrm>
          <a:prstGeom prst="rect">
            <a:avLst/>
          </a:prstGeom>
          <a:noFill/>
        </p:spPr>
        <p:txBody>
          <a:bodyPr numCol="1" wrap="square">
            <a:spAutoFit/>
          </a:bodyPr>
          <a:lstStyle/>
          <a:p>
            <a:pPr>
              <a:spcBef>
                <a:spcPts val="200"/>
              </a:spcBef>
            </a:pPr>
            <a:r>
              <a:rPr b="1" dirty="0" lang="en-US">
                <a:latin charset="0" panose="02020603050405020304" pitchFamily="18" typeface="Times New Roman"/>
                <a:cs charset="0" panose="02020603050405020304" pitchFamily="18" typeface="Times New Roman"/>
              </a:rPr>
              <a:t>So, </a:t>
            </a:r>
            <a:r>
              <a:rPr b="1" lang="en-US">
                <a:latin charset="0" panose="02020603050405020304" pitchFamily="18" typeface="Times New Roman"/>
                <a:cs charset="0" panose="02020603050405020304" pitchFamily="18" typeface="Times New Roman"/>
              </a:rPr>
              <a:t>substitute </a:t>
            </a:r>
            <a:r>
              <a:rPr b="1" i="0" lang="en-US">
                <a:effectLst/>
                <a:latin charset="0" panose="02020603050405020304" pitchFamily="18" typeface="Times New Roman"/>
                <a:cs charset="0" panose="02020603050405020304" pitchFamily="18" typeface="Times New Roman"/>
              </a:rPr>
              <a:t>A</a:t>
            </a:r>
            <a:r>
              <a:rPr b="1" baseline="-25000" i="0" lang="en-US">
                <a:effectLst/>
                <a:latin charset="0" panose="02020603050405020304" pitchFamily="18" typeface="Times New Roman"/>
                <a:cs charset="0" panose="02020603050405020304" pitchFamily="18" typeface="Times New Roman"/>
              </a:rPr>
              <a:t>1</a:t>
            </a:r>
            <a:r>
              <a:rPr b="1" lang="en-US">
                <a:latin charset="0" panose="02020603050405020304" pitchFamily="18" typeface="Times New Roman"/>
                <a:cs charset="0" panose="02020603050405020304" pitchFamily="18" typeface="Times New Roman"/>
              </a:rPr>
              <a:t>’</a:t>
            </a:r>
            <a:r>
              <a:rPr b="1" i="0" lang="en-US">
                <a:effectLst/>
                <a:latin charset="0" panose="02020603050405020304" pitchFamily="18" typeface="Times New Roman"/>
                <a:cs charset="0" panose="02020603050405020304" pitchFamily="18" typeface="Times New Roman"/>
              </a:rPr>
              <a:t>s </a:t>
            </a:r>
            <a:r>
              <a:rPr b="1" dirty="0" i="0" lang="en-US">
                <a:effectLst/>
                <a:latin charset="0" panose="02020603050405020304" pitchFamily="18" typeface="Times New Roman"/>
                <a:cs charset="0" panose="02020603050405020304" pitchFamily="18" typeface="Times New Roman"/>
              </a:rPr>
              <a:t>production rule.</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1</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 → b</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 → a</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 → b | 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p>
          <a:p>
            <a:pPr>
              <a:spcBef>
                <a:spcPts val="200"/>
              </a:spcBef>
            </a:pPr>
            <a:r>
              <a:rPr altLang="pt-BR" b="1" dirty="0" lang="pt-BR">
                <a:latin charset="0" panose="02020603050405020304" pitchFamily="18" typeface="Times New Roman"/>
                <a:cs charset="0" panose="02020603050405020304" pitchFamily="18" typeface="Times New Roman"/>
              </a:rPr>
              <a:t>Subtitute A</a:t>
            </a:r>
            <a:r>
              <a:rPr altLang="pt-BR" b="1" baseline="-25000" dirty="0" lang="pt-BR">
                <a:latin charset="0" panose="02020603050405020304" pitchFamily="18" typeface="Times New Roman"/>
                <a:cs charset="0" panose="02020603050405020304" pitchFamily="18" typeface="Times New Roman"/>
              </a:rPr>
              <a:t>2</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1</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 → b</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 → a</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 → b | bA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p>
          <a:p>
            <a:pPr>
              <a:spcBef>
                <a:spcPts val="200"/>
              </a:spcBef>
            </a:pPr>
            <a:r>
              <a:rPr b="1" dirty="0" i="0" lang="en-US">
                <a:effectLst/>
                <a:latin charset="0" panose="02020603050405020304" pitchFamily="18" typeface="Times New Roman"/>
                <a:cs charset="0" panose="02020603050405020304" pitchFamily="18" typeface="Times New Roman"/>
              </a:rPr>
              <a:t>Here A</a:t>
            </a:r>
            <a:r>
              <a:rPr b="1" baseline="-25000" dirty="0" i="0" lang="en-US">
                <a:effectLst/>
                <a:latin charset="0" panose="02020603050405020304" pitchFamily="18" typeface="Times New Roman"/>
                <a:cs charset="0" panose="02020603050405020304" pitchFamily="18" typeface="Times New Roman"/>
              </a:rPr>
              <a:t>4</a:t>
            </a:r>
            <a:r>
              <a:rPr b="1" dirty="0" i="0" lang="en-US">
                <a:effectLst/>
                <a:latin charset="0" panose="02020603050405020304" pitchFamily="18" typeface="Times New Roman"/>
                <a:cs charset="0" panose="02020603050405020304" pitchFamily="18" typeface="Times New Roman"/>
              </a:rPr>
              <a:t>A</a:t>
            </a:r>
            <a:r>
              <a:rPr b="1" baseline="-25000" dirty="0" i="0" lang="en-US">
                <a:effectLst/>
                <a:latin charset="0" panose="02020603050405020304" pitchFamily="18" typeface="Times New Roman"/>
                <a:cs charset="0" panose="02020603050405020304" pitchFamily="18" typeface="Times New Roman"/>
              </a:rPr>
              <a:t>4</a:t>
            </a:r>
            <a:r>
              <a:rPr b="1" dirty="0" i="0" lang="en-US">
                <a:effectLst/>
                <a:latin charset="0" panose="02020603050405020304" pitchFamily="18" typeface="Times New Roman"/>
                <a:cs charset="0" panose="02020603050405020304" pitchFamily="18" typeface="Times New Roman"/>
              </a:rPr>
              <a:t>A</a:t>
            </a:r>
            <a:r>
              <a:rPr b="1" baseline="-25000" dirty="0" i="0" lang="en-US">
                <a:effectLst/>
                <a:latin charset="0" panose="02020603050405020304" pitchFamily="18" typeface="Times New Roman"/>
                <a:cs charset="0" panose="02020603050405020304" pitchFamily="18" typeface="Times New Roman"/>
              </a:rPr>
              <a:t>4</a:t>
            </a:r>
            <a:r>
              <a:rPr b="1" dirty="0" i="0" lang="en-US">
                <a:effectLst/>
                <a:latin charset="0" panose="02020603050405020304" pitchFamily="18" typeface="Times New Roman"/>
                <a:cs charset="0" panose="02020603050405020304" pitchFamily="18" typeface="Times New Roman"/>
              </a:rPr>
              <a:t> in production rule of A</a:t>
            </a:r>
            <a:r>
              <a:rPr b="1" baseline="-25000" dirty="0" i="0" lang="en-US">
                <a:effectLst/>
                <a:latin charset="0" panose="02020603050405020304" pitchFamily="18" typeface="Times New Roman"/>
                <a:cs charset="0" panose="02020603050405020304" pitchFamily="18" typeface="Times New Roman"/>
              </a:rPr>
              <a:t>4</a:t>
            </a:r>
            <a:r>
              <a:rPr b="1" dirty="0" i="0" lang="en-US">
                <a:effectLst/>
                <a:latin charset="0" panose="02020603050405020304" pitchFamily="18" typeface="Times New Roman"/>
                <a:cs charset="0" panose="02020603050405020304" pitchFamily="18" typeface="Times New Roman"/>
              </a:rPr>
              <a:t> is the example of left recursion</a:t>
            </a:r>
            <a:r>
              <a:rPr b="0" dirty="0" i="0" lang="en-US">
                <a:effectLst/>
                <a:latin charset="0" panose="02020603050405020304" pitchFamily="18" typeface="Times New Roman"/>
                <a:cs charset="0" panose="02020603050405020304" pitchFamily="18" typeface="Times New Roman"/>
              </a:rPr>
              <a:t>.</a:t>
            </a:r>
          </a:p>
          <a:p>
            <a:pPr>
              <a:spcBef>
                <a:spcPts val="200"/>
              </a:spcBef>
            </a:pPr>
            <a:r>
              <a:rPr altLang="en-IN" b="1" dirty="0" lang="en-IN">
                <a:latin charset="0" panose="02020603050405020304" pitchFamily="18" typeface="Times New Roman"/>
                <a:cs charset="0" panose="02020603050405020304" pitchFamily="18" typeface="Times New Roman"/>
              </a:rPr>
              <a:t>So,  it will be eliminated as</a:t>
            </a:r>
          </a:p>
          <a:p>
            <a:pPr>
              <a:spcBef>
                <a:spcPts val="200"/>
              </a:spcBef>
            </a:pP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 → </a:t>
            </a:r>
            <a:r>
              <a:rPr altLang="en-IN" dirty="0" err="1" lang="en-IN">
                <a:latin charset="0" panose="02020603050405020304" pitchFamily="18" typeface="Times New Roman"/>
                <a:cs charset="0" panose="02020603050405020304" pitchFamily="18" typeface="Times New Roman"/>
              </a:rPr>
              <a:t>bZ</a:t>
            </a:r>
            <a:r>
              <a:rPr altLang="en-IN" dirty="0" lang="en-IN">
                <a:latin charset="0" panose="02020603050405020304" pitchFamily="18" typeface="Times New Roman"/>
                <a:cs charset="0" panose="02020603050405020304" pitchFamily="18" typeface="Times New Roman"/>
              </a:rPr>
              <a:t> | bA</a:t>
            </a:r>
            <a:r>
              <a:rPr altLang="en-IN" baseline="-25000" dirty="0" lang="en-IN">
                <a:latin charset="0" panose="02020603050405020304" pitchFamily="18" typeface="Times New Roman"/>
                <a:cs charset="0" panose="02020603050405020304" pitchFamily="18" typeface="Times New Roman"/>
              </a:rPr>
              <a:t>3</a:t>
            </a: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Z</a:t>
            </a:r>
          </a:p>
          <a:p>
            <a:pPr>
              <a:spcBef>
                <a:spcPts val="200"/>
              </a:spcBef>
            </a:pPr>
            <a:r>
              <a:rPr altLang="en-IN" dirty="0" lang="en-IN">
                <a:latin charset="0" panose="02020603050405020304" pitchFamily="18" typeface="Times New Roman"/>
                <a:cs charset="0" panose="02020603050405020304" pitchFamily="18" typeface="Times New Roman"/>
              </a:rPr>
              <a:t>Z → 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 | 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Z</a:t>
            </a:r>
          </a:p>
          <a:p>
            <a:pPr>
              <a:spcBef>
                <a:spcPts val="200"/>
              </a:spcBef>
            </a:pPr>
            <a:r>
              <a:rPr altLang="en-IN" b="1" dirty="0" lang="en-IN">
                <a:latin charset="0" panose="02020603050405020304" pitchFamily="18" typeface="Times New Roman"/>
                <a:cs charset="0" panose="02020603050405020304" pitchFamily="18" typeface="Times New Roman"/>
              </a:rPr>
              <a:t>And resultant grammar will become:</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1</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 | 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2</a:t>
            </a:r>
            <a:r>
              <a:rPr altLang="pt-BR" dirty="0" lang="pt-BR">
                <a:latin charset="0" panose="02020603050405020304" pitchFamily="18" typeface="Times New Roman"/>
                <a:cs charset="0" panose="02020603050405020304" pitchFamily="18" typeface="Times New Roman"/>
              </a:rPr>
              <a:t> → b</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 → a</a:t>
            </a:r>
          </a:p>
          <a:p>
            <a:pPr>
              <a:spcBef>
                <a:spcPts val="200"/>
              </a:spcBef>
            </a:pP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a:t>
            </a:r>
            <a:r>
              <a:rPr altLang="pt-BR" dirty="0" lang="pt-BR">
                <a:latin charset="0" panose="02020603050405020304" pitchFamily="18" typeface="Times New Roman"/>
                <a:cs charset="0" panose="02020603050405020304" pitchFamily="18" typeface="Times New Roman"/>
              </a:rPr>
              <a:t> → b | bA</a:t>
            </a:r>
            <a:r>
              <a:rPr altLang="pt-BR" baseline="-25000" dirty="0" lang="pt-BR">
                <a:latin charset="0" panose="02020603050405020304" pitchFamily="18" typeface="Times New Roman"/>
                <a:cs charset="0" panose="02020603050405020304" pitchFamily="18" typeface="Times New Roman"/>
              </a:rPr>
              <a:t>3</a:t>
            </a:r>
            <a:r>
              <a:rPr altLang="pt-BR" dirty="0" lang="pt-BR">
                <a:latin charset="0" panose="02020603050405020304" pitchFamily="18" typeface="Times New Roman"/>
                <a:cs charset="0" panose="02020603050405020304" pitchFamily="18" typeface="Times New Roman"/>
              </a:rPr>
              <a:t>A</a:t>
            </a:r>
            <a:r>
              <a:rPr altLang="pt-BR" baseline="-25000" dirty="0" lang="pt-BR">
                <a:latin charset="0" panose="02020603050405020304" pitchFamily="18" typeface="Times New Roman"/>
                <a:cs charset="0" panose="02020603050405020304" pitchFamily="18" typeface="Times New Roman"/>
              </a:rPr>
              <a:t>4 </a:t>
            </a:r>
            <a:r>
              <a:rPr altLang="pt-BR" dirty="0" lang="pt-BR">
                <a:latin charset="0" panose="02020603050405020304" pitchFamily="18" typeface="Times New Roman"/>
                <a:cs charset="0" panose="02020603050405020304" pitchFamily="18" typeface="Times New Roman"/>
              </a:rPr>
              <a:t>| </a:t>
            </a:r>
            <a:r>
              <a:rPr altLang="en-IN" dirty="0" err="1" lang="en-IN">
                <a:latin charset="0" panose="02020603050405020304" pitchFamily="18" typeface="Times New Roman"/>
                <a:cs charset="0" panose="02020603050405020304" pitchFamily="18" typeface="Times New Roman"/>
              </a:rPr>
              <a:t>bZ</a:t>
            </a:r>
            <a:r>
              <a:rPr altLang="en-IN" dirty="0" lang="en-IN">
                <a:latin charset="0" panose="02020603050405020304" pitchFamily="18" typeface="Times New Roman"/>
                <a:cs charset="0" panose="02020603050405020304" pitchFamily="18" typeface="Times New Roman"/>
              </a:rPr>
              <a:t> | bA</a:t>
            </a:r>
            <a:r>
              <a:rPr altLang="en-IN" baseline="-25000" dirty="0" lang="en-IN">
                <a:latin charset="0" panose="02020603050405020304" pitchFamily="18" typeface="Times New Roman"/>
                <a:cs charset="0" panose="02020603050405020304" pitchFamily="18" typeface="Times New Roman"/>
              </a:rPr>
              <a:t>3</a:t>
            </a: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Z</a:t>
            </a:r>
          </a:p>
          <a:p>
            <a:pPr>
              <a:spcBef>
                <a:spcPts val="200"/>
              </a:spcBef>
            </a:pPr>
            <a:r>
              <a:rPr altLang="en-IN" dirty="0" lang="en-IN">
                <a:latin charset="0" panose="02020603050405020304" pitchFamily="18" typeface="Times New Roman"/>
                <a:cs charset="0" panose="02020603050405020304" pitchFamily="18" typeface="Times New Roman"/>
              </a:rPr>
              <a:t>Z → 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 | 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A</a:t>
            </a:r>
            <a:r>
              <a:rPr altLang="en-IN" baseline="-25000" dirty="0" lang="en-IN">
                <a:latin charset="0" panose="02020603050405020304" pitchFamily="18" typeface="Times New Roman"/>
                <a:cs charset="0" panose="02020603050405020304" pitchFamily="18" typeface="Times New Roman"/>
              </a:rPr>
              <a:t>4</a:t>
            </a:r>
            <a:r>
              <a:rPr altLang="en-IN" dirty="0" lang="en-IN">
                <a:latin charset="0" panose="02020603050405020304" pitchFamily="18" typeface="Times New Roman"/>
                <a:cs charset="0" panose="02020603050405020304" pitchFamily="18" typeface="Times New Roman"/>
              </a:rPr>
              <a:t>Z</a:t>
            </a:r>
          </a:p>
          <a:p>
            <a:pPr>
              <a:spcBef>
                <a:spcPts val="200"/>
              </a:spcBef>
            </a:pPr>
            <a:endParaRPr altLang="en-IN" dirty="0" lang="en-IN">
              <a:latin charset="0" panose="02020603050405020304" pitchFamily="18" typeface="Times New Roman"/>
              <a:cs charset="0" panose="02020603050405020304" pitchFamily="18" typeface="Times New Roman"/>
            </a:endParaRPr>
          </a:p>
        </p:txBody>
      </p:sp>
      <p:sp>
        <p:nvSpPr>
          <p:cNvPr id="6" name="Speech Bubble: Oval 5">
            <a:extLst>
              <a:ext uri="{FF2B5EF4-FFF2-40B4-BE49-F238E27FC236}">
                <a16:creationId xmlns:a16="http://schemas.microsoft.com/office/drawing/2014/main" id="{C8D91E19-B196-FE6E-A720-9171366339FE}"/>
              </a:ext>
            </a:extLst>
          </p:cNvPr>
          <p:cNvSpPr/>
          <p:nvPr/>
        </p:nvSpPr>
        <p:spPr>
          <a:xfrm>
            <a:off x="7452360" y="742950"/>
            <a:ext cx="4513898" cy="2343150"/>
          </a:xfrm>
          <a:prstGeom prst="wedgeEllipseCallout">
            <a:avLst>
              <a:gd fmla="val -50563" name="adj1"/>
              <a:gd fmla="val 52616" name="adj2"/>
            </a:avLst>
          </a:prstGeom>
          <a:noFill/>
        </p:spPr>
        <p:style>
          <a:lnRef idx="2">
            <a:schemeClr val="accent1">
              <a:shade val="15000"/>
            </a:schemeClr>
          </a:lnRef>
          <a:fillRef idx="1">
            <a:schemeClr val="accent1"/>
          </a:fillRef>
          <a:effectRef idx="0">
            <a:schemeClr val="accent1"/>
          </a:effectRef>
          <a:fontRef idx="minor">
            <a:schemeClr val="lt1"/>
          </a:fontRef>
        </p:style>
        <p:txBody>
          <a:bodyPr anchor="ctr" numCol="1" rtlCol="0"/>
          <a:lstStyle/>
          <a:p>
            <a:pPr indent="0" marL="0">
              <a:spcBef>
                <a:spcPts val="600"/>
              </a:spcBef>
              <a:spcAft>
                <a:spcPts val="0"/>
              </a:spcAft>
              <a:buNone/>
            </a:pPr>
            <a:r>
              <a:rPr dirty="0" lang="en-US" sz="1400">
                <a:solidFill>
                  <a:schemeClr val="tx1"/>
                </a:solidFill>
                <a:latin charset="0" panose="02020603050405020304" pitchFamily="18" typeface="Times New Roman"/>
                <a:cs charset="0" panose="02020603050405020304" pitchFamily="18" typeface="Times New Roman"/>
              </a:rPr>
              <a:t>If there is CFG productions as: </a:t>
            </a:r>
          </a:p>
          <a:p>
            <a:pPr algn="ctr" indent="0" marL="0">
              <a:spcBef>
                <a:spcPts val="600"/>
              </a:spcBef>
              <a:spcAft>
                <a:spcPts val="0"/>
              </a:spcAft>
              <a:buNone/>
            </a:pP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A → Aα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1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 Aα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2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 Aα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3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 …. Aα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n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14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1400">
                <a:solidFill>
                  <a:schemeClr val="tx1"/>
                </a:solidFill>
                <a:highlight>
                  <a:srgbClr val="FFFF00"/>
                </a:highlight>
                <a:latin charset="0" panose="02020603050405020304" pitchFamily="18" typeface="Times New Roman"/>
                <a:cs charset="0" panose="02020603050405020304" pitchFamily="18" typeface="Times New Roman"/>
              </a:rPr>
              <a:t>2</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1400">
                <a:solidFill>
                  <a:schemeClr val="tx1"/>
                </a:solidFill>
                <a:highlight>
                  <a:srgbClr val="FFFF00"/>
                </a:highlight>
                <a:latin charset="0" panose="02020603050405020304" pitchFamily="18" typeface="Times New Roman"/>
                <a:cs charset="0" panose="02020603050405020304" pitchFamily="18" typeface="Times New Roman"/>
              </a:rPr>
              <a:t>n</a:t>
            </a:r>
          </a:p>
          <a:p>
            <a:pPr indent="0" marL="0">
              <a:spcBef>
                <a:spcPts val="600"/>
              </a:spcBef>
              <a:spcAft>
                <a:spcPts val="0"/>
              </a:spcAft>
              <a:buNone/>
            </a:pPr>
            <a:r>
              <a:rPr altLang="en-IN" dirty="0" lang="en-IN" sz="1400">
                <a:solidFill>
                  <a:schemeClr val="tx1"/>
                </a:solidFill>
                <a:latin charset="0" panose="02020603050405020304" pitchFamily="18" typeface="Times New Roman"/>
                <a:cs charset="0" panose="02020603050405020304" pitchFamily="18" typeface="Times New Roman"/>
              </a:rPr>
              <a:t>Then equivalent grammar without left recursion will be : </a:t>
            </a:r>
          </a:p>
          <a:p>
            <a:pPr algn="ctr" indent="0" marL="0">
              <a:spcBef>
                <a:spcPts val="600"/>
              </a:spcBef>
              <a:spcAft>
                <a:spcPts val="0"/>
              </a:spcAft>
              <a:buNone/>
            </a:pP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A →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14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1400">
                <a:solidFill>
                  <a:schemeClr val="tx1"/>
                </a:solidFill>
                <a:highlight>
                  <a:srgbClr val="FFFF00"/>
                </a:highlight>
                <a:latin charset="0" panose="02020603050405020304" pitchFamily="18" typeface="Times New Roman"/>
                <a:cs charset="0" panose="02020603050405020304" pitchFamily="18" typeface="Times New Roman"/>
              </a:rPr>
              <a:t>2</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1400">
                <a:solidFill>
                  <a:schemeClr val="tx1"/>
                </a:solidFill>
                <a:highlight>
                  <a:srgbClr val="FFFF00"/>
                </a:highlight>
                <a:latin charset="0" panose="02020603050405020304" pitchFamily="18" typeface="Times New Roman"/>
                <a:cs charset="0" panose="02020603050405020304" pitchFamily="18" typeface="Times New Roman"/>
              </a:rPr>
              <a:t>n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1400">
                <a:solidFill>
                  <a:schemeClr val="tx1"/>
                </a:solidFill>
                <a:highlight>
                  <a:srgbClr val="FFFF00"/>
                </a:highlight>
                <a:latin charset="0" panose="02020603050405020304" pitchFamily="18" typeface="Times New Roman"/>
                <a:cs charset="0" panose="02020603050405020304" pitchFamily="18" typeface="Times New Roman"/>
              </a:rPr>
              <a:t>1</a:t>
            </a:r>
            <a:r>
              <a:rPr altLang="en-IN" baseline="-25000"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l-GR" baseline="-25000" dirty="0" lang="el-GR" sz="1400">
                <a:solidFill>
                  <a:schemeClr val="tx1"/>
                </a:solidFill>
                <a:highlight>
                  <a:srgbClr val="FFFF00"/>
                </a:highlight>
                <a:latin charset="0" panose="02020603050405020304" pitchFamily="18" typeface="Times New Roman"/>
                <a:cs charset="0" panose="02020603050405020304" pitchFamily="18" typeface="Times New Roman"/>
              </a:rPr>
              <a:t>2</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 . . . |</a:t>
            </a:r>
            <a:r>
              <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rPr>
              <a:t> </a:t>
            </a:r>
            <a:r>
              <a:rPr altLang="el-GR" dirty="0" lang="el-GR" sz="1400">
                <a:solidFill>
                  <a:schemeClr val="tx1"/>
                </a:solidFill>
                <a:highlight>
                  <a:srgbClr val="FFFF00"/>
                </a:highlight>
                <a:latin charset="0" panose="02020603050405020304" pitchFamily="18" typeface="Times New Roman"/>
                <a:cs charset="0" panose="02020603050405020304" pitchFamily="18" typeface="Times New Roman"/>
              </a:rPr>
              <a:t>β</a:t>
            </a:r>
            <a:r>
              <a:rPr altLang="en-IN" baseline="-25000" dirty="0" lang="en-IN" sz="1400">
                <a:solidFill>
                  <a:schemeClr val="tx1"/>
                </a:solidFill>
                <a:highlight>
                  <a:srgbClr val="FFFF00"/>
                </a:highlight>
                <a:latin charset="0" panose="02020603050405020304" pitchFamily="18" typeface="Times New Roman"/>
                <a:cs charset="0" panose="02020603050405020304" pitchFamily="18" typeface="Times New Roman"/>
              </a:rPr>
              <a:t>n</a:t>
            </a:r>
          </a:p>
          <a:p>
            <a:pPr algn="ctr" indent="0" marL="0">
              <a:spcBef>
                <a:spcPts val="600"/>
              </a:spcBef>
              <a:spcAft>
                <a:spcPts val="0"/>
              </a:spcAft>
              <a:buNone/>
            </a:pP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 → 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1</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 | 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2</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 | 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3</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Z | ……..| 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1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2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 </a:t>
            </a:r>
            <a:r>
              <a:rPr dirty="0" lang="en-US" sz="1400">
                <a:solidFill>
                  <a:schemeClr val="tx1"/>
                </a:solidFill>
                <a:highlight>
                  <a:srgbClr val="FFFF00"/>
                </a:highlight>
                <a:latin charset="0" panose="02020603050405020304" pitchFamily="18" typeface="Times New Roman"/>
                <a:cs charset="0" panose="02020603050405020304" pitchFamily="18" typeface="Times New Roman"/>
              </a:rPr>
              <a:t>α</a:t>
            </a:r>
            <a:r>
              <a:rPr baseline="-25000" dirty="0" lang="en-US" sz="1400">
                <a:solidFill>
                  <a:schemeClr val="tx1"/>
                </a:solidFill>
                <a:highlight>
                  <a:srgbClr val="FFFF00"/>
                </a:highlight>
                <a:latin charset="0" panose="02020603050405020304" pitchFamily="18" typeface="Times New Roman"/>
                <a:cs charset="0" panose="02020603050405020304" pitchFamily="18" typeface="Times New Roman"/>
              </a:rPr>
              <a:t>3 …..</a:t>
            </a:r>
            <a:endParaRPr altLang="en-IN" dirty="0" lang="en-IN" sz="1400">
              <a:solidFill>
                <a:schemeClr val="tx1"/>
              </a:solidFill>
              <a:highlight>
                <a:srgbClr val="FFFF00"/>
              </a:highlight>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224104427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1" st="1"/>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3">
                                            <p:txEl>
                                              <p:pRg end="6" st="6"/>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7" st="7"/>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3">
                                            <p:txEl>
                                              <p:pRg end="8" st="8"/>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
                                            <p:txEl>
                                              <p:pRg end="9" st="9"/>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grpId="0" id="33" nodeType="clickEffect" presetClass="entr" presetID="1" presetSubtype="0">
                                  <p:stCondLst>
                                    <p:cond delay="0"/>
                                  </p:stCondLst>
                                  <p:childTnLst>
                                    <p:set>
                                      <p:cBhvr>
                                        <p:cTn dur="1" fill="hold" id="34">
                                          <p:stCondLst>
                                            <p:cond delay="0"/>
                                          </p:stCondLst>
                                        </p:cTn>
                                        <p:tgtEl>
                                          <p:spTgt spid="6"/>
                                        </p:tgtEl>
                                        <p:attrNameLst>
                                          <p:attrName>style.visibility</p:attrName>
                                        </p:attrNameLst>
                                      </p:cBhvr>
                                      <p:to>
                                        <p:strVal val="visible"/>
                                      </p:to>
                                    </p:set>
                                  </p:childTnLst>
                                </p:cTn>
                              </p:par>
                            </p:childTnLst>
                          </p:cTn>
                        </p:par>
                      </p:childTnLst>
                    </p:cTn>
                  </p:par>
                  <p:par>
                    <p:cTn fill="hold" id="35">
                      <p:stCondLst>
                        <p:cond delay="indefinite"/>
                      </p:stCondLst>
                      <p:childTnLst>
                        <p:par>
                          <p:cTn fill="hold" id="36">
                            <p:stCondLst>
                              <p:cond delay="0"/>
                            </p:stCondLst>
                            <p:childTnLst>
                              <p:par>
                                <p:cTn fill="hold" id="37" nodeType="clickEffect" presetClass="entr" presetID="1" presetSubtype="0">
                                  <p:stCondLst>
                                    <p:cond delay="0"/>
                                  </p:stCondLst>
                                  <p:childTnLst>
                                    <p:set>
                                      <p:cBhvr>
                                        <p:cTn dur="1" fill="hold" id="38">
                                          <p:stCondLst>
                                            <p:cond delay="0"/>
                                          </p:stCondLst>
                                        </p:cTn>
                                        <p:tgtEl>
                                          <p:spTgt spid="3">
                                            <p:txEl>
                                              <p:pRg end="11" st="11"/>
                                            </p:txEl>
                                          </p:spTgt>
                                        </p:tgtEl>
                                        <p:attrNameLst>
                                          <p:attrName>style.visibility</p:attrName>
                                        </p:attrNameLst>
                                      </p:cBhvr>
                                      <p:to>
                                        <p:strVal val="visible"/>
                                      </p:to>
                                    </p:set>
                                  </p:childTnLst>
                                </p:cTn>
                              </p:par>
                              <p:par>
                                <p:cTn fill="hold" id="39" nodeType="withEffect" presetClass="entr" presetID="1" presetSubtype="0">
                                  <p:stCondLst>
                                    <p:cond delay="0"/>
                                  </p:stCondLst>
                                  <p:childTnLst>
                                    <p:set>
                                      <p:cBhvr>
                                        <p:cTn dur="1" fill="hold" id="40">
                                          <p:stCondLst>
                                            <p:cond delay="0"/>
                                          </p:stCondLst>
                                        </p:cTn>
                                        <p:tgtEl>
                                          <p:spTgt spid="3">
                                            <p:txEl>
                                              <p:pRg end="12" st="12"/>
                                            </p:txEl>
                                          </p:spTgt>
                                        </p:tgtEl>
                                        <p:attrNameLst>
                                          <p:attrName>style.visibility</p:attrName>
                                        </p:attrNameLst>
                                      </p:cBhvr>
                                      <p:to>
                                        <p:strVal val="visible"/>
                                      </p:to>
                                    </p:set>
                                  </p:childTnLst>
                                </p:cTn>
                              </p:par>
                              <p:par>
                                <p:cTn fill="hold" id="41" nodeType="withEffect" presetClass="entr" presetID="1" presetSubtype="0">
                                  <p:stCondLst>
                                    <p:cond delay="0"/>
                                  </p:stCondLst>
                                  <p:childTnLst>
                                    <p:set>
                                      <p:cBhvr>
                                        <p:cTn dur="1" fill="hold" id="42">
                                          <p:stCondLst>
                                            <p:cond delay="0"/>
                                          </p:stCondLst>
                                        </p:cTn>
                                        <p:tgtEl>
                                          <p:spTgt spid="3">
                                            <p:txEl>
                                              <p:pRg end="13" st="13"/>
                                            </p:txEl>
                                          </p:spTgt>
                                        </p:tgtEl>
                                        <p:attrNameLst>
                                          <p:attrName>style.visibility</p:attrName>
                                        </p:attrNameLst>
                                      </p:cBhvr>
                                      <p:to>
                                        <p:strVal val="visible"/>
                                      </p:to>
                                    </p:set>
                                  </p:childTnLst>
                                </p:cTn>
                              </p:par>
                            </p:childTnLst>
                          </p:cTn>
                        </p:par>
                      </p:childTnLst>
                    </p:cTn>
                  </p:par>
                  <p:par>
                    <p:cTn fill="hold" id="43">
                      <p:stCondLst>
                        <p:cond delay="indefinite"/>
                      </p:stCondLst>
                      <p:childTnLst>
                        <p:par>
                          <p:cTn fill="hold" id="44">
                            <p:stCondLst>
                              <p:cond delay="0"/>
                            </p:stCondLst>
                            <p:childTnLst>
                              <p:par>
                                <p:cTn fill="hold" id="45" nodeType="clickEffect" presetClass="entr" presetID="1" presetSubtype="0">
                                  <p:stCondLst>
                                    <p:cond delay="0"/>
                                  </p:stCondLst>
                                  <p:childTnLst>
                                    <p:set>
                                      <p:cBhvr>
                                        <p:cTn dur="1" fill="hold" id="46">
                                          <p:stCondLst>
                                            <p:cond delay="0"/>
                                          </p:stCondLst>
                                        </p:cTn>
                                        <p:tgtEl>
                                          <p:spTgt spid="3">
                                            <p:txEl>
                                              <p:pRg end="14" st="14"/>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3">
                                            <p:txEl>
                                              <p:pRg end="15" st="15"/>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3">
                                            <p:txEl>
                                              <p:pRg end="16" st="16"/>
                                            </p:txEl>
                                          </p:spTgt>
                                        </p:tgtEl>
                                        <p:attrNameLst>
                                          <p:attrName>style.visibility</p:attrName>
                                        </p:attrNameLst>
                                      </p:cBhvr>
                                      <p:to>
                                        <p:strVal val="visible"/>
                                      </p:to>
                                    </p:set>
                                  </p:childTnLst>
                                </p:cTn>
                              </p:par>
                              <p:par>
                                <p:cTn fill="hold" id="51" nodeType="withEffect" presetClass="entr" presetID="1" presetSubtype="0">
                                  <p:stCondLst>
                                    <p:cond delay="0"/>
                                  </p:stCondLst>
                                  <p:childTnLst>
                                    <p:set>
                                      <p:cBhvr>
                                        <p:cTn dur="1" fill="hold" id="52">
                                          <p:stCondLst>
                                            <p:cond delay="0"/>
                                          </p:stCondLst>
                                        </p:cTn>
                                        <p:tgtEl>
                                          <p:spTgt spid="3">
                                            <p:txEl>
                                              <p:pRg end="17" st="17"/>
                                            </p:txEl>
                                          </p:spTgt>
                                        </p:tgtEl>
                                        <p:attrNameLst>
                                          <p:attrName>style.visibility</p:attrName>
                                        </p:attrNameLst>
                                      </p:cBhvr>
                                      <p:to>
                                        <p:strVal val="visible"/>
                                      </p:to>
                                    </p:set>
                                  </p:childTnLst>
                                </p:cTn>
                              </p:par>
                              <p:par>
                                <p:cTn fill="hold" id="53" nodeType="withEffect" presetClass="entr" presetID="1" presetSubtype="0">
                                  <p:stCondLst>
                                    <p:cond delay="0"/>
                                  </p:stCondLst>
                                  <p:childTnLst>
                                    <p:set>
                                      <p:cBhvr>
                                        <p:cTn dur="1" fill="hold" id="54">
                                          <p:stCondLst>
                                            <p:cond delay="0"/>
                                          </p:stCondLst>
                                        </p:cTn>
                                        <p:tgtEl>
                                          <p:spTgt spid="3">
                                            <p:txEl>
                                              <p:pRg end="18" st="18"/>
                                            </p:txEl>
                                          </p:spTgt>
                                        </p:tgtEl>
                                        <p:attrNameLst>
                                          <p:attrName>style.visibility</p:attrName>
                                        </p:attrNameLst>
                                      </p:cBhvr>
                                      <p:to>
                                        <p:strVal val="visible"/>
                                      </p:to>
                                    </p:set>
                                  </p:childTnLst>
                                </p:cTn>
                              </p:par>
                              <p:par>
                                <p:cTn fill="hold" id="55" nodeType="withEffect" presetClass="entr" presetID="1" presetSubtype="0">
                                  <p:stCondLst>
                                    <p:cond delay="0"/>
                                  </p:stCondLst>
                                  <p:childTnLst>
                                    <p:set>
                                      <p:cBhvr>
                                        <p:cTn dur="1" fill="hold" id="56">
                                          <p:stCondLst>
                                            <p:cond delay="0"/>
                                          </p:stCondLst>
                                        </p:cTn>
                                        <p:tgtEl>
                                          <p:spTgt spid="3">
                                            <p:txEl>
                                              <p:pRg end="19" st="19"/>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56BE9C-7800-7ABB-23ED-AE592113020C}"/>
              </a:ext>
            </a:extLst>
          </p:cNvPr>
          <p:cNvSpPr txBox="1"/>
          <p:nvPr/>
        </p:nvSpPr>
        <p:spPr>
          <a:xfrm>
            <a:off x="400050" y="329774"/>
            <a:ext cx="10789920" cy="3693319"/>
          </a:xfrm>
          <a:prstGeom prst="rect">
            <a:avLst/>
          </a:prstGeom>
          <a:noFill/>
        </p:spPr>
        <p:txBody>
          <a:bodyPr numCol="1" wrap="square">
            <a:spAutoFit/>
          </a:bodyPr>
          <a:lstStyle/>
          <a:p>
            <a:r>
              <a:rPr b="1" dirty="0" lang="en-US">
                <a:latin charset="0" panose="02020603050405020304" pitchFamily="18" typeface="Times New Roman"/>
                <a:cs charset="0" panose="02020603050405020304" pitchFamily="18" typeface="Times New Roman"/>
              </a:rPr>
              <a:t>The Last step is to replace the production to the form of either </a:t>
            </a:r>
          </a:p>
          <a:p>
            <a:endParaRPr b="1" dirty="0" lang="en-US">
              <a:latin charset="0" panose="02020603050405020304" pitchFamily="18" typeface="Times New Roman"/>
              <a:cs charset="0" panose="02020603050405020304" pitchFamily="18" typeface="Times New Roman"/>
            </a:endParaRPr>
          </a:p>
          <a:p>
            <a:r>
              <a:rPr b="1" dirty="0" lang="en-US">
                <a:latin charset="0" panose="02020603050405020304" pitchFamily="18" typeface="Times New Roman"/>
                <a:cs charset="0" panose="02020603050405020304" pitchFamily="18" typeface="Times New Roman"/>
              </a:rPr>
              <a:t>A</a:t>
            </a:r>
            <a:r>
              <a:rPr b="1" baseline="-25000" dirty="0" lang="en-US">
                <a:latin charset="0" panose="02020603050405020304" pitchFamily="18" typeface="Times New Roman"/>
                <a:cs charset="0" panose="02020603050405020304" pitchFamily="18" typeface="Times New Roman"/>
              </a:rPr>
              <a:t>i </a:t>
            </a:r>
            <a:r>
              <a:rPr b="1" dirty="0" lang="en-US">
                <a:latin charset="0" panose="02020603050405020304" pitchFamily="18" typeface="Times New Roman"/>
                <a:cs charset="0" panose="02020603050405020304" pitchFamily="18" typeface="Times New Roman"/>
              </a:rPr>
              <a:t>→ x (any single terminal symbol)</a:t>
            </a:r>
          </a:p>
          <a:p>
            <a:r>
              <a:rPr b="1" dirty="0" lang="en-US">
                <a:latin charset="0" panose="02020603050405020304" pitchFamily="18" typeface="Times New Roman"/>
                <a:cs charset="0" panose="02020603050405020304" pitchFamily="18" typeface="Times New Roman"/>
              </a:rPr>
              <a:t>OR </a:t>
            </a:r>
          </a:p>
          <a:p>
            <a:r>
              <a:rPr b="1" dirty="0" lang="en-US">
                <a:latin charset="0" panose="02020603050405020304" pitchFamily="18" typeface="Times New Roman"/>
                <a:cs charset="0" panose="02020603050405020304" pitchFamily="18" typeface="Times New Roman"/>
              </a:rPr>
              <a:t>A</a:t>
            </a:r>
            <a:r>
              <a:rPr b="1" baseline="-25000" dirty="0" lang="en-US">
                <a:latin charset="0" panose="02020603050405020304" pitchFamily="18" typeface="Times New Roman"/>
                <a:cs charset="0" panose="02020603050405020304" pitchFamily="18" typeface="Times New Roman"/>
              </a:rPr>
              <a:t>i</a:t>
            </a:r>
            <a:r>
              <a:rPr b="1" dirty="0" lang="en-US">
                <a:latin charset="0" panose="02020603050405020304" pitchFamily="18" typeface="Times New Roman"/>
                <a:cs charset="0" panose="02020603050405020304" pitchFamily="18" typeface="Times New Roman"/>
              </a:rPr>
              <a:t> → </a:t>
            </a:r>
            <a:r>
              <a:rPr b="1" dirty="0" err="1" lang="en-US">
                <a:latin charset="0" panose="02020603050405020304" pitchFamily="18" typeface="Times New Roman"/>
                <a:cs charset="0" panose="02020603050405020304" pitchFamily="18" typeface="Times New Roman"/>
              </a:rPr>
              <a:t>xX</a:t>
            </a:r>
            <a:r>
              <a:rPr b="1" dirty="0" lang="en-US">
                <a:latin charset="0" panose="02020603050405020304" pitchFamily="18" typeface="Times New Roman"/>
                <a:cs charset="0" panose="02020603050405020304" pitchFamily="18" typeface="Times New Roman"/>
              </a:rPr>
              <a:t> (any single terminal followed by any number of non terminals)</a:t>
            </a:r>
          </a:p>
          <a:p>
            <a:endParaRPr dirty="0" lang="en-US">
              <a:latin charset="0" panose="02020603050405020304" pitchFamily="18" typeface="Times New Roman"/>
              <a:cs charset="0" panose="02020603050405020304" pitchFamily="18" typeface="Times New Roman"/>
            </a:endParaRPr>
          </a:p>
          <a:p>
            <a:r>
              <a:rPr b="1" dirty="0" lang="en-US">
                <a:latin charset="0" panose="02020603050405020304" pitchFamily="18" typeface="Times New Roman"/>
                <a:cs charset="0" panose="02020603050405020304" pitchFamily="18" typeface="Times New Roman"/>
              </a:rPr>
              <a:t>So here we need to replace A2 in production rule of A1 and so on.</a:t>
            </a:r>
          </a:p>
          <a:p>
            <a:endParaRPr dirty="0" lang="en-US">
              <a:latin charset="0" panose="02020603050405020304" pitchFamily="18" typeface="Times New Roman"/>
              <a:cs charset="0" panose="02020603050405020304" pitchFamily="18" typeface="Times New Roman"/>
            </a:endParaRPr>
          </a:p>
          <a:p>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bZA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ZA</a:t>
            </a:r>
            <a:r>
              <a:rPr baseline="-25000" dirty="0" lang="en-US">
                <a:latin charset="0" panose="02020603050405020304" pitchFamily="18" typeface="Times New Roman"/>
                <a:cs charset="0" panose="02020603050405020304" pitchFamily="18" typeface="Times New Roman"/>
              </a:rPr>
              <a:t>4</a:t>
            </a:r>
          </a:p>
          <a:p>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 b</a:t>
            </a:r>
          </a:p>
          <a:p>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 → a</a:t>
            </a:r>
          </a:p>
          <a:p>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a:t>
            </a:r>
            <a:r>
              <a:rPr dirty="0" err="1" lang="en-US">
                <a:latin charset="0" panose="02020603050405020304" pitchFamily="18" typeface="Times New Roman"/>
                <a:cs charset="0" panose="02020603050405020304" pitchFamily="18" typeface="Times New Roman"/>
              </a:rPr>
              <a:t>bZ</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a:t>
            </a:r>
          </a:p>
          <a:p>
            <a:r>
              <a:rPr dirty="0" lang="en-US">
                <a:latin charset="0" panose="02020603050405020304" pitchFamily="18" typeface="Times New Roman"/>
                <a:cs charset="0" panose="02020603050405020304" pitchFamily="18" typeface="Times New Roman"/>
              </a:rPr>
              <a:t>Z → bA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bZA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 | bA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 | bZA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 | bA</a:t>
            </a:r>
            <a:r>
              <a:rPr baseline="-25000" dirty="0" lang="en-US">
                <a:latin charset="0" panose="02020603050405020304" pitchFamily="18" typeface="Times New Roman"/>
                <a:cs charset="0" panose="02020603050405020304" pitchFamily="18" typeface="Times New Roman"/>
              </a:rPr>
              <a:t>3</a:t>
            </a:r>
            <a:r>
              <a:rPr dirty="0" lang="en-US">
                <a:latin charset="0" panose="02020603050405020304" pitchFamily="18" typeface="Times New Roman"/>
                <a:cs charset="0" panose="02020603050405020304" pitchFamily="18" typeface="Times New Roman"/>
              </a:rPr>
              <a:t>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ZA</a:t>
            </a:r>
            <a:r>
              <a:rPr baseline="-25000" dirty="0" lang="en-US">
                <a:latin charset="0" panose="02020603050405020304" pitchFamily="18" typeface="Times New Roman"/>
                <a:cs charset="0" panose="02020603050405020304" pitchFamily="18" typeface="Times New Roman"/>
              </a:rPr>
              <a:t>4</a:t>
            </a:r>
            <a:r>
              <a:rPr dirty="0" lang="en-US">
                <a:latin charset="0" panose="02020603050405020304" pitchFamily="18" typeface="Times New Roman"/>
                <a:cs charset="0" panose="02020603050405020304" pitchFamily="18" typeface="Times New Roman"/>
              </a:rPr>
              <a:t>Z</a:t>
            </a:r>
            <a:endParaRPr altLang="en-IN" dirty="0" lang="en-IN">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98114358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4">
                                            <p:txEl>
                                              <p:pRg end="0" st="0"/>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4">
                                            <p:txEl>
                                              <p:pRg end="2" st="2"/>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4">
                                            <p:txEl>
                                              <p:pRg end="3" st="3"/>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4">
                                            <p:txEl>
                                              <p:pRg end="4" st="4"/>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4">
                                            <p:txEl>
                                              <p:pRg end="6" st="6"/>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4">
                                            <p:txEl>
                                              <p:pRg end="8" st="8"/>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4">
                                            <p:txEl>
                                              <p:pRg end="9" st="9"/>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4">
                                            <p:txEl>
                                              <p:pRg end="10" st="10"/>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4">
                                            <p:txEl>
                                              <p:pRg end="11" st="11"/>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4">
                                            <p:txEl>
                                              <p:pRg end="12" st="1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9B65A-072E-B4C5-67B8-2AB5C0EC2343}"/>
              </a:ext>
            </a:extLst>
          </p:cNvPr>
          <p:cNvSpPr>
            <a:spLocks noGrp="1"/>
          </p:cNvSpPr>
          <p:nvPr>
            <p:ph type="title"/>
          </p:nvPr>
        </p:nvSpPr>
        <p:spPr/>
        <p:txBody>
          <a:bodyPr numCol="1"/>
          <a:lstStyle/>
          <a:p>
            <a:r>
              <a:rPr dirty="0" lang="en-US">
                <a:solidFill>
                  <a:schemeClr val="tx1"/>
                </a:solidFill>
              </a:rPr>
              <a:t>Closure Properties of CFG</a:t>
            </a:r>
            <a:endParaRPr altLang="en-IN" dirty="0" lang="en-IN">
              <a:solidFill>
                <a:schemeClr val="tx1"/>
              </a:solidFill>
            </a:endParaRPr>
          </a:p>
        </p:txBody>
      </p:sp>
      <p:sp>
        <p:nvSpPr>
          <p:cNvPr id="3" name="Content Placeholder 2">
            <a:extLst>
              <a:ext uri="{FF2B5EF4-FFF2-40B4-BE49-F238E27FC236}">
                <a16:creationId xmlns:a16="http://schemas.microsoft.com/office/drawing/2014/main" id="{BCD21F7D-650C-2AEA-55C8-612B03075F11}"/>
              </a:ext>
            </a:extLst>
          </p:cNvPr>
          <p:cNvSpPr>
            <a:spLocks noGrp="1"/>
          </p:cNvSpPr>
          <p:nvPr>
            <p:ph idx="1"/>
          </p:nvPr>
        </p:nvSpPr>
        <p:spPr/>
        <p:txBody>
          <a:bodyPr numCol="1">
            <a:normAutofit/>
          </a:bodyPr>
          <a:lstStyle/>
          <a:p>
            <a:pPr algn="just">
              <a:buFont charset="0" panose="020B0604020202020204" pitchFamily="34" typeface="Arial"/>
              <a:buChar char="•"/>
            </a:pPr>
            <a:r>
              <a:rPr dirty="0" lang="en-US" sz="2400">
                <a:solidFill>
                  <a:schemeClr val="tx1"/>
                </a:solidFill>
              </a:rPr>
              <a:t>Context-free languages are closed under union, concatenation, and Kleene star.</a:t>
            </a:r>
          </a:p>
          <a:p>
            <a:pPr algn="just">
              <a:buFont charset="0" panose="020B0604020202020204" pitchFamily="34" typeface="Arial"/>
              <a:buChar char="•"/>
            </a:pPr>
            <a:r>
              <a:rPr dirty="0" lang="en-US" sz="2400">
                <a:solidFill>
                  <a:schemeClr val="tx1"/>
                </a:solidFill>
              </a:rPr>
              <a:t>Context-free languages are not closed under intersection or complement</a:t>
            </a:r>
          </a:p>
          <a:p>
            <a:pPr algn="just" indent="0" marL="0">
              <a:buNone/>
            </a:pPr>
            <a:endParaRPr dirty="0" lang="en-US" sz="2400">
              <a:solidFill>
                <a:schemeClr val="tx1"/>
              </a:solidFill>
            </a:endParaRPr>
          </a:p>
        </p:txBody>
      </p:sp>
    </p:spTree>
    <p:extLst>
      <p:ext uri="{BB962C8B-B14F-4D97-AF65-F5344CB8AC3E}">
        <p14:creationId xmlns:p14="http://schemas.microsoft.com/office/powerpoint/2010/main" val="32087029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3067-9679-9B44-C2F2-4158CDE10B00}"/>
              </a:ext>
            </a:extLst>
          </p:cNvPr>
          <p:cNvSpPr txBox="1">
            <a:spLocks/>
          </p:cNvSpPr>
          <p:nvPr/>
        </p:nvSpPr>
        <p:spPr>
          <a:xfrm>
            <a:off x="594360" y="229453"/>
            <a:ext cx="11407140" cy="816603"/>
          </a:xfrm>
          <a:prstGeom prst="rect">
            <a:avLst/>
          </a:prstGeom>
        </p:spPr>
        <p:txBody>
          <a:bodyPr numCol="1">
            <a:noAutofit/>
          </a:bodyPr>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b="1" dirty="0" lang="en-US" sz="2400">
                <a:solidFill>
                  <a:schemeClr val="tx1"/>
                </a:solidFill>
                <a:latin charset="0" panose="02020603050405020304" pitchFamily="18" typeface="Times New Roman"/>
                <a:cs charset="0" panose="02020603050405020304" pitchFamily="18" typeface="Times New Roman"/>
              </a:rPr>
              <a:t>Union: If L 1 and L2 are context-free languages, then L1∪ L2 is a context-free language</a:t>
            </a:r>
            <a:endParaRPr altLang="en-IN" dirty="0" lang="en-IN" sz="2400">
              <a:solidFill>
                <a:schemeClr val="tx1"/>
              </a:solidFill>
              <a:latin charset="0" panose="02020603050405020304" pitchFamily="18" typeface="Times New Roman"/>
              <a:cs charset="0" panose="02020603050405020304" pitchFamily="18" typeface="Times New Roman"/>
            </a:endParaRPr>
          </a:p>
        </p:txBody>
      </p:sp>
      <p:sp>
        <p:nvSpPr>
          <p:cNvPr id="3" name="Content Placeholder 2">
            <a:extLst>
              <a:ext uri="{FF2B5EF4-FFF2-40B4-BE49-F238E27FC236}">
                <a16:creationId xmlns:a16="http://schemas.microsoft.com/office/drawing/2014/main" id="{FB1EBD9C-B0D2-7EBD-205A-F05498B28448}"/>
              </a:ext>
            </a:extLst>
          </p:cNvPr>
          <p:cNvSpPr txBox="1">
            <a:spLocks/>
          </p:cNvSpPr>
          <p:nvPr/>
        </p:nvSpPr>
        <p:spPr>
          <a:xfrm>
            <a:off x="594360" y="851324"/>
            <a:ext cx="11064240" cy="4023360"/>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buFont charset="0" panose="020B0604020202020204" pitchFamily="34" typeface="Arial"/>
              <a:buChar char="•"/>
            </a:pPr>
            <a:r>
              <a:rPr dirty="0" lang="en-US">
                <a:solidFill>
                  <a:schemeClr val="tx1"/>
                </a:solidFill>
                <a:latin charset="0" panose="02020603050405020304" pitchFamily="18" typeface="Times New Roman"/>
                <a:cs charset="0" panose="02020603050405020304" pitchFamily="18" typeface="Times New Roman"/>
              </a:rPr>
              <a:t>Let L</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be language recognized by G</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 (V</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Σ, P</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S</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and </a:t>
            </a:r>
          </a:p>
          <a:p>
            <a:pPr>
              <a:buFont charset="0" panose="020B0604020202020204" pitchFamily="34" typeface="Arial"/>
              <a:buChar char="•"/>
            </a:pPr>
            <a:r>
              <a:rPr dirty="0" lang="en-US">
                <a:solidFill>
                  <a:schemeClr val="tx1"/>
                </a:solidFill>
                <a:latin charset="0" panose="02020603050405020304" pitchFamily="18" typeface="Times New Roman"/>
                <a:cs charset="0" panose="02020603050405020304" pitchFamily="18" typeface="Times New Roman"/>
              </a:rPr>
              <a:t>L</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the language recognized by G</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 (V</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Σ, P</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S</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Assume that V</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 V</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 ∅;</a:t>
            </a:r>
          </a:p>
          <a:p>
            <a:pPr>
              <a:buFont charset="0" panose="020B0604020202020204" pitchFamily="34" typeface="Arial"/>
              <a:buChar char="•"/>
            </a:pPr>
            <a:r>
              <a:rPr altLang="en-IN" dirty="0" lang="en-IN">
                <a:solidFill>
                  <a:schemeClr val="tx1"/>
                </a:solidFill>
                <a:latin charset="0" panose="02020603050405020304" pitchFamily="18" typeface="Times New Roman"/>
                <a:cs charset="0" panose="02020603050405020304" pitchFamily="18" typeface="Times New Roman"/>
              </a:rPr>
              <a:t>We will construct a grammar G = (V, </a:t>
            </a:r>
            <a:r>
              <a:rPr altLang="el-GR" dirty="0" lang="el-GR">
                <a:solidFill>
                  <a:schemeClr val="tx1"/>
                </a:solidFill>
                <a:latin charset="0" panose="02020603050405020304" pitchFamily="18" typeface="Times New Roman"/>
                <a:cs charset="0" panose="02020603050405020304" pitchFamily="18" typeface="Times New Roman"/>
              </a:rPr>
              <a:t>Σ, </a:t>
            </a:r>
            <a:r>
              <a:rPr altLang="en-IN" dirty="0" lang="en-IN">
                <a:solidFill>
                  <a:schemeClr val="tx1"/>
                </a:solidFill>
                <a:latin charset="0" panose="02020603050405020304" pitchFamily="18" typeface="Times New Roman"/>
                <a:cs charset="0" panose="02020603050405020304" pitchFamily="18" typeface="Times New Roman"/>
              </a:rPr>
              <a:t>R, S) such that L(G) = L(G</a:t>
            </a:r>
            <a:r>
              <a:rPr altLang="en-IN" baseline="-25000" dirty="0" lang="en-IN">
                <a:solidFill>
                  <a:schemeClr val="tx1"/>
                </a:solidFill>
                <a:latin charset="0" panose="02020603050405020304" pitchFamily="18" typeface="Times New Roman"/>
                <a:cs charset="0" panose="02020603050405020304" pitchFamily="18" typeface="Times New Roman"/>
              </a:rPr>
              <a:t>1</a:t>
            </a:r>
            <a:r>
              <a:rPr altLang="en-IN" dirty="0" lang="en-IN">
                <a:solidFill>
                  <a:schemeClr val="tx1"/>
                </a:solidFill>
                <a:latin charset="0" panose="02020603050405020304" pitchFamily="18" typeface="Times New Roman"/>
                <a:cs charset="0" panose="02020603050405020304" pitchFamily="18" typeface="Times New Roman"/>
              </a:rPr>
              <a:t>) ∪ L(G</a:t>
            </a:r>
            <a:r>
              <a:rPr altLang="en-IN" baseline="-25000" dirty="0" lang="en-IN">
                <a:solidFill>
                  <a:schemeClr val="tx1"/>
                </a:solidFill>
                <a:latin charset="0" panose="02020603050405020304" pitchFamily="18" typeface="Times New Roman"/>
                <a:cs charset="0" panose="02020603050405020304" pitchFamily="18" typeface="Times New Roman"/>
              </a:rPr>
              <a:t>2</a:t>
            </a:r>
            <a:r>
              <a:rPr altLang="en-IN" dirty="0" lang="en-IN">
                <a:solidFill>
                  <a:schemeClr val="tx1"/>
                </a:solidFill>
                <a:latin charset="0" panose="02020603050405020304" pitchFamily="18" typeface="Times New Roman"/>
                <a:cs charset="0" panose="02020603050405020304" pitchFamily="18" typeface="Times New Roman"/>
              </a:rPr>
              <a:t>) as follows.</a:t>
            </a:r>
          </a:p>
          <a:p>
            <a:pPr lvl="1">
              <a:buFont charset="0" panose="020B0604020202020204" pitchFamily="34" typeface="Arial"/>
              <a:buChar char="•"/>
            </a:pPr>
            <a:r>
              <a:rPr altLang="en-IN" dirty="0" lang="en-IN" sz="2000">
                <a:solidFill>
                  <a:schemeClr val="tx1"/>
                </a:solidFill>
                <a:latin charset="0" panose="02020603050405020304" pitchFamily="18" typeface="Times New Roman"/>
                <a:cs charset="0" panose="02020603050405020304" pitchFamily="18" typeface="Times New Roman"/>
              </a:rPr>
              <a:t>V = V</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V</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 {S}, where S ∉ V</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V</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(and V</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V</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 ∅)</a:t>
            </a:r>
          </a:p>
          <a:p>
            <a:pPr lvl="1">
              <a:buFont charset="0" panose="020B0604020202020204" pitchFamily="34" typeface="Arial"/>
              <a:buChar char="•"/>
            </a:pPr>
            <a:r>
              <a:rPr altLang="en-IN" dirty="0" lang="en-IN" sz="2000">
                <a:solidFill>
                  <a:schemeClr val="tx1"/>
                </a:solidFill>
                <a:latin charset="0" panose="02020603050405020304" pitchFamily="18" typeface="Times New Roman"/>
                <a:cs charset="0" panose="02020603050405020304" pitchFamily="18" typeface="Times New Roman"/>
              </a:rPr>
              <a:t>P = P</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P</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 {S → S</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S</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a:t>
            </a:r>
          </a:p>
        </p:txBody>
      </p:sp>
      <p:sp>
        <p:nvSpPr>
          <p:cNvPr id="4" name="TextBox 3">
            <a:extLst>
              <a:ext uri="{FF2B5EF4-FFF2-40B4-BE49-F238E27FC236}">
                <a16:creationId xmlns:a16="http://schemas.microsoft.com/office/drawing/2014/main" id="{7C32E6E9-097B-F309-D75C-8E146ED71132}"/>
              </a:ext>
            </a:extLst>
          </p:cNvPr>
          <p:cNvSpPr txBox="1"/>
          <p:nvPr/>
        </p:nvSpPr>
        <p:spPr>
          <a:xfrm>
            <a:off x="704850" y="3308700"/>
            <a:ext cx="9845040" cy="2846933"/>
          </a:xfrm>
          <a:prstGeom prst="rect">
            <a:avLst/>
          </a:prstGeom>
          <a:noFill/>
        </p:spPr>
        <p:txBody>
          <a:bodyPr numCol="1" wrap="square">
            <a:spAutoFit/>
          </a:bodyPr>
          <a:lstStyle/>
          <a:p>
            <a:pPr indent="0" marL="0">
              <a:buNone/>
            </a:pPr>
            <a:r>
              <a:rPr altLang="en-IN" b="1" dirty="0" lang="en-IN">
                <a:latin charset="0" panose="02020603050405020304" pitchFamily="18" typeface="Times New Roman"/>
                <a:cs charset="0" panose="02020603050405020304" pitchFamily="18" typeface="Times New Roman"/>
              </a:rPr>
              <a:t>For example: If L(G1) = {</a:t>
            </a:r>
            <a:r>
              <a:rPr altLang="en-IN" b="1" dirty="0" err="1" lang="en-IN">
                <a:latin charset="0" panose="02020603050405020304" pitchFamily="18" typeface="Times New Roman"/>
                <a:cs charset="0" panose="02020603050405020304" pitchFamily="18" typeface="Times New Roman"/>
              </a:rPr>
              <a:t>a</a:t>
            </a:r>
            <a:r>
              <a:rPr altLang="en-IN" b="1" baseline="30000" dirty="0" err="1" lang="en-IN">
                <a:latin charset="0" panose="02020603050405020304" pitchFamily="18" typeface="Times New Roman"/>
                <a:cs charset="0" panose="02020603050405020304" pitchFamily="18" typeface="Times New Roman"/>
              </a:rPr>
              <a:t>n</a:t>
            </a:r>
            <a:r>
              <a:rPr altLang="en-IN" b="1" dirty="0" err="1" lang="en-IN">
                <a:latin charset="0" panose="02020603050405020304" pitchFamily="18" typeface="Times New Roman"/>
                <a:cs charset="0" panose="02020603050405020304" pitchFamily="18" typeface="Times New Roman"/>
              </a:rPr>
              <a:t>b</a:t>
            </a:r>
            <a:r>
              <a:rPr altLang="en-IN" b="1" baseline="30000" dirty="0" err="1" lang="en-IN">
                <a:latin charset="0" panose="02020603050405020304" pitchFamily="18" typeface="Times New Roman"/>
                <a:cs charset="0" panose="02020603050405020304" pitchFamily="18" typeface="Times New Roman"/>
              </a:rPr>
              <a:t>n</a:t>
            </a:r>
            <a:r>
              <a:rPr altLang="en-IN" b="1" dirty="0" lang="en-IN">
                <a:latin charset="0" panose="02020603050405020304" pitchFamily="18" typeface="Times New Roman"/>
                <a:cs charset="0" panose="02020603050405020304" pitchFamily="18" typeface="Times New Roman"/>
              </a:rPr>
              <a:t> : n ≥ 0}. Also, L(G2) = {</a:t>
            </a:r>
            <a:r>
              <a:rPr altLang="en-IN" b="1" dirty="0" err="1" lang="en-IN">
                <a:latin charset="0" panose="02020603050405020304" pitchFamily="18" typeface="Times New Roman"/>
                <a:cs charset="0" panose="02020603050405020304" pitchFamily="18" typeface="Times New Roman"/>
              </a:rPr>
              <a:t>c</a:t>
            </a:r>
            <a:r>
              <a:rPr altLang="en-IN" b="1" baseline="30000" dirty="0" err="1" lang="en-IN">
                <a:latin charset="0" panose="02020603050405020304" pitchFamily="18" typeface="Times New Roman"/>
                <a:cs charset="0" panose="02020603050405020304" pitchFamily="18" typeface="Times New Roman"/>
              </a:rPr>
              <a:t>m</a:t>
            </a:r>
            <a:r>
              <a:rPr altLang="en-IN" b="1" dirty="0" err="1" lang="en-IN">
                <a:latin charset="0" panose="02020603050405020304" pitchFamily="18" typeface="Times New Roman"/>
                <a:cs charset="0" panose="02020603050405020304" pitchFamily="18" typeface="Times New Roman"/>
              </a:rPr>
              <a:t>d</a:t>
            </a:r>
            <a:r>
              <a:rPr altLang="en-IN" b="1" baseline="30000" dirty="0" err="1" lang="en-IN">
                <a:latin charset="0" panose="02020603050405020304" pitchFamily="18" typeface="Times New Roman"/>
                <a:cs charset="0" panose="02020603050405020304" pitchFamily="18" typeface="Times New Roman"/>
              </a:rPr>
              <a:t>m</a:t>
            </a:r>
            <a:r>
              <a:rPr altLang="en-IN" b="1" dirty="0" lang="en-IN">
                <a:latin charset="0" panose="02020603050405020304" pitchFamily="18" typeface="Times New Roman"/>
                <a:cs charset="0" panose="02020603050405020304" pitchFamily="18" typeface="Times New Roman"/>
              </a:rPr>
              <a:t> : m ≥ 0}</a:t>
            </a:r>
          </a:p>
          <a:p>
            <a:pPr indent="0" marL="0">
              <a:spcBef>
                <a:spcPts val="600"/>
              </a:spcBef>
              <a:buNone/>
            </a:pPr>
            <a:r>
              <a:rPr altLang="en-IN" dirty="0" lang="en-IN">
                <a:latin charset="0" panose="02020603050405020304" pitchFamily="18" typeface="Times New Roman"/>
                <a:cs charset="0" panose="02020603050405020304" pitchFamily="18" typeface="Times New Roman"/>
              </a:rPr>
              <a:t>Then , G1: S</a:t>
            </a:r>
            <a:r>
              <a:rPr altLang="en-IN" baseline="-25000" dirty="0" lang="en-IN">
                <a:latin charset="0" panose="02020603050405020304" pitchFamily="18" typeface="Times New Roman"/>
                <a:cs charset="0" panose="02020603050405020304" pitchFamily="18" typeface="Times New Roman"/>
              </a:rPr>
              <a:t>1</a:t>
            </a:r>
            <a:r>
              <a:rPr altLang="en-IN" dirty="0" lang="en-IN">
                <a:latin charset="0" panose="02020603050405020304" pitchFamily="18" typeface="Times New Roman"/>
                <a:cs charset="0" panose="02020603050405020304" pitchFamily="18" typeface="Times New Roman"/>
              </a:rPr>
              <a:t> → aS</a:t>
            </a:r>
            <a:r>
              <a:rPr altLang="en-IN" baseline="-25000" dirty="0" lang="en-IN">
                <a:latin charset="0" panose="02020603050405020304" pitchFamily="18" typeface="Times New Roman"/>
                <a:cs charset="0" panose="02020603050405020304" pitchFamily="18" typeface="Times New Roman"/>
              </a:rPr>
              <a:t>1</a:t>
            </a:r>
            <a:r>
              <a:rPr altLang="en-IN" dirty="0" lang="en-IN">
                <a:latin charset="0" panose="02020603050405020304" pitchFamily="18" typeface="Times New Roman"/>
                <a:cs charset="0" panose="02020603050405020304" pitchFamily="18" typeface="Times New Roman"/>
              </a:rPr>
              <a:t>b,  S</a:t>
            </a:r>
            <a:r>
              <a:rPr altLang="en-IN" baseline="-25000" dirty="0" lang="en-IN">
                <a:latin charset="0" panose="02020603050405020304" pitchFamily="18" typeface="Times New Roman"/>
                <a:cs charset="0" panose="02020603050405020304" pitchFamily="18" typeface="Times New Roman"/>
              </a:rPr>
              <a:t>1</a:t>
            </a:r>
            <a:r>
              <a:rPr altLang="en-IN" dirty="0" lang="en-IN">
                <a:latin charset="0" panose="02020603050405020304" pitchFamily="18" typeface="Times New Roman"/>
                <a:cs charset="0" panose="02020603050405020304" pitchFamily="18" typeface="Times New Roman"/>
              </a:rPr>
              <a:t> → </a:t>
            </a:r>
            <a:r>
              <a:rPr dirty="0" lang="en-US">
                <a:latin charset="0" panose="02020603050405020304" pitchFamily="18" typeface="Times New Roman"/>
                <a:cs charset="0" panose="02020603050405020304" pitchFamily="18" typeface="Times New Roman"/>
              </a:rPr>
              <a:t>ε  and  </a:t>
            </a:r>
            <a:r>
              <a:rPr altLang="en-IN" dirty="0" lang="en-IN">
                <a:latin charset="0" panose="02020603050405020304" pitchFamily="18" typeface="Times New Roman"/>
                <a:cs charset="0" panose="02020603050405020304" pitchFamily="18" typeface="Times New Roman"/>
              </a:rPr>
              <a:t>G2: S</a:t>
            </a:r>
            <a:r>
              <a:rPr altLang="en-IN" baseline="-25000" dirty="0" lang="en-IN">
                <a:latin charset="0" panose="02020603050405020304" pitchFamily="18" typeface="Times New Roman"/>
                <a:cs charset="0" panose="02020603050405020304" pitchFamily="18" typeface="Times New Roman"/>
              </a:rPr>
              <a:t>2</a:t>
            </a:r>
            <a:r>
              <a:rPr altLang="en-IN" dirty="0" lang="en-IN">
                <a:latin charset="0" panose="02020603050405020304" pitchFamily="18" typeface="Times New Roman"/>
                <a:cs charset="0" panose="02020603050405020304" pitchFamily="18" typeface="Times New Roman"/>
              </a:rPr>
              <a:t> → cS</a:t>
            </a:r>
            <a:r>
              <a:rPr altLang="en-IN" baseline="-25000" dirty="0" lang="en-IN">
                <a:latin charset="0" panose="02020603050405020304" pitchFamily="18" typeface="Times New Roman"/>
                <a:cs charset="0" panose="02020603050405020304" pitchFamily="18" typeface="Times New Roman"/>
              </a:rPr>
              <a:t>2</a:t>
            </a:r>
            <a:r>
              <a:rPr altLang="en-IN" dirty="0" lang="en-IN">
                <a:latin charset="0" panose="02020603050405020304" pitchFamily="18" typeface="Times New Roman"/>
                <a:cs charset="0" panose="02020603050405020304" pitchFamily="18" typeface="Times New Roman"/>
              </a:rPr>
              <a:t>d ,   S</a:t>
            </a:r>
            <a:r>
              <a:rPr altLang="en-IN" baseline="-25000" dirty="0" lang="en-IN">
                <a:latin charset="0" panose="02020603050405020304" pitchFamily="18" typeface="Times New Roman"/>
                <a:cs charset="0" panose="02020603050405020304" pitchFamily="18" typeface="Times New Roman"/>
              </a:rPr>
              <a:t>2</a:t>
            </a:r>
            <a:r>
              <a:rPr altLang="en-IN" dirty="0" lang="en-IN">
                <a:latin charset="0" panose="02020603050405020304" pitchFamily="18" typeface="Times New Roman"/>
                <a:cs charset="0" panose="02020603050405020304" pitchFamily="18" typeface="Times New Roman"/>
              </a:rPr>
              <a:t> → </a:t>
            </a:r>
            <a:r>
              <a:rPr dirty="0" lang="en-US">
                <a:latin charset="0" panose="02020603050405020304" pitchFamily="18" typeface="Times New Roman"/>
                <a:cs charset="0" panose="02020603050405020304" pitchFamily="18" typeface="Times New Roman"/>
              </a:rPr>
              <a:t>ε</a:t>
            </a:r>
          </a:p>
          <a:p>
            <a:pPr indent="0" lvl="3" marL="0">
              <a:spcBef>
                <a:spcPts val="600"/>
              </a:spcBef>
              <a:buNone/>
            </a:pPr>
            <a:r>
              <a:rPr altLang="en-IN" dirty="0" lang="en-IN">
                <a:latin charset="0" panose="02020603050405020304" pitchFamily="18" typeface="Times New Roman"/>
                <a:cs charset="0" panose="02020603050405020304" pitchFamily="18" typeface="Times New Roman"/>
              </a:rPr>
              <a:t>Then </a:t>
            </a:r>
            <a:r>
              <a:rPr altLang="nn-NO" dirty="0" lang="nn-NO">
                <a:latin charset="0" panose="02020603050405020304" pitchFamily="18" typeface="Times New Roman"/>
                <a:cs charset="0" panose="02020603050405020304" pitchFamily="18" typeface="Times New Roman"/>
              </a:rPr>
              <a:t>L(G) = L(G1) ∪ L(G2);   G = (V</a:t>
            </a:r>
            <a:r>
              <a:rPr altLang="nn-NO" baseline="-25000" dirty="0" lang="nn-NO">
                <a:latin charset="0" panose="02020603050405020304" pitchFamily="18" typeface="Times New Roman"/>
                <a:cs charset="0" panose="02020603050405020304" pitchFamily="18" typeface="Times New Roman"/>
              </a:rPr>
              <a:t>1</a:t>
            </a:r>
            <a:r>
              <a:rPr altLang="nn-NO" dirty="0" lang="nn-NO">
                <a:latin charset="0" panose="02020603050405020304" pitchFamily="18" typeface="Times New Roman"/>
                <a:cs charset="0" panose="02020603050405020304" pitchFamily="18" typeface="Times New Roman"/>
              </a:rPr>
              <a:t> ∪ V</a:t>
            </a:r>
            <a:r>
              <a:rPr altLang="nn-NO" baseline="-25000" dirty="0" lang="nn-NO">
                <a:latin charset="0" panose="02020603050405020304" pitchFamily="18" typeface="Times New Roman"/>
                <a:cs charset="0" panose="02020603050405020304" pitchFamily="18" typeface="Times New Roman"/>
              </a:rPr>
              <a:t>2</a:t>
            </a:r>
            <a:r>
              <a:rPr altLang="nn-NO" dirty="0" lang="nn-NO">
                <a:latin charset="0" panose="02020603050405020304" pitchFamily="18" typeface="Times New Roman"/>
                <a:cs charset="0" panose="02020603050405020304" pitchFamily="18" typeface="Times New Roman"/>
              </a:rPr>
              <a:t> ∪ {S}, </a:t>
            </a:r>
            <a:r>
              <a:rPr altLang="el-GR" dirty="0" lang="el-GR">
                <a:latin charset="0" panose="02020603050405020304" pitchFamily="18" typeface="Times New Roman"/>
                <a:cs charset="0" panose="02020603050405020304" pitchFamily="18" typeface="Times New Roman"/>
              </a:rPr>
              <a:t>Σ</a:t>
            </a:r>
            <a:r>
              <a:rPr altLang="el-GR" baseline="-25000" dirty="0" lang="el-GR">
                <a:latin charset="0" panose="02020603050405020304" pitchFamily="18" typeface="Times New Roman"/>
                <a:cs charset="0" panose="02020603050405020304" pitchFamily="18" typeface="Times New Roman"/>
              </a:rPr>
              <a:t>1</a:t>
            </a:r>
            <a:r>
              <a:rPr altLang="el-GR" dirty="0" lang="el-GR">
                <a:latin charset="0" panose="02020603050405020304" pitchFamily="18" typeface="Times New Roman"/>
                <a:cs charset="0" panose="02020603050405020304" pitchFamily="18" typeface="Times New Roman"/>
              </a:rPr>
              <a:t> ∪ Σ</a:t>
            </a:r>
            <a:r>
              <a:rPr altLang="el-GR" baseline="-25000" dirty="0" lang="el-GR">
                <a:latin charset="0" panose="02020603050405020304" pitchFamily="18" typeface="Times New Roman"/>
                <a:cs charset="0" panose="02020603050405020304" pitchFamily="18" typeface="Times New Roman"/>
              </a:rPr>
              <a:t>2</a:t>
            </a:r>
            <a:r>
              <a:rPr altLang="el-GR" dirty="0" lang="el-GR">
                <a:latin charset="0" panose="02020603050405020304" pitchFamily="18" typeface="Times New Roman"/>
                <a:cs charset="0" panose="02020603050405020304" pitchFamily="18" typeface="Times New Roman"/>
              </a:rPr>
              <a:t>, </a:t>
            </a:r>
            <a:r>
              <a:rPr altLang="nn-NO" dirty="0" lang="nn-NO">
                <a:latin charset="0" panose="02020603050405020304" pitchFamily="18" typeface="Times New Roman"/>
                <a:cs charset="0" panose="02020603050405020304" pitchFamily="18" typeface="Times New Roman"/>
              </a:rPr>
              <a:t>P, S )</a:t>
            </a:r>
          </a:p>
          <a:p>
            <a:pPr indent="0" lvl="3" marL="0">
              <a:spcBef>
                <a:spcPts val="600"/>
              </a:spcBef>
              <a:buNone/>
            </a:pPr>
            <a:r>
              <a:rPr altLang="nn-NO" dirty="0" lang="nn-NO">
                <a:latin charset="0" panose="02020603050405020304" pitchFamily="18" typeface="Times New Roman"/>
                <a:cs charset="0" panose="02020603050405020304" pitchFamily="18" typeface="Times New Roman"/>
              </a:rPr>
              <a:t>G: S </a:t>
            </a: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aS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b</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ε </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 cS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d</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 ε </a:t>
            </a:r>
            <a:endParaRPr altLang="en-IN" dirty="0" lang="en-IN">
              <a:latin charset="0" panose="02020603050405020304" pitchFamily="18" typeface="Times New Roman"/>
              <a:cs charset="0" panose="02020603050405020304" pitchFamily="18" typeface="Times New Roman"/>
            </a:endParaRPr>
          </a:p>
        </p:txBody>
      </p:sp>
      <p:cxnSp>
        <p:nvCxnSpPr>
          <p:cNvPr id="6" name="Straight Connector 5">
            <a:extLst>
              <a:ext uri="{FF2B5EF4-FFF2-40B4-BE49-F238E27FC236}">
                <a16:creationId xmlns:a16="http://schemas.microsoft.com/office/drawing/2014/main" id="{00F15D24-C7C4-2070-BFFE-26C393F936DA}"/>
              </a:ext>
            </a:extLst>
          </p:cNvPr>
          <p:cNvCxnSpPr/>
          <p:nvPr/>
        </p:nvCxnSpPr>
        <p:spPr>
          <a:xfrm>
            <a:off x="0" y="323469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063605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6"/>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4">
                                            <p:txEl>
                                              <p:pRg end="0" st="0"/>
                                            </p:txEl>
                                          </p:spTgt>
                                        </p:tgtEl>
                                        <p:attrNameLst>
                                          <p:attrName>style.visibility</p:attrName>
                                        </p:attrNameLst>
                                      </p:cBhvr>
                                      <p:to>
                                        <p:strVal val="visible"/>
                                      </p:to>
                                    </p:set>
                                  </p:childTnLst>
                                </p:cTn>
                              </p:par>
                              <p:par>
                                <p:cTn fill="hold" id="35" nodeType="withEffect" presetClass="entr" presetID="1" presetSubtype="0">
                                  <p:stCondLst>
                                    <p:cond delay="0"/>
                                  </p:stCondLst>
                                  <p:childTnLst>
                                    <p:set>
                                      <p:cBhvr>
                                        <p:cTn dur="1" fill="hold" id="36">
                                          <p:stCondLst>
                                            <p:cond delay="0"/>
                                          </p:stCondLst>
                                        </p:cTn>
                                        <p:tgtEl>
                                          <p:spTgt spid="4">
                                            <p:txEl>
                                              <p:pRg end="1" st="1"/>
                                            </p:txEl>
                                          </p:spTgt>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id="39" nodeType="clickEffect" presetClass="entr" presetID="1" presetSubtype="0">
                                  <p:stCondLst>
                                    <p:cond delay="0"/>
                                  </p:stCondLst>
                                  <p:childTnLst>
                                    <p:set>
                                      <p:cBhvr>
                                        <p:cTn dur="1" fill="hold" id="40">
                                          <p:stCondLst>
                                            <p:cond delay="0"/>
                                          </p:stCondLst>
                                        </p:cTn>
                                        <p:tgtEl>
                                          <p:spTgt spid="4">
                                            <p:txEl>
                                              <p:pRg end="2" st="2"/>
                                            </p:txEl>
                                          </p:spTgt>
                                        </p:tgtEl>
                                        <p:attrNameLst>
                                          <p:attrName>style.visibility</p:attrName>
                                        </p:attrNameLst>
                                      </p:cBhvr>
                                      <p:to>
                                        <p:strVal val="visible"/>
                                      </p:to>
                                    </p:set>
                                  </p:childTnLst>
                                </p:cTn>
                              </p:par>
                            </p:childTnLst>
                          </p:cTn>
                        </p:par>
                      </p:childTnLst>
                    </p:cTn>
                  </p:par>
                  <p:par>
                    <p:cTn fill="hold" id="41">
                      <p:stCondLst>
                        <p:cond delay="indefinite"/>
                      </p:stCondLst>
                      <p:childTnLst>
                        <p:par>
                          <p:cTn fill="hold" id="42">
                            <p:stCondLst>
                              <p:cond delay="0"/>
                            </p:stCondLst>
                            <p:childTnLst>
                              <p:par>
                                <p:cTn fill="hold" id="43" nodeType="clickEffect" presetClass="entr" presetID="1" presetSubtype="0">
                                  <p:stCondLst>
                                    <p:cond delay="0"/>
                                  </p:stCondLst>
                                  <p:childTnLst>
                                    <p:set>
                                      <p:cBhvr>
                                        <p:cTn dur="1" fill="hold" id="44">
                                          <p:stCondLst>
                                            <p:cond delay="0"/>
                                          </p:stCondLst>
                                        </p:cTn>
                                        <p:tgtEl>
                                          <p:spTgt spid="4">
                                            <p:txEl>
                                              <p:pRg end="3" st="3"/>
                                            </p:txEl>
                                          </p:spTgt>
                                        </p:tgtEl>
                                        <p:attrNameLst>
                                          <p:attrName>style.visibility</p:attrName>
                                        </p:attrNameLst>
                                      </p:cBhvr>
                                      <p:to>
                                        <p:strVal val="visible"/>
                                      </p:to>
                                    </p:set>
                                  </p:childTnLst>
                                </p:cTn>
                              </p:par>
                            </p:childTnLst>
                          </p:cTn>
                        </p:par>
                      </p:childTnLst>
                    </p:cTn>
                  </p:par>
                  <p:par>
                    <p:cTn fill="hold" id="45">
                      <p:stCondLst>
                        <p:cond delay="indefinite"/>
                      </p:stCondLst>
                      <p:childTnLst>
                        <p:par>
                          <p:cTn fill="hold" id="46">
                            <p:stCondLst>
                              <p:cond delay="0"/>
                            </p:stCondLst>
                            <p:childTnLst>
                              <p:par>
                                <p:cTn fill="hold" id="47" nodeType="clickEffect" presetClass="entr" presetID="1" presetSubtype="0">
                                  <p:stCondLst>
                                    <p:cond delay="0"/>
                                  </p:stCondLst>
                                  <p:childTnLst>
                                    <p:set>
                                      <p:cBhvr>
                                        <p:cTn dur="1" fill="hold" id="48">
                                          <p:stCondLst>
                                            <p:cond delay="0"/>
                                          </p:stCondLst>
                                        </p:cTn>
                                        <p:tgtEl>
                                          <p:spTgt spid="4">
                                            <p:txEl>
                                              <p:pRg end="4" st="4"/>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4">
                                            <p:txEl>
                                              <p:pRg end="5" st="5"/>
                                            </p:txEl>
                                          </p:spTgt>
                                        </p:tgtEl>
                                        <p:attrNameLst>
                                          <p:attrName>style.visibility</p:attrName>
                                        </p:attrNameLst>
                                      </p:cBhvr>
                                      <p:to>
                                        <p:strVal val="visible"/>
                                      </p:to>
                                    </p:set>
                                  </p:childTnLst>
                                </p:cTn>
                              </p:par>
                              <p:par>
                                <p:cTn fill="hold" id="51" nodeType="withEffect" presetClass="entr" presetID="1" presetSubtype="0">
                                  <p:stCondLst>
                                    <p:cond delay="0"/>
                                  </p:stCondLst>
                                  <p:childTnLst>
                                    <p:set>
                                      <p:cBhvr>
                                        <p:cTn dur="1" fill="hold" id="52">
                                          <p:stCondLst>
                                            <p:cond delay="0"/>
                                          </p:stCondLst>
                                        </p:cTn>
                                        <p:tgtEl>
                                          <p:spTgt spid="4">
                                            <p:txEl>
                                              <p:pRg end="6" st="6"/>
                                            </p:txEl>
                                          </p:spTgt>
                                        </p:tgtEl>
                                        <p:attrNameLst>
                                          <p:attrName>style.visibility</p:attrName>
                                        </p:attrNameLst>
                                      </p:cBhvr>
                                      <p:to>
                                        <p:strVal val="visible"/>
                                      </p:to>
                                    </p:set>
                                  </p:childTnLst>
                                </p:cTn>
                              </p:par>
                              <p:par>
                                <p:cTn fill="hold" id="53" nodeType="withEffect" presetClass="entr" presetID="1" presetSubtype="0">
                                  <p:stCondLst>
                                    <p:cond delay="0"/>
                                  </p:stCondLst>
                                  <p:childTnLst>
                                    <p:set>
                                      <p:cBhvr>
                                        <p:cTn dur="1" fill="hold" id="54">
                                          <p:stCondLst>
                                            <p:cond delay="0"/>
                                          </p:stCondLst>
                                        </p:cTn>
                                        <p:tgtEl>
                                          <p:spTgt spid="4">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B39A-ECED-BD85-663F-ED28DBCCC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2A951-A79B-910C-6DFF-A94E5366A308}"/>
              </a:ext>
            </a:extLst>
          </p:cNvPr>
          <p:cNvSpPr txBox="1">
            <a:spLocks/>
          </p:cNvSpPr>
          <p:nvPr/>
        </p:nvSpPr>
        <p:spPr>
          <a:xfrm>
            <a:off x="594360" y="229453"/>
            <a:ext cx="11407140" cy="816603"/>
          </a:xfrm>
          <a:prstGeom prst="rect">
            <a:avLst/>
          </a:prstGeom>
        </p:spPr>
        <p:txBody>
          <a:bodyPr numCol="1">
            <a:noAutofit/>
          </a:bodyPr>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b="1" dirty="0" lang="en-US" sz="2400">
                <a:solidFill>
                  <a:schemeClr val="tx1"/>
                </a:solidFill>
                <a:latin charset="0" panose="02020603050405020304" pitchFamily="18" typeface="Times New Roman"/>
                <a:cs charset="0" panose="02020603050405020304" pitchFamily="18" typeface="Times New Roman"/>
              </a:rPr>
              <a:t>Concatenation: If L 1 and L2 are context-free languages, then L1 L2 is a context-free language</a:t>
            </a:r>
            <a:endParaRPr altLang="en-IN" dirty="0" lang="en-IN" sz="2400">
              <a:solidFill>
                <a:schemeClr val="tx1"/>
              </a:solidFill>
              <a:latin charset="0" panose="02020603050405020304" pitchFamily="18" typeface="Times New Roman"/>
              <a:cs charset="0" panose="02020603050405020304" pitchFamily="18" typeface="Times New Roman"/>
            </a:endParaRPr>
          </a:p>
        </p:txBody>
      </p:sp>
      <p:sp>
        <p:nvSpPr>
          <p:cNvPr id="3" name="Content Placeholder 2">
            <a:extLst>
              <a:ext uri="{FF2B5EF4-FFF2-40B4-BE49-F238E27FC236}">
                <a16:creationId xmlns:a16="http://schemas.microsoft.com/office/drawing/2014/main" id="{4AA4D1E7-E59C-D995-9577-6D1DEF215A8B}"/>
              </a:ext>
            </a:extLst>
          </p:cNvPr>
          <p:cNvSpPr txBox="1">
            <a:spLocks/>
          </p:cNvSpPr>
          <p:nvPr/>
        </p:nvSpPr>
        <p:spPr>
          <a:xfrm>
            <a:off x="594360" y="1046056"/>
            <a:ext cx="11064240" cy="4023360"/>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buFont charset="0" panose="020B0604020202020204" pitchFamily="34" typeface="Arial"/>
              <a:buChar char="•"/>
            </a:pPr>
            <a:r>
              <a:rPr dirty="0" lang="en-US">
                <a:solidFill>
                  <a:schemeClr val="tx1"/>
                </a:solidFill>
                <a:latin charset="0" panose="02020603050405020304" pitchFamily="18" typeface="Times New Roman"/>
                <a:cs charset="0" panose="02020603050405020304" pitchFamily="18" typeface="Times New Roman"/>
              </a:rPr>
              <a:t>Let L</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be language recognized by G</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 (V</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Σ, P</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S</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and </a:t>
            </a:r>
          </a:p>
          <a:p>
            <a:pPr>
              <a:buFont charset="0" panose="020B0604020202020204" pitchFamily="34" typeface="Arial"/>
              <a:buChar char="•"/>
            </a:pPr>
            <a:r>
              <a:rPr dirty="0" lang="en-US">
                <a:solidFill>
                  <a:schemeClr val="tx1"/>
                </a:solidFill>
                <a:latin charset="0" panose="02020603050405020304" pitchFamily="18" typeface="Times New Roman"/>
                <a:cs charset="0" panose="02020603050405020304" pitchFamily="18" typeface="Times New Roman"/>
              </a:rPr>
              <a:t>L</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the language recognized by G</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 (V</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Σ, P</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S</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Assume that V</a:t>
            </a:r>
            <a:r>
              <a:rPr baseline="-25000" dirty="0" lang="en-US">
                <a:solidFill>
                  <a:schemeClr val="tx1"/>
                </a:solidFill>
                <a:latin charset="0" panose="02020603050405020304" pitchFamily="18" typeface="Times New Roman"/>
                <a:cs charset="0" panose="02020603050405020304" pitchFamily="18" typeface="Times New Roman"/>
              </a:rPr>
              <a:t>1</a:t>
            </a:r>
            <a:r>
              <a:rPr dirty="0" lang="en-US">
                <a:solidFill>
                  <a:schemeClr val="tx1"/>
                </a:solidFill>
                <a:latin charset="0" panose="02020603050405020304" pitchFamily="18" typeface="Times New Roman"/>
                <a:cs charset="0" panose="02020603050405020304" pitchFamily="18" typeface="Times New Roman"/>
              </a:rPr>
              <a:t> ∩ V</a:t>
            </a:r>
            <a:r>
              <a:rPr baseline="-25000" dirty="0" lang="en-US">
                <a:solidFill>
                  <a:schemeClr val="tx1"/>
                </a:solidFill>
                <a:latin charset="0" panose="02020603050405020304" pitchFamily="18" typeface="Times New Roman"/>
                <a:cs charset="0" panose="02020603050405020304" pitchFamily="18" typeface="Times New Roman"/>
              </a:rPr>
              <a:t>2</a:t>
            </a:r>
            <a:r>
              <a:rPr dirty="0" lang="en-US">
                <a:solidFill>
                  <a:schemeClr val="tx1"/>
                </a:solidFill>
                <a:latin charset="0" panose="02020603050405020304" pitchFamily="18" typeface="Times New Roman"/>
                <a:cs charset="0" panose="02020603050405020304" pitchFamily="18" typeface="Times New Roman"/>
              </a:rPr>
              <a:t> = ∅;</a:t>
            </a:r>
          </a:p>
          <a:p>
            <a:pPr>
              <a:buFont charset="0" panose="020B0604020202020204" pitchFamily="34" typeface="Arial"/>
              <a:buChar char="•"/>
            </a:pPr>
            <a:r>
              <a:rPr altLang="en-IN" dirty="0" lang="en-IN">
                <a:solidFill>
                  <a:schemeClr val="tx1"/>
                </a:solidFill>
                <a:latin charset="0" panose="02020603050405020304" pitchFamily="18" typeface="Times New Roman"/>
                <a:cs charset="0" panose="02020603050405020304" pitchFamily="18" typeface="Times New Roman"/>
              </a:rPr>
              <a:t>We will construct a grammar G = (V, </a:t>
            </a:r>
            <a:r>
              <a:rPr altLang="el-GR" dirty="0" lang="el-GR">
                <a:solidFill>
                  <a:schemeClr val="tx1"/>
                </a:solidFill>
                <a:latin charset="0" panose="02020603050405020304" pitchFamily="18" typeface="Times New Roman"/>
                <a:cs charset="0" panose="02020603050405020304" pitchFamily="18" typeface="Times New Roman"/>
              </a:rPr>
              <a:t>Σ, </a:t>
            </a:r>
            <a:r>
              <a:rPr altLang="en-IN" dirty="0" lang="en-IN">
                <a:solidFill>
                  <a:schemeClr val="tx1"/>
                </a:solidFill>
                <a:latin charset="0" panose="02020603050405020304" pitchFamily="18" typeface="Times New Roman"/>
                <a:cs charset="0" panose="02020603050405020304" pitchFamily="18" typeface="Times New Roman"/>
              </a:rPr>
              <a:t>R, S) such that L(G) = L(G</a:t>
            </a:r>
            <a:r>
              <a:rPr altLang="en-IN" baseline="-25000" dirty="0" lang="en-IN">
                <a:solidFill>
                  <a:schemeClr val="tx1"/>
                </a:solidFill>
                <a:latin charset="0" panose="02020603050405020304" pitchFamily="18" typeface="Times New Roman"/>
                <a:cs charset="0" panose="02020603050405020304" pitchFamily="18" typeface="Times New Roman"/>
              </a:rPr>
              <a:t>1</a:t>
            </a:r>
            <a:r>
              <a:rPr altLang="en-IN" dirty="0" lang="en-IN">
                <a:solidFill>
                  <a:schemeClr val="tx1"/>
                </a:solidFill>
                <a:latin charset="0" panose="02020603050405020304" pitchFamily="18" typeface="Times New Roman"/>
                <a:cs charset="0" panose="02020603050405020304" pitchFamily="18" typeface="Times New Roman"/>
              </a:rPr>
              <a:t>) L(G</a:t>
            </a:r>
            <a:r>
              <a:rPr altLang="en-IN" baseline="-25000" dirty="0" lang="en-IN">
                <a:solidFill>
                  <a:schemeClr val="tx1"/>
                </a:solidFill>
                <a:latin charset="0" panose="02020603050405020304" pitchFamily="18" typeface="Times New Roman"/>
                <a:cs charset="0" panose="02020603050405020304" pitchFamily="18" typeface="Times New Roman"/>
              </a:rPr>
              <a:t>2</a:t>
            </a:r>
            <a:r>
              <a:rPr altLang="en-IN" dirty="0" lang="en-IN">
                <a:solidFill>
                  <a:schemeClr val="tx1"/>
                </a:solidFill>
                <a:latin charset="0" panose="02020603050405020304" pitchFamily="18" typeface="Times New Roman"/>
                <a:cs charset="0" panose="02020603050405020304" pitchFamily="18" typeface="Times New Roman"/>
              </a:rPr>
              <a:t>) as follows.</a:t>
            </a:r>
          </a:p>
          <a:p>
            <a:pPr lvl="1">
              <a:buFont charset="0" panose="020B0604020202020204" pitchFamily="34" typeface="Arial"/>
              <a:buChar char="•"/>
            </a:pPr>
            <a:r>
              <a:rPr altLang="en-IN" dirty="0" lang="en-IN" sz="2000">
                <a:solidFill>
                  <a:schemeClr val="tx1"/>
                </a:solidFill>
                <a:latin charset="0" panose="02020603050405020304" pitchFamily="18" typeface="Times New Roman"/>
                <a:cs charset="0" panose="02020603050405020304" pitchFamily="18" typeface="Times New Roman"/>
              </a:rPr>
              <a:t>V = V</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V</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 {S}, where S ∉ V</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V</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(and V</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V</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 ∅)</a:t>
            </a:r>
          </a:p>
          <a:p>
            <a:pPr lvl="1">
              <a:buFont charset="0" panose="020B0604020202020204" pitchFamily="34" typeface="Arial"/>
              <a:buChar char="•"/>
            </a:pPr>
            <a:r>
              <a:rPr altLang="en-IN" dirty="0" lang="en-IN" sz="2000">
                <a:solidFill>
                  <a:schemeClr val="tx1"/>
                </a:solidFill>
                <a:latin charset="0" panose="02020603050405020304" pitchFamily="18" typeface="Times New Roman"/>
                <a:cs charset="0" panose="02020603050405020304" pitchFamily="18" typeface="Times New Roman"/>
              </a:rPr>
              <a:t>P = P</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 ∪ P</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 ∪ {S → S</a:t>
            </a:r>
            <a:r>
              <a:rPr altLang="en-IN" baseline="-25000" dirty="0" lang="en-IN" sz="2000">
                <a:solidFill>
                  <a:schemeClr val="tx1"/>
                </a:solidFill>
                <a:latin charset="0" panose="02020603050405020304" pitchFamily="18" typeface="Times New Roman"/>
                <a:cs charset="0" panose="02020603050405020304" pitchFamily="18" typeface="Times New Roman"/>
              </a:rPr>
              <a:t>1</a:t>
            </a:r>
            <a:r>
              <a:rPr altLang="en-IN" dirty="0" lang="en-IN" sz="2000">
                <a:solidFill>
                  <a:schemeClr val="tx1"/>
                </a:solidFill>
                <a:latin charset="0" panose="02020603050405020304" pitchFamily="18" typeface="Times New Roman"/>
                <a:cs charset="0" panose="02020603050405020304" pitchFamily="18" typeface="Times New Roman"/>
              </a:rPr>
              <a:t>S</a:t>
            </a:r>
            <a:r>
              <a:rPr altLang="en-IN" baseline="-25000" dirty="0" lang="en-IN" sz="2000">
                <a:solidFill>
                  <a:schemeClr val="tx1"/>
                </a:solidFill>
                <a:latin charset="0" panose="02020603050405020304" pitchFamily="18" typeface="Times New Roman"/>
                <a:cs charset="0" panose="02020603050405020304" pitchFamily="18" typeface="Times New Roman"/>
              </a:rPr>
              <a:t>2</a:t>
            </a:r>
            <a:r>
              <a:rPr altLang="en-IN" dirty="0" lang="en-IN" sz="2000">
                <a:solidFill>
                  <a:schemeClr val="tx1"/>
                </a:solidFill>
                <a:latin charset="0" panose="02020603050405020304" pitchFamily="18" typeface="Times New Roman"/>
                <a:cs charset="0" panose="02020603050405020304" pitchFamily="18" typeface="Times New Roman"/>
              </a:rPr>
              <a:t>}</a:t>
            </a:r>
          </a:p>
        </p:txBody>
      </p:sp>
      <p:sp>
        <p:nvSpPr>
          <p:cNvPr id="4" name="TextBox 3">
            <a:extLst>
              <a:ext uri="{FF2B5EF4-FFF2-40B4-BE49-F238E27FC236}">
                <a16:creationId xmlns:a16="http://schemas.microsoft.com/office/drawing/2014/main" id="{ED492299-D549-065D-EF9E-812E67831DFC}"/>
              </a:ext>
            </a:extLst>
          </p:cNvPr>
          <p:cNvSpPr txBox="1"/>
          <p:nvPr/>
        </p:nvSpPr>
        <p:spPr>
          <a:xfrm>
            <a:off x="704850" y="3308700"/>
            <a:ext cx="9845040" cy="2846933"/>
          </a:xfrm>
          <a:prstGeom prst="rect">
            <a:avLst/>
          </a:prstGeom>
          <a:noFill/>
        </p:spPr>
        <p:txBody>
          <a:bodyPr numCol="1" wrap="square">
            <a:spAutoFit/>
          </a:bodyPr>
          <a:lstStyle/>
          <a:p>
            <a:pPr indent="0" marL="0">
              <a:buNone/>
            </a:pPr>
            <a:r>
              <a:rPr altLang="en-IN" b="1" dirty="0" lang="en-IN">
                <a:latin charset="0" panose="02020603050405020304" pitchFamily="18" typeface="Times New Roman"/>
                <a:cs charset="0" panose="02020603050405020304" pitchFamily="18" typeface="Times New Roman"/>
              </a:rPr>
              <a:t>For example: If L(G1) = {</a:t>
            </a:r>
            <a:r>
              <a:rPr altLang="en-IN" b="1" dirty="0" err="1" lang="en-IN">
                <a:latin charset="0" panose="02020603050405020304" pitchFamily="18" typeface="Times New Roman"/>
                <a:cs charset="0" panose="02020603050405020304" pitchFamily="18" typeface="Times New Roman"/>
              </a:rPr>
              <a:t>a</a:t>
            </a:r>
            <a:r>
              <a:rPr altLang="en-IN" b="1" baseline="30000" dirty="0" err="1" lang="en-IN">
                <a:latin charset="0" panose="02020603050405020304" pitchFamily="18" typeface="Times New Roman"/>
                <a:cs charset="0" panose="02020603050405020304" pitchFamily="18" typeface="Times New Roman"/>
              </a:rPr>
              <a:t>n</a:t>
            </a:r>
            <a:r>
              <a:rPr altLang="en-IN" b="1" dirty="0" err="1" lang="en-IN">
                <a:latin charset="0" panose="02020603050405020304" pitchFamily="18" typeface="Times New Roman"/>
                <a:cs charset="0" panose="02020603050405020304" pitchFamily="18" typeface="Times New Roman"/>
              </a:rPr>
              <a:t>b</a:t>
            </a:r>
            <a:r>
              <a:rPr altLang="en-IN" b="1" baseline="30000" dirty="0" err="1" lang="en-IN">
                <a:latin charset="0" panose="02020603050405020304" pitchFamily="18" typeface="Times New Roman"/>
                <a:cs charset="0" panose="02020603050405020304" pitchFamily="18" typeface="Times New Roman"/>
              </a:rPr>
              <a:t>n</a:t>
            </a:r>
            <a:r>
              <a:rPr altLang="en-IN" b="1" dirty="0" lang="en-IN">
                <a:latin charset="0" panose="02020603050405020304" pitchFamily="18" typeface="Times New Roman"/>
                <a:cs charset="0" panose="02020603050405020304" pitchFamily="18" typeface="Times New Roman"/>
              </a:rPr>
              <a:t> : n ≥ 0}. Also, L(G2) = {</a:t>
            </a:r>
            <a:r>
              <a:rPr altLang="en-IN" b="1" dirty="0" err="1" lang="en-IN">
                <a:latin charset="0" panose="02020603050405020304" pitchFamily="18" typeface="Times New Roman"/>
                <a:cs charset="0" panose="02020603050405020304" pitchFamily="18" typeface="Times New Roman"/>
              </a:rPr>
              <a:t>c</a:t>
            </a:r>
            <a:r>
              <a:rPr altLang="en-IN" b="1" baseline="30000" dirty="0" err="1" lang="en-IN">
                <a:latin charset="0" panose="02020603050405020304" pitchFamily="18" typeface="Times New Roman"/>
                <a:cs charset="0" panose="02020603050405020304" pitchFamily="18" typeface="Times New Roman"/>
              </a:rPr>
              <a:t>m</a:t>
            </a:r>
            <a:r>
              <a:rPr altLang="en-IN" b="1" dirty="0" err="1" lang="en-IN">
                <a:latin charset="0" panose="02020603050405020304" pitchFamily="18" typeface="Times New Roman"/>
                <a:cs charset="0" panose="02020603050405020304" pitchFamily="18" typeface="Times New Roman"/>
              </a:rPr>
              <a:t>d</a:t>
            </a:r>
            <a:r>
              <a:rPr altLang="en-IN" b="1" baseline="30000" dirty="0" err="1" lang="en-IN">
                <a:latin charset="0" panose="02020603050405020304" pitchFamily="18" typeface="Times New Roman"/>
                <a:cs charset="0" panose="02020603050405020304" pitchFamily="18" typeface="Times New Roman"/>
              </a:rPr>
              <a:t>m</a:t>
            </a:r>
            <a:r>
              <a:rPr altLang="en-IN" b="1" dirty="0" lang="en-IN">
                <a:latin charset="0" panose="02020603050405020304" pitchFamily="18" typeface="Times New Roman"/>
                <a:cs charset="0" panose="02020603050405020304" pitchFamily="18" typeface="Times New Roman"/>
              </a:rPr>
              <a:t> : n ≥ 0}</a:t>
            </a:r>
          </a:p>
          <a:p>
            <a:pPr indent="0" marL="0">
              <a:spcBef>
                <a:spcPts val="600"/>
              </a:spcBef>
              <a:buNone/>
            </a:pPr>
            <a:r>
              <a:rPr altLang="en-IN" dirty="0" lang="en-IN">
                <a:latin charset="0" panose="02020603050405020304" pitchFamily="18" typeface="Times New Roman"/>
                <a:cs charset="0" panose="02020603050405020304" pitchFamily="18" typeface="Times New Roman"/>
              </a:rPr>
              <a:t>Then , G1: S</a:t>
            </a:r>
            <a:r>
              <a:rPr altLang="en-IN" baseline="-25000" dirty="0" lang="en-IN">
                <a:latin charset="0" panose="02020603050405020304" pitchFamily="18" typeface="Times New Roman"/>
                <a:cs charset="0" panose="02020603050405020304" pitchFamily="18" typeface="Times New Roman"/>
              </a:rPr>
              <a:t>1</a:t>
            </a:r>
            <a:r>
              <a:rPr altLang="en-IN" dirty="0" lang="en-IN">
                <a:latin charset="0" panose="02020603050405020304" pitchFamily="18" typeface="Times New Roman"/>
                <a:cs charset="0" panose="02020603050405020304" pitchFamily="18" typeface="Times New Roman"/>
              </a:rPr>
              <a:t> → aS</a:t>
            </a:r>
            <a:r>
              <a:rPr altLang="en-IN" baseline="-25000" dirty="0" lang="en-IN">
                <a:latin charset="0" panose="02020603050405020304" pitchFamily="18" typeface="Times New Roman"/>
                <a:cs charset="0" panose="02020603050405020304" pitchFamily="18" typeface="Times New Roman"/>
              </a:rPr>
              <a:t>1</a:t>
            </a:r>
            <a:r>
              <a:rPr altLang="en-IN" dirty="0" lang="en-IN">
                <a:latin charset="0" panose="02020603050405020304" pitchFamily="18" typeface="Times New Roman"/>
                <a:cs charset="0" panose="02020603050405020304" pitchFamily="18" typeface="Times New Roman"/>
              </a:rPr>
              <a:t>b,  S</a:t>
            </a:r>
            <a:r>
              <a:rPr altLang="en-IN" baseline="-25000" dirty="0" lang="en-IN">
                <a:latin charset="0" panose="02020603050405020304" pitchFamily="18" typeface="Times New Roman"/>
                <a:cs charset="0" panose="02020603050405020304" pitchFamily="18" typeface="Times New Roman"/>
              </a:rPr>
              <a:t>1</a:t>
            </a:r>
            <a:r>
              <a:rPr altLang="en-IN" dirty="0" lang="en-IN">
                <a:latin charset="0" panose="02020603050405020304" pitchFamily="18" typeface="Times New Roman"/>
                <a:cs charset="0" panose="02020603050405020304" pitchFamily="18" typeface="Times New Roman"/>
              </a:rPr>
              <a:t> → </a:t>
            </a:r>
            <a:r>
              <a:rPr dirty="0" lang="en-US">
                <a:latin charset="0" panose="02020603050405020304" pitchFamily="18" typeface="Times New Roman"/>
                <a:cs charset="0" panose="02020603050405020304" pitchFamily="18" typeface="Times New Roman"/>
              </a:rPr>
              <a:t>ε  and  </a:t>
            </a:r>
            <a:r>
              <a:rPr altLang="en-IN" dirty="0" lang="en-IN">
                <a:latin charset="0" panose="02020603050405020304" pitchFamily="18" typeface="Times New Roman"/>
                <a:cs charset="0" panose="02020603050405020304" pitchFamily="18" typeface="Times New Roman"/>
              </a:rPr>
              <a:t>G2: S</a:t>
            </a:r>
            <a:r>
              <a:rPr altLang="en-IN" baseline="-25000" dirty="0" lang="en-IN">
                <a:latin charset="0" panose="02020603050405020304" pitchFamily="18" typeface="Times New Roman"/>
                <a:cs charset="0" panose="02020603050405020304" pitchFamily="18" typeface="Times New Roman"/>
              </a:rPr>
              <a:t>2</a:t>
            </a:r>
            <a:r>
              <a:rPr altLang="en-IN" dirty="0" lang="en-IN">
                <a:latin charset="0" panose="02020603050405020304" pitchFamily="18" typeface="Times New Roman"/>
                <a:cs charset="0" panose="02020603050405020304" pitchFamily="18" typeface="Times New Roman"/>
              </a:rPr>
              <a:t> → cS</a:t>
            </a:r>
            <a:r>
              <a:rPr altLang="en-IN" baseline="-25000" dirty="0" lang="en-IN">
                <a:latin charset="0" panose="02020603050405020304" pitchFamily="18" typeface="Times New Roman"/>
                <a:cs charset="0" panose="02020603050405020304" pitchFamily="18" typeface="Times New Roman"/>
              </a:rPr>
              <a:t>2</a:t>
            </a:r>
            <a:r>
              <a:rPr altLang="en-IN" dirty="0" lang="en-IN">
                <a:latin charset="0" panose="02020603050405020304" pitchFamily="18" typeface="Times New Roman"/>
                <a:cs charset="0" panose="02020603050405020304" pitchFamily="18" typeface="Times New Roman"/>
              </a:rPr>
              <a:t>d ,   S</a:t>
            </a:r>
            <a:r>
              <a:rPr altLang="en-IN" baseline="-25000" dirty="0" lang="en-IN">
                <a:latin charset="0" panose="02020603050405020304" pitchFamily="18" typeface="Times New Roman"/>
                <a:cs charset="0" panose="02020603050405020304" pitchFamily="18" typeface="Times New Roman"/>
              </a:rPr>
              <a:t>2</a:t>
            </a:r>
            <a:r>
              <a:rPr altLang="en-IN" dirty="0" lang="en-IN">
                <a:latin charset="0" panose="02020603050405020304" pitchFamily="18" typeface="Times New Roman"/>
                <a:cs charset="0" panose="02020603050405020304" pitchFamily="18" typeface="Times New Roman"/>
              </a:rPr>
              <a:t> → </a:t>
            </a:r>
            <a:r>
              <a:rPr dirty="0" lang="en-US">
                <a:latin charset="0" panose="02020603050405020304" pitchFamily="18" typeface="Times New Roman"/>
                <a:cs charset="0" panose="02020603050405020304" pitchFamily="18" typeface="Times New Roman"/>
              </a:rPr>
              <a:t>ε</a:t>
            </a:r>
          </a:p>
          <a:p>
            <a:pPr indent="0" lvl="3" marL="0">
              <a:spcBef>
                <a:spcPts val="600"/>
              </a:spcBef>
              <a:buNone/>
            </a:pPr>
            <a:r>
              <a:rPr altLang="en-IN" dirty="0" lang="en-IN">
                <a:latin charset="0" panose="02020603050405020304" pitchFamily="18" typeface="Times New Roman"/>
                <a:cs charset="0" panose="02020603050405020304" pitchFamily="18" typeface="Times New Roman"/>
              </a:rPr>
              <a:t>Then </a:t>
            </a:r>
            <a:r>
              <a:rPr altLang="nn-NO" dirty="0" lang="nn-NO">
                <a:latin charset="0" panose="02020603050405020304" pitchFamily="18" typeface="Times New Roman"/>
                <a:cs charset="0" panose="02020603050405020304" pitchFamily="18" typeface="Times New Roman"/>
              </a:rPr>
              <a:t>L(G) = L(G1) L(G2);   G = (V</a:t>
            </a:r>
            <a:r>
              <a:rPr altLang="nn-NO" baseline="-25000" dirty="0" lang="nn-NO">
                <a:latin charset="0" panose="02020603050405020304" pitchFamily="18" typeface="Times New Roman"/>
                <a:cs charset="0" panose="02020603050405020304" pitchFamily="18" typeface="Times New Roman"/>
              </a:rPr>
              <a:t>1</a:t>
            </a:r>
            <a:r>
              <a:rPr altLang="nn-NO" dirty="0" lang="nn-NO">
                <a:latin charset="0" panose="02020603050405020304" pitchFamily="18" typeface="Times New Roman"/>
                <a:cs charset="0" panose="02020603050405020304" pitchFamily="18" typeface="Times New Roman"/>
              </a:rPr>
              <a:t> ∪ V</a:t>
            </a:r>
            <a:r>
              <a:rPr altLang="nn-NO" baseline="-25000" dirty="0" lang="nn-NO">
                <a:latin charset="0" panose="02020603050405020304" pitchFamily="18" typeface="Times New Roman"/>
                <a:cs charset="0" panose="02020603050405020304" pitchFamily="18" typeface="Times New Roman"/>
              </a:rPr>
              <a:t>2</a:t>
            </a:r>
            <a:r>
              <a:rPr altLang="nn-NO" dirty="0" lang="nn-NO">
                <a:latin charset="0" panose="02020603050405020304" pitchFamily="18" typeface="Times New Roman"/>
                <a:cs charset="0" panose="02020603050405020304" pitchFamily="18" typeface="Times New Roman"/>
              </a:rPr>
              <a:t> ∪ {S}, </a:t>
            </a:r>
            <a:r>
              <a:rPr altLang="el-GR" dirty="0" lang="el-GR">
                <a:latin charset="0" panose="02020603050405020304" pitchFamily="18" typeface="Times New Roman"/>
                <a:cs charset="0" panose="02020603050405020304" pitchFamily="18" typeface="Times New Roman"/>
              </a:rPr>
              <a:t>Σ</a:t>
            </a:r>
            <a:r>
              <a:rPr altLang="el-GR" baseline="-25000" dirty="0" lang="el-GR">
                <a:latin charset="0" panose="02020603050405020304" pitchFamily="18" typeface="Times New Roman"/>
                <a:cs charset="0" panose="02020603050405020304" pitchFamily="18" typeface="Times New Roman"/>
              </a:rPr>
              <a:t>1</a:t>
            </a:r>
            <a:r>
              <a:rPr altLang="el-GR" dirty="0" lang="el-GR">
                <a:latin charset="0" panose="02020603050405020304" pitchFamily="18" typeface="Times New Roman"/>
                <a:cs charset="0" panose="02020603050405020304" pitchFamily="18" typeface="Times New Roman"/>
              </a:rPr>
              <a:t> ∪ Σ</a:t>
            </a:r>
            <a:r>
              <a:rPr altLang="el-GR" baseline="-25000" dirty="0" lang="el-GR">
                <a:latin charset="0" panose="02020603050405020304" pitchFamily="18" typeface="Times New Roman"/>
                <a:cs charset="0" panose="02020603050405020304" pitchFamily="18" typeface="Times New Roman"/>
              </a:rPr>
              <a:t>2</a:t>
            </a:r>
            <a:r>
              <a:rPr altLang="el-GR" dirty="0" lang="el-GR">
                <a:latin charset="0" panose="02020603050405020304" pitchFamily="18" typeface="Times New Roman"/>
                <a:cs charset="0" panose="02020603050405020304" pitchFamily="18" typeface="Times New Roman"/>
              </a:rPr>
              <a:t>, </a:t>
            </a:r>
            <a:r>
              <a:rPr altLang="nn-NO" dirty="0" lang="nn-NO">
                <a:latin charset="0" panose="02020603050405020304" pitchFamily="18" typeface="Times New Roman"/>
                <a:cs charset="0" panose="02020603050405020304" pitchFamily="18" typeface="Times New Roman"/>
              </a:rPr>
              <a:t>P, S )</a:t>
            </a:r>
          </a:p>
          <a:p>
            <a:pPr indent="0" lvl="3" marL="0">
              <a:spcBef>
                <a:spcPts val="600"/>
              </a:spcBef>
              <a:buNone/>
            </a:pPr>
            <a:r>
              <a:rPr altLang="nn-NO" dirty="0" lang="nn-NO">
                <a:latin charset="0" panose="02020603050405020304" pitchFamily="18" typeface="Times New Roman"/>
                <a:cs charset="0" panose="02020603050405020304" pitchFamily="18" typeface="Times New Roman"/>
              </a:rPr>
              <a:t>G: S </a:t>
            </a: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aS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b</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1</a:t>
            </a:r>
            <a:r>
              <a:rPr dirty="0" lang="en-US">
                <a:latin charset="0" panose="02020603050405020304" pitchFamily="18" typeface="Times New Roman"/>
                <a:cs charset="0" panose="02020603050405020304" pitchFamily="18" typeface="Times New Roman"/>
              </a:rPr>
              <a:t> → ε </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 cS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d</a:t>
            </a:r>
          </a:p>
          <a:p>
            <a:pPr indent="0" lvl="3" marL="0">
              <a:spcBef>
                <a:spcPts val="600"/>
              </a:spcBef>
              <a:buNone/>
            </a:pPr>
            <a:r>
              <a:rPr dirty="0" lang="en-US">
                <a:latin charset="0" panose="02020603050405020304" pitchFamily="18" typeface="Times New Roman"/>
                <a:cs charset="0" panose="02020603050405020304" pitchFamily="18" typeface="Times New Roman"/>
              </a:rPr>
              <a:t>      S</a:t>
            </a:r>
            <a:r>
              <a:rPr baseline="-25000" dirty="0" lang="en-US">
                <a:latin charset="0" panose="02020603050405020304" pitchFamily="18" typeface="Times New Roman"/>
                <a:cs charset="0" panose="02020603050405020304" pitchFamily="18" typeface="Times New Roman"/>
              </a:rPr>
              <a:t>2</a:t>
            </a:r>
            <a:r>
              <a:rPr dirty="0" lang="en-US">
                <a:latin charset="0" panose="02020603050405020304" pitchFamily="18" typeface="Times New Roman"/>
                <a:cs charset="0" panose="02020603050405020304" pitchFamily="18" typeface="Times New Roman"/>
              </a:rPr>
              <a:t> → ε </a:t>
            </a:r>
            <a:endParaRPr altLang="en-IN" dirty="0" lang="en-IN">
              <a:latin charset="0" panose="02020603050405020304" pitchFamily="18" typeface="Times New Roman"/>
              <a:cs charset="0" panose="02020603050405020304" pitchFamily="18" typeface="Times New Roman"/>
            </a:endParaRPr>
          </a:p>
        </p:txBody>
      </p:sp>
      <p:cxnSp>
        <p:nvCxnSpPr>
          <p:cNvPr id="6" name="Straight Connector 5">
            <a:extLst>
              <a:ext uri="{FF2B5EF4-FFF2-40B4-BE49-F238E27FC236}">
                <a16:creationId xmlns:a16="http://schemas.microsoft.com/office/drawing/2014/main" id="{EA12E59E-C901-C70B-3A27-64CD9B11835E}"/>
              </a:ext>
            </a:extLst>
          </p:cNvPr>
          <p:cNvCxnSpPr/>
          <p:nvPr/>
        </p:nvCxnSpPr>
        <p:spPr>
          <a:xfrm>
            <a:off x="0" y="323469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03395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6"/>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4">
                                            <p:txEl>
                                              <p:pRg end="0" st="0"/>
                                            </p:txEl>
                                          </p:spTgt>
                                        </p:tgtEl>
                                        <p:attrNameLst>
                                          <p:attrName>style.visibility</p:attrName>
                                        </p:attrNameLst>
                                      </p:cBhvr>
                                      <p:to>
                                        <p:strVal val="visible"/>
                                      </p:to>
                                    </p:set>
                                  </p:childTnLst>
                                </p:cTn>
                              </p:par>
                              <p:par>
                                <p:cTn fill="hold" id="35" nodeType="withEffect" presetClass="entr" presetID="1" presetSubtype="0">
                                  <p:stCondLst>
                                    <p:cond delay="0"/>
                                  </p:stCondLst>
                                  <p:childTnLst>
                                    <p:set>
                                      <p:cBhvr>
                                        <p:cTn dur="1" fill="hold" id="36">
                                          <p:stCondLst>
                                            <p:cond delay="0"/>
                                          </p:stCondLst>
                                        </p:cTn>
                                        <p:tgtEl>
                                          <p:spTgt spid="4">
                                            <p:txEl>
                                              <p:pRg end="1" st="1"/>
                                            </p:txEl>
                                          </p:spTgt>
                                        </p:tgtEl>
                                        <p:attrNameLst>
                                          <p:attrName>style.visibility</p:attrName>
                                        </p:attrNameLst>
                                      </p:cBhvr>
                                      <p:to>
                                        <p:strVal val="visible"/>
                                      </p:to>
                                    </p:set>
                                  </p:childTnLst>
                                </p:cTn>
                              </p:par>
                              <p:par>
                                <p:cTn fill="hold" id="37" nodeType="withEffect" presetClass="entr" presetID="1" presetSubtype="0">
                                  <p:stCondLst>
                                    <p:cond delay="0"/>
                                  </p:stCondLst>
                                  <p:childTnLst>
                                    <p:set>
                                      <p:cBhvr>
                                        <p:cTn dur="1" fill="hold" id="38">
                                          <p:stCondLst>
                                            <p:cond delay="0"/>
                                          </p:stCondLst>
                                        </p:cTn>
                                        <p:tgtEl>
                                          <p:spTgt spid="4">
                                            <p:txEl>
                                              <p:pRg end="2" st="2"/>
                                            </p:txEl>
                                          </p:spTgt>
                                        </p:tgtEl>
                                        <p:attrNameLst>
                                          <p:attrName>style.visibility</p:attrName>
                                        </p:attrNameLst>
                                      </p:cBhvr>
                                      <p:to>
                                        <p:strVal val="visible"/>
                                      </p:to>
                                    </p:set>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1" presetSubtype="0">
                                  <p:stCondLst>
                                    <p:cond delay="0"/>
                                  </p:stCondLst>
                                  <p:childTnLst>
                                    <p:set>
                                      <p:cBhvr>
                                        <p:cTn dur="1" fill="hold" id="42">
                                          <p:stCondLst>
                                            <p:cond delay="0"/>
                                          </p:stCondLst>
                                        </p:cTn>
                                        <p:tgtEl>
                                          <p:spTgt spid="4">
                                            <p:txEl>
                                              <p:pRg end="3" st="3"/>
                                            </p:txEl>
                                          </p:spTgt>
                                        </p:tgtEl>
                                        <p:attrNameLst>
                                          <p:attrName>style.visibility</p:attrName>
                                        </p:attrNameLst>
                                      </p:cBhvr>
                                      <p:to>
                                        <p:strVal val="visible"/>
                                      </p:to>
                                    </p:set>
                                  </p:childTnLst>
                                </p:cTn>
                              </p:par>
                              <p:par>
                                <p:cTn fill="hold" id="43" nodeType="withEffect" presetClass="entr" presetID="1" presetSubtype="0">
                                  <p:stCondLst>
                                    <p:cond delay="0"/>
                                  </p:stCondLst>
                                  <p:childTnLst>
                                    <p:set>
                                      <p:cBhvr>
                                        <p:cTn dur="1" fill="hold" id="44">
                                          <p:stCondLst>
                                            <p:cond delay="0"/>
                                          </p:stCondLst>
                                        </p:cTn>
                                        <p:tgtEl>
                                          <p:spTgt spid="4">
                                            <p:txEl>
                                              <p:pRg end="4" st="4"/>
                                            </p:txEl>
                                          </p:spTgt>
                                        </p:tgtEl>
                                        <p:attrNameLst>
                                          <p:attrName>style.visibility</p:attrName>
                                        </p:attrNameLst>
                                      </p:cBhvr>
                                      <p:to>
                                        <p:strVal val="visible"/>
                                      </p:to>
                                    </p:set>
                                  </p:childTnLst>
                                </p:cTn>
                              </p:par>
                              <p:par>
                                <p:cTn fill="hold" id="45" nodeType="withEffect" presetClass="entr" presetID="1" presetSubtype="0">
                                  <p:stCondLst>
                                    <p:cond delay="0"/>
                                  </p:stCondLst>
                                  <p:childTnLst>
                                    <p:set>
                                      <p:cBhvr>
                                        <p:cTn dur="1" fill="hold" id="46">
                                          <p:stCondLst>
                                            <p:cond delay="0"/>
                                          </p:stCondLst>
                                        </p:cTn>
                                        <p:tgtEl>
                                          <p:spTgt spid="4">
                                            <p:txEl>
                                              <p:pRg end="5" st="5"/>
                                            </p:txEl>
                                          </p:spTgt>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4">
                                            <p:txEl>
                                              <p:pRg end="6" st="6"/>
                                            </p:txEl>
                                          </p:spTgt>
                                        </p:tgtEl>
                                        <p:attrNameLst>
                                          <p:attrName>style.visibility</p:attrName>
                                        </p:attrNameLst>
                                      </p:cBhvr>
                                      <p:to>
                                        <p:strVal val="visible"/>
                                      </p:to>
                                    </p:set>
                                  </p:childTnLst>
                                </p:cTn>
                              </p:par>
                              <p:par>
                                <p:cTn fill="hold" id="49" nodeType="withEffect" presetClass="entr" presetID="1" presetSubtype="0">
                                  <p:stCondLst>
                                    <p:cond delay="0"/>
                                  </p:stCondLst>
                                  <p:childTnLst>
                                    <p:set>
                                      <p:cBhvr>
                                        <p:cTn dur="1" fill="hold" id="50">
                                          <p:stCondLst>
                                            <p:cond delay="0"/>
                                          </p:stCondLst>
                                        </p:cTn>
                                        <p:tgtEl>
                                          <p:spTgt spid="4">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2B9F4-AC14-BC8A-CFB4-B150D0B3F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49AED-0B4C-F933-A75B-BDB093AE1DC8}"/>
              </a:ext>
            </a:extLst>
          </p:cNvPr>
          <p:cNvSpPr txBox="1">
            <a:spLocks/>
          </p:cNvSpPr>
          <p:nvPr/>
        </p:nvSpPr>
        <p:spPr>
          <a:xfrm>
            <a:off x="594360" y="458053"/>
            <a:ext cx="11407140" cy="816603"/>
          </a:xfrm>
          <a:prstGeom prst="rect">
            <a:avLst/>
          </a:prstGeom>
        </p:spPr>
        <p:txBody>
          <a:bodyPr numCol="1">
            <a:noAutofit/>
          </a:bodyPr>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b="1" dirty="0" lang="en-US" sz="2400">
                <a:solidFill>
                  <a:schemeClr val="tx1"/>
                </a:solidFill>
                <a:latin charset="0" panose="02020603050405020304" pitchFamily="18" typeface="Times New Roman"/>
                <a:cs charset="0" panose="02020603050405020304" pitchFamily="18" typeface="Times New Roman"/>
              </a:rPr>
              <a:t>Kleen Star: If L is a context-free language, then L* is a context-free language </a:t>
            </a:r>
            <a:br>
              <a:rPr b="1" dirty="0" lang="en-US" sz="2400">
                <a:solidFill>
                  <a:schemeClr val="tx1"/>
                </a:solidFill>
                <a:latin charset="0" panose="02020603050405020304" pitchFamily="18" typeface="Times New Roman"/>
                <a:cs charset="0" panose="02020603050405020304" pitchFamily="18" typeface="Times New Roman"/>
              </a:rPr>
            </a:br>
            <a:endParaRPr altLang="en-IN" b="1" dirty="0" lang="en-IN" sz="2400">
              <a:solidFill>
                <a:schemeClr val="tx1"/>
              </a:solidFill>
              <a:latin charset="0" panose="02020603050405020304" pitchFamily="18" typeface="Times New Roman"/>
              <a:cs charset="0" panose="02020603050405020304" pitchFamily="18" typeface="Times New Roman"/>
            </a:endParaRPr>
          </a:p>
        </p:txBody>
      </p:sp>
      <p:sp>
        <p:nvSpPr>
          <p:cNvPr id="3" name="Content Placeholder 2">
            <a:extLst>
              <a:ext uri="{FF2B5EF4-FFF2-40B4-BE49-F238E27FC236}">
                <a16:creationId xmlns:a16="http://schemas.microsoft.com/office/drawing/2014/main" id="{577226BD-DB50-923B-6DE4-71B94C5F570A}"/>
              </a:ext>
            </a:extLst>
          </p:cNvPr>
          <p:cNvSpPr txBox="1">
            <a:spLocks/>
          </p:cNvSpPr>
          <p:nvPr/>
        </p:nvSpPr>
        <p:spPr>
          <a:xfrm>
            <a:off x="594360" y="1046056"/>
            <a:ext cx="11064240" cy="4023360"/>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buFont charset="0" panose="020B0604020202020204" pitchFamily="34" typeface="Arial"/>
              <a:buChar char="•"/>
            </a:pPr>
            <a:r>
              <a:rPr dirty="0" lang="en-US" sz="2400">
                <a:solidFill>
                  <a:schemeClr val="tx1"/>
                </a:solidFill>
                <a:latin charset="0" panose="02020603050405020304" pitchFamily="18" typeface="Times New Roman"/>
                <a:cs charset="0" panose="02020603050405020304" pitchFamily="18" typeface="Times New Roman"/>
              </a:rPr>
              <a:t>Let L be language recognized by G = (V</a:t>
            </a:r>
            <a:r>
              <a:rPr baseline="-25000" dirty="0" lang="en-US" sz="2400">
                <a:solidFill>
                  <a:schemeClr val="tx1"/>
                </a:solidFill>
                <a:latin charset="0" panose="02020603050405020304" pitchFamily="18" typeface="Times New Roman"/>
                <a:cs charset="0" panose="02020603050405020304" pitchFamily="18" typeface="Times New Roman"/>
              </a:rPr>
              <a:t>1</a:t>
            </a:r>
            <a:r>
              <a:rPr dirty="0" lang="en-US" sz="2400">
                <a:solidFill>
                  <a:schemeClr val="tx1"/>
                </a:solidFill>
                <a:latin charset="0" panose="02020603050405020304" pitchFamily="18" typeface="Times New Roman"/>
                <a:cs charset="0" panose="02020603050405020304" pitchFamily="18" typeface="Times New Roman"/>
              </a:rPr>
              <a:t>, Σ, P</a:t>
            </a:r>
            <a:r>
              <a:rPr baseline="-25000" dirty="0" lang="en-US" sz="2400">
                <a:solidFill>
                  <a:schemeClr val="tx1"/>
                </a:solidFill>
                <a:latin charset="0" panose="02020603050405020304" pitchFamily="18" typeface="Times New Roman"/>
                <a:cs charset="0" panose="02020603050405020304" pitchFamily="18" typeface="Times New Roman"/>
              </a:rPr>
              <a:t>1</a:t>
            </a:r>
            <a:r>
              <a:rPr dirty="0" lang="en-US" sz="2400">
                <a:solidFill>
                  <a:schemeClr val="tx1"/>
                </a:solidFill>
                <a:latin charset="0" panose="02020603050405020304" pitchFamily="18" typeface="Times New Roman"/>
                <a:cs charset="0" panose="02020603050405020304" pitchFamily="18" typeface="Times New Roman"/>
              </a:rPr>
              <a:t>, S</a:t>
            </a:r>
            <a:r>
              <a:rPr baseline="-25000" dirty="0" lang="en-US" sz="2400">
                <a:solidFill>
                  <a:schemeClr val="tx1"/>
                </a:solidFill>
                <a:latin charset="0" panose="02020603050405020304" pitchFamily="18" typeface="Times New Roman"/>
                <a:cs charset="0" panose="02020603050405020304" pitchFamily="18" typeface="Times New Roman"/>
              </a:rPr>
              <a:t>1</a:t>
            </a:r>
            <a:r>
              <a:rPr dirty="0" lang="en-US" sz="2400">
                <a:solidFill>
                  <a:schemeClr val="tx1"/>
                </a:solidFill>
                <a:latin charset="0" panose="02020603050405020304" pitchFamily="18" typeface="Times New Roman"/>
                <a:cs charset="0" panose="02020603050405020304" pitchFamily="18" typeface="Times New Roman"/>
              </a:rPr>
              <a:t>) </a:t>
            </a:r>
          </a:p>
          <a:p>
            <a:pPr>
              <a:buFont charset="0" panose="020B0604020202020204" pitchFamily="34" typeface="Arial"/>
              <a:buChar char="•"/>
            </a:pPr>
            <a:r>
              <a:rPr dirty="0" lang="en-US" sz="2400">
                <a:solidFill>
                  <a:schemeClr val="tx1"/>
                </a:solidFill>
                <a:latin charset="0" panose="02020603050405020304" pitchFamily="18" typeface="Times New Roman"/>
                <a:cs charset="0" panose="02020603050405020304" pitchFamily="18" typeface="Times New Roman"/>
              </a:rPr>
              <a:t>Then L*</a:t>
            </a:r>
            <a:r>
              <a:rPr altLang="en-IN" dirty="0" lang="en-IN" sz="2400">
                <a:solidFill>
                  <a:schemeClr val="tx1"/>
                </a:solidFill>
                <a:latin charset="0" panose="02020603050405020304" pitchFamily="18" typeface="Times New Roman"/>
                <a:cs charset="0" panose="02020603050405020304" pitchFamily="18" typeface="Times New Roman"/>
              </a:rPr>
              <a:t> will be recognized by a grammar G = (V, </a:t>
            </a:r>
            <a:r>
              <a:rPr altLang="el-GR" dirty="0" lang="el-GR" sz="2400">
                <a:solidFill>
                  <a:schemeClr val="tx1"/>
                </a:solidFill>
                <a:latin charset="0" panose="02020603050405020304" pitchFamily="18" typeface="Times New Roman"/>
                <a:cs charset="0" panose="02020603050405020304" pitchFamily="18" typeface="Times New Roman"/>
              </a:rPr>
              <a:t>Σ, </a:t>
            </a:r>
            <a:r>
              <a:rPr altLang="en-IN" dirty="0" lang="en-IN" sz="2400">
                <a:solidFill>
                  <a:schemeClr val="tx1"/>
                </a:solidFill>
                <a:latin charset="0" panose="02020603050405020304" pitchFamily="18" typeface="Times New Roman"/>
                <a:cs charset="0" panose="02020603050405020304" pitchFamily="18" typeface="Times New Roman"/>
              </a:rPr>
              <a:t>R, S) such that </a:t>
            </a:r>
          </a:p>
          <a:p>
            <a:pPr lvl="1">
              <a:buFont charset="0" panose="020B0604020202020204" pitchFamily="34" typeface="Arial"/>
              <a:buChar char="•"/>
            </a:pPr>
            <a:r>
              <a:rPr altLang="pt-BR" dirty="0" lang="pt-BR" sz="2400">
                <a:solidFill>
                  <a:schemeClr val="tx1"/>
                </a:solidFill>
                <a:latin charset="0" panose="02020603050405020304" pitchFamily="18" typeface="Times New Roman"/>
                <a:cs charset="0" panose="02020603050405020304" pitchFamily="18" typeface="Times New Roman"/>
              </a:rPr>
              <a:t>G = (V</a:t>
            </a:r>
            <a:r>
              <a:rPr altLang="pt-BR" baseline="-25000" dirty="0" lang="pt-BR" sz="2400">
                <a:solidFill>
                  <a:schemeClr val="tx1"/>
                </a:solidFill>
                <a:latin charset="0" panose="02020603050405020304" pitchFamily="18" typeface="Times New Roman"/>
                <a:cs charset="0" panose="02020603050405020304" pitchFamily="18" typeface="Times New Roman"/>
              </a:rPr>
              <a:t>1</a:t>
            </a:r>
            <a:r>
              <a:rPr altLang="pt-BR" dirty="0" lang="pt-BR" sz="2400">
                <a:solidFill>
                  <a:schemeClr val="tx1"/>
                </a:solidFill>
                <a:latin charset="0" panose="02020603050405020304" pitchFamily="18" typeface="Times New Roman"/>
                <a:cs charset="0" panose="02020603050405020304" pitchFamily="18" typeface="Times New Roman"/>
              </a:rPr>
              <a:t> ∪ {S}, Σ, P, S) where </a:t>
            </a:r>
            <a:r>
              <a:rPr altLang="en-IN" dirty="0" lang="en-IN" sz="2400">
                <a:solidFill>
                  <a:schemeClr val="tx1"/>
                </a:solidFill>
                <a:latin charset="0" panose="02020603050405020304" pitchFamily="18" typeface="Times New Roman"/>
                <a:cs charset="0" panose="02020603050405020304" pitchFamily="18" typeface="Times New Roman"/>
              </a:rPr>
              <a:t>P = P</a:t>
            </a:r>
            <a:r>
              <a:rPr altLang="en-IN" baseline="-25000" dirty="0" lang="en-IN" sz="2400">
                <a:solidFill>
                  <a:schemeClr val="tx1"/>
                </a:solidFill>
                <a:latin charset="0" panose="02020603050405020304" pitchFamily="18" typeface="Times New Roman"/>
                <a:cs charset="0" panose="02020603050405020304" pitchFamily="18" typeface="Times New Roman"/>
              </a:rPr>
              <a:t>1</a:t>
            </a:r>
            <a:r>
              <a:rPr altLang="en-IN" dirty="0" lang="en-IN" sz="2400">
                <a:solidFill>
                  <a:schemeClr val="tx1"/>
                </a:solidFill>
                <a:latin charset="0" panose="02020603050405020304" pitchFamily="18" typeface="Times New Roman"/>
                <a:cs charset="0" panose="02020603050405020304" pitchFamily="18" typeface="Times New Roman"/>
              </a:rPr>
              <a:t> ∪ {S → SS</a:t>
            </a:r>
            <a:r>
              <a:rPr altLang="en-IN" baseline="-25000" dirty="0" lang="en-IN" sz="2400">
                <a:solidFill>
                  <a:schemeClr val="tx1"/>
                </a:solidFill>
                <a:latin charset="0" panose="02020603050405020304" pitchFamily="18" typeface="Times New Roman"/>
                <a:cs charset="0" panose="02020603050405020304" pitchFamily="18" typeface="Times New Roman"/>
              </a:rPr>
              <a:t>1 </a:t>
            </a:r>
            <a:r>
              <a:rPr altLang="en-IN" baseline="30000" dirty="0" lang="en-IN" sz="2400">
                <a:solidFill>
                  <a:schemeClr val="tx1"/>
                </a:solidFill>
                <a:latin charset="0" panose="02020603050405020304" pitchFamily="18" typeface="Times New Roman"/>
                <a:cs charset="0" panose="02020603050405020304" pitchFamily="18" typeface="Times New Roman"/>
              </a:rPr>
              <a:t> </a:t>
            </a:r>
            <a:r>
              <a:rPr altLang="en-IN" dirty="0" lang="en-IN" sz="2400">
                <a:solidFill>
                  <a:schemeClr val="tx1"/>
                </a:solidFill>
                <a:latin charset="0" panose="02020603050405020304" pitchFamily="18" typeface="Times New Roman"/>
                <a:cs charset="0" panose="02020603050405020304" pitchFamily="18" typeface="Times New Roman"/>
              </a:rPr>
              <a:t>| S </a:t>
            </a:r>
            <a:r>
              <a:rPr dirty="0" lang="en-US" sz="2400">
                <a:latin charset="0" panose="02020603050405020304" pitchFamily="18" typeface="Times New Roman"/>
                <a:cs charset="0" panose="02020603050405020304" pitchFamily="18" typeface="Times New Roman"/>
              </a:rPr>
              <a:t>→ ε </a:t>
            </a:r>
            <a:r>
              <a:rPr altLang="en-IN" dirty="0" lang="en-IN" sz="2400">
                <a:solidFill>
                  <a:schemeClr val="tx1"/>
                </a:solidFill>
                <a:latin charset="0" panose="02020603050405020304" pitchFamily="18" typeface="Times New Roman"/>
                <a:cs charset="0" panose="02020603050405020304" pitchFamily="18" typeface="Times New Roman"/>
              </a:rPr>
              <a:t>}</a:t>
            </a:r>
          </a:p>
          <a:p>
            <a:pPr lvl="1">
              <a:buFont charset="0" panose="020B0604020202020204" pitchFamily="34" typeface="Arial"/>
              <a:buChar char="•"/>
            </a:pPr>
            <a:endParaRPr altLang="en-IN" dirty="0" lang="en-IN" sz="2400">
              <a:solidFill>
                <a:schemeClr val="tx1"/>
              </a:solidFill>
              <a:latin charset="0" panose="02020603050405020304" pitchFamily="18" typeface="Times New Roman"/>
              <a:cs charset="0" panose="02020603050405020304" pitchFamily="18" typeface="Times New Roman"/>
            </a:endParaRPr>
          </a:p>
        </p:txBody>
      </p:sp>
      <p:sp>
        <p:nvSpPr>
          <p:cNvPr id="4" name="TextBox 3">
            <a:extLst>
              <a:ext uri="{FF2B5EF4-FFF2-40B4-BE49-F238E27FC236}">
                <a16:creationId xmlns:a16="http://schemas.microsoft.com/office/drawing/2014/main" id="{0C7727CF-4288-CBF5-7F62-1BE21F280081}"/>
              </a:ext>
            </a:extLst>
          </p:cNvPr>
          <p:cNvSpPr txBox="1"/>
          <p:nvPr/>
        </p:nvSpPr>
        <p:spPr>
          <a:xfrm>
            <a:off x="784860" y="3414514"/>
            <a:ext cx="9845040" cy="2985433"/>
          </a:xfrm>
          <a:prstGeom prst="rect">
            <a:avLst/>
          </a:prstGeom>
          <a:noFill/>
        </p:spPr>
        <p:txBody>
          <a:bodyPr numCol="1" wrap="square">
            <a:spAutoFit/>
          </a:bodyPr>
          <a:lstStyle/>
          <a:p>
            <a:pPr indent="0" marL="0">
              <a:buNone/>
            </a:pPr>
            <a:r>
              <a:rPr altLang="en-IN" b="1" dirty="0" lang="en-IN" sz="2400">
                <a:latin charset="0" panose="02020603050405020304" pitchFamily="18" typeface="Times New Roman"/>
                <a:cs charset="0" panose="02020603050405020304" pitchFamily="18" typeface="Times New Roman"/>
              </a:rPr>
              <a:t>For example: If L(G) = {</a:t>
            </a:r>
            <a:r>
              <a:rPr altLang="en-IN" b="1" dirty="0" err="1" lang="en-IN" sz="2400">
                <a:latin charset="0" panose="02020603050405020304" pitchFamily="18" typeface="Times New Roman"/>
                <a:cs charset="0" panose="02020603050405020304" pitchFamily="18" typeface="Times New Roman"/>
              </a:rPr>
              <a:t>a</a:t>
            </a:r>
            <a:r>
              <a:rPr altLang="en-IN" b="1" baseline="30000" dirty="0" err="1" lang="en-IN" sz="2400">
                <a:latin charset="0" panose="02020603050405020304" pitchFamily="18" typeface="Times New Roman"/>
                <a:cs charset="0" panose="02020603050405020304" pitchFamily="18" typeface="Times New Roman"/>
              </a:rPr>
              <a:t>n</a:t>
            </a:r>
            <a:r>
              <a:rPr altLang="en-IN" b="1" dirty="0" err="1" lang="en-IN" sz="2400">
                <a:latin charset="0" panose="02020603050405020304" pitchFamily="18" typeface="Times New Roman"/>
                <a:cs charset="0" panose="02020603050405020304" pitchFamily="18" typeface="Times New Roman"/>
              </a:rPr>
              <a:t>b</a:t>
            </a:r>
            <a:r>
              <a:rPr altLang="en-IN" b="1" baseline="30000" dirty="0" err="1" lang="en-IN" sz="2400">
                <a:latin charset="0" panose="02020603050405020304" pitchFamily="18" typeface="Times New Roman"/>
                <a:cs charset="0" panose="02020603050405020304" pitchFamily="18" typeface="Times New Roman"/>
              </a:rPr>
              <a:t>n</a:t>
            </a:r>
            <a:r>
              <a:rPr altLang="en-IN" b="1" dirty="0" lang="en-IN" sz="2400">
                <a:latin charset="0" panose="02020603050405020304" pitchFamily="18" typeface="Times New Roman"/>
                <a:cs charset="0" panose="02020603050405020304" pitchFamily="18" typeface="Times New Roman"/>
              </a:rPr>
              <a:t> : n ≥ 0}. </a:t>
            </a:r>
          </a:p>
          <a:p>
            <a:pPr indent="0" marL="0">
              <a:buNone/>
            </a:pPr>
            <a:r>
              <a:rPr altLang="en-IN" dirty="0" lang="en-IN" sz="2400">
                <a:latin charset="0" panose="02020603050405020304" pitchFamily="18" typeface="Times New Roman"/>
                <a:cs charset="0" panose="02020603050405020304" pitchFamily="18" typeface="Times New Roman"/>
              </a:rPr>
              <a:t>Then , G: S</a:t>
            </a:r>
            <a:r>
              <a:rPr altLang="en-IN" baseline="-25000" dirty="0" lang="en-IN" sz="2400">
                <a:latin charset="0" panose="02020603050405020304" pitchFamily="18" typeface="Times New Roman"/>
                <a:cs charset="0" panose="02020603050405020304" pitchFamily="18" typeface="Times New Roman"/>
              </a:rPr>
              <a:t>1</a:t>
            </a:r>
            <a:r>
              <a:rPr altLang="en-IN" dirty="0" lang="en-IN" sz="2400">
                <a:latin charset="0" panose="02020603050405020304" pitchFamily="18" typeface="Times New Roman"/>
                <a:cs charset="0" panose="02020603050405020304" pitchFamily="18" typeface="Times New Roman"/>
              </a:rPr>
              <a:t> → aS</a:t>
            </a:r>
            <a:r>
              <a:rPr altLang="en-IN" baseline="-25000" dirty="0" lang="en-IN" sz="2400">
                <a:latin charset="0" panose="02020603050405020304" pitchFamily="18" typeface="Times New Roman"/>
                <a:cs charset="0" panose="02020603050405020304" pitchFamily="18" typeface="Times New Roman"/>
              </a:rPr>
              <a:t>1</a:t>
            </a:r>
            <a:r>
              <a:rPr altLang="en-IN" dirty="0" lang="en-IN" sz="2400">
                <a:latin charset="0" panose="02020603050405020304" pitchFamily="18" typeface="Times New Roman"/>
                <a:cs charset="0" panose="02020603050405020304" pitchFamily="18" typeface="Times New Roman"/>
              </a:rPr>
              <a:t>b,  S</a:t>
            </a:r>
            <a:r>
              <a:rPr altLang="en-IN" baseline="-25000" dirty="0" lang="en-IN" sz="2400">
                <a:latin charset="0" panose="02020603050405020304" pitchFamily="18" typeface="Times New Roman"/>
                <a:cs charset="0" panose="02020603050405020304" pitchFamily="18" typeface="Times New Roman"/>
              </a:rPr>
              <a:t>1</a:t>
            </a:r>
            <a:r>
              <a:rPr altLang="en-IN" dirty="0" lang="en-IN" sz="2400">
                <a:latin charset="0" panose="02020603050405020304" pitchFamily="18" typeface="Times New Roman"/>
                <a:cs charset="0" panose="02020603050405020304" pitchFamily="18" typeface="Times New Roman"/>
              </a:rPr>
              <a:t> → </a:t>
            </a:r>
            <a:r>
              <a:rPr dirty="0" lang="en-US" sz="2400">
                <a:latin charset="0" panose="02020603050405020304" pitchFamily="18" typeface="Times New Roman"/>
                <a:cs charset="0" panose="02020603050405020304" pitchFamily="18" typeface="Times New Roman"/>
              </a:rPr>
              <a:t>ε  </a:t>
            </a:r>
          </a:p>
          <a:p>
            <a:pPr indent="0" marL="0">
              <a:buNone/>
            </a:pPr>
            <a:r>
              <a:rPr altLang="en-IN" dirty="0" lang="en-IN" sz="2400">
                <a:latin charset="0" panose="02020603050405020304" pitchFamily="18" typeface="Times New Roman"/>
                <a:cs charset="0" panose="02020603050405020304" pitchFamily="18" typeface="Times New Roman"/>
              </a:rPr>
              <a:t>Then (</a:t>
            </a:r>
            <a:r>
              <a:rPr altLang="nn-NO" dirty="0" lang="nn-NO" sz="2400">
                <a:latin charset="0" panose="02020603050405020304" pitchFamily="18" typeface="Times New Roman"/>
                <a:cs charset="0" panose="02020603050405020304" pitchFamily="18" typeface="Times New Roman"/>
              </a:rPr>
              <a:t>L(G))* will be recognized by G = (V</a:t>
            </a:r>
            <a:r>
              <a:rPr altLang="nn-NO" baseline="-25000" dirty="0" lang="nn-NO" sz="2400">
                <a:latin charset="0" panose="02020603050405020304" pitchFamily="18" typeface="Times New Roman"/>
                <a:cs charset="0" panose="02020603050405020304" pitchFamily="18" typeface="Times New Roman"/>
              </a:rPr>
              <a:t>1</a:t>
            </a:r>
            <a:r>
              <a:rPr altLang="nn-NO" dirty="0" lang="nn-NO" sz="2400">
                <a:latin charset="0" panose="02020603050405020304" pitchFamily="18" typeface="Times New Roman"/>
                <a:cs charset="0" panose="02020603050405020304" pitchFamily="18" typeface="Times New Roman"/>
              </a:rPr>
              <a:t> ∪ {S}, </a:t>
            </a:r>
            <a:r>
              <a:rPr altLang="el-GR" dirty="0" lang="el-GR" sz="2400">
                <a:latin charset="0" panose="02020603050405020304" pitchFamily="18" typeface="Times New Roman"/>
                <a:cs charset="0" panose="02020603050405020304" pitchFamily="18" typeface="Times New Roman"/>
              </a:rPr>
              <a:t>Σ, </a:t>
            </a:r>
            <a:r>
              <a:rPr altLang="nn-NO" dirty="0" lang="nn-NO" sz="2400">
                <a:latin charset="0" panose="02020603050405020304" pitchFamily="18" typeface="Times New Roman"/>
                <a:cs charset="0" panose="02020603050405020304" pitchFamily="18" typeface="Times New Roman"/>
              </a:rPr>
              <a:t>P, S )</a:t>
            </a:r>
          </a:p>
          <a:p>
            <a:pPr indent="0" lvl="3" marL="0">
              <a:spcBef>
                <a:spcPts val="600"/>
              </a:spcBef>
              <a:buNone/>
            </a:pPr>
            <a:r>
              <a:rPr altLang="nn-NO" dirty="0" lang="nn-NO" sz="2400">
                <a:latin charset="0" panose="02020603050405020304" pitchFamily="18" typeface="Times New Roman"/>
                <a:cs charset="0" panose="02020603050405020304" pitchFamily="18" typeface="Times New Roman"/>
              </a:rPr>
              <a:t>G: S </a:t>
            </a:r>
            <a:r>
              <a:rPr dirty="0" lang="en-US" sz="2400">
                <a:latin charset="0" panose="02020603050405020304" pitchFamily="18" typeface="Times New Roman"/>
                <a:cs charset="0" panose="02020603050405020304" pitchFamily="18" typeface="Times New Roman"/>
              </a:rPr>
              <a:t>→ SS</a:t>
            </a:r>
            <a:r>
              <a:rPr baseline="-25000" dirty="0" lang="en-US" sz="2400">
                <a:latin charset="0" panose="02020603050405020304" pitchFamily="18" typeface="Times New Roman"/>
                <a:cs charset="0" panose="02020603050405020304" pitchFamily="18" typeface="Times New Roman"/>
              </a:rPr>
              <a:t>1</a:t>
            </a:r>
            <a:r>
              <a:rPr dirty="0" lang="en-US" sz="2400">
                <a:latin charset="0" panose="02020603050405020304" pitchFamily="18" typeface="Times New Roman"/>
                <a:cs charset="0" panose="02020603050405020304" pitchFamily="18" typeface="Times New Roman"/>
              </a:rPr>
              <a:t> </a:t>
            </a:r>
            <a:r>
              <a:rPr altLang="en-IN" dirty="0" lang="en-IN" sz="2400">
                <a:solidFill>
                  <a:schemeClr val="tx1"/>
                </a:solidFill>
                <a:latin charset="0" panose="02020603050405020304" pitchFamily="18" typeface="Times New Roman"/>
                <a:cs charset="0" panose="02020603050405020304" pitchFamily="18" typeface="Times New Roman"/>
              </a:rPr>
              <a:t>S </a:t>
            </a:r>
            <a:r>
              <a:rPr dirty="0" lang="en-US" sz="2400">
                <a:latin charset="0" panose="02020603050405020304" pitchFamily="18" typeface="Times New Roman"/>
                <a:cs charset="0" panose="02020603050405020304" pitchFamily="18" typeface="Times New Roman"/>
              </a:rPr>
              <a:t>→ ε </a:t>
            </a:r>
          </a:p>
          <a:p>
            <a:pPr indent="0" lvl="3" marL="0">
              <a:spcBef>
                <a:spcPts val="600"/>
              </a:spcBef>
              <a:buNone/>
            </a:pPr>
            <a:r>
              <a:rPr dirty="0" lang="en-US" sz="2400">
                <a:latin charset="0" panose="02020603050405020304" pitchFamily="18" typeface="Times New Roman"/>
                <a:cs charset="0" panose="02020603050405020304" pitchFamily="18" typeface="Times New Roman"/>
              </a:rPr>
              <a:t>      S</a:t>
            </a:r>
            <a:r>
              <a:rPr baseline="-25000" dirty="0" lang="en-US" sz="2400">
                <a:latin charset="0" panose="02020603050405020304" pitchFamily="18" typeface="Times New Roman"/>
                <a:cs charset="0" panose="02020603050405020304" pitchFamily="18" typeface="Times New Roman"/>
              </a:rPr>
              <a:t>1</a:t>
            </a:r>
            <a:r>
              <a:rPr dirty="0" lang="en-US" sz="2400">
                <a:latin charset="0" panose="02020603050405020304" pitchFamily="18" typeface="Times New Roman"/>
                <a:cs charset="0" panose="02020603050405020304" pitchFamily="18" typeface="Times New Roman"/>
              </a:rPr>
              <a:t> → aS</a:t>
            </a:r>
            <a:r>
              <a:rPr baseline="-25000" dirty="0" lang="en-US" sz="2400">
                <a:latin charset="0" panose="02020603050405020304" pitchFamily="18" typeface="Times New Roman"/>
                <a:cs charset="0" panose="02020603050405020304" pitchFamily="18" typeface="Times New Roman"/>
              </a:rPr>
              <a:t>1</a:t>
            </a:r>
            <a:r>
              <a:rPr dirty="0" lang="en-US" sz="2400">
                <a:latin charset="0" panose="02020603050405020304" pitchFamily="18" typeface="Times New Roman"/>
                <a:cs charset="0" panose="02020603050405020304" pitchFamily="18" typeface="Times New Roman"/>
              </a:rPr>
              <a:t>b</a:t>
            </a:r>
          </a:p>
          <a:p>
            <a:pPr indent="0" lvl="3" marL="0">
              <a:spcBef>
                <a:spcPts val="600"/>
              </a:spcBef>
              <a:buNone/>
            </a:pPr>
            <a:r>
              <a:rPr dirty="0" lang="en-US" sz="2400">
                <a:latin charset="0" panose="02020603050405020304" pitchFamily="18" typeface="Times New Roman"/>
                <a:cs charset="0" panose="02020603050405020304" pitchFamily="18" typeface="Times New Roman"/>
              </a:rPr>
              <a:t>      S</a:t>
            </a:r>
            <a:r>
              <a:rPr baseline="-25000" dirty="0" lang="en-US" sz="2400">
                <a:latin charset="0" panose="02020603050405020304" pitchFamily="18" typeface="Times New Roman"/>
                <a:cs charset="0" panose="02020603050405020304" pitchFamily="18" typeface="Times New Roman"/>
              </a:rPr>
              <a:t>1</a:t>
            </a:r>
            <a:r>
              <a:rPr dirty="0" lang="en-US" sz="2400">
                <a:latin charset="0" panose="02020603050405020304" pitchFamily="18" typeface="Times New Roman"/>
                <a:cs charset="0" panose="02020603050405020304" pitchFamily="18" typeface="Times New Roman"/>
              </a:rPr>
              <a:t> → ε </a:t>
            </a:r>
          </a:p>
          <a:p>
            <a:pPr indent="0" lvl="3" marL="0">
              <a:spcBef>
                <a:spcPts val="600"/>
              </a:spcBef>
              <a:buNone/>
            </a:pPr>
            <a:r>
              <a:rPr dirty="0" lang="en-US" sz="2400">
                <a:latin charset="0" panose="02020603050405020304" pitchFamily="18" typeface="Times New Roman"/>
                <a:cs charset="0" panose="02020603050405020304" pitchFamily="18" typeface="Times New Roman"/>
              </a:rPr>
              <a:t>      </a:t>
            </a:r>
            <a:endParaRPr altLang="en-IN" dirty="0" lang="en-IN" sz="2400">
              <a:latin charset="0" panose="02020603050405020304" pitchFamily="18" typeface="Times New Roman"/>
              <a:cs charset="0" panose="02020603050405020304" pitchFamily="18" typeface="Times New Roman"/>
            </a:endParaRPr>
          </a:p>
        </p:txBody>
      </p:sp>
      <p:cxnSp>
        <p:nvCxnSpPr>
          <p:cNvPr id="6" name="Straight Connector 5">
            <a:extLst>
              <a:ext uri="{FF2B5EF4-FFF2-40B4-BE49-F238E27FC236}">
                <a16:creationId xmlns:a16="http://schemas.microsoft.com/office/drawing/2014/main" id="{9F2A8BA1-77CA-329F-5614-E4DBF21DCBD7}"/>
              </a:ext>
            </a:extLst>
          </p:cNvPr>
          <p:cNvCxnSpPr/>
          <p:nvPr/>
        </p:nvCxnSpPr>
        <p:spPr>
          <a:xfrm>
            <a:off x="0" y="323469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552233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2"/>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1" st="1"/>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6"/>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1" presetSubtype="0">
                                  <p:stCondLst>
                                    <p:cond delay="0"/>
                                  </p:stCondLst>
                                  <p:childTnLst>
                                    <p:set>
                                      <p:cBhvr>
                                        <p:cTn dur="1" fill="hold" id="24">
                                          <p:stCondLst>
                                            <p:cond delay="0"/>
                                          </p:stCondLst>
                                        </p:cTn>
                                        <p:tgtEl>
                                          <p:spTgt spid="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grpId="0" spid="4"/>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992ED-05E1-4562-E152-35187293F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7107C-91CD-61F4-5592-2D1EF5F8C4DC}"/>
              </a:ext>
            </a:extLst>
          </p:cNvPr>
          <p:cNvSpPr txBox="1">
            <a:spLocks/>
          </p:cNvSpPr>
          <p:nvPr/>
        </p:nvSpPr>
        <p:spPr>
          <a:xfrm>
            <a:off x="594360" y="458053"/>
            <a:ext cx="11407140" cy="816603"/>
          </a:xfrm>
          <a:prstGeom prst="rect">
            <a:avLst/>
          </a:prstGeom>
        </p:spPr>
        <p:txBody>
          <a:bodyPr numCol="1">
            <a:noAutofit/>
          </a:bodyPr>
          <a:lstStyle>
            <a:lvl1pPr algn="l" defTabSz="914400" eaLnBrk="1" hangingPunct="1" latinLnBrk="0" rtl="0">
              <a:lnSpc>
                <a:spcPct val="85000"/>
              </a:lnSpc>
              <a:spcBef>
                <a:spcPct val="0"/>
              </a:spcBef>
              <a:buNone/>
              <a:defRPr baseline="0" kern="1200" spc="-50" sz="4800">
                <a:solidFill>
                  <a:schemeClr val="tx1">
                    <a:lumMod val="75000"/>
                    <a:lumOff val="25000"/>
                  </a:schemeClr>
                </a:solidFill>
                <a:latin typeface="+mj-lt"/>
                <a:ea typeface="+mj-ea"/>
                <a:cs typeface="+mj-cs"/>
              </a:defRPr>
            </a:lvl1pPr>
          </a:lstStyle>
          <a:p>
            <a:r>
              <a:rPr b="1" dirty="0" lang="en-US" sz="2400">
                <a:solidFill>
                  <a:schemeClr val="tx1"/>
                </a:solidFill>
                <a:latin charset="0" panose="02020603050405020304" pitchFamily="18" typeface="Times New Roman"/>
                <a:cs charset="0" panose="02020603050405020304" pitchFamily="18" typeface="Times New Roman"/>
              </a:rPr>
              <a:t>String Reversal: If L is a context-free language, then L</a:t>
            </a:r>
            <a:r>
              <a:rPr b="1" baseline="30000" dirty="0" lang="en-US" sz="2400">
                <a:solidFill>
                  <a:schemeClr val="tx1"/>
                </a:solidFill>
                <a:latin charset="0" panose="02020603050405020304" pitchFamily="18" typeface="Times New Roman"/>
                <a:cs charset="0" panose="02020603050405020304" pitchFamily="18" typeface="Times New Roman"/>
              </a:rPr>
              <a:t>R</a:t>
            </a:r>
            <a:r>
              <a:rPr b="1" dirty="0" lang="en-US" sz="2400">
                <a:solidFill>
                  <a:schemeClr val="tx1"/>
                </a:solidFill>
                <a:latin charset="0" panose="02020603050405020304" pitchFamily="18" typeface="Times New Roman"/>
                <a:cs charset="0" panose="02020603050405020304" pitchFamily="18" typeface="Times New Roman"/>
              </a:rPr>
              <a:t> is a context-free language </a:t>
            </a:r>
            <a:br>
              <a:rPr b="1" dirty="0" lang="en-US" sz="2400">
                <a:solidFill>
                  <a:schemeClr val="tx1"/>
                </a:solidFill>
                <a:latin charset="0" panose="02020603050405020304" pitchFamily="18" typeface="Times New Roman"/>
                <a:cs charset="0" panose="02020603050405020304" pitchFamily="18" typeface="Times New Roman"/>
              </a:rPr>
            </a:br>
            <a:endParaRPr altLang="en-IN" b="1" dirty="0" lang="en-IN" sz="2400">
              <a:solidFill>
                <a:schemeClr val="tx1"/>
              </a:solidFill>
              <a:latin charset="0" panose="02020603050405020304" pitchFamily="18" typeface="Times New Roman"/>
              <a:cs charset="0" panose="02020603050405020304" pitchFamily="18" typeface="Times New Roman"/>
            </a:endParaRPr>
          </a:p>
        </p:txBody>
      </p:sp>
      <p:sp>
        <p:nvSpPr>
          <p:cNvPr id="3" name="Content Placeholder 2">
            <a:extLst>
              <a:ext uri="{FF2B5EF4-FFF2-40B4-BE49-F238E27FC236}">
                <a16:creationId xmlns:a16="http://schemas.microsoft.com/office/drawing/2014/main" id="{ECB8F664-57DD-F3AD-6164-4A089403B9AF}"/>
              </a:ext>
            </a:extLst>
          </p:cNvPr>
          <p:cNvSpPr txBox="1">
            <a:spLocks/>
          </p:cNvSpPr>
          <p:nvPr/>
        </p:nvSpPr>
        <p:spPr>
          <a:xfrm>
            <a:off x="594360" y="1046056"/>
            <a:ext cx="11064240" cy="4023360"/>
          </a:xfrm>
          <a:prstGeom prst="rect">
            <a:avLst/>
          </a:prstGeom>
        </p:spPr>
        <p:txBody>
          <a:bodyPr numCol="1">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a:buFont charset="0" panose="020B0604020202020204" pitchFamily="34" typeface="Arial"/>
              <a:buChar char="•"/>
            </a:pPr>
            <a:r>
              <a:rPr dirty="0" lang="en-US" sz="2400">
                <a:solidFill>
                  <a:schemeClr val="tx1"/>
                </a:solidFill>
                <a:latin charset="0" panose="02020603050405020304" pitchFamily="18" typeface="Times New Roman"/>
                <a:cs charset="0" panose="02020603050405020304" pitchFamily="18" typeface="Times New Roman"/>
              </a:rPr>
              <a:t>Let L be language recognized by G = (V, Σ, P</a:t>
            </a:r>
            <a:r>
              <a:rPr baseline="-25000" dirty="0" lang="en-US" sz="2400">
                <a:solidFill>
                  <a:schemeClr val="tx1"/>
                </a:solidFill>
                <a:latin charset="0" panose="02020603050405020304" pitchFamily="18" typeface="Times New Roman"/>
                <a:cs charset="0" panose="02020603050405020304" pitchFamily="18" typeface="Times New Roman"/>
              </a:rPr>
              <a:t>1</a:t>
            </a:r>
            <a:r>
              <a:rPr dirty="0" lang="en-US" sz="2400">
                <a:solidFill>
                  <a:schemeClr val="tx1"/>
                </a:solidFill>
                <a:latin charset="0" panose="02020603050405020304" pitchFamily="18" typeface="Times New Roman"/>
                <a:cs charset="0" panose="02020603050405020304" pitchFamily="18" typeface="Times New Roman"/>
              </a:rPr>
              <a:t>, S) </a:t>
            </a:r>
          </a:p>
          <a:p>
            <a:pPr>
              <a:buFont charset="0" panose="020B0604020202020204" pitchFamily="34" typeface="Arial"/>
              <a:buChar char="•"/>
            </a:pPr>
            <a:r>
              <a:rPr dirty="0" lang="en-US" sz="2400">
                <a:solidFill>
                  <a:schemeClr val="tx1"/>
                </a:solidFill>
                <a:latin charset="0" panose="02020603050405020304" pitchFamily="18" typeface="Times New Roman"/>
                <a:cs charset="0" panose="02020603050405020304" pitchFamily="18" typeface="Times New Roman"/>
              </a:rPr>
              <a:t>Then L</a:t>
            </a:r>
            <a:r>
              <a:rPr baseline="30000" dirty="0" lang="en-US" sz="2400">
                <a:solidFill>
                  <a:schemeClr val="tx1"/>
                </a:solidFill>
                <a:latin charset="0" panose="02020603050405020304" pitchFamily="18" typeface="Times New Roman"/>
                <a:cs charset="0" panose="02020603050405020304" pitchFamily="18" typeface="Times New Roman"/>
              </a:rPr>
              <a:t>R</a:t>
            </a:r>
            <a:r>
              <a:rPr altLang="en-IN" dirty="0" lang="en-IN" sz="2400">
                <a:solidFill>
                  <a:schemeClr val="tx1"/>
                </a:solidFill>
                <a:latin charset="0" panose="02020603050405020304" pitchFamily="18" typeface="Times New Roman"/>
                <a:cs charset="0" panose="02020603050405020304" pitchFamily="18" typeface="Times New Roman"/>
              </a:rPr>
              <a:t> will be recognized by a grammar G = (V, </a:t>
            </a:r>
            <a:r>
              <a:rPr altLang="el-GR" dirty="0" lang="el-GR" sz="2400">
                <a:solidFill>
                  <a:schemeClr val="tx1"/>
                </a:solidFill>
                <a:latin charset="0" panose="02020603050405020304" pitchFamily="18" typeface="Times New Roman"/>
                <a:cs charset="0" panose="02020603050405020304" pitchFamily="18" typeface="Times New Roman"/>
              </a:rPr>
              <a:t>Σ, </a:t>
            </a:r>
            <a:r>
              <a:rPr altLang="en-IN" dirty="0" err="1" lang="en-IN" sz="2400">
                <a:solidFill>
                  <a:schemeClr val="tx1"/>
                </a:solidFill>
                <a:latin charset="0" panose="02020603050405020304" pitchFamily="18" typeface="Times New Roman"/>
                <a:cs charset="0" panose="02020603050405020304" pitchFamily="18" typeface="Times New Roman"/>
              </a:rPr>
              <a:t>P</a:t>
            </a:r>
            <a:r>
              <a:rPr altLang="en-IN" baseline="-25000" dirty="0" err="1" lang="en-IN" sz="2400">
                <a:solidFill>
                  <a:schemeClr val="tx1"/>
                </a:solidFill>
                <a:latin charset="0" panose="02020603050405020304" pitchFamily="18" typeface="Times New Roman"/>
                <a:cs charset="0" panose="02020603050405020304" pitchFamily="18" typeface="Times New Roman"/>
              </a:rPr>
              <a:t>r</a:t>
            </a:r>
            <a:r>
              <a:rPr altLang="en-IN" dirty="0" lang="en-IN" sz="2400">
                <a:solidFill>
                  <a:schemeClr val="tx1"/>
                </a:solidFill>
                <a:latin charset="0" panose="02020603050405020304" pitchFamily="18" typeface="Times New Roman"/>
                <a:cs charset="0" panose="02020603050405020304" pitchFamily="18" typeface="Times New Roman"/>
              </a:rPr>
              <a:t>, S) such that </a:t>
            </a:r>
          </a:p>
          <a:p>
            <a:pPr lvl="1">
              <a:buFont charset="0" panose="020B0604020202020204" pitchFamily="34" typeface="Arial"/>
              <a:buChar char="•"/>
            </a:pPr>
            <a:r>
              <a:rPr dirty="0" err="1" lang="en-US" sz="2400">
                <a:solidFill>
                  <a:schemeClr val="tx1"/>
                </a:solidFill>
                <a:latin charset="0" panose="02020603050405020304" pitchFamily="18" typeface="Times New Roman"/>
                <a:cs charset="0" panose="02020603050405020304" pitchFamily="18" typeface="Times New Roman"/>
              </a:rPr>
              <a:t>P</a:t>
            </a:r>
            <a:r>
              <a:rPr baseline="-25000" dirty="0" err="1" lang="en-US" sz="2400">
                <a:solidFill>
                  <a:schemeClr val="tx1"/>
                </a:solidFill>
                <a:latin charset="0" panose="02020603050405020304" pitchFamily="18" typeface="Times New Roman"/>
                <a:cs charset="0" panose="02020603050405020304" pitchFamily="18" typeface="Times New Roman"/>
              </a:rPr>
              <a:t>r</a:t>
            </a:r>
            <a:r>
              <a:rPr dirty="0" lang="en-US" sz="2400">
                <a:solidFill>
                  <a:schemeClr val="tx1"/>
                </a:solidFill>
                <a:latin charset="0" panose="02020603050405020304" pitchFamily="18" typeface="Times New Roman"/>
                <a:cs charset="0" panose="02020603050405020304" pitchFamily="18" typeface="Times New Roman"/>
              </a:rPr>
              <a:t> = productions from P such that all symbols on the right-hand side of every production is reversed. </a:t>
            </a:r>
          </a:p>
          <a:p>
            <a:pPr lvl="1">
              <a:buFont charset="0" panose="020B0604020202020204" pitchFamily="34" typeface="Arial"/>
              <a:buChar char="•"/>
            </a:pPr>
            <a:r>
              <a:rPr dirty="0" lang="en-US" sz="2400">
                <a:solidFill>
                  <a:schemeClr val="tx1"/>
                </a:solidFill>
                <a:latin charset="0" panose="02020603050405020304" pitchFamily="18" typeface="Times New Roman"/>
                <a:cs charset="0" panose="02020603050405020304" pitchFamily="18" typeface="Times New Roman"/>
              </a:rPr>
              <a:t>i.e., If A → α is in P, then A → α</a:t>
            </a:r>
            <a:r>
              <a:rPr baseline="30000" dirty="0" lang="en-US" sz="2400">
                <a:solidFill>
                  <a:schemeClr val="tx1"/>
                </a:solidFill>
                <a:latin charset="0" panose="02020603050405020304" pitchFamily="18" typeface="Times New Roman"/>
                <a:cs charset="0" panose="02020603050405020304" pitchFamily="18" typeface="Times New Roman"/>
              </a:rPr>
              <a:t>R</a:t>
            </a:r>
            <a:r>
              <a:rPr dirty="0" lang="en-US" sz="2400">
                <a:solidFill>
                  <a:schemeClr val="tx1"/>
                </a:solidFill>
                <a:latin charset="0" panose="02020603050405020304" pitchFamily="18" typeface="Times New Roman"/>
                <a:cs charset="0" panose="02020603050405020304" pitchFamily="18" typeface="Times New Roman"/>
              </a:rPr>
              <a:t> is in P</a:t>
            </a:r>
            <a:endParaRPr altLang="en-IN" dirty="0" lang="en-IN" sz="2400">
              <a:solidFill>
                <a:schemeClr val="tx1"/>
              </a:solidFill>
              <a:latin charset="0" panose="02020603050405020304" pitchFamily="18" typeface="Times New Roman"/>
              <a:cs charset="0" panose="02020603050405020304" pitchFamily="18" typeface="Times New Roman"/>
            </a:endParaRPr>
          </a:p>
        </p:txBody>
      </p:sp>
      <p:sp>
        <p:nvSpPr>
          <p:cNvPr id="4" name="TextBox 3">
            <a:extLst>
              <a:ext uri="{FF2B5EF4-FFF2-40B4-BE49-F238E27FC236}">
                <a16:creationId xmlns:a16="http://schemas.microsoft.com/office/drawing/2014/main" id="{F406A70B-6A98-CBB2-F596-636E0233C7B7}"/>
              </a:ext>
            </a:extLst>
          </p:cNvPr>
          <p:cNvSpPr txBox="1"/>
          <p:nvPr/>
        </p:nvSpPr>
        <p:spPr>
          <a:xfrm>
            <a:off x="819150" y="4096373"/>
            <a:ext cx="9845040" cy="1200329"/>
          </a:xfrm>
          <a:prstGeom prst="rect">
            <a:avLst/>
          </a:prstGeom>
          <a:noFill/>
        </p:spPr>
        <p:txBody>
          <a:bodyPr numCol="1" wrap="square">
            <a:spAutoFit/>
          </a:bodyPr>
          <a:lstStyle/>
          <a:p>
            <a:r>
              <a:rPr altLang="en-IN" b="1" dirty="0" lang="en-IN" sz="2400">
                <a:latin charset="0" panose="02020603050405020304" pitchFamily="18" typeface="Times New Roman"/>
                <a:cs charset="0" panose="02020603050405020304" pitchFamily="18" typeface="Times New Roman"/>
              </a:rPr>
              <a:t>For example: </a:t>
            </a:r>
          </a:p>
          <a:p>
            <a:r>
              <a:rPr dirty="0" lang="en-US" sz="2400">
                <a:latin charset="0" panose="02020603050405020304" pitchFamily="18" typeface="Times New Roman"/>
                <a:cs charset="0" panose="02020603050405020304" pitchFamily="18" typeface="Times New Roman"/>
              </a:rPr>
              <a:t>Grammar for accepting L is S → </a:t>
            </a:r>
            <a:r>
              <a:rPr dirty="0" err="1" lang="en-US" sz="2400">
                <a:latin charset="0" panose="02020603050405020304" pitchFamily="18" typeface="Times New Roman"/>
                <a:cs charset="0" panose="02020603050405020304" pitchFamily="18" typeface="Times New Roman"/>
              </a:rPr>
              <a:t>aSb</a:t>
            </a:r>
            <a:r>
              <a:rPr dirty="0" lang="en-US" sz="2400">
                <a:latin charset="0" panose="02020603050405020304" pitchFamily="18" typeface="Times New Roman"/>
                <a:cs charset="0" panose="02020603050405020304" pitchFamily="18" typeface="Times New Roman"/>
              </a:rPr>
              <a:t> | ab.</a:t>
            </a:r>
          </a:p>
          <a:p>
            <a:r>
              <a:rPr dirty="0" lang="en-US" sz="2400">
                <a:latin charset="0" panose="02020603050405020304" pitchFamily="18" typeface="Times New Roman"/>
                <a:cs charset="0" panose="02020603050405020304" pitchFamily="18" typeface="Times New Roman"/>
              </a:rPr>
              <a:t>Grammar for accepting L</a:t>
            </a:r>
            <a:r>
              <a:rPr baseline="30000" dirty="0" lang="en-US" sz="2400">
                <a:latin charset="0" panose="02020603050405020304" pitchFamily="18" typeface="Times New Roman"/>
                <a:cs charset="0" panose="02020603050405020304" pitchFamily="18" typeface="Times New Roman"/>
              </a:rPr>
              <a:t>R</a:t>
            </a:r>
            <a:r>
              <a:rPr dirty="0" lang="en-US" sz="2400">
                <a:latin charset="0" panose="02020603050405020304" pitchFamily="18" typeface="Times New Roman"/>
                <a:cs charset="0" panose="02020603050405020304" pitchFamily="18" typeface="Times New Roman"/>
              </a:rPr>
              <a:t> is S → </a:t>
            </a:r>
            <a:r>
              <a:rPr dirty="0" err="1" lang="en-US" sz="2400">
                <a:latin charset="0" panose="02020603050405020304" pitchFamily="18" typeface="Times New Roman"/>
                <a:cs charset="0" panose="02020603050405020304" pitchFamily="18" typeface="Times New Roman"/>
              </a:rPr>
              <a:t>bSa</a:t>
            </a:r>
            <a:r>
              <a:rPr dirty="0" lang="en-US" sz="2400">
                <a:latin charset="0" panose="02020603050405020304" pitchFamily="18" typeface="Times New Roman"/>
                <a:cs charset="0" panose="02020603050405020304" pitchFamily="18" typeface="Times New Roman"/>
              </a:rPr>
              <a:t> | </a:t>
            </a:r>
            <a:r>
              <a:rPr dirty="0" err="1" lang="en-US" sz="2400">
                <a:latin charset="0" panose="02020603050405020304" pitchFamily="18" typeface="Times New Roman"/>
                <a:cs charset="0" panose="02020603050405020304" pitchFamily="18" typeface="Times New Roman"/>
              </a:rPr>
              <a:t>ba</a:t>
            </a:r>
            <a:r>
              <a:rPr dirty="0" lang="en-US" sz="2400">
                <a:latin charset="0" panose="02020603050405020304" pitchFamily="18" typeface="Times New Roman"/>
                <a:cs charset="0" panose="02020603050405020304" pitchFamily="18" typeface="Times New Roman"/>
              </a:rPr>
              <a:t>.      </a:t>
            </a:r>
            <a:endParaRPr altLang="en-IN" dirty="0" lang="en-IN" sz="2400">
              <a:latin charset="0" panose="02020603050405020304" pitchFamily="18" typeface="Times New Roman"/>
              <a:cs charset="0" panose="02020603050405020304" pitchFamily="18" typeface="Times New Roman"/>
            </a:endParaRPr>
          </a:p>
        </p:txBody>
      </p:sp>
      <p:cxnSp>
        <p:nvCxnSpPr>
          <p:cNvPr id="6" name="Straight Connector 5">
            <a:extLst>
              <a:ext uri="{FF2B5EF4-FFF2-40B4-BE49-F238E27FC236}">
                <a16:creationId xmlns:a16="http://schemas.microsoft.com/office/drawing/2014/main" id="{6D66B15D-F48A-B17D-C42F-13BD4B03785B}"/>
              </a:ext>
            </a:extLst>
          </p:cNvPr>
          <p:cNvCxnSpPr/>
          <p:nvPr/>
        </p:nvCxnSpPr>
        <p:spPr>
          <a:xfrm>
            <a:off x="0" y="3597394"/>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335386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2"/>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6"/>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1" presetSubtype="0">
                                  <p:stCondLst>
                                    <p:cond delay="0"/>
                                  </p:stCondLst>
                                  <p:childTnLst>
                                    <p:set>
                                      <p:cBhvr>
                                        <p:cTn dur="1" fill="hold" id="30">
                                          <p:stCondLst>
                                            <p:cond delay="0"/>
                                          </p:stCondLst>
                                        </p:cTn>
                                        <p:tgtEl>
                                          <p:spTgt spid="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grpId="0" spid="4"/>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083280-03B4-C43C-37B8-D08AB1250612}"/>
              </a:ext>
            </a:extLst>
          </p:cNvPr>
          <p:cNvSpPr txBox="1"/>
          <p:nvPr/>
        </p:nvSpPr>
        <p:spPr>
          <a:xfrm>
            <a:off x="454342" y="409694"/>
            <a:ext cx="10712767" cy="5632311"/>
          </a:xfrm>
          <a:prstGeom prst="rect">
            <a:avLst/>
          </a:prstGeom>
          <a:noFill/>
        </p:spPr>
        <p:txBody>
          <a:bodyPr numCol="1" wrap="square">
            <a:spAutoFit/>
          </a:bodyPr>
          <a:lstStyle/>
          <a:p>
            <a:r>
              <a:rPr b="1" dirty="0" lang="en-US" sz="2400">
                <a:latin charset="0" panose="02020603050405020304" pitchFamily="18" typeface="Times New Roman"/>
                <a:cs charset="0" panose="02020603050405020304" pitchFamily="18" typeface="Times New Roman"/>
              </a:rPr>
              <a:t>Theorem: CFLs are not closed under intersection: If L1 and L2 are CFLs, then L1 ∩ L2 may not be a CFL.</a:t>
            </a:r>
          </a:p>
          <a:p>
            <a:endParaRPr b="1" dirty="0" lang="en-US" sz="2400">
              <a:latin charset="0" panose="02020603050405020304" pitchFamily="18" typeface="Times New Roman"/>
              <a:cs charset="0" panose="02020603050405020304" pitchFamily="18" typeface="Times New Roman"/>
            </a:endParaRPr>
          </a:p>
          <a:p>
            <a:r>
              <a:rPr b="1" dirty="0" lang="en-US" sz="2400">
                <a:latin charset="0" panose="02020603050405020304" pitchFamily="18" typeface="Times New Roman"/>
                <a:cs charset="0" panose="02020603050405020304" pitchFamily="18" typeface="Times New Roman"/>
              </a:rPr>
              <a:t>Proof: </a:t>
            </a:r>
            <a:r>
              <a:rPr altLang="en-IN" dirty="0" lang="en-IN" sz="2400">
                <a:latin charset="0" panose="02020603050405020304" pitchFamily="18" typeface="Times New Roman"/>
                <a:cs charset="0" panose="02020603050405020304" pitchFamily="18" typeface="Times New Roman"/>
              </a:rPr>
              <a:t>L1 = {a</a:t>
            </a:r>
            <a:r>
              <a:rPr altLang="en-IN" baseline="30000" dirty="0" lang="en-IN" sz="2400">
                <a:latin charset="0" panose="02020603050405020304" pitchFamily="18" typeface="Times New Roman"/>
                <a:cs charset="0" panose="02020603050405020304" pitchFamily="18" typeface="Times New Roman"/>
              </a:rPr>
              <a:t>n</a:t>
            </a:r>
            <a:r>
              <a:rPr altLang="en-IN" dirty="0" lang="en-IN" sz="2400">
                <a:latin charset="0" panose="02020603050405020304" pitchFamily="18" typeface="Times New Roman"/>
                <a:cs charset="0" panose="02020603050405020304" pitchFamily="18" typeface="Times New Roman"/>
              </a:rPr>
              <a:t> b</a:t>
            </a:r>
            <a:r>
              <a:rPr altLang="en-IN" baseline="30000" dirty="0" lang="en-IN" sz="2400">
                <a:latin charset="0" panose="02020603050405020304" pitchFamily="18" typeface="Times New Roman"/>
                <a:cs charset="0" panose="02020603050405020304" pitchFamily="18" typeface="Times New Roman"/>
              </a:rPr>
              <a:t>n </a:t>
            </a:r>
            <a:r>
              <a:rPr altLang="en-IN" dirty="0" lang="en-IN" sz="2400">
                <a:latin charset="0" panose="02020603050405020304" pitchFamily="18" typeface="Times New Roman"/>
                <a:cs charset="0" panose="02020603050405020304" pitchFamily="18" typeface="Times New Roman"/>
              </a:rPr>
              <a:t>a</a:t>
            </a:r>
            <a:r>
              <a:rPr altLang="en-IN" baseline="30000" dirty="0" lang="en-IN" sz="2400">
                <a:latin charset="0" panose="02020603050405020304" pitchFamily="18" typeface="Times New Roman"/>
                <a:cs charset="0" panose="02020603050405020304" pitchFamily="18" typeface="Times New Roman"/>
              </a:rPr>
              <a:t>m</a:t>
            </a:r>
            <a:r>
              <a:rPr altLang="en-IN" dirty="0" lang="en-IN" sz="2400">
                <a:latin charset="0" panose="02020603050405020304" pitchFamily="18" typeface="Times New Roman"/>
                <a:cs charset="0" panose="02020603050405020304" pitchFamily="18" typeface="Times New Roman"/>
              </a:rPr>
              <a:t> | n, m ≥ 0} is generated by the following </a:t>
            </a:r>
          </a:p>
          <a:p>
            <a:r>
              <a:rPr altLang="en-IN" dirty="0" lang="en-IN" sz="2400">
                <a:latin charset="0" panose="02020603050405020304" pitchFamily="18" typeface="Times New Roman"/>
                <a:cs charset="0" panose="02020603050405020304" pitchFamily="18" typeface="Times New Roman"/>
              </a:rPr>
              <a:t>	   CFG: S → XA </a:t>
            </a:r>
          </a:p>
          <a:p>
            <a:r>
              <a:rPr altLang="en-IN" dirty="0" lang="en-IN" sz="2400">
                <a:latin charset="0" panose="02020603050405020304" pitchFamily="18" typeface="Times New Roman"/>
                <a:cs charset="0" panose="02020603050405020304" pitchFamily="18" typeface="Times New Roman"/>
              </a:rPr>
              <a:t>		       X → </a:t>
            </a:r>
            <a:r>
              <a:rPr altLang="en-IN" dirty="0" err="1" lang="en-IN" sz="2400">
                <a:latin charset="0" panose="02020603050405020304" pitchFamily="18" typeface="Times New Roman"/>
                <a:cs charset="0" panose="02020603050405020304" pitchFamily="18" typeface="Times New Roman"/>
              </a:rPr>
              <a:t>aXb</a:t>
            </a:r>
            <a:r>
              <a:rPr altLang="en-IN" dirty="0" lang="en-IN" sz="2400">
                <a:latin charset="0" panose="02020603050405020304" pitchFamily="18" typeface="Times New Roman"/>
                <a:cs charset="0" panose="02020603050405020304" pitchFamily="18" typeface="Times New Roman"/>
              </a:rPr>
              <a:t> | </a:t>
            </a:r>
            <a:r>
              <a:rPr dirty="0" lang="en-US" sz="2400">
                <a:latin charset="0" panose="02020603050405020304" pitchFamily="18" typeface="Times New Roman"/>
                <a:cs charset="0" panose="02020603050405020304" pitchFamily="18" typeface="Times New Roman"/>
              </a:rPr>
              <a:t>ε</a:t>
            </a:r>
            <a:r>
              <a:rPr altLang="el-GR" dirty="0" lang="el-GR" sz="2400">
                <a:latin charset="0" panose="02020603050405020304" pitchFamily="18" typeface="Times New Roman"/>
                <a:cs charset="0" panose="02020603050405020304" pitchFamily="18" typeface="Times New Roman"/>
              </a:rPr>
              <a:t> </a:t>
            </a:r>
            <a:endParaRPr altLang="en-IN" dirty="0" lang="en-IN" sz="2400">
              <a:latin charset="0" panose="02020603050405020304" pitchFamily="18" typeface="Times New Roman"/>
              <a:cs charset="0" panose="02020603050405020304" pitchFamily="18" typeface="Times New Roman"/>
            </a:endParaRPr>
          </a:p>
          <a:p>
            <a:r>
              <a:rPr altLang="en-IN" dirty="0" lang="en-IN" sz="2400">
                <a:latin charset="0" panose="02020603050405020304" pitchFamily="18" typeface="Times New Roman"/>
                <a:cs charset="0" panose="02020603050405020304" pitchFamily="18" typeface="Times New Roman"/>
              </a:rPr>
              <a:t>		       A → Aa | </a:t>
            </a:r>
            <a:r>
              <a:rPr dirty="0" lang="en-US" sz="2400">
                <a:latin charset="0" panose="02020603050405020304" pitchFamily="18" typeface="Times New Roman"/>
                <a:cs charset="0" panose="02020603050405020304" pitchFamily="18" typeface="Times New Roman"/>
              </a:rPr>
              <a:t>ε</a:t>
            </a:r>
          </a:p>
          <a:p>
            <a:endParaRPr altLang="en-IN" dirty="0" lang="en-IN" sz="2400">
              <a:latin charset="0" panose="02020603050405020304" pitchFamily="18" typeface="Times New Roman"/>
              <a:cs charset="0" panose="02020603050405020304" pitchFamily="18" typeface="Times New Roman"/>
            </a:endParaRPr>
          </a:p>
          <a:p>
            <a:r>
              <a:rPr altLang="en-IN" dirty="0" lang="en-IN" sz="2400">
                <a:latin charset="0" panose="02020603050405020304" pitchFamily="18" typeface="Times New Roman"/>
                <a:cs charset="0" panose="02020603050405020304" pitchFamily="18" typeface="Times New Roman"/>
              </a:rPr>
              <a:t>L2 = {</a:t>
            </a:r>
            <a:r>
              <a:rPr altLang="en-IN" dirty="0" err="1" lang="en-IN" sz="2400">
                <a:latin charset="0" panose="02020603050405020304" pitchFamily="18" typeface="Times New Roman"/>
                <a:cs charset="0" panose="02020603050405020304" pitchFamily="18" typeface="Times New Roman"/>
              </a:rPr>
              <a:t>a</a:t>
            </a:r>
            <a:r>
              <a:rPr altLang="en-IN" baseline="30000" dirty="0" err="1" lang="en-IN" sz="2400">
                <a:latin charset="0" panose="02020603050405020304" pitchFamily="18" typeface="Times New Roman"/>
                <a:cs charset="0" panose="02020603050405020304" pitchFamily="18" typeface="Times New Roman"/>
              </a:rPr>
              <a:t>n</a:t>
            </a:r>
            <a:r>
              <a:rPr altLang="en-IN" dirty="0" err="1" lang="en-IN" sz="2400">
                <a:latin charset="0" panose="02020603050405020304" pitchFamily="18" typeface="Times New Roman"/>
                <a:cs charset="0" panose="02020603050405020304" pitchFamily="18" typeface="Times New Roman"/>
              </a:rPr>
              <a:t>b</a:t>
            </a:r>
            <a:r>
              <a:rPr altLang="en-IN" baseline="30000" dirty="0" err="1" lang="en-IN" sz="2400">
                <a:latin charset="0" panose="02020603050405020304" pitchFamily="18" typeface="Times New Roman"/>
                <a:cs charset="0" panose="02020603050405020304" pitchFamily="18" typeface="Times New Roman"/>
              </a:rPr>
              <a:t>m</a:t>
            </a:r>
            <a:r>
              <a:rPr altLang="en-IN" dirty="0" err="1" lang="en-IN" sz="2400">
                <a:latin charset="0" panose="02020603050405020304" pitchFamily="18" typeface="Times New Roman"/>
                <a:cs charset="0" panose="02020603050405020304" pitchFamily="18" typeface="Times New Roman"/>
              </a:rPr>
              <a:t>a</a:t>
            </a:r>
            <a:r>
              <a:rPr altLang="en-IN" baseline="30000" dirty="0" err="1" lang="en-IN" sz="2400">
                <a:latin charset="0" panose="02020603050405020304" pitchFamily="18" typeface="Times New Roman"/>
                <a:cs charset="0" panose="02020603050405020304" pitchFamily="18" typeface="Times New Roman"/>
              </a:rPr>
              <a:t>m</a:t>
            </a:r>
            <a:r>
              <a:rPr altLang="en-IN" dirty="0" lang="en-IN" sz="2400">
                <a:latin charset="0" panose="02020603050405020304" pitchFamily="18" typeface="Times New Roman"/>
                <a:cs charset="0" panose="02020603050405020304" pitchFamily="18" typeface="Times New Roman"/>
              </a:rPr>
              <a:t> | n, m ≥ 0} is generated by the following </a:t>
            </a:r>
          </a:p>
          <a:p>
            <a:r>
              <a:rPr altLang="en-IN" dirty="0" lang="en-IN" sz="2400">
                <a:latin charset="0" panose="02020603050405020304" pitchFamily="18" typeface="Times New Roman"/>
                <a:cs charset="0" panose="02020603050405020304" pitchFamily="18" typeface="Times New Roman"/>
              </a:rPr>
              <a:t>	CFG: S → AX</a:t>
            </a:r>
          </a:p>
          <a:p>
            <a:r>
              <a:rPr altLang="en-IN" dirty="0" lang="en-IN" sz="2400">
                <a:latin charset="0" panose="02020603050405020304" pitchFamily="18" typeface="Times New Roman"/>
                <a:cs charset="0" panose="02020603050405020304" pitchFamily="18" typeface="Times New Roman"/>
              </a:rPr>
              <a:t>		    </a:t>
            </a:r>
            <a:r>
              <a:rPr dirty="0" lang="en-US" sz="2400">
                <a:latin charset="0" panose="02020603050405020304" pitchFamily="18" typeface="Times New Roman"/>
                <a:cs charset="0" panose="02020603050405020304" pitchFamily="18" typeface="Times New Roman"/>
              </a:rPr>
              <a:t>X → </a:t>
            </a:r>
            <a:r>
              <a:rPr dirty="0" err="1" lang="en-US" sz="2400">
                <a:latin charset="0" panose="02020603050405020304" pitchFamily="18" typeface="Times New Roman"/>
                <a:cs charset="0" panose="02020603050405020304" pitchFamily="18" typeface="Times New Roman"/>
              </a:rPr>
              <a:t>aXb</a:t>
            </a:r>
            <a:r>
              <a:rPr dirty="0" lang="en-US" sz="2400">
                <a:latin charset="0" panose="02020603050405020304" pitchFamily="18" typeface="Times New Roman"/>
                <a:cs charset="0" panose="02020603050405020304" pitchFamily="18" typeface="Times New Roman"/>
              </a:rPr>
              <a:t> | ε</a:t>
            </a:r>
          </a:p>
          <a:p>
            <a:r>
              <a:rPr dirty="0" lang="en-US" sz="2400">
                <a:latin charset="0" panose="02020603050405020304" pitchFamily="18" typeface="Times New Roman"/>
                <a:cs charset="0" panose="02020603050405020304" pitchFamily="18" typeface="Times New Roman"/>
              </a:rPr>
              <a:t>		    A → Aa | ε</a:t>
            </a:r>
          </a:p>
          <a:p>
            <a:endParaRPr dirty="0" lang="en-US" sz="2400">
              <a:latin charset="0" panose="02020603050405020304" pitchFamily="18" typeface="Times New Roman"/>
              <a:cs charset="0" panose="02020603050405020304" pitchFamily="18" typeface="Times New Roman"/>
            </a:endParaRPr>
          </a:p>
          <a:p>
            <a:r>
              <a:rPr dirty="0" lang="en-US" sz="2400">
                <a:latin charset="0" panose="02020603050405020304" pitchFamily="18" typeface="Times New Roman"/>
                <a:cs charset="0" panose="02020603050405020304" pitchFamily="18" typeface="Times New Roman"/>
              </a:rPr>
              <a:t>L= L1 ∩ L2 = {a</a:t>
            </a:r>
            <a:r>
              <a:rPr baseline="30000" dirty="0" lang="en-US" sz="2400">
                <a:latin charset="0" panose="02020603050405020304" pitchFamily="18" typeface="Times New Roman"/>
                <a:cs charset="0" panose="02020603050405020304" pitchFamily="18" typeface="Times New Roman"/>
              </a:rPr>
              <a:t>n</a:t>
            </a:r>
            <a:r>
              <a:rPr dirty="0" lang="en-US" sz="2400">
                <a:latin charset="0" panose="02020603050405020304" pitchFamily="18" typeface="Times New Roman"/>
                <a:cs charset="0" panose="02020603050405020304" pitchFamily="18" typeface="Times New Roman"/>
              </a:rPr>
              <a:t> b</a:t>
            </a:r>
            <a:r>
              <a:rPr baseline="30000" dirty="0" lang="en-US" sz="2400">
                <a:latin charset="0" panose="02020603050405020304" pitchFamily="18" typeface="Times New Roman"/>
                <a:cs charset="0" panose="02020603050405020304" pitchFamily="18" typeface="Times New Roman"/>
              </a:rPr>
              <a:t>n </a:t>
            </a:r>
            <a:r>
              <a:rPr dirty="0" lang="en-US" sz="2400">
                <a:latin charset="0" panose="02020603050405020304" pitchFamily="18" typeface="Times New Roman"/>
                <a:cs charset="0" panose="02020603050405020304" pitchFamily="18" typeface="Times New Roman"/>
              </a:rPr>
              <a:t>a</a:t>
            </a:r>
            <a:r>
              <a:rPr baseline="30000" dirty="0" lang="en-US" sz="2400">
                <a:latin charset="0" panose="02020603050405020304" pitchFamily="18" typeface="Times New Roman"/>
                <a:cs charset="0" panose="02020603050405020304" pitchFamily="18" typeface="Times New Roman"/>
              </a:rPr>
              <a:t>n</a:t>
            </a:r>
            <a:r>
              <a:rPr dirty="0" lang="en-US" sz="2400">
                <a:latin charset="0" panose="02020603050405020304" pitchFamily="18" typeface="Times New Roman"/>
                <a:cs charset="0" panose="02020603050405020304" pitchFamily="18" typeface="Times New Roman"/>
              </a:rPr>
              <a:t> | n ≥ 0}, is not CFL (will be prove later by pumping lemma)</a:t>
            </a:r>
            <a:endParaRPr b="1" dirty="0" lang="en-US" sz="2400">
              <a:latin charset="0" panose="02020603050405020304" pitchFamily="18" typeface="Times New Roman"/>
              <a:cs charset="0" panose="02020603050405020304" pitchFamily="18" typeface="Times New Roman"/>
            </a:endParaRPr>
          </a:p>
          <a:p>
            <a:endParaRPr altLang="en-IN" b="1" dirty="0" lang="en-IN" sz="2400">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104243388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3">
                                            <p:txEl>
                                              <p:pRg end="3" st="3"/>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7" st="7"/>
                                            </p:txEl>
                                          </p:spTgt>
                                        </p:tgtEl>
                                        <p:attrNameLst>
                                          <p:attrName>style.visibility</p:attrName>
                                        </p:attrNameLst>
                                      </p:cBhvr>
                                      <p:to>
                                        <p:strVal val="visible"/>
                                      </p:to>
                                    </p:set>
                                  </p:childTnLst>
                                </p:cTn>
                              </p:par>
                              <p:par>
                                <p:cTn fill="hold" id="21" nodeType="withEffect" presetClass="entr" presetID="1" presetSubtype="0">
                                  <p:stCondLst>
                                    <p:cond delay="0"/>
                                  </p:stCondLst>
                                  <p:childTnLst>
                                    <p:set>
                                      <p:cBhvr>
                                        <p:cTn dur="1" fill="hold" id="22">
                                          <p:stCondLst>
                                            <p:cond delay="0"/>
                                          </p:stCondLst>
                                        </p:cTn>
                                        <p:tgtEl>
                                          <p:spTgt spid="3">
                                            <p:txEl>
                                              <p:pRg end="8" st="8"/>
                                            </p:txEl>
                                          </p:spTgt>
                                        </p:tgtEl>
                                        <p:attrNameLst>
                                          <p:attrName>style.visibility</p:attrName>
                                        </p:attrNameLst>
                                      </p:cBhvr>
                                      <p:to>
                                        <p:strVal val="visible"/>
                                      </p:to>
                                    </p:set>
                                  </p:childTnLst>
                                </p:cTn>
                              </p:par>
                              <p:par>
                                <p:cTn fill="hold" id="23" nodeType="withEffect" presetClass="entr" presetID="1" presetSubtype="0">
                                  <p:stCondLst>
                                    <p:cond delay="0"/>
                                  </p:stCondLst>
                                  <p:childTnLst>
                                    <p:set>
                                      <p:cBhvr>
                                        <p:cTn dur="1" fill="hold" id="24">
                                          <p:stCondLst>
                                            <p:cond delay="0"/>
                                          </p:stCondLst>
                                        </p:cTn>
                                        <p:tgtEl>
                                          <p:spTgt spid="3">
                                            <p:txEl>
                                              <p:pRg end="9" st="9"/>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3">
                                            <p:txEl>
                                              <p:pRg end="10" st="10"/>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
                                            <p:txEl>
                                              <p:pRg end="12" st="1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549CAD-7528-6C00-7F5F-29FCFFC611C9}"/>
              </a:ext>
            </a:extLst>
          </p:cNvPr>
          <p:cNvSpPr txBox="1">
            <a:spLocks noAdjustHandles="1" noChangeArrowheads="1" noChangeAspect="1" noChangeShapeType="1" noEditPoints="1" noMove="1" noResize="1" noRot="1" noTextEdit="1"/>
          </p:cNvSpPr>
          <p:nvPr/>
        </p:nvSpPr>
        <p:spPr>
          <a:xfrm>
            <a:off x="671512" y="568375"/>
            <a:ext cx="10861357" cy="4288290"/>
          </a:xfrm>
          <a:prstGeom prst="rect">
            <a:avLst/>
          </a:prstGeom>
          <a:blipFill>
            <a:blip r:embed="rId2"/>
            <a:stretch>
              <a:fillRect b="-1278" l="-449"/>
            </a:stretch>
          </a:blipFill>
        </p:spPr>
        <p:txBody>
          <a:bodyPr numCol="1"/>
          <a:lstStyle/>
          <a:p>
            <a:r>
              <a:rPr altLang="en-IN" lang="en-IN">
                <a:noFill/>
              </a:rPr>
              <a:t> </a:t>
            </a:r>
          </a:p>
        </p:txBody>
      </p:sp>
    </p:spTree>
    <p:extLst>
      <p:ext uri="{BB962C8B-B14F-4D97-AF65-F5344CB8AC3E}">
        <p14:creationId xmlns:p14="http://schemas.microsoft.com/office/powerpoint/2010/main" val="3940675107"/>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1" presetSubtype="0">
                                  <p:stCondLst>
                                    <p:cond delay="0"/>
                                  </p:stCondLst>
                                  <p:childTnLst>
                                    <p:set>
                                      <p:cBhvr>
                                        <p:cTn dur="1" fill="hold" id="22">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3">
                                            <p:txEl>
                                              <p:pRg end="7" st="7"/>
                                            </p:txEl>
                                          </p:spTgt>
                                        </p:tgtEl>
                                        <p:attrNameLst>
                                          <p:attrName>style.visibility</p:attrName>
                                        </p:attrNameLst>
                                      </p:cBhvr>
                                      <p:to>
                                        <p:strVal val="visible"/>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3">
                                            <p:txEl>
                                              <p:pRg end="8" st="8"/>
                                            </p:txEl>
                                          </p:spTgt>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3">
                                            <p:txEl>
                                              <p:pRg end="10" st="1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79A1-BB85-64B6-4F69-D89762DC984E}"/>
              </a:ext>
            </a:extLst>
          </p:cNvPr>
          <p:cNvSpPr>
            <a:spLocks noGrp="1"/>
          </p:cNvSpPr>
          <p:nvPr>
            <p:ph type="title"/>
          </p:nvPr>
        </p:nvSpPr>
        <p:spPr/>
        <p:txBody>
          <a:bodyPr numCol="1">
            <a:normAutofit/>
          </a:bodyPr>
          <a:lstStyle/>
          <a:p>
            <a:r>
              <a:rPr dirty="0" lang="en-US" sz="4000">
                <a:solidFill>
                  <a:schemeClr val="tx1"/>
                </a:solidFill>
              </a:rPr>
              <a:t>Important closure and non-closure properties</a:t>
            </a:r>
            <a:endParaRPr altLang="en-IN" dirty="0" lang="en-IN" sz="4000">
              <a:solidFill>
                <a:schemeClr val="tx1"/>
              </a:solidFill>
            </a:endParaRPr>
          </a:p>
        </p:txBody>
      </p:sp>
      <p:sp>
        <p:nvSpPr>
          <p:cNvPr id="3" name="Content Placeholder 2">
            <a:extLst>
              <a:ext uri="{FF2B5EF4-FFF2-40B4-BE49-F238E27FC236}">
                <a16:creationId xmlns:a16="http://schemas.microsoft.com/office/drawing/2014/main" id="{99903CEA-D626-86D2-A97D-05F5765F434C}"/>
              </a:ext>
            </a:extLst>
          </p:cNvPr>
          <p:cNvSpPr>
            <a:spLocks noGrp="1"/>
          </p:cNvSpPr>
          <p:nvPr>
            <p:ph idx="1"/>
          </p:nvPr>
        </p:nvSpPr>
        <p:spPr/>
        <p:txBody>
          <a:bodyPr numCol="1"/>
          <a:lstStyle/>
          <a:p>
            <a:pPr indent="0" marL="0">
              <a:buNone/>
            </a:pPr>
            <a:r>
              <a:rPr altLang="en-IN" dirty="0" lang="en-IN">
                <a:solidFill>
                  <a:schemeClr val="tx1"/>
                </a:solidFill>
                <a:latin charset="0" panose="02020603050405020304" pitchFamily="18" typeface="Times New Roman"/>
                <a:cs charset="0" panose="02020603050405020304" pitchFamily="18" typeface="Times New Roman"/>
              </a:rPr>
              <a:t>1. If L1 and L2 are CFL then intersection of L1 and L2 (L1 ∩ L2 ) will not be CFL. i.e. </a:t>
            </a:r>
            <a:r>
              <a:rPr dirty="0" lang="en-US">
                <a:solidFill>
                  <a:schemeClr val="tx1"/>
                </a:solidFill>
                <a:latin charset="0" panose="02020603050405020304" pitchFamily="18" typeface="Times New Roman"/>
                <a:cs charset="0" panose="02020603050405020304" pitchFamily="18" typeface="Times New Roman"/>
              </a:rPr>
              <a:t>CFLs are not closed under intersection.</a:t>
            </a:r>
          </a:p>
          <a:p>
            <a:pPr indent="0" marL="0">
              <a:buNone/>
            </a:pPr>
            <a:r>
              <a:rPr dirty="0" lang="en-US">
                <a:solidFill>
                  <a:schemeClr val="tx1"/>
                </a:solidFill>
                <a:latin charset="0" panose="02020603050405020304" pitchFamily="18" typeface="Times New Roman"/>
                <a:cs charset="0" panose="02020603050405020304" pitchFamily="18" typeface="Times New Roman"/>
              </a:rPr>
              <a:t>2. If L is a CFL and R is a regular language then L ∩ R is a CFL.</a:t>
            </a:r>
          </a:p>
          <a:p>
            <a:pPr indent="0" marL="0">
              <a:buNone/>
            </a:pPr>
            <a:r>
              <a:rPr dirty="0" lang="en-US">
                <a:solidFill>
                  <a:schemeClr val="tx1"/>
                </a:solidFill>
                <a:latin charset="0" panose="02020603050405020304" pitchFamily="18" typeface="Times New Roman"/>
                <a:cs charset="0" panose="02020603050405020304" pitchFamily="18" typeface="Times New Roman"/>
              </a:rPr>
              <a:t>3. Context-free languages are not closed under complementation.</a:t>
            </a:r>
          </a:p>
          <a:p>
            <a:pPr indent="0" marL="0">
              <a:buNone/>
            </a:pPr>
            <a:r>
              <a:rPr dirty="0" lang="en-US">
                <a:solidFill>
                  <a:schemeClr val="tx1"/>
                </a:solidFill>
                <a:latin charset="0" panose="02020603050405020304" pitchFamily="18" typeface="Times New Roman"/>
                <a:cs charset="0" panose="02020603050405020304" pitchFamily="18" typeface="Times New Roman"/>
              </a:rPr>
              <a:t>4. If L1 is a CFL and L2 is a CFL then L1 - L2 is not necessarily a CFL ( set difference) </a:t>
            </a:r>
          </a:p>
          <a:p>
            <a:pPr indent="0" marL="0">
              <a:buNone/>
            </a:pPr>
            <a:r>
              <a:rPr dirty="0" lang="en-US">
                <a:solidFill>
                  <a:schemeClr val="tx1"/>
                </a:solidFill>
                <a:latin charset="0" panose="02020603050405020304" pitchFamily="18" typeface="Times New Roman"/>
                <a:cs charset="0" panose="02020603050405020304" pitchFamily="18" typeface="Times New Roman"/>
              </a:rPr>
              <a:t>5. If L is a CFL and R is a regular language then L - R is a CFL</a:t>
            </a:r>
          </a:p>
          <a:p>
            <a:pPr indent="0" marL="0">
              <a:buNone/>
            </a:pPr>
            <a:r>
              <a:rPr dirty="0" lang="en-US">
                <a:solidFill>
                  <a:schemeClr val="tx1"/>
                </a:solidFill>
                <a:latin charset="0" panose="02020603050405020304" pitchFamily="18" typeface="Times New Roman"/>
                <a:cs charset="0" panose="02020603050405020304" pitchFamily="18" typeface="Times New Roman"/>
              </a:rPr>
              <a:t>6. Context free languages are closed under homomorphisms and inverse homomorphisms.</a:t>
            </a:r>
            <a:endParaRPr altLang="en-IN" dirty="0" lang="en-IN">
              <a:solidFill>
                <a:schemeClr val="tx1"/>
              </a:solidFill>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38830784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905A-260F-C53A-BB8D-7C7DC3E054D2}"/>
              </a:ext>
            </a:extLst>
          </p:cNvPr>
          <p:cNvSpPr>
            <a:spLocks noGrp="1"/>
          </p:cNvSpPr>
          <p:nvPr>
            <p:ph type="title"/>
          </p:nvPr>
        </p:nvSpPr>
        <p:spPr/>
        <p:txBody>
          <a:bodyPr numCol="1"/>
          <a:lstStyle/>
          <a:p>
            <a:r>
              <a:rPr altLang="en-IN" dirty="0" lang="en-IN"/>
              <a:t>CYK algorithm</a:t>
            </a:r>
          </a:p>
        </p:txBody>
      </p:sp>
      <p:sp>
        <p:nvSpPr>
          <p:cNvPr id="3" name="Text Placeholder 2">
            <a:extLst>
              <a:ext uri="{FF2B5EF4-FFF2-40B4-BE49-F238E27FC236}">
                <a16:creationId xmlns:a16="http://schemas.microsoft.com/office/drawing/2014/main" id="{4C29204E-729C-DD5B-1338-4EA860891D77}"/>
              </a:ext>
            </a:extLst>
          </p:cNvPr>
          <p:cNvSpPr>
            <a:spLocks noGrp="1"/>
          </p:cNvSpPr>
          <p:nvPr>
            <p:ph idx="1" type="body"/>
          </p:nvPr>
        </p:nvSpPr>
        <p:spPr/>
        <p:txBody>
          <a:bodyPr numCol="1"/>
          <a:lstStyle/>
          <a:p>
            <a:endParaRPr altLang="en-IN" lang="en-IN"/>
          </a:p>
        </p:txBody>
      </p:sp>
    </p:spTree>
    <p:extLst>
      <p:ext uri="{BB962C8B-B14F-4D97-AF65-F5344CB8AC3E}">
        <p14:creationId xmlns:p14="http://schemas.microsoft.com/office/powerpoint/2010/main" val="35770093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0AAD6-34B0-0A7F-CCC6-4AE73B6D3E30}"/>
              </a:ext>
            </a:extLst>
          </p:cNvPr>
          <p:cNvSpPr>
            <a:spLocks noGrp="1"/>
          </p:cNvSpPr>
          <p:nvPr>
            <p:ph type="title"/>
          </p:nvPr>
        </p:nvSpPr>
        <p:spPr/>
        <p:txBody>
          <a:bodyPr numCol="1"/>
          <a:lstStyle/>
          <a:p>
            <a:r>
              <a:rPr altLang="en-IN" dirty="0" lang="en-IN"/>
              <a:t>CYK Algorithm</a:t>
            </a:r>
          </a:p>
        </p:txBody>
      </p:sp>
      <p:sp>
        <p:nvSpPr>
          <p:cNvPr id="3" name="Content Placeholder 2">
            <a:extLst>
              <a:ext uri="{FF2B5EF4-FFF2-40B4-BE49-F238E27FC236}">
                <a16:creationId xmlns:a16="http://schemas.microsoft.com/office/drawing/2014/main" id="{270A717C-2679-8981-BB27-D5D3AA176A2A}"/>
              </a:ext>
            </a:extLst>
          </p:cNvPr>
          <p:cNvSpPr>
            <a:spLocks noGrp="1"/>
          </p:cNvSpPr>
          <p:nvPr>
            <p:ph idx="1"/>
          </p:nvPr>
        </p:nvSpPr>
        <p:spPr/>
        <p:txBody>
          <a:bodyPr numCol="1"/>
          <a:lstStyle/>
          <a:p>
            <a:r>
              <a:rPr dirty="0" lang="en-US"/>
              <a:t>CYK Algorithm is a membership algorithm of context free grammar.</a:t>
            </a:r>
          </a:p>
          <a:p>
            <a:r>
              <a:rPr dirty="0" lang="en-US"/>
              <a:t>It is used to decide whether a given string belongs to the language of grammar or not.</a:t>
            </a:r>
          </a:p>
          <a:p>
            <a:r>
              <a:rPr dirty="0" lang="en-US"/>
              <a:t>It is also known as CKY Algorithm or Cocke-Younger-Kasami Algorithm after its inventors.</a:t>
            </a:r>
          </a:p>
          <a:p>
            <a:r>
              <a:rPr dirty="0" lang="en-US"/>
              <a:t>In order to apply CYK algorithm to a grammar, it must be in Chomsky Normal Form. </a:t>
            </a:r>
          </a:p>
          <a:p>
            <a:r>
              <a:rPr dirty="0" lang="en-US"/>
              <a:t>It uses a dynamic programming algorithm to tell whether a string is in the language of a grammar.</a:t>
            </a:r>
            <a:endParaRPr altLang="en-IN" dirty="0" lang="en-IN"/>
          </a:p>
        </p:txBody>
      </p:sp>
    </p:spTree>
    <p:extLst>
      <p:ext uri="{BB962C8B-B14F-4D97-AF65-F5344CB8AC3E}">
        <p14:creationId xmlns:p14="http://schemas.microsoft.com/office/powerpoint/2010/main" val="29366938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2AE5-4DAF-7533-0692-CDAF9793EA50}"/>
              </a:ext>
            </a:extLst>
          </p:cNvPr>
          <p:cNvSpPr>
            <a:spLocks noGrp="1"/>
          </p:cNvSpPr>
          <p:nvPr>
            <p:ph type="title"/>
          </p:nvPr>
        </p:nvSpPr>
        <p:spPr/>
        <p:txBody>
          <a:bodyPr numCol="1"/>
          <a:lstStyle/>
          <a:p>
            <a:r>
              <a:rPr altLang="en-IN" dirty="0" lang="en-IN"/>
              <a:t>Recursive Algorithm</a:t>
            </a:r>
          </a:p>
        </p:txBody>
      </p:sp>
      <p:sp>
        <p:nvSpPr>
          <p:cNvPr id="3" name="Content Placeholder 2">
            <a:extLst>
              <a:ext uri="{FF2B5EF4-FFF2-40B4-BE49-F238E27FC236}">
                <a16:creationId xmlns:a16="http://schemas.microsoft.com/office/drawing/2014/main" id="{B7FD7F77-1A83-DABA-36CC-AADBB6A404A4}"/>
              </a:ext>
            </a:extLst>
          </p:cNvPr>
          <p:cNvSpPr>
            <a:spLocks noGrp="1"/>
          </p:cNvSpPr>
          <p:nvPr>
            <p:ph idx="1"/>
          </p:nvPr>
        </p:nvSpPr>
        <p:spPr/>
        <p:txBody>
          <a:bodyPr numCol="1"/>
          <a:lstStyle/>
          <a:p>
            <a:pPr>
              <a:buFont charset="0" panose="020B0604020202020204" pitchFamily="34" typeface="Arial"/>
              <a:buChar char="•"/>
            </a:pPr>
            <a:r>
              <a:rPr dirty="0" lang="en-US"/>
              <a:t>Assume G is a CNF grammar.</a:t>
            </a:r>
          </a:p>
          <a:p>
            <a:pPr>
              <a:buFont charset="0" panose="020B0604020202020204" pitchFamily="34" typeface="Arial"/>
              <a:buChar char="•"/>
            </a:pPr>
            <a:r>
              <a:rPr dirty="0" lang="en-US"/>
              <a:t>S derives w ⇐⇒ one of the following holds:</a:t>
            </a:r>
          </a:p>
          <a:p>
            <a:pPr>
              <a:buFont charset="0" panose="020B0604020202020204" pitchFamily="34" typeface="Arial"/>
              <a:buChar char="•"/>
            </a:pPr>
            <a:r>
              <a:rPr dirty="0" lang="en-US"/>
              <a:t>|w| = 1 and S → w is a rule in P</a:t>
            </a:r>
          </a:p>
          <a:p>
            <a:pPr>
              <a:buFont charset="0" panose="020B0604020202020204" pitchFamily="34" typeface="Arial"/>
              <a:buChar char="•"/>
            </a:pPr>
            <a:r>
              <a:rPr dirty="0" lang="en-US"/>
              <a:t>|w| &gt; 1 and there is a rule S → AB and a split w = </a:t>
            </a:r>
            <a:r>
              <a:rPr dirty="0" err="1" lang="en-US"/>
              <a:t>uv</a:t>
            </a:r>
            <a:r>
              <a:rPr dirty="0" lang="en-US"/>
              <a:t> with |u|, |v| ≥ 1 such that A derives u and B derives v</a:t>
            </a:r>
            <a:endParaRPr altLang="en-IN" dirty="0" lang="en-IN"/>
          </a:p>
        </p:txBody>
      </p:sp>
    </p:spTree>
    <p:extLst>
      <p:ext uri="{BB962C8B-B14F-4D97-AF65-F5344CB8AC3E}">
        <p14:creationId xmlns:p14="http://schemas.microsoft.com/office/powerpoint/2010/main" val="12096467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635B34CA-DF80-24EF-2CD7-9180DDB30F73}"/>
              </a:ext>
            </a:extLst>
          </p:cNvPr>
          <p:cNvSpPr txBox="1"/>
          <p:nvPr/>
        </p:nvSpPr>
        <p:spPr>
          <a:xfrm>
            <a:off x="1967889" y="3557293"/>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dirty="0" sz="2400">
              <a:latin typeface="Cambria Math"/>
              <a:cs typeface="Cambria Math"/>
            </a:endParaRPr>
          </a:p>
        </p:txBody>
      </p:sp>
      <p:sp>
        <p:nvSpPr>
          <p:cNvPr id="29" name="object 5">
            <a:extLst>
              <a:ext uri="{FF2B5EF4-FFF2-40B4-BE49-F238E27FC236}">
                <a16:creationId xmlns:a16="http://schemas.microsoft.com/office/drawing/2014/main" id="{5E513577-6386-0D28-9A2E-8E88CC532A0B}"/>
              </a:ext>
            </a:extLst>
          </p:cNvPr>
          <p:cNvSpPr txBox="1"/>
          <p:nvPr/>
        </p:nvSpPr>
        <p:spPr>
          <a:xfrm>
            <a:off x="3091077" y="3557293"/>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dirty="0" sz="2400">
              <a:latin typeface="Cambria Math"/>
              <a:cs typeface="Cambria Math"/>
            </a:endParaRPr>
          </a:p>
        </p:txBody>
      </p:sp>
      <p:sp>
        <p:nvSpPr>
          <p:cNvPr id="30" name="object 6">
            <a:extLst>
              <a:ext uri="{FF2B5EF4-FFF2-40B4-BE49-F238E27FC236}">
                <a16:creationId xmlns:a16="http://schemas.microsoft.com/office/drawing/2014/main" id="{22AD6BC0-F425-DBE9-2CB1-5954165620C4}"/>
              </a:ext>
            </a:extLst>
          </p:cNvPr>
          <p:cNvSpPr txBox="1"/>
          <p:nvPr/>
        </p:nvSpPr>
        <p:spPr>
          <a:xfrm>
            <a:off x="4101743" y="2926505"/>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dirty="0" sz="2000">
              <a:latin typeface="Palatino Linotype"/>
              <a:cs typeface="Palatino Linotype"/>
            </a:endParaRPr>
          </a:p>
          <a:p>
            <a:pPr marL="79373">
              <a:spcBef>
                <a:spcPts val="1395"/>
              </a:spcBef>
            </a:pPr>
            <a:r>
              <a:rPr dirty="0" spc="-51" sz="2400">
                <a:latin typeface="Cambria Math"/>
                <a:cs typeface="Cambria Math"/>
              </a:rPr>
              <a:t>3</a:t>
            </a:r>
            <a:endParaRPr dirty="0" sz="2400">
              <a:latin typeface="Cambria Math"/>
              <a:cs typeface="Cambria Math"/>
            </a:endParaRPr>
          </a:p>
        </p:txBody>
      </p:sp>
      <p:sp>
        <p:nvSpPr>
          <p:cNvPr id="31" name="object 7">
            <a:extLst>
              <a:ext uri="{FF2B5EF4-FFF2-40B4-BE49-F238E27FC236}">
                <a16:creationId xmlns:a16="http://schemas.microsoft.com/office/drawing/2014/main" id="{642CBC5D-B1FE-AF81-EFED-0EE8906D8000}"/>
              </a:ext>
            </a:extLst>
          </p:cNvPr>
          <p:cNvSpPr txBox="1"/>
          <p:nvPr/>
        </p:nvSpPr>
        <p:spPr>
          <a:xfrm>
            <a:off x="5244743" y="2926505"/>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dirty="0" sz="2000">
              <a:latin typeface="Palatino Linotype"/>
              <a:cs typeface="Palatino Linotype"/>
            </a:endParaRPr>
          </a:p>
          <a:p>
            <a:pPr marL="12700">
              <a:spcBef>
                <a:spcPts val="1395"/>
              </a:spcBef>
            </a:pPr>
            <a:r>
              <a:rPr dirty="0" spc="-51" sz="2400">
                <a:latin typeface="Cambria Math"/>
                <a:cs typeface="Cambria Math"/>
              </a:rPr>
              <a:t>4</a:t>
            </a:r>
            <a:endParaRPr dirty="0" sz="2400">
              <a:latin typeface="Cambria Math"/>
              <a:cs typeface="Cambria Math"/>
            </a:endParaRPr>
          </a:p>
        </p:txBody>
      </p:sp>
      <p:sp>
        <p:nvSpPr>
          <p:cNvPr id="32" name="object 8">
            <a:extLst>
              <a:ext uri="{FF2B5EF4-FFF2-40B4-BE49-F238E27FC236}">
                <a16:creationId xmlns:a16="http://schemas.microsoft.com/office/drawing/2014/main" id="{37C30B53-0A5F-8D9F-36EC-4FFF2BE1F1DC}"/>
              </a:ext>
            </a:extLst>
          </p:cNvPr>
          <p:cNvSpPr txBox="1"/>
          <p:nvPr/>
        </p:nvSpPr>
        <p:spPr>
          <a:xfrm>
            <a:off x="1100327" y="3811800"/>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dirty="0" sz="3600">
              <a:latin typeface="Cambria Math"/>
              <a:cs typeface="Cambria Math"/>
            </a:endParaRPr>
          </a:p>
        </p:txBody>
      </p:sp>
      <p:sp>
        <p:nvSpPr>
          <p:cNvPr id="38" name="object 14">
            <a:extLst>
              <a:ext uri="{FF2B5EF4-FFF2-40B4-BE49-F238E27FC236}">
                <a16:creationId xmlns:a16="http://schemas.microsoft.com/office/drawing/2014/main" id="{3CD42AF2-6121-D3B9-4A1F-3C07F727D495}"/>
              </a:ext>
            </a:extLst>
          </p:cNvPr>
          <p:cNvSpPr txBox="1"/>
          <p:nvPr/>
        </p:nvSpPr>
        <p:spPr>
          <a:xfrm>
            <a:off x="1066800" y="3937487"/>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dirty="0" sz="3600">
              <a:latin typeface="Cambria Math"/>
              <a:cs typeface="Cambria Math"/>
            </a:endParaRPr>
          </a:p>
          <a:p>
            <a:pPr marL="304158">
              <a:spcBef>
                <a:spcPts val="1431"/>
              </a:spcBef>
            </a:pPr>
            <a:r>
              <a:rPr dirty="0" spc="-51" sz="2400">
                <a:latin typeface="Cambria Math"/>
                <a:cs typeface="Cambria Math"/>
              </a:rPr>
              <a:t>3</a:t>
            </a:r>
            <a:endParaRPr dirty="0" sz="2400">
              <a:latin typeface="Cambria Math"/>
              <a:cs typeface="Cambria Math"/>
            </a:endParaRPr>
          </a:p>
          <a:p>
            <a:pPr marL="304158"/>
            <a:r>
              <a:rPr dirty="0" spc="-51" sz="2400">
                <a:latin typeface="Cambria Math"/>
                <a:cs typeface="Cambria Math"/>
              </a:rPr>
              <a:t>4</a:t>
            </a:r>
            <a:endParaRPr dirty="0" sz="2400">
              <a:latin typeface="Cambria Math"/>
              <a:cs typeface="Cambria Math"/>
            </a:endParaRPr>
          </a:p>
          <a:p>
            <a:pPr marL="304158"/>
            <a:r>
              <a:rPr dirty="0" spc="-51" sz="2400">
                <a:latin typeface="Cambria Math"/>
                <a:cs typeface="Cambria Math"/>
              </a:rPr>
              <a:t>5</a:t>
            </a:r>
            <a:endParaRPr dirty="0" sz="2400">
              <a:latin typeface="Cambria Math"/>
              <a:cs typeface="Cambria Math"/>
            </a:endParaRPr>
          </a:p>
        </p:txBody>
      </p:sp>
      <p:sp>
        <p:nvSpPr>
          <p:cNvPr id="39" name="object 15">
            <a:extLst>
              <a:ext uri="{FF2B5EF4-FFF2-40B4-BE49-F238E27FC236}">
                <a16:creationId xmlns:a16="http://schemas.microsoft.com/office/drawing/2014/main" id="{459A1217-5FAA-3CEA-A662-B58A9626F73A}"/>
              </a:ext>
            </a:extLst>
          </p:cNvPr>
          <p:cNvSpPr/>
          <p:nvPr/>
        </p:nvSpPr>
        <p:spPr>
          <a:xfrm>
            <a:off x="1781250" y="3999800"/>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40" name="object 16">
            <a:extLst>
              <a:ext uri="{FF2B5EF4-FFF2-40B4-BE49-F238E27FC236}">
                <a16:creationId xmlns:a16="http://schemas.microsoft.com/office/drawing/2014/main" id="{82A658E9-D845-C453-DF3E-2F8FE1540983}"/>
              </a:ext>
            </a:extLst>
          </p:cNvPr>
          <p:cNvSpPr txBox="1"/>
          <p:nvPr/>
        </p:nvSpPr>
        <p:spPr>
          <a:xfrm>
            <a:off x="6211339" y="2926505"/>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41" name="object 17">
            <a:extLst>
              <a:ext uri="{FF2B5EF4-FFF2-40B4-BE49-F238E27FC236}">
                <a16:creationId xmlns:a16="http://schemas.microsoft.com/office/drawing/2014/main" id="{825AE5FF-88AD-00E1-8242-AC57457C9DB6}"/>
              </a:ext>
            </a:extLst>
          </p:cNvPr>
          <p:cNvSpPr txBox="1"/>
          <p:nvPr/>
        </p:nvSpPr>
        <p:spPr>
          <a:xfrm>
            <a:off x="2171217" y="3341266"/>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42" name="object 18">
            <a:extLst>
              <a:ext uri="{FF2B5EF4-FFF2-40B4-BE49-F238E27FC236}">
                <a16:creationId xmlns:a16="http://schemas.microsoft.com/office/drawing/2014/main" id="{71E0278F-D3DE-6F66-14B8-EE636595F162}"/>
              </a:ext>
            </a:extLst>
          </p:cNvPr>
          <p:cNvSpPr txBox="1"/>
          <p:nvPr/>
        </p:nvSpPr>
        <p:spPr>
          <a:xfrm>
            <a:off x="1815489" y="3074563"/>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dirty="0" sz="2000">
              <a:latin typeface="Palatino Linotype"/>
              <a:cs typeface="Palatino Linotype"/>
            </a:endParaRPr>
          </a:p>
        </p:txBody>
      </p:sp>
      <p:sp>
        <p:nvSpPr>
          <p:cNvPr id="45" name="TextBox 44">
            <a:extLst>
              <a:ext uri="{FF2B5EF4-FFF2-40B4-BE49-F238E27FC236}">
                <a16:creationId xmlns:a16="http://schemas.microsoft.com/office/drawing/2014/main" id="{3700CA25-0799-A96B-6FD2-FE399A84E03D}"/>
              </a:ext>
            </a:extLst>
          </p:cNvPr>
          <p:cNvSpPr txBox="1"/>
          <p:nvPr/>
        </p:nvSpPr>
        <p:spPr>
          <a:xfrm>
            <a:off x="533400" y="559301"/>
            <a:ext cx="8991217" cy="2246769"/>
          </a:xfrm>
          <a:prstGeom prst="rect">
            <a:avLst/>
          </a:prstGeom>
          <a:noFill/>
        </p:spPr>
        <p:txBody>
          <a:bodyPr numCol="1" wrap="square">
            <a:spAutoFit/>
          </a:bodyPr>
          <a:lstStyle/>
          <a:p>
            <a:r>
              <a:rPr b="1" dirty="0" lang="en-US" sz="2000">
                <a:latin charset="0" panose="02020603050405020304" pitchFamily="18" typeface="Times New Roman"/>
                <a:cs charset="0" panose="02020603050405020304" pitchFamily="18" typeface="Times New Roman"/>
              </a:rPr>
              <a:t>Construct a Triangular Table</a:t>
            </a:r>
          </a:p>
          <a:p>
            <a:pPr indent="-285744" marL="285744">
              <a:buFont charset="0" panose="020B0604020202020204" pitchFamily="34" typeface="Arial"/>
              <a:buChar char="•"/>
            </a:pPr>
            <a:r>
              <a:rPr dirty="0" lang="en-US" sz="2000">
                <a:latin charset="0" panose="02020603050405020304" pitchFamily="18" typeface="Times New Roman"/>
                <a:cs charset="0" panose="02020603050405020304" pitchFamily="18" typeface="Times New Roman"/>
              </a:rPr>
              <a:t>Each row corresponds to one length of substrings</a:t>
            </a:r>
          </a:p>
          <a:p>
            <a:pPr indent="-285744" marL="285744">
              <a:buFont charset="0" panose="020B0604020202020204" pitchFamily="34" typeface="Arial"/>
              <a:buChar char="•"/>
            </a:pPr>
            <a:r>
              <a:rPr dirty="0" lang="en-US" sz="2000">
                <a:latin charset="0" panose="02020603050405020304" pitchFamily="18" typeface="Times New Roman"/>
                <a:cs charset="0" panose="02020603050405020304" pitchFamily="18" typeface="Times New Roman"/>
              </a:rPr>
              <a:t>First row corresponds to substring of length 1.</a:t>
            </a:r>
          </a:p>
          <a:p>
            <a:pPr indent="-285744" marL="285744">
              <a:buFont charset="0" panose="020B0604020202020204" pitchFamily="34" typeface="Arial"/>
              <a:buChar char="•"/>
            </a:pPr>
            <a:r>
              <a:rPr dirty="0" lang="en-US" sz="2000">
                <a:latin charset="0" panose="02020603050405020304" pitchFamily="18" typeface="Times New Roman"/>
                <a:cs charset="0" panose="02020603050405020304" pitchFamily="18" typeface="Times New Roman"/>
              </a:rPr>
              <a:t>Second corresponds to substring of length 2 and so on.</a:t>
            </a:r>
          </a:p>
          <a:p>
            <a:pPr indent="-285744" marL="285744">
              <a:buFont charset="0" panose="020B0604020202020204" pitchFamily="34" typeface="Arial"/>
              <a:buChar char="•"/>
            </a:pPr>
            <a:r>
              <a:rPr dirty="0" lang="en-US" sz="2000">
                <a:latin charset="0" panose="02020603050405020304" pitchFamily="18" typeface="Times New Roman"/>
                <a:cs charset="0" panose="02020603050405020304" pitchFamily="18" typeface="Times New Roman"/>
              </a:rPr>
              <a:t>Each column corresponds to the start position of substring</a:t>
            </a:r>
          </a:p>
          <a:p>
            <a:pPr indent="-285744" marL="285744">
              <a:buFont charset="0" panose="020B0604020202020204" pitchFamily="34" typeface="Arial"/>
              <a:buChar char="•"/>
            </a:pPr>
            <a:endParaRPr dirty="0" lang="en-US" sz="2000">
              <a:latin charset="0" panose="02020603050405020304" pitchFamily="18" typeface="Times New Roman"/>
              <a:cs charset="0" panose="02020603050405020304" pitchFamily="18" typeface="Times New Roman"/>
            </a:endParaRPr>
          </a:p>
          <a:p>
            <a:pPr indent="-285744" marL="285744">
              <a:buFont charset="0" panose="020B0604020202020204" pitchFamily="34" typeface="Arial"/>
              <a:buChar char="•"/>
            </a:pPr>
            <a:r>
              <a:rPr dirty="0" lang="en-US" sz="2000">
                <a:latin charset="0" panose="02020603050405020304" pitchFamily="18" typeface="Times New Roman"/>
                <a:cs charset="0" panose="02020603050405020304" pitchFamily="18" typeface="Times New Roman"/>
              </a:rPr>
              <a:t>Suppose w = </a:t>
            </a:r>
            <a:r>
              <a:rPr dirty="0" err="1" lang="en-US" sz="2000">
                <a:latin charset="0" panose="02020603050405020304" pitchFamily="18" typeface="Times New Roman"/>
                <a:cs charset="0" panose="02020603050405020304" pitchFamily="18" typeface="Times New Roman"/>
              </a:rPr>
              <a:t>aaabb</a:t>
            </a:r>
            <a:endParaRPr dirty="0" lang="en-US" sz="2000">
              <a:latin charset="0" panose="02020603050405020304" pitchFamily="18" typeface="Times New Roman"/>
              <a:cs charset="0" panose="02020603050405020304" pitchFamily="18" typeface="Times New Roman"/>
            </a:endParaRPr>
          </a:p>
        </p:txBody>
      </p:sp>
      <p:cxnSp>
        <p:nvCxnSpPr>
          <p:cNvPr id="47" name="Straight Arrow Connector 46">
            <a:extLst>
              <a:ext uri="{FF2B5EF4-FFF2-40B4-BE49-F238E27FC236}">
                <a16:creationId xmlns:a16="http://schemas.microsoft.com/office/drawing/2014/main" id="{1B7E7679-A137-017F-5447-312D5A94C28C}"/>
              </a:ext>
            </a:extLst>
          </p:cNvPr>
          <p:cNvCxnSpPr>
            <a:cxnSpLocks/>
          </p:cNvCxnSpPr>
          <p:nvPr/>
        </p:nvCxnSpPr>
        <p:spPr>
          <a:xfrm flipH="1">
            <a:off x="6858000" y="4114800"/>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02D063C1-6EA1-80BB-9126-DB78B8D70C2E}"/>
              </a:ext>
            </a:extLst>
          </p:cNvPr>
          <p:cNvSpPr txBox="1"/>
          <p:nvPr/>
        </p:nvSpPr>
        <p:spPr>
          <a:xfrm>
            <a:off x="7516980" y="3930134"/>
            <a:ext cx="2195216" cy="369332"/>
          </a:xfrm>
          <a:prstGeom prst="rect">
            <a:avLst/>
          </a:prstGeom>
          <a:noFill/>
        </p:spPr>
        <p:txBody>
          <a:bodyPr numCol="1" rtlCol="0" wrap="none">
            <a:spAutoFit/>
          </a:bodyPr>
          <a:lstStyle/>
          <a:p>
            <a:r>
              <a:rPr altLang="en-IN" dirty="0" lang="en-IN"/>
              <a:t>Sub-string of length 1</a:t>
            </a:r>
          </a:p>
        </p:txBody>
      </p:sp>
      <p:cxnSp>
        <p:nvCxnSpPr>
          <p:cNvPr id="50" name="Straight Arrow Connector 49">
            <a:extLst>
              <a:ext uri="{FF2B5EF4-FFF2-40B4-BE49-F238E27FC236}">
                <a16:creationId xmlns:a16="http://schemas.microsoft.com/office/drawing/2014/main" id="{663F8171-D362-A6AD-5714-4CC6BDA41642}"/>
              </a:ext>
            </a:extLst>
          </p:cNvPr>
          <p:cNvCxnSpPr>
            <a:cxnSpLocks/>
          </p:cNvCxnSpPr>
          <p:nvPr/>
        </p:nvCxnSpPr>
        <p:spPr>
          <a:xfrm flipH="1">
            <a:off x="6213291" y="4502990"/>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0B0F1C22-71A7-DF08-8F86-DC27BAD4B493}"/>
              </a:ext>
            </a:extLst>
          </p:cNvPr>
          <p:cNvSpPr txBox="1"/>
          <p:nvPr/>
        </p:nvSpPr>
        <p:spPr>
          <a:xfrm>
            <a:off x="6872271" y="4318324"/>
            <a:ext cx="2195216" cy="369332"/>
          </a:xfrm>
          <a:prstGeom prst="rect">
            <a:avLst/>
          </a:prstGeom>
          <a:noFill/>
        </p:spPr>
        <p:txBody>
          <a:bodyPr numCol="1" rtlCol="0" wrap="none">
            <a:spAutoFit/>
          </a:bodyPr>
          <a:lstStyle/>
          <a:p>
            <a:r>
              <a:rPr altLang="en-IN" dirty="0" lang="en-IN"/>
              <a:t>Sub-string of length 2</a:t>
            </a:r>
          </a:p>
        </p:txBody>
      </p:sp>
      <p:cxnSp>
        <p:nvCxnSpPr>
          <p:cNvPr id="52" name="Straight Arrow Connector 51">
            <a:extLst>
              <a:ext uri="{FF2B5EF4-FFF2-40B4-BE49-F238E27FC236}">
                <a16:creationId xmlns:a16="http://schemas.microsoft.com/office/drawing/2014/main" id="{DE41426D-39B9-EFD7-63A9-4BF36E4FD0BD}"/>
              </a:ext>
            </a:extLst>
          </p:cNvPr>
          <p:cNvCxnSpPr>
            <a:cxnSpLocks/>
          </p:cNvCxnSpPr>
          <p:nvPr/>
        </p:nvCxnSpPr>
        <p:spPr>
          <a:xfrm flipH="1">
            <a:off x="5260388" y="4919273"/>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5D035AF4-27D3-D06C-27FD-2E5350A94E08}"/>
              </a:ext>
            </a:extLst>
          </p:cNvPr>
          <p:cNvSpPr txBox="1"/>
          <p:nvPr/>
        </p:nvSpPr>
        <p:spPr>
          <a:xfrm>
            <a:off x="5919368" y="4734607"/>
            <a:ext cx="2195216" cy="369332"/>
          </a:xfrm>
          <a:prstGeom prst="rect">
            <a:avLst/>
          </a:prstGeom>
          <a:noFill/>
        </p:spPr>
        <p:txBody>
          <a:bodyPr numCol="1" rtlCol="0" wrap="none">
            <a:spAutoFit/>
          </a:bodyPr>
          <a:lstStyle/>
          <a:p>
            <a:r>
              <a:rPr altLang="en-IN" dirty="0" lang="en-IN"/>
              <a:t>Sub-string of length 3</a:t>
            </a:r>
          </a:p>
        </p:txBody>
      </p:sp>
      <p:cxnSp>
        <p:nvCxnSpPr>
          <p:cNvPr id="54" name="Straight Arrow Connector 53">
            <a:extLst>
              <a:ext uri="{FF2B5EF4-FFF2-40B4-BE49-F238E27FC236}">
                <a16:creationId xmlns:a16="http://schemas.microsoft.com/office/drawing/2014/main" id="{B1082275-B2AA-B836-92BB-E9857E693D37}"/>
              </a:ext>
            </a:extLst>
          </p:cNvPr>
          <p:cNvCxnSpPr>
            <a:cxnSpLocks/>
          </p:cNvCxnSpPr>
          <p:nvPr/>
        </p:nvCxnSpPr>
        <p:spPr>
          <a:xfrm flipH="1">
            <a:off x="4270504" y="5254746"/>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2729B3A7-DDF6-535B-0677-E54196190E35}"/>
              </a:ext>
            </a:extLst>
          </p:cNvPr>
          <p:cNvSpPr txBox="1"/>
          <p:nvPr/>
        </p:nvSpPr>
        <p:spPr>
          <a:xfrm>
            <a:off x="4929484" y="5070080"/>
            <a:ext cx="2195216" cy="369332"/>
          </a:xfrm>
          <a:prstGeom prst="rect">
            <a:avLst/>
          </a:prstGeom>
          <a:noFill/>
        </p:spPr>
        <p:txBody>
          <a:bodyPr numCol="1" rtlCol="0" wrap="none">
            <a:spAutoFit/>
          </a:bodyPr>
          <a:lstStyle/>
          <a:p>
            <a:r>
              <a:rPr altLang="en-IN" dirty="0" lang="en-IN"/>
              <a:t>Sub-string of length 4</a:t>
            </a:r>
          </a:p>
        </p:txBody>
      </p:sp>
      <p:cxnSp>
        <p:nvCxnSpPr>
          <p:cNvPr id="56" name="Straight Arrow Connector 55">
            <a:extLst>
              <a:ext uri="{FF2B5EF4-FFF2-40B4-BE49-F238E27FC236}">
                <a16:creationId xmlns:a16="http://schemas.microsoft.com/office/drawing/2014/main" id="{AFA1363E-E2C0-2786-FB9A-1881A769A9FB}"/>
              </a:ext>
            </a:extLst>
          </p:cNvPr>
          <p:cNvCxnSpPr>
            <a:cxnSpLocks/>
          </p:cNvCxnSpPr>
          <p:nvPr/>
        </p:nvCxnSpPr>
        <p:spPr>
          <a:xfrm flipH="1">
            <a:off x="3172896" y="5684429"/>
            <a:ext cx="533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8494E19C-D6AA-3202-C77F-8A675ED18CEE}"/>
              </a:ext>
            </a:extLst>
          </p:cNvPr>
          <p:cNvSpPr txBox="1"/>
          <p:nvPr/>
        </p:nvSpPr>
        <p:spPr>
          <a:xfrm>
            <a:off x="3831876" y="5499763"/>
            <a:ext cx="2195216" cy="369332"/>
          </a:xfrm>
          <a:prstGeom prst="rect">
            <a:avLst/>
          </a:prstGeom>
          <a:noFill/>
        </p:spPr>
        <p:txBody>
          <a:bodyPr numCol="1" rtlCol="0" wrap="none">
            <a:spAutoFit/>
          </a:bodyPr>
          <a:lstStyle/>
          <a:p>
            <a:r>
              <a:rPr altLang="en-IN" dirty="0" lang="en-IN"/>
              <a:t>Sub-string of length 5</a:t>
            </a:r>
          </a:p>
        </p:txBody>
      </p:sp>
    </p:spTree>
    <p:extLst>
      <p:ext uri="{BB962C8B-B14F-4D97-AF65-F5344CB8AC3E}">
        <p14:creationId xmlns:p14="http://schemas.microsoft.com/office/powerpoint/2010/main" val="365048329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9"/>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29"/>
                                        </p:tgtEl>
                                        <p:attrNameLst>
                                          <p:attrName>style.visibility</p:attrName>
                                        </p:attrNameLst>
                                      </p:cBhvr>
                                      <p:to>
                                        <p:strVal val="visible"/>
                                      </p:to>
                                    </p:set>
                                  </p:childTnLst>
                                </p:cTn>
                              </p:par>
                              <p:par>
                                <p:cTn fill="hold" grpId="0" id="11" nodeType="withEffect" presetClass="entr" presetID="1" presetSubtype="0">
                                  <p:stCondLst>
                                    <p:cond delay="0"/>
                                  </p:stCondLst>
                                  <p:childTnLst>
                                    <p:set>
                                      <p:cBhvr>
                                        <p:cTn dur="1" fill="hold" id="12">
                                          <p:stCondLst>
                                            <p:cond delay="0"/>
                                          </p:stCondLst>
                                        </p:cTn>
                                        <p:tgtEl>
                                          <p:spTgt spid="28"/>
                                        </p:tgtEl>
                                        <p:attrNameLst>
                                          <p:attrName>style.visibility</p:attrName>
                                        </p:attrNameLst>
                                      </p:cBhvr>
                                      <p:to>
                                        <p:strVal val="visible"/>
                                      </p:to>
                                    </p:set>
                                  </p:childTnLst>
                                </p:cTn>
                              </p:par>
                              <p:par>
                                <p:cTn fill="hold" grpId="0" id="13" nodeType="withEffect" presetClass="entr" presetID="1" presetSubtype="0">
                                  <p:stCondLst>
                                    <p:cond delay="0"/>
                                  </p:stCondLst>
                                  <p:childTnLst>
                                    <p:set>
                                      <p:cBhvr>
                                        <p:cTn dur="1" fill="hold" id="14">
                                          <p:stCondLst>
                                            <p:cond delay="0"/>
                                          </p:stCondLst>
                                        </p:cTn>
                                        <p:tgtEl>
                                          <p:spTgt spid="41"/>
                                        </p:tgtEl>
                                        <p:attrNameLst>
                                          <p:attrName>style.visibility</p:attrName>
                                        </p:attrNameLst>
                                      </p:cBhvr>
                                      <p:to>
                                        <p:strVal val="visible"/>
                                      </p:to>
                                    </p:set>
                                  </p:childTnLst>
                                </p:cTn>
                              </p:par>
                              <p:par>
                                <p:cTn fill="hold" grpId="0" id="15" nodeType="withEffect" presetClass="entr" presetID="1" presetSubtype="0">
                                  <p:stCondLst>
                                    <p:cond delay="0"/>
                                  </p:stCondLst>
                                  <p:childTnLst>
                                    <p:set>
                                      <p:cBhvr>
                                        <p:cTn dur="1" fill="hold" id="16">
                                          <p:stCondLst>
                                            <p:cond delay="0"/>
                                          </p:stCondLst>
                                        </p:cTn>
                                        <p:tgtEl>
                                          <p:spTgt spid="30"/>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31"/>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40"/>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42"/>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49"/>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47"/>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grpId="0" id="31" nodeType="clickEffect" presetClass="entr" presetID="1" presetSubtype="0">
                                  <p:stCondLst>
                                    <p:cond delay="0"/>
                                  </p:stCondLst>
                                  <p:childTnLst>
                                    <p:set>
                                      <p:cBhvr>
                                        <p:cTn dur="1" fill="hold" id="32">
                                          <p:stCondLst>
                                            <p:cond delay="0"/>
                                          </p:stCondLst>
                                        </p:cTn>
                                        <p:tgtEl>
                                          <p:spTgt spid="51"/>
                                        </p:tgtEl>
                                        <p:attrNameLst>
                                          <p:attrName>style.visibility</p:attrName>
                                        </p:attrNameLst>
                                      </p:cBhvr>
                                      <p:to>
                                        <p:strVal val="visible"/>
                                      </p:to>
                                    </p:set>
                                  </p:childTnLst>
                                </p:cTn>
                              </p:par>
                              <p:par>
                                <p:cTn fill="hold" id="33" nodeType="withEffect" presetClass="entr" presetID="1" presetSubtype="0">
                                  <p:stCondLst>
                                    <p:cond delay="0"/>
                                  </p:stCondLst>
                                  <p:childTnLst>
                                    <p:set>
                                      <p:cBhvr>
                                        <p:cTn dur="1" fill="hold" id="34">
                                          <p:stCondLst>
                                            <p:cond delay="0"/>
                                          </p:stCondLst>
                                        </p:cTn>
                                        <p:tgtEl>
                                          <p:spTgt spid="50"/>
                                        </p:tgtEl>
                                        <p:attrNameLst>
                                          <p:attrName>style.visibility</p:attrName>
                                        </p:attrNameLst>
                                      </p:cBhvr>
                                      <p:to>
                                        <p:strVal val="visible"/>
                                      </p:to>
                                    </p:set>
                                  </p:childTnLst>
                                </p:cTn>
                              </p:par>
                            </p:childTnLst>
                          </p:cTn>
                        </p:par>
                      </p:childTnLst>
                    </p:cTn>
                  </p:par>
                  <p:par>
                    <p:cTn fill="hold" id="35">
                      <p:stCondLst>
                        <p:cond delay="indefinite"/>
                      </p:stCondLst>
                      <p:childTnLst>
                        <p:par>
                          <p:cTn fill="hold" id="36">
                            <p:stCondLst>
                              <p:cond delay="0"/>
                            </p:stCondLst>
                            <p:childTnLst>
                              <p:par>
                                <p:cTn fill="hold" grpId="0" id="37" nodeType="clickEffect" presetClass="entr" presetID="1" presetSubtype="0">
                                  <p:stCondLst>
                                    <p:cond delay="0"/>
                                  </p:stCondLst>
                                  <p:childTnLst>
                                    <p:set>
                                      <p:cBhvr>
                                        <p:cTn dur="1" fill="hold" id="38">
                                          <p:stCondLst>
                                            <p:cond delay="0"/>
                                          </p:stCondLst>
                                        </p:cTn>
                                        <p:tgtEl>
                                          <p:spTgt spid="53"/>
                                        </p:tgtEl>
                                        <p:attrNameLst>
                                          <p:attrName>style.visibility</p:attrName>
                                        </p:attrNameLst>
                                      </p:cBhvr>
                                      <p:to>
                                        <p:strVal val="visible"/>
                                      </p:to>
                                    </p:set>
                                  </p:childTnLst>
                                </p:cTn>
                              </p:par>
                              <p:par>
                                <p:cTn fill="hold" id="39" nodeType="withEffect" presetClass="entr" presetID="1" presetSubtype="0">
                                  <p:stCondLst>
                                    <p:cond delay="0"/>
                                  </p:stCondLst>
                                  <p:childTnLst>
                                    <p:set>
                                      <p:cBhvr>
                                        <p:cTn dur="1" fill="hold" id="40">
                                          <p:stCondLst>
                                            <p:cond delay="0"/>
                                          </p:stCondLst>
                                        </p:cTn>
                                        <p:tgtEl>
                                          <p:spTgt spid="52"/>
                                        </p:tgtEl>
                                        <p:attrNameLst>
                                          <p:attrName>style.visibility</p:attrName>
                                        </p:attrNameLst>
                                      </p:cBhvr>
                                      <p:to>
                                        <p:strVal val="visible"/>
                                      </p:to>
                                    </p:set>
                                  </p:childTnLst>
                                </p:cTn>
                              </p:par>
                              <p:par>
                                <p:cTn fill="hold" grpId="0" id="41" nodeType="withEffect" presetClass="entr" presetID="1" presetSubtype="0">
                                  <p:stCondLst>
                                    <p:cond delay="0"/>
                                  </p:stCondLst>
                                  <p:childTnLst>
                                    <p:set>
                                      <p:cBhvr>
                                        <p:cTn dur="1" fill="hold" id="42">
                                          <p:stCondLst>
                                            <p:cond delay="0"/>
                                          </p:stCondLst>
                                        </p:cTn>
                                        <p:tgtEl>
                                          <p:spTgt spid="55"/>
                                        </p:tgtEl>
                                        <p:attrNameLst>
                                          <p:attrName>style.visibility</p:attrName>
                                        </p:attrNameLst>
                                      </p:cBhvr>
                                      <p:to>
                                        <p:strVal val="visible"/>
                                      </p:to>
                                    </p:set>
                                  </p:childTnLst>
                                </p:cTn>
                              </p:par>
                              <p:par>
                                <p:cTn fill="hold" id="43" nodeType="withEffect" presetClass="entr" presetID="1" presetSubtype="0">
                                  <p:stCondLst>
                                    <p:cond delay="0"/>
                                  </p:stCondLst>
                                  <p:childTnLst>
                                    <p:set>
                                      <p:cBhvr>
                                        <p:cTn dur="1" fill="hold" id="44">
                                          <p:stCondLst>
                                            <p:cond delay="0"/>
                                          </p:stCondLst>
                                        </p:cTn>
                                        <p:tgtEl>
                                          <p:spTgt spid="54"/>
                                        </p:tgtEl>
                                        <p:attrNameLst>
                                          <p:attrName>style.visibility</p:attrName>
                                        </p:attrNameLst>
                                      </p:cBhvr>
                                      <p:to>
                                        <p:strVal val="visible"/>
                                      </p:to>
                                    </p:set>
                                  </p:childTnLst>
                                </p:cTn>
                              </p:par>
                              <p:par>
                                <p:cTn fill="hold" grpId="0" id="45" nodeType="withEffect" presetClass="entr" presetID="1" presetSubtype="0">
                                  <p:stCondLst>
                                    <p:cond delay="0"/>
                                  </p:stCondLst>
                                  <p:childTnLst>
                                    <p:set>
                                      <p:cBhvr>
                                        <p:cTn dur="1" fill="hold" id="46">
                                          <p:stCondLst>
                                            <p:cond delay="0"/>
                                          </p:stCondLst>
                                        </p:cTn>
                                        <p:tgtEl>
                                          <p:spTgt spid="57"/>
                                        </p:tgtEl>
                                        <p:attrNameLst>
                                          <p:attrName>style.visibility</p:attrName>
                                        </p:attrNameLst>
                                      </p:cBhvr>
                                      <p:to>
                                        <p:strVal val="visible"/>
                                      </p:to>
                                    </p:set>
                                  </p:childTnLst>
                                </p:cTn>
                              </p:par>
                              <p:par>
                                <p:cTn fill="hold" id="47" nodeType="withEffect" presetClass="entr" presetID="1" presetSubtype="0">
                                  <p:stCondLst>
                                    <p:cond delay="0"/>
                                  </p:stCondLst>
                                  <p:childTnLst>
                                    <p:set>
                                      <p:cBhvr>
                                        <p:cTn dur="1" fill="hold" id="48">
                                          <p:stCondLst>
                                            <p:cond delay="0"/>
                                          </p:stCondLst>
                                        </p:cTn>
                                        <p:tgtEl>
                                          <p:spTgt spid="56"/>
                                        </p:tgtEl>
                                        <p:attrNameLst>
                                          <p:attrName>style.visibility</p:attrName>
                                        </p:attrNameLst>
                                      </p:cBhvr>
                                      <p:to>
                                        <p:strVal val="visible"/>
                                      </p:to>
                                    </p:set>
                                  </p:childTnLst>
                                </p:cTn>
                              </p:par>
                            </p:childTnLst>
                          </p:cTn>
                        </p:par>
                      </p:childTnLst>
                    </p:cTn>
                  </p:par>
                  <p:par>
                    <p:cTn fill="hold" id="49">
                      <p:stCondLst>
                        <p:cond delay="indefinite"/>
                      </p:stCondLst>
                      <p:childTnLst>
                        <p:par>
                          <p:cTn fill="hold" id="50">
                            <p:stCondLst>
                              <p:cond delay="0"/>
                            </p:stCondLst>
                            <p:childTnLst>
                              <p:par>
                                <p:cTn fill="hold" grpId="0" id="51" nodeType="clickEffect" presetClass="entr" presetID="1" presetSubtype="0">
                                  <p:stCondLst>
                                    <p:cond delay="0"/>
                                  </p:stCondLst>
                                  <p:childTnLst>
                                    <p:set>
                                      <p:cBhvr>
                                        <p:cTn dur="1" fill="hold" id="52">
                                          <p:stCondLst>
                                            <p:cond delay="0"/>
                                          </p:stCondLst>
                                        </p:cTn>
                                        <p:tgtEl>
                                          <p:spTgt spid="32"/>
                                        </p:tgtEl>
                                        <p:attrNameLst>
                                          <p:attrName>style.visibility</p:attrName>
                                        </p:attrNameLst>
                                      </p:cBhvr>
                                      <p:to>
                                        <p:strVal val="visible"/>
                                      </p:to>
                                    </p:set>
                                  </p:childTnLst>
                                </p:cTn>
                              </p:par>
                              <p:par>
                                <p:cTn fill="hold" grpId="0" id="53" nodeType="withEffect" presetClass="entr" presetID="1" presetSubtype="0">
                                  <p:stCondLst>
                                    <p:cond delay="0"/>
                                  </p:stCondLst>
                                  <p:childTnLst>
                                    <p:set>
                                      <p:cBhvr>
                                        <p:cTn dur="1" fill="hold" id="54">
                                          <p:stCondLst>
                                            <p:cond delay="0"/>
                                          </p:stCondLst>
                                        </p:cTn>
                                        <p:tgtEl>
                                          <p:spTgt spid="38"/>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8"/>
      <p:bldP grpId="0" spid="29"/>
      <p:bldP grpId="0" spid="30"/>
      <p:bldP grpId="0" spid="31"/>
      <p:bldP grpId="0" spid="32"/>
      <p:bldP grpId="0" spid="38"/>
      <p:bldP animBg="1" grpId="0" spid="39"/>
      <p:bldP grpId="0" spid="40"/>
      <p:bldP grpId="0" spid="41"/>
      <p:bldP grpId="0" spid="42"/>
      <p:bldP grpId="0" spid="49"/>
      <p:bldP grpId="0" spid="51"/>
      <p:bldP grpId="0" spid="53"/>
      <p:bldP grpId="0" spid="55"/>
      <p:bldP grpId="0" spid="57"/>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589B87-CEB8-8F30-FB7D-8269744BC7B9}"/>
              </a:ext>
            </a:extLst>
          </p:cNvPr>
          <p:cNvSpPr txBox="1"/>
          <p:nvPr/>
        </p:nvSpPr>
        <p:spPr>
          <a:xfrm>
            <a:off x="609600" y="609600"/>
            <a:ext cx="8686800" cy="830997"/>
          </a:xfrm>
          <a:prstGeom prst="rect">
            <a:avLst/>
          </a:prstGeom>
          <a:noFill/>
        </p:spPr>
        <p:txBody>
          <a:bodyPr numCol="1" wrap="square">
            <a:spAutoFit/>
          </a:bodyPr>
          <a:lstStyle/>
          <a:p>
            <a:r>
              <a:rPr dirty="0" lang="en-US" sz="2400">
                <a:latin charset="0" panose="02020603050405020304" pitchFamily="18" typeface="Times New Roman"/>
                <a:cs charset="0" panose="02020603050405020304" pitchFamily="18" typeface="Times New Roman"/>
              </a:rPr>
              <a:t>Show the CYK Algorithm with the following example:</a:t>
            </a:r>
          </a:p>
          <a:p>
            <a:endParaRPr dirty="0" lang="en-US" sz="2400">
              <a:latin charset="0" panose="02020603050405020304" pitchFamily="18" typeface="Times New Roman"/>
              <a:cs charset="0" panose="02020603050405020304" pitchFamily="18" typeface="Times New Roman"/>
            </a:endParaRPr>
          </a:p>
        </p:txBody>
      </p:sp>
      <p:sp>
        <p:nvSpPr>
          <p:cNvPr id="4" name="object 3">
            <a:extLst>
              <a:ext uri="{FF2B5EF4-FFF2-40B4-BE49-F238E27FC236}">
                <a16:creationId xmlns:a16="http://schemas.microsoft.com/office/drawing/2014/main" id="{A0D5DD66-DAFE-AB92-92F5-80295769DC4A}"/>
              </a:ext>
            </a:extLst>
          </p:cNvPr>
          <p:cNvSpPr txBox="1"/>
          <p:nvPr/>
        </p:nvSpPr>
        <p:spPr>
          <a:xfrm>
            <a:off x="838200" y="1143000"/>
            <a:ext cx="3200400" cy="3336811"/>
          </a:xfrm>
          <a:prstGeom prst="rect">
            <a:avLst/>
          </a:prstGeom>
        </p:spPr>
        <p:txBody>
          <a:bodyPr bIns="0" lIns="0" numCol="1" rIns="0" rtlCol="0" tIns="12700" vert="horz" wrap="square">
            <a:spAutoFit/>
          </a:bodyPr>
          <a:lstStyle/>
          <a:p>
            <a:pPr marL="88898">
              <a:spcBef>
                <a:spcPts val="100"/>
              </a:spcBef>
            </a:pPr>
            <a:r>
              <a:rPr dirty="0" sz="2400">
                <a:latin charset="0" panose="02020603050405020304" pitchFamily="18" typeface="Times New Roman"/>
                <a:cs charset="0" panose="02020603050405020304" pitchFamily="18" typeface="Times New Roman"/>
              </a:rPr>
              <a:t>𝑆</a:t>
            </a:r>
            <a:r>
              <a:rPr dirty="0" spc="180"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125" sz="2400">
                <a:latin charset="0" panose="02020603050405020304" pitchFamily="18" typeface="Times New Roman"/>
                <a:cs charset="0" panose="02020603050405020304" pitchFamily="18" typeface="Times New Roman"/>
              </a:rPr>
              <a:t> </a:t>
            </a:r>
            <a:r>
              <a:rPr dirty="0" spc="-25" sz="2400">
                <a:latin charset="0" panose="02020603050405020304" pitchFamily="18" typeface="Times New Roman"/>
                <a:cs charset="0" panose="02020603050405020304" pitchFamily="18" typeface="Times New Roman"/>
              </a:rPr>
              <a:t>𝐴𝐵</a:t>
            </a:r>
            <a:endParaRPr dirty="0" sz="2400">
              <a:latin charset="0" panose="02020603050405020304" pitchFamily="18" typeface="Times New Roman"/>
              <a:cs charset="0" panose="02020603050405020304" pitchFamily="18" typeface="Times New Roman"/>
            </a:endParaRPr>
          </a:p>
          <a:p>
            <a:pPr marL="88898">
              <a:spcBef>
                <a:spcPts val="5"/>
              </a:spcBef>
            </a:pPr>
            <a:r>
              <a:rPr dirty="0" sz="2400">
                <a:latin charset="0" panose="02020603050405020304" pitchFamily="18" typeface="Times New Roman"/>
                <a:cs charset="0" panose="02020603050405020304" pitchFamily="18" typeface="Times New Roman"/>
              </a:rPr>
              <a:t>𝐴</a:t>
            </a:r>
            <a:r>
              <a:rPr dirty="0" spc="151"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115"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𝐴𝐴</a:t>
            </a:r>
            <a:r>
              <a:rPr dirty="0" spc="11"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20"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𝐴𝐵</a:t>
            </a:r>
            <a:r>
              <a:rPr dirty="0" spc="51"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20" sz="2400">
                <a:latin charset="0" panose="02020603050405020304" pitchFamily="18" typeface="Times New Roman"/>
                <a:cs charset="0" panose="02020603050405020304" pitchFamily="18" typeface="Times New Roman"/>
              </a:rPr>
              <a:t> </a:t>
            </a:r>
            <a:r>
              <a:rPr dirty="0" spc="-51" sz="2400">
                <a:latin charset="0" panose="02020603050405020304" pitchFamily="18" typeface="Times New Roman"/>
                <a:cs charset="0" panose="02020603050405020304" pitchFamily="18" typeface="Times New Roman"/>
              </a:rPr>
              <a:t>𝑎</a:t>
            </a:r>
            <a:endParaRPr dirty="0" sz="2400">
              <a:latin charset="0" panose="02020603050405020304" pitchFamily="18" typeface="Times New Roman"/>
              <a:cs charset="0" panose="02020603050405020304" pitchFamily="18" typeface="Times New Roman"/>
            </a:endParaRPr>
          </a:p>
          <a:p>
            <a:pPr marL="88898"/>
            <a:r>
              <a:rPr dirty="0" sz="2400">
                <a:latin charset="0" panose="02020603050405020304" pitchFamily="18" typeface="Times New Roman"/>
                <a:cs charset="0" panose="02020603050405020304" pitchFamily="18" typeface="Times New Roman"/>
              </a:rPr>
              <a:t>𝐵</a:t>
            </a:r>
            <a:r>
              <a:rPr dirty="0" spc="185"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125" sz="2400">
                <a:latin charset="0" panose="02020603050405020304" pitchFamily="18" typeface="Times New Roman"/>
                <a:cs charset="0" panose="02020603050405020304" pitchFamily="18" typeface="Times New Roman"/>
              </a:rPr>
              <a:t> </a:t>
            </a:r>
            <a:r>
              <a:rPr dirty="0" spc="-25" sz="2400">
                <a:latin charset="0" panose="02020603050405020304" pitchFamily="18" typeface="Times New Roman"/>
                <a:cs charset="0" panose="02020603050405020304" pitchFamily="18" typeface="Times New Roman"/>
              </a:rPr>
              <a:t>𝐶𝐶</a:t>
            </a:r>
            <a:endParaRPr dirty="0" sz="2400">
              <a:latin charset="0" panose="02020603050405020304" pitchFamily="18" typeface="Times New Roman"/>
              <a:cs charset="0" panose="02020603050405020304" pitchFamily="18" typeface="Times New Roman"/>
            </a:endParaRPr>
          </a:p>
          <a:p>
            <a:pPr marL="88898"/>
            <a:r>
              <a:rPr dirty="0" sz="2400">
                <a:latin charset="0" panose="02020603050405020304" pitchFamily="18" typeface="Times New Roman"/>
                <a:cs charset="0" panose="02020603050405020304" pitchFamily="18" typeface="Times New Roman"/>
              </a:rPr>
              <a:t>𝐶</a:t>
            </a:r>
            <a:r>
              <a:rPr dirty="0" spc="235"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125" sz="2400">
                <a:latin charset="0" panose="02020603050405020304" pitchFamily="18" typeface="Times New Roman"/>
                <a:cs charset="0" panose="02020603050405020304" pitchFamily="18" typeface="Times New Roman"/>
              </a:rPr>
              <a:t> </a:t>
            </a:r>
            <a:r>
              <a:rPr dirty="0" spc="-60" sz="2400">
                <a:latin charset="0" panose="02020603050405020304" pitchFamily="18" typeface="Times New Roman"/>
                <a:cs charset="0" panose="02020603050405020304" pitchFamily="18" typeface="Times New Roman"/>
              </a:rPr>
              <a:t>𝑏</a:t>
            </a:r>
            <a:endParaRPr altLang="en-IN" dirty="0" lang="en-IN" spc="-60" sz="2400">
              <a:latin charset="0" panose="02020603050405020304" pitchFamily="18" typeface="Times New Roman"/>
              <a:cs charset="0" panose="02020603050405020304" pitchFamily="18" typeface="Times New Roman"/>
            </a:endParaRPr>
          </a:p>
          <a:p>
            <a:pPr marL="88898"/>
            <a:endParaRPr dirty="0" sz="2400">
              <a:latin charset="0" panose="02020603050405020304" pitchFamily="18" typeface="Times New Roman"/>
              <a:cs charset="0" panose="02020603050405020304" pitchFamily="18" typeface="Times New Roman"/>
            </a:endParaRPr>
          </a:p>
          <a:p>
            <a:pPr marL="12700"/>
            <a:r>
              <a:rPr altLang="en-IN" dirty="0" lang="en-IN" spc="185" sz="2400">
                <a:latin charset="0" panose="02020603050405020304" pitchFamily="18" typeface="Times New Roman"/>
                <a:cs charset="0" panose="02020603050405020304" pitchFamily="18" typeface="Times New Roman"/>
              </a:rPr>
              <a:t>w</a:t>
            </a:r>
            <a:r>
              <a:rPr dirty="0" spc="185"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111"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𝑎𝑎𝑎𝑏𝑏</a:t>
            </a:r>
            <a:r>
              <a:rPr dirty="0" spc="131"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(𝑛</a:t>
            </a:r>
            <a:r>
              <a:rPr dirty="0" spc="160" sz="2400">
                <a:latin charset="0" panose="02020603050405020304" pitchFamily="18" typeface="Times New Roman"/>
                <a:cs charset="0" panose="02020603050405020304" pitchFamily="18" typeface="Times New Roman"/>
              </a:rPr>
              <a:t> </a:t>
            </a:r>
            <a:r>
              <a:rPr dirty="0" sz="2400">
                <a:latin charset="0" panose="02020603050405020304" pitchFamily="18" typeface="Times New Roman"/>
                <a:cs charset="0" panose="02020603050405020304" pitchFamily="18" typeface="Times New Roman"/>
              </a:rPr>
              <a:t>=</a:t>
            </a:r>
            <a:r>
              <a:rPr dirty="0" spc="111" sz="2400">
                <a:latin charset="0" panose="02020603050405020304" pitchFamily="18" typeface="Times New Roman"/>
                <a:cs charset="0" panose="02020603050405020304" pitchFamily="18" typeface="Times New Roman"/>
              </a:rPr>
              <a:t> </a:t>
            </a:r>
            <a:r>
              <a:rPr dirty="0" spc="-25" sz="2400">
                <a:latin charset="0" panose="02020603050405020304" pitchFamily="18" typeface="Times New Roman"/>
                <a:cs charset="0" panose="02020603050405020304" pitchFamily="18" typeface="Times New Roman"/>
              </a:rPr>
              <a:t>5)</a:t>
            </a:r>
            <a:endParaRPr altLang="en-IN" dirty="0" lang="en-IN" spc="-25" sz="2400">
              <a:latin charset="0" panose="02020603050405020304" pitchFamily="18" typeface="Times New Roman"/>
              <a:cs charset="0" panose="02020603050405020304" pitchFamily="18" typeface="Times New Roman"/>
            </a:endParaRPr>
          </a:p>
          <a:p>
            <a:pPr marL="12700"/>
            <a:endParaRPr altLang="en-IN" dirty="0" lang="en-IN" spc="-25" sz="2400">
              <a:latin charset="0" panose="02020603050405020304" pitchFamily="18" typeface="Times New Roman"/>
              <a:cs charset="0" panose="02020603050405020304" pitchFamily="18" typeface="Times New Roman"/>
            </a:endParaRPr>
          </a:p>
          <a:p>
            <a:pPr marL="12700"/>
            <a:r>
              <a:rPr dirty="0" lang="en-US" sz="2400">
                <a:sym charset="2" panose="05000000000000000000" pitchFamily="2" typeface="Wingdings"/>
              </a:rPr>
              <a:t>Is </a:t>
            </a:r>
            <a:r>
              <a:rPr b="1" dirty="0" lang="en-US" sz="2400">
                <a:sym charset="2" panose="05000000000000000000" pitchFamily="2" typeface="Wingdings"/>
              </a:rPr>
              <a:t>w</a:t>
            </a:r>
            <a:r>
              <a:rPr dirty="0" lang="en-US" sz="2400">
                <a:sym charset="2" panose="05000000000000000000" pitchFamily="2" typeface="Wingdings"/>
              </a:rPr>
              <a:t> in L(G)?</a:t>
            </a:r>
          </a:p>
          <a:p>
            <a:pPr marL="12700"/>
            <a:endParaRPr dirty="0" sz="2400">
              <a:latin charset="0" panose="02020603050405020304" pitchFamily="18" typeface="Times New Roman"/>
              <a:cs charset="0" panose="02020603050405020304" pitchFamily="18" typeface="Times New Roman"/>
            </a:endParaRPr>
          </a:p>
        </p:txBody>
      </p:sp>
      <p:sp>
        <p:nvSpPr>
          <p:cNvPr id="2" name="object 15">
            <a:extLst>
              <a:ext uri="{FF2B5EF4-FFF2-40B4-BE49-F238E27FC236}">
                <a16:creationId xmlns:a16="http://schemas.microsoft.com/office/drawing/2014/main" id="{39DE19F4-C44B-04CC-5BA4-75A14AE99D31}"/>
              </a:ext>
            </a:extLst>
          </p:cNvPr>
          <p:cNvSpPr/>
          <p:nvPr/>
        </p:nvSpPr>
        <p:spPr>
          <a:xfrm>
            <a:off x="5067300" y="2905125"/>
            <a:ext cx="5886450" cy="234315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dirty="0"/>
          </a:p>
        </p:txBody>
      </p:sp>
    </p:spTree>
    <p:extLst>
      <p:ext uri="{BB962C8B-B14F-4D97-AF65-F5344CB8AC3E}">
        <p14:creationId xmlns:p14="http://schemas.microsoft.com/office/powerpoint/2010/main" val="199819862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1" presetSubtype="0">
                                  <p:stCondLst>
                                    <p:cond delay="0"/>
                                  </p:stCondLst>
                                  <p:childTnLst>
                                    <p:set>
                                      <p:cBhvr>
                                        <p:cTn dur="1" fill="hold" id="6">
                                          <p:stCondLst>
                                            <p:cond delay="0"/>
                                          </p:stCondLst>
                                        </p:cTn>
                                        <p:tgtEl>
                                          <p:spTgt spid="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2"/>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FE6E2B9-09C6-F447-676D-B7A2B57B46A9}"/>
              </a:ext>
            </a:extLst>
          </p:cNvPr>
          <p:cNvSpPr txBox="1"/>
          <p:nvPr/>
        </p:nvSpPr>
        <p:spPr>
          <a:xfrm>
            <a:off x="753816" y="599969"/>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dirty="0"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dirty="0"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dirty="0" sz="2400">
              <a:latin typeface="Palatino Linotype"/>
              <a:cs typeface="Palatino Linotype"/>
            </a:endParaRPr>
          </a:p>
        </p:txBody>
      </p:sp>
      <p:sp>
        <p:nvSpPr>
          <p:cNvPr id="3" name="object 19">
            <a:extLst>
              <a:ext uri="{FF2B5EF4-FFF2-40B4-BE49-F238E27FC236}">
                <a16:creationId xmlns:a16="http://schemas.microsoft.com/office/drawing/2014/main" id="{14ECBB7D-3B5B-FBB9-6919-A2D2CB633D6B}"/>
              </a:ext>
            </a:extLst>
          </p:cNvPr>
          <p:cNvSpPr txBox="1"/>
          <p:nvPr/>
        </p:nvSpPr>
        <p:spPr>
          <a:xfrm>
            <a:off x="4078732" y="691974"/>
            <a:ext cx="6513067" cy="1735732"/>
          </a:xfrm>
          <a:prstGeom prst="rect">
            <a:avLst/>
          </a:prstGeom>
        </p:spPr>
        <p:txBody>
          <a:bodyPr bIns="0" lIns="0" numCol="1" rIns="0" rtlCol="0" tIns="12065" vert="horz" wrap="square">
            <a:spAutoFit/>
          </a:bodyPr>
          <a:lstStyle/>
          <a:p>
            <a:pPr marL="12700" marR="5080">
              <a:spcBef>
                <a:spcPts val="95"/>
              </a:spcBef>
            </a:pPr>
            <a:r>
              <a:rPr dirty="0" i="1" sz="2800">
                <a:latin charset="0" panose="02020603050405020304" pitchFamily="18" typeface="Times New Roman"/>
                <a:cs charset="0" panose="02020603050405020304" pitchFamily="18" typeface="Times New Roman"/>
              </a:rPr>
              <a:t>Start</a:t>
            </a:r>
            <a:r>
              <a:rPr dirty="0" i="1" spc="-3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by</a:t>
            </a:r>
            <a:r>
              <a:rPr dirty="0" i="1" spc="-3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filling</a:t>
            </a:r>
            <a:r>
              <a:rPr dirty="0" i="1" spc="-4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in</a:t>
            </a:r>
            <a:r>
              <a:rPr dirty="0" i="1" spc="-3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5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“top”</a:t>
            </a:r>
            <a:r>
              <a:rPr dirty="0" i="1" spc="-3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row</a:t>
            </a:r>
            <a:r>
              <a:rPr dirty="0" i="1" spc="-40" sz="2800">
                <a:latin charset="0" panose="02020603050405020304" pitchFamily="18" typeface="Times New Roman"/>
                <a:cs charset="0" panose="02020603050405020304" pitchFamily="18" typeface="Times New Roman"/>
              </a:rPr>
              <a:t> </a:t>
            </a:r>
            <a:r>
              <a:rPr dirty="0" i="1" spc="-25" sz="2800">
                <a:latin charset="0" panose="02020603050405020304" pitchFamily="18" typeface="Times New Roman"/>
                <a:cs charset="0" panose="02020603050405020304" pitchFamily="18" typeface="Times New Roman"/>
              </a:rPr>
              <a:t>in</a:t>
            </a:r>
            <a:r>
              <a:rPr dirty="0" i="1" spc="700"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5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table,</a:t>
            </a:r>
            <a:r>
              <a:rPr dirty="0" i="1" spc="-5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with</a:t>
            </a:r>
            <a:r>
              <a:rPr dirty="0" i="1" spc="-4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4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variables</a:t>
            </a:r>
            <a:r>
              <a:rPr dirty="0" i="1" spc="-71" sz="2800">
                <a:latin charset="0" panose="02020603050405020304" pitchFamily="18" typeface="Times New Roman"/>
                <a:cs charset="0" panose="02020603050405020304" pitchFamily="18" typeface="Times New Roman"/>
              </a:rPr>
              <a:t> </a:t>
            </a:r>
            <a:r>
              <a:rPr dirty="0" i="1" spc="-20" sz="2800">
                <a:latin charset="0" panose="02020603050405020304" pitchFamily="18" typeface="Times New Roman"/>
                <a:cs charset="0" panose="02020603050405020304" pitchFamily="18" typeface="Times New Roman"/>
              </a:rPr>
              <a:t>that </a:t>
            </a:r>
            <a:r>
              <a:rPr dirty="0" i="1" sz="2800">
                <a:latin charset="0" panose="02020603050405020304" pitchFamily="18" typeface="Times New Roman"/>
                <a:cs charset="0" panose="02020603050405020304" pitchFamily="18" typeface="Times New Roman"/>
              </a:rPr>
              <a:t>directly</a:t>
            </a:r>
            <a:r>
              <a:rPr dirty="0" i="1" spc="-7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produce</a:t>
            </a:r>
            <a:r>
              <a:rPr dirty="0" i="1" spc="-60"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6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terminal</a:t>
            </a:r>
            <a:r>
              <a:rPr dirty="0" i="1" spc="-80" sz="2800">
                <a:latin charset="0" panose="02020603050405020304" pitchFamily="18" typeface="Times New Roman"/>
                <a:cs charset="0" panose="02020603050405020304" pitchFamily="18" typeface="Times New Roman"/>
              </a:rPr>
              <a:t> </a:t>
            </a:r>
            <a:r>
              <a:rPr dirty="0" i="1" spc="-11" sz="2800">
                <a:latin charset="0" panose="02020603050405020304" pitchFamily="18" typeface="Times New Roman"/>
                <a:cs charset="0" panose="02020603050405020304" pitchFamily="18" typeface="Times New Roman"/>
              </a:rPr>
              <a:t>symbol </a:t>
            </a:r>
            <a:r>
              <a:rPr dirty="0" i="1" sz="2800">
                <a:latin charset="0" panose="02020603050405020304" pitchFamily="18" typeface="Times New Roman"/>
                <a:cs charset="0" panose="02020603050405020304" pitchFamily="18" typeface="Times New Roman"/>
              </a:rPr>
              <a:t>at</a:t>
            </a:r>
            <a:r>
              <a:rPr dirty="0" i="1" spc="-5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60"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corresponding</a:t>
            </a:r>
            <a:r>
              <a:rPr dirty="0" i="1" spc="-55" sz="2800">
                <a:latin charset="0" panose="02020603050405020304" pitchFamily="18" typeface="Times New Roman"/>
                <a:cs charset="0" panose="02020603050405020304" pitchFamily="18" typeface="Times New Roman"/>
              </a:rPr>
              <a:t> </a:t>
            </a:r>
            <a:r>
              <a:rPr dirty="0" i="1" spc="-11" sz="2800">
                <a:latin charset="0" panose="02020603050405020304" pitchFamily="18" typeface="Times New Roman"/>
                <a:cs charset="0" panose="02020603050405020304" pitchFamily="18" typeface="Times New Roman"/>
              </a:rPr>
              <a:t>position.</a:t>
            </a:r>
            <a:endParaRPr dirty="0" i="1" sz="2800">
              <a:latin charset="0" panose="02020603050405020304" pitchFamily="18" typeface="Times New Roman"/>
              <a:cs charset="0" panose="02020603050405020304" pitchFamily="18" typeface="Times New Roman"/>
            </a:endParaRPr>
          </a:p>
        </p:txBody>
      </p:sp>
      <p:sp>
        <p:nvSpPr>
          <p:cNvPr id="4" name="object 4">
            <a:extLst>
              <a:ext uri="{FF2B5EF4-FFF2-40B4-BE49-F238E27FC236}">
                <a16:creationId xmlns:a16="http://schemas.microsoft.com/office/drawing/2014/main" id="{3F7CC38E-B6A3-266A-82A6-7D5EB8508C78}"/>
              </a:ext>
            </a:extLst>
          </p:cNvPr>
          <p:cNvSpPr txBox="1"/>
          <p:nvPr/>
        </p:nvSpPr>
        <p:spPr>
          <a:xfrm>
            <a:off x="1967889" y="3557293"/>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dirty="0" sz="2400">
              <a:latin typeface="Cambria Math"/>
              <a:cs typeface="Cambria Math"/>
            </a:endParaRPr>
          </a:p>
        </p:txBody>
      </p:sp>
      <p:sp>
        <p:nvSpPr>
          <p:cNvPr id="5" name="object 5">
            <a:extLst>
              <a:ext uri="{FF2B5EF4-FFF2-40B4-BE49-F238E27FC236}">
                <a16:creationId xmlns:a16="http://schemas.microsoft.com/office/drawing/2014/main" id="{8F380A00-CD61-7C8D-3AC8-A04146FC7203}"/>
              </a:ext>
            </a:extLst>
          </p:cNvPr>
          <p:cNvSpPr txBox="1"/>
          <p:nvPr/>
        </p:nvSpPr>
        <p:spPr>
          <a:xfrm>
            <a:off x="3091077" y="3557293"/>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dirty="0" sz="2400">
              <a:latin typeface="Cambria Math"/>
              <a:cs typeface="Cambria Math"/>
            </a:endParaRPr>
          </a:p>
        </p:txBody>
      </p:sp>
      <p:sp>
        <p:nvSpPr>
          <p:cNvPr id="6" name="object 6">
            <a:extLst>
              <a:ext uri="{FF2B5EF4-FFF2-40B4-BE49-F238E27FC236}">
                <a16:creationId xmlns:a16="http://schemas.microsoft.com/office/drawing/2014/main" id="{5C5FE0DF-9A83-53FE-7644-2BE3BAB65406}"/>
              </a:ext>
            </a:extLst>
          </p:cNvPr>
          <p:cNvSpPr txBox="1"/>
          <p:nvPr/>
        </p:nvSpPr>
        <p:spPr>
          <a:xfrm>
            <a:off x="4101743" y="2926505"/>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dirty="0" sz="2000">
              <a:latin typeface="Palatino Linotype"/>
              <a:cs typeface="Palatino Linotype"/>
            </a:endParaRPr>
          </a:p>
          <a:p>
            <a:pPr marL="79373">
              <a:spcBef>
                <a:spcPts val="1395"/>
              </a:spcBef>
            </a:pPr>
            <a:r>
              <a:rPr dirty="0" spc="-51" sz="2400">
                <a:latin typeface="Cambria Math"/>
                <a:cs typeface="Cambria Math"/>
              </a:rPr>
              <a:t>3</a:t>
            </a:r>
            <a:endParaRPr dirty="0" sz="2400">
              <a:latin typeface="Cambria Math"/>
              <a:cs typeface="Cambria Math"/>
            </a:endParaRPr>
          </a:p>
        </p:txBody>
      </p:sp>
      <p:sp>
        <p:nvSpPr>
          <p:cNvPr id="7" name="object 7">
            <a:extLst>
              <a:ext uri="{FF2B5EF4-FFF2-40B4-BE49-F238E27FC236}">
                <a16:creationId xmlns:a16="http://schemas.microsoft.com/office/drawing/2014/main" id="{92CC64D2-6228-ED6C-97DE-537BF0931DFC}"/>
              </a:ext>
            </a:extLst>
          </p:cNvPr>
          <p:cNvSpPr txBox="1"/>
          <p:nvPr/>
        </p:nvSpPr>
        <p:spPr>
          <a:xfrm>
            <a:off x="5244743" y="2926505"/>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dirty="0" sz="2000">
              <a:latin typeface="Palatino Linotype"/>
              <a:cs typeface="Palatino Linotype"/>
            </a:endParaRPr>
          </a:p>
          <a:p>
            <a:pPr marL="12700">
              <a:spcBef>
                <a:spcPts val="1395"/>
              </a:spcBef>
            </a:pPr>
            <a:r>
              <a:rPr dirty="0" spc="-51" sz="2400">
                <a:latin typeface="Cambria Math"/>
                <a:cs typeface="Cambria Math"/>
              </a:rPr>
              <a:t>4</a:t>
            </a:r>
            <a:endParaRPr dirty="0" sz="2400">
              <a:latin typeface="Cambria Math"/>
              <a:cs typeface="Cambria Math"/>
            </a:endParaRPr>
          </a:p>
        </p:txBody>
      </p:sp>
      <p:sp>
        <p:nvSpPr>
          <p:cNvPr id="8" name="object 8">
            <a:extLst>
              <a:ext uri="{FF2B5EF4-FFF2-40B4-BE49-F238E27FC236}">
                <a16:creationId xmlns:a16="http://schemas.microsoft.com/office/drawing/2014/main" id="{094482D8-65CD-0AD8-285F-F2990A2E1770}"/>
              </a:ext>
            </a:extLst>
          </p:cNvPr>
          <p:cNvSpPr txBox="1"/>
          <p:nvPr/>
        </p:nvSpPr>
        <p:spPr>
          <a:xfrm>
            <a:off x="1100327" y="3811800"/>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dirty="0" sz="3600">
              <a:latin typeface="Cambria Math"/>
              <a:cs typeface="Cambria Math"/>
            </a:endParaRPr>
          </a:p>
        </p:txBody>
      </p:sp>
      <p:sp>
        <p:nvSpPr>
          <p:cNvPr id="9" name="object 14">
            <a:extLst>
              <a:ext uri="{FF2B5EF4-FFF2-40B4-BE49-F238E27FC236}">
                <a16:creationId xmlns:a16="http://schemas.microsoft.com/office/drawing/2014/main" id="{D8299A9B-7B96-5486-4124-6ABEA54791DC}"/>
              </a:ext>
            </a:extLst>
          </p:cNvPr>
          <p:cNvSpPr txBox="1"/>
          <p:nvPr/>
        </p:nvSpPr>
        <p:spPr>
          <a:xfrm>
            <a:off x="1066800" y="3937487"/>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dirty="0" sz="3600">
              <a:latin typeface="Cambria Math"/>
              <a:cs typeface="Cambria Math"/>
            </a:endParaRPr>
          </a:p>
          <a:p>
            <a:pPr marL="304158">
              <a:spcBef>
                <a:spcPts val="1431"/>
              </a:spcBef>
            </a:pPr>
            <a:r>
              <a:rPr dirty="0" spc="-51" sz="2400">
                <a:latin typeface="Cambria Math"/>
                <a:cs typeface="Cambria Math"/>
              </a:rPr>
              <a:t>3</a:t>
            </a:r>
            <a:endParaRPr dirty="0" sz="2400">
              <a:latin typeface="Cambria Math"/>
              <a:cs typeface="Cambria Math"/>
            </a:endParaRPr>
          </a:p>
          <a:p>
            <a:pPr marL="304158"/>
            <a:r>
              <a:rPr dirty="0" spc="-51" sz="2400">
                <a:latin typeface="Cambria Math"/>
                <a:cs typeface="Cambria Math"/>
              </a:rPr>
              <a:t>4</a:t>
            </a:r>
            <a:endParaRPr dirty="0" sz="2400">
              <a:latin typeface="Cambria Math"/>
              <a:cs typeface="Cambria Math"/>
            </a:endParaRPr>
          </a:p>
          <a:p>
            <a:pPr marL="304158"/>
            <a:r>
              <a:rPr dirty="0" spc="-51" sz="2400">
                <a:latin typeface="Cambria Math"/>
                <a:cs typeface="Cambria Math"/>
              </a:rPr>
              <a:t>5</a:t>
            </a:r>
            <a:endParaRPr dirty="0" sz="2400">
              <a:latin typeface="Cambria Math"/>
              <a:cs typeface="Cambria Math"/>
            </a:endParaRPr>
          </a:p>
        </p:txBody>
      </p:sp>
      <p:sp>
        <p:nvSpPr>
          <p:cNvPr id="10" name="object 15">
            <a:extLst>
              <a:ext uri="{FF2B5EF4-FFF2-40B4-BE49-F238E27FC236}">
                <a16:creationId xmlns:a16="http://schemas.microsoft.com/office/drawing/2014/main" id="{6BC82536-CF65-994E-1626-E24180061FA6}"/>
              </a:ext>
            </a:extLst>
          </p:cNvPr>
          <p:cNvSpPr/>
          <p:nvPr/>
        </p:nvSpPr>
        <p:spPr>
          <a:xfrm>
            <a:off x="1781250" y="3999800"/>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1" name="object 16">
            <a:extLst>
              <a:ext uri="{FF2B5EF4-FFF2-40B4-BE49-F238E27FC236}">
                <a16:creationId xmlns:a16="http://schemas.microsoft.com/office/drawing/2014/main" id="{5567C51C-C795-CEBF-237F-AACD0EB59DAE}"/>
              </a:ext>
            </a:extLst>
          </p:cNvPr>
          <p:cNvSpPr txBox="1"/>
          <p:nvPr/>
        </p:nvSpPr>
        <p:spPr>
          <a:xfrm>
            <a:off x="6211339" y="2926505"/>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12" name="object 17">
            <a:extLst>
              <a:ext uri="{FF2B5EF4-FFF2-40B4-BE49-F238E27FC236}">
                <a16:creationId xmlns:a16="http://schemas.microsoft.com/office/drawing/2014/main" id="{D3E02BBE-7AAD-AB18-F165-9F1803A53F59}"/>
              </a:ext>
            </a:extLst>
          </p:cNvPr>
          <p:cNvSpPr txBox="1"/>
          <p:nvPr/>
        </p:nvSpPr>
        <p:spPr>
          <a:xfrm>
            <a:off x="2171217" y="3341266"/>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8">
            <a:extLst>
              <a:ext uri="{FF2B5EF4-FFF2-40B4-BE49-F238E27FC236}">
                <a16:creationId xmlns:a16="http://schemas.microsoft.com/office/drawing/2014/main" id="{2E82F359-EE4A-3FEB-24F8-51FDB4E7CA3B}"/>
              </a:ext>
            </a:extLst>
          </p:cNvPr>
          <p:cNvSpPr txBox="1"/>
          <p:nvPr/>
        </p:nvSpPr>
        <p:spPr>
          <a:xfrm>
            <a:off x="1815489" y="3074563"/>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dirty="0" sz="2000">
              <a:latin typeface="Palatino Linotype"/>
              <a:cs typeface="Palatino Linotype"/>
            </a:endParaRPr>
          </a:p>
        </p:txBody>
      </p:sp>
    </p:spTree>
    <p:extLst>
      <p:ext uri="{BB962C8B-B14F-4D97-AF65-F5344CB8AC3E}">
        <p14:creationId xmlns:p14="http://schemas.microsoft.com/office/powerpoint/2010/main" val="2442101338"/>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4"/>
                                        </p:tgtEl>
                                        <p:attrNameLst>
                                          <p:attrName>style.visibility</p:attrName>
                                        </p:attrNameLst>
                                      </p:cBhvr>
                                      <p:to>
                                        <p:strVal val="visible"/>
                                      </p:to>
                                    </p:set>
                                  </p:childTnLst>
                                </p:cTn>
                              </p:par>
                              <p:par>
                                <p:cTn fill="hold" grpId="0" id="7" nodeType="withEffect" presetClass="entr" presetID="1" presetSubtype="0">
                                  <p:stCondLst>
                                    <p:cond delay="0"/>
                                  </p:stCondLst>
                                  <p:childTnLst>
                                    <p:set>
                                      <p:cBhvr>
                                        <p:cTn dur="1" fill="hold" id="8">
                                          <p:stCondLst>
                                            <p:cond delay="0"/>
                                          </p:stCondLst>
                                        </p:cTn>
                                        <p:tgtEl>
                                          <p:spTgt spid="5"/>
                                        </p:tgtEl>
                                        <p:attrNameLst>
                                          <p:attrName>style.visibility</p:attrName>
                                        </p:attrNameLst>
                                      </p:cBhvr>
                                      <p:to>
                                        <p:strVal val="visible"/>
                                      </p:to>
                                    </p:set>
                                  </p:childTnLst>
                                </p:cTn>
                              </p:par>
                              <p:par>
                                <p:cTn fill="hold" grpId="0" id="9" nodeType="withEffect" presetClass="entr" presetID="1" presetSubtype="0">
                                  <p:stCondLst>
                                    <p:cond delay="0"/>
                                  </p:stCondLst>
                                  <p:childTnLst>
                                    <p:set>
                                      <p:cBhvr>
                                        <p:cTn dur="1" fill="hold" id="10">
                                          <p:stCondLst>
                                            <p:cond delay="0"/>
                                          </p:stCondLst>
                                        </p:cTn>
                                        <p:tgtEl>
                                          <p:spTgt spid="6"/>
                                        </p:tgtEl>
                                        <p:attrNameLst>
                                          <p:attrName>style.visibility</p:attrName>
                                        </p:attrNameLst>
                                      </p:cBhvr>
                                      <p:to>
                                        <p:strVal val="visible"/>
                                      </p:to>
                                    </p:set>
                                  </p:childTnLst>
                                </p:cTn>
                              </p:par>
                              <p:par>
                                <p:cTn fill="hold" grpId="0" id="11" nodeType="withEffect" presetClass="entr" presetID="1" presetSubtype="0">
                                  <p:stCondLst>
                                    <p:cond delay="0"/>
                                  </p:stCondLst>
                                  <p:childTnLst>
                                    <p:set>
                                      <p:cBhvr>
                                        <p:cTn dur="1" fill="hold" id="12">
                                          <p:stCondLst>
                                            <p:cond delay="0"/>
                                          </p:stCondLst>
                                        </p:cTn>
                                        <p:tgtEl>
                                          <p:spTgt spid="7"/>
                                        </p:tgtEl>
                                        <p:attrNameLst>
                                          <p:attrName>style.visibility</p:attrName>
                                        </p:attrNameLst>
                                      </p:cBhvr>
                                      <p:to>
                                        <p:strVal val="visible"/>
                                      </p:to>
                                    </p:set>
                                  </p:childTnLst>
                                </p:cTn>
                              </p:par>
                              <p:par>
                                <p:cTn fill="hold" grpId="0" id="13" nodeType="withEffect" presetClass="entr" presetID="1" presetSubtype="0">
                                  <p:stCondLst>
                                    <p:cond delay="0"/>
                                  </p:stCondLst>
                                  <p:childTnLst>
                                    <p:set>
                                      <p:cBhvr>
                                        <p:cTn dur="1" fill="hold" id="14">
                                          <p:stCondLst>
                                            <p:cond delay="0"/>
                                          </p:stCondLst>
                                        </p:cTn>
                                        <p:tgtEl>
                                          <p:spTgt spid="8"/>
                                        </p:tgtEl>
                                        <p:attrNameLst>
                                          <p:attrName>style.visibility</p:attrName>
                                        </p:attrNameLst>
                                      </p:cBhvr>
                                      <p:to>
                                        <p:strVal val="visible"/>
                                      </p:to>
                                    </p:set>
                                  </p:childTnLst>
                                </p:cTn>
                              </p:par>
                              <p:par>
                                <p:cTn fill="hold" grpId="0" id="15" nodeType="withEffect" presetClass="entr" presetID="1" presetSubtype="0">
                                  <p:stCondLst>
                                    <p:cond delay="0"/>
                                  </p:stCondLst>
                                  <p:childTnLst>
                                    <p:set>
                                      <p:cBhvr>
                                        <p:cTn dur="1" fill="hold" id="16">
                                          <p:stCondLst>
                                            <p:cond delay="0"/>
                                          </p:stCondLst>
                                        </p:cTn>
                                        <p:tgtEl>
                                          <p:spTgt spid="9"/>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10"/>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11"/>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12"/>
                                        </p:tgtEl>
                                        <p:attrNameLst>
                                          <p:attrName>style.visibility</p:attrName>
                                        </p:attrNameLst>
                                      </p:cBhvr>
                                      <p:to>
                                        <p:strVal val="visible"/>
                                      </p:to>
                                    </p:set>
                                  </p:childTnLst>
                                </p:cTn>
                              </p:par>
                              <p:par>
                                <p:cTn fill="hold" grpId="0" id="23" nodeType="withEffect" presetClass="entr" presetID="1" presetSubtype="0">
                                  <p:stCondLst>
                                    <p:cond delay="0"/>
                                  </p:stCondLst>
                                  <p:childTnLst>
                                    <p:set>
                                      <p:cBhvr>
                                        <p:cTn dur="1" fill="hold" id="24">
                                          <p:stCondLst>
                                            <p:cond delay="0"/>
                                          </p:stCondLst>
                                        </p:cTn>
                                        <p:tgtEl>
                                          <p:spTgt spid="13"/>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5"/>
      <p:bldP grpId="0" spid="6"/>
      <p:bldP grpId="0" spid="7"/>
      <p:bldP grpId="0" spid="8"/>
      <p:bldP grpId="0" spid="9"/>
      <p:bldP animBg="1" grpId="0" spid="10"/>
      <p:bldP grpId="0" spid="11"/>
      <p:bldP grpId="0" spid="12"/>
      <p:bldP grpId="0" spid="13"/>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C87A7815-E171-0751-8830-3DF975B25030}"/>
              </a:ext>
            </a:extLst>
          </p:cNvPr>
          <p:cNvSpPr txBox="1"/>
          <p:nvPr/>
        </p:nvSpPr>
        <p:spPr>
          <a:xfrm>
            <a:off x="753816" y="599969"/>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dirty="0"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dirty="0"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dirty="0" sz="2400">
              <a:latin typeface="Palatino Linotype"/>
              <a:cs typeface="Palatino Linotype"/>
            </a:endParaRPr>
          </a:p>
        </p:txBody>
      </p:sp>
      <p:sp>
        <p:nvSpPr>
          <p:cNvPr id="3" name="object 4">
            <a:extLst>
              <a:ext uri="{FF2B5EF4-FFF2-40B4-BE49-F238E27FC236}">
                <a16:creationId xmlns:a16="http://schemas.microsoft.com/office/drawing/2014/main" id="{35BC142F-E684-F7C4-D8F6-41AD062B064E}"/>
              </a:ext>
            </a:extLst>
          </p:cNvPr>
          <p:cNvSpPr txBox="1"/>
          <p:nvPr/>
        </p:nvSpPr>
        <p:spPr>
          <a:xfrm>
            <a:off x="1263266" y="3569210"/>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dirty="0" sz="2400">
              <a:latin typeface="Cambria Math"/>
              <a:cs typeface="Cambria Math"/>
            </a:endParaRPr>
          </a:p>
        </p:txBody>
      </p:sp>
      <p:sp>
        <p:nvSpPr>
          <p:cNvPr id="4" name="object 5">
            <a:extLst>
              <a:ext uri="{FF2B5EF4-FFF2-40B4-BE49-F238E27FC236}">
                <a16:creationId xmlns:a16="http://schemas.microsoft.com/office/drawing/2014/main" id="{6ABE5834-7954-1E94-55A8-1EE52B8BB81A}"/>
              </a:ext>
            </a:extLst>
          </p:cNvPr>
          <p:cNvSpPr txBox="1"/>
          <p:nvPr/>
        </p:nvSpPr>
        <p:spPr>
          <a:xfrm>
            <a:off x="2386454" y="3569210"/>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dirty="0" sz="2400">
              <a:latin typeface="Cambria Math"/>
              <a:cs typeface="Cambria Math"/>
            </a:endParaRPr>
          </a:p>
        </p:txBody>
      </p:sp>
      <p:sp>
        <p:nvSpPr>
          <p:cNvPr id="5" name="object 6">
            <a:extLst>
              <a:ext uri="{FF2B5EF4-FFF2-40B4-BE49-F238E27FC236}">
                <a16:creationId xmlns:a16="http://schemas.microsoft.com/office/drawing/2014/main" id="{393400A0-2FD2-1AF7-198B-8251DF8A487D}"/>
              </a:ext>
            </a:extLst>
          </p:cNvPr>
          <p:cNvSpPr txBox="1"/>
          <p:nvPr/>
        </p:nvSpPr>
        <p:spPr>
          <a:xfrm>
            <a:off x="3397121" y="2938422"/>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6" name="object 7">
            <a:extLst>
              <a:ext uri="{FF2B5EF4-FFF2-40B4-BE49-F238E27FC236}">
                <a16:creationId xmlns:a16="http://schemas.microsoft.com/office/drawing/2014/main" id="{B57D6D6C-6CCF-E2EB-F648-067392BA34E0}"/>
              </a:ext>
            </a:extLst>
          </p:cNvPr>
          <p:cNvSpPr txBox="1"/>
          <p:nvPr/>
        </p:nvSpPr>
        <p:spPr>
          <a:xfrm>
            <a:off x="4540122" y="2938422"/>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7" name="object 8">
            <a:extLst>
              <a:ext uri="{FF2B5EF4-FFF2-40B4-BE49-F238E27FC236}">
                <a16:creationId xmlns:a16="http://schemas.microsoft.com/office/drawing/2014/main" id="{DDCBF158-DBBF-16D0-EBE7-0A73A267CD95}"/>
              </a:ext>
            </a:extLst>
          </p:cNvPr>
          <p:cNvSpPr txBox="1"/>
          <p:nvPr/>
        </p:nvSpPr>
        <p:spPr>
          <a:xfrm>
            <a:off x="395704" y="3823717"/>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sp>
        <p:nvSpPr>
          <p:cNvPr id="8" name="object 9">
            <a:extLst>
              <a:ext uri="{FF2B5EF4-FFF2-40B4-BE49-F238E27FC236}">
                <a16:creationId xmlns:a16="http://schemas.microsoft.com/office/drawing/2014/main" id="{C99E474C-406D-6C60-8E84-A8A2A2394FCA}"/>
              </a:ext>
            </a:extLst>
          </p:cNvPr>
          <p:cNvSpPr txBox="1"/>
          <p:nvPr/>
        </p:nvSpPr>
        <p:spPr>
          <a:xfrm>
            <a:off x="1022983" y="3983992"/>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9" name="object 10">
            <a:extLst>
              <a:ext uri="{FF2B5EF4-FFF2-40B4-BE49-F238E27FC236}">
                <a16:creationId xmlns:a16="http://schemas.microsoft.com/office/drawing/2014/main" id="{B24849EB-0831-9733-B17A-4920DB191B5F}"/>
              </a:ext>
            </a:extLst>
          </p:cNvPr>
          <p:cNvSpPr txBox="1"/>
          <p:nvPr/>
        </p:nvSpPr>
        <p:spPr>
          <a:xfrm>
            <a:off x="2114168" y="3983992"/>
            <a:ext cx="1118871" cy="346249"/>
          </a:xfrm>
          <a:prstGeom prst="rect">
            <a:avLst/>
          </a:prstGeom>
          <a:ln w="12191">
            <a:solidFill>
              <a:srgbClr val="6B9F24"/>
            </a:solidFill>
          </a:ln>
        </p:spPr>
        <p:txBody>
          <a:bodyPr bIns="0" lIns="0" numCol="1" rIns="0" rtlCol="0" tIns="0" vert="horz" wrap="square">
            <a:spAutoFit/>
          </a:bodyPr>
          <a:lstStyle/>
          <a:p>
            <a:pPr marL="333366">
              <a:lnSpc>
                <a:spcPts val="2711"/>
              </a:lnSpc>
            </a:pPr>
            <a:r>
              <a:rPr dirty="0" spc="-51" sz="2500">
                <a:latin typeface="Cambria Math"/>
                <a:cs typeface="Cambria Math"/>
              </a:rPr>
              <a:t>A</a:t>
            </a:r>
            <a:endParaRPr sz="2500">
              <a:latin typeface="Cambria Math"/>
              <a:cs typeface="Cambria Math"/>
            </a:endParaRPr>
          </a:p>
        </p:txBody>
      </p:sp>
      <p:sp>
        <p:nvSpPr>
          <p:cNvPr id="10" name="object 11">
            <a:extLst>
              <a:ext uri="{FF2B5EF4-FFF2-40B4-BE49-F238E27FC236}">
                <a16:creationId xmlns:a16="http://schemas.microsoft.com/office/drawing/2014/main" id="{99FECDBF-F681-7D94-34F8-657B47757347}"/>
              </a:ext>
            </a:extLst>
          </p:cNvPr>
          <p:cNvSpPr txBox="1"/>
          <p:nvPr/>
        </p:nvSpPr>
        <p:spPr>
          <a:xfrm>
            <a:off x="3232782" y="3983992"/>
            <a:ext cx="889000" cy="346249"/>
          </a:xfrm>
          <a:prstGeom prst="rect">
            <a:avLst/>
          </a:prstGeom>
          <a:ln w="12192">
            <a:solidFill>
              <a:srgbClr val="6B9F24"/>
            </a:solidFill>
          </a:ln>
        </p:spPr>
        <p:txBody>
          <a:bodyPr bIns="0" lIns="0" numCol="1" rIns="0" rtlCol="0" tIns="0" vert="horz" wrap="square">
            <a:spAutoFit/>
          </a:bodyPr>
          <a:lstStyle/>
          <a:p>
            <a:pPr marL="273044">
              <a:lnSpc>
                <a:spcPts val="2711"/>
              </a:lnSpc>
            </a:pPr>
            <a:r>
              <a:rPr dirty="0" spc="-51" sz="2500">
                <a:latin typeface="Cambria Math"/>
                <a:cs typeface="Cambria Math"/>
              </a:rPr>
              <a:t>A</a:t>
            </a:r>
            <a:endParaRPr sz="2500">
              <a:latin typeface="Cambria Math"/>
              <a:cs typeface="Cambria Math"/>
            </a:endParaRPr>
          </a:p>
        </p:txBody>
      </p:sp>
      <p:sp>
        <p:nvSpPr>
          <p:cNvPr id="11" name="object 12">
            <a:extLst>
              <a:ext uri="{FF2B5EF4-FFF2-40B4-BE49-F238E27FC236}">
                <a16:creationId xmlns:a16="http://schemas.microsoft.com/office/drawing/2014/main" id="{CA0A0277-495E-A4BE-DD89-5D04B8F28D94}"/>
              </a:ext>
            </a:extLst>
          </p:cNvPr>
          <p:cNvSpPr txBox="1"/>
          <p:nvPr/>
        </p:nvSpPr>
        <p:spPr>
          <a:xfrm>
            <a:off x="4121276" y="3983992"/>
            <a:ext cx="1104900" cy="346249"/>
          </a:xfrm>
          <a:prstGeom prst="rect">
            <a:avLst/>
          </a:prstGeom>
          <a:ln w="12192">
            <a:solidFill>
              <a:srgbClr val="6B9F24"/>
            </a:solidFill>
          </a:ln>
        </p:spPr>
        <p:txBody>
          <a:bodyPr bIns="0" lIns="0" numCol="1" rIns="0" rtlCol="0" tIns="0" vert="horz" wrap="square">
            <a:spAutoFit/>
          </a:bodyPr>
          <a:lstStyle/>
          <a:p>
            <a:pPr algn="ctr" marR="175256">
              <a:lnSpc>
                <a:spcPts val="2711"/>
              </a:lnSpc>
            </a:pPr>
            <a:r>
              <a:rPr dirty="0" spc="-51" sz="2500">
                <a:latin typeface="Cambria Math"/>
                <a:cs typeface="Cambria Math"/>
              </a:rPr>
              <a:t>C</a:t>
            </a:r>
            <a:endParaRPr sz="2500">
              <a:latin typeface="Cambria Math"/>
              <a:cs typeface="Cambria Math"/>
            </a:endParaRPr>
          </a:p>
        </p:txBody>
      </p:sp>
      <p:sp>
        <p:nvSpPr>
          <p:cNvPr id="12" name="object 13">
            <a:extLst>
              <a:ext uri="{FF2B5EF4-FFF2-40B4-BE49-F238E27FC236}">
                <a16:creationId xmlns:a16="http://schemas.microsoft.com/office/drawing/2014/main" id="{24CA9EA5-0377-A380-D374-1FA2E3DCC944}"/>
              </a:ext>
            </a:extLst>
          </p:cNvPr>
          <p:cNvSpPr txBox="1"/>
          <p:nvPr/>
        </p:nvSpPr>
        <p:spPr>
          <a:xfrm>
            <a:off x="5232272" y="3930677"/>
            <a:ext cx="788035" cy="401393"/>
          </a:xfrm>
          <a:prstGeom prst="rect">
            <a:avLst/>
          </a:prstGeom>
        </p:spPr>
        <p:txBody>
          <a:bodyPr bIns="0" lIns="0" numCol="1" rIns="0" rtlCol="0" tIns="16511" vert="horz" wrap="square">
            <a:spAutoFit/>
          </a:bodyPr>
          <a:lstStyle/>
          <a:p>
            <a:pPr marL="234945">
              <a:spcBef>
                <a:spcPts val="131"/>
              </a:spcBef>
            </a:pPr>
            <a:r>
              <a:rPr dirty="0" spc="-51" sz="2500">
                <a:latin typeface="Cambria Math"/>
                <a:cs typeface="Cambria Math"/>
              </a:rPr>
              <a:t>C</a:t>
            </a:r>
            <a:endParaRPr sz="2500">
              <a:latin typeface="Cambria Math"/>
              <a:cs typeface="Cambria Math"/>
            </a:endParaRPr>
          </a:p>
        </p:txBody>
      </p:sp>
      <p:sp>
        <p:nvSpPr>
          <p:cNvPr id="13" name="object 14">
            <a:extLst>
              <a:ext uri="{FF2B5EF4-FFF2-40B4-BE49-F238E27FC236}">
                <a16:creationId xmlns:a16="http://schemas.microsoft.com/office/drawing/2014/main" id="{31FE4F97-7D64-54F8-5330-B33BA44C375A}"/>
              </a:ext>
            </a:extLst>
          </p:cNvPr>
          <p:cNvSpPr txBox="1"/>
          <p:nvPr/>
        </p:nvSpPr>
        <p:spPr>
          <a:xfrm>
            <a:off x="362177" y="3949404"/>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4" name="object 15">
            <a:extLst>
              <a:ext uri="{FF2B5EF4-FFF2-40B4-BE49-F238E27FC236}">
                <a16:creationId xmlns:a16="http://schemas.microsoft.com/office/drawing/2014/main" id="{DE94540A-E216-DE03-6C56-BEE48B53D6E2}"/>
              </a:ext>
            </a:extLst>
          </p:cNvPr>
          <p:cNvSpPr/>
          <p:nvPr/>
        </p:nvSpPr>
        <p:spPr>
          <a:xfrm>
            <a:off x="1013838" y="3983992"/>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5" name="object 16">
            <a:extLst>
              <a:ext uri="{FF2B5EF4-FFF2-40B4-BE49-F238E27FC236}">
                <a16:creationId xmlns:a16="http://schemas.microsoft.com/office/drawing/2014/main" id="{CA21F89F-5A00-D8FE-C27D-937CEABC3D4D}"/>
              </a:ext>
            </a:extLst>
          </p:cNvPr>
          <p:cNvSpPr txBox="1"/>
          <p:nvPr/>
        </p:nvSpPr>
        <p:spPr>
          <a:xfrm>
            <a:off x="5506717" y="2938422"/>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16" name="object 17">
            <a:extLst>
              <a:ext uri="{FF2B5EF4-FFF2-40B4-BE49-F238E27FC236}">
                <a16:creationId xmlns:a16="http://schemas.microsoft.com/office/drawing/2014/main" id="{C3EB3EC5-864B-6CAA-D6A7-EFCE40D6B43F}"/>
              </a:ext>
            </a:extLst>
          </p:cNvPr>
          <p:cNvSpPr txBox="1"/>
          <p:nvPr/>
        </p:nvSpPr>
        <p:spPr>
          <a:xfrm>
            <a:off x="1466594" y="3353183"/>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7" name="object 18">
            <a:extLst>
              <a:ext uri="{FF2B5EF4-FFF2-40B4-BE49-F238E27FC236}">
                <a16:creationId xmlns:a16="http://schemas.microsoft.com/office/drawing/2014/main" id="{1504367F-7627-06F0-562B-13B097C8623B}"/>
              </a:ext>
            </a:extLst>
          </p:cNvPr>
          <p:cNvSpPr txBox="1"/>
          <p:nvPr/>
        </p:nvSpPr>
        <p:spPr>
          <a:xfrm>
            <a:off x="1110867" y="3086480"/>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dirty="0" sz="2000">
              <a:latin typeface="Palatino Linotype"/>
              <a:cs typeface="Palatino Linotype"/>
            </a:endParaRPr>
          </a:p>
        </p:txBody>
      </p:sp>
      <p:sp>
        <p:nvSpPr>
          <p:cNvPr id="18" name="object 19">
            <a:extLst>
              <a:ext uri="{FF2B5EF4-FFF2-40B4-BE49-F238E27FC236}">
                <a16:creationId xmlns:a16="http://schemas.microsoft.com/office/drawing/2014/main" id="{5174C246-F898-945B-4D62-86880D9FE0B5}"/>
              </a:ext>
            </a:extLst>
          </p:cNvPr>
          <p:cNvSpPr txBox="1"/>
          <p:nvPr/>
        </p:nvSpPr>
        <p:spPr>
          <a:xfrm>
            <a:off x="4078732" y="691974"/>
            <a:ext cx="6513067" cy="1735732"/>
          </a:xfrm>
          <a:prstGeom prst="rect">
            <a:avLst/>
          </a:prstGeom>
        </p:spPr>
        <p:txBody>
          <a:bodyPr bIns="0" lIns="0" numCol="1" rIns="0" rtlCol="0" tIns="12065" vert="horz" wrap="square">
            <a:spAutoFit/>
          </a:bodyPr>
          <a:lstStyle/>
          <a:p>
            <a:pPr marL="12700" marR="5080">
              <a:spcBef>
                <a:spcPts val="95"/>
              </a:spcBef>
            </a:pPr>
            <a:r>
              <a:rPr dirty="0" i="1" sz="2800">
                <a:latin charset="0" panose="02020603050405020304" pitchFamily="18" typeface="Times New Roman"/>
                <a:cs charset="0" panose="02020603050405020304" pitchFamily="18" typeface="Times New Roman"/>
              </a:rPr>
              <a:t>Start</a:t>
            </a:r>
            <a:r>
              <a:rPr dirty="0" i="1" spc="-3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by</a:t>
            </a:r>
            <a:r>
              <a:rPr dirty="0" i="1" spc="-3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filling</a:t>
            </a:r>
            <a:r>
              <a:rPr dirty="0" i="1" spc="-4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in</a:t>
            </a:r>
            <a:r>
              <a:rPr dirty="0" i="1" spc="-3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5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“top”</a:t>
            </a:r>
            <a:r>
              <a:rPr dirty="0" i="1" spc="-3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row</a:t>
            </a:r>
            <a:r>
              <a:rPr dirty="0" i="1" spc="-40" sz="2800">
                <a:latin charset="0" panose="02020603050405020304" pitchFamily="18" typeface="Times New Roman"/>
                <a:cs charset="0" panose="02020603050405020304" pitchFamily="18" typeface="Times New Roman"/>
              </a:rPr>
              <a:t> </a:t>
            </a:r>
            <a:r>
              <a:rPr dirty="0" i="1" spc="-25" sz="2800">
                <a:latin charset="0" panose="02020603050405020304" pitchFamily="18" typeface="Times New Roman"/>
                <a:cs charset="0" panose="02020603050405020304" pitchFamily="18" typeface="Times New Roman"/>
              </a:rPr>
              <a:t>in</a:t>
            </a:r>
            <a:r>
              <a:rPr dirty="0" i="1" spc="700"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5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table,</a:t>
            </a:r>
            <a:r>
              <a:rPr dirty="0" i="1" spc="-5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with</a:t>
            </a:r>
            <a:r>
              <a:rPr dirty="0" i="1" spc="-4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4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variables</a:t>
            </a:r>
            <a:r>
              <a:rPr dirty="0" i="1" spc="-71" sz="2800">
                <a:latin charset="0" panose="02020603050405020304" pitchFamily="18" typeface="Times New Roman"/>
                <a:cs charset="0" panose="02020603050405020304" pitchFamily="18" typeface="Times New Roman"/>
              </a:rPr>
              <a:t> </a:t>
            </a:r>
            <a:r>
              <a:rPr dirty="0" i="1" spc="-20" sz="2800">
                <a:latin charset="0" panose="02020603050405020304" pitchFamily="18" typeface="Times New Roman"/>
                <a:cs charset="0" panose="02020603050405020304" pitchFamily="18" typeface="Times New Roman"/>
              </a:rPr>
              <a:t>that </a:t>
            </a:r>
            <a:r>
              <a:rPr dirty="0" i="1" sz="2800">
                <a:latin charset="0" panose="02020603050405020304" pitchFamily="18" typeface="Times New Roman"/>
                <a:cs charset="0" panose="02020603050405020304" pitchFamily="18" typeface="Times New Roman"/>
              </a:rPr>
              <a:t>directly</a:t>
            </a:r>
            <a:r>
              <a:rPr dirty="0" i="1" spc="-71"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produce</a:t>
            </a:r>
            <a:r>
              <a:rPr dirty="0" i="1" spc="-60"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6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terminal</a:t>
            </a:r>
            <a:r>
              <a:rPr dirty="0" i="1" spc="-80" sz="2800">
                <a:latin charset="0" panose="02020603050405020304" pitchFamily="18" typeface="Times New Roman"/>
                <a:cs charset="0" panose="02020603050405020304" pitchFamily="18" typeface="Times New Roman"/>
              </a:rPr>
              <a:t> </a:t>
            </a:r>
            <a:r>
              <a:rPr dirty="0" i="1" spc="-11" sz="2800">
                <a:latin charset="0" panose="02020603050405020304" pitchFamily="18" typeface="Times New Roman"/>
                <a:cs charset="0" panose="02020603050405020304" pitchFamily="18" typeface="Times New Roman"/>
              </a:rPr>
              <a:t>symbol </a:t>
            </a:r>
            <a:r>
              <a:rPr dirty="0" i="1" sz="2800">
                <a:latin charset="0" panose="02020603050405020304" pitchFamily="18" typeface="Times New Roman"/>
                <a:cs charset="0" panose="02020603050405020304" pitchFamily="18" typeface="Times New Roman"/>
              </a:rPr>
              <a:t>at</a:t>
            </a:r>
            <a:r>
              <a:rPr dirty="0" i="1" spc="-55"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the</a:t>
            </a:r>
            <a:r>
              <a:rPr dirty="0" i="1" spc="-60" sz="2800">
                <a:latin charset="0" panose="02020603050405020304" pitchFamily="18" typeface="Times New Roman"/>
                <a:cs charset="0" panose="02020603050405020304" pitchFamily="18" typeface="Times New Roman"/>
              </a:rPr>
              <a:t> </a:t>
            </a:r>
            <a:r>
              <a:rPr dirty="0" i="1" sz="2800">
                <a:latin charset="0" panose="02020603050405020304" pitchFamily="18" typeface="Times New Roman"/>
                <a:cs charset="0" panose="02020603050405020304" pitchFamily="18" typeface="Times New Roman"/>
              </a:rPr>
              <a:t>corresponding</a:t>
            </a:r>
            <a:r>
              <a:rPr dirty="0" i="1" spc="-55" sz="2800">
                <a:latin charset="0" panose="02020603050405020304" pitchFamily="18" typeface="Times New Roman"/>
                <a:cs charset="0" panose="02020603050405020304" pitchFamily="18" typeface="Times New Roman"/>
              </a:rPr>
              <a:t> </a:t>
            </a:r>
            <a:r>
              <a:rPr dirty="0" i="1" spc="-11" sz="2800">
                <a:latin charset="0" panose="02020603050405020304" pitchFamily="18" typeface="Times New Roman"/>
                <a:cs charset="0" panose="02020603050405020304" pitchFamily="18" typeface="Times New Roman"/>
              </a:rPr>
              <a:t>position.</a:t>
            </a:r>
            <a:endParaRPr dirty="0" i="1" sz="2800">
              <a:latin charset="0" panose="02020603050405020304" pitchFamily="18" typeface="Times New Roman"/>
              <a:cs charset="0" panose="02020603050405020304" pitchFamily="18" typeface="Times New Roman"/>
            </a:endParaRPr>
          </a:p>
        </p:txBody>
      </p:sp>
      <p:grpSp>
        <p:nvGrpSpPr>
          <p:cNvPr id="19" name="object 20">
            <a:extLst>
              <a:ext uri="{FF2B5EF4-FFF2-40B4-BE49-F238E27FC236}">
                <a16:creationId xmlns:a16="http://schemas.microsoft.com/office/drawing/2014/main" id="{1450071F-FF55-5D36-1577-A8A960CE1844}"/>
              </a:ext>
            </a:extLst>
          </p:cNvPr>
          <p:cNvGrpSpPr/>
          <p:nvPr/>
        </p:nvGrpSpPr>
        <p:grpSpPr>
          <a:xfrm>
            <a:off x="7143115" y="3962400"/>
            <a:ext cx="4859783" cy="1811020"/>
            <a:chOff x="6984238" y="4462017"/>
            <a:chExt cx="5036185" cy="1651000"/>
          </a:xfrm>
        </p:grpSpPr>
        <p:sp>
          <p:nvSpPr>
            <p:cNvPr id="20" name="object 21">
              <a:extLst>
                <a:ext uri="{FF2B5EF4-FFF2-40B4-BE49-F238E27FC236}">
                  <a16:creationId xmlns:a16="http://schemas.microsoft.com/office/drawing/2014/main" id="{B2B9DC23-C23D-C906-68D1-A2B5F51264CD}"/>
                </a:ext>
              </a:extLst>
            </p:cNvPr>
            <p:cNvSpPr/>
            <p:nvPr/>
          </p:nvSpPr>
          <p:spPr>
            <a:xfrm>
              <a:off x="6994398" y="4472177"/>
              <a:ext cx="5015865" cy="1630680"/>
            </a:xfrm>
            <a:custGeom>
              <a:avLst/>
              <a:gdLst/>
              <a:ahLst/>
              <a:cxnLst/>
              <a:rect b="b" l="l" r="r" t="t"/>
              <a:pathLst>
                <a:path h="1630679" w="5015865">
                  <a:moveTo>
                    <a:pt x="4743704" y="0"/>
                  </a:moveTo>
                  <a:lnTo>
                    <a:pt x="271779" y="0"/>
                  </a:lnTo>
                  <a:lnTo>
                    <a:pt x="222923" y="4378"/>
                  </a:lnTo>
                  <a:lnTo>
                    <a:pt x="176941" y="17001"/>
                  </a:lnTo>
                  <a:lnTo>
                    <a:pt x="134601" y="37102"/>
                  </a:lnTo>
                  <a:lnTo>
                    <a:pt x="96669" y="63914"/>
                  </a:lnTo>
                  <a:lnTo>
                    <a:pt x="63914" y="96669"/>
                  </a:lnTo>
                  <a:lnTo>
                    <a:pt x="37102" y="134601"/>
                  </a:lnTo>
                  <a:lnTo>
                    <a:pt x="17001" y="176941"/>
                  </a:lnTo>
                  <a:lnTo>
                    <a:pt x="4378" y="222923"/>
                  </a:lnTo>
                  <a:lnTo>
                    <a:pt x="0" y="271780"/>
                  </a:lnTo>
                  <a:lnTo>
                    <a:pt x="0" y="1358887"/>
                  </a:lnTo>
                  <a:lnTo>
                    <a:pt x="4378" y="1407744"/>
                  </a:lnTo>
                  <a:lnTo>
                    <a:pt x="17001" y="1453727"/>
                  </a:lnTo>
                  <a:lnTo>
                    <a:pt x="37102" y="1496069"/>
                  </a:lnTo>
                  <a:lnTo>
                    <a:pt x="63914" y="1534002"/>
                  </a:lnTo>
                  <a:lnTo>
                    <a:pt x="96669" y="1566760"/>
                  </a:lnTo>
                  <a:lnTo>
                    <a:pt x="134601" y="1593573"/>
                  </a:lnTo>
                  <a:lnTo>
                    <a:pt x="176941" y="1613676"/>
                  </a:lnTo>
                  <a:lnTo>
                    <a:pt x="222923" y="1626301"/>
                  </a:lnTo>
                  <a:lnTo>
                    <a:pt x="271779" y="1630680"/>
                  </a:lnTo>
                  <a:lnTo>
                    <a:pt x="4743704" y="1630680"/>
                  </a:lnTo>
                  <a:lnTo>
                    <a:pt x="4792560" y="1626301"/>
                  </a:lnTo>
                  <a:lnTo>
                    <a:pt x="4838542" y="1613676"/>
                  </a:lnTo>
                  <a:lnTo>
                    <a:pt x="4880882" y="1593573"/>
                  </a:lnTo>
                  <a:lnTo>
                    <a:pt x="4918814" y="1566760"/>
                  </a:lnTo>
                  <a:lnTo>
                    <a:pt x="4951569" y="1534002"/>
                  </a:lnTo>
                  <a:lnTo>
                    <a:pt x="4978381" y="1496069"/>
                  </a:lnTo>
                  <a:lnTo>
                    <a:pt x="4998482" y="1453727"/>
                  </a:lnTo>
                  <a:lnTo>
                    <a:pt x="5011105" y="1407744"/>
                  </a:lnTo>
                  <a:lnTo>
                    <a:pt x="5015483" y="1358887"/>
                  </a:lnTo>
                  <a:lnTo>
                    <a:pt x="5015483" y="271780"/>
                  </a:lnTo>
                  <a:lnTo>
                    <a:pt x="5011105" y="222923"/>
                  </a:lnTo>
                  <a:lnTo>
                    <a:pt x="4998482" y="176941"/>
                  </a:lnTo>
                  <a:lnTo>
                    <a:pt x="4978381" y="134601"/>
                  </a:lnTo>
                  <a:lnTo>
                    <a:pt x="4951569" y="96669"/>
                  </a:lnTo>
                  <a:lnTo>
                    <a:pt x="4918814" y="63914"/>
                  </a:lnTo>
                  <a:lnTo>
                    <a:pt x="4880882" y="37102"/>
                  </a:lnTo>
                  <a:lnTo>
                    <a:pt x="4838542" y="17001"/>
                  </a:lnTo>
                  <a:lnTo>
                    <a:pt x="4792560" y="4378"/>
                  </a:lnTo>
                  <a:lnTo>
                    <a:pt x="4743704" y="0"/>
                  </a:lnTo>
                  <a:close/>
                </a:path>
              </a:pathLst>
            </a:custGeom>
            <a:solidFill>
              <a:srgbClr val="3493B9"/>
            </a:solidFill>
          </p:spPr>
          <p:txBody>
            <a:bodyPr bIns="0" lIns="0" numCol="1" rIns="0" rtlCol="0" tIns="0" wrap="square"/>
            <a:lstStyle/>
            <a:p>
              <a:endParaRPr/>
            </a:p>
          </p:txBody>
        </p:sp>
        <p:sp>
          <p:nvSpPr>
            <p:cNvPr id="21" name="object 22">
              <a:extLst>
                <a:ext uri="{FF2B5EF4-FFF2-40B4-BE49-F238E27FC236}">
                  <a16:creationId xmlns:a16="http://schemas.microsoft.com/office/drawing/2014/main" id="{4C5165F5-DA86-E59E-990F-300010EF643D}"/>
                </a:ext>
              </a:extLst>
            </p:cNvPr>
            <p:cNvSpPr/>
            <p:nvPr/>
          </p:nvSpPr>
          <p:spPr>
            <a:xfrm>
              <a:off x="6994398" y="4472177"/>
              <a:ext cx="5015865" cy="1630680"/>
            </a:xfrm>
            <a:custGeom>
              <a:avLst/>
              <a:gdLst/>
              <a:ahLst/>
              <a:cxnLst/>
              <a:rect b="b" l="l" r="r" t="t"/>
              <a:pathLst>
                <a:path h="1630679" w="5015865">
                  <a:moveTo>
                    <a:pt x="0" y="271780"/>
                  </a:moveTo>
                  <a:lnTo>
                    <a:pt x="4378" y="222923"/>
                  </a:lnTo>
                  <a:lnTo>
                    <a:pt x="17001" y="176941"/>
                  </a:lnTo>
                  <a:lnTo>
                    <a:pt x="37102" y="134601"/>
                  </a:lnTo>
                  <a:lnTo>
                    <a:pt x="63914" y="96669"/>
                  </a:lnTo>
                  <a:lnTo>
                    <a:pt x="96669" y="63914"/>
                  </a:lnTo>
                  <a:lnTo>
                    <a:pt x="134601" y="37102"/>
                  </a:lnTo>
                  <a:lnTo>
                    <a:pt x="176941" y="17001"/>
                  </a:lnTo>
                  <a:lnTo>
                    <a:pt x="222923" y="4378"/>
                  </a:lnTo>
                  <a:lnTo>
                    <a:pt x="271779" y="0"/>
                  </a:lnTo>
                  <a:lnTo>
                    <a:pt x="4743704" y="0"/>
                  </a:lnTo>
                  <a:lnTo>
                    <a:pt x="4792560" y="4378"/>
                  </a:lnTo>
                  <a:lnTo>
                    <a:pt x="4838542" y="17001"/>
                  </a:lnTo>
                  <a:lnTo>
                    <a:pt x="4880882" y="37102"/>
                  </a:lnTo>
                  <a:lnTo>
                    <a:pt x="4918814" y="63914"/>
                  </a:lnTo>
                  <a:lnTo>
                    <a:pt x="4951569" y="96669"/>
                  </a:lnTo>
                  <a:lnTo>
                    <a:pt x="4978381" y="134601"/>
                  </a:lnTo>
                  <a:lnTo>
                    <a:pt x="4998482" y="176941"/>
                  </a:lnTo>
                  <a:lnTo>
                    <a:pt x="5011105" y="222923"/>
                  </a:lnTo>
                  <a:lnTo>
                    <a:pt x="5015483" y="271780"/>
                  </a:lnTo>
                  <a:lnTo>
                    <a:pt x="5015483" y="1358887"/>
                  </a:lnTo>
                  <a:lnTo>
                    <a:pt x="5011105" y="1407744"/>
                  </a:lnTo>
                  <a:lnTo>
                    <a:pt x="4998482" y="1453727"/>
                  </a:lnTo>
                  <a:lnTo>
                    <a:pt x="4978381" y="1496069"/>
                  </a:lnTo>
                  <a:lnTo>
                    <a:pt x="4951569" y="1534002"/>
                  </a:lnTo>
                  <a:lnTo>
                    <a:pt x="4918814" y="1566760"/>
                  </a:lnTo>
                  <a:lnTo>
                    <a:pt x="4880882" y="1593573"/>
                  </a:lnTo>
                  <a:lnTo>
                    <a:pt x="4838542" y="1613676"/>
                  </a:lnTo>
                  <a:lnTo>
                    <a:pt x="4792560" y="1626301"/>
                  </a:lnTo>
                  <a:lnTo>
                    <a:pt x="4743704" y="1630680"/>
                  </a:lnTo>
                  <a:lnTo>
                    <a:pt x="271779" y="1630680"/>
                  </a:lnTo>
                  <a:lnTo>
                    <a:pt x="222923" y="1626301"/>
                  </a:lnTo>
                  <a:lnTo>
                    <a:pt x="176941" y="1613676"/>
                  </a:lnTo>
                  <a:lnTo>
                    <a:pt x="134601" y="1593573"/>
                  </a:lnTo>
                  <a:lnTo>
                    <a:pt x="96669" y="1566760"/>
                  </a:lnTo>
                  <a:lnTo>
                    <a:pt x="63914" y="1534002"/>
                  </a:lnTo>
                  <a:lnTo>
                    <a:pt x="37102" y="1496069"/>
                  </a:lnTo>
                  <a:lnTo>
                    <a:pt x="17001" y="1453727"/>
                  </a:lnTo>
                  <a:lnTo>
                    <a:pt x="4378" y="1407744"/>
                  </a:lnTo>
                  <a:lnTo>
                    <a:pt x="0" y="1358887"/>
                  </a:lnTo>
                  <a:lnTo>
                    <a:pt x="0" y="271780"/>
                  </a:lnTo>
                  <a:close/>
                </a:path>
              </a:pathLst>
            </a:custGeom>
            <a:ln w="19812">
              <a:solidFill>
                <a:srgbClr val="226B87"/>
              </a:solidFill>
            </a:ln>
          </p:spPr>
          <p:txBody>
            <a:bodyPr bIns="0" lIns="0" numCol="1" rIns="0" rtlCol="0" tIns="0" wrap="square"/>
            <a:lstStyle/>
            <a:p>
              <a:endParaRPr/>
            </a:p>
          </p:txBody>
        </p:sp>
      </p:grpSp>
      <p:sp>
        <p:nvSpPr>
          <p:cNvPr id="22" name="object 23">
            <a:extLst>
              <a:ext uri="{FF2B5EF4-FFF2-40B4-BE49-F238E27FC236}">
                <a16:creationId xmlns:a16="http://schemas.microsoft.com/office/drawing/2014/main" id="{A272C84F-E5D2-D281-A89A-782C1DDD54D9}"/>
              </a:ext>
            </a:extLst>
          </p:cNvPr>
          <p:cNvSpPr txBox="1"/>
          <p:nvPr/>
        </p:nvSpPr>
        <p:spPr>
          <a:xfrm>
            <a:off x="7248932" y="4169816"/>
            <a:ext cx="4671060" cy="1481046"/>
          </a:xfrm>
          <a:prstGeom prst="rect">
            <a:avLst/>
          </a:prstGeom>
        </p:spPr>
        <p:txBody>
          <a:bodyPr bIns="0" lIns="0" numCol="1" rIns="0" rtlCol="0" tIns="12065" vert="horz" wrap="square">
            <a:spAutoFit/>
          </a:bodyPr>
          <a:lstStyle/>
          <a:p>
            <a:pPr indent="95883" marL="12700" marR="5080">
              <a:lnSpc>
                <a:spcPct val="100200"/>
              </a:lnSpc>
              <a:spcBef>
                <a:spcPts val="95"/>
              </a:spcBef>
            </a:pPr>
            <a:r>
              <a:rPr dirty="0" sz="2400">
                <a:solidFill>
                  <a:srgbClr val="FFFFFF"/>
                </a:solidFill>
                <a:latin typeface="Palatino Linotype"/>
                <a:cs typeface="Palatino Linotype"/>
              </a:rPr>
              <a:t>E.g.</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single</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symbol</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at</a:t>
            </a:r>
            <a:r>
              <a:rPr dirty="0" spc="-51" sz="2400">
                <a:solidFill>
                  <a:srgbClr val="FFFFFF"/>
                </a:solidFill>
                <a:latin typeface="Palatino Linotype"/>
                <a:cs typeface="Palatino Linotype"/>
              </a:rPr>
              <a:t> </a:t>
            </a:r>
            <a:r>
              <a:rPr dirty="0" spc="-11" sz="2400">
                <a:solidFill>
                  <a:srgbClr val="FFFFFF"/>
                </a:solidFill>
                <a:latin typeface="Palatino Linotype"/>
                <a:cs typeface="Palatino Linotype"/>
              </a:rPr>
              <a:t>position </a:t>
            </a:r>
            <a:r>
              <a:rPr dirty="0" sz="2400">
                <a:solidFill>
                  <a:srgbClr val="FFFFFF"/>
                </a:solidFill>
                <a:latin typeface="Palatino Linotype"/>
                <a:cs typeface="Palatino Linotype"/>
              </a:rPr>
              <a:t>5</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65" sz="2400">
                <a:solidFill>
                  <a:srgbClr val="FFFFFF"/>
                </a:solidFill>
                <a:latin typeface="Palatino Linotype"/>
                <a:cs typeface="Palatino Linotype"/>
              </a:rPr>
              <a:t> </a:t>
            </a:r>
            <a:r>
              <a:rPr dirty="0" sz="2400">
                <a:solidFill>
                  <a:srgbClr val="FFFFFF"/>
                </a:solidFill>
                <a:latin typeface="Palatino Linotype"/>
                <a:cs typeface="Palatino Linotype"/>
              </a:rPr>
              <a:t>directly</a:t>
            </a:r>
            <a:r>
              <a:rPr dirty="0" spc="-35" sz="2400">
                <a:solidFill>
                  <a:srgbClr val="FFFFFF"/>
                </a:solidFill>
                <a:latin typeface="Palatino Linotype"/>
                <a:cs typeface="Palatino Linotype"/>
              </a:rPr>
              <a:t> </a:t>
            </a:r>
            <a:r>
              <a:rPr dirty="0" spc="-11" sz="2400">
                <a:solidFill>
                  <a:srgbClr val="FFFFFF"/>
                </a:solidFill>
                <a:latin typeface="Palatino Linotype"/>
                <a:cs typeface="Palatino Linotype"/>
              </a:rPr>
              <a:t>produced </a:t>
            </a:r>
            <a:r>
              <a:rPr dirty="0" sz="2400">
                <a:solidFill>
                  <a:srgbClr val="FFFFFF"/>
                </a:solidFill>
                <a:latin typeface="Palatino Linotype"/>
                <a:cs typeface="Palatino Linotype"/>
              </a:rPr>
              <a:t>by</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variable</a:t>
            </a:r>
            <a:r>
              <a:rPr dirty="0" spc="-11" sz="2400">
                <a:solidFill>
                  <a:srgbClr val="FFFFFF"/>
                </a:solidFill>
                <a:latin typeface="Palatino Linotype"/>
                <a:cs typeface="Palatino Linotype"/>
              </a:rPr>
              <a:t> </a:t>
            </a:r>
            <a:r>
              <a:rPr dirty="0" spc="51" sz="2400">
                <a:solidFill>
                  <a:srgbClr val="FFFFFF"/>
                </a:solidFill>
                <a:latin typeface="Cambria Math"/>
                <a:cs typeface="Cambria Math"/>
              </a:rPr>
              <a:t>𝐶</a:t>
            </a:r>
            <a:r>
              <a:rPr dirty="0" spc="51" sz="2400">
                <a:solidFill>
                  <a:srgbClr val="FFFFFF"/>
                </a:solidFill>
                <a:latin typeface="Palatino Linotype"/>
                <a:cs typeface="Palatino Linotype"/>
              </a:rPr>
              <a:t>,</a:t>
            </a:r>
            <a:r>
              <a:rPr dirty="0" spc="-5" sz="2400">
                <a:solidFill>
                  <a:srgbClr val="FFFFFF"/>
                </a:solidFill>
                <a:latin typeface="Palatino Linotype"/>
                <a:cs typeface="Palatino Linotype"/>
              </a:rPr>
              <a:t> </a:t>
            </a:r>
            <a:r>
              <a:rPr dirty="0" sz="2400">
                <a:solidFill>
                  <a:srgbClr val="FFFFFF"/>
                </a:solidFill>
                <a:latin typeface="Palatino Linotype"/>
                <a:cs typeface="Palatino Linotype"/>
              </a:rPr>
              <a:t>so</a:t>
            </a:r>
            <a:r>
              <a:rPr dirty="0" spc="-11" sz="2400">
                <a:solidFill>
                  <a:srgbClr val="FFFFFF"/>
                </a:solidFill>
                <a:latin typeface="Palatino Linotype"/>
                <a:cs typeface="Palatino Linotype"/>
              </a:rPr>
              <a:t> </a:t>
            </a:r>
            <a:r>
              <a:rPr dirty="0" sz="2400">
                <a:solidFill>
                  <a:srgbClr val="FFFFFF"/>
                </a:solidFill>
                <a:latin typeface="Palatino Linotype"/>
                <a:cs typeface="Palatino Linotype"/>
              </a:rPr>
              <a:t>we</a:t>
            </a:r>
            <a:r>
              <a:rPr dirty="0" spc="-5" sz="2400">
                <a:solidFill>
                  <a:srgbClr val="FFFFFF"/>
                </a:solidFill>
                <a:latin typeface="Palatino Linotype"/>
                <a:cs typeface="Palatino Linotype"/>
              </a:rPr>
              <a:t> </a:t>
            </a:r>
            <a:r>
              <a:rPr dirty="0" sz="2400">
                <a:solidFill>
                  <a:srgbClr val="FFFFFF"/>
                </a:solidFill>
                <a:latin typeface="Palatino Linotype"/>
                <a:cs typeface="Palatino Linotype"/>
              </a:rPr>
              <a:t>put</a:t>
            </a:r>
            <a:r>
              <a:rPr dirty="0" spc="-11"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5" sz="2400">
                <a:solidFill>
                  <a:srgbClr val="FFFFFF"/>
                </a:solidFill>
                <a:latin typeface="Palatino Linotype"/>
                <a:cs typeface="Palatino Linotype"/>
              </a:rPr>
              <a:t> </a:t>
            </a:r>
            <a:r>
              <a:rPr dirty="0" sz="2400">
                <a:solidFill>
                  <a:srgbClr val="FFFFFF"/>
                </a:solidFill>
                <a:latin typeface="Cambria Math"/>
                <a:cs typeface="Cambria Math"/>
              </a:rPr>
              <a:t>𝐶</a:t>
            </a:r>
            <a:r>
              <a:rPr dirty="0" spc="175" sz="2400">
                <a:solidFill>
                  <a:srgbClr val="FFFFFF"/>
                </a:solidFill>
                <a:latin typeface="Cambria Math"/>
                <a:cs typeface="Cambria Math"/>
              </a:rPr>
              <a:t> </a:t>
            </a:r>
            <a:r>
              <a:rPr dirty="0" sz="2400">
                <a:solidFill>
                  <a:srgbClr val="FFFFFF"/>
                </a:solidFill>
                <a:latin typeface="Palatino Linotype"/>
                <a:cs typeface="Palatino Linotype"/>
              </a:rPr>
              <a:t>in</a:t>
            </a:r>
            <a:r>
              <a:rPr dirty="0" spc="-5" sz="2400">
                <a:solidFill>
                  <a:srgbClr val="FFFFFF"/>
                </a:solidFill>
                <a:latin typeface="Palatino Linotype"/>
                <a:cs typeface="Palatino Linotype"/>
              </a:rPr>
              <a:t> </a:t>
            </a:r>
            <a:r>
              <a:rPr dirty="0" spc="-25" sz="2400">
                <a:solidFill>
                  <a:srgbClr val="FFFFFF"/>
                </a:solidFill>
                <a:latin typeface="Palatino Linotype"/>
                <a:cs typeface="Palatino Linotype"/>
              </a:rPr>
              <a:t>the</a:t>
            </a:r>
            <a:endParaRPr dirty="0" sz="2400">
              <a:latin typeface="Palatino Linotype"/>
              <a:cs typeface="Palatino Linotype"/>
            </a:endParaRPr>
          </a:p>
          <a:p>
            <a:pPr marL="652129">
              <a:lnSpc>
                <a:spcPts val="2871"/>
              </a:lnSpc>
            </a:pPr>
            <a:r>
              <a:rPr dirty="0" sz="2400">
                <a:solidFill>
                  <a:srgbClr val="FFFFFF"/>
                </a:solidFill>
                <a:latin typeface="Palatino Linotype"/>
                <a:cs typeface="Palatino Linotype"/>
              </a:rPr>
              <a:t>entry</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at</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column</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5,</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row</a:t>
            </a:r>
            <a:r>
              <a:rPr dirty="0" spc="-45" sz="2400">
                <a:solidFill>
                  <a:srgbClr val="FFFFFF"/>
                </a:solidFill>
                <a:latin typeface="Palatino Linotype"/>
                <a:cs typeface="Palatino Linotype"/>
              </a:rPr>
              <a:t> </a:t>
            </a:r>
            <a:r>
              <a:rPr dirty="0" spc="-25" sz="2400">
                <a:solidFill>
                  <a:srgbClr val="FFFFFF"/>
                </a:solidFill>
                <a:latin typeface="Palatino Linotype"/>
                <a:cs typeface="Palatino Linotype"/>
              </a:rPr>
              <a:t>1.</a:t>
            </a:r>
            <a:endParaRPr dirty="0" sz="2400">
              <a:latin typeface="Palatino Linotype"/>
              <a:cs typeface="Palatino Linotype"/>
            </a:endParaRPr>
          </a:p>
        </p:txBody>
      </p:sp>
      <p:sp>
        <p:nvSpPr>
          <p:cNvPr id="23" name="object 24">
            <a:extLst>
              <a:ext uri="{FF2B5EF4-FFF2-40B4-BE49-F238E27FC236}">
                <a16:creationId xmlns:a16="http://schemas.microsoft.com/office/drawing/2014/main" id="{FB08FA85-95FB-0AAB-DDBE-705576564593}"/>
              </a:ext>
            </a:extLst>
          </p:cNvPr>
          <p:cNvSpPr/>
          <p:nvPr/>
        </p:nvSpPr>
        <p:spPr>
          <a:xfrm>
            <a:off x="5844158" y="4110737"/>
            <a:ext cx="1328420" cy="695325"/>
          </a:xfrm>
          <a:custGeom>
            <a:avLst/>
            <a:gdLst/>
            <a:ahLst/>
            <a:cxnLst/>
            <a:rect b="b" l="l" r="r" t="t"/>
            <a:pathLst>
              <a:path h="695325" w="1328420">
                <a:moveTo>
                  <a:pt x="115132" y="38313"/>
                </a:moveTo>
                <a:lnTo>
                  <a:pt x="113240" y="73025"/>
                </a:lnTo>
                <a:lnTo>
                  <a:pt x="113130" y="75057"/>
                </a:lnTo>
                <a:lnTo>
                  <a:pt x="113063" y="76281"/>
                </a:lnTo>
                <a:lnTo>
                  <a:pt x="119760" y="76708"/>
                </a:lnTo>
                <a:lnTo>
                  <a:pt x="149351" y="80518"/>
                </a:lnTo>
                <a:lnTo>
                  <a:pt x="207390" y="90170"/>
                </a:lnTo>
                <a:lnTo>
                  <a:pt x="264032" y="102870"/>
                </a:lnTo>
                <a:lnTo>
                  <a:pt x="318388" y="117983"/>
                </a:lnTo>
                <a:lnTo>
                  <a:pt x="370077" y="135509"/>
                </a:lnTo>
                <a:lnTo>
                  <a:pt x="418591" y="155067"/>
                </a:lnTo>
                <a:lnTo>
                  <a:pt x="463550" y="176530"/>
                </a:lnTo>
                <a:lnTo>
                  <a:pt x="504189" y="199517"/>
                </a:lnTo>
                <a:lnTo>
                  <a:pt x="540130" y="223647"/>
                </a:lnTo>
                <a:lnTo>
                  <a:pt x="570991" y="248793"/>
                </a:lnTo>
                <a:lnTo>
                  <a:pt x="606425" y="287274"/>
                </a:lnTo>
                <a:lnTo>
                  <a:pt x="628014" y="325501"/>
                </a:lnTo>
                <a:lnTo>
                  <a:pt x="635507" y="364744"/>
                </a:lnTo>
                <a:lnTo>
                  <a:pt x="636777" y="381635"/>
                </a:lnTo>
                <a:lnTo>
                  <a:pt x="652526" y="431038"/>
                </a:lnTo>
                <a:lnTo>
                  <a:pt x="684021" y="477393"/>
                </a:lnTo>
                <a:lnTo>
                  <a:pt x="712596" y="506349"/>
                </a:lnTo>
                <a:lnTo>
                  <a:pt x="746251" y="533908"/>
                </a:lnTo>
                <a:lnTo>
                  <a:pt x="784987" y="559943"/>
                </a:lnTo>
                <a:lnTo>
                  <a:pt x="828166" y="584327"/>
                </a:lnTo>
                <a:lnTo>
                  <a:pt x="875157" y="606679"/>
                </a:lnTo>
                <a:lnTo>
                  <a:pt x="925829" y="627253"/>
                </a:lnTo>
                <a:lnTo>
                  <a:pt x="979550" y="645287"/>
                </a:lnTo>
                <a:lnTo>
                  <a:pt x="1035812" y="661035"/>
                </a:lnTo>
                <a:lnTo>
                  <a:pt x="1094359" y="674116"/>
                </a:lnTo>
                <a:lnTo>
                  <a:pt x="1154557" y="684149"/>
                </a:lnTo>
                <a:lnTo>
                  <a:pt x="1215897" y="691134"/>
                </a:lnTo>
                <a:lnTo>
                  <a:pt x="1278000" y="694690"/>
                </a:lnTo>
                <a:lnTo>
                  <a:pt x="1308735" y="695198"/>
                </a:lnTo>
                <a:lnTo>
                  <a:pt x="1316180" y="693797"/>
                </a:lnTo>
                <a:lnTo>
                  <a:pt x="1322292" y="689800"/>
                </a:lnTo>
                <a:lnTo>
                  <a:pt x="1326451" y="683803"/>
                </a:lnTo>
                <a:lnTo>
                  <a:pt x="1328039" y="676402"/>
                </a:lnTo>
                <a:lnTo>
                  <a:pt x="1326693" y="668956"/>
                </a:lnTo>
                <a:lnTo>
                  <a:pt x="1322705" y="662844"/>
                </a:lnTo>
                <a:lnTo>
                  <a:pt x="1316716" y="658685"/>
                </a:lnTo>
                <a:lnTo>
                  <a:pt x="1309369" y="657098"/>
                </a:lnTo>
                <a:lnTo>
                  <a:pt x="1278636" y="656590"/>
                </a:lnTo>
                <a:lnTo>
                  <a:pt x="1248664" y="655320"/>
                </a:lnTo>
                <a:lnTo>
                  <a:pt x="1188973" y="650113"/>
                </a:lnTo>
                <a:lnTo>
                  <a:pt x="1129918" y="641858"/>
                </a:lnTo>
                <a:lnTo>
                  <a:pt x="1072641" y="630555"/>
                </a:lnTo>
                <a:lnTo>
                  <a:pt x="1017142" y="616712"/>
                </a:lnTo>
                <a:lnTo>
                  <a:pt x="963929" y="600329"/>
                </a:lnTo>
                <a:lnTo>
                  <a:pt x="913891" y="581660"/>
                </a:lnTo>
                <a:lnTo>
                  <a:pt x="867028" y="561086"/>
                </a:lnTo>
                <a:lnTo>
                  <a:pt x="824102" y="538861"/>
                </a:lnTo>
                <a:lnTo>
                  <a:pt x="785621" y="515112"/>
                </a:lnTo>
                <a:lnTo>
                  <a:pt x="752220" y="490220"/>
                </a:lnTo>
                <a:lnTo>
                  <a:pt x="723900" y="464566"/>
                </a:lnTo>
                <a:lnTo>
                  <a:pt x="692912" y="425450"/>
                </a:lnTo>
                <a:lnTo>
                  <a:pt x="676401" y="386969"/>
                </a:lnTo>
                <a:lnTo>
                  <a:pt x="673607" y="362204"/>
                </a:lnTo>
                <a:lnTo>
                  <a:pt x="672591" y="347599"/>
                </a:lnTo>
                <a:lnTo>
                  <a:pt x="657351" y="297688"/>
                </a:lnTo>
                <a:lnTo>
                  <a:pt x="625982" y="250698"/>
                </a:lnTo>
                <a:lnTo>
                  <a:pt x="597407" y="221361"/>
                </a:lnTo>
                <a:lnTo>
                  <a:pt x="563626" y="193548"/>
                </a:lnTo>
                <a:lnTo>
                  <a:pt x="524763" y="167386"/>
                </a:lnTo>
                <a:lnTo>
                  <a:pt x="481583" y="143002"/>
                </a:lnTo>
                <a:lnTo>
                  <a:pt x="434466" y="120396"/>
                </a:lnTo>
                <a:lnTo>
                  <a:pt x="383793" y="99949"/>
                </a:lnTo>
                <a:lnTo>
                  <a:pt x="330072" y="81788"/>
                </a:lnTo>
                <a:lnTo>
                  <a:pt x="273812" y="66040"/>
                </a:lnTo>
                <a:lnTo>
                  <a:pt x="215264" y="52959"/>
                </a:lnTo>
                <a:lnTo>
                  <a:pt x="155066" y="42799"/>
                </a:lnTo>
                <a:lnTo>
                  <a:pt x="124459" y="38989"/>
                </a:lnTo>
                <a:lnTo>
                  <a:pt x="115132" y="38313"/>
                </a:lnTo>
                <a:close/>
              </a:path>
              <a:path h="695325" w="1328420">
                <a:moveTo>
                  <a:pt x="117220" y="0"/>
                </a:moveTo>
                <a:lnTo>
                  <a:pt x="0" y="50800"/>
                </a:lnTo>
                <a:lnTo>
                  <a:pt x="110997" y="114173"/>
                </a:lnTo>
                <a:lnTo>
                  <a:pt x="113040" y="76708"/>
                </a:lnTo>
                <a:lnTo>
                  <a:pt x="113063" y="76281"/>
                </a:lnTo>
                <a:lnTo>
                  <a:pt x="77100" y="62198"/>
                </a:lnTo>
                <a:lnTo>
                  <a:pt x="76072" y="54737"/>
                </a:lnTo>
                <a:lnTo>
                  <a:pt x="78066" y="47498"/>
                </a:lnTo>
                <a:lnTo>
                  <a:pt x="82565" y="41656"/>
                </a:lnTo>
                <a:lnTo>
                  <a:pt x="88878" y="37984"/>
                </a:lnTo>
                <a:lnTo>
                  <a:pt x="96392" y="36957"/>
                </a:lnTo>
                <a:lnTo>
                  <a:pt x="115206" y="36957"/>
                </a:lnTo>
                <a:lnTo>
                  <a:pt x="117220" y="0"/>
                </a:lnTo>
                <a:close/>
              </a:path>
              <a:path h="695325" w="1328420">
                <a:moveTo>
                  <a:pt x="96392" y="36957"/>
                </a:moveTo>
                <a:lnTo>
                  <a:pt x="88878" y="37984"/>
                </a:lnTo>
                <a:lnTo>
                  <a:pt x="82565" y="41656"/>
                </a:lnTo>
                <a:lnTo>
                  <a:pt x="78066" y="47498"/>
                </a:lnTo>
                <a:lnTo>
                  <a:pt x="76072" y="54737"/>
                </a:lnTo>
                <a:lnTo>
                  <a:pt x="77100" y="62198"/>
                </a:lnTo>
                <a:lnTo>
                  <a:pt x="80771" y="68516"/>
                </a:lnTo>
                <a:lnTo>
                  <a:pt x="86538" y="73025"/>
                </a:lnTo>
                <a:lnTo>
                  <a:pt x="93852" y="75057"/>
                </a:lnTo>
                <a:lnTo>
                  <a:pt x="113063" y="76281"/>
                </a:lnTo>
                <a:lnTo>
                  <a:pt x="115095" y="38989"/>
                </a:lnTo>
                <a:lnTo>
                  <a:pt x="115132" y="38313"/>
                </a:lnTo>
                <a:lnTo>
                  <a:pt x="96392" y="36957"/>
                </a:lnTo>
                <a:close/>
              </a:path>
              <a:path h="695325" w="1328420">
                <a:moveTo>
                  <a:pt x="115206" y="36957"/>
                </a:moveTo>
                <a:lnTo>
                  <a:pt x="96392" y="36957"/>
                </a:lnTo>
                <a:lnTo>
                  <a:pt x="115132" y="38313"/>
                </a:lnTo>
                <a:lnTo>
                  <a:pt x="115206" y="36957"/>
                </a:lnTo>
                <a:close/>
              </a:path>
            </a:pathLst>
          </a:custGeom>
          <a:solidFill>
            <a:srgbClr val="3493B9"/>
          </a:solidFill>
        </p:spPr>
        <p:txBody>
          <a:bodyPr bIns="0" lIns="0" numCol="1" rIns="0" rtlCol="0" tIns="0" wrap="square"/>
          <a:lstStyle/>
          <a:p>
            <a:endParaRPr/>
          </a:p>
        </p:txBody>
      </p:sp>
    </p:spTree>
    <p:extLst>
      <p:ext uri="{BB962C8B-B14F-4D97-AF65-F5344CB8AC3E}">
        <p14:creationId xmlns:p14="http://schemas.microsoft.com/office/powerpoint/2010/main" val="10975696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2DB1FE10-E06A-73BF-FA8D-C99071BA4391}"/>
              </a:ext>
            </a:extLst>
          </p:cNvPr>
          <p:cNvSpPr txBox="1"/>
          <p:nvPr/>
        </p:nvSpPr>
        <p:spPr>
          <a:xfrm>
            <a:off x="1150111" y="373735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6">
            <a:extLst>
              <a:ext uri="{FF2B5EF4-FFF2-40B4-BE49-F238E27FC236}">
                <a16:creationId xmlns:a16="http://schemas.microsoft.com/office/drawing/2014/main" id="{FD701C79-E032-2FE3-8A6C-90042E1702C7}"/>
              </a:ext>
            </a:extLst>
          </p:cNvPr>
          <p:cNvSpPr txBox="1"/>
          <p:nvPr/>
        </p:nvSpPr>
        <p:spPr>
          <a:xfrm>
            <a:off x="2273299" y="373735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7">
            <a:extLst>
              <a:ext uri="{FF2B5EF4-FFF2-40B4-BE49-F238E27FC236}">
                <a16:creationId xmlns:a16="http://schemas.microsoft.com/office/drawing/2014/main" id="{AB6F766B-4733-65BC-8B34-C2E5F9FBC3D8}"/>
              </a:ext>
            </a:extLst>
          </p:cNvPr>
          <p:cNvSpPr txBox="1"/>
          <p:nvPr/>
        </p:nvSpPr>
        <p:spPr>
          <a:xfrm>
            <a:off x="3283966" y="3106569"/>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8">
            <a:extLst>
              <a:ext uri="{FF2B5EF4-FFF2-40B4-BE49-F238E27FC236}">
                <a16:creationId xmlns:a16="http://schemas.microsoft.com/office/drawing/2014/main" id="{A2F7C1B0-469E-D915-6853-B7CD6BDC1CF0}"/>
              </a:ext>
            </a:extLst>
          </p:cNvPr>
          <p:cNvSpPr txBox="1"/>
          <p:nvPr/>
        </p:nvSpPr>
        <p:spPr>
          <a:xfrm>
            <a:off x="4426967" y="3106569"/>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9">
            <a:extLst>
              <a:ext uri="{FF2B5EF4-FFF2-40B4-BE49-F238E27FC236}">
                <a16:creationId xmlns:a16="http://schemas.microsoft.com/office/drawing/2014/main" id="{484FAEF9-FE67-0737-E59E-0027C5B671E3}"/>
              </a:ext>
            </a:extLst>
          </p:cNvPr>
          <p:cNvSpPr txBox="1"/>
          <p:nvPr/>
        </p:nvSpPr>
        <p:spPr>
          <a:xfrm>
            <a:off x="5393562" y="3106569"/>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10">
            <a:extLst>
              <a:ext uri="{FF2B5EF4-FFF2-40B4-BE49-F238E27FC236}">
                <a16:creationId xmlns:a16="http://schemas.microsoft.com/office/drawing/2014/main" id="{752CBE6D-55B5-12E5-A355-47C7A88B41E2}"/>
              </a:ext>
            </a:extLst>
          </p:cNvPr>
          <p:cNvSpPr txBox="1"/>
          <p:nvPr/>
        </p:nvSpPr>
        <p:spPr>
          <a:xfrm>
            <a:off x="282549" y="3991864"/>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11">
            <a:extLst>
              <a:ext uri="{FF2B5EF4-FFF2-40B4-BE49-F238E27FC236}">
                <a16:creationId xmlns:a16="http://schemas.microsoft.com/office/drawing/2014/main" id="{7CC532FD-E2B5-C46F-1D75-85B1BBD279E4}"/>
              </a:ext>
            </a:extLst>
          </p:cNvPr>
          <p:cNvGraphicFramePr>
            <a:graphicFrameLocks noGrp="1"/>
          </p:cNvGraphicFramePr>
          <p:nvPr>
            <p:extLst>
              <p:ext uri="{D42A27DB-BD31-4B8C-83A1-F6EECF244321}">
                <p14:modId xmlns:p14="http://schemas.microsoft.com/office/powerpoint/2010/main" val="240010203"/>
              </p:ext>
            </p:extLst>
          </p:nvPr>
        </p:nvGraphicFramePr>
        <p:xfrm>
          <a:off x="903732" y="4146042"/>
          <a:ext cx="5002530" cy="1928115"/>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dirty="0"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endParaRPr dirty="0"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endParaRPr dirty="0"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endParaRPr dirty="0"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344171">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dirty="0"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12">
            <a:extLst>
              <a:ext uri="{FF2B5EF4-FFF2-40B4-BE49-F238E27FC236}">
                <a16:creationId xmlns:a16="http://schemas.microsoft.com/office/drawing/2014/main" id="{66B49577-9CC1-E5DF-6789-8738B85A569A}"/>
              </a:ext>
            </a:extLst>
          </p:cNvPr>
          <p:cNvSpPr txBox="1"/>
          <p:nvPr/>
        </p:nvSpPr>
        <p:spPr>
          <a:xfrm>
            <a:off x="249022" y="4117551"/>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3">
            <a:extLst>
              <a:ext uri="{FF2B5EF4-FFF2-40B4-BE49-F238E27FC236}">
                <a16:creationId xmlns:a16="http://schemas.microsoft.com/office/drawing/2014/main" id="{501E3EE3-203F-6EC3-7E6D-C0F9A86E7D7B}"/>
              </a:ext>
            </a:extLst>
          </p:cNvPr>
          <p:cNvSpPr txBox="1"/>
          <p:nvPr/>
        </p:nvSpPr>
        <p:spPr>
          <a:xfrm>
            <a:off x="1353439" y="3521330"/>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1" name="object 14">
            <a:extLst>
              <a:ext uri="{FF2B5EF4-FFF2-40B4-BE49-F238E27FC236}">
                <a16:creationId xmlns:a16="http://schemas.microsoft.com/office/drawing/2014/main" id="{99B5F69F-5541-AA34-39A8-445DFDF7DCDA}"/>
              </a:ext>
            </a:extLst>
          </p:cNvPr>
          <p:cNvSpPr txBox="1"/>
          <p:nvPr/>
        </p:nvSpPr>
        <p:spPr>
          <a:xfrm>
            <a:off x="997712" y="3254627"/>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2" name="object 15">
            <a:extLst>
              <a:ext uri="{FF2B5EF4-FFF2-40B4-BE49-F238E27FC236}">
                <a16:creationId xmlns:a16="http://schemas.microsoft.com/office/drawing/2014/main" id="{ADB22A06-268A-FF14-BCBF-55DD04D30ECE}"/>
              </a:ext>
            </a:extLst>
          </p:cNvPr>
          <p:cNvSpPr txBox="1"/>
          <p:nvPr/>
        </p:nvSpPr>
        <p:spPr>
          <a:xfrm>
            <a:off x="4922520" y="493248"/>
            <a:ext cx="5895340" cy="1120820"/>
          </a:xfrm>
          <a:prstGeom prst="rect">
            <a:avLst/>
          </a:prstGeom>
        </p:spPr>
        <p:txBody>
          <a:bodyPr bIns="0" lIns="0" numCol="1" rIns="0" rtlCol="0" tIns="12700" vert="horz" wrap="square">
            <a:spAutoFit/>
          </a:bodyPr>
          <a:lstStyle/>
          <a:p>
            <a:pPr marL="12700" marR="5080">
              <a:spcBef>
                <a:spcPts val="100"/>
              </a:spcBef>
            </a:pPr>
            <a:r>
              <a:rPr dirty="0" sz="2400">
                <a:latin typeface="Palatino Linotype"/>
                <a:cs typeface="Palatino Linotype"/>
              </a:rPr>
              <a:t>Fill</a:t>
            </a:r>
            <a:r>
              <a:rPr dirty="0" spc="-51" sz="2400">
                <a:latin typeface="Palatino Linotype"/>
                <a:cs typeface="Palatino Linotype"/>
              </a:rPr>
              <a:t> </a:t>
            </a:r>
            <a:r>
              <a:rPr dirty="0" sz="2400">
                <a:latin typeface="Palatino Linotype"/>
                <a:cs typeface="Palatino Linotype"/>
              </a:rPr>
              <a:t>in</a:t>
            </a:r>
            <a:r>
              <a:rPr dirty="0" spc="-55" sz="2400">
                <a:latin typeface="Palatino Linotype"/>
                <a:cs typeface="Palatino Linotype"/>
              </a:rPr>
              <a:t> </a:t>
            </a:r>
            <a:r>
              <a:rPr dirty="0" sz="2400">
                <a:latin typeface="Palatino Linotype"/>
                <a:cs typeface="Palatino Linotype"/>
              </a:rPr>
              <a:t>subsequent</a:t>
            </a:r>
            <a:r>
              <a:rPr dirty="0" spc="-55" sz="2400">
                <a:latin typeface="Palatino Linotype"/>
                <a:cs typeface="Palatino Linotype"/>
              </a:rPr>
              <a:t> </a:t>
            </a:r>
            <a:r>
              <a:rPr dirty="0" sz="2400">
                <a:latin typeface="Palatino Linotype"/>
                <a:cs typeface="Palatino Linotype"/>
              </a:rPr>
              <a:t>rows</a:t>
            </a:r>
            <a:r>
              <a:rPr dirty="0" spc="-65" sz="2400">
                <a:latin typeface="Palatino Linotype"/>
                <a:cs typeface="Palatino Linotype"/>
              </a:rPr>
              <a:t> </a:t>
            </a:r>
            <a:r>
              <a:rPr dirty="0" sz="2400">
                <a:latin typeface="Palatino Linotype"/>
                <a:cs typeface="Palatino Linotype"/>
              </a:rPr>
              <a:t>by</a:t>
            </a:r>
            <a:r>
              <a:rPr dirty="0" spc="-55" sz="2400">
                <a:latin typeface="Palatino Linotype"/>
                <a:cs typeface="Palatino Linotype"/>
              </a:rPr>
              <a:t> </a:t>
            </a:r>
            <a:r>
              <a:rPr dirty="0" sz="2400">
                <a:latin typeface="Palatino Linotype"/>
                <a:cs typeface="Palatino Linotype"/>
              </a:rPr>
              <a:t>looking</a:t>
            </a:r>
            <a:r>
              <a:rPr dirty="0" spc="-31" sz="2400">
                <a:latin typeface="Palatino Linotype"/>
                <a:cs typeface="Palatino Linotype"/>
              </a:rPr>
              <a:t> </a:t>
            </a:r>
            <a:r>
              <a:rPr dirty="0" sz="2400">
                <a:latin typeface="Palatino Linotype"/>
                <a:cs typeface="Palatino Linotype"/>
              </a:rPr>
              <a:t>at</a:t>
            </a:r>
            <a:r>
              <a:rPr dirty="0" spc="-55" sz="2400">
                <a:latin typeface="Palatino Linotype"/>
                <a:cs typeface="Palatino Linotype"/>
              </a:rPr>
              <a:t> </a:t>
            </a:r>
            <a:r>
              <a:rPr dirty="0" spc="-25" sz="2400">
                <a:latin typeface="Palatino Linotype"/>
                <a:cs typeface="Palatino Linotype"/>
              </a:rPr>
              <a:t>the </a:t>
            </a:r>
            <a:r>
              <a:rPr dirty="0" sz="2400">
                <a:latin typeface="Palatino Linotype"/>
                <a:cs typeface="Palatino Linotype"/>
              </a:rPr>
              <a:t>cells</a:t>
            </a:r>
            <a:r>
              <a:rPr dirty="0" spc="-40" sz="2400">
                <a:latin typeface="Palatino Linotype"/>
                <a:cs typeface="Palatino Linotype"/>
              </a:rPr>
              <a:t> </a:t>
            </a:r>
            <a:r>
              <a:rPr dirty="0" sz="2400">
                <a:latin typeface="Palatino Linotype"/>
                <a:cs typeface="Palatino Linotype"/>
              </a:rPr>
              <a:t>directly</a:t>
            </a:r>
            <a:r>
              <a:rPr dirty="0" spc="-15" sz="2400">
                <a:latin typeface="Palatino Linotype"/>
                <a:cs typeface="Palatino Linotype"/>
              </a:rPr>
              <a:t> </a:t>
            </a:r>
            <a:r>
              <a:rPr dirty="0" sz="2400">
                <a:latin typeface="Palatino Linotype"/>
                <a:cs typeface="Palatino Linotype"/>
              </a:rPr>
              <a:t>above</a:t>
            </a:r>
            <a:r>
              <a:rPr dirty="0" spc="-35" sz="2400">
                <a:latin typeface="Palatino Linotype"/>
                <a:cs typeface="Palatino Linotype"/>
              </a:rPr>
              <a:t> </a:t>
            </a:r>
            <a:r>
              <a:rPr dirty="0" sz="2400">
                <a:latin typeface="Palatino Linotype"/>
                <a:cs typeface="Palatino Linotype"/>
              </a:rPr>
              <a:t>and</a:t>
            </a:r>
            <a:r>
              <a:rPr dirty="0" spc="-35" sz="2400">
                <a:latin typeface="Palatino Linotype"/>
                <a:cs typeface="Palatino Linotype"/>
              </a:rPr>
              <a:t> </a:t>
            </a:r>
            <a:r>
              <a:rPr dirty="0" sz="2400">
                <a:latin typeface="Palatino Linotype"/>
                <a:cs typeface="Palatino Linotype"/>
              </a:rPr>
              <a:t>the</a:t>
            </a:r>
            <a:r>
              <a:rPr dirty="0" spc="-20" sz="2400">
                <a:latin typeface="Palatino Linotype"/>
                <a:cs typeface="Palatino Linotype"/>
              </a:rPr>
              <a:t> </a:t>
            </a:r>
            <a:r>
              <a:rPr dirty="0" sz="2400">
                <a:latin typeface="Palatino Linotype"/>
                <a:cs typeface="Palatino Linotype"/>
              </a:rPr>
              <a:t>cells</a:t>
            </a:r>
            <a:r>
              <a:rPr dirty="0" spc="-25" sz="2400">
                <a:latin typeface="Palatino Linotype"/>
                <a:cs typeface="Palatino Linotype"/>
              </a:rPr>
              <a:t> </a:t>
            </a:r>
            <a:r>
              <a:rPr dirty="0" spc="-11" sz="2400">
                <a:latin typeface="Palatino Linotype"/>
                <a:cs typeface="Palatino Linotype"/>
              </a:rPr>
              <a:t>diagonally </a:t>
            </a:r>
            <a:r>
              <a:rPr dirty="0" sz="2400">
                <a:latin typeface="Palatino Linotype"/>
                <a:cs typeface="Palatino Linotype"/>
              </a:rPr>
              <a:t>to</a:t>
            </a:r>
            <a:r>
              <a:rPr dirty="0" spc="-35" sz="2400">
                <a:latin typeface="Palatino Linotype"/>
                <a:cs typeface="Palatino Linotype"/>
              </a:rPr>
              <a:t> </a:t>
            </a:r>
            <a:r>
              <a:rPr dirty="0" sz="2400">
                <a:latin typeface="Palatino Linotype"/>
                <a:cs typeface="Palatino Linotype"/>
              </a:rPr>
              <a:t>the</a:t>
            </a:r>
            <a:r>
              <a:rPr dirty="0" spc="-25" sz="2400">
                <a:latin typeface="Palatino Linotype"/>
                <a:cs typeface="Palatino Linotype"/>
              </a:rPr>
              <a:t> </a:t>
            </a:r>
            <a:r>
              <a:rPr dirty="0" sz="2400">
                <a:latin typeface="Palatino Linotype"/>
                <a:cs typeface="Palatino Linotype"/>
              </a:rPr>
              <a:t>upper</a:t>
            </a:r>
            <a:r>
              <a:rPr dirty="0" spc="-35" sz="2400">
                <a:latin typeface="Palatino Linotype"/>
                <a:cs typeface="Palatino Linotype"/>
              </a:rPr>
              <a:t> </a:t>
            </a:r>
            <a:r>
              <a:rPr dirty="0" sz="2400">
                <a:latin typeface="Palatino Linotype"/>
                <a:cs typeface="Palatino Linotype"/>
              </a:rPr>
              <a:t>right.</a:t>
            </a:r>
            <a:r>
              <a:rPr dirty="0" spc="-20" sz="2400">
                <a:latin typeface="Palatino Linotype"/>
                <a:cs typeface="Palatino Linotype"/>
              </a:rPr>
              <a:t> </a:t>
            </a:r>
            <a:endParaRPr dirty="0" sz="2400">
              <a:latin typeface="Palatino Linotype"/>
              <a:cs typeface="Palatino Linotype"/>
            </a:endParaRPr>
          </a:p>
        </p:txBody>
      </p:sp>
      <p:sp>
        <p:nvSpPr>
          <p:cNvPr id="13" name="TextBox 12">
            <a:extLst>
              <a:ext uri="{FF2B5EF4-FFF2-40B4-BE49-F238E27FC236}">
                <a16:creationId xmlns:a16="http://schemas.microsoft.com/office/drawing/2014/main" id="{9D6D2C62-1994-E1B7-0F54-1771C56E0D8B}"/>
              </a:ext>
            </a:extLst>
          </p:cNvPr>
          <p:cNvSpPr txBox="1"/>
          <p:nvPr/>
        </p:nvSpPr>
        <p:spPr>
          <a:xfrm>
            <a:off x="784987" y="393667"/>
            <a:ext cx="6096000" cy="1938992"/>
          </a:xfrm>
          <a:prstGeom prst="rect">
            <a:avLst/>
          </a:prstGeom>
          <a:noFill/>
        </p:spPr>
        <p:txBody>
          <a:bodyPr numCol="1" wrap="square">
            <a:spAutoFit/>
          </a:bodyPr>
          <a:lstStyle/>
          <a:p>
            <a:pPr marL="88898">
              <a:spcBef>
                <a:spcPts val="100"/>
              </a:spcBef>
            </a:pPr>
            <a:r>
              <a:rPr altLang="en-IN" dirty="0" lang="en-IN" sz="2400">
                <a:latin typeface="Cambria Math"/>
                <a:cs typeface="Cambria Math"/>
              </a:rPr>
              <a:t>𝑆</a:t>
            </a:r>
            <a:r>
              <a:rPr altLang="en-IN" dirty="0" lang="en-IN" spc="180" sz="2400">
                <a:latin typeface="Cambria Math"/>
                <a:cs typeface="Cambria Math"/>
              </a:rPr>
              <a:t> </a:t>
            </a:r>
            <a:r>
              <a:rPr altLang="en-IN" dirty="0" lang="en-IN" sz="2400">
                <a:latin typeface="Cambria Math"/>
                <a:cs typeface="Cambria Math"/>
              </a:rPr>
              <a:t>→</a:t>
            </a:r>
            <a:r>
              <a:rPr altLang="en-IN" dirty="0" lang="en-IN" spc="125" sz="2400">
                <a:latin typeface="Cambria Math"/>
                <a:cs typeface="Cambria Math"/>
              </a:rPr>
              <a:t> </a:t>
            </a:r>
            <a:r>
              <a:rPr altLang="en-IN" dirty="0" lang="en-IN" spc="-25" sz="2400">
                <a:latin typeface="Cambria Math"/>
                <a:cs typeface="Cambria Math"/>
              </a:rPr>
              <a:t>𝐴𝐵</a:t>
            </a:r>
            <a:endParaRPr altLang="en-IN" dirty="0" lang="en-IN" sz="2400">
              <a:latin typeface="Cambria Math"/>
              <a:cs typeface="Cambria Math"/>
            </a:endParaRPr>
          </a:p>
          <a:p>
            <a:pPr marL="88898">
              <a:spcBef>
                <a:spcPts val="5"/>
              </a:spcBef>
            </a:pPr>
            <a:r>
              <a:rPr altLang="en-IN" dirty="0" lang="en-IN" sz="2400">
                <a:latin typeface="Cambria Math"/>
                <a:cs typeface="Cambria Math"/>
              </a:rPr>
              <a:t>𝐴</a:t>
            </a:r>
            <a:r>
              <a:rPr altLang="en-IN" dirty="0" lang="en-IN" spc="151" sz="2400">
                <a:latin typeface="Cambria Math"/>
                <a:cs typeface="Cambria Math"/>
              </a:rPr>
              <a:t> </a:t>
            </a:r>
            <a:r>
              <a:rPr altLang="en-IN" dirty="0" lang="en-IN" sz="2400">
                <a:latin typeface="Cambria Math"/>
                <a:cs typeface="Cambria Math"/>
              </a:rPr>
              <a:t>→</a:t>
            </a:r>
            <a:r>
              <a:rPr altLang="en-IN" dirty="0" lang="en-IN" spc="115" sz="2400">
                <a:latin typeface="Cambria Math"/>
                <a:cs typeface="Cambria Math"/>
              </a:rPr>
              <a:t> </a:t>
            </a:r>
            <a:r>
              <a:rPr altLang="en-IN" dirty="0" lang="en-IN" sz="2400">
                <a:latin typeface="Cambria Math"/>
                <a:cs typeface="Cambria Math"/>
              </a:rPr>
              <a:t>𝐴𝐴</a:t>
            </a:r>
            <a:r>
              <a:rPr altLang="en-IN" dirty="0" lang="en-IN" spc="11" sz="2400">
                <a:latin typeface="Cambria Math"/>
                <a:cs typeface="Cambria Math"/>
              </a:rPr>
              <a:t> </a:t>
            </a:r>
            <a:r>
              <a:rPr altLang="en-IN" dirty="0" lang="en-IN" sz="2400">
                <a:latin typeface="Cambria Math"/>
                <a:cs typeface="Cambria Math"/>
              </a:rPr>
              <a:t>|</a:t>
            </a:r>
            <a:r>
              <a:rPr altLang="en-IN" dirty="0" lang="en-IN" spc="-20" sz="2400">
                <a:latin typeface="Cambria Math"/>
                <a:cs typeface="Cambria Math"/>
              </a:rPr>
              <a:t> </a:t>
            </a:r>
            <a:r>
              <a:rPr altLang="en-IN" dirty="0" lang="en-IN" sz="2400">
                <a:latin typeface="Cambria Math"/>
                <a:cs typeface="Cambria Math"/>
              </a:rPr>
              <a:t>𝐴𝐵</a:t>
            </a:r>
            <a:r>
              <a:rPr altLang="en-IN" dirty="0" lang="en-IN" spc="51" sz="2400">
                <a:latin typeface="Cambria Math"/>
                <a:cs typeface="Cambria Math"/>
              </a:rPr>
              <a:t> </a:t>
            </a:r>
            <a:r>
              <a:rPr altLang="en-IN" dirty="0" lang="en-IN" sz="2400">
                <a:latin typeface="Cambria Math"/>
                <a:cs typeface="Cambria Math"/>
              </a:rPr>
              <a:t>|</a:t>
            </a:r>
            <a:r>
              <a:rPr altLang="en-IN" dirty="0" lang="en-IN" spc="-20" sz="2400">
                <a:latin typeface="Cambria Math"/>
                <a:cs typeface="Cambria Math"/>
              </a:rPr>
              <a:t> </a:t>
            </a:r>
            <a:r>
              <a:rPr altLang="en-IN" dirty="0" lang="en-IN" spc="-51" sz="2400">
                <a:latin typeface="Cambria Math"/>
                <a:cs typeface="Cambria Math"/>
              </a:rPr>
              <a:t>𝑎</a:t>
            </a:r>
            <a:endParaRPr altLang="en-IN" dirty="0" lang="en-IN" sz="2400">
              <a:latin typeface="Cambria Math"/>
              <a:cs typeface="Cambria Math"/>
            </a:endParaRPr>
          </a:p>
          <a:p>
            <a:pPr marL="88898"/>
            <a:r>
              <a:rPr altLang="en-IN" dirty="0" lang="en-IN" sz="2400">
                <a:latin typeface="Cambria Math"/>
                <a:cs typeface="Cambria Math"/>
              </a:rPr>
              <a:t>𝐵</a:t>
            </a:r>
            <a:r>
              <a:rPr altLang="en-IN" dirty="0" lang="en-IN" spc="185" sz="2400">
                <a:latin typeface="Cambria Math"/>
                <a:cs typeface="Cambria Math"/>
              </a:rPr>
              <a:t> </a:t>
            </a:r>
            <a:r>
              <a:rPr altLang="en-IN" dirty="0" lang="en-IN" sz="2400">
                <a:latin typeface="Cambria Math"/>
                <a:cs typeface="Cambria Math"/>
              </a:rPr>
              <a:t>→</a:t>
            </a:r>
            <a:r>
              <a:rPr altLang="en-IN" dirty="0" lang="en-IN" spc="125" sz="2400">
                <a:latin typeface="Cambria Math"/>
                <a:cs typeface="Cambria Math"/>
              </a:rPr>
              <a:t> </a:t>
            </a:r>
            <a:r>
              <a:rPr altLang="en-IN" dirty="0" lang="en-IN" spc="-25" sz="2400">
                <a:latin typeface="Cambria Math"/>
                <a:cs typeface="Cambria Math"/>
              </a:rPr>
              <a:t>𝐶𝐶</a:t>
            </a:r>
            <a:endParaRPr altLang="en-IN" dirty="0" lang="en-IN" sz="2400">
              <a:latin typeface="Cambria Math"/>
              <a:cs typeface="Cambria Math"/>
            </a:endParaRPr>
          </a:p>
          <a:p>
            <a:pPr marL="88898"/>
            <a:r>
              <a:rPr altLang="en-IN" dirty="0" lang="en-IN" sz="2400">
                <a:latin typeface="Cambria Math"/>
                <a:cs typeface="Cambria Math"/>
              </a:rPr>
              <a:t>𝐶</a:t>
            </a:r>
            <a:r>
              <a:rPr altLang="en-IN" dirty="0" lang="en-IN" spc="235" sz="2400">
                <a:latin typeface="Cambria Math"/>
                <a:cs typeface="Cambria Math"/>
              </a:rPr>
              <a:t> </a:t>
            </a:r>
            <a:r>
              <a:rPr altLang="en-IN" dirty="0" lang="en-IN" sz="2400">
                <a:latin typeface="Cambria Math"/>
                <a:cs typeface="Cambria Math"/>
              </a:rPr>
              <a:t>→</a:t>
            </a:r>
            <a:r>
              <a:rPr altLang="en-IN" dirty="0" lang="en-IN" spc="125" sz="2400">
                <a:latin typeface="Cambria Math"/>
                <a:cs typeface="Cambria Math"/>
              </a:rPr>
              <a:t> </a:t>
            </a:r>
            <a:r>
              <a:rPr altLang="en-IN" dirty="0" lang="en-IN" spc="-60" sz="2400">
                <a:latin typeface="Cambria Math"/>
                <a:cs typeface="Cambria Math"/>
              </a:rPr>
              <a:t>𝑏</a:t>
            </a:r>
            <a:endParaRPr altLang="en-IN" dirty="0" lang="en-IN" sz="2400">
              <a:latin typeface="Cambria Math"/>
              <a:cs typeface="Cambria Math"/>
            </a:endParaRPr>
          </a:p>
          <a:p>
            <a:pPr marL="12700"/>
            <a:r>
              <a:rPr altLang="en-IN" dirty="0" lang="en-IN" sz="2400">
                <a:latin typeface="Cambria Math"/>
                <a:cs typeface="Cambria Math"/>
              </a:rPr>
              <a:t>𝑥</a:t>
            </a:r>
            <a:r>
              <a:rPr altLang="en-IN" dirty="0" lang="en-IN" spc="185" sz="2400">
                <a:latin typeface="Cambria Math"/>
                <a:cs typeface="Cambria Math"/>
              </a:rPr>
              <a:t> </a:t>
            </a:r>
            <a:r>
              <a:rPr altLang="en-IN" dirty="0" lang="en-IN" sz="2400">
                <a:latin typeface="Cambria Math"/>
                <a:cs typeface="Cambria Math"/>
              </a:rPr>
              <a:t>=</a:t>
            </a:r>
            <a:r>
              <a:rPr altLang="en-IN" dirty="0" lang="en-IN" spc="111" sz="2400">
                <a:latin typeface="Cambria Math"/>
                <a:cs typeface="Cambria Math"/>
              </a:rPr>
              <a:t> </a:t>
            </a:r>
            <a:r>
              <a:rPr altLang="en-IN" dirty="0" lang="en-IN" sz="2400">
                <a:latin typeface="Cambria Math"/>
                <a:cs typeface="Cambria Math"/>
              </a:rPr>
              <a:t>𝑎𝑎𝑎𝑏𝑏</a:t>
            </a:r>
            <a:r>
              <a:rPr altLang="en-IN" dirty="0" lang="en-IN" spc="131" sz="2400">
                <a:latin typeface="Cambria Math"/>
                <a:cs typeface="Cambria Math"/>
              </a:rPr>
              <a:t> </a:t>
            </a:r>
            <a:r>
              <a:rPr altLang="en-IN" dirty="0" lang="en-IN" sz="2400">
                <a:latin typeface="Palatino Linotype"/>
                <a:cs typeface="Palatino Linotype"/>
              </a:rPr>
              <a:t>(</a:t>
            </a:r>
            <a:r>
              <a:rPr altLang="en-IN" dirty="0" lang="en-IN" sz="2400">
                <a:latin typeface="Cambria Math"/>
                <a:cs typeface="Cambria Math"/>
              </a:rPr>
              <a:t>𝑛</a:t>
            </a:r>
            <a:r>
              <a:rPr altLang="en-IN" dirty="0" lang="en-IN" spc="160" sz="2400">
                <a:latin typeface="Cambria Math"/>
                <a:cs typeface="Cambria Math"/>
              </a:rPr>
              <a:t> </a:t>
            </a:r>
            <a:r>
              <a:rPr altLang="en-IN" dirty="0" lang="en-IN" sz="2400">
                <a:latin typeface="Cambria Math"/>
                <a:cs typeface="Cambria Math"/>
              </a:rPr>
              <a:t>=</a:t>
            </a:r>
            <a:r>
              <a:rPr altLang="en-IN" dirty="0" lang="en-IN" spc="111" sz="2400">
                <a:latin typeface="Cambria Math"/>
                <a:cs typeface="Cambria Math"/>
              </a:rPr>
              <a:t> </a:t>
            </a:r>
            <a:r>
              <a:rPr altLang="en-IN" dirty="0" lang="en-IN" spc="-25" sz="2400">
                <a:latin typeface="Cambria Math"/>
                <a:cs typeface="Cambria Math"/>
              </a:rPr>
              <a:t>5</a:t>
            </a:r>
            <a:r>
              <a:rPr altLang="en-IN" dirty="0" lang="en-IN" spc="-25" sz="2400">
                <a:latin typeface="Palatino Linotype"/>
                <a:cs typeface="Palatino Linotype"/>
              </a:rPr>
              <a:t>)</a:t>
            </a:r>
            <a:endParaRPr altLang="en-IN" dirty="0" lang="en-IN" sz="2400">
              <a:latin typeface="Palatino Linotype"/>
              <a:cs typeface="Palatino Linotype"/>
            </a:endParaRPr>
          </a:p>
        </p:txBody>
      </p:sp>
      <p:cxnSp>
        <p:nvCxnSpPr>
          <p:cNvPr id="14" name="Straight Arrow Connector 13">
            <a:extLst>
              <a:ext uri="{FF2B5EF4-FFF2-40B4-BE49-F238E27FC236}">
                <a16:creationId xmlns:a16="http://schemas.microsoft.com/office/drawing/2014/main" id="{890640BC-5FBC-94C9-3AD3-0192ACC55C68}"/>
              </a:ext>
            </a:extLst>
          </p:cNvPr>
          <p:cNvCxnSpPr>
            <a:cxnSpLocks/>
          </p:cNvCxnSpPr>
          <p:nvPr/>
        </p:nvCxnSpPr>
        <p:spPr>
          <a:xfrm flipH="1">
            <a:off x="1592834" y="3415248"/>
            <a:ext cx="5087495" cy="12936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5FB5ADFC-BD36-C6AB-7BEB-256DB2F10C75}"/>
              </a:ext>
            </a:extLst>
          </p:cNvPr>
          <p:cNvSpPr txBox="1"/>
          <p:nvPr/>
        </p:nvSpPr>
        <p:spPr>
          <a:xfrm>
            <a:off x="6709918" y="2622548"/>
            <a:ext cx="4724400" cy="2308324"/>
          </a:xfrm>
          <a:prstGeom prst="rect">
            <a:avLst/>
          </a:prstGeom>
        </p:spPr>
        <p:style>
          <a:lnRef idx="2">
            <a:schemeClr val="dk1"/>
          </a:lnRef>
          <a:fillRef idx="1">
            <a:schemeClr val="lt1"/>
          </a:fillRef>
          <a:effectRef idx="0">
            <a:schemeClr val="dk1"/>
          </a:effectRef>
          <a:fontRef idx="minor">
            <a:schemeClr val="dk1"/>
          </a:fontRef>
        </p:style>
        <p:txBody>
          <a:bodyPr numCol="1" rtlCol="0" wrap="square">
            <a:spAutoFit/>
          </a:bodyPr>
          <a:lstStyle/>
          <a:p>
            <a:r>
              <a:rPr altLang="en-IN" dirty="0" i="1" lang="en-IN" sz="2400"/>
              <a:t>Substring of length 2 start with 1</a:t>
            </a:r>
            <a:r>
              <a:rPr altLang="en-IN" baseline="30000" dirty="0" i="1" lang="en-IN" sz="2400"/>
              <a:t>st</a:t>
            </a:r>
            <a:r>
              <a:rPr altLang="en-IN" dirty="0" i="1" lang="en-IN" sz="2400"/>
              <a:t>  position – aa</a:t>
            </a:r>
          </a:p>
          <a:p>
            <a:r>
              <a:rPr altLang="en-IN" dirty="0" i="1" lang="en-IN" sz="2400"/>
              <a:t>It can be generated by A </a:t>
            </a:r>
            <a:r>
              <a:rPr altLang="en-IN" dirty="0" err="1" i="1" lang="en-IN" sz="2400"/>
              <a:t>A</a:t>
            </a:r>
            <a:endParaRPr altLang="en-IN" dirty="0" i="1" lang="en-IN" sz="2400"/>
          </a:p>
          <a:p>
            <a:r>
              <a:rPr altLang="en-IN" dirty="0" i="1" lang="en-IN" sz="2400"/>
              <a:t>Look for a production rules to generate AA</a:t>
            </a:r>
          </a:p>
          <a:p>
            <a:endParaRPr altLang="en-IN" dirty="0" i="1" lang="en-IN" sz="2400"/>
          </a:p>
        </p:txBody>
      </p:sp>
      <p:sp>
        <p:nvSpPr>
          <p:cNvPr id="16" name="object 31">
            <a:extLst>
              <a:ext uri="{FF2B5EF4-FFF2-40B4-BE49-F238E27FC236}">
                <a16:creationId xmlns:a16="http://schemas.microsoft.com/office/drawing/2014/main" id="{EBF3CDAC-0AF0-866E-77F5-C7D26FA2B428}"/>
              </a:ext>
            </a:extLst>
          </p:cNvPr>
          <p:cNvSpPr/>
          <p:nvPr/>
        </p:nvSpPr>
        <p:spPr>
          <a:xfrm>
            <a:off x="1122426" y="4189476"/>
            <a:ext cx="494030" cy="295910"/>
          </a:xfrm>
          <a:custGeom>
            <a:avLst/>
            <a:gdLst/>
            <a:ahLst/>
            <a:cxnLst/>
            <a:rect b="b" l="l" r="r" t="t"/>
            <a:pathLst>
              <a:path h="295910" w="494030">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sp>
        <p:nvSpPr>
          <p:cNvPr id="17" name="object 31">
            <a:extLst>
              <a:ext uri="{FF2B5EF4-FFF2-40B4-BE49-F238E27FC236}">
                <a16:creationId xmlns:a16="http://schemas.microsoft.com/office/drawing/2014/main" id="{5198886A-E3F6-3DC0-EB7A-4B5EB0DABE94}"/>
              </a:ext>
            </a:extLst>
          </p:cNvPr>
          <p:cNvSpPr/>
          <p:nvPr/>
        </p:nvSpPr>
        <p:spPr>
          <a:xfrm>
            <a:off x="2187676" y="4202391"/>
            <a:ext cx="494030" cy="295910"/>
          </a:xfrm>
          <a:custGeom>
            <a:avLst/>
            <a:gdLst/>
            <a:ahLst/>
            <a:cxnLst/>
            <a:rect b="b" l="l" r="r" t="t"/>
            <a:pathLst>
              <a:path h="295910" w="494030">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spTree>
    <p:extLst>
      <p:ext uri="{BB962C8B-B14F-4D97-AF65-F5344CB8AC3E}">
        <p14:creationId xmlns:p14="http://schemas.microsoft.com/office/powerpoint/2010/main" val="6193616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FF5599F6-F927-A87D-C889-FE4822DD9A0F}"/>
              </a:ext>
            </a:extLst>
          </p:cNvPr>
          <p:cNvSpPr txBox="1"/>
          <p:nvPr/>
        </p:nvSpPr>
        <p:spPr>
          <a:xfrm>
            <a:off x="1321561" y="366877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6">
            <a:extLst>
              <a:ext uri="{FF2B5EF4-FFF2-40B4-BE49-F238E27FC236}">
                <a16:creationId xmlns:a16="http://schemas.microsoft.com/office/drawing/2014/main" id="{E1681EF9-84D3-EE46-1EB4-E83F50D38040}"/>
              </a:ext>
            </a:extLst>
          </p:cNvPr>
          <p:cNvSpPr txBox="1"/>
          <p:nvPr/>
        </p:nvSpPr>
        <p:spPr>
          <a:xfrm>
            <a:off x="2444749" y="366877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7">
            <a:extLst>
              <a:ext uri="{FF2B5EF4-FFF2-40B4-BE49-F238E27FC236}">
                <a16:creationId xmlns:a16="http://schemas.microsoft.com/office/drawing/2014/main" id="{4C687EAC-41FF-D41D-003A-87251BB2FC1D}"/>
              </a:ext>
            </a:extLst>
          </p:cNvPr>
          <p:cNvSpPr txBox="1"/>
          <p:nvPr/>
        </p:nvSpPr>
        <p:spPr>
          <a:xfrm>
            <a:off x="3455416" y="3037989"/>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8">
            <a:extLst>
              <a:ext uri="{FF2B5EF4-FFF2-40B4-BE49-F238E27FC236}">
                <a16:creationId xmlns:a16="http://schemas.microsoft.com/office/drawing/2014/main" id="{7885836C-260E-58FE-BF2A-B520D770F78B}"/>
              </a:ext>
            </a:extLst>
          </p:cNvPr>
          <p:cNvSpPr txBox="1"/>
          <p:nvPr/>
        </p:nvSpPr>
        <p:spPr>
          <a:xfrm>
            <a:off x="4598417" y="3037989"/>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9">
            <a:extLst>
              <a:ext uri="{FF2B5EF4-FFF2-40B4-BE49-F238E27FC236}">
                <a16:creationId xmlns:a16="http://schemas.microsoft.com/office/drawing/2014/main" id="{8191B196-EBAB-6BB2-1891-E9323A8B7D4C}"/>
              </a:ext>
            </a:extLst>
          </p:cNvPr>
          <p:cNvSpPr txBox="1"/>
          <p:nvPr/>
        </p:nvSpPr>
        <p:spPr>
          <a:xfrm>
            <a:off x="5565012" y="3037989"/>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10">
            <a:extLst>
              <a:ext uri="{FF2B5EF4-FFF2-40B4-BE49-F238E27FC236}">
                <a16:creationId xmlns:a16="http://schemas.microsoft.com/office/drawing/2014/main" id="{66E9E79D-D886-FA63-E4A7-C9505D3365B4}"/>
              </a:ext>
            </a:extLst>
          </p:cNvPr>
          <p:cNvSpPr txBox="1"/>
          <p:nvPr/>
        </p:nvSpPr>
        <p:spPr>
          <a:xfrm>
            <a:off x="453999" y="3923284"/>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11">
            <a:extLst>
              <a:ext uri="{FF2B5EF4-FFF2-40B4-BE49-F238E27FC236}">
                <a16:creationId xmlns:a16="http://schemas.microsoft.com/office/drawing/2014/main" id="{E7F0808B-1AC0-B44D-7840-5917339A7C2A}"/>
              </a:ext>
            </a:extLst>
          </p:cNvPr>
          <p:cNvGraphicFramePr>
            <a:graphicFrameLocks noGrp="1"/>
          </p:cNvGraphicFramePr>
          <p:nvPr>
            <p:extLst>
              <p:ext uri="{D42A27DB-BD31-4B8C-83A1-F6EECF244321}">
                <p14:modId xmlns:p14="http://schemas.microsoft.com/office/powerpoint/2010/main" val="2229711848"/>
              </p:ext>
            </p:extLst>
          </p:nvPr>
        </p:nvGraphicFramePr>
        <p:xfrm>
          <a:off x="1075182" y="4077462"/>
          <a:ext cx="5002530" cy="1928115"/>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dirty="0"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344171">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dirty="0"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12">
            <a:extLst>
              <a:ext uri="{FF2B5EF4-FFF2-40B4-BE49-F238E27FC236}">
                <a16:creationId xmlns:a16="http://schemas.microsoft.com/office/drawing/2014/main" id="{F253FF37-EFF8-7817-816A-E5172A504243}"/>
              </a:ext>
            </a:extLst>
          </p:cNvPr>
          <p:cNvSpPr txBox="1"/>
          <p:nvPr/>
        </p:nvSpPr>
        <p:spPr>
          <a:xfrm>
            <a:off x="420472" y="4048971"/>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3">
            <a:extLst>
              <a:ext uri="{FF2B5EF4-FFF2-40B4-BE49-F238E27FC236}">
                <a16:creationId xmlns:a16="http://schemas.microsoft.com/office/drawing/2014/main" id="{65DA8AAF-83B9-2000-6630-0D24E58089B9}"/>
              </a:ext>
            </a:extLst>
          </p:cNvPr>
          <p:cNvSpPr txBox="1"/>
          <p:nvPr/>
        </p:nvSpPr>
        <p:spPr>
          <a:xfrm>
            <a:off x="1524889" y="3452750"/>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1" name="object 14">
            <a:extLst>
              <a:ext uri="{FF2B5EF4-FFF2-40B4-BE49-F238E27FC236}">
                <a16:creationId xmlns:a16="http://schemas.microsoft.com/office/drawing/2014/main" id="{0FDE2880-1A75-0E01-4AB2-EB5A383B2C6C}"/>
              </a:ext>
            </a:extLst>
          </p:cNvPr>
          <p:cNvSpPr txBox="1"/>
          <p:nvPr/>
        </p:nvSpPr>
        <p:spPr>
          <a:xfrm>
            <a:off x="1169162" y="3186047"/>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2" name="object 15">
            <a:extLst>
              <a:ext uri="{FF2B5EF4-FFF2-40B4-BE49-F238E27FC236}">
                <a16:creationId xmlns:a16="http://schemas.microsoft.com/office/drawing/2014/main" id="{CB7DFA37-9688-9DB8-93CF-511809071314}"/>
              </a:ext>
            </a:extLst>
          </p:cNvPr>
          <p:cNvSpPr txBox="1"/>
          <p:nvPr/>
        </p:nvSpPr>
        <p:spPr>
          <a:xfrm>
            <a:off x="5093970" y="424668"/>
            <a:ext cx="5895340" cy="1120820"/>
          </a:xfrm>
          <a:prstGeom prst="rect">
            <a:avLst/>
          </a:prstGeom>
        </p:spPr>
        <p:txBody>
          <a:bodyPr bIns="0" lIns="0" numCol="1" rIns="0" rtlCol="0" tIns="12700" vert="horz" wrap="square">
            <a:spAutoFit/>
          </a:bodyPr>
          <a:lstStyle/>
          <a:p>
            <a:pPr marL="12700" marR="5080">
              <a:spcBef>
                <a:spcPts val="100"/>
              </a:spcBef>
            </a:pPr>
            <a:r>
              <a:rPr dirty="0" sz="2400">
                <a:latin typeface="Palatino Linotype"/>
                <a:cs typeface="Palatino Linotype"/>
              </a:rPr>
              <a:t>Fill</a:t>
            </a:r>
            <a:r>
              <a:rPr dirty="0" spc="-51" sz="2400">
                <a:latin typeface="Palatino Linotype"/>
                <a:cs typeface="Palatino Linotype"/>
              </a:rPr>
              <a:t> </a:t>
            </a:r>
            <a:r>
              <a:rPr dirty="0" sz="2400">
                <a:latin typeface="Palatino Linotype"/>
                <a:cs typeface="Palatino Linotype"/>
              </a:rPr>
              <a:t>in</a:t>
            </a:r>
            <a:r>
              <a:rPr dirty="0" spc="-55" sz="2400">
                <a:latin typeface="Palatino Linotype"/>
                <a:cs typeface="Palatino Linotype"/>
              </a:rPr>
              <a:t> </a:t>
            </a:r>
            <a:r>
              <a:rPr dirty="0" sz="2400">
                <a:latin typeface="Palatino Linotype"/>
                <a:cs typeface="Palatino Linotype"/>
              </a:rPr>
              <a:t>subsequent</a:t>
            </a:r>
            <a:r>
              <a:rPr dirty="0" spc="-55" sz="2400">
                <a:latin typeface="Palatino Linotype"/>
                <a:cs typeface="Palatino Linotype"/>
              </a:rPr>
              <a:t> </a:t>
            </a:r>
            <a:r>
              <a:rPr dirty="0" sz="2400">
                <a:latin typeface="Palatino Linotype"/>
                <a:cs typeface="Palatino Linotype"/>
              </a:rPr>
              <a:t>rows</a:t>
            </a:r>
            <a:r>
              <a:rPr dirty="0" spc="-65" sz="2400">
                <a:latin typeface="Palatino Linotype"/>
                <a:cs typeface="Palatino Linotype"/>
              </a:rPr>
              <a:t> </a:t>
            </a:r>
            <a:r>
              <a:rPr dirty="0" sz="2400">
                <a:latin typeface="Palatino Linotype"/>
                <a:cs typeface="Palatino Linotype"/>
              </a:rPr>
              <a:t>by</a:t>
            </a:r>
            <a:r>
              <a:rPr dirty="0" spc="-55" sz="2400">
                <a:latin typeface="Palatino Linotype"/>
                <a:cs typeface="Palatino Linotype"/>
              </a:rPr>
              <a:t> </a:t>
            </a:r>
            <a:r>
              <a:rPr dirty="0" sz="2400">
                <a:latin typeface="Palatino Linotype"/>
                <a:cs typeface="Palatino Linotype"/>
              </a:rPr>
              <a:t>looking</a:t>
            </a:r>
            <a:r>
              <a:rPr dirty="0" spc="-31" sz="2400">
                <a:latin typeface="Palatino Linotype"/>
                <a:cs typeface="Palatino Linotype"/>
              </a:rPr>
              <a:t> </a:t>
            </a:r>
            <a:r>
              <a:rPr dirty="0" sz="2400">
                <a:latin typeface="Palatino Linotype"/>
                <a:cs typeface="Palatino Linotype"/>
              </a:rPr>
              <a:t>at</a:t>
            </a:r>
            <a:r>
              <a:rPr dirty="0" spc="-55" sz="2400">
                <a:latin typeface="Palatino Linotype"/>
                <a:cs typeface="Palatino Linotype"/>
              </a:rPr>
              <a:t> </a:t>
            </a:r>
            <a:r>
              <a:rPr dirty="0" spc="-25" sz="2400">
                <a:latin typeface="Palatino Linotype"/>
                <a:cs typeface="Palatino Linotype"/>
              </a:rPr>
              <a:t>the </a:t>
            </a:r>
            <a:r>
              <a:rPr dirty="0" sz="2400">
                <a:latin typeface="Palatino Linotype"/>
                <a:cs typeface="Palatino Linotype"/>
              </a:rPr>
              <a:t>cells</a:t>
            </a:r>
            <a:r>
              <a:rPr dirty="0" spc="-40" sz="2400">
                <a:latin typeface="Palatino Linotype"/>
                <a:cs typeface="Palatino Linotype"/>
              </a:rPr>
              <a:t> </a:t>
            </a:r>
            <a:r>
              <a:rPr dirty="0" sz="2400">
                <a:latin typeface="Palatino Linotype"/>
                <a:cs typeface="Palatino Linotype"/>
              </a:rPr>
              <a:t>directly</a:t>
            </a:r>
            <a:r>
              <a:rPr dirty="0" spc="-15" sz="2400">
                <a:latin typeface="Palatino Linotype"/>
                <a:cs typeface="Palatino Linotype"/>
              </a:rPr>
              <a:t> </a:t>
            </a:r>
            <a:r>
              <a:rPr dirty="0" sz="2400">
                <a:latin typeface="Palatino Linotype"/>
                <a:cs typeface="Palatino Linotype"/>
              </a:rPr>
              <a:t>above</a:t>
            </a:r>
            <a:r>
              <a:rPr dirty="0" spc="-35" sz="2400">
                <a:latin typeface="Palatino Linotype"/>
                <a:cs typeface="Palatino Linotype"/>
              </a:rPr>
              <a:t> </a:t>
            </a:r>
            <a:r>
              <a:rPr dirty="0" sz="2400">
                <a:latin typeface="Palatino Linotype"/>
                <a:cs typeface="Palatino Linotype"/>
              </a:rPr>
              <a:t>and</a:t>
            </a:r>
            <a:r>
              <a:rPr dirty="0" spc="-35" sz="2400">
                <a:latin typeface="Palatino Linotype"/>
                <a:cs typeface="Palatino Linotype"/>
              </a:rPr>
              <a:t> </a:t>
            </a:r>
            <a:r>
              <a:rPr dirty="0" sz="2400">
                <a:latin typeface="Palatino Linotype"/>
                <a:cs typeface="Palatino Linotype"/>
              </a:rPr>
              <a:t>the</a:t>
            </a:r>
            <a:r>
              <a:rPr dirty="0" spc="-20" sz="2400">
                <a:latin typeface="Palatino Linotype"/>
                <a:cs typeface="Palatino Linotype"/>
              </a:rPr>
              <a:t> </a:t>
            </a:r>
            <a:r>
              <a:rPr dirty="0" sz="2400">
                <a:latin typeface="Palatino Linotype"/>
                <a:cs typeface="Palatino Linotype"/>
              </a:rPr>
              <a:t>cells</a:t>
            </a:r>
            <a:r>
              <a:rPr dirty="0" spc="-25" sz="2400">
                <a:latin typeface="Palatino Linotype"/>
                <a:cs typeface="Palatino Linotype"/>
              </a:rPr>
              <a:t> </a:t>
            </a:r>
            <a:r>
              <a:rPr dirty="0" spc="-11" sz="2400">
                <a:latin typeface="Palatino Linotype"/>
                <a:cs typeface="Palatino Linotype"/>
              </a:rPr>
              <a:t>diagonally </a:t>
            </a:r>
            <a:r>
              <a:rPr dirty="0" sz="2400">
                <a:latin typeface="Palatino Linotype"/>
                <a:cs typeface="Palatino Linotype"/>
              </a:rPr>
              <a:t>to</a:t>
            </a:r>
            <a:r>
              <a:rPr dirty="0" spc="-35" sz="2400">
                <a:latin typeface="Palatino Linotype"/>
                <a:cs typeface="Palatino Linotype"/>
              </a:rPr>
              <a:t> </a:t>
            </a:r>
            <a:r>
              <a:rPr dirty="0" sz="2400">
                <a:latin typeface="Palatino Linotype"/>
                <a:cs typeface="Palatino Linotype"/>
              </a:rPr>
              <a:t>the</a:t>
            </a:r>
            <a:r>
              <a:rPr dirty="0" spc="-25" sz="2400">
                <a:latin typeface="Palatino Linotype"/>
                <a:cs typeface="Palatino Linotype"/>
              </a:rPr>
              <a:t> </a:t>
            </a:r>
            <a:r>
              <a:rPr dirty="0" sz="2400">
                <a:latin typeface="Palatino Linotype"/>
                <a:cs typeface="Palatino Linotype"/>
              </a:rPr>
              <a:t>upper</a:t>
            </a:r>
            <a:r>
              <a:rPr dirty="0" spc="-35" sz="2400">
                <a:latin typeface="Palatino Linotype"/>
                <a:cs typeface="Palatino Linotype"/>
              </a:rPr>
              <a:t> </a:t>
            </a:r>
            <a:r>
              <a:rPr dirty="0" sz="2400">
                <a:latin typeface="Palatino Linotype"/>
                <a:cs typeface="Palatino Linotype"/>
              </a:rPr>
              <a:t>right.</a:t>
            </a:r>
            <a:r>
              <a:rPr dirty="0" spc="-20" sz="2400">
                <a:latin typeface="Palatino Linotype"/>
                <a:cs typeface="Palatino Linotype"/>
              </a:rPr>
              <a:t> </a:t>
            </a:r>
            <a:endParaRPr dirty="0" sz="2400">
              <a:latin typeface="Palatino Linotype"/>
              <a:cs typeface="Palatino Linotype"/>
            </a:endParaRPr>
          </a:p>
        </p:txBody>
      </p:sp>
      <p:sp>
        <p:nvSpPr>
          <p:cNvPr id="13" name="TextBox 12">
            <a:extLst>
              <a:ext uri="{FF2B5EF4-FFF2-40B4-BE49-F238E27FC236}">
                <a16:creationId xmlns:a16="http://schemas.microsoft.com/office/drawing/2014/main" id="{76A9C9C0-8C8F-932D-F51B-B69ED56DC25B}"/>
              </a:ext>
            </a:extLst>
          </p:cNvPr>
          <p:cNvSpPr txBox="1"/>
          <p:nvPr/>
        </p:nvSpPr>
        <p:spPr>
          <a:xfrm>
            <a:off x="956437" y="325087"/>
            <a:ext cx="6096000" cy="1938992"/>
          </a:xfrm>
          <a:prstGeom prst="rect">
            <a:avLst/>
          </a:prstGeom>
          <a:noFill/>
        </p:spPr>
        <p:txBody>
          <a:bodyPr numCol="1" wrap="square">
            <a:spAutoFit/>
          </a:bodyPr>
          <a:lstStyle/>
          <a:p>
            <a:pPr marL="88898">
              <a:spcBef>
                <a:spcPts val="100"/>
              </a:spcBef>
            </a:pPr>
            <a:r>
              <a:rPr altLang="en-IN" dirty="0" lang="en-IN" sz="2400">
                <a:latin typeface="Cambria Math"/>
                <a:cs typeface="Cambria Math"/>
              </a:rPr>
              <a:t>𝑆</a:t>
            </a:r>
            <a:r>
              <a:rPr altLang="en-IN" dirty="0" lang="en-IN" spc="180" sz="2400">
                <a:latin typeface="Cambria Math"/>
                <a:cs typeface="Cambria Math"/>
              </a:rPr>
              <a:t> </a:t>
            </a:r>
            <a:r>
              <a:rPr altLang="en-IN" dirty="0" lang="en-IN" sz="2400">
                <a:latin typeface="Cambria Math"/>
                <a:cs typeface="Cambria Math"/>
              </a:rPr>
              <a:t>→</a:t>
            </a:r>
            <a:r>
              <a:rPr altLang="en-IN" dirty="0" lang="en-IN" spc="125" sz="2400">
                <a:latin typeface="Cambria Math"/>
                <a:cs typeface="Cambria Math"/>
              </a:rPr>
              <a:t> </a:t>
            </a:r>
            <a:r>
              <a:rPr altLang="en-IN" dirty="0" lang="en-IN" spc="-25" sz="2400">
                <a:latin typeface="Cambria Math"/>
                <a:cs typeface="Cambria Math"/>
              </a:rPr>
              <a:t>𝐴𝐵</a:t>
            </a:r>
            <a:endParaRPr altLang="en-IN" dirty="0" lang="en-IN" sz="2400">
              <a:latin typeface="Cambria Math"/>
              <a:cs typeface="Cambria Math"/>
            </a:endParaRPr>
          </a:p>
          <a:p>
            <a:pPr marL="88898">
              <a:spcBef>
                <a:spcPts val="5"/>
              </a:spcBef>
            </a:pPr>
            <a:r>
              <a:rPr altLang="en-IN" dirty="0" lang="en-IN" sz="2400">
                <a:latin typeface="Cambria Math"/>
                <a:cs typeface="Cambria Math"/>
              </a:rPr>
              <a:t>𝐴</a:t>
            </a:r>
            <a:r>
              <a:rPr altLang="en-IN" dirty="0" lang="en-IN" spc="151" sz="2400">
                <a:latin typeface="Cambria Math"/>
                <a:cs typeface="Cambria Math"/>
              </a:rPr>
              <a:t> </a:t>
            </a:r>
            <a:r>
              <a:rPr altLang="en-IN" dirty="0" lang="en-IN" sz="2400">
                <a:latin typeface="Cambria Math"/>
                <a:cs typeface="Cambria Math"/>
              </a:rPr>
              <a:t>→</a:t>
            </a:r>
            <a:r>
              <a:rPr altLang="en-IN" dirty="0" lang="en-IN" spc="115" sz="2400">
                <a:latin typeface="Cambria Math"/>
                <a:cs typeface="Cambria Math"/>
              </a:rPr>
              <a:t> </a:t>
            </a:r>
            <a:r>
              <a:rPr altLang="en-IN" dirty="0" lang="en-IN" sz="2400">
                <a:latin typeface="Cambria Math"/>
                <a:cs typeface="Cambria Math"/>
              </a:rPr>
              <a:t>𝐴𝐴</a:t>
            </a:r>
            <a:r>
              <a:rPr altLang="en-IN" dirty="0" lang="en-IN" spc="11" sz="2400">
                <a:latin typeface="Cambria Math"/>
                <a:cs typeface="Cambria Math"/>
              </a:rPr>
              <a:t> </a:t>
            </a:r>
            <a:r>
              <a:rPr altLang="en-IN" dirty="0" lang="en-IN" sz="2400">
                <a:latin typeface="Cambria Math"/>
                <a:cs typeface="Cambria Math"/>
              </a:rPr>
              <a:t>|</a:t>
            </a:r>
            <a:r>
              <a:rPr altLang="en-IN" dirty="0" lang="en-IN" spc="-20" sz="2400">
                <a:latin typeface="Cambria Math"/>
                <a:cs typeface="Cambria Math"/>
              </a:rPr>
              <a:t> </a:t>
            </a:r>
            <a:r>
              <a:rPr altLang="en-IN" dirty="0" lang="en-IN" sz="2400">
                <a:latin typeface="Cambria Math"/>
                <a:cs typeface="Cambria Math"/>
              </a:rPr>
              <a:t>𝐴𝐵</a:t>
            </a:r>
            <a:r>
              <a:rPr altLang="en-IN" dirty="0" lang="en-IN" spc="51" sz="2400">
                <a:latin typeface="Cambria Math"/>
                <a:cs typeface="Cambria Math"/>
              </a:rPr>
              <a:t> </a:t>
            </a:r>
            <a:r>
              <a:rPr altLang="en-IN" dirty="0" lang="en-IN" sz="2400">
                <a:latin typeface="Cambria Math"/>
                <a:cs typeface="Cambria Math"/>
              </a:rPr>
              <a:t>|</a:t>
            </a:r>
            <a:r>
              <a:rPr altLang="en-IN" dirty="0" lang="en-IN" spc="-20" sz="2400">
                <a:latin typeface="Cambria Math"/>
                <a:cs typeface="Cambria Math"/>
              </a:rPr>
              <a:t> </a:t>
            </a:r>
            <a:r>
              <a:rPr altLang="en-IN" dirty="0" lang="en-IN" spc="-51" sz="2400">
                <a:latin typeface="Cambria Math"/>
                <a:cs typeface="Cambria Math"/>
              </a:rPr>
              <a:t>𝑎</a:t>
            </a:r>
            <a:endParaRPr altLang="en-IN" dirty="0" lang="en-IN" sz="2400">
              <a:latin typeface="Cambria Math"/>
              <a:cs typeface="Cambria Math"/>
            </a:endParaRPr>
          </a:p>
          <a:p>
            <a:pPr marL="88898"/>
            <a:r>
              <a:rPr altLang="en-IN" dirty="0" lang="en-IN" sz="2400">
                <a:latin typeface="Cambria Math"/>
                <a:cs typeface="Cambria Math"/>
              </a:rPr>
              <a:t>𝐵</a:t>
            </a:r>
            <a:r>
              <a:rPr altLang="en-IN" dirty="0" lang="en-IN" spc="185" sz="2400">
                <a:latin typeface="Cambria Math"/>
                <a:cs typeface="Cambria Math"/>
              </a:rPr>
              <a:t> </a:t>
            </a:r>
            <a:r>
              <a:rPr altLang="en-IN" dirty="0" lang="en-IN" sz="2400">
                <a:latin typeface="Cambria Math"/>
                <a:cs typeface="Cambria Math"/>
              </a:rPr>
              <a:t>→</a:t>
            </a:r>
            <a:r>
              <a:rPr altLang="en-IN" dirty="0" lang="en-IN" spc="125" sz="2400">
                <a:latin typeface="Cambria Math"/>
                <a:cs typeface="Cambria Math"/>
              </a:rPr>
              <a:t> </a:t>
            </a:r>
            <a:r>
              <a:rPr altLang="en-IN" dirty="0" lang="en-IN" spc="-25" sz="2400">
                <a:latin typeface="Cambria Math"/>
                <a:cs typeface="Cambria Math"/>
              </a:rPr>
              <a:t>𝐶𝐶</a:t>
            </a:r>
            <a:endParaRPr altLang="en-IN" dirty="0" lang="en-IN" sz="2400">
              <a:latin typeface="Cambria Math"/>
              <a:cs typeface="Cambria Math"/>
            </a:endParaRPr>
          </a:p>
          <a:p>
            <a:pPr marL="88898"/>
            <a:r>
              <a:rPr altLang="en-IN" dirty="0" lang="en-IN" sz="2400">
                <a:latin typeface="Cambria Math"/>
                <a:cs typeface="Cambria Math"/>
              </a:rPr>
              <a:t>𝐶</a:t>
            </a:r>
            <a:r>
              <a:rPr altLang="en-IN" dirty="0" lang="en-IN" spc="235" sz="2400">
                <a:latin typeface="Cambria Math"/>
                <a:cs typeface="Cambria Math"/>
              </a:rPr>
              <a:t> </a:t>
            </a:r>
            <a:r>
              <a:rPr altLang="en-IN" dirty="0" lang="en-IN" sz="2400">
                <a:latin typeface="Cambria Math"/>
                <a:cs typeface="Cambria Math"/>
              </a:rPr>
              <a:t>→</a:t>
            </a:r>
            <a:r>
              <a:rPr altLang="en-IN" dirty="0" lang="en-IN" spc="125" sz="2400">
                <a:latin typeface="Cambria Math"/>
                <a:cs typeface="Cambria Math"/>
              </a:rPr>
              <a:t> </a:t>
            </a:r>
            <a:r>
              <a:rPr altLang="en-IN" dirty="0" lang="en-IN" spc="-60" sz="2400">
                <a:latin typeface="Cambria Math"/>
                <a:cs typeface="Cambria Math"/>
              </a:rPr>
              <a:t>𝑏</a:t>
            </a:r>
            <a:endParaRPr altLang="en-IN" dirty="0" lang="en-IN" sz="2400">
              <a:latin typeface="Cambria Math"/>
              <a:cs typeface="Cambria Math"/>
            </a:endParaRPr>
          </a:p>
          <a:p>
            <a:pPr marL="12700"/>
            <a:r>
              <a:rPr altLang="en-IN" dirty="0" lang="en-IN" sz="2400">
                <a:latin typeface="Cambria Math"/>
                <a:cs typeface="Cambria Math"/>
              </a:rPr>
              <a:t>𝑥</a:t>
            </a:r>
            <a:r>
              <a:rPr altLang="en-IN" dirty="0" lang="en-IN" spc="185" sz="2400">
                <a:latin typeface="Cambria Math"/>
                <a:cs typeface="Cambria Math"/>
              </a:rPr>
              <a:t> </a:t>
            </a:r>
            <a:r>
              <a:rPr altLang="en-IN" dirty="0" lang="en-IN" sz="2400">
                <a:latin typeface="Cambria Math"/>
                <a:cs typeface="Cambria Math"/>
              </a:rPr>
              <a:t>=</a:t>
            </a:r>
            <a:r>
              <a:rPr altLang="en-IN" dirty="0" lang="en-IN" spc="111" sz="2400">
                <a:latin typeface="Cambria Math"/>
                <a:cs typeface="Cambria Math"/>
              </a:rPr>
              <a:t> </a:t>
            </a:r>
            <a:r>
              <a:rPr altLang="en-IN" dirty="0" lang="en-IN" sz="2400">
                <a:latin typeface="Cambria Math"/>
                <a:cs typeface="Cambria Math"/>
              </a:rPr>
              <a:t>𝑎𝑎𝑎𝑏𝑏</a:t>
            </a:r>
            <a:r>
              <a:rPr altLang="en-IN" dirty="0" lang="en-IN" spc="131" sz="2400">
                <a:latin typeface="Cambria Math"/>
                <a:cs typeface="Cambria Math"/>
              </a:rPr>
              <a:t> </a:t>
            </a:r>
            <a:r>
              <a:rPr altLang="en-IN" dirty="0" lang="en-IN" sz="2400">
                <a:latin typeface="Palatino Linotype"/>
                <a:cs typeface="Palatino Linotype"/>
              </a:rPr>
              <a:t>(</a:t>
            </a:r>
            <a:r>
              <a:rPr altLang="en-IN" dirty="0" lang="en-IN" sz="2400">
                <a:latin typeface="Cambria Math"/>
                <a:cs typeface="Cambria Math"/>
              </a:rPr>
              <a:t>𝑛</a:t>
            </a:r>
            <a:r>
              <a:rPr altLang="en-IN" dirty="0" lang="en-IN" spc="160" sz="2400">
                <a:latin typeface="Cambria Math"/>
                <a:cs typeface="Cambria Math"/>
              </a:rPr>
              <a:t> </a:t>
            </a:r>
            <a:r>
              <a:rPr altLang="en-IN" dirty="0" lang="en-IN" sz="2400">
                <a:latin typeface="Cambria Math"/>
                <a:cs typeface="Cambria Math"/>
              </a:rPr>
              <a:t>=</a:t>
            </a:r>
            <a:r>
              <a:rPr altLang="en-IN" dirty="0" lang="en-IN" spc="111" sz="2400">
                <a:latin typeface="Cambria Math"/>
                <a:cs typeface="Cambria Math"/>
              </a:rPr>
              <a:t> </a:t>
            </a:r>
            <a:r>
              <a:rPr altLang="en-IN" dirty="0" lang="en-IN" spc="-25" sz="2400">
                <a:latin typeface="Cambria Math"/>
                <a:cs typeface="Cambria Math"/>
              </a:rPr>
              <a:t>5</a:t>
            </a:r>
            <a:r>
              <a:rPr altLang="en-IN" dirty="0" lang="en-IN" spc="-25" sz="2400">
                <a:latin typeface="Palatino Linotype"/>
                <a:cs typeface="Palatino Linotype"/>
              </a:rPr>
              <a:t>)</a:t>
            </a:r>
            <a:endParaRPr altLang="en-IN" dirty="0" lang="en-IN" sz="2400">
              <a:latin typeface="Palatino Linotype"/>
              <a:cs typeface="Palatino Linotype"/>
            </a:endParaRPr>
          </a:p>
        </p:txBody>
      </p:sp>
    </p:spTree>
    <p:extLst>
      <p:ext uri="{BB962C8B-B14F-4D97-AF65-F5344CB8AC3E}">
        <p14:creationId xmlns:p14="http://schemas.microsoft.com/office/powerpoint/2010/main" val="39879342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199B761C-AF0B-C5E9-58FE-BAAF92D91246}"/>
              </a:ext>
            </a:extLst>
          </p:cNvPr>
          <p:cNvSpPr txBox="1"/>
          <p:nvPr/>
        </p:nvSpPr>
        <p:spPr>
          <a:xfrm>
            <a:off x="1295400" y="250648"/>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dirty="0"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dirty="0"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dirty="0" sz="2400">
              <a:latin typeface="Palatino Linotype"/>
              <a:cs typeface="Palatino Linotype"/>
            </a:endParaRPr>
          </a:p>
        </p:txBody>
      </p:sp>
      <p:sp>
        <p:nvSpPr>
          <p:cNvPr id="3" name="object 4">
            <a:extLst>
              <a:ext uri="{FF2B5EF4-FFF2-40B4-BE49-F238E27FC236}">
                <a16:creationId xmlns:a16="http://schemas.microsoft.com/office/drawing/2014/main" id="{87D6C7E8-CE95-470B-B5AF-D652076A428C}"/>
              </a:ext>
            </a:extLst>
          </p:cNvPr>
          <p:cNvSpPr txBox="1"/>
          <p:nvPr/>
        </p:nvSpPr>
        <p:spPr>
          <a:xfrm>
            <a:off x="2183587" y="293471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4" name="object 5">
            <a:extLst>
              <a:ext uri="{FF2B5EF4-FFF2-40B4-BE49-F238E27FC236}">
                <a16:creationId xmlns:a16="http://schemas.microsoft.com/office/drawing/2014/main" id="{B3D64A55-0AC2-B40D-576B-4AF4DEF193EE}"/>
              </a:ext>
            </a:extLst>
          </p:cNvPr>
          <p:cNvSpPr txBox="1"/>
          <p:nvPr/>
        </p:nvSpPr>
        <p:spPr>
          <a:xfrm>
            <a:off x="3306775" y="293471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5" name="object 6">
            <a:extLst>
              <a:ext uri="{FF2B5EF4-FFF2-40B4-BE49-F238E27FC236}">
                <a16:creationId xmlns:a16="http://schemas.microsoft.com/office/drawing/2014/main" id="{E1048367-88A6-19A2-38ED-B3B39FA4EC52}"/>
              </a:ext>
            </a:extLst>
          </p:cNvPr>
          <p:cNvSpPr txBox="1"/>
          <p:nvPr/>
        </p:nvSpPr>
        <p:spPr>
          <a:xfrm>
            <a:off x="4317442" y="2303929"/>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6" name="object 7">
            <a:extLst>
              <a:ext uri="{FF2B5EF4-FFF2-40B4-BE49-F238E27FC236}">
                <a16:creationId xmlns:a16="http://schemas.microsoft.com/office/drawing/2014/main" id="{C04A4CF0-DFBF-A2F1-A04D-5D15E232FF92}"/>
              </a:ext>
            </a:extLst>
          </p:cNvPr>
          <p:cNvSpPr txBox="1"/>
          <p:nvPr/>
        </p:nvSpPr>
        <p:spPr>
          <a:xfrm>
            <a:off x="5460443" y="2303929"/>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7" name="object 8">
            <a:extLst>
              <a:ext uri="{FF2B5EF4-FFF2-40B4-BE49-F238E27FC236}">
                <a16:creationId xmlns:a16="http://schemas.microsoft.com/office/drawing/2014/main" id="{74BF475D-C135-8C78-3706-558064E8377C}"/>
              </a:ext>
            </a:extLst>
          </p:cNvPr>
          <p:cNvSpPr txBox="1"/>
          <p:nvPr/>
        </p:nvSpPr>
        <p:spPr>
          <a:xfrm>
            <a:off x="6427038" y="2303929"/>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8" name="object 9">
            <a:extLst>
              <a:ext uri="{FF2B5EF4-FFF2-40B4-BE49-F238E27FC236}">
                <a16:creationId xmlns:a16="http://schemas.microsoft.com/office/drawing/2014/main" id="{53E978FB-5EEF-A4B4-162F-5214D4D12C91}"/>
              </a:ext>
            </a:extLst>
          </p:cNvPr>
          <p:cNvSpPr txBox="1"/>
          <p:nvPr/>
        </p:nvSpPr>
        <p:spPr>
          <a:xfrm>
            <a:off x="1316025" y="3189224"/>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sp>
        <p:nvSpPr>
          <p:cNvPr id="9" name="object 10">
            <a:extLst>
              <a:ext uri="{FF2B5EF4-FFF2-40B4-BE49-F238E27FC236}">
                <a16:creationId xmlns:a16="http://schemas.microsoft.com/office/drawing/2014/main" id="{0FDC43D0-36B5-BCB7-D115-763FB62D0C04}"/>
              </a:ext>
            </a:extLst>
          </p:cNvPr>
          <p:cNvSpPr txBox="1"/>
          <p:nvPr/>
        </p:nvSpPr>
        <p:spPr>
          <a:xfrm>
            <a:off x="1943304" y="3349499"/>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10" name="object 11">
            <a:extLst>
              <a:ext uri="{FF2B5EF4-FFF2-40B4-BE49-F238E27FC236}">
                <a16:creationId xmlns:a16="http://schemas.microsoft.com/office/drawing/2014/main" id="{F7CF9785-686F-D388-DE25-7B42E158A987}"/>
              </a:ext>
            </a:extLst>
          </p:cNvPr>
          <p:cNvSpPr txBox="1"/>
          <p:nvPr/>
        </p:nvSpPr>
        <p:spPr>
          <a:xfrm>
            <a:off x="3034489" y="3349499"/>
            <a:ext cx="1118871" cy="346249"/>
          </a:xfrm>
          <a:prstGeom prst="rect">
            <a:avLst/>
          </a:prstGeom>
          <a:ln w="12191">
            <a:solidFill>
              <a:srgbClr val="6B9F24"/>
            </a:solidFill>
          </a:ln>
        </p:spPr>
        <p:txBody>
          <a:bodyPr bIns="0" lIns="0" numCol="1" rIns="0" rtlCol="0" tIns="0" vert="horz" wrap="square">
            <a:spAutoFit/>
          </a:bodyPr>
          <a:lstStyle/>
          <a:p>
            <a:pPr marL="333366">
              <a:lnSpc>
                <a:spcPts val="2711"/>
              </a:lnSpc>
            </a:pPr>
            <a:r>
              <a:rPr dirty="0" spc="-51" sz="2500">
                <a:latin typeface="Cambria Math"/>
                <a:cs typeface="Cambria Math"/>
              </a:rPr>
              <a:t>A</a:t>
            </a:r>
            <a:endParaRPr sz="2500">
              <a:latin typeface="Cambria Math"/>
              <a:cs typeface="Cambria Math"/>
            </a:endParaRPr>
          </a:p>
        </p:txBody>
      </p:sp>
      <p:sp>
        <p:nvSpPr>
          <p:cNvPr id="11" name="object 12">
            <a:extLst>
              <a:ext uri="{FF2B5EF4-FFF2-40B4-BE49-F238E27FC236}">
                <a16:creationId xmlns:a16="http://schemas.microsoft.com/office/drawing/2014/main" id="{ECDB0FEE-73A1-2D3A-F601-F9F44CD4F335}"/>
              </a:ext>
            </a:extLst>
          </p:cNvPr>
          <p:cNvSpPr txBox="1"/>
          <p:nvPr/>
        </p:nvSpPr>
        <p:spPr>
          <a:xfrm>
            <a:off x="4153103" y="3349499"/>
            <a:ext cx="889000" cy="346249"/>
          </a:xfrm>
          <a:prstGeom prst="rect">
            <a:avLst/>
          </a:prstGeom>
          <a:ln w="12192">
            <a:solidFill>
              <a:srgbClr val="6B9F24"/>
            </a:solidFill>
          </a:ln>
        </p:spPr>
        <p:txBody>
          <a:bodyPr bIns="0" lIns="0" numCol="1" rIns="0" rtlCol="0" tIns="0" vert="horz" wrap="square">
            <a:spAutoFit/>
          </a:bodyPr>
          <a:lstStyle/>
          <a:p>
            <a:pPr marL="273044">
              <a:lnSpc>
                <a:spcPts val="2711"/>
              </a:lnSpc>
            </a:pPr>
            <a:r>
              <a:rPr dirty="0" spc="-51" sz="2500">
                <a:latin typeface="Cambria Math"/>
                <a:cs typeface="Cambria Math"/>
              </a:rPr>
              <a:t>A</a:t>
            </a:r>
            <a:endParaRPr sz="2500">
              <a:latin typeface="Cambria Math"/>
              <a:cs typeface="Cambria Math"/>
            </a:endParaRPr>
          </a:p>
        </p:txBody>
      </p:sp>
      <p:sp>
        <p:nvSpPr>
          <p:cNvPr id="12" name="object 13">
            <a:extLst>
              <a:ext uri="{FF2B5EF4-FFF2-40B4-BE49-F238E27FC236}">
                <a16:creationId xmlns:a16="http://schemas.microsoft.com/office/drawing/2014/main" id="{EC4FA95D-DA5D-A5C2-9231-1309725C746D}"/>
              </a:ext>
            </a:extLst>
          </p:cNvPr>
          <p:cNvSpPr txBox="1"/>
          <p:nvPr/>
        </p:nvSpPr>
        <p:spPr>
          <a:xfrm>
            <a:off x="5041597" y="3349499"/>
            <a:ext cx="1104900" cy="346249"/>
          </a:xfrm>
          <a:prstGeom prst="rect">
            <a:avLst/>
          </a:prstGeom>
          <a:ln w="12192">
            <a:solidFill>
              <a:srgbClr val="6B9F24"/>
            </a:solidFill>
          </a:ln>
        </p:spPr>
        <p:txBody>
          <a:bodyPr bIns="0" lIns="0" numCol="1" rIns="0" rtlCol="0" tIns="0" vert="horz" wrap="square">
            <a:spAutoFit/>
          </a:bodyPr>
          <a:lstStyle/>
          <a:p>
            <a:pPr algn="ctr" marR="175256">
              <a:lnSpc>
                <a:spcPts val="2711"/>
              </a:lnSpc>
            </a:pPr>
            <a:r>
              <a:rPr dirty="0" spc="-51" sz="2500">
                <a:latin typeface="Cambria Math"/>
                <a:cs typeface="Cambria Math"/>
              </a:rPr>
              <a:t>C</a:t>
            </a:r>
            <a:endParaRPr sz="2500">
              <a:latin typeface="Cambria Math"/>
              <a:cs typeface="Cambria Math"/>
            </a:endParaRPr>
          </a:p>
        </p:txBody>
      </p:sp>
      <p:sp>
        <p:nvSpPr>
          <p:cNvPr id="13" name="object 14">
            <a:extLst>
              <a:ext uri="{FF2B5EF4-FFF2-40B4-BE49-F238E27FC236}">
                <a16:creationId xmlns:a16="http://schemas.microsoft.com/office/drawing/2014/main" id="{0D2A96B8-CBD6-C6A4-CF28-02667228712F}"/>
              </a:ext>
            </a:extLst>
          </p:cNvPr>
          <p:cNvSpPr txBox="1"/>
          <p:nvPr/>
        </p:nvSpPr>
        <p:spPr>
          <a:xfrm>
            <a:off x="6146497" y="3349499"/>
            <a:ext cx="800100" cy="346249"/>
          </a:xfrm>
          <a:prstGeom prst="rect">
            <a:avLst/>
          </a:prstGeom>
          <a:ln w="12192">
            <a:solidFill>
              <a:srgbClr val="6B9F24"/>
            </a:solidFill>
          </a:ln>
        </p:spPr>
        <p:txBody>
          <a:bodyPr bIns="0" lIns="0" numCol="1" rIns="0" rtlCol="0" tIns="0" vert="horz" wrap="square">
            <a:spAutoFit/>
          </a:bodyPr>
          <a:lstStyle/>
          <a:p>
            <a:pPr marL="240659">
              <a:lnSpc>
                <a:spcPts val="2711"/>
              </a:lnSpc>
            </a:pPr>
            <a:r>
              <a:rPr dirty="0" spc="-51" sz="2500">
                <a:latin typeface="Cambria Math"/>
                <a:cs typeface="Cambria Math"/>
              </a:rPr>
              <a:t>C</a:t>
            </a:r>
            <a:endParaRPr sz="2500">
              <a:latin typeface="Cambria Math"/>
              <a:cs typeface="Cambria Math"/>
            </a:endParaRPr>
          </a:p>
        </p:txBody>
      </p:sp>
      <p:sp>
        <p:nvSpPr>
          <p:cNvPr id="14" name="object 15">
            <a:extLst>
              <a:ext uri="{FF2B5EF4-FFF2-40B4-BE49-F238E27FC236}">
                <a16:creationId xmlns:a16="http://schemas.microsoft.com/office/drawing/2014/main" id="{7D27370B-43BD-22A6-0655-B82A117B3BCF}"/>
              </a:ext>
            </a:extLst>
          </p:cNvPr>
          <p:cNvSpPr txBox="1"/>
          <p:nvPr/>
        </p:nvSpPr>
        <p:spPr>
          <a:xfrm>
            <a:off x="1282498" y="3314911"/>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5" name="object 16">
            <a:extLst>
              <a:ext uri="{FF2B5EF4-FFF2-40B4-BE49-F238E27FC236}">
                <a16:creationId xmlns:a16="http://schemas.microsoft.com/office/drawing/2014/main" id="{3C6D81D2-BFFE-A990-30E4-7196BE6CEECD}"/>
              </a:ext>
            </a:extLst>
          </p:cNvPr>
          <p:cNvSpPr txBox="1"/>
          <p:nvPr/>
        </p:nvSpPr>
        <p:spPr>
          <a:xfrm>
            <a:off x="1943304" y="3706114"/>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16" name="object 17">
            <a:extLst>
              <a:ext uri="{FF2B5EF4-FFF2-40B4-BE49-F238E27FC236}">
                <a16:creationId xmlns:a16="http://schemas.microsoft.com/office/drawing/2014/main" id="{4EBE5F08-04E0-FE02-E890-64A1AD7E8A28}"/>
              </a:ext>
            </a:extLst>
          </p:cNvPr>
          <p:cNvSpPr txBox="1"/>
          <p:nvPr/>
        </p:nvSpPr>
        <p:spPr>
          <a:xfrm>
            <a:off x="3034489" y="3706114"/>
            <a:ext cx="1118871" cy="346249"/>
          </a:xfrm>
          <a:prstGeom prst="rect">
            <a:avLst/>
          </a:prstGeom>
          <a:ln w="12191">
            <a:solidFill>
              <a:srgbClr val="6B9F24"/>
            </a:solidFill>
          </a:ln>
        </p:spPr>
        <p:txBody>
          <a:bodyPr bIns="0" lIns="0" numCol="1" rIns="0" rtlCol="0" tIns="0" vert="horz" wrap="square">
            <a:spAutoFit/>
          </a:bodyPr>
          <a:lstStyle/>
          <a:p>
            <a:pPr marL="333366">
              <a:lnSpc>
                <a:spcPts val="2711"/>
              </a:lnSpc>
            </a:pPr>
            <a:r>
              <a:rPr dirty="0" spc="-51" sz="2500">
                <a:latin typeface="Cambria Math"/>
                <a:cs typeface="Cambria Math"/>
              </a:rPr>
              <a:t>A</a:t>
            </a:r>
            <a:endParaRPr sz="2500">
              <a:latin typeface="Cambria Math"/>
              <a:cs typeface="Cambria Math"/>
            </a:endParaRPr>
          </a:p>
        </p:txBody>
      </p:sp>
      <p:sp>
        <p:nvSpPr>
          <p:cNvPr id="17" name="object 18">
            <a:extLst>
              <a:ext uri="{FF2B5EF4-FFF2-40B4-BE49-F238E27FC236}">
                <a16:creationId xmlns:a16="http://schemas.microsoft.com/office/drawing/2014/main" id="{0C2C9597-E02E-C19A-431E-FF43F6265F4F}"/>
              </a:ext>
            </a:extLst>
          </p:cNvPr>
          <p:cNvSpPr txBox="1"/>
          <p:nvPr/>
        </p:nvSpPr>
        <p:spPr>
          <a:xfrm>
            <a:off x="4153103" y="3706114"/>
            <a:ext cx="889000" cy="346249"/>
          </a:xfrm>
          <a:prstGeom prst="rect">
            <a:avLst/>
          </a:prstGeom>
          <a:ln w="12192">
            <a:solidFill>
              <a:srgbClr val="6B9F24"/>
            </a:solidFill>
          </a:ln>
        </p:spPr>
        <p:txBody>
          <a:bodyPr bIns="0" lIns="0" numCol="1" rIns="0" rtlCol="0" tIns="0" vert="horz" wrap="square">
            <a:spAutoFit/>
          </a:bodyPr>
          <a:lstStyle/>
          <a:p>
            <a:pPr marL="273044">
              <a:lnSpc>
                <a:spcPts val="2711"/>
              </a:lnSpc>
            </a:pPr>
            <a:r>
              <a:rPr dirty="0" spc="-51" sz="2400">
                <a:latin typeface="Cambria Math"/>
                <a:cs typeface="Cambria Math"/>
              </a:rPr>
              <a:t>∅</a:t>
            </a:r>
            <a:endParaRPr sz="2400">
              <a:latin typeface="Cambria Math"/>
              <a:cs typeface="Cambria Math"/>
            </a:endParaRPr>
          </a:p>
        </p:txBody>
      </p:sp>
      <p:sp>
        <p:nvSpPr>
          <p:cNvPr id="18" name="object 19">
            <a:extLst>
              <a:ext uri="{FF2B5EF4-FFF2-40B4-BE49-F238E27FC236}">
                <a16:creationId xmlns:a16="http://schemas.microsoft.com/office/drawing/2014/main" id="{58125BE2-FF17-E1EF-06F3-6F30C3C0D004}"/>
              </a:ext>
            </a:extLst>
          </p:cNvPr>
          <p:cNvSpPr txBox="1"/>
          <p:nvPr/>
        </p:nvSpPr>
        <p:spPr>
          <a:xfrm>
            <a:off x="5041597" y="3706114"/>
            <a:ext cx="1104900" cy="346249"/>
          </a:xfrm>
          <a:prstGeom prst="rect">
            <a:avLst/>
          </a:prstGeom>
          <a:ln w="12192">
            <a:solidFill>
              <a:srgbClr val="6B9F24"/>
            </a:solidFill>
          </a:ln>
        </p:spPr>
        <p:txBody>
          <a:bodyPr bIns="0" lIns="0" numCol="1" rIns="0" rtlCol="0" tIns="0" vert="horz" wrap="square">
            <a:spAutoFit/>
          </a:bodyPr>
          <a:lstStyle/>
          <a:p>
            <a:pPr algn="ctr" marR="156841">
              <a:lnSpc>
                <a:spcPts val="2711"/>
              </a:lnSpc>
            </a:pPr>
            <a:r>
              <a:rPr dirty="0" spc="-51" sz="2500">
                <a:latin typeface="Cambria Math"/>
                <a:cs typeface="Cambria Math"/>
              </a:rPr>
              <a:t>B</a:t>
            </a:r>
            <a:endParaRPr sz="2500">
              <a:latin typeface="Cambria Math"/>
              <a:cs typeface="Cambria Math"/>
            </a:endParaRPr>
          </a:p>
        </p:txBody>
      </p:sp>
      <p:sp>
        <p:nvSpPr>
          <p:cNvPr id="19" name="object 21">
            <a:extLst>
              <a:ext uri="{FF2B5EF4-FFF2-40B4-BE49-F238E27FC236}">
                <a16:creationId xmlns:a16="http://schemas.microsoft.com/office/drawing/2014/main" id="{1F0DD49B-92F9-DD0B-FB55-21B2D755D8F6}"/>
              </a:ext>
            </a:extLst>
          </p:cNvPr>
          <p:cNvSpPr/>
          <p:nvPr/>
        </p:nvSpPr>
        <p:spPr>
          <a:xfrm>
            <a:off x="1934159" y="3349499"/>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Lst>
          </a:custGeom>
          <a:ln w="12192">
            <a:solidFill>
              <a:srgbClr val="6B9F24"/>
            </a:solidFill>
          </a:ln>
        </p:spPr>
        <p:txBody>
          <a:bodyPr bIns="0" lIns="0" numCol="1" rIns="0" rtlCol="0" tIns="0" wrap="square"/>
          <a:lstStyle/>
          <a:p>
            <a:endParaRPr/>
          </a:p>
        </p:txBody>
      </p:sp>
      <p:sp>
        <p:nvSpPr>
          <p:cNvPr id="20" name="object 24">
            <a:extLst>
              <a:ext uri="{FF2B5EF4-FFF2-40B4-BE49-F238E27FC236}">
                <a16:creationId xmlns:a16="http://schemas.microsoft.com/office/drawing/2014/main" id="{DFC3D6C1-1274-F797-10C6-6DB08C190D1F}"/>
              </a:ext>
            </a:extLst>
          </p:cNvPr>
          <p:cNvSpPr txBox="1"/>
          <p:nvPr/>
        </p:nvSpPr>
        <p:spPr>
          <a:xfrm>
            <a:off x="2386915" y="2718690"/>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21" name="object 25">
            <a:extLst>
              <a:ext uri="{FF2B5EF4-FFF2-40B4-BE49-F238E27FC236}">
                <a16:creationId xmlns:a16="http://schemas.microsoft.com/office/drawing/2014/main" id="{9F826AAF-52A2-59B5-3E71-4ADC546FF985}"/>
              </a:ext>
            </a:extLst>
          </p:cNvPr>
          <p:cNvSpPr txBox="1"/>
          <p:nvPr/>
        </p:nvSpPr>
        <p:spPr>
          <a:xfrm>
            <a:off x="2031188" y="2451987"/>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22" name="object 26">
            <a:extLst>
              <a:ext uri="{FF2B5EF4-FFF2-40B4-BE49-F238E27FC236}">
                <a16:creationId xmlns:a16="http://schemas.microsoft.com/office/drawing/2014/main" id="{A15F80CE-91D8-0F7F-EC5C-157E05B7B7BE}"/>
              </a:ext>
            </a:extLst>
          </p:cNvPr>
          <p:cNvSpPr txBox="1"/>
          <p:nvPr/>
        </p:nvSpPr>
        <p:spPr>
          <a:xfrm>
            <a:off x="6705600" y="4191000"/>
            <a:ext cx="4572000" cy="1133644"/>
          </a:xfrm>
          <a:prstGeom prst="rect">
            <a:avLst/>
          </a:prstGeom>
        </p:spPr>
        <p:txBody>
          <a:bodyPr bIns="0" lIns="0" numCol="1" rIns="0" rtlCol="0" tIns="12700" vert="horz" wrap="square">
            <a:spAutoFit/>
          </a:bodyPr>
          <a:lstStyle/>
          <a:p>
            <a:pPr indent="-201290" marL="213355" marR="5080">
              <a:spcBef>
                <a:spcPts val="100"/>
              </a:spcBef>
            </a:pPr>
            <a:r>
              <a:rPr dirty="0" i="1" sz="2400">
                <a:latin charset="0" panose="02020603050405020304" pitchFamily="18" typeface="Times New Roman"/>
                <a:cs charset="0" panose="02020603050405020304" pitchFamily="18" typeface="Times New Roman"/>
              </a:rPr>
              <a:t>Say</a:t>
            </a:r>
            <a:r>
              <a:rPr dirty="0" i="1" spc="-35" sz="2400">
                <a:latin charset="0" panose="02020603050405020304" pitchFamily="18" typeface="Times New Roman"/>
                <a:cs charset="0" panose="02020603050405020304" pitchFamily="18" typeface="Times New Roman"/>
              </a:rPr>
              <a:t> </a:t>
            </a:r>
            <a:r>
              <a:rPr dirty="0" i="1" sz="2400">
                <a:latin charset="0" panose="02020603050405020304" pitchFamily="18" typeface="Times New Roman"/>
                <a:cs charset="0" panose="02020603050405020304" pitchFamily="18" typeface="Times New Roman"/>
              </a:rPr>
              <a:t>we</a:t>
            </a:r>
            <a:r>
              <a:rPr dirty="0" i="1" spc="-35" sz="2400">
                <a:latin charset="0" panose="02020603050405020304" pitchFamily="18" typeface="Times New Roman"/>
                <a:cs charset="0" panose="02020603050405020304" pitchFamily="18" typeface="Times New Roman"/>
              </a:rPr>
              <a:t> </a:t>
            </a:r>
            <a:r>
              <a:rPr dirty="0" i="1" sz="2400">
                <a:latin charset="0" panose="02020603050405020304" pitchFamily="18" typeface="Times New Roman"/>
                <a:cs charset="0" panose="02020603050405020304" pitchFamily="18" typeface="Times New Roman"/>
              </a:rPr>
              <a:t>want</a:t>
            </a:r>
            <a:r>
              <a:rPr dirty="0" i="1" spc="-31" sz="2400">
                <a:latin charset="0" panose="02020603050405020304" pitchFamily="18" typeface="Times New Roman"/>
                <a:cs charset="0" panose="02020603050405020304" pitchFamily="18" typeface="Times New Roman"/>
              </a:rPr>
              <a:t> </a:t>
            </a:r>
            <a:r>
              <a:rPr dirty="0" i="1" sz="2400">
                <a:latin charset="0" panose="02020603050405020304" pitchFamily="18" typeface="Times New Roman"/>
                <a:cs charset="0" panose="02020603050405020304" pitchFamily="18" typeface="Times New Roman"/>
              </a:rPr>
              <a:t>to</a:t>
            </a:r>
            <a:r>
              <a:rPr dirty="0" i="1" spc="-31" sz="2400">
                <a:latin charset="0" panose="02020603050405020304" pitchFamily="18" typeface="Times New Roman"/>
                <a:cs charset="0" panose="02020603050405020304" pitchFamily="18" typeface="Times New Roman"/>
              </a:rPr>
              <a:t> </a:t>
            </a:r>
            <a:r>
              <a:rPr dirty="0" i="1" spc="-20" sz="2400">
                <a:latin charset="0" panose="02020603050405020304" pitchFamily="18" typeface="Times New Roman"/>
                <a:cs charset="0" panose="02020603050405020304" pitchFamily="18" typeface="Times New Roman"/>
              </a:rPr>
              <a:t>fill </a:t>
            </a:r>
            <a:r>
              <a:rPr dirty="0" i="1" sz="2400">
                <a:latin charset="0" panose="02020603050405020304" pitchFamily="18" typeface="Times New Roman"/>
                <a:cs charset="0" panose="02020603050405020304" pitchFamily="18" typeface="Times New Roman"/>
              </a:rPr>
              <a:t>in</a:t>
            </a:r>
            <a:r>
              <a:rPr dirty="0" i="1" spc="-35" sz="2400">
                <a:latin charset="0" panose="02020603050405020304" pitchFamily="18" typeface="Times New Roman"/>
                <a:cs charset="0" panose="02020603050405020304" pitchFamily="18" typeface="Times New Roman"/>
              </a:rPr>
              <a:t> </a:t>
            </a:r>
            <a:r>
              <a:rPr dirty="0" i="1" sz="2400">
                <a:latin charset="0" panose="02020603050405020304" pitchFamily="18" typeface="Times New Roman"/>
                <a:cs charset="0" panose="02020603050405020304" pitchFamily="18" typeface="Times New Roman"/>
              </a:rPr>
              <a:t>this</a:t>
            </a:r>
            <a:r>
              <a:rPr dirty="0" i="1" spc="-25" sz="2400">
                <a:latin charset="0" panose="02020603050405020304" pitchFamily="18" typeface="Times New Roman"/>
                <a:cs charset="0" panose="02020603050405020304" pitchFamily="18" typeface="Times New Roman"/>
              </a:rPr>
              <a:t> </a:t>
            </a:r>
            <a:r>
              <a:rPr dirty="0" i="1" sz="2400">
                <a:latin charset="0" panose="02020603050405020304" pitchFamily="18" typeface="Times New Roman"/>
                <a:cs charset="0" panose="02020603050405020304" pitchFamily="18" typeface="Times New Roman"/>
              </a:rPr>
              <a:t>cell</a:t>
            </a:r>
            <a:r>
              <a:rPr dirty="0" i="1" spc="-31" sz="2400">
                <a:latin charset="0" panose="02020603050405020304" pitchFamily="18" typeface="Times New Roman"/>
                <a:cs charset="0" panose="02020603050405020304" pitchFamily="18" typeface="Times New Roman"/>
              </a:rPr>
              <a:t> </a:t>
            </a:r>
            <a:r>
              <a:rPr dirty="0" i="1" spc="-20" sz="2400">
                <a:latin charset="0" panose="02020603050405020304" pitchFamily="18" typeface="Times New Roman"/>
                <a:cs charset="0" panose="02020603050405020304" pitchFamily="18" typeface="Times New Roman"/>
              </a:rPr>
              <a:t>next.</a:t>
            </a:r>
            <a:endParaRPr altLang="en-IN" dirty="0" i="1" lang="en-IN" spc="-20" sz="2400">
              <a:latin charset="0" panose="02020603050405020304" pitchFamily="18" typeface="Times New Roman"/>
              <a:cs charset="0" panose="02020603050405020304" pitchFamily="18" typeface="Times New Roman"/>
            </a:endParaRPr>
          </a:p>
          <a:p>
            <a:pPr indent="12700" marR="5080">
              <a:spcBef>
                <a:spcPts val="100"/>
              </a:spcBef>
            </a:pPr>
            <a:r>
              <a:rPr altLang="en-IN" dirty="0" i="1" lang="en-IN" spc="-20" sz="2400">
                <a:latin charset="0" panose="02020603050405020304" pitchFamily="18" typeface="Times New Roman"/>
                <a:cs charset="0" panose="02020603050405020304" pitchFamily="18" typeface="Times New Roman"/>
              </a:rPr>
              <a:t>Substring with length 3 starting from 1</a:t>
            </a:r>
            <a:r>
              <a:rPr altLang="en-IN" baseline="30000" dirty="0" i="1" lang="en-IN" spc="-20" sz="2400">
                <a:latin charset="0" panose="02020603050405020304" pitchFamily="18" typeface="Times New Roman"/>
                <a:cs charset="0" panose="02020603050405020304" pitchFamily="18" typeface="Times New Roman"/>
              </a:rPr>
              <a:t>st </a:t>
            </a:r>
            <a:r>
              <a:rPr altLang="en-IN" dirty="0" i="1" lang="en-IN" spc="-20" sz="2400">
                <a:latin charset="0" panose="02020603050405020304" pitchFamily="18" typeface="Times New Roman"/>
                <a:cs charset="0" panose="02020603050405020304" pitchFamily="18" typeface="Times New Roman"/>
              </a:rPr>
              <a:t>position - </a:t>
            </a:r>
            <a:r>
              <a:rPr altLang="en-IN" dirty="0" err="1" i="1" lang="en-IN" spc="-20" sz="2400">
                <a:latin charset="0" panose="02020603050405020304" pitchFamily="18" typeface="Times New Roman"/>
                <a:cs charset="0" panose="02020603050405020304" pitchFamily="18" typeface="Times New Roman"/>
              </a:rPr>
              <a:t>aaa</a:t>
            </a:r>
            <a:endParaRPr dirty="0" i="1" sz="2400">
              <a:latin charset="0" panose="02020603050405020304" pitchFamily="18" typeface="Times New Roman"/>
              <a:cs charset="0" panose="02020603050405020304" pitchFamily="18" typeface="Times New Roman"/>
            </a:endParaRPr>
          </a:p>
        </p:txBody>
      </p:sp>
      <p:sp>
        <p:nvSpPr>
          <p:cNvPr id="23" name="object 27">
            <a:extLst>
              <a:ext uri="{FF2B5EF4-FFF2-40B4-BE49-F238E27FC236}">
                <a16:creationId xmlns:a16="http://schemas.microsoft.com/office/drawing/2014/main" id="{BDB29C6C-55C9-8851-CA8D-0F06691E0430}"/>
              </a:ext>
            </a:extLst>
          </p:cNvPr>
          <p:cNvSpPr/>
          <p:nvPr/>
        </p:nvSpPr>
        <p:spPr>
          <a:xfrm>
            <a:off x="2497279" y="4216400"/>
            <a:ext cx="4105275" cy="837565"/>
          </a:xfrm>
          <a:custGeom>
            <a:avLst/>
            <a:gdLst/>
            <a:ahLst/>
            <a:cxnLst/>
            <a:rect b="b" l="l" r="r" t="t"/>
            <a:pathLst>
              <a:path h="837564" w="4105275">
                <a:moveTo>
                  <a:pt x="115875" y="37374"/>
                </a:moveTo>
                <a:lnTo>
                  <a:pt x="108669" y="74845"/>
                </a:lnTo>
                <a:lnTo>
                  <a:pt x="4082923" y="837539"/>
                </a:lnTo>
                <a:lnTo>
                  <a:pt x="4090350" y="837539"/>
                </a:lnTo>
                <a:lnTo>
                  <a:pt x="4097242" y="834596"/>
                </a:lnTo>
                <a:lnTo>
                  <a:pt x="4102389" y="829417"/>
                </a:lnTo>
                <a:lnTo>
                  <a:pt x="4105275" y="822413"/>
                </a:lnTo>
                <a:lnTo>
                  <a:pt x="4105163" y="814854"/>
                </a:lnTo>
                <a:lnTo>
                  <a:pt x="4102290" y="808140"/>
                </a:lnTo>
                <a:lnTo>
                  <a:pt x="4097131" y="802991"/>
                </a:lnTo>
                <a:lnTo>
                  <a:pt x="4090162" y="800125"/>
                </a:lnTo>
                <a:lnTo>
                  <a:pt x="115875" y="37374"/>
                </a:lnTo>
                <a:close/>
              </a:path>
              <a:path h="837564" w="4105275">
                <a:moveTo>
                  <a:pt x="123062" y="0"/>
                </a:moveTo>
                <a:lnTo>
                  <a:pt x="0" y="34543"/>
                </a:lnTo>
                <a:lnTo>
                  <a:pt x="101473" y="112267"/>
                </a:lnTo>
                <a:lnTo>
                  <a:pt x="108669" y="74845"/>
                </a:lnTo>
                <a:lnTo>
                  <a:pt x="89915" y="71246"/>
                </a:lnTo>
                <a:lnTo>
                  <a:pt x="82946" y="68343"/>
                </a:lnTo>
                <a:lnTo>
                  <a:pt x="77787" y="63166"/>
                </a:lnTo>
                <a:lnTo>
                  <a:pt x="74914" y="56441"/>
                </a:lnTo>
                <a:lnTo>
                  <a:pt x="74803" y="48894"/>
                </a:lnTo>
                <a:lnTo>
                  <a:pt x="77706" y="41908"/>
                </a:lnTo>
                <a:lnTo>
                  <a:pt x="82883" y="36718"/>
                </a:lnTo>
                <a:lnTo>
                  <a:pt x="89608" y="33839"/>
                </a:lnTo>
                <a:lnTo>
                  <a:pt x="116555" y="33839"/>
                </a:lnTo>
                <a:lnTo>
                  <a:pt x="123062" y="0"/>
                </a:lnTo>
                <a:close/>
              </a:path>
              <a:path h="837564" w="4105275">
                <a:moveTo>
                  <a:pt x="97454" y="33839"/>
                </a:moveTo>
                <a:lnTo>
                  <a:pt x="89608" y="33839"/>
                </a:lnTo>
                <a:lnTo>
                  <a:pt x="82883" y="36718"/>
                </a:lnTo>
                <a:lnTo>
                  <a:pt x="77706" y="41908"/>
                </a:lnTo>
                <a:lnTo>
                  <a:pt x="74803" y="48894"/>
                </a:lnTo>
                <a:lnTo>
                  <a:pt x="74914" y="56441"/>
                </a:lnTo>
                <a:lnTo>
                  <a:pt x="77787" y="63166"/>
                </a:lnTo>
                <a:lnTo>
                  <a:pt x="82946" y="68343"/>
                </a:lnTo>
                <a:lnTo>
                  <a:pt x="89915" y="71246"/>
                </a:lnTo>
                <a:lnTo>
                  <a:pt x="108669" y="74845"/>
                </a:lnTo>
                <a:lnTo>
                  <a:pt x="115875" y="37374"/>
                </a:lnTo>
                <a:lnTo>
                  <a:pt x="97454" y="33839"/>
                </a:lnTo>
                <a:close/>
              </a:path>
              <a:path h="837564" w="4105275">
                <a:moveTo>
                  <a:pt x="116555" y="33839"/>
                </a:moveTo>
                <a:lnTo>
                  <a:pt x="97454" y="33839"/>
                </a:lnTo>
                <a:lnTo>
                  <a:pt x="115875" y="37374"/>
                </a:lnTo>
                <a:lnTo>
                  <a:pt x="116555" y="33839"/>
                </a:lnTo>
                <a:close/>
              </a:path>
            </a:pathLst>
          </a:custGeom>
          <a:solidFill>
            <a:srgbClr val="3493B9"/>
          </a:solidFill>
        </p:spPr>
        <p:txBody>
          <a:bodyPr bIns="0" lIns="0" numCol="1" rIns="0" rtlCol="0" tIns="0" wrap="square"/>
          <a:lstStyle/>
          <a:p>
            <a:endParaRPr/>
          </a:p>
        </p:txBody>
      </p:sp>
      <p:sp>
        <p:nvSpPr>
          <p:cNvPr id="24" name="TextBox 23">
            <a:extLst>
              <a:ext uri="{FF2B5EF4-FFF2-40B4-BE49-F238E27FC236}">
                <a16:creationId xmlns:a16="http://schemas.microsoft.com/office/drawing/2014/main" id="{F8DE6166-5671-DBC6-6B5B-763426115FAF}"/>
              </a:ext>
            </a:extLst>
          </p:cNvPr>
          <p:cNvSpPr txBox="1"/>
          <p:nvPr/>
        </p:nvSpPr>
        <p:spPr>
          <a:xfrm>
            <a:off x="5181600" y="5574617"/>
            <a:ext cx="6248400" cy="461665"/>
          </a:xfrm>
          <a:prstGeom prst="rect">
            <a:avLst/>
          </a:prstGeom>
          <a:noFill/>
        </p:spPr>
        <p:txBody>
          <a:bodyPr numCol="1" rtlCol="0" wrap="square">
            <a:spAutoFit/>
          </a:bodyPr>
          <a:lstStyle/>
          <a:p>
            <a:r>
              <a:rPr altLang="en-IN" dirty="0" lang="en-IN" sz="2400">
                <a:latin charset="0" panose="02020603050405020304" pitchFamily="18" typeface="Times New Roman"/>
                <a:cs charset="0" panose="02020603050405020304" pitchFamily="18" typeface="Times New Roman"/>
              </a:rPr>
              <a:t>It may be generated as either [ </a:t>
            </a:r>
            <a:r>
              <a:rPr altLang="en-IN" dirty="0" lang="en-IN" sz="2400" u="sng">
                <a:latin charset="0" panose="02020603050405020304" pitchFamily="18" typeface="Times New Roman"/>
                <a:cs charset="0" panose="02020603050405020304" pitchFamily="18" typeface="Times New Roman"/>
              </a:rPr>
              <a:t>a</a:t>
            </a:r>
            <a:r>
              <a:rPr altLang="en-IN" dirty="0" lang="en-IN" sz="2400">
                <a:latin charset="0" panose="02020603050405020304" pitchFamily="18" typeface="Times New Roman"/>
                <a:cs charset="0" panose="02020603050405020304" pitchFamily="18" typeface="Times New Roman"/>
              </a:rPr>
              <a:t>  </a:t>
            </a:r>
            <a:r>
              <a:rPr altLang="en-IN" dirty="0" lang="en-IN" sz="2400" u="sng">
                <a:latin charset="0" panose="02020603050405020304" pitchFamily="18" typeface="Times New Roman"/>
                <a:cs charset="0" panose="02020603050405020304" pitchFamily="18" typeface="Times New Roman"/>
              </a:rPr>
              <a:t>aa</a:t>
            </a:r>
            <a:r>
              <a:rPr altLang="en-IN" dirty="0" lang="en-IN" sz="2400">
                <a:latin charset="0" panose="02020603050405020304" pitchFamily="18" typeface="Times New Roman"/>
                <a:cs charset="0" panose="02020603050405020304" pitchFamily="18" typeface="Times New Roman"/>
              </a:rPr>
              <a:t> ] or [ </a:t>
            </a:r>
            <a:r>
              <a:rPr altLang="en-IN" dirty="0" lang="en-IN" sz="2400" u="sng">
                <a:latin charset="0" panose="02020603050405020304" pitchFamily="18" typeface="Times New Roman"/>
                <a:cs charset="0" panose="02020603050405020304" pitchFamily="18" typeface="Times New Roman"/>
              </a:rPr>
              <a:t>aa</a:t>
            </a:r>
            <a:r>
              <a:rPr altLang="en-IN" dirty="0" lang="en-IN" sz="2400">
                <a:latin charset="0" panose="02020603050405020304" pitchFamily="18" typeface="Times New Roman"/>
                <a:cs charset="0" panose="02020603050405020304" pitchFamily="18" typeface="Times New Roman"/>
              </a:rPr>
              <a:t>   </a:t>
            </a:r>
            <a:r>
              <a:rPr altLang="en-IN" dirty="0" lang="en-IN" sz="2400" u="sng">
                <a:latin charset="0" panose="02020603050405020304" pitchFamily="18" typeface="Times New Roman"/>
                <a:cs charset="0" panose="02020603050405020304" pitchFamily="18" typeface="Times New Roman"/>
              </a:rPr>
              <a:t>a</a:t>
            </a:r>
            <a:r>
              <a:rPr altLang="en-IN" dirty="0" lang="en-IN" sz="2400">
                <a:latin charset="0" panose="02020603050405020304" pitchFamily="18" typeface="Times New Roman"/>
                <a:cs charset="0" panose="02020603050405020304" pitchFamily="18" typeface="Times New Roman"/>
              </a:rPr>
              <a:t>]</a:t>
            </a:r>
          </a:p>
        </p:txBody>
      </p:sp>
    </p:spTree>
    <p:extLst>
      <p:ext uri="{BB962C8B-B14F-4D97-AF65-F5344CB8AC3E}">
        <p14:creationId xmlns:p14="http://schemas.microsoft.com/office/powerpoint/2010/main" val="26155836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75E1C280-6510-31CC-D2EC-4D34102A6A42}"/>
              </a:ext>
            </a:extLst>
          </p:cNvPr>
          <p:cNvSpPr txBox="1"/>
          <p:nvPr/>
        </p:nvSpPr>
        <p:spPr>
          <a:xfrm>
            <a:off x="1307644" y="777495"/>
            <a:ext cx="101282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p:txBody>
      </p:sp>
      <p:sp>
        <p:nvSpPr>
          <p:cNvPr id="3" name="object 4">
            <a:extLst>
              <a:ext uri="{FF2B5EF4-FFF2-40B4-BE49-F238E27FC236}">
                <a16:creationId xmlns:a16="http://schemas.microsoft.com/office/drawing/2014/main" id="{01DB5BAB-244A-2E10-D5F0-C192B9674F0F}"/>
              </a:ext>
            </a:extLst>
          </p:cNvPr>
          <p:cNvSpPr txBox="1"/>
          <p:nvPr/>
        </p:nvSpPr>
        <p:spPr>
          <a:xfrm>
            <a:off x="1231443" y="1143940"/>
            <a:ext cx="2463165" cy="1490152"/>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4" name="object 5">
            <a:extLst>
              <a:ext uri="{FF2B5EF4-FFF2-40B4-BE49-F238E27FC236}">
                <a16:creationId xmlns:a16="http://schemas.microsoft.com/office/drawing/2014/main" id="{0D99CBB8-332C-0746-6343-A5892EF9DF7E}"/>
              </a:ext>
            </a:extLst>
          </p:cNvPr>
          <p:cNvSpPr txBox="1"/>
          <p:nvPr/>
        </p:nvSpPr>
        <p:spPr>
          <a:xfrm>
            <a:off x="2119630" y="3461564"/>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5" name="object 6">
            <a:extLst>
              <a:ext uri="{FF2B5EF4-FFF2-40B4-BE49-F238E27FC236}">
                <a16:creationId xmlns:a16="http://schemas.microsoft.com/office/drawing/2014/main" id="{7BF9DDC2-4F46-A551-F9C2-40B4AAF23463}"/>
              </a:ext>
            </a:extLst>
          </p:cNvPr>
          <p:cNvSpPr txBox="1"/>
          <p:nvPr/>
        </p:nvSpPr>
        <p:spPr>
          <a:xfrm>
            <a:off x="3242818" y="3461564"/>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6" name="object 7">
            <a:extLst>
              <a:ext uri="{FF2B5EF4-FFF2-40B4-BE49-F238E27FC236}">
                <a16:creationId xmlns:a16="http://schemas.microsoft.com/office/drawing/2014/main" id="{26CBBED0-FDB9-A126-3BE2-A57E16DA2F77}"/>
              </a:ext>
            </a:extLst>
          </p:cNvPr>
          <p:cNvSpPr txBox="1"/>
          <p:nvPr/>
        </p:nvSpPr>
        <p:spPr>
          <a:xfrm>
            <a:off x="4253485" y="2830776"/>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7" name="object 8">
            <a:extLst>
              <a:ext uri="{FF2B5EF4-FFF2-40B4-BE49-F238E27FC236}">
                <a16:creationId xmlns:a16="http://schemas.microsoft.com/office/drawing/2014/main" id="{6C9FB8A6-B702-28C6-6EC6-B18F87C684B8}"/>
              </a:ext>
            </a:extLst>
          </p:cNvPr>
          <p:cNvSpPr txBox="1"/>
          <p:nvPr/>
        </p:nvSpPr>
        <p:spPr>
          <a:xfrm>
            <a:off x="5396486" y="2830776"/>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8" name="object 9">
            <a:extLst>
              <a:ext uri="{FF2B5EF4-FFF2-40B4-BE49-F238E27FC236}">
                <a16:creationId xmlns:a16="http://schemas.microsoft.com/office/drawing/2014/main" id="{C3164D78-71CC-2311-3E94-E5B9A8F03BEB}"/>
              </a:ext>
            </a:extLst>
          </p:cNvPr>
          <p:cNvSpPr txBox="1"/>
          <p:nvPr/>
        </p:nvSpPr>
        <p:spPr>
          <a:xfrm>
            <a:off x="6363081" y="2830776"/>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9" name="object 10">
            <a:extLst>
              <a:ext uri="{FF2B5EF4-FFF2-40B4-BE49-F238E27FC236}">
                <a16:creationId xmlns:a16="http://schemas.microsoft.com/office/drawing/2014/main" id="{39269399-307A-026F-862F-404B37163366}"/>
              </a:ext>
            </a:extLst>
          </p:cNvPr>
          <p:cNvSpPr txBox="1"/>
          <p:nvPr/>
        </p:nvSpPr>
        <p:spPr>
          <a:xfrm>
            <a:off x="1252068" y="3716071"/>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10" name="object 11">
            <a:extLst>
              <a:ext uri="{FF2B5EF4-FFF2-40B4-BE49-F238E27FC236}">
                <a16:creationId xmlns:a16="http://schemas.microsoft.com/office/drawing/2014/main" id="{1F474D5D-39B7-82A1-2621-631ABF9D444C}"/>
              </a:ext>
            </a:extLst>
          </p:cNvPr>
          <p:cNvGraphicFramePr>
            <a:graphicFrameLocks noGrp="1"/>
          </p:cNvGraphicFramePr>
          <p:nvPr/>
        </p:nvGraphicFramePr>
        <p:xfrm>
          <a:off x="1873250" y="3870249"/>
          <a:ext cx="5002530" cy="1928115"/>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344171">
                <a:tc>
                  <a:txBody>
                    <a:bodyPr numCol="1"/>
                    <a:lstStyle/>
                    <a:p>
                      <a:pPr>
                        <a:lnSpc>
                          <a:spcPct val="100000"/>
                        </a:lnSpc>
                      </a:pPr>
                      <a:endParaRPr dirty="0"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dirty="0"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11" name="object 12">
            <a:extLst>
              <a:ext uri="{FF2B5EF4-FFF2-40B4-BE49-F238E27FC236}">
                <a16:creationId xmlns:a16="http://schemas.microsoft.com/office/drawing/2014/main" id="{8604D134-9A7A-B93C-79A2-B529A8CD53A5}"/>
              </a:ext>
            </a:extLst>
          </p:cNvPr>
          <p:cNvSpPr txBox="1"/>
          <p:nvPr/>
        </p:nvSpPr>
        <p:spPr>
          <a:xfrm>
            <a:off x="1218541" y="3841758"/>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2" name="object 13">
            <a:extLst>
              <a:ext uri="{FF2B5EF4-FFF2-40B4-BE49-F238E27FC236}">
                <a16:creationId xmlns:a16="http://schemas.microsoft.com/office/drawing/2014/main" id="{E2D25564-675C-2504-7626-1CA2A762507D}"/>
              </a:ext>
            </a:extLst>
          </p:cNvPr>
          <p:cNvSpPr txBox="1"/>
          <p:nvPr/>
        </p:nvSpPr>
        <p:spPr>
          <a:xfrm>
            <a:off x="2322958" y="3245537"/>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4">
            <a:extLst>
              <a:ext uri="{FF2B5EF4-FFF2-40B4-BE49-F238E27FC236}">
                <a16:creationId xmlns:a16="http://schemas.microsoft.com/office/drawing/2014/main" id="{496CB467-5A73-338A-3827-60F3408D2DD4}"/>
              </a:ext>
            </a:extLst>
          </p:cNvPr>
          <p:cNvSpPr txBox="1"/>
          <p:nvPr/>
        </p:nvSpPr>
        <p:spPr>
          <a:xfrm>
            <a:off x="1967231" y="2978834"/>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5">
            <a:extLst>
              <a:ext uri="{FF2B5EF4-FFF2-40B4-BE49-F238E27FC236}">
                <a16:creationId xmlns:a16="http://schemas.microsoft.com/office/drawing/2014/main" id="{6FA8B5C1-35B2-4852-40E7-A899FFA9610A}"/>
              </a:ext>
            </a:extLst>
          </p:cNvPr>
          <p:cNvSpPr txBox="1"/>
          <p:nvPr/>
        </p:nvSpPr>
        <p:spPr>
          <a:xfrm>
            <a:off x="4343400" y="914400"/>
            <a:ext cx="6617157" cy="1489510"/>
          </a:xfrm>
          <a:prstGeom prst="rect">
            <a:avLst/>
          </a:prstGeom>
        </p:spPr>
        <p:txBody>
          <a:bodyPr bIns="0" lIns="0" numCol="1" rIns="0" rtlCol="0" tIns="12065" vert="horz" wrap="square">
            <a:spAutoFit/>
          </a:bodyPr>
          <a:lstStyle/>
          <a:p>
            <a:pPr marL="12700" marR="5080">
              <a:lnSpc>
                <a:spcPct val="100200"/>
              </a:lnSpc>
              <a:spcBef>
                <a:spcPts val="95"/>
              </a:spcBef>
            </a:pPr>
            <a:r>
              <a:rPr dirty="0" sz="2400">
                <a:latin typeface="Palatino Linotype"/>
                <a:cs typeface="Palatino Linotype"/>
              </a:rPr>
              <a:t>We</a:t>
            </a:r>
            <a:r>
              <a:rPr dirty="0" spc="-25" sz="2400">
                <a:latin typeface="Palatino Linotype"/>
                <a:cs typeface="Palatino Linotype"/>
              </a:rPr>
              <a:t> </a:t>
            </a:r>
            <a:r>
              <a:rPr dirty="0" sz="2400">
                <a:latin typeface="Palatino Linotype"/>
                <a:cs typeface="Palatino Linotype"/>
              </a:rPr>
              <a:t>want</a:t>
            </a:r>
            <a:r>
              <a:rPr dirty="0" spc="-15" sz="2400">
                <a:latin typeface="Palatino Linotype"/>
                <a:cs typeface="Palatino Linotype"/>
              </a:rPr>
              <a:t> </a:t>
            </a:r>
            <a:r>
              <a:rPr dirty="0" sz="2400">
                <a:latin typeface="Palatino Linotype"/>
                <a:cs typeface="Palatino Linotype"/>
              </a:rPr>
              <a:t>to</a:t>
            </a:r>
            <a:r>
              <a:rPr dirty="0" spc="-20" sz="2400">
                <a:latin typeface="Palatino Linotype"/>
                <a:cs typeface="Palatino Linotype"/>
              </a:rPr>
              <a:t> </a:t>
            </a:r>
            <a:r>
              <a:rPr dirty="0" sz="2400">
                <a:latin typeface="Palatino Linotype"/>
                <a:cs typeface="Palatino Linotype"/>
              </a:rPr>
              <a:t>fill</a:t>
            </a:r>
            <a:r>
              <a:rPr dirty="0" spc="-31" sz="2400">
                <a:latin typeface="Palatino Linotype"/>
                <a:cs typeface="Palatino Linotype"/>
              </a:rPr>
              <a:t> </a:t>
            </a:r>
            <a:r>
              <a:rPr dirty="0" sz="2400">
                <a:latin typeface="Palatino Linotype"/>
                <a:cs typeface="Palatino Linotype"/>
              </a:rPr>
              <a:t>the</a:t>
            </a:r>
            <a:r>
              <a:rPr dirty="0" spc="-5" sz="2400">
                <a:latin typeface="Palatino Linotype"/>
                <a:cs typeface="Palatino Linotype"/>
              </a:rPr>
              <a:t> </a:t>
            </a:r>
            <a:r>
              <a:rPr dirty="0" sz="2400">
                <a:latin typeface="Palatino Linotype"/>
                <a:cs typeface="Palatino Linotype"/>
              </a:rPr>
              <a:t>red</a:t>
            </a:r>
            <a:r>
              <a:rPr dirty="0" spc="-40" sz="2400">
                <a:latin typeface="Palatino Linotype"/>
                <a:cs typeface="Palatino Linotype"/>
              </a:rPr>
              <a:t> </a:t>
            </a:r>
            <a:r>
              <a:rPr dirty="0" sz="2400">
                <a:latin typeface="Palatino Linotype"/>
                <a:cs typeface="Palatino Linotype"/>
              </a:rPr>
              <a:t>cell</a:t>
            </a:r>
            <a:r>
              <a:rPr dirty="0" spc="-15" sz="2400">
                <a:latin typeface="Palatino Linotype"/>
                <a:cs typeface="Palatino Linotype"/>
              </a:rPr>
              <a:t> </a:t>
            </a:r>
            <a:r>
              <a:rPr dirty="0" sz="2400">
                <a:latin typeface="Palatino Linotype"/>
                <a:cs typeface="Palatino Linotype"/>
              </a:rPr>
              <a:t>with</a:t>
            </a:r>
            <a:r>
              <a:rPr dirty="0" spc="-25" sz="2400">
                <a:latin typeface="Palatino Linotype"/>
                <a:cs typeface="Palatino Linotype"/>
              </a:rPr>
              <a:t> </a:t>
            </a:r>
            <a:r>
              <a:rPr dirty="0" sz="2400">
                <a:latin typeface="Palatino Linotype"/>
                <a:cs typeface="Palatino Linotype"/>
              </a:rPr>
              <a:t>the</a:t>
            </a:r>
            <a:r>
              <a:rPr dirty="0" spc="-15" sz="2400">
                <a:latin typeface="Palatino Linotype"/>
                <a:cs typeface="Palatino Linotype"/>
              </a:rPr>
              <a:t> </a:t>
            </a:r>
            <a:r>
              <a:rPr dirty="0" sz="2400">
                <a:latin typeface="Palatino Linotype"/>
                <a:cs typeface="Palatino Linotype"/>
              </a:rPr>
              <a:t>set</a:t>
            </a:r>
            <a:r>
              <a:rPr dirty="0" spc="-20" sz="2400">
                <a:latin typeface="Palatino Linotype"/>
                <a:cs typeface="Palatino Linotype"/>
              </a:rPr>
              <a:t> </a:t>
            </a:r>
            <a:r>
              <a:rPr dirty="0" spc="-25" sz="2400">
                <a:latin typeface="Palatino Linotype"/>
                <a:cs typeface="Palatino Linotype"/>
              </a:rPr>
              <a:t>of </a:t>
            </a:r>
            <a:r>
              <a:rPr dirty="0" sz="2400">
                <a:latin typeface="Palatino Linotype"/>
                <a:cs typeface="Palatino Linotype"/>
              </a:rPr>
              <a:t>variables</a:t>
            </a:r>
            <a:r>
              <a:rPr dirty="0" spc="-51" sz="2400">
                <a:latin typeface="Palatino Linotype"/>
                <a:cs typeface="Palatino Linotype"/>
              </a:rPr>
              <a:t> </a:t>
            </a:r>
            <a:r>
              <a:rPr dirty="0" sz="2400">
                <a:latin typeface="Palatino Linotype"/>
                <a:cs typeface="Palatino Linotype"/>
              </a:rPr>
              <a:t>that</a:t>
            </a:r>
            <a:r>
              <a:rPr dirty="0" spc="-31" sz="2400">
                <a:latin typeface="Palatino Linotype"/>
                <a:cs typeface="Palatino Linotype"/>
              </a:rPr>
              <a:t> </a:t>
            </a:r>
            <a:r>
              <a:rPr dirty="0" sz="2400">
                <a:latin typeface="Palatino Linotype"/>
                <a:cs typeface="Palatino Linotype"/>
              </a:rPr>
              <a:t>produce</a:t>
            </a:r>
            <a:r>
              <a:rPr dirty="0" spc="-51" sz="2400">
                <a:latin typeface="Palatino Linotype"/>
                <a:cs typeface="Palatino Linotype"/>
              </a:rPr>
              <a:t> </a:t>
            </a:r>
            <a:r>
              <a:rPr dirty="0" sz="2400">
                <a:latin typeface="Palatino Linotype"/>
                <a:cs typeface="Palatino Linotype"/>
              </a:rPr>
              <a:t>the</a:t>
            </a:r>
            <a:r>
              <a:rPr dirty="0" spc="-31" sz="2400">
                <a:latin typeface="Palatino Linotype"/>
                <a:cs typeface="Palatino Linotype"/>
              </a:rPr>
              <a:t> </a:t>
            </a:r>
            <a:r>
              <a:rPr dirty="0" sz="2400">
                <a:latin typeface="Palatino Linotype"/>
                <a:cs typeface="Palatino Linotype"/>
              </a:rPr>
              <a:t>substring</a:t>
            </a:r>
            <a:r>
              <a:rPr dirty="0" spc="-35" sz="2400">
                <a:latin typeface="Palatino Linotype"/>
                <a:cs typeface="Palatino Linotype"/>
              </a:rPr>
              <a:t> </a:t>
            </a:r>
            <a:r>
              <a:rPr dirty="0" spc="-20" sz="2400">
                <a:latin typeface="Palatino Linotype"/>
                <a:cs typeface="Palatino Linotype"/>
              </a:rPr>
              <a:t>with </a:t>
            </a:r>
            <a:r>
              <a:rPr dirty="0" sz="2400">
                <a:latin typeface="Palatino Linotype"/>
                <a:cs typeface="Palatino Linotype"/>
              </a:rPr>
              <a:t>length</a:t>
            </a:r>
            <a:r>
              <a:rPr dirty="0" spc="-20" sz="2400">
                <a:latin typeface="Palatino Linotype"/>
                <a:cs typeface="Palatino Linotype"/>
              </a:rPr>
              <a:t> </a:t>
            </a:r>
            <a:r>
              <a:rPr dirty="0" sz="2400">
                <a:latin typeface="Cambria Math"/>
                <a:cs typeface="Cambria Math"/>
              </a:rPr>
              <a:t>𝑗</a:t>
            </a:r>
            <a:r>
              <a:rPr dirty="0" spc="60" sz="2400">
                <a:latin typeface="Cambria Math"/>
                <a:cs typeface="Cambria Math"/>
              </a:rPr>
              <a:t> </a:t>
            </a:r>
            <a:r>
              <a:rPr dirty="0" sz="2400">
                <a:latin typeface="Palatino Linotype"/>
                <a:cs typeface="Palatino Linotype"/>
              </a:rPr>
              <a:t>that</a:t>
            </a:r>
            <a:r>
              <a:rPr dirty="0" spc="-31" sz="2400">
                <a:latin typeface="Palatino Linotype"/>
                <a:cs typeface="Palatino Linotype"/>
              </a:rPr>
              <a:t> </a:t>
            </a:r>
            <a:r>
              <a:rPr dirty="0" sz="2400">
                <a:latin typeface="Palatino Linotype"/>
                <a:cs typeface="Palatino Linotype"/>
              </a:rPr>
              <a:t>starts</a:t>
            </a:r>
            <a:r>
              <a:rPr dirty="0" spc="-45" sz="2400">
                <a:latin typeface="Palatino Linotype"/>
                <a:cs typeface="Palatino Linotype"/>
              </a:rPr>
              <a:t> </a:t>
            </a:r>
            <a:r>
              <a:rPr dirty="0" sz="2400">
                <a:latin typeface="Palatino Linotype"/>
                <a:cs typeface="Palatino Linotype"/>
              </a:rPr>
              <a:t>at</a:t>
            </a:r>
            <a:r>
              <a:rPr dirty="0" spc="-45" sz="2400">
                <a:latin typeface="Palatino Linotype"/>
                <a:cs typeface="Palatino Linotype"/>
              </a:rPr>
              <a:t> </a:t>
            </a:r>
            <a:r>
              <a:rPr dirty="0" sz="2400">
                <a:latin typeface="Palatino Linotype"/>
                <a:cs typeface="Palatino Linotype"/>
              </a:rPr>
              <a:t>position</a:t>
            </a:r>
            <a:r>
              <a:rPr dirty="0" spc="-25" sz="2400">
                <a:latin typeface="Palatino Linotype"/>
                <a:cs typeface="Palatino Linotype"/>
              </a:rPr>
              <a:t> </a:t>
            </a:r>
            <a:r>
              <a:rPr dirty="0" sz="2400">
                <a:latin typeface="Cambria Math"/>
                <a:cs typeface="Cambria Math"/>
              </a:rPr>
              <a:t>𝑖</a:t>
            </a:r>
            <a:r>
              <a:rPr dirty="0" spc="100" sz="2400">
                <a:latin typeface="Cambria Math"/>
                <a:cs typeface="Cambria Math"/>
              </a:rPr>
              <a:t> </a:t>
            </a:r>
            <a:r>
              <a:rPr dirty="0" sz="2400">
                <a:latin typeface="Palatino Linotype"/>
                <a:cs typeface="Palatino Linotype"/>
              </a:rPr>
              <a:t>(in</a:t>
            </a:r>
            <a:r>
              <a:rPr dirty="0" spc="-40" sz="2400">
                <a:latin typeface="Palatino Linotype"/>
                <a:cs typeface="Palatino Linotype"/>
              </a:rPr>
              <a:t> </a:t>
            </a:r>
            <a:r>
              <a:rPr dirty="0" sz="2400">
                <a:latin typeface="Palatino Linotype"/>
                <a:cs typeface="Palatino Linotype"/>
              </a:rPr>
              <a:t>this</a:t>
            </a:r>
            <a:r>
              <a:rPr dirty="0" spc="-31" sz="2400">
                <a:latin typeface="Palatino Linotype"/>
                <a:cs typeface="Palatino Linotype"/>
              </a:rPr>
              <a:t> </a:t>
            </a:r>
            <a:r>
              <a:rPr dirty="0" spc="-11" sz="2400">
                <a:latin typeface="Palatino Linotype"/>
                <a:cs typeface="Palatino Linotype"/>
              </a:rPr>
              <a:t>case, </a:t>
            </a:r>
            <a:r>
              <a:rPr dirty="0" sz="2400">
                <a:latin typeface="Palatino Linotype"/>
                <a:cs typeface="Palatino Linotype"/>
              </a:rPr>
              <a:t>we</a:t>
            </a:r>
            <a:r>
              <a:rPr dirty="0" spc="-35" sz="2400">
                <a:latin typeface="Palatino Linotype"/>
                <a:cs typeface="Palatino Linotype"/>
              </a:rPr>
              <a:t> </a:t>
            </a:r>
            <a:r>
              <a:rPr dirty="0" sz="2400">
                <a:latin typeface="Palatino Linotype"/>
                <a:cs typeface="Palatino Linotype"/>
              </a:rPr>
              <a:t>want</a:t>
            </a:r>
            <a:r>
              <a:rPr dirty="0" spc="-25" sz="2400">
                <a:latin typeface="Palatino Linotype"/>
                <a:cs typeface="Palatino Linotype"/>
              </a:rPr>
              <a:t> </a:t>
            </a:r>
            <a:r>
              <a:rPr dirty="0" sz="2400">
                <a:latin typeface="Palatino Linotype"/>
                <a:cs typeface="Palatino Linotype"/>
              </a:rPr>
              <a:t>variables</a:t>
            </a:r>
            <a:r>
              <a:rPr dirty="0" spc="-40" sz="2400">
                <a:latin typeface="Palatino Linotype"/>
                <a:cs typeface="Palatino Linotype"/>
              </a:rPr>
              <a:t> </a:t>
            </a:r>
            <a:r>
              <a:rPr dirty="0" sz="2400">
                <a:latin typeface="Palatino Linotype"/>
                <a:cs typeface="Palatino Linotype"/>
              </a:rPr>
              <a:t>that</a:t>
            </a:r>
            <a:r>
              <a:rPr dirty="0" spc="-15" sz="2400">
                <a:latin typeface="Palatino Linotype"/>
                <a:cs typeface="Palatino Linotype"/>
              </a:rPr>
              <a:t> </a:t>
            </a:r>
            <a:r>
              <a:rPr dirty="0" sz="2400">
                <a:latin typeface="Palatino Linotype"/>
                <a:cs typeface="Palatino Linotype"/>
              </a:rPr>
              <a:t>produce</a:t>
            </a:r>
            <a:r>
              <a:rPr dirty="0" spc="-25" sz="2400">
                <a:latin typeface="Palatino Linotype"/>
                <a:cs typeface="Palatino Linotype"/>
              </a:rPr>
              <a:t> </a:t>
            </a:r>
            <a:r>
              <a:rPr dirty="0" spc="-11" sz="2400">
                <a:latin typeface="Cambria Math"/>
                <a:cs typeface="Cambria Math"/>
              </a:rPr>
              <a:t>𝑎𝑎𝑎</a:t>
            </a:r>
            <a:r>
              <a:rPr dirty="0" spc="-11" sz="2400">
                <a:latin typeface="Palatino Linotype"/>
                <a:cs typeface="Palatino Linotype"/>
              </a:rPr>
              <a:t>).</a:t>
            </a:r>
            <a:endParaRPr dirty="0" sz="2400">
              <a:latin typeface="Palatino Linotype"/>
              <a:cs typeface="Palatino Linotype"/>
            </a:endParaRPr>
          </a:p>
        </p:txBody>
      </p:sp>
    </p:spTree>
    <p:extLst>
      <p:ext uri="{BB962C8B-B14F-4D97-AF65-F5344CB8AC3E}">
        <p14:creationId xmlns:p14="http://schemas.microsoft.com/office/powerpoint/2010/main" val="15670965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8EFACF03-8A34-8B12-4A33-843C2D7A32DF}"/>
              </a:ext>
            </a:extLst>
          </p:cNvPr>
          <p:cNvSpPr txBox="1"/>
          <p:nvPr/>
        </p:nvSpPr>
        <p:spPr>
          <a:xfrm>
            <a:off x="772082" y="587071"/>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3" name="object 4">
            <a:extLst>
              <a:ext uri="{FF2B5EF4-FFF2-40B4-BE49-F238E27FC236}">
                <a16:creationId xmlns:a16="http://schemas.microsoft.com/office/drawing/2014/main" id="{B3095F15-D88C-5852-1C5D-A8562265DB1B}"/>
              </a:ext>
            </a:extLst>
          </p:cNvPr>
          <p:cNvSpPr txBox="1"/>
          <p:nvPr/>
        </p:nvSpPr>
        <p:spPr>
          <a:xfrm>
            <a:off x="1660269" y="3271140"/>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4" name="object 5">
            <a:extLst>
              <a:ext uri="{FF2B5EF4-FFF2-40B4-BE49-F238E27FC236}">
                <a16:creationId xmlns:a16="http://schemas.microsoft.com/office/drawing/2014/main" id="{651AF9C9-88FC-2E65-0CFC-F210213D214D}"/>
              </a:ext>
            </a:extLst>
          </p:cNvPr>
          <p:cNvSpPr txBox="1"/>
          <p:nvPr/>
        </p:nvSpPr>
        <p:spPr>
          <a:xfrm>
            <a:off x="2783457" y="3271140"/>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5" name="object 6">
            <a:extLst>
              <a:ext uri="{FF2B5EF4-FFF2-40B4-BE49-F238E27FC236}">
                <a16:creationId xmlns:a16="http://schemas.microsoft.com/office/drawing/2014/main" id="{B3F5FA0A-DDD4-7CCF-255A-95AC718349E0}"/>
              </a:ext>
            </a:extLst>
          </p:cNvPr>
          <p:cNvSpPr txBox="1"/>
          <p:nvPr/>
        </p:nvSpPr>
        <p:spPr>
          <a:xfrm>
            <a:off x="3861180" y="3271140"/>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3</a:t>
            </a:r>
            <a:endParaRPr sz="2400">
              <a:latin typeface="Cambria Math"/>
              <a:cs typeface="Cambria Math"/>
            </a:endParaRPr>
          </a:p>
        </p:txBody>
      </p:sp>
      <p:sp>
        <p:nvSpPr>
          <p:cNvPr id="6" name="object 7">
            <a:extLst>
              <a:ext uri="{FF2B5EF4-FFF2-40B4-BE49-F238E27FC236}">
                <a16:creationId xmlns:a16="http://schemas.microsoft.com/office/drawing/2014/main" id="{BA209B38-83C4-3178-170A-1C3CC95B819D}"/>
              </a:ext>
            </a:extLst>
          </p:cNvPr>
          <p:cNvSpPr txBox="1"/>
          <p:nvPr/>
        </p:nvSpPr>
        <p:spPr>
          <a:xfrm>
            <a:off x="2517266" y="3632607"/>
            <a:ext cx="1106805" cy="401393"/>
          </a:xfrm>
          <a:prstGeom prst="rect">
            <a:avLst/>
          </a:prstGeom>
        </p:spPr>
        <p:txBody>
          <a:bodyPr bIns="0" lIns="0" numCol="1" rIns="0" rtlCol="0" tIns="16511" vert="horz" wrap="square">
            <a:spAutoFit/>
          </a:bodyPr>
          <a:lstStyle/>
          <a:p>
            <a:pPr marL="327652">
              <a:spcBef>
                <a:spcPts val="131"/>
              </a:spcBef>
            </a:pPr>
            <a:r>
              <a:rPr dirty="0" spc="-51" sz="2500">
                <a:latin typeface="Cambria Math"/>
                <a:cs typeface="Cambria Math"/>
              </a:rPr>
              <a:t>A</a:t>
            </a:r>
            <a:endParaRPr sz="2500">
              <a:latin typeface="Cambria Math"/>
              <a:cs typeface="Cambria Math"/>
            </a:endParaRPr>
          </a:p>
        </p:txBody>
      </p:sp>
      <p:sp>
        <p:nvSpPr>
          <p:cNvPr id="7" name="object 8">
            <a:extLst>
              <a:ext uri="{FF2B5EF4-FFF2-40B4-BE49-F238E27FC236}">
                <a16:creationId xmlns:a16="http://schemas.microsoft.com/office/drawing/2014/main" id="{294C008B-B94B-C8D4-7A78-271FBEC813E1}"/>
              </a:ext>
            </a:extLst>
          </p:cNvPr>
          <p:cNvSpPr txBox="1"/>
          <p:nvPr/>
        </p:nvSpPr>
        <p:spPr>
          <a:xfrm>
            <a:off x="3635883" y="3632607"/>
            <a:ext cx="876300" cy="401393"/>
          </a:xfrm>
          <a:prstGeom prst="rect">
            <a:avLst/>
          </a:prstGeom>
        </p:spPr>
        <p:txBody>
          <a:bodyPr bIns="0" lIns="0" numCol="1" rIns="0" rtlCol="0" tIns="16511" vert="horz" wrap="square">
            <a:spAutoFit/>
          </a:bodyPr>
          <a:lstStyle/>
          <a:p>
            <a:pPr marL="266693">
              <a:spcBef>
                <a:spcPts val="131"/>
              </a:spcBef>
            </a:pPr>
            <a:r>
              <a:rPr dirty="0" spc="-51" sz="2500">
                <a:latin typeface="Cambria Math"/>
                <a:cs typeface="Cambria Math"/>
              </a:rPr>
              <a:t>A</a:t>
            </a:r>
            <a:endParaRPr sz="2500">
              <a:latin typeface="Cambria Math"/>
              <a:cs typeface="Cambria Math"/>
            </a:endParaRPr>
          </a:p>
        </p:txBody>
      </p:sp>
      <p:sp>
        <p:nvSpPr>
          <p:cNvPr id="8" name="object 9">
            <a:extLst>
              <a:ext uri="{FF2B5EF4-FFF2-40B4-BE49-F238E27FC236}">
                <a16:creationId xmlns:a16="http://schemas.microsoft.com/office/drawing/2014/main" id="{A1D31D6D-99B4-BA99-08FC-6B69D5CAC19D}"/>
              </a:ext>
            </a:extLst>
          </p:cNvPr>
          <p:cNvSpPr txBox="1"/>
          <p:nvPr/>
        </p:nvSpPr>
        <p:spPr>
          <a:xfrm>
            <a:off x="4524375" y="3632607"/>
            <a:ext cx="1092835" cy="401393"/>
          </a:xfrm>
          <a:prstGeom prst="rect">
            <a:avLst/>
          </a:prstGeom>
        </p:spPr>
        <p:txBody>
          <a:bodyPr bIns="0" lIns="0" numCol="1" rIns="0" rtlCol="0" tIns="16511" vert="horz" wrap="square">
            <a:spAutoFit/>
          </a:bodyPr>
          <a:lstStyle/>
          <a:p>
            <a:pPr algn="ctr" marR="175256">
              <a:spcBef>
                <a:spcPts val="131"/>
              </a:spcBef>
            </a:pPr>
            <a:r>
              <a:rPr dirty="0" spc="-51" sz="2500">
                <a:latin typeface="Cambria Math"/>
                <a:cs typeface="Cambria Math"/>
              </a:rPr>
              <a:t>C</a:t>
            </a:r>
            <a:endParaRPr sz="2500">
              <a:latin typeface="Cambria Math"/>
              <a:cs typeface="Cambria Math"/>
            </a:endParaRPr>
          </a:p>
        </p:txBody>
      </p:sp>
      <p:sp>
        <p:nvSpPr>
          <p:cNvPr id="9" name="object 10">
            <a:extLst>
              <a:ext uri="{FF2B5EF4-FFF2-40B4-BE49-F238E27FC236}">
                <a16:creationId xmlns:a16="http://schemas.microsoft.com/office/drawing/2014/main" id="{A442F18C-3FC7-F174-DB4D-DC988B863EBE}"/>
              </a:ext>
            </a:extLst>
          </p:cNvPr>
          <p:cNvSpPr txBox="1"/>
          <p:nvPr/>
        </p:nvSpPr>
        <p:spPr>
          <a:xfrm>
            <a:off x="5629275" y="3632607"/>
            <a:ext cx="788035" cy="401393"/>
          </a:xfrm>
          <a:prstGeom prst="rect">
            <a:avLst/>
          </a:prstGeom>
        </p:spPr>
        <p:txBody>
          <a:bodyPr bIns="0" lIns="0" numCol="1" rIns="0" rtlCol="0" tIns="16511" vert="horz" wrap="square">
            <a:spAutoFit/>
          </a:bodyPr>
          <a:lstStyle/>
          <a:p>
            <a:pPr marL="234945">
              <a:spcBef>
                <a:spcPts val="131"/>
              </a:spcBef>
            </a:pPr>
            <a:r>
              <a:rPr dirty="0" spc="-51" sz="2500">
                <a:latin typeface="Cambria Math"/>
                <a:cs typeface="Cambria Math"/>
              </a:rPr>
              <a:t>C</a:t>
            </a:r>
            <a:endParaRPr sz="2500">
              <a:latin typeface="Cambria Math"/>
              <a:cs typeface="Cambria Math"/>
            </a:endParaRPr>
          </a:p>
        </p:txBody>
      </p:sp>
      <p:sp>
        <p:nvSpPr>
          <p:cNvPr id="10" name="object 11">
            <a:extLst>
              <a:ext uri="{FF2B5EF4-FFF2-40B4-BE49-F238E27FC236}">
                <a16:creationId xmlns:a16="http://schemas.microsoft.com/office/drawing/2014/main" id="{F5C21F73-1E4A-7647-AFA9-5BDEDD80D3D5}"/>
              </a:ext>
            </a:extLst>
          </p:cNvPr>
          <p:cNvSpPr txBox="1"/>
          <p:nvPr/>
        </p:nvSpPr>
        <p:spPr>
          <a:xfrm>
            <a:off x="1419986" y="4042537"/>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11" name="object 12">
            <a:extLst>
              <a:ext uri="{FF2B5EF4-FFF2-40B4-BE49-F238E27FC236}">
                <a16:creationId xmlns:a16="http://schemas.microsoft.com/office/drawing/2014/main" id="{F71223FC-4ABF-0C98-6560-49640AD2BD15}"/>
              </a:ext>
            </a:extLst>
          </p:cNvPr>
          <p:cNvSpPr txBox="1"/>
          <p:nvPr/>
        </p:nvSpPr>
        <p:spPr>
          <a:xfrm>
            <a:off x="2755010" y="3998046"/>
            <a:ext cx="455931" cy="401393"/>
          </a:xfrm>
          <a:prstGeom prst="rect">
            <a:avLst/>
          </a:prstGeom>
        </p:spPr>
        <p:txBody>
          <a:bodyPr bIns="0" lIns="0" numCol="1" rIns="0" rtlCol="0" tIns="16511" vert="horz" wrap="square">
            <a:spAutoFit/>
          </a:bodyPr>
          <a:lstStyle/>
          <a:p>
            <a:pPr marL="89532">
              <a:spcBef>
                <a:spcPts val="131"/>
              </a:spcBef>
            </a:pPr>
            <a:r>
              <a:rPr dirty="0" spc="-51" sz="2500">
                <a:latin typeface="Cambria Math"/>
                <a:cs typeface="Cambria Math"/>
              </a:rPr>
              <a:t>A</a:t>
            </a:r>
            <a:endParaRPr sz="2500">
              <a:latin typeface="Cambria Math"/>
              <a:cs typeface="Cambria Math"/>
            </a:endParaRPr>
          </a:p>
        </p:txBody>
      </p:sp>
      <p:sp>
        <p:nvSpPr>
          <p:cNvPr id="12" name="object 13">
            <a:extLst>
              <a:ext uri="{FF2B5EF4-FFF2-40B4-BE49-F238E27FC236}">
                <a16:creationId xmlns:a16="http://schemas.microsoft.com/office/drawing/2014/main" id="{144EC2EF-1D72-6F94-2694-91B150D2DBBD}"/>
              </a:ext>
            </a:extLst>
          </p:cNvPr>
          <p:cNvSpPr txBox="1"/>
          <p:nvPr/>
        </p:nvSpPr>
        <p:spPr>
          <a:xfrm>
            <a:off x="3635883" y="4014546"/>
            <a:ext cx="876300" cy="382156"/>
          </a:xfrm>
          <a:prstGeom prst="rect">
            <a:avLst/>
          </a:prstGeom>
        </p:spPr>
        <p:txBody>
          <a:bodyPr bIns="0" lIns="0" numCol="1" rIns="0" rtlCol="0" tIns="12700" vert="horz" wrap="square">
            <a:spAutoFit/>
          </a:bodyPr>
          <a:lstStyle/>
          <a:p>
            <a:pPr marL="266693">
              <a:spcBef>
                <a:spcPts val="100"/>
              </a:spcBef>
            </a:pPr>
            <a:r>
              <a:rPr dirty="0" spc="-51" sz="2400">
                <a:latin typeface="Cambria Math"/>
                <a:cs typeface="Cambria Math"/>
              </a:rPr>
              <a:t>∅</a:t>
            </a:r>
            <a:endParaRPr sz="2400">
              <a:latin typeface="Cambria Math"/>
              <a:cs typeface="Cambria Math"/>
            </a:endParaRPr>
          </a:p>
        </p:txBody>
      </p:sp>
      <p:sp>
        <p:nvSpPr>
          <p:cNvPr id="13" name="object 14">
            <a:extLst>
              <a:ext uri="{FF2B5EF4-FFF2-40B4-BE49-F238E27FC236}">
                <a16:creationId xmlns:a16="http://schemas.microsoft.com/office/drawing/2014/main" id="{B72DE1DF-E76F-35AA-A5C8-97707829DF73}"/>
              </a:ext>
            </a:extLst>
          </p:cNvPr>
          <p:cNvSpPr txBox="1"/>
          <p:nvPr/>
        </p:nvSpPr>
        <p:spPr>
          <a:xfrm>
            <a:off x="4524375" y="3998046"/>
            <a:ext cx="1092835" cy="401393"/>
          </a:xfrm>
          <a:prstGeom prst="rect">
            <a:avLst/>
          </a:prstGeom>
        </p:spPr>
        <p:txBody>
          <a:bodyPr bIns="0" lIns="0" numCol="1" rIns="0" rtlCol="0" tIns="16511" vert="horz" wrap="square">
            <a:spAutoFit/>
          </a:bodyPr>
          <a:lstStyle/>
          <a:p>
            <a:pPr algn="ctr" marR="156841">
              <a:spcBef>
                <a:spcPts val="131"/>
              </a:spcBef>
            </a:pPr>
            <a:r>
              <a:rPr dirty="0" spc="-51" sz="2500">
                <a:latin typeface="Cambria Math"/>
                <a:cs typeface="Cambria Math"/>
              </a:rPr>
              <a:t>B</a:t>
            </a:r>
            <a:endParaRPr sz="2500">
              <a:latin typeface="Cambria Math"/>
              <a:cs typeface="Cambria Math"/>
            </a:endParaRPr>
          </a:p>
        </p:txBody>
      </p:sp>
      <p:sp>
        <p:nvSpPr>
          <p:cNvPr id="14" name="object 15">
            <a:extLst>
              <a:ext uri="{FF2B5EF4-FFF2-40B4-BE49-F238E27FC236}">
                <a16:creationId xmlns:a16="http://schemas.microsoft.com/office/drawing/2014/main" id="{0E5A2E5A-EA6F-070F-FC40-5D0BEC4D67D3}"/>
              </a:ext>
            </a:extLst>
          </p:cNvPr>
          <p:cNvSpPr txBox="1"/>
          <p:nvPr/>
        </p:nvSpPr>
        <p:spPr>
          <a:xfrm>
            <a:off x="1050671" y="4014546"/>
            <a:ext cx="194945" cy="1490152"/>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a:p>
            <a:pPr marL="12700">
              <a:spcBef>
                <a:spcPts val="5"/>
              </a:spcBef>
            </a:pPr>
            <a:r>
              <a:rPr dirty="0" spc="-51" sz="2400">
                <a:latin typeface="Cambria Math"/>
                <a:cs typeface="Cambria Math"/>
              </a:rPr>
              <a:t>3</a:t>
            </a:r>
            <a:endParaRPr sz="2400">
              <a:latin typeface="Cambria Math"/>
              <a:cs typeface="Cambria Math"/>
            </a:endParaRPr>
          </a:p>
          <a:p>
            <a:pPr marL="12700"/>
            <a:r>
              <a:rPr dirty="0" spc="-51" sz="2400">
                <a:latin typeface="Cambria Math"/>
                <a:cs typeface="Cambria Math"/>
              </a:rPr>
              <a:t>4</a:t>
            </a:r>
            <a:endParaRPr sz="2400">
              <a:latin typeface="Cambria Math"/>
              <a:cs typeface="Cambria Math"/>
            </a:endParaRPr>
          </a:p>
          <a:p>
            <a:pPr marL="12700"/>
            <a:r>
              <a:rPr dirty="0" spc="-51" sz="2400">
                <a:latin typeface="Cambria Math"/>
                <a:cs typeface="Cambria Math"/>
              </a:rPr>
              <a:t>5</a:t>
            </a:r>
            <a:endParaRPr sz="2400">
              <a:latin typeface="Cambria Math"/>
              <a:cs typeface="Cambria Math"/>
            </a:endParaRPr>
          </a:p>
        </p:txBody>
      </p:sp>
      <p:sp>
        <p:nvSpPr>
          <p:cNvPr id="15" name="object 16">
            <a:extLst>
              <a:ext uri="{FF2B5EF4-FFF2-40B4-BE49-F238E27FC236}">
                <a16:creationId xmlns:a16="http://schemas.microsoft.com/office/drawing/2014/main" id="{C1C164E6-20DC-2FA5-6E9D-3C461B570A09}"/>
              </a:ext>
            </a:extLst>
          </p:cNvPr>
          <p:cNvSpPr/>
          <p:nvPr/>
        </p:nvSpPr>
        <p:spPr>
          <a:xfrm>
            <a:off x="1410841" y="3685922"/>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6" name="object 17">
            <a:extLst>
              <a:ext uri="{FF2B5EF4-FFF2-40B4-BE49-F238E27FC236}">
                <a16:creationId xmlns:a16="http://schemas.microsoft.com/office/drawing/2014/main" id="{8494D4F1-C65C-1C06-1ADF-24F43C7AF2CE}"/>
              </a:ext>
            </a:extLst>
          </p:cNvPr>
          <p:cNvSpPr txBox="1"/>
          <p:nvPr/>
        </p:nvSpPr>
        <p:spPr>
          <a:xfrm>
            <a:off x="1863597" y="3055113"/>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7" name="object 18">
            <a:extLst>
              <a:ext uri="{FF2B5EF4-FFF2-40B4-BE49-F238E27FC236}">
                <a16:creationId xmlns:a16="http://schemas.microsoft.com/office/drawing/2014/main" id="{E8A2CA2E-192C-721C-D815-FC8DAD400A9D}"/>
              </a:ext>
            </a:extLst>
          </p:cNvPr>
          <p:cNvSpPr txBox="1"/>
          <p:nvPr/>
        </p:nvSpPr>
        <p:spPr>
          <a:xfrm>
            <a:off x="818108" y="3575941"/>
            <a:ext cx="110489" cy="320601"/>
          </a:xfrm>
          <a:prstGeom prst="rect">
            <a:avLst/>
          </a:prstGeom>
        </p:spPr>
        <p:txBody>
          <a:bodyPr bIns="0" lIns="0" numCol="1" rIns="0" rtlCol="0" tIns="12700" vert="horz" wrap="square">
            <a:spAutoFit/>
          </a:bodyPr>
          <a:lstStyle/>
          <a:p>
            <a:pPr marL="12700">
              <a:spcBef>
                <a:spcPts val="100"/>
              </a:spcBef>
            </a:pPr>
            <a:r>
              <a:rPr b="1" dirty="0" spc="65" sz="2000">
                <a:latin typeface="Arial"/>
                <a:cs typeface="Arial"/>
              </a:rPr>
              <a:t>j</a:t>
            </a:r>
            <a:endParaRPr sz="2000">
              <a:latin typeface="Arial"/>
              <a:cs typeface="Arial"/>
            </a:endParaRPr>
          </a:p>
        </p:txBody>
      </p:sp>
      <p:sp>
        <p:nvSpPr>
          <p:cNvPr id="18" name="object 19">
            <a:extLst>
              <a:ext uri="{FF2B5EF4-FFF2-40B4-BE49-F238E27FC236}">
                <a16:creationId xmlns:a16="http://schemas.microsoft.com/office/drawing/2014/main" id="{8093F512-DAB0-2E2C-FAE4-C0211F4989B9}"/>
              </a:ext>
            </a:extLst>
          </p:cNvPr>
          <p:cNvSpPr txBox="1"/>
          <p:nvPr/>
        </p:nvSpPr>
        <p:spPr>
          <a:xfrm>
            <a:off x="746479" y="3632607"/>
            <a:ext cx="1386840" cy="401393"/>
          </a:xfrm>
          <a:prstGeom prst="rect">
            <a:avLst/>
          </a:prstGeom>
        </p:spPr>
        <p:txBody>
          <a:bodyPr bIns="0" lIns="0" numCol="1" rIns="0" rtlCol="0" tIns="16511" vert="horz" wrap="square">
            <a:spAutoFit/>
          </a:bodyPr>
          <a:lstStyle/>
          <a:p>
            <a:pPr marL="50799">
              <a:spcBef>
                <a:spcPts val="131"/>
              </a:spcBef>
              <a:tabLst>
                <a:tab algn="l" pos="973430"/>
              </a:tabLst>
            </a:pPr>
            <a:r>
              <a:rPr baseline="-40277" dirty="0" sz="3000">
                <a:latin typeface="Symbol"/>
                <a:cs typeface="Symbol"/>
              </a:rPr>
              <a:t></a:t>
            </a:r>
            <a:r>
              <a:rPr baseline="-40277" dirty="0" spc="577" sz="3000">
                <a:latin typeface="Times New Roman"/>
                <a:cs typeface="Times New Roman"/>
              </a:rPr>
              <a:t> </a:t>
            </a:r>
            <a:r>
              <a:rPr dirty="0" spc="-51" sz="2400">
                <a:latin typeface="Cambria Math"/>
                <a:cs typeface="Cambria Math"/>
              </a:rPr>
              <a:t>1</a:t>
            </a:r>
            <a:r>
              <a:rPr dirty="0" sz="2400">
                <a:latin typeface="Cambria Math"/>
                <a:cs typeface="Cambria Math"/>
              </a:rPr>
              <a:t>	</a:t>
            </a:r>
            <a:r>
              <a:rPr dirty="0" spc="-51" sz="2500">
                <a:latin typeface="Cambria Math"/>
                <a:cs typeface="Cambria Math"/>
              </a:rPr>
              <a:t>A</a:t>
            </a:r>
            <a:endParaRPr dirty="0" sz="2500">
              <a:latin typeface="Cambria Math"/>
              <a:cs typeface="Cambria Math"/>
            </a:endParaRPr>
          </a:p>
        </p:txBody>
      </p:sp>
      <p:sp>
        <p:nvSpPr>
          <p:cNvPr id="19" name="object 20">
            <a:extLst>
              <a:ext uri="{FF2B5EF4-FFF2-40B4-BE49-F238E27FC236}">
                <a16:creationId xmlns:a16="http://schemas.microsoft.com/office/drawing/2014/main" id="{179AC3B0-580D-354A-330E-7675412CBA62}"/>
              </a:ext>
            </a:extLst>
          </p:cNvPr>
          <p:cNvSpPr txBox="1"/>
          <p:nvPr/>
        </p:nvSpPr>
        <p:spPr>
          <a:xfrm>
            <a:off x="1507870" y="2788410"/>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20" name="object 21">
            <a:extLst>
              <a:ext uri="{FF2B5EF4-FFF2-40B4-BE49-F238E27FC236}">
                <a16:creationId xmlns:a16="http://schemas.microsoft.com/office/drawing/2014/main" id="{562760CD-AA22-53CA-3A79-4F52BB4F812D}"/>
              </a:ext>
            </a:extLst>
          </p:cNvPr>
          <p:cNvSpPr txBox="1"/>
          <p:nvPr/>
        </p:nvSpPr>
        <p:spPr>
          <a:xfrm>
            <a:off x="3794123" y="2788411"/>
            <a:ext cx="153035" cy="321242"/>
          </a:xfrm>
          <a:prstGeom prst="rect">
            <a:avLst/>
          </a:prstGeom>
        </p:spPr>
        <p:txBody>
          <a:bodyPr bIns="0" lIns="0" numCol="1" rIns="0" rtlCol="0" tIns="13335" vert="horz" wrap="square">
            <a:spAutoFit/>
          </a:bodyPr>
          <a:lstStyle/>
          <a:p>
            <a:pPr marL="12700">
              <a:spcBef>
                <a:spcPts val="105"/>
              </a:spcBef>
            </a:pPr>
            <a:r>
              <a:rPr dirty="0" spc="-51" sz="2000">
                <a:solidFill>
                  <a:srgbClr val="CC0000"/>
                </a:solidFill>
                <a:latin typeface="Palatino Linotype"/>
                <a:cs typeface="Palatino Linotype"/>
              </a:rPr>
              <a:t>a</a:t>
            </a:r>
            <a:endParaRPr sz="2000">
              <a:latin typeface="Palatino Linotype"/>
              <a:cs typeface="Palatino Linotype"/>
            </a:endParaRPr>
          </a:p>
        </p:txBody>
      </p:sp>
      <p:sp>
        <p:nvSpPr>
          <p:cNvPr id="21" name="object 22">
            <a:extLst>
              <a:ext uri="{FF2B5EF4-FFF2-40B4-BE49-F238E27FC236}">
                <a16:creationId xmlns:a16="http://schemas.microsoft.com/office/drawing/2014/main" id="{6D57BFD4-600F-A749-AF52-CA8963C803E0}"/>
              </a:ext>
            </a:extLst>
          </p:cNvPr>
          <p:cNvSpPr txBox="1"/>
          <p:nvPr/>
        </p:nvSpPr>
        <p:spPr>
          <a:xfrm>
            <a:off x="4937125" y="2640352"/>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22" name="object 23">
            <a:extLst>
              <a:ext uri="{FF2B5EF4-FFF2-40B4-BE49-F238E27FC236}">
                <a16:creationId xmlns:a16="http://schemas.microsoft.com/office/drawing/2014/main" id="{2FA12189-C1D8-6D74-1146-5B28FD88B654}"/>
              </a:ext>
            </a:extLst>
          </p:cNvPr>
          <p:cNvSpPr txBox="1"/>
          <p:nvPr/>
        </p:nvSpPr>
        <p:spPr>
          <a:xfrm>
            <a:off x="5903720" y="2640352"/>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grpSp>
        <p:nvGrpSpPr>
          <p:cNvPr id="23" name="object 24">
            <a:extLst>
              <a:ext uri="{FF2B5EF4-FFF2-40B4-BE49-F238E27FC236}">
                <a16:creationId xmlns:a16="http://schemas.microsoft.com/office/drawing/2014/main" id="{4ABD5066-0F8A-716B-A1D9-004F6C7FD460}"/>
              </a:ext>
            </a:extLst>
          </p:cNvPr>
          <p:cNvGrpSpPr/>
          <p:nvPr/>
        </p:nvGrpSpPr>
        <p:grpSpPr>
          <a:xfrm>
            <a:off x="1447419" y="2142871"/>
            <a:ext cx="8008112" cy="2572258"/>
            <a:chOff x="891539" y="2940558"/>
            <a:chExt cx="8008112" cy="2572257"/>
          </a:xfrm>
        </p:grpSpPr>
        <p:sp>
          <p:nvSpPr>
            <p:cNvPr id="24" name="object 25">
              <a:extLst>
                <a:ext uri="{FF2B5EF4-FFF2-40B4-BE49-F238E27FC236}">
                  <a16:creationId xmlns:a16="http://schemas.microsoft.com/office/drawing/2014/main" id="{A8320E84-5C52-E4A4-1B6A-43FF560024FF}"/>
                </a:ext>
              </a:extLst>
            </p:cNvPr>
            <p:cNvSpPr/>
            <p:nvPr/>
          </p:nvSpPr>
          <p:spPr>
            <a:xfrm>
              <a:off x="891539" y="5210555"/>
              <a:ext cx="1036319" cy="302260"/>
            </a:xfrm>
            <a:custGeom>
              <a:avLst/>
              <a:gdLst/>
              <a:ahLst/>
              <a:cxnLst/>
              <a:rect b="b" l="l" r="r" t="t"/>
              <a:pathLst>
                <a:path h="302260" w="1036319">
                  <a:moveTo>
                    <a:pt x="1036320" y="0"/>
                  </a:moveTo>
                  <a:lnTo>
                    <a:pt x="0" y="0"/>
                  </a:lnTo>
                  <a:lnTo>
                    <a:pt x="0" y="301752"/>
                  </a:lnTo>
                  <a:lnTo>
                    <a:pt x="1036320" y="301752"/>
                  </a:lnTo>
                  <a:lnTo>
                    <a:pt x="1036320" y="0"/>
                  </a:lnTo>
                  <a:close/>
                </a:path>
              </a:pathLst>
            </a:custGeom>
            <a:solidFill>
              <a:srgbClr val="FF0000"/>
            </a:solidFill>
          </p:spPr>
          <p:txBody>
            <a:bodyPr bIns="0" lIns="0" numCol="1" rIns="0" rtlCol="0" tIns="0" wrap="square"/>
            <a:lstStyle/>
            <a:p>
              <a:endParaRPr/>
            </a:p>
          </p:txBody>
        </p:sp>
        <p:sp>
          <p:nvSpPr>
            <p:cNvPr id="25" name="object 26">
              <a:extLst>
                <a:ext uri="{FF2B5EF4-FFF2-40B4-BE49-F238E27FC236}">
                  <a16:creationId xmlns:a16="http://schemas.microsoft.com/office/drawing/2014/main" id="{EE181729-F96D-E1A9-BCE8-1A625E244600}"/>
                </a:ext>
              </a:extLst>
            </p:cNvPr>
            <p:cNvSpPr/>
            <p:nvPr/>
          </p:nvSpPr>
          <p:spPr>
            <a:xfrm>
              <a:off x="5868161" y="2940558"/>
              <a:ext cx="3031490" cy="1173480"/>
            </a:xfrm>
            <a:custGeom>
              <a:avLst/>
              <a:gdLst/>
              <a:ahLst/>
              <a:cxnLst/>
              <a:rect b="b" l="l" r="r" t="t"/>
              <a:pathLst>
                <a:path h="1173479" w="3031490">
                  <a:moveTo>
                    <a:pt x="2890266" y="0"/>
                  </a:moveTo>
                  <a:lnTo>
                    <a:pt x="140970" y="0"/>
                  </a:lnTo>
                  <a:lnTo>
                    <a:pt x="96414" y="7187"/>
                  </a:lnTo>
                  <a:lnTo>
                    <a:pt x="57716" y="27200"/>
                  </a:lnTo>
                  <a:lnTo>
                    <a:pt x="27200" y="57716"/>
                  </a:lnTo>
                  <a:lnTo>
                    <a:pt x="7187" y="96414"/>
                  </a:lnTo>
                  <a:lnTo>
                    <a:pt x="0" y="140969"/>
                  </a:lnTo>
                  <a:lnTo>
                    <a:pt x="0" y="1032509"/>
                  </a:lnTo>
                  <a:lnTo>
                    <a:pt x="7187" y="1077065"/>
                  </a:lnTo>
                  <a:lnTo>
                    <a:pt x="27200" y="1115763"/>
                  </a:lnTo>
                  <a:lnTo>
                    <a:pt x="57716" y="1146279"/>
                  </a:lnTo>
                  <a:lnTo>
                    <a:pt x="96414" y="1166292"/>
                  </a:lnTo>
                  <a:lnTo>
                    <a:pt x="140970" y="1173479"/>
                  </a:lnTo>
                  <a:lnTo>
                    <a:pt x="2890266" y="1173479"/>
                  </a:lnTo>
                  <a:lnTo>
                    <a:pt x="2934821" y="1166292"/>
                  </a:lnTo>
                  <a:lnTo>
                    <a:pt x="2973519" y="1146279"/>
                  </a:lnTo>
                  <a:lnTo>
                    <a:pt x="3004035" y="1115763"/>
                  </a:lnTo>
                  <a:lnTo>
                    <a:pt x="3024048" y="1077065"/>
                  </a:lnTo>
                  <a:lnTo>
                    <a:pt x="3031236" y="1032509"/>
                  </a:lnTo>
                  <a:lnTo>
                    <a:pt x="3031236" y="140969"/>
                  </a:lnTo>
                  <a:lnTo>
                    <a:pt x="3024048" y="96414"/>
                  </a:lnTo>
                  <a:lnTo>
                    <a:pt x="3004035" y="57716"/>
                  </a:lnTo>
                  <a:lnTo>
                    <a:pt x="2973519" y="27200"/>
                  </a:lnTo>
                  <a:lnTo>
                    <a:pt x="2934821" y="7187"/>
                  </a:lnTo>
                  <a:lnTo>
                    <a:pt x="2890266" y="0"/>
                  </a:lnTo>
                  <a:close/>
                </a:path>
              </a:pathLst>
            </a:custGeom>
            <a:solidFill>
              <a:srgbClr val="3493B9"/>
            </a:solidFill>
          </p:spPr>
          <p:txBody>
            <a:bodyPr bIns="0" lIns="0" numCol="1" rIns="0" rtlCol="0" tIns="0" wrap="square"/>
            <a:lstStyle/>
            <a:p>
              <a:endParaRPr/>
            </a:p>
          </p:txBody>
        </p:sp>
        <p:sp>
          <p:nvSpPr>
            <p:cNvPr id="26" name="object 27">
              <a:extLst>
                <a:ext uri="{FF2B5EF4-FFF2-40B4-BE49-F238E27FC236}">
                  <a16:creationId xmlns:a16="http://schemas.microsoft.com/office/drawing/2014/main" id="{6B39BD64-0A43-993E-1B4C-4CD1ABF7C472}"/>
                </a:ext>
              </a:extLst>
            </p:cNvPr>
            <p:cNvSpPr/>
            <p:nvPr/>
          </p:nvSpPr>
          <p:spPr>
            <a:xfrm>
              <a:off x="5868161" y="2940558"/>
              <a:ext cx="3031490" cy="1173480"/>
            </a:xfrm>
            <a:custGeom>
              <a:avLst/>
              <a:gdLst/>
              <a:ahLst/>
              <a:cxnLst/>
              <a:rect b="b" l="l" r="r" t="t"/>
              <a:pathLst>
                <a:path h="1173479" w="3031490">
                  <a:moveTo>
                    <a:pt x="0" y="140969"/>
                  </a:moveTo>
                  <a:lnTo>
                    <a:pt x="7187" y="96414"/>
                  </a:lnTo>
                  <a:lnTo>
                    <a:pt x="27200" y="57716"/>
                  </a:lnTo>
                  <a:lnTo>
                    <a:pt x="57716" y="27200"/>
                  </a:lnTo>
                  <a:lnTo>
                    <a:pt x="96414" y="7187"/>
                  </a:lnTo>
                  <a:lnTo>
                    <a:pt x="140970" y="0"/>
                  </a:lnTo>
                  <a:lnTo>
                    <a:pt x="2890266" y="0"/>
                  </a:lnTo>
                  <a:lnTo>
                    <a:pt x="2934821" y="7187"/>
                  </a:lnTo>
                  <a:lnTo>
                    <a:pt x="2973519" y="27200"/>
                  </a:lnTo>
                  <a:lnTo>
                    <a:pt x="3004035" y="57716"/>
                  </a:lnTo>
                  <a:lnTo>
                    <a:pt x="3024048" y="96414"/>
                  </a:lnTo>
                  <a:lnTo>
                    <a:pt x="3031236" y="140969"/>
                  </a:lnTo>
                  <a:lnTo>
                    <a:pt x="3031236" y="1032509"/>
                  </a:lnTo>
                  <a:lnTo>
                    <a:pt x="3024048" y="1077065"/>
                  </a:lnTo>
                  <a:lnTo>
                    <a:pt x="3004035" y="1115763"/>
                  </a:lnTo>
                  <a:lnTo>
                    <a:pt x="2973519" y="1146279"/>
                  </a:lnTo>
                  <a:lnTo>
                    <a:pt x="2934821" y="1166292"/>
                  </a:lnTo>
                  <a:lnTo>
                    <a:pt x="2890266" y="1173479"/>
                  </a:lnTo>
                  <a:lnTo>
                    <a:pt x="140970" y="1173479"/>
                  </a:lnTo>
                  <a:lnTo>
                    <a:pt x="96414" y="1166292"/>
                  </a:lnTo>
                  <a:lnTo>
                    <a:pt x="57716" y="1146279"/>
                  </a:lnTo>
                  <a:lnTo>
                    <a:pt x="27200" y="1115763"/>
                  </a:lnTo>
                  <a:lnTo>
                    <a:pt x="7187" y="1077065"/>
                  </a:lnTo>
                  <a:lnTo>
                    <a:pt x="0" y="1032509"/>
                  </a:lnTo>
                  <a:lnTo>
                    <a:pt x="0" y="140969"/>
                  </a:lnTo>
                  <a:close/>
                </a:path>
              </a:pathLst>
            </a:custGeom>
            <a:ln w="19812">
              <a:solidFill>
                <a:srgbClr val="226B87"/>
              </a:solidFill>
            </a:ln>
          </p:spPr>
          <p:txBody>
            <a:bodyPr bIns="0" lIns="0" numCol="1" rIns="0" rtlCol="0" tIns="0" wrap="square"/>
            <a:lstStyle/>
            <a:p>
              <a:endParaRPr/>
            </a:p>
          </p:txBody>
        </p:sp>
      </p:grpSp>
      <p:grpSp>
        <p:nvGrpSpPr>
          <p:cNvPr id="27" name="object 29">
            <a:extLst>
              <a:ext uri="{FF2B5EF4-FFF2-40B4-BE49-F238E27FC236}">
                <a16:creationId xmlns:a16="http://schemas.microsoft.com/office/drawing/2014/main" id="{C620DE3A-A353-552C-7609-B491B696C101}"/>
              </a:ext>
            </a:extLst>
          </p:cNvPr>
          <p:cNvGrpSpPr/>
          <p:nvPr/>
        </p:nvGrpSpPr>
        <p:grpSpPr>
          <a:xfrm>
            <a:off x="1613534" y="2710746"/>
            <a:ext cx="10069195" cy="2994660"/>
            <a:chOff x="1057655" y="3508432"/>
            <a:chExt cx="10069195" cy="2994660"/>
          </a:xfrm>
        </p:grpSpPr>
        <p:sp>
          <p:nvSpPr>
            <p:cNvPr id="28" name="object 30">
              <a:extLst>
                <a:ext uri="{FF2B5EF4-FFF2-40B4-BE49-F238E27FC236}">
                  <a16:creationId xmlns:a16="http://schemas.microsoft.com/office/drawing/2014/main" id="{0E5724C2-184A-6315-3658-9F79F0832E82}"/>
                </a:ext>
              </a:extLst>
            </p:cNvPr>
            <p:cNvSpPr/>
            <p:nvPr/>
          </p:nvSpPr>
          <p:spPr>
            <a:xfrm>
              <a:off x="1570481" y="3508432"/>
              <a:ext cx="4317365" cy="1186815"/>
            </a:xfrm>
            <a:custGeom>
              <a:avLst/>
              <a:gdLst/>
              <a:ahLst/>
              <a:cxnLst/>
              <a:rect b="b" l="l" r="r" t="t"/>
              <a:pathLst>
                <a:path h="1186814" w="4317365">
                  <a:moveTo>
                    <a:pt x="95757" y="1076013"/>
                  </a:moveTo>
                  <a:lnTo>
                    <a:pt x="0" y="1160595"/>
                  </a:lnTo>
                  <a:lnTo>
                    <a:pt x="125094" y="1186503"/>
                  </a:lnTo>
                  <a:lnTo>
                    <a:pt x="116745" y="1155057"/>
                  </a:lnTo>
                  <a:lnTo>
                    <a:pt x="89358" y="1155057"/>
                  </a:lnTo>
                  <a:lnTo>
                    <a:pt x="82470" y="1152642"/>
                  </a:lnTo>
                  <a:lnTo>
                    <a:pt x="76987" y="1147822"/>
                  </a:lnTo>
                  <a:lnTo>
                    <a:pt x="73660" y="1141037"/>
                  </a:lnTo>
                  <a:lnTo>
                    <a:pt x="73209" y="1133494"/>
                  </a:lnTo>
                  <a:lnTo>
                    <a:pt x="75580" y="1126607"/>
                  </a:lnTo>
                  <a:lnTo>
                    <a:pt x="80357" y="1121124"/>
                  </a:lnTo>
                  <a:lnTo>
                    <a:pt x="87122" y="1117796"/>
                  </a:lnTo>
                  <a:lnTo>
                    <a:pt x="105552" y="1112900"/>
                  </a:lnTo>
                  <a:lnTo>
                    <a:pt x="95757" y="1076013"/>
                  </a:lnTo>
                  <a:close/>
                </a:path>
                <a:path h="1186814" w="4317365">
                  <a:moveTo>
                    <a:pt x="105552" y="1112900"/>
                  </a:moveTo>
                  <a:lnTo>
                    <a:pt x="87122" y="1117796"/>
                  </a:lnTo>
                  <a:lnTo>
                    <a:pt x="80357" y="1121124"/>
                  </a:lnTo>
                  <a:lnTo>
                    <a:pt x="75580" y="1126607"/>
                  </a:lnTo>
                  <a:lnTo>
                    <a:pt x="73209" y="1133494"/>
                  </a:lnTo>
                  <a:lnTo>
                    <a:pt x="73660" y="1141037"/>
                  </a:lnTo>
                  <a:lnTo>
                    <a:pt x="76987" y="1147822"/>
                  </a:lnTo>
                  <a:lnTo>
                    <a:pt x="82470" y="1152642"/>
                  </a:lnTo>
                  <a:lnTo>
                    <a:pt x="89358" y="1155057"/>
                  </a:lnTo>
                  <a:lnTo>
                    <a:pt x="96900" y="1154626"/>
                  </a:lnTo>
                  <a:lnTo>
                    <a:pt x="115331" y="1149730"/>
                  </a:lnTo>
                  <a:lnTo>
                    <a:pt x="105552" y="1112900"/>
                  </a:lnTo>
                  <a:close/>
                </a:path>
                <a:path h="1186814" w="4317365">
                  <a:moveTo>
                    <a:pt x="115331" y="1149730"/>
                  </a:moveTo>
                  <a:lnTo>
                    <a:pt x="96900" y="1154626"/>
                  </a:lnTo>
                  <a:lnTo>
                    <a:pt x="89358" y="1155057"/>
                  </a:lnTo>
                  <a:lnTo>
                    <a:pt x="116745" y="1155057"/>
                  </a:lnTo>
                  <a:lnTo>
                    <a:pt x="115331" y="1149730"/>
                  </a:lnTo>
                  <a:close/>
                </a:path>
                <a:path h="1186814" w="4317365">
                  <a:moveTo>
                    <a:pt x="4300650" y="0"/>
                  </a:moveTo>
                  <a:lnTo>
                    <a:pt x="4293108" y="450"/>
                  </a:lnTo>
                  <a:lnTo>
                    <a:pt x="105552" y="1112900"/>
                  </a:lnTo>
                  <a:lnTo>
                    <a:pt x="115331" y="1149730"/>
                  </a:lnTo>
                  <a:lnTo>
                    <a:pt x="4302887" y="37280"/>
                  </a:lnTo>
                  <a:lnTo>
                    <a:pt x="4309669" y="33950"/>
                  </a:lnTo>
                  <a:lnTo>
                    <a:pt x="4314475" y="28453"/>
                  </a:lnTo>
                  <a:lnTo>
                    <a:pt x="4316853" y="21528"/>
                  </a:lnTo>
                  <a:lnTo>
                    <a:pt x="4316349" y="13912"/>
                  </a:lnTo>
                  <a:lnTo>
                    <a:pt x="4313021" y="7147"/>
                  </a:lnTo>
                  <a:lnTo>
                    <a:pt x="4307538" y="2371"/>
                  </a:lnTo>
                  <a:lnTo>
                    <a:pt x="4300650" y="0"/>
                  </a:lnTo>
                  <a:close/>
                </a:path>
              </a:pathLst>
            </a:custGeom>
            <a:solidFill>
              <a:srgbClr val="3493B9"/>
            </a:solidFill>
          </p:spPr>
          <p:txBody>
            <a:bodyPr bIns="0" lIns="0" numCol="1" rIns="0" rtlCol="0" tIns="0" wrap="square"/>
            <a:lstStyle/>
            <a:p>
              <a:endParaRPr/>
            </a:p>
          </p:txBody>
        </p:sp>
        <p:sp>
          <p:nvSpPr>
            <p:cNvPr id="29" name="object 31">
              <a:extLst>
                <a:ext uri="{FF2B5EF4-FFF2-40B4-BE49-F238E27FC236}">
                  <a16:creationId xmlns:a16="http://schemas.microsoft.com/office/drawing/2014/main" id="{BD12AFED-6524-42B9-BF58-0D5361EA2F56}"/>
                </a:ext>
              </a:extLst>
            </p:cNvPr>
            <p:cNvSpPr/>
            <p:nvPr/>
          </p:nvSpPr>
          <p:spPr>
            <a:xfrm>
              <a:off x="1076705" y="4520945"/>
              <a:ext cx="494030" cy="295910"/>
            </a:xfrm>
            <a:custGeom>
              <a:avLst/>
              <a:gdLst/>
              <a:ahLst/>
              <a:cxnLst/>
              <a:rect b="b" l="l" r="r" t="t"/>
              <a:pathLst>
                <a:path h="295910" w="494030">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sp>
          <p:nvSpPr>
            <p:cNvPr id="30" name="object 32">
              <a:extLst>
                <a:ext uri="{FF2B5EF4-FFF2-40B4-BE49-F238E27FC236}">
                  <a16:creationId xmlns:a16="http://schemas.microsoft.com/office/drawing/2014/main" id="{9A4175C2-F0A4-6B42-8077-A53CDBF9F28B}"/>
                </a:ext>
              </a:extLst>
            </p:cNvPr>
            <p:cNvSpPr/>
            <p:nvPr/>
          </p:nvSpPr>
          <p:spPr>
            <a:xfrm>
              <a:off x="6134861" y="4161281"/>
              <a:ext cx="4982210" cy="2331720"/>
            </a:xfrm>
            <a:custGeom>
              <a:avLst/>
              <a:gdLst/>
              <a:ahLst/>
              <a:cxnLst/>
              <a:rect b="b" l="l" r="r" t="t"/>
              <a:pathLst>
                <a:path h="2331720" w="4982209">
                  <a:moveTo>
                    <a:pt x="4732146" y="0"/>
                  </a:moveTo>
                  <a:lnTo>
                    <a:pt x="249809" y="0"/>
                  </a:lnTo>
                  <a:lnTo>
                    <a:pt x="204917" y="4026"/>
                  </a:lnTo>
                  <a:lnTo>
                    <a:pt x="162660" y="15633"/>
                  </a:lnTo>
                  <a:lnTo>
                    <a:pt x="123745" y="34115"/>
                  </a:lnTo>
                  <a:lnTo>
                    <a:pt x="88878" y="58766"/>
                  </a:lnTo>
                  <a:lnTo>
                    <a:pt x="58766" y="88878"/>
                  </a:lnTo>
                  <a:lnTo>
                    <a:pt x="34115" y="123745"/>
                  </a:lnTo>
                  <a:lnTo>
                    <a:pt x="15633" y="162660"/>
                  </a:lnTo>
                  <a:lnTo>
                    <a:pt x="4026" y="204917"/>
                  </a:lnTo>
                  <a:lnTo>
                    <a:pt x="0" y="249809"/>
                  </a:lnTo>
                  <a:lnTo>
                    <a:pt x="0" y="2081847"/>
                  </a:lnTo>
                  <a:lnTo>
                    <a:pt x="4026" y="2126761"/>
                  </a:lnTo>
                  <a:lnTo>
                    <a:pt x="15633" y="2169035"/>
                  </a:lnTo>
                  <a:lnTo>
                    <a:pt x="34115" y="2207961"/>
                  </a:lnTo>
                  <a:lnTo>
                    <a:pt x="58766" y="2242836"/>
                  </a:lnTo>
                  <a:lnTo>
                    <a:pt x="88878" y="2272952"/>
                  </a:lnTo>
                  <a:lnTo>
                    <a:pt x="123745" y="2297604"/>
                  </a:lnTo>
                  <a:lnTo>
                    <a:pt x="162660" y="2316087"/>
                  </a:lnTo>
                  <a:lnTo>
                    <a:pt x="204917" y="2327694"/>
                  </a:lnTo>
                  <a:lnTo>
                    <a:pt x="249809" y="2331720"/>
                  </a:lnTo>
                  <a:lnTo>
                    <a:pt x="4732146" y="2331720"/>
                  </a:lnTo>
                  <a:lnTo>
                    <a:pt x="4777038" y="2327694"/>
                  </a:lnTo>
                  <a:lnTo>
                    <a:pt x="4819295" y="2316087"/>
                  </a:lnTo>
                  <a:lnTo>
                    <a:pt x="4858210" y="2297604"/>
                  </a:lnTo>
                  <a:lnTo>
                    <a:pt x="4893077" y="2272952"/>
                  </a:lnTo>
                  <a:lnTo>
                    <a:pt x="4923189" y="2242836"/>
                  </a:lnTo>
                  <a:lnTo>
                    <a:pt x="4947840" y="2207961"/>
                  </a:lnTo>
                  <a:lnTo>
                    <a:pt x="4966322" y="2169035"/>
                  </a:lnTo>
                  <a:lnTo>
                    <a:pt x="4977929" y="2126761"/>
                  </a:lnTo>
                  <a:lnTo>
                    <a:pt x="4981956" y="2081847"/>
                  </a:lnTo>
                  <a:lnTo>
                    <a:pt x="4981956" y="249809"/>
                  </a:lnTo>
                  <a:lnTo>
                    <a:pt x="4977929" y="204917"/>
                  </a:lnTo>
                  <a:lnTo>
                    <a:pt x="4966322" y="162660"/>
                  </a:lnTo>
                  <a:lnTo>
                    <a:pt x="4947840" y="123745"/>
                  </a:lnTo>
                  <a:lnTo>
                    <a:pt x="4923189" y="88878"/>
                  </a:lnTo>
                  <a:lnTo>
                    <a:pt x="4893077" y="58766"/>
                  </a:lnTo>
                  <a:lnTo>
                    <a:pt x="4858210" y="34115"/>
                  </a:lnTo>
                  <a:lnTo>
                    <a:pt x="4819295" y="15633"/>
                  </a:lnTo>
                  <a:lnTo>
                    <a:pt x="4777038" y="4026"/>
                  </a:lnTo>
                  <a:lnTo>
                    <a:pt x="4732146" y="0"/>
                  </a:lnTo>
                  <a:close/>
                </a:path>
              </a:pathLst>
            </a:custGeom>
            <a:solidFill>
              <a:srgbClr val="3493B9"/>
            </a:solidFill>
          </p:spPr>
          <p:txBody>
            <a:bodyPr bIns="0" lIns="0" numCol="1" rIns="0" rtlCol="0" tIns="0" wrap="square"/>
            <a:lstStyle/>
            <a:p>
              <a:endParaRPr/>
            </a:p>
          </p:txBody>
        </p:sp>
        <p:sp>
          <p:nvSpPr>
            <p:cNvPr id="31" name="object 33">
              <a:extLst>
                <a:ext uri="{FF2B5EF4-FFF2-40B4-BE49-F238E27FC236}">
                  <a16:creationId xmlns:a16="http://schemas.microsoft.com/office/drawing/2014/main" id="{D202744F-D31F-342A-EFB8-24BD6398FAB3}"/>
                </a:ext>
              </a:extLst>
            </p:cNvPr>
            <p:cNvSpPr/>
            <p:nvPr/>
          </p:nvSpPr>
          <p:spPr>
            <a:xfrm>
              <a:off x="6134861" y="4161281"/>
              <a:ext cx="4982210" cy="2331720"/>
            </a:xfrm>
            <a:custGeom>
              <a:avLst/>
              <a:gdLst/>
              <a:ahLst/>
              <a:cxnLst/>
              <a:rect b="b" l="l" r="r" t="t"/>
              <a:pathLst>
                <a:path h="2331720" w="4982209">
                  <a:moveTo>
                    <a:pt x="0" y="249809"/>
                  </a:moveTo>
                  <a:lnTo>
                    <a:pt x="4026" y="204917"/>
                  </a:lnTo>
                  <a:lnTo>
                    <a:pt x="15633" y="162660"/>
                  </a:lnTo>
                  <a:lnTo>
                    <a:pt x="34115" y="123745"/>
                  </a:lnTo>
                  <a:lnTo>
                    <a:pt x="58766" y="88878"/>
                  </a:lnTo>
                  <a:lnTo>
                    <a:pt x="88878" y="58766"/>
                  </a:lnTo>
                  <a:lnTo>
                    <a:pt x="123745" y="34115"/>
                  </a:lnTo>
                  <a:lnTo>
                    <a:pt x="162660" y="15633"/>
                  </a:lnTo>
                  <a:lnTo>
                    <a:pt x="204917" y="4026"/>
                  </a:lnTo>
                  <a:lnTo>
                    <a:pt x="249809" y="0"/>
                  </a:lnTo>
                  <a:lnTo>
                    <a:pt x="4732146" y="0"/>
                  </a:lnTo>
                  <a:lnTo>
                    <a:pt x="4777038" y="4026"/>
                  </a:lnTo>
                  <a:lnTo>
                    <a:pt x="4819295" y="15633"/>
                  </a:lnTo>
                  <a:lnTo>
                    <a:pt x="4858210" y="34115"/>
                  </a:lnTo>
                  <a:lnTo>
                    <a:pt x="4893077" y="58766"/>
                  </a:lnTo>
                  <a:lnTo>
                    <a:pt x="4923189" y="88878"/>
                  </a:lnTo>
                  <a:lnTo>
                    <a:pt x="4947840" y="123745"/>
                  </a:lnTo>
                  <a:lnTo>
                    <a:pt x="4966322" y="162660"/>
                  </a:lnTo>
                  <a:lnTo>
                    <a:pt x="4977929" y="204917"/>
                  </a:lnTo>
                  <a:lnTo>
                    <a:pt x="4981956" y="249809"/>
                  </a:lnTo>
                  <a:lnTo>
                    <a:pt x="4981956" y="2081847"/>
                  </a:lnTo>
                  <a:lnTo>
                    <a:pt x="4977929" y="2126761"/>
                  </a:lnTo>
                  <a:lnTo>
                    <a:pt x="4966322" y="2169035"/>
                  </a:lnTo>
                  <a:lnTo>
                    <a:pt x="4947840" y="2207961"/>
                  </a:lnTo>
                  <a:lnTo>
                    <a:pt x="4923189" y="2242836"/>
                  </a:lnTo>
                  <a:lnTo>
                    <a:pt x="4893077" y="2272952"/>
                  </a:lnTo>
                  <a:lnTo>
                    <a:pt x="4858210" y="2297604"/>
                  </a:lnTo>
                  <a:lnTo>
                    <a:pt x="4819295" y="2316087"/>
                  </a:lnTo>
                  <a:lnTo>
                    <a:pt x="4777038" y="2327694"/>
                  </a:lnTo>
                  <a:lnTo>
                    <a:pt x="4732146" y="2331720"/>
                  </a:lnTo>
                  <a:lnTo>
                    <a:pt x="249809" y="2331720"/>
                  </a:lnTo>
                  <a:lnTo>
                    <a:pt x="204917" y="2327694"/>
                  </a:lnTo>
                  <a:lnTo>
                    <a:pt x="162660" y="2316087"/>
                  </a:lnTo>
                  <a:lnTo>
                    <a:pt x="123745" y="2297604"/>
                  </a:lnTo>
                  <a:lnTo>
                    <a:pt x="88878" y="2272952"/>
                  </a:lnTo>
                  <a:lnTo>
                    <a:pt x="58766" y="2242836"/>
                  </a:lnTo>
                  <a:lnTo>
                    <a:pt x="34115" y="2207961"/>
                  </a:lnTo>
                  <a:lnTo>
                    <a:pt x="15633" y="2169035"/>
                  </a:lnTo>
                  <a:lnTo>
                    <a:pt x="4026" y="2126761"/>
                  </a:lnTo>
                  <a:lnTo>
                    <a:pt x="0" y="2081847"/>
                  </a:lnTo>
                  <a:lnTo>
                    <a:pt x="0" y="249809"/>
                  </a:lnTo>
                  <a:close/>
                </a:path>
              </a:pathLst>
            </a:custGeom>
            <a:ln w="19812">
              <a:solidFill>
                <a:srgbClr val="226B87"/>
              </a:solidFill>
            </a:ln>
          </p:spPr>
          <p:txBody>
            <a:bodyPr bIns="0" lIns="0" numCol="1" rIns="0" rtlCol="0" tIns="0" wrap="square"/>
            <a:lstStyle/>
            <a:p>
              <a:endParaRPr/>
            </a:p>
          </p:txBody>
        </p:sp>
      </p:grpSp>
      <p:sp>
        <p:nvSpPr>
          <p:cNvPr id="32" name="object 34">
            <a:extLst>
              <a:ext uri="{FF2B5EF4-FFF2-40B4-BE49-F238E27FC236}">
                <a16:creationId xmlns:a16="http://schemas.microsoft.com/office/drawing/2014/main" id="{7B13364D-ABAE-6BBC-3814-0F6612DCC3D3}"/>
              </a:ext>
            </a:extLst>
          </p:cNvPr>
          <p:cNvSpPr txBox="1"/>
          <p:nvPr/>
        </p:nvSpPr>
        <p:spPr>
          <a:xfrm>
            <a:off x="6674485" y="3220555"/>
            <a:ext cx="4838065" cy="2384627"/>
          </a:xfrm>
          <a:prstGeom prst="rect">
            <a:avLst/>
          </a:prstGeom>
        </p:spPr>
        <p:txBody>
          <a:bodyPr bIns="0" lIns="0" numCol="1" rIns="0" rtlCol="0" tIns="167005" vert="horz" wrap="square">
            <a:spAutoFit/>
          </a:bodyPr>
          <a:lstStyle/>
          <a:p>
            <a:pPr algn="ctr" indent="-1271" marL="415280" marR="5080">
              <a:spcBef>
                <a:spcPts val="1215"/>
              </a:spcBef>
            </a:pPr>
            <a:r>
              <a:rPr dirty="0" sz="2400">
                <a:solidFill>
                  <a:srgbClr val="FFFFFF"/>
                </a:solidFill>
                <a:latin typeface="Palatino Linotype"/>
                <a:cs typeface="Palatino Linotype"/>
              </a:rPr>
              <a:t>So,</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to</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get</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3,</a:t>
            </a:r>
            <a:r>
              <a:rPr dirty="0" spc="-40" sz="2400">
                <a:solidFill>
                  <a:srgbClr val="FFFFFF"/>
                </a:solidFill>
                <a:latin typeface="Palatino Linotype"/>
                <a:cs typeface="Palatino Linotype"/>
              </a:rPr>
              <a:t> </a:t>
            </a:r>
            <a:r>
              <a:rPr dirty="0" spc="-25" sz="2400">
                <a:solidFill>
                  <a:srgbClr val="FFFFFF"/>
                </a:solidFill>
                <a:latin typeface="Palatino Linotype"/>
                <a:cs typeface="Palatino Linotype"/>
              </a:rPr>
              <a:t>we </a:t>
            </a:r>
            <a:r>
              <a:rPr dirty="0" sz="2400">
                <a:solidFill>
                  <a:srgbClr val="FFFFFF"/>
                </a:solidFill>
                <a:latin typeface="Palatino Linotype"/>
                <a:cs typeface="Palatino Linotype"/>
              </a:rPr>
              <a:t>need</a:t>
            </a:r>
            <a:r>
              <a:rPr dirty="0" spc="-71" sz="2400">
                <a:solidFill>
                  <a:srgbClr val="FFFFFF"/>
                </a:solidFill>
                <a:latin typeface="Palatino Linotype"/>
                <a:cs typeface="Palatino Linotype"/>
              </a:rPr>
              <a:t> </a:t>
            </a:r>
            <a:r>
              <a:rPr dirty="0" sz="2400">
                <a:solidFill>
                  <a:srgbClr val="FFFFFF"/>
                </a:solidFill>
                <a:latin typeface="Palatino Linotype"/>
                <a:cs typeface="Palatino Linotype"/>
              </a:rPr>
              <a:t>to</a:t>
            </a:r>
            <a:r>
              <a:rPr dirty="0" spc="-65" sz="2400">
                <a:solidFill>
                  <a:srgbClr val="FFFFFF"/>
                </a:solidFill>
                <a:latin typeface="Palatino Linotype"/>
                <a:cs typeface="Palatino Linotype"/>
              </a:rPr>
              <a:t> </a:t>
            </a:r>
            <a:r>
              <a:rPr dirty="0" sz="2400">
                <a:solidFill>
                  <a:srgbClr val="FFFFFF"/>
                </a:solidFill>
                <a:latin typeface="Palatino Linotype"/>
                <a:cs typeface="Palatino Linotype"/>
              </a:rPr>
              <a:t>concatenate</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first</a:t>
            </a:r>
            <a:r>
              <a:rPr dirty="0" spc="-65" sz="2400">
                <a:solidFill>
                  <a:srgbClr val="FFFFFF"/>
                </a:solidFill>
                <a:latin typeface="Palatino Linotype"/>
                <a:cs typeface="Palatino Linotype"/>
              </a:rPr>
              <a:t> </a:t>
            </a:r>
            <a:r>
              <a:rPr dirty="0" spc="-20" sz="2400">
                <a:solidFill>
                  <a:srgbClr val="FFFFFF"/>
                </a:solidFill>
                <a:latin typeface="Palatino Linotype"/>
                <a:cs typeface="Palatino Linotype"/>
              </a:rPr>
              <a:t>part </a:t>
            </a:r>
            <a:r>
              <a:rPr dirty="0" sz="2400">
                <a:solidFill>
                  <a:srgbClr val="FFFFFF"/>
                </a:solidFill>
                <a:latin typeface="Palatino Linotype"/>
                <a:cs typeface="Palatino Linotype"/>
              </a:rPr>
              <a:t>with</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second</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part</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that</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starts</a:t>
            </a:r>
            <a:r>
              <a:rPr dirty="0" spc="-31" sz="2400">
                <a:solidFill>
                  <a:srgbClr val="FFFFFF"/>
                </a:solidFill>
                <a:latin typeface="Palatino Linotype"/>
                <a:cs typeface="Palatino Linotype"/>
              </a:rPr>
              <a:t> </a:t>
            </a:r>
            <a:r>
              <a:rPr dirty="0" spc="-25" sz="2400">
                <a:solidFill>
                  <a:srgbClr val="FFFFFF"/>
                </a:solidFill>
                <a:latin typeface="Palatino Linotype"/>
                <a:cs typeface="Palatino Linotype"/>
              </a:rPr>
              <a:t>at </a:t>
            </a:r>
            <a:r>
              <a:rPr dirty="0" sz="2400">
                <a:solidFill>
                  <a:srgbClr val="FFFFFF"/>
                </a:solidFill>
                <a:latin typeface="Palatino Linotype"/>
                <a:cs typeface="Palatino Linotype"/>
              </a:rPr>
              <a:t>position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2</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and</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1" sz="2400">
                <a:solidFill>
                  <a:srgbClr val="FFFFFF"/>
                </a:solidFill>
                <a:latin typeface="Palatino Linotype"/>
                <a:cs typeface="Palatino Linotype"/>
              </a:rPr>
              <a:t> </a:t>
            </a:r>
            <a:r>
              <a:rPr dirty="0" spc="-25" sz="2400">
                <a:solidFill>
                  <a:srgbClr val="FFFFFF"/>
                </a:solidFill>
                <a:latin typeface="Palatino Linotype"/>
                <a:cs typeface="Palatino Linotype"/>
              </a:rPr>
              <a:t>2.</a:t>
            </a:r>
            <a:endParaRPr dirty="0" sz="2400">
              <a:latin typeface="Palatino Linotype"/>
              <a:cs typeface="Palatino Linotype"/>
            </a:endParaRPr>
          </a:p>
          <a:p>
            <a:pPr algn="ctr" indent="635" marL="516878" marR="107312"/>
            <a:r>
              <a:rPr dirty="0" sz="2400">
                <a:solidFill>
                  <a:srgbClr val="FFFFFF"/>
                </a:solidFill>
                <a:latin typeface="Palatino Linotype"/>
                <a:cs typeface="Palatino Linotype"/>
              </a:rPr>
              <a:t>Such</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strings</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are</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produced</a:t>
            </a:r>
            <a:r>
              <a:rPr dirty="0" spc="-45" sz="2400">
                <a:solidFill>
                  <a:srgbClr val="FFFFFF"/>
                </a:solidFill>
                <a:latin typeface="Palatino Linotype"/>
                <a:cs typeface="Palatino Linotype"/>
              </a:rPr>
              <a:t> </a:t>
            </a:r>
            <a:r>
              <a:rPr dirty="0" spc="-25" sz="2400">
                <a:solidFill>
                  <a:srgbClr val="FFFFFF"/>
                </a:solidFill>
                <a:latin typeface="Palatino Linotype"/>
                <a:cs typeface="Palatino Linotype"/>
              </a:rPr>
              <a:t>by </a:t>
            </a:r>
            <a:r>
              <a:rPr dirty="0" sz="2400">
                <a:solidFill>
                  <a:srgbClr val="FFFFFF"/>
                </a:solidFill>
                <a:latin typeface="Palatino Linotype"/>
                <a:cs typeface="Palatino Linotype"/>
              </a:rPr>
              <a:t>variables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cell</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2,2</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5" sz="2400">
                <a:solidFill>
                  <a:srgbClr val="FFFFFF"/>
                </a:solidFill>
                <a:latin typeface="Palatino Linotype"/>
                <a:cs typeface="Palatino Linotype"/>
              </a:rPr>
              <a:t> </a:t>
            </a:r>
            <a:r>
              <a:rPr dirty="0" spc="-11" sz="2400">
                <a:solidFill>
                  <a:srgbClr val="FFFFFF"/>
                </a:solidFill>
                <a:latin typeface="Palatino Linotype"/>
                <a:cs typeface="Palatino Linotype"/>
              </a:rPr>
              <a:t>table.</a:t>
            </a:r>
            <a:endParaRPr dirty="0" sz="2400">
              <a:latin typeface="Palatino Linotype"/>
              <a:cs typeface="Palatino Linotype"/>
            </a:endParaRPr>
          </a:p>
        </p:txBody>
      </p:sp>
      <p:grpSp>
        <p:nvGrpSpPr>
          <p:cNvPr id="33" name="object 35">
            <a:extLst>
              <a:ext uri="{FF2B5EF4-FFF2-40B4-BE49-F238E27FC236}">
                <a16:creationId xmlns:a16="http://schemas.microsoft.com/office/drawing/2014/main" id="{BFB75164-C2F2-DABA-3DF7-7E78212DAE53}"/>
              </a:ext>
            </a:extLst>
          </p:cNvPr>
          <p:cNvGrpSpPr/>
          <p:nvPr/>
        </p:nvGrpSpPr>
        <p:grpSpPr>
          <a:xfrm>
            <a:off x="2716912" y="4053206"/>
            <a:ext cx="3992879" cy="494665"/>
            <a:chOff x="2161032" y="4850891"/>
            <a:chExt cx="3992879" cy="494665"/>
          </a:xfrm>
        </p:grpSpPr>
        <p:sp>
          <p:nvSpPr>
            <p:cNvPr id="34" name="object 36">
              <a:extLst>
                <a:ext uri="{FF2B5EF4-FFF2-40B4-BE49-F238E27FC236}">
                  <a16:creationId xmlns:a16="http://schemas.microsoft.com/office/drawing/2014/main" id="{5B6CD51C-2371-B659-8585-E0F3CCBE6B0D}"/>
                </a:ext>
              </a:extLst>
            </p:cNvPr>
            <p:cNvSpPr/>
            <p:nvPr/>
          </p:nvSpPr>
          <p:spPr>
            <a:xfrm>
              <a:off x="2673858" y="4971033"/>
              <a:ext cx="3480435" cy="374650"/>
            </a:xfrm>
            <a:custGeom>
              <a:avLst/>
              <a:gdLst/>
              <a:ahLst/>
              <a:cxnLst/>
              <a:rect b="b" l="l" r="r" t="t"/>
              <a:pathLst>
                <a:path h="374650" w="3480435">
                  <a:moveTo>
                    <a:pt x="115489" y="37888"/>
                  </a:moveTo>
                  <a:lnTo>
                    <a:pt x="112099" y="75852"/>
                  </a:lnTo>
                  <a:lnTo>
                    <a:pt x="3459353" y="374523"/>
                  </a:lnTo>
                  <a:lnTo>
                    <a:pt x="3466909" y="373735"/>
                  </a:lnTo>
                  <a:lnTo>
                    <a:pt x="3473323" y="370220"/>
                  </a:lnTo>
                  <a:lnTo>
                    <a:pt x="3477926" y="364539"/>
                  </a:lnTo>
                  <a:lnTo>
                    <a:pt x="3480054" y="357251"/>
                  </a:lnTo>
                  <a:lnTo>
                    <a:pt x="3479194" y="349767"/>
                  </a:lnTo>
                  <a:lnTo>
                    <a:pt x="3475656" y="343392"/>
                  </a:lnTo>
                  <a:lnTo>
                    <a:pt x="3469999" y="338802"/>
                  </a:lnTo>
                  <a:lnTo>
                    <a:pt x="3462781" y="336677"/>
                  </a:lnTo>
                  <a:lnTo>
                    <a:pt x="115489" y="37888"/>
                  </a:lnTo>
                  <a:close/>
                </a:path>
                <a:path h="374650" w="3480435">
                  <a:moveTo>
                    <a:pt x="118872" y="0"/>
                  </a:moveTo>
                  <a:lnTo>
                    <a:pt x="0" y="46736"/>
                  </a:lnTo>
                  <a:lnTo>
                    <a:pt x="108712" y="113792"/>
                  </a:lnTo>
                  <a:lnTo>
                    <a:pt x="112099" y="75852"/>
                  </a:lnTo>
                  <a:lnTo>
                    <a:pt x="93218" y="74168"/>
                  </a:lnTo>
                  <a:lnTo>
                    <a:pt x="85929" y="72040"/>
                  </a:lnTo>
                  <a:lnTo>
                    <a:pt x="80248" y="67437"/>
                  </a:lnTo>
                  <a:lnTo>
                    <a:pt x="76733" y="61023"/>
                  </a:lnTo>
                  <a:lnTo>
                    <a:pt x="75946" y="53467"/>
                  </a:lnTo>
                  <a:lnTo>
                    <a:pt x="78071" y="46249"/>
                  </a:lnTo>
                  <a:lnTo>
                    <a:pt x="82661" y="40592"/>
                  </a:lnTo>
                  <a:lnTo>
                    <a:pt x="89036" y="37054"/>
                  </a:lnTo>
                  <a:lnTo>
                    <a:pt x="96519" y="36195"/>
                  </a:lnTo>
                  <a:lnTo>
                    <a:pt x="115640" y="36195"/>
                  </a:lnTo>
                  <a:lnTo>
                    <a:pt x="118872" y="0"/>
                  </a:lnTo>
                  <a:close/>
                </a:path>
                <a:path h="374650" w="3480435">
                  <a:moveTo>
                    <a:pt x="96519" y="36195"/>
                  </a:moveTo>
                  <a:lnTo>
                    <a:pt x="89036" y="37054"/>
                  </a:lnTo>
                  <a:lnTo>
                    <a:pt x="82661" y="40592"/>
                  </a:lnTo>
                  <a:lnTo>
                    <a:pt x="78071" y="46249"/>
                  </a:lnTo>
                  <a:lnTo>
                    <a:pt x="75946" y="53467"/>
                  </a:lnTo>
                  <a:lnTo>
                    <a:pt x="76733" y="61023"/>
                  </a:lnTo>
                  <a:lnTo>
                    <a:pt x="80248" y="67437"/>
                  </a:lnTo>
                  <a:lnTo>
                    <a:pt x="85929" y="72040"/>
                  </a:lnTo>
                  <a:lnTo>
                    <a:pt x="93218" y="74168"/>
                  </a:lnTo>
                  <a:lnTo>
                    <a:pt x="112099" y="75852"/>
                  </a:lnTo>
                  <a:lnTo>
                    <a:pt x="115489" y="37888"/>
                  </a:lnTo>
                  <a:lnTo>
                    <a:pt x="96519" y="36195"/>
                  </a:lnTo>
                  <a:close/>
                </a:path>
                <a:path h="374650" w="3480435">
                  <a:moveTo>
                    <a:pt x="115640" y="36195"/>
                  </a:moveTo>
                  <a:lnTo>
                    <a:pt x="96519" y="36195"/>
                  </a:lnTo>
                  <a:lnTo>
                    <a:pt x="115489" y="37888"/>
                  </a:lnTo>
                  <a:lnTo>
                    <a:pt x="115563" y="37054"/>
                  </a:lnTo>
                  <a:lnTo>
                    <a:pt x="115640" y="36195"/>
                  </a:lnTo>
                  <a:close/>
                </a:path>
              </a:pathLst>
            </a:custGeom>
            <a:solidFill>
              <a:srgbClr val="3493B9"/>
            </a:solidFill>
          </p:spPr>
          <p:txBody>
            <a:bodyPr bIns="0" lIns="0" numCol="1" rIns="0" rtlCol="0" tIns="0" wrap="square"/>
            <a:lstStyle/>
            <a:p>
              <a:endParaRPr/>
            </a:p>
          </p:txBody>
        </p:sp>
        <p:sp>
          <p:nvSpPr>
            <p:cNvPr id="35" name="object 37">
              <a:extLst>
                <a:ext uri="{FF2B5EF4-FFF2-40B4-BE49-F238E27FC236}">
                  <a16:creationId xmlns:a16="http://schemas.microsoft.com/office/drawing/2014/main" id="{C063E471-954E-FD47-B91C-0D67F34C34BF}"/>
                </a:ext>
              </a:extLst>
            </p:cNvPr>
            <p:cNvSpPr/>
            <p:nvPr/>
          </p:nvSpPr>
          <p:spPr>
            <a:xfrm>
              <a:off x="2180082" y="4869941"/>
              <a:ext cx="494030" cy="295910"/>
            </a:xfrm>
            <a:custGeom>
              <a:avLst/>
              <a:gdLst/>
              <a:ahLst/>
              <a:cxnLst/>
              <a:rect b="b" l="l" r="r" t="t"/>
              <a:pathLst>
                <a:path h="295910" w="494030">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grpSp>
      <p:sp>
        <p:nvSpPr>
          <p:cNvPr id="36" name="TextBox 35">
            <a:extLst>
              <a:ext uri="{FF2B5EF4-FFF2-40B4-BE49-F238E27FC236}">
                <a16:creationId xmlns:a16="http://schemas.microsoft.com/office/drawing/2014/main" id="{0E282FC5-D804-DFAC-9C64-0155DAE6B203}"/>
              </a:ext>
            </a:extLst>
          </p:cNvPr>
          <p:cNvSpPr txBox="1"/>
          <p:nvPr/>
        </p:nvSpPr>
        <p:spPr>
          <a:xfrm>
            <a:off x="6592695" y="2207092"/>
            <a:ext cx="3733800" cy="923330"/>
          </a:xfrm>
          <a:prstGeom prst="rect">
            <a:avLst/>
          </a:prstGeom>
          <a:noFill/>
        </p:spPr>
        <p:txBody>
          <a:bodyPr numCol="1" wrap="square">
            <a:spAutoFit/>
          </a:bodyPr>
          <a:lstStyle/>
          <a:p>
            <a:pPr indent="61913" marL="88900" marR="893422">
              <a:spcBef>
                <a:spcPts val="1451"/>
              </a:spcBef>
            </a:pPr>
            <a:r>
              <a:rPr dirty="0" lang="en-US" sz="1800">
                <a:solidFill>
                  <a:schemeClr val="bg1"/>
                </a:solidFill>
                <a:latin typeface="Palatino Linotype"/>
                <a:cs typeface="Palatino Linotype"/>
              </a:rPr>
              <a:t>A</a:t>
            </a:r>
            <a:r>
              <a:rPr dirty="0" lang="en-US" spc="-55" sz="1800">
                <a:solidFill>
                  <a:schemeClr val="bg1"/>
                </a:solidFill>
                <a:latin typeface="Palatino Linotype"/>
                <a:cs typeface="Palatino Linotype"/>
              </a:rPr>
              <a:t> </a:t>
            </a:r>
            <a:r>
              <a:rPr dirty="0" lang="en-US" sz="1800">
                <a:solidFill>
                  <a:schemeClr val="bg1"/>
                </a:solidFill>
                <a:latin typeface="Palatino Linotype"/>
                <a:cs typeface="Palatino Linotype"/>
              </a:rPr>
              <a:t>string</a:t>
            </a:r>
            <a:r>
              <a:rPr dirty="0" lang="en-US" spc="-35" sz="1800">
                <a:solidFill>
                  <a:schemeClr val="bg1"/>
                </a:solidFill>
                <a:latin typeface="Palatino Linotype"/>
                <a:cs typeface="Palatino Linotype"/>
              </a:rPr>
              <a:t> </a:t>
            </a:r>
            <a:r>
              <a:rPr dirty="0" lang="en-US" spc="-11" sz="1800">
                <a:solidFill>
                  <a:schemeClr val="bg1"/>
                </a:solidFill>
                <a:latin typeface="Palatino Linotype"/>
                <a:cs typeface="Palatino Linotype"/>
              </a:rPr>
              <a:t>produced </a:t>
            </a:r>
            <a:r>
              <a:rPr dirty="0" lang="en-US" sz="1800">
                <a:solidFill>
                  <a:schemeClr val="bg1"/>
                </a:solidFill>
                <a:latin typeface="Palatino Linotype"/>
                <a:cs typeface="Palatino Linotype"/>
              </a:rPr>
              <a:t>by</a:t>
            </a:r>
            <a:r>
              <a:rPr dirty="0" lang="en-US" spc="-15" sz="1800">
                <a:solidFill>
                  <a:schemeClr val="bg1"/>
                </a:solidFill>
                <a:latin typeface="Palatino Linotype"/>
                <a:cs typeface="Palatino Linotype"/>
              </a:rPr>
              <a:t> </a:t>
            </a:r>
            <a:r>
              <a:rPr dirty="0" lang="en-US" sz="1800">
                <a:solidFill>
                  <a:schemeClr val="bg1"/>
                </a:solidFill>
                <a:latin typeface="Palatino Linotype"/>
                <a:cs typeface="Palatino Linotype"/>
              </a:rPr>
              <a:t>a</a:t>
            </a:r>
            <a:r>
              <a:rPr dirty="0" lang="en-US" spc="-11" sz="1800">
                <a:solidFill>
                  <a:schemeClr val="bg1"/>
                </a:solidFill>
                <a:latin typeface="Palatino Linotype"/>
                <a:cs typeface="Palatino Linotype"/>
              </a:rPr>
              <a:t> </a:t>
            </a:r>
            <a:r>
              <a:rPr dirty="0" lang="en-US" sz="1800">
                <a:solidFill>
                  <a:schemeClr val="bg1"/>
                </a:solidFill>
                <a:latin typeface="Palatino Linotype"/>
                <a:cs typeface="Palatino Linotype"/>
              </a:rPr>
              <a:t>variable</a:t>
            </a:r>
            <a:r>
              <a:rPr dirty="0" lang="en-US" spc="-15" sz="1800">
                <a:solidFill>
                  <a:schemeClr val="bg1"/>
                </a:solidFill>
                <a:latin typeface="Palatino Linotype"/>
                <a:cs typeface="Palatino Linotype"/>
              </a:rPr>
              <a:t> </a:t>
            </a:r>
            <a:r>
              <a:rPr dirty="0" lang="en-US" sz="1800">
                <a:solidFill>
                  <a:schemeClr val="bg1"/>
                </a:solidFill>
                <a:latin typeface="Palatino Linotype"/>
                <a:cs typeface="Palatino Linotype"/>
              </a:rPr>
              <a:t>in</a:t>
            </a:r>
            <a:r>
              <a:rPr dirty="0" lang="en-US" spc="-11" sz="1800">
                <a:solidFill>
                  <a:schemeClr val="bg1"/>
                </a:solidFill>
                <a:latin typeface="Palatino Linotype"/>
                <a:cs typeface="Palatino Linotype"/>
              </a:rPr>
              <a:t> </a:t>
            </a:r>
            <a:r>
              <a:rPr dirty="0" lang="en-US" spc="-20" sz="1800">
                <a:solidFill>
                  <a:schemeClr val="bg1"/>
                </a:solidFill>
                <a:latin typeface="Palatino Linotype"/>
                <a:cs typeface="Palatino Linotype"/>
              </a:rPr>
              <a:t>cell 1,1 has a length of 1</a:t>
            </a:r>
            <a:endParaRPr dirty="0" lang="en-US" sz="1800">
              <a:solidFill>
                <a:schemeClr val="bg1"/>
              </a:solidFill>
              <a:latin typeface="Palatino Linotype"/>
              <a:cs typeface="Palatino Linotype"/>
            </a:endParaRPr>
          </a:p>
        </p:txBody>
      </p:sp>
    </p:spTree>
    <p:extLst>
      <p:ext uri="{BB962C8B-B14F-4D97-AF65-F5344CB8AC3E}">
        <p14:creationId xmlns:p14="http://schemas.microsoft.com/office/powerpoint/2010/main" val="15778468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9C956FF7-ED66-204C-185E-A8701D0A1DE1}"/>
              </a:ext>
            </a:extLst>
          </p:cNvPr>
          <p:cNvSpPr txBox="1"/>
          <p:nvPr/>
        </p:nvSpPr>
        <p:spPr>
          <a:xfrm>
            <a:off x="657782" y="6969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3" name="object 4">
            <a:extLst>
              <a:ext uri="{FF2B5EF4-FFF2-40B4-BE49-F238E27FC236}">
                <a16:creationId xmlns:a16="http://schemas.microsoft.com/office/drawing/2014/main" id="{2271CB5E-CB8B-BA1C-4942-497584C9E0EF}"/>
              </a:ext>
            </a:extLst>
          </p:cNvPr>
          <p:cNvSpPr txBox="1"/>
          <p:nvPr/>
        </p:nvSpPr>
        <p:spPr>
          <a:xfrm>
            <a:off x="1545969" y="33810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4" name="object 5">
            <a:extLst>
              <a:ext uri="{FF2B5EF4-FFF2-40B4-BE49-F238E27FC236}">
                <a16:creationId xmlns:a16="http://schemas.microsoft.com/office/drawing/2014/main" id="{4098AEC2-0977-DCD9-74D9-342BA96AA45B}"/>
              </a:ext>
            </a:extLst>
          </p:cNvPr>
          <p:cNvSpPr txBox="1"/>
          <p:nvPr/>
        </p:nvSpPr>
        <p:spPr>
          <a:xfrm>
            <a:off x="2669157" y="33810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5" name="object 6">
            <a:extLst>
              <a:ext uri="{FF2B5EF4-FFF2-40B4-BE49-F238E27FC236}">
                <a16:creationId xmlns:a16="http://schemas.microsoft.com/office/drawing/2014/main" id="{EFD75DD9-754F-7C7B-A96F-5AA486DFC9B0}"/>
              </a:ext>
            </a:extLst>
          </p:cNvPr>
          <p:cNvSpPr txBox="1"/>
          <p:nvPr/>
        </p:nvSpPr>
        <p:spPr>
          <a:xfrm>
            <a:off x="3679824" y="27502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6" name="object 7">
            <a:extLst>
              <a:ext uri="{FF2B5EF4-FFF2-40B4-BE49-F238E27FC236}">
                <a16:creationId xmlns:a16="http://schemas.microsoft.com/office/drawing/2014/main" id="{CDD9FCF5-1504-5EDF-B469-8664E0E27CC5}"/>
              </a:ext>
            </a:extLst>
          </p:cNvPr>
          <p:cNvSpPr txBox="1"/>
          <p:nvPr/>
        </p:nvSpPr>
        <p:spPr>
          <a:xfrm>
            <a:off x="4822825" y="27502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7" name="object 8">
            <a:extLst>
              <a:ext uri="{FF2B5EF4-FFF2-40B4-BE49-F238E27FC236}">
                <a16:creationId xmlns:a16="http://schemas.microsoft.com/office/drawing/2014/main" id="{1CE04495-F129-E341-26FB-E2F819E452F4}"/>
              </a:ext>
            </a:extLst>
          </p:cNvPr>
          <p:cNvSpPr txBox="1"/>
          <p:nvPr/>
        </p:nvSpPr>
        <p:spPr>
          <a:xfrm>
            <a:off x="5789420" y="27502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8" name="object 9">
            <a:extLst>
              <a:ext uri="{FF2B5EF4-FFF2-40B4-BE49-F238E27FC236}">
                <a16:creationId xmlns:a16="http://schemas.microsoft.com/office/drawing/2014/main" id="{92A01756-345D-DBFC-7D8E-BC7002120E51}"/>
              </a:ext>
            </a:extLst>
          </p:cNvPr>
          <p:cNvSpPr txBox="1"/>
          <p:nvPr/>
        </p:nvSpPr>
        <p:spPr>
          <a:xfrm>
            <a:off x="678407" y="36355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9" name="object 10">
            <a:extLst>
              <a:ext uri="{FF2B5EF4-FFF2-40B4-BE49-F238E27FC236}">
                <a16:creationId xmlns:a16="http://schemas.microsoft.com/office/drawing/2014/main" id="{4A2237A3-8005-C41E-0403-59ABA8CD0585}"/>
              </a:ext>
            </a:extLst>
          </p:cNvPr>
          <p:cNvGraphicFramePr>
            <a:graphicFrameLocks noGrp="1"/>
          </p:cNvGraphicFramePr>
          <p:nvPr/>
        </p:nvGraphicFramePr>
        <p:xfrm>
          <a:off x="1299591" y="3789730"/>
          <a:ext cx="5003804" cy="1928115"/>
        </p:xfrm>
        <a:graphic>
          <a:graphicData uri="http://schemas.openxmlformats.org/drawingml/2006/table">
            <a:tbl>
              <a:tblPr bandRow="1" firstRow="1">
                <a:tableStyleId>{2D5ABB26-0587-4C30-8999-92F81FD0307C}</a:tableStyleId>
              </a:tblPr>
              <a:tblGrid>
                <a:gridCol w="212725">
                  <a:extLst>
                    <a:ext uri="{9D8B030D-6E8A-4147-A177-3AD203B41FA5}">
                      <a16:colId xmlns:a16="http://schemas.microsoft.com/office/drawing/2014/main" val="20000"/>
                    </a:ext>
                  </a:extLst>
                </a:gridCol>
                <a:gridCol w="494031">
                  <a:extLst>
                    <a:ext uri="{9D8B030D-6E8A-4147-A177-3AD203B41FA5}">
                      <a16:colId xmlns:a16="http://schemas.microsoft.com/office/drawing/2014/main" val="20001"/>
                    </a:ext>
                  </a:extLst>
                </a:gridCol>
                <a:gridCol w="384811">
                  <a:extLst>
                    <a:ext uri="{9D8B030D-6E8A-4147-A177-3AD203B41FA5}">
                      <a16:colId xmlns:a16="http://schemas.microsoft.com/office/drawing/2014/main" val="20002"/>
                    </a:ext>
                  </a:extLst>
                </a:gridCol>
                <a:gridCol w="224791">
                  <a:extLst>
                    <a:ext uri="{9D8B030D-6E8A-4147-A177-3AD203B41FA5}">
                      <a16:colId xmlns:a16="http://schemas.microsoft.com/office/drawing/2014/main" val="20003"/>
                    </a:ext>
                  </a:extLst>
                </a:gridCol>
                <a:gridCol w="494031">
                  <a:extLst>
                    <a:ext uri="{9D8B030D-6E8A-4147-A177-3AD203B41FA5}">
                      <a16:colId xmlns:a16="http://schemas.microsoft.com/office/drawing/2014/main" val="20004"/>
                    </a:ext>
                  </a:extLst>
                </a:gridCol>
                <a:gridCol w="400051">
                  <a:extLst>
                    <a:ext uri="{9D8B030D-6E8A-4147-A177-3AD203B41FA5}">
                      <a16:colId xmlns:a16="http://schemas.microsoft.com/office/drawing/2014/main" val="20005"/>
                    </a:ext>
                  </a:extLst>
                </a:gridCol>
                <a:gridCol w="888364">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gridCol w="800100">
                  <a:extLst>
                    <a:ext uri="{9D8B030D-6E8A-4147-A177-3AD203B41FA5}">
                      <a16:colId xmlns:a16="http://schemas.microsoft.com/office/drawing/2014/main" val="20008"/>
                    </a:ext>
                  </a:extLst>
                </a:gridCol>
              </a:tblGrid>
              <a:tr h="416052">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87630">
                        <a:lnSpc>
                          <a:spcPts val="27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gridSpan="3">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08585">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344171">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hMerge="1">
                  <a:txBody>
                    <a:bodyPr numCol="1"/>
                    <a:lstStyle/>
                    <a:p>
                      <a:endParaRPr/>
                    </a:p>
                  </a:txBody>
                  <a:tcPr marB="0" marL="0" marR="0" marT="0"/>
                </a:tc>
                <a:tc hMerge="1">
                  <a:txBody>
                    <a:bodyPr numCol="1"/>
                    <a:lstStyle/>
                    <a:p>
                      <a:endParaRPr/>
                    </a:p>
                  </a:txBody>
                  <a:tcPr marB="0" marL="0" marR="0" marT="0"/>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10" name="object 11">
            <a:extLst>
              <a:ext uri="{FF2B5EF4-FFF2-40B4-BE49-F238E27FC236}">
                <a16:creationId xmlns:a16="http://schemas.microsoft.com/office/drawing/2014/main" id="{58AD65E4-C381-F9B7-A00A-68D186451FAA}"/>
              </a:ext>
            </a:extLst>
          </p:cNvPr>
          <p:cNvSpPr txBox="1"/>
          <p:nvPr/>
        </p:nvSpPr>
        <p:spPr>
          <a:xfrm>
            <a:off x="644880" y="376123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2">
            <a:extLst>
              <a:ext uri="{FF2B5EF4-FFF2-40B4-BE49-F238E27FC236}">
                <a16:creationId xmlns:a16="http://schemas.microsoft.com/office/drawing/2014/main" id="{B765AB48-9345-7FE5-6839-2DB722010E40}"/>
              </a:ext>
            </a:extLst>
          </p:cNvPr>
          <p:cNvSpPr txBox="1"/>
          <p:nvPr/>
        </p:nvSpPr>
        <p:spPr>
          <a:xfrm>
            <a:off x="1749297" y="31650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2" name="object 13">
            <a:extLst>
              <a:ext uri="{FF2B5EF4-FFF2-40B4-BE49-F238E27FC236}">
                <a16:creationId xmlns:a16="http://schemas.microsoft.com/office/drawing/2014/main" id="{F82AFE47-B02D-856D-29F6-D4F9A468F9B3}"/>
              </a:ext>
            </a:extLst>
          </p:cNvPr>
          <p:cNvSpPr txBox="1"/>
          <p:nvPr/>
        </p:nvSpPr>
        <p:spPr>
          <a:xfrm>
            <a:off x="1393570" y="28983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3" name="object 14">
            <a:extLst>
              <a:ext uri="{FF2B5EF4-FFF2-40B4-BE49-F238E27FC236}">
                <a16:creationId xmlns:a16="http://schemas.microsoft.com/office/drawing/2014/main" id="{D450B69D-0700-93CE-CB11-1DF8D81FDB4C}"/>
              </a:ext>
            </a:extLst>
          </p:cNvPr>
          <p:cNvSpPr txBox="1"/>
          <p:nvPr/>
        </p:nvSpPr>
        <p:spPr>
          <a:xfrm>
            <a:off x="3886200" y="609600"/>
            <a:ext cx="7648018" cy="1524000"/>
          </a:xfrm>
          <a:prstGeom prst="rect">
            <a:avLst/>
          </a:prstGeom>
        </p:spPr>
        <p:txBody>
          <a:bodyPr bIns="0" lIns="0" numCol="1" rIns="0" rtlCol="0" tIns="12700" vert="horz" wrap="square">
            <a:spAutoFit/>
          </a:bodyPr>
          <a:lstStyle/>
          <a:p>
            <a:pPr marL="12700" marR="5080">
              <a:spcBef>
                <a:spcPts val="100"/>
              </a:spcBef>
              <a:tabLst>
                <a:tab algn="l" pos="2016710"/>
              </a:tabLst>
            </a:pPr>
            <a:r>
              <a:rPr dirty="0" sz="2400">
                <a:latin typeface="Palatino Linotype"/>
                <a:cs typeface="Palatino Linotype"/>
              </a:rPr>
              <a:t>So,</a:t>
            </a:r>
            <a:r>
              <a:rPr dirty="0" spc="-25" sz="2400">
                <a:latin typeface="Palatino Linotype"/>
                <a:cs typeface="Palatino Linotype"/>
              </a:rPr>
              <a:t> </a:t>
            </a:r>
            <a:r>
              <a:rPr dirty="0" sz="2400">
                <a:latin typeface="Palatino Linotype"/>
                <a:cs typeface="Palatino Linotype"/>
              </a:rPr>
              <a:t>now</a:t>
            </a:r>
            <a:r>
              <a:rPr dirty="0" spc="-20" sz="2400">
                <a:latin typeface="Palatino Linotype"/>
                <a:cs typeface="Palatino Linotype"/>
              </a:rPr>
              <a:t> </a:t>
            </a:r>
            <a:r>
              <a:rPr dirty="0" sz="2400">
                <a:latin typeface="Palatino Linotype"/>
                <a:cs typeface="Palatino Linotype"/>
              </a:rPr>
              <a:t>we</a:t>
            </a:r>
            <a:r>
              <a:rPr dirty="0" spc="-20" sz="2400">
                <a:latin typeface="Palatino Linotype"/>
                <a:cs typeface="Palatino Linotype"/>
              </a:rPr>
              <a:t> </a:t>
            </a:r>
            <a:r>
              <a:rPr dirty="0" sz="2400">
                <a:latin typeface="Palatino Linotype"/>
                <a:cs typeface="Palatino Linotype"/>
              </a:rPr>
              <a:t>know</a:t>
            </a:r>
            <a:r>
              <a:rPr dirty="0" spc="-20" sz="2400">
                <a:latin typeface="Palatino Linotype"/>
                <a:cs typeface="Palatino Linotype"/>
              </a:rPr>
              <a:t> </a:t>
            </a:r>
            <a:r>
              <a:rPr dirty="0" sz="2400">
                <a:latin typeface="Palatino Linotype"/>
                <a:cs typeface="Palatino Linotype"/>
              </a:rPr>
              <a:t>that</a:t>
            </a:r>
            <a:r>
              <a:rPr dirty="0" spc="-5" sz="2400">
                <a:latin typeface="Palatino Linotype"/>
                <a:cs typeface="Palatino Linotype"/>
              </a:rPr>
              <a:t> </a:t>
            </a:r>
            <a:r>
              <a:rPr dirty="0" sz="2400">
                <a:latin typeface="Palatino Linotype"/>
                <a:cs typeface="Palatino Linotype"/>
              </a:rPr>
              <a:t>we</a:t>
            </a:r>
            <a:r>
              <a:rPr dirty="0" spc="-35" sz="2400">
                <a:latin typeface="Palatino Linotype"/>
                <a:cs typeface="Palatino Linotype"/>
              </a:rPr>
              <a:t> </a:t>
            </a:r>
            <a:r>
              <a:rPr dirty="0" sz="2400">
                <a:latin typeface="Palatino Linotype"/>
                <a:cs typeface="Palatino Linotype"/>
              </a:rPr>
              <a:t>can</a:t>
            </a:r>
            <a:r>
              <a:rPr dirty="0" spc="-25" sz="2400">
                <a:latin typeface="Palatino Linotype"/>
                <a:cs typeface="Palatino Linotype"/>
              </a:rPr>
              <a:t> </a:t>
            </a:r>
            <a:r>
              <a:rPr dirty="0" sz="2400">
                <a:latin typeface="Palatino Linotype"/>
                <a:cs typeface="Palatino Linotype"/>
              </a:rPr>
              <a:t>get</a:t>
            </a:r>
            <a:r>
              <a:rPr dirty="0" spc="-15" sz="2400">
                <a:latin typeface="Palatino Linotype"/>
                <a:cs typeface="Palatino Linotype"/>
              </a:rPr>
              <a:t> </a:t>
            </a:r>
            <a:r>
              <a:rPr dirty="0" sz="2400">
                <a:latin typeface="Palatino Linotype"/>
                <a:cs typeface="Palatino Linotype"/>
              </a:rPr>
              <a:t>a</a:t>
            </a:r>
            <a:r>
              <a:rPr dirty="0" spc="-20" sz="2400">
                <a:latin typeface="Palatino Linotype"/>
                <a:cs typeface="Palatino Linotype"/>
              </a:rPr>
              <a:t> </a:t>
            </a:r>
            <a:r>
              <a:rPr dirty="0" spc="-11" sz="2400">
                <a:latin typeface="Palatino Linotype"/>
                <a:cs typeface="Palatino Linotype"/>
              </a:rPr>
              <a:t>substring </a:t>
            </a:r>
            <a:r>
              <a:rPr dirty="0" sz="2400">
                <a:latin typeface="Palatino Linotype"/>
                <a:cs typeface="Palatino Linotype"/>
              </a:rPr>
              <a:t>of</a:t>
            </a:r>
            <a:r>
              <a:rPr dirty="0" spc="-51" sz="2400">
                <a:latin typeface="Palatino Linotype"/>
                <a:cs typeface="Palatino Linotype"/>
              </a:rPr>
              <a:t> </a:t>
            </a:r>
            <a:r>
              <a:rPr dirty="0" sz="2400">
                <a:latin typeface="Palatino Linotype"/>
                <a:cs typeface="Palatino Linotype"/>
              </a:rPr>
              <a:t>length</a:t>
            </a:r>
            <a:r>
              <a:rPr dirty="0" spc="-31" sz="2400">
                <a:latin typeface="Palatino Linotype"/>
                <a:cs typeface="Palatino Linotype"/>
              </a:rPr>
              <a:t> </a:t>
            </a:r>
            <a:r>
              <a:rPr dirty="0" sz="2400">
                <a:latin typeface="Palatino Linotype"/>
                <a:cs typeface="Palatino Linotype"/>
              </a:rPr>
              <a:t>3</a:t>
            </a:r>
            <a:r>
              <a:rPr dirty="0" spc="-45" sz="2400">
                <a:latin typeface="Palatino Linotype"/>
                <a:cs typeface="Palatino Linotype"/>
              </a:rPr>
              <a:t> </a:t>
            </a:r>
            <a:r>
              <a:rPr dirty="0" sz="2400">
                <a:latin typeface="Palatino Linotype"/>
                <a:cs typeface="Palatino Linotype"/>
              </a:rPr>
              <a:t>starting</a:t>
            </a:r>
            <a:r>
              <a:rPr dirty="0" spc="-35" sz="2400">
                <a:latin typeface="Palatino Linotype"/>
                <a:cs typeface="Palatino Linotype"/>
              </a:rPr>
              <a:t> </a:t>
            </a:r>
            <a:r>
              <a:rPr dirty="0" sz="2400">
                <a:latin typeface="Palatino Linotype"/>
                <a:cs typeface="Palatino Linotype"/>
              </a:rPr>
              <a:t>at</a:t>
            </a:r>
            <a:r>
              <a:rPr dirty="0" spc="-45" sz="2400">
                <a:latin typeface="Palatino Linotype"/>
                <a:cs typeface="Palatino Linotype"/>
              </a:rPr>
              <a:t> </a:t>
            </a:r>
            <a:r>
              <a:rPr dirty="0" sz="2400">
                <a:latin typeface="Palatino Linotype"/>
                <a:cs typeface="Palatino Linotype"/>
              </a:rPr>
              <a:t>position</a:t>
            </a:r>
            <a:r>
              <a:rPr dirty="0" spc="-51" sz="2400">
                <a:latin typeface="Palatino Linotype"/>
                <a:cs typeface="Palatino Linotype"/>
              </a:rPr>
              <a:t> </a:t>
            </a:r>
            <a:r>
              <a:rPr dirty="0" sz="2400">
                <a:latin typeface="Palatino Linotype"/>
                <a:cs typeface="Palatino Linotype"/>
              </a:rPr>
              <a:t>1</a:t>
            </a:r>
            <a:r>
              <a:rPr dirty="0" spc="-45" sz="2400">
                <a:latin typeface="Palatino Linotype"/>
                <a:cs typeface="Palatino Linotype"/>
              </a:rPr>
              <a:t> </a:t>
            </a:r>
            <a:r>
              <a:rPr dirty="0" spc="-25" sz="2400">
                <a:latin typeface="Palatino Linotype"/>
                <a:cs typeface="Palatino Linotype"/>
              </a:rPr>
              <a:t>by </a:t>
            </a:r>
            <a:r>
              <a:rPr dirty="0" spc="-11" sz="2400">
                <a:latin typeface="Palatino Linotype"/>
                <a:cs typeface="Palatino Linotype"/>
              </a:rPr>
              <a:t>concatenating</a:t>
            </a:r>
            <a:r>
              <a:rPr dirty="0" spc="-35" sz="2400">
                <a:latin typeface="Palatino Linotype"/>
                <a:cs typeface="Palatino Linotype"/>
              </a:rPr>
              <a:t> </a:t>
            </a:r>
            <a:r>
              <a:rPr dirty="0" sz="2400">
                <a:latin typeface="Palatino Linotype"/>
                <a:cs typeface="Palatino Linotype"/>
              </a:rPr>
              <a:t>two</a:t>
            </a:r>
            <a:r>
              <a:rPr dirty="0" spc="-55" sz="2400">
                <a:latin typeface="Palatino Linotype"/>
                <a:cs typeface="Palatino Linotype"/>
              </a:rPr>
              <a:t> </a:t>
            </a:r>
            <a:r>
              <a:rPr dirty="0" sz="2400">
                <a:latin typeface="Palatino Linotype"/>
                <a:cs typeface="Palatino Linotype"/>
              </a:rPr>
              <a:t>strings</a:t>
            </a:r>
            <a:r>
              <a:rPr dirty="0" spc="-51" sz="2400">
                <a:latin typeface="Palatino Linotype"/>
                <a:cs typeface="Palatino Linotype"/>
              </a:rPr>
              <a:t> </a:t>
            </a:r>
            <a:r>
              <a:rPr dirty="0" sz="2400">
                <a:latin typeface="Palatino Linotype"/>
                <a:cs typeface="Palatino Linotype"/>
              </a:rPr>
              <a:t>that</a:t>
            </a:r>
            <a:r>
              <a:rPr dirty="0" spc="-45" sz="2400">
                <a:latin typeface="Palatino Linotype"/>
                <a:cs typeface="Palatino Linotype"/>
              </a:rPr>
              <a:t> </a:t>
            </a:r>
            <a:r>
              <a:rPr dirty="0" sz="2400">
                <a:latin typeface="Palatino Linotype"/>
                <a:cs typeface="Palatino Linotype"/>
              </a:rPr>
              <a:t>are</a:t>
            </a:r>
            <a:r>
              <a:rPr dirty="0" spc="-60" sz="2400">
                <a:latin typeface="Palatino Linotype"/>
                <a:cs typeface="Palatino Linotype"/>
              </a:rPr>
              <a:t> </a:t>
            </a:r>
            <a:r>
              <a:rPr dirty="0" spc="-11" sz="2400">
                <a:latin typeface="Palatino Linotype"/>
                <a:cs typeface="Palatino Linotype"/>
              </a:rPr>
              <a:t>produced </a:t>
            </a:r>
            <a:r>
              <a:rPr dirty="0" sz="2400">
                <a:latin typeface="Palatino Linotype"/>
                <a:cs typeface="Palatino Linotype"/>
              </a:rPr>
              <a:t>by</a:t>
            </a:r>
            <a:r>
              <a:rPr dirty="0" spc="-11" sz="2400">
                <a:latin typeface="Palatino Linotype"/>
                <a:cs typeface="Palatino Linotype"/>
              </a:rPr>
              <a:t> </a:t>
            </a:r>
            <a:r>
              <a:rPr dirty="0" sz="2400">
                <a:latin typeface="Palatino Linotype"/>
                <a:cs typeface="Palatino Linotype"/>
              </a:rPr>
              <a:t>variable</a:t>
            </a:r>
            <a:r>
              <a:rPr dirty="0" spc="-5" sz="2400">
                <a:latin typeface="Palatino Linotype"/>
                <a:cs typeface="Palatino Linotype"/>
              </a:rPr>
              <a:t> </a:t>
            </a:r>
            <a:r>
              <a:rPr dirty="0" spc="-25" sz="2400">
                <a:latin typeface="Cambria Math"/>
                <a:cs typeface="Cambria Math"/>
              </a:rPr>
              <a:t>𝐴</a:t>
            </a:r>
            <a:r>
              <a:rPr dirty="0" spc="-25" sz="2400">
                <a:latin typeface="Palatino Linotype"/>
                <a:cs typeface="Palatino Linotype"/>
              </a:rPr>
              <a:t>.</a:t>
            </a:r>
            <a:r>
              <a:rPr altLang="en-IN" dirty="0" lang="en-IN" spc="-25" sz="2400">
                <a:latin typeface="Palatino Linotype"/>
                <a:cs typeface="Palatino Linotype"/>
              </a:rPr>
              <a:t>  </a:t>
            </a:r>
            <a:r>
              <a:rPr dirty="0" sz="2400">
                <a:latin typeface="Palatino Linotype"/>
                <a:cs typeface="Palatino Linotype"/>
              </a:rPr>
              <a:t>So,</a:t>
            </a:r>
            <a:r>
              <a:rPr dirty="0" spc="-20" sz="2400">
                <a:latin typeface="Palatino Linotype"/>
                <a:cs typeface="Palatino Linotype"/>
              </a:rPr>
              <a:t> </a:t>
            </a:r>
            <a:r>
              <a:rPr dirty="0" sz="2400">
                <a:latin typeface="Palatino Linotype"/>
                <a:cs typeface="Palatino Linotype"/>
              </a:rPr>
              <a:t>we</a:t>
            </a:r>
            <a:r>
              <a:rPr dirty="0" spc="-25" sz="2400">
                <a:latin typeface="Palatino Linotype"/>
                <a:cs typeface="Palatino Linotype"/>
              </a:rPr>
              <a:t> </a:t>
            </a:r>
            <a:r>
              <a:rPr dirty="0" sz="2400">
                <a:latin typeface="Palatino Linotype"/>
                <a:cs typeface="Palatino Linotype"/>
              </a:rPr>
              <a:t>need</a:t>
            </a:r>
            <a:r>
              <a:rPr dirty="0" spc="-20" sz="2400">
                <a:latin typeface="Palatino Linotype"/>
                <a:cs typeface="Palatino Linotype"/>
              </a:rPr>
              <a:t> </a:t>
            </a:r>
            <a:r>
              <a:rPr dirty="0" sz="2400">
                <a:latin typeface="Palatino Linotype"/>
                <a:cs typeface="Palatino Linotype"/>
              </a:rPr>
              <a:t>to</a:t>
            </a:r>
            <a:r>
              <a:rPr dirty="0" spc="-20" sz="2400">
                <a:latin typeface="Palatino Linotype"/>
                <a:cs typeface="Palatino Linotype"/>
              </a:rPr>
              <a:t> </a:t>
            </a:r>
            <a:r>
              <a:rPr dirty="0" sz="2400">
                <a:latin typeface="Palatino Linotype"/>
                <a:cs typeface="Palatino Linotype"/>
              </a:rPr>
              <a:t>look</a:t>
            </a:r>
            <a:r>
              <a:rPr dirty="0" spc="-25" sz="2400">
                <a:latin typeface="Palatino Linotype"/>
                <a:cs typeface="Palatino Linotype"/>
              </a:rPr>
              <a:t> for </a:t>
            </a:r>
            <a:r>
              <a:rPr dirty="0" sz="2400">
                <a:latin typeface="Palatino Linotype"/>
                <a:cs typeface="Palatino Linotype"/>
              </a:rPr>
              <a:t>productions</a:t>
            </a:r>
            <a:r>
              <a:rPr dirty="0" spc="-40" sz="2400">
                <a:latin typeface="Palatino Linotype"/>
                <a:cs typeface="Palatino Linotype"/>
              </a:rPr>
              <a:t> </a:t>
            </a:r>
            <a:r>
              <a:rPr dirty="0" sz="2400">
                <a:latin typeface="Palatino Linotype"/>
                <a:cs typeface="Palatino Linotype"/>
              </a:rPr>
              <a:t>that</a:t>
            </a:r>
            <a:r>
              <a:rPr dirty="0" spc="-35" sz="2400">
                <a:latin typeface="Palatino Linotype"/>
                <a:cs typeface="Palatino Linotype"/>
              </a:rPr>
              <a:t> </a:t>
            </a:r>
            <a:r>
              <a:rPr dirty="0" sz="2400">
                <a:latin typeface="Palatino Linotype"/>
                <a:cs typeface="Palatino Linotype"/>
              </a:rPr>
              <a:t>produce</a:t>
            </a:r>
            <a:r>
              <a:rPr dirty="0" spc="-60" sz="2400">
                <a:latin typeface="Palatino Linotype"/>
                <a:cs typeface="Palatino Linotype"/>
              </a:rPr>
              <a:t> </a:t>
            </a:r>
            <a:r>
              <a:rPr dirty="0" sz="2400">
                <a:latin typeface="Palatino Linotype"/>
                <a:cs typeface="Palatino Linotype"/>
              </a:rPr>
              <a:t>two</a:t>
            </a:r>
            <a:r>
              <a:rPr dirty="0" spc="-31" sz="2400">
                <a:latin typeface="Palatino Linotype"/>
                <a:cs typeface="Palatino Linotype"/>
              </a:rPr>
              <a:t> </a:t>
            </a:r>
            <a:r>
              <a:rPr dirty="0" spc="-25" sz="2400">
                <a:latin typeface="Cambria Math"/>
                <a:cs typeface="Cambria Math"/>
              </a:rPr>
              <a:t>𝐴</a:t>
            </a:r>
            <a:r>
              <a:rPr dirty="0" spc="-25" sz="2400">
                <a:latin typeface="Palatino Linotype"/>
                <a:cs typeface="Palatino Linotype"/>
              </a:rPr>
              <a:t>’s </a:t>
            </a:r>
            <a:r>
              <a:rPr dirty="0" spc="-11" sz="2400">
                <a:latin typeface="Palatino Linotype"/>
                <a:cs typeface="Palatino Linotype"/>
              </a:rPr>
              <a:t>concatenated</a:t>
            </a:r>
            <a:r>
              <a:rPr dirty="0" spc="-51" sz="2400">
                <a:latin typeface="Palatino Linotype"/>
                <a:cs typeface="Palatino Linotype"/>
              </a:rPr>
              <a:t> </a:t>
            </a:r>
            <a:r>
              <a:rPr dirty="0" spc="-11" sz="2400">
                <a:latin typeface="Palatino Linotype"/>
                <a:cs typeface="Palatino Linotype"/>
              </a:rPr>
              <a:t>together.</a:t>
            </a:r>
            <a:endParaRPr dirty="0" sz="2400">
              <a:latin typeface="Palatino Linotype"/>
              <a:cs typeface="Palatino Linotype"/>
            </a:endParaRPr>
          </a:p>
        </p:txBody>
      </p:sp>
    </p:spTree>
    <p:extLst>
      <p:ext uri="{BB962C8B-B14F-4D97-AF65-F5344CB8AC3E}">
        <p14:creationId xmlns:p14="http://schemas.microsoft.com/office/powerpoint/2010/main" val="28185307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DAEED9CE-6C37-7975-032A-D2DDD318C6F6}"/>
              </a:ext>
            </a:extLst>
          </p:cNvPr>
          <p:cNvSpPr txBox="1"/>
          <p:nvPr/>
        </p:nvSpPr>
        <p:spPr>
          <a:xfrm>
            <a:off x="1141527" y="945846"/>
            <a:ext cx="101282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p:txBody>
      </p:sp>
      <p:sp>
        <p:nvSpPr>
          <p:cNvPr id="3" name="object 4">
            <a:extLst>
              <a:ext uri="{FF2B5EF4-FFF2-40B4-BE49-F238E27FC236}">
                <a16:creationId xmlns:a16="http://schemas.microsoft.com/office/drawing/2014/main" id="{75AE725D-08FE-0060-6497-55961A848C39}"/>
              </a:ext>
            </a:extLst>
          </p:cNvPr>
          <p:cNvSpPr txBox="1"/>
          <p:nvPr/>
        </p:nvSpPr>
        <p:spPr>
          <a:xfrm>
            <a:off x="1710944" y="1384555"/>
            <a:ext cx="494031" cy="294953"/>
          </a:xfrm>
          <a:prstGeom prst="rect">
            <a:avLst/>
          </a:prstGeom>
          <a:ln w="38100">
            <a:solidFill>
              <a:srgbClr val="226B87"/>
            </a:solidFill>
          </a:ln>
        </p:spPr>
        <p:txBody>
          <a:bodyPr bIns="0" lIns="0" numCol="1" rIns="0" rtlCol="0" tIns="0" vert="horz" wrap="square">
            <a:spAutoFit/>
          </a:bodyPr>
          <a:lstStyle/>
          <a:p>
            <a:pPr marL="64768">
              <a:lnSpc>
                <a:spcPts val="2331"/>
              </a:lnSpc>
            </a:pPr>
            <a:r>
              <a:rPr dirty="0" spc="-25" sz="2400">
                <a:latin typeface="Cambria Math"/>
                <a:cs typeface="Cambria Math"/>
              </a:rPr>
              <a:t>𝐴𝐴</a:t>
            </a:r>
            <a:endParaRPr sz="2400">
              <a:latin typeface="Cambria Math"/>
              <a:cs typeface="Cambria Math"/>
            </a:endParaRPr>
          </a:p>
        </p:txBody>
      </p:sp>
      <p:sp>
        <p:nvSpPr>
          <p:cNvPr id="4" name="object 5">
            <a:extLst>
              <a:ext uri="{FF2B5EF4-FFF2-40B4-BE49-F238E27FC236}">
                <a16:creationId xmlns:a16="http://schemas.microsoft.com/office/drawing/2014/main" id="{CBE8A8DE-720F-4766-6667-7D0A169CA080}"/>
              </a:ext>
            </a:extLst>
          </p:cNvPr>
          <p:cNvSpPr txBox="1"/>
          <p:nvPr/>
        </p:nvSpPr>
        <p:spPr>
          <a:xfrm>
            <a:off x="1141527" y="1312292"/>
            <a:ext cx="2070100" cy="382156"/>
          </a:xfrm>
          <a:prstGeom prst="rect">
            <a:avLst/>
          </a:prstGeom>
        </p:spPr>
        <p:txBody>
          <a:bodyPr bIns="0" lIns="0" numCol="1" rIns="0" rtlCol="0" tIns="12700" vert="horz" wrap="square">
            <a:spAutoFit/>
          </a:bodyPr>
          <a:lstStyle/>
          <a:p>
            <a:pPr marL="12700">
              <a:spcBef>
                <a:spcPts val="100"/>
              </a:spcBef>
              <a:tabLst>
                <a:tab algn="l" pos="1091538"/>
              </a:tabLst>
            </a:pPr>
            <a:r>
              <a:rPr dirty="0" sz="2400">
                <a:latin typeface="Cambria Math"/>
                <a:cs typeface="Cambria Math"/>
              </a:rPr>
              <a:t>𝐴</a:t>
            </a:r>
            <a:r>
              <a:rPr dirty="0" spc="151"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p:txBody>
      </p:sp>
      <p:sp>
        <p:nvSpPr>
          <p:cNvPr id="5" name="object 6">
            <a:extLst>
              <a:ext uri="{FF2B5EF4-FFF2-40B4-BE49-F238E27FC236}">
                <a16:creationId xmlns:a16="http://schemas.microsoft.com/office/drawing/2014/main" id="{4D5CC6F0-56A3-1C3E-6901-ECF4461FBAF5}"/>
              </a:ext>
            </a:extLst>
          </p:cNvPr>
          <p:cNvSpPr txBox="1"/>
          <p:nvPr/>
        </p:nvSpPr>
        <p:spPr>
          <a:xfrm>
            <a:off x="1065326" y="1678052"/>
            <a:ext cx="2463165" cy="1120820"/>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dirty="0" sz="2400">
              <a:latin typeface="Palatino Linotype"/>
              <a:cs typeface="Palatino Linotype"/>
            </a:endParaRPr>
          </a:p>
        </p:txBody>
      </p:sp>
      <p:sp>
        <p:nvSpPr>
          <p:cNvPr id="6" name="object 7">
            <a:extLst>
              <a:ext uri="{FF2B5EF4-FFF2-40B4-BE49-F238E27FC236}">
                <a16:creationId xmlns:a16="http://schemas.microsoft.com/office/drawing/2014/main" id="{473F5598-015A-9CB7-C8CB-09FDBE6F8DB1}"/>
              </a:ext>
            </a:extLst>
          </p:cNvPr>
          <p:cNvSpPr txBox="1"/>
          <p:nvPr/>
        </p:nvSpPr>
        <p:spPr>
          <a:xfrm>
            <a:off x="1953513" y="362991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7" name="object 8">
            <a:extLst>
              <a:ext uri="{FF2B5EF4-FFF2-40B4-BE49-F238E27FC236}">
                <a16:creationId xmlns:a16="http://schemas.microsoft.com/office/drawing/2014/main" id="{F03AD12A-32F1-500D-42D2-41895617F8A8}"/>
              </a:ext>
            </a:extLst>
          </p:cNvPr>
          <p:cNvSpPr txBox="1"/>
          <p:nvPr/>
        </p:nvSpPr>
        <p:spPr>
          <a:xfrm>
            <a:off x="3076701" y="362991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8" name="object 9">
            <a:extLst>
              <a:ext uri="{FF2B5EF4-FFF2-40B4-BE49-F238E27FC236}">
                <a16:creationId xmlns:a16="http://schemas.microsoft.com/office/drawing/2014/main" id="{EEBB52F3-A383-F034-9AB1-43038948377F}"/>
              </a:ext>
            </a:extLst>
          </p:cNvPr>
          <p:cNvSpPr txBox="1"/>
          <p:nvPr/>
        </p:nvSpPr>
        <p:spPr>
          <a:xfrm>
            <a:off x="4087368" y="299912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9" name="object 10">
            <a:extLst>
              <a:ext uri="{FF2B5EF4-FFF2-40B4-BE49-F238E27FC236}">
                <a16:creationId xmlns:a16="http://schemas.microsoft.com/office/drawing/2014/main" id="{98B29888-1B7D-A889-2914-CB46B6CDC531}"/>
              </a:ext>
            </a:extLst>
          </p:cNvPr>
          <p:cNvSpPr txBox="1"/>
          <p:nvPr/>
        </p:nvSpPr>
        <p:spPr>
          <a:xfrm>
            <a:off x="5230369" y="299912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10" name="object 11">
            <a:extLst>
              <a:ext uri="{FF2B5EF4-FFF2-40B4-BE49-F238E27FC236}">
                <a16:creationId xmlns:a16="http://schemas.microsoft.com/office/drawing/2014/main" id="{C8B66ABB-91AA-CE82-D54B-8D4D5BF354C3}"/>
              </a:ext>
            </a:extLst>
          </p:cNvPr>
          <p:cNvSpPr txBox="1"/>
          <p:nvPr/>
        </p:nvSpPr>
        <p:spPr>
          <a:xfrm>
            <a:off x="6196964" y="299912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graphicFrame>
        <p:nvGraphicFramePr>
          <p:cNvPr id="11" name="object 12">
            <a:extLst>
              <a:ext uri="{FF2B5EF4-FFF2-40B4-BE49-F238E27FC236}">
                <a16:creationId xmlns:a16="http://schemas.microsoft.com/office/drawing/2014/main" id="{B9A234E4-933F-CE43-82B6-B180CB428EDB}"/>
              </a:ext>
            </a:extLst>
          </p:cNvPr>
          <p:cNvGraphicFramePr>
            <a:graphicFrameLocks noGrp="1"/>
          </p:cNvGraphicFramePr>
          <p:nvPr/>
        </p:nvGraphicFramePr>
        <p:xfrm>
          <a:off x="1707135" y="4038600"/>
          <a:ext cx="5003166" cy="1987296"/>
        </p:xfrm>
        <a:graphic>
          <a:graphicData uri="http://schemas.openxmlformats.org/drawingml/2006/table">
            <a:tbl>
              <a:tblPr bandRow="1" firstRow="1">
                <a:tableStyleId>{2D5ABB26-0587-4C30-8999-92F81FD0307C}</a:tableStyleId>
              </a:tblPr>
              <a:tblGrid>
                <a:gridCol w="706120">
                  <a:extLst>
                    <a:ext uri="{9D8B030D-6E8A-4147-A177-3AD203B41FA5}">
                      <a16:colId xmlns:a16="http://schemas.microsoft.com/office/drawing/2014/main" val="20000"/>
                    </a:ext>
                  </a:extLst>
                </a:gridCol>
                <a:gridCol w="384811">
                  <a:extLst>
                    <a:ext uri="{9D8B030D-6E8A-4147-A177-3AD203B41FA5}">
                      <a16:colId xmlns:a16="http://schemas.microsoft.com/office/drawing/2014/main" val="20001"/>
                    </a:ext>
                  </a:extLst>
                </a:gridCol>
                <a:gridCol w="224791">
                  <a:extLst>
                    <a:ext uri="{9D8B030D-6E8A-4147-A177-3AD203B41FA5}">
                      <a16:colId xmlns:a16="http://schemas.microsoft.com/office/drawing/2014/main" val="20002"/>
                    </a:ext>
                  </a:extLst>
                </a:gridCol>
                <a:gridCol w="494029">
                  <a:extLst>
                    <a:ext uri="{9D8B030D-6E8A-4147-A177-3AD203B41FA5}">
                      <a16:colId xmlns:a16="http://schemas.microsoft.com/office/drawing/2014/main" val="20003"/>
                    </a:ext>
                  </a:extLst>
                </a:gridCol>
                <a:gridCol w="400051">
                  <a:extLst>
                    <a:ext uri="{9D8B030D-6E8A-4147-A177-3AD203B41FA5}">
                      <a16:colId xmlns:a16="http://schemas.microsoft.com/office/drawing/2014/main" val="20004"/>
                    </a:ext>
                  </a:extLst>
                </a:gridCol>
                <a:gridCol w="888364">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800100">
                  <a:extLst>
                    <a:ext uri="{9D8B030D-6E8A-4147-A177-3AD203B41FA5}">
                      <a16:colId xmlns:a16="http://schemas.microsoft.com/office/drawing/2014/main" val="20007"/>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gridSpan="2">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algn="ctr" cap="flat" cmpd="sng" w="12700">
                      <a:solidFill>
                        <a:srgbClr val="226B87"/>
                      </a:solidFill>
                      <a:prstDash val="solid"/>
                      <a:round/>
                      <a:headEnd len="med" type="none" w="med"/>
                      <a:tailEnd len="med" type="none" w="med"/>
                    </a:lnT>
                    <a:lnB w="12700">
                      <a:solidFill>
                        <a:srgbClr val="6B9F24"/>
                      </a:solidFill>
                      <a:prstDash val="solid"/>
                    </a:lnB>
                  </a:tcPr>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08585">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3352">
                <a:tc gridSpan="2">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gridSpan="2">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gridSpan="2">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12" name="object 13">
            <a:extLst>
              <a:ext uri="{FF2B5EF4-FFF2-40B4-BE49-F238E27FC236}">
                <a16:creationId xmlns:a16="http://schemas.microsoft.com/office/drawing/2014/main" id="{A6ADC2DB-0993-BDE9-BBE9-539E35041548}"/>
              </a:ext>
            </a:extLst>
          </p:cNvPr>
          <p:cNvSpPr txBox="1"/>
          <p:nvPr/>
        </p:nvSpPr>
        <p:spPr>
          <a:xfrm>
            <a:off x="2156841" y="341388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4">
            <a:extLst>
              <a:ext uri="{FF2B5EF4-FFF2-40B4-BE49-F238E27FC236}">
                <a16:creationId xmlns:a16="http://schemas.microsoft.com/office/drawing/2014/main" id="{7D46FEA6-4341-CD64-42B9-9A9F93383D90}"/>
              </a:ext>
            </a:extLst>
          </p:cNvPr>
          <p:cNvSpPr txBox="1"/>
          <p:nvPr/>
        </p:nvSpPr>
        <p:spPr>
          <a:xfrm>
            <a:off x="1085951" y="388442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sp>
        <p:nvSpPr>
          <p:cNvPr id="14" name="object 15">
            <a:extLst>
              <a:ext uri="{FF2B5EF4-FFF2-40B4-BE49-F238E27FC236}">
                <a16:creationId xmlns:a16="http://schemas.microsoft.com/office/drawing/2014/main" id="{53AE25FC-C87F-77C3-6DA9-F4CC1F744DEE}"/>
              </a:ext>
            </a:extLst>
          </p:cNvPr>
          <p:cNvSpPr txBox="1"/>
          <p:nvPr/>
        </p:nvSpPr>
        <p:spPr>
          <a:xfrm>
            <a:off x="1052424" y="401010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5" name="object 16">
            <a:extLst>
              <a:ext uri="{FF2B5EF4-FFF2-40B4-BE49-F238E27FC236}">
                <a16:creationId xmlns:a16="http://schemas.microsoft.com/office/drawing/2014/main" id="{7E6EA777-75D2-F6F1-F01C-948C01A928B8}"/>
              </a:ext>
            </a:extLst>
          </p:cNvPr>
          <p:cNvSpPr txBox="1"/>
          <p:nvPr/>
        </p:nvSpPr>
        <p:spPr>
          <a:xfrm>
            <a:off x="1801114" y="314718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6" name="object 17">
            <a:extLst>
              <a:ext uri="{FF2B5EF4-FFF2-40B4-BE49-F238E27FC236}">
                <a16:creationId xmlns:a16="http://schemas.microsoft.com/office/drawing/2014/main" id="{1AA2E9D4-CBA2-8EE5-7412-07E1AFDA16E1}"/>
              </a:ext>
            </a:extLst>
          </p:cNvPr>
          <p:cNvSpPr txBox="1"/>
          <p:nvPr/>
        </p:nvSpPr>
        <p:spPr>
          <a:xfrm>
            <a:off x="5230369" y="742941"/>
            <a:ext cx="6042660" cy="1495281"/>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In</a:t>
            </a:r>
            <a:r>
              <a:rPr dirty="0" spc="-35" sz="2400">
                <a:latin typeface="Palatino Linotype"/>
                <a:cs typeface="Palatino Linotype"/>
              </a:rPr>
              <a:t> </a:t>
            </a:r>
            <a:r>
              <a:rPr dirty="0" sz="2400">
                <a:latin typeface="Palatino Linotype"/>
                <a:cs typeface="Palatino Linotype"/>
              </a:rPr>
              <a:t>this</a:t>
            </a:r>
            <a:r>
              <a:rPr dirty="0" spc="-20" sz="2400">
                <a:latin typeface="Palatino Linotype"/>
                <a:cs typeface="Palatino Linotype"/>
              </a:rPr>
              <a:t> </a:t>
            </a:r>
            <a:r>
              <a:rPr dirty="0" sz="2400">
                <a:latin typeface="Palatino Linotype"/>
                <a:cs typeface="Palatino Linotype"/>
              </a:rPr>
              <a:t>case,</a:t>
            </a:r>
            <a:r>
              <a:rPr dirty="0" spc="-35" sz="2400">
                <a:latin typeface="Palatino Linotype"/>
                <a:cs typeface="Palatino Linotype"/>
              </a:rPr>
              <a:t> </a:t>
            </a:r>
            <a:r>
              <a:rPr dirty="0" sz="2400">
                <a:latin typeface="Palatino Linotype"/>
                <a:cs typeface="Palatino Linotype"/>
              </a:rPr>
              <a:t>one</a:t>
            </a:r>
            <a:r>
              <a:rPr dirty="0" spc="-15" sz="2400">
                <a:latin typeface="Palatino Linotype"/>
                <a:cs typeface="Palatino Linotype"/>
              </a:rPr>
              <a:t> </a:t>
            </a:r>
            <a:r>
              <a:rPr dirty="0" sz="2400">
                <a:latin typeface="Palatino Linotype"/>
                <a:cs typeface="Palatino Linotype"/>
              </a:rPr>
              <a:t>such</a:t>
            </a:r>
            <a:r>
              <a:rPr dirty="0" spc="-40" sz="2400">
                <a:latin typeface="Palatino Linotype"/>
                <a:cs typeface="Palatino Linotype"/>
              </a:rPr>
              <a:t> </a:t>
            </a:r>
            <a:r>
              <a:rPr dirty="0" sz="2400">
                <a:latin typeface="Palatino Linotype"/>
                <a:cs typeface="Palatino Linotype"/>
              </a:rPr>
              <a:t>production</a:t>
            </a:r>
            <a:r>
              <a:rPr dirty="0" spc="-20" sz="2400">
                <a:latin typeface="Palatino Linotype"/>
                <a:cs typeface="Palatino Linotype"/>
              </a:rPr>
              <a:t> </a:t>
            </a:r>
            <a:r>
              <a:rPr dirty="0" spc="-11" sz="2400">
                <a:latin typeface="Palatino Linotype"/>
                <a:cs typeface="Palatino Linotype"/>
              </a:rPr>
              <a:t>exists:</a:t>
            </a:r>
            <a:endParaRPr dirty="0" sz="2400">
              <a:latin typeface="Palatino Linotype"/>
              <a:cs typeface="Palatino Linotype"/>
            </a:endParaRPr>
          </a:p>
          <a:p>
            <a:pPr marL="12700">
              <a:lnSpc>
                <a:spcPts val="2875"/>
              </a:lnSpc>
              <a:spcBef>
                <a:spcPts val="15"/>
              </a:spcBef>
              <a:tabLst>
                <a:tab algn="l" pos="1252823"/>
              </a:tabLst>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pc="-25" sz="2400">
                <a:latin typeface="Cambria Math"/>
                <a:cs typeface="Cambria Math"/>
              </a:rPr>
              <a:t>𝐴𝐴</a:t>
            </a:r>
            <a:r>
              <a:rPr dirty="0" spc="-25" sz="2400">
                <a:latin typeface="Palatino Linotype"/>
                <a:cs typeface="Palatino Linotype"/>
              </a:rPr>
              <a:t>.</a:t>
            </a:r>
            <a:r>
              <a:rPr dirty="0" sz="2400">
                <a:latin typeface="Palatino Linotype"/>
                <a:cs typeface="Palatino Linotype"/>
              </a:rPr>
              <a:t>	We</a:t>
            </a:r>
            <a:r>
              <a:rPr dirty="0" spc="-51" sz="2400">
                <a:latin typeface="Palatino Linotype"/>
                <a:cs typeface="Palatino Linotype"/>
              </a:rPr>
              <a:t> </a:t>
            </a:r>
            <a:r>
              <a:rPr dirty="0" sz="2400">
                <a:latin typeface="Palatino Linotype"/>
                <a:cs typeface="Palatino Linotype"/>
              </a:rPr>
              <a:t>will</a:t>
            </a:r>
            <a:r>
              <a:rPr dirty="0" spc="-45" sz="2400">
                <a:latin typeface="Palatino Linotype"/>
                <a:cs typeface="Palatino Linotype"/>
              </a:rPr>
              <a:t> </a:t>
            </a:r>
            <a:r>
              <a:rPr dirty="0" sz="2400">
                <a:latin typeface="Palatino Linotype"/>
                <a:cs typeface="Palatino Linotype"/>
              </a:rPr>
              <a:t>therefore</a:t>
            </a:r>
            <a:r>
              <a:rPr dirty="0" spc="-25" sz="2400">
                <a:latin typeface="Palatino Linotype"/>
                <a:cs typeface="Palatino Linotype"/>
              </a:rPr>
              <a:t> </a:t>
            </a:r>
            <a:r>
              <a:rPr dirty="0" sz="2400">
                <a:latin typeface="Palatino Linotype"/>
                <a:cs typeface="Palatino Linotype"/>
              </a:rPr>
              <a:t>add</a:t>
            </a:r>
            <a:r>
              <a:rPr dirty="0" spc="-65" sz="2400">
                <a:latin typeface="Palatino Linotype"/>
                <a:cs typeface="Palatino Linotype"/>
              </a:rPr>
              <a:t> </a:t>
            </a:r>
            <a:r>
              <a:rPr dirty="0" spc="-25" sz="2400">
                <a:latin typeface="Palatino Linotype"/>
                <a:cs typeface="Palatino Linotype"/>
              </a:rPr>
              <a:t>the</a:t>
            </a:r>
            <a:endParaRPr dirty="0" sz="2400">
              <a:latin typeface="Palatino Linotype"/>
              <a:cs typeface="Palatino Linotype"/>
            </a:endParaRPr>
          </a:p>
          <a:p>
            <a:pPr marL="12700">
              <a:lnSpc>
                <a:spcPts val="2875"/>
              </a:lnSpc>
            </a:pPr>
            <a:r>
              <a:rPr dirty="0" sz="2400">
                <a:latin typeface="Palatino Linotype"/>
                <a:cs typeface="Palatino Linotype"/>
              </a:rPr>
              <a:t>“producer”</a:t>
            </a:r>
            <a:r>
              <a:rPr dirty="0" spc="-31" sz="2400">
                <a:latin typeface="Palatino Linotype"/>
                <a:cs typeface="Palatino Linotype"/>
              </a:rPr>
              <a:t> </a:t>
            </a:r>
            <a:r>
              <a:rPr dirty="0" sz="2400">
                <a:latin typeface="Palatino Linotype"/>
                <a:cs typeface="Palatino Linotype"/>
              </a:rPr>
              <a:t>variable</a:t>
            </a:r>
            <a:r>
              <a:rPr dirty="0" spc="-31" sz="2400">
                <a:latin typeface="Palatino Linotype"/>
                <a:cs typeface="Palatino Linotype"/>
              </a:rPr>
              <a:t> </a:t>
            </a:r>
            <a:r>
              <a:rPr dirty="0" sz="2400">
                <a:latin typeface="Palatino Linotype"/>
                <a:cs typeface="Palatino Linotype"/>
              </a:rPr>
              <a:t>to</a:t>
            </a:r>
            <a:r>
              <a:rPr dirty="0" spc="-25" sz="2400">
                <a:latin typeface="Palatino Linotype"/>
                <a:cs typeface="Palatino Linotype"/>
              </a:rPr>
              <a:t> </a:t>
            </a:r>
            <a:r>
              <a:rPr dirty="0" sz="2400">
                <a:latin typeface="Palatino Linotype"/>
                <a:cs typeface="Palatino Linotype"/>
              </a:rPr>
              <a:t>the</a:t>
            </a:r>
            <a:r>
              <a:rPr dirty="0" spc="-15" sz="2400">
                <a:latin typeface="Palatino Linotype"/>
                <a:cs typeface="Palatino Linotype"/>
              </a:rPr>
              <a:t> </a:t>
            </a:r>
            <a:r>
              <a:rPr dirty="0" sz="2400">
                <a:latin typeface="Palatino Linotype"/>
                <a:cs typeface="Palatino Linotype"/>
              </a:rPr>
              <a:t>list</a:t>
            </a:r>
            <a:r>
              <a:rPr dirty="0" spc="-25" sz="2400">
                <a:latin typeface="Palatino Linotype"/>
                <a:cs typeface="Palatino Linotype"/>
              </a:rPr>
              <a:t> </a:t>
            </a:r>
            <a:r>
              <a:rPr dirty="0" sz="2400">
                <a:latin typeface="Palatino Linotype"/>
                <a:cs typeface="Palatino Linotype"/>
              </a:rPr>
              <a:t>of</a:t>
            </a:r>
            <a:r>
              <a:rPr dirty="0" spc="-25" sz="2400">
                <a:latin typeface="Palatino Linotype"/>
                <a:cs typeface="Palatino Linotype"/>
              </a:rPr>
              <a:t> </a:t>
            </a:r>
            <a:r>
              <a:rPr dirty="0" sz="2400">
                <a:latin typeface="Palatino Linotype"/>
                <a:cs typeface="Palatino Linotype"/>
              </a:rPr>
              <a:t>variables</a:t>
            </a:r>
            <a:r>
              <a:rPr dirty="0" spc="-35" sz="2400">
                <a:latin typeface="Palatino Linotype"/>
                <a:cs typeface="Palatino Linotype"/>
              </a:rPr>
              <a:t> </a:t>
            </a:r>
            <a:r>
              <a:rPr dirty="0" spc="-25" sz="2400">
                <a:latin typeface="Palatino Linotype"/>
                <a:cs typeface="Palatino Linotype"/>
              </a:rPr>
              <a:t>in</a:t>
            </a:r>
            <a:endParaRPr dirty="0" sz="2400">
              <a:latin typeface="Palatino Linotype"/>
              <a:cs typeface="Palatino Linotype"/>
            </a:endParaRPr>
          </a:p>
          <a:p>
            <a:pPr marL="12700"/>
            <a:r>
              <a:rPr dirty="0" sz="2400">
                <a:latin typeface="Palatino Linotype"/>
                <a:cs typeface="Palatino Linotype"/>
              </a:rPr>
              <a:t>cell</a:t>
            </a:r>
            <a:r>
              <a:rPr dirty="0" spc="-40" sz="2400">
                <a:latin typeface="Palatino Linotype"/>
                <a:cs typeface="Palatino Linotype"/>
              </a:rPr>
              <a:t> </a:t>
            </a:r>
            <a:r>
              <a:rPr dirty="0" spc="-20" sz="2400">
                <a:latin typeface="Palatino Linotype"/>
                <a:cs typeface="Palatino Linotype"/>
              </a:rPr>
              <a:t>1,3.</a:t>
            </a:r>
            <a:endParaRPr dirty="0" sz="2400">
              <a:latin typeface="Palatino Linotype"/>
              <a:cs typeface="Palatino Linotype"/>
            </a:endParaRPr>
          </a:p>
        </p:txBody>
      </p:sp>
      <p:sp>
        <p:nvSpPr>
          <p:cNvPr id="17" name="object 18">
            <a:extLst>
              <a:ext uri="{FF2B5EF4-FFF2-40B4-BE49-F238E27FC236}">
                <a16:creationId xmlns:a16="http://schemas.microsoft.com/office/drawing/2014/main" id="{5093126D-DEEB-9C97-41B8-200DE1C029DC}"/>
              </a:ext>
            </a:extLst>
          </p:cNvPr>
          <p:cNvSpPr/>
          <p:nvPr/>
        </p:nvSpPr>
        <p:spPr>
          <a:xfrm>
            <a:off x="1263956" y="1673710"/>
            <a:ext cx="768351" cy="3244215"/>
          </a:xfrm>
          <a:custGeom>
            <a:avLst/>
            <a:gdLst/>
            <a:ahLst/>
            <a:cxnLst/>
            <a:rect b="b" l="l" r="r" t="t"/>
            <a:pathLst>
              <a:path h="3244215" w="768350">
                <a:moveTo>
                  <a:pt x="693769" y="3136158"/>
                </a:moveTo>
                <a:lnTo>
                  <a:pt x="656563" y="3144416"/>
                </a:lnTo>
                <a:lnTo>
                  <a:pt x="737195" y="3243603"/>
                </a:lnTo>
                <a:lnTo>
                  <a:pt x="755733" y="3169330"/>
                </a:lnTo>
                <a:lnTo>
                  <a:pt x="713069" y="3169330"/>
                </a:lnTo>
                <a:lnTo>
                  <a:pt x="706272" y="3166657"/>
                </a:lnTo>
                <a:lnTo>
                  <a:pt x="700973" y="3161627"/>
                </a:lnTo>
                <a:lnTo>
                  <a:pt x="697901" y="3154703"/>
                </a:lnTo>
                <a:lnTo>
                  <a:pt x="693769" y="3136158"/>
                </a:lnTo>
                <a:close/>
              </a:path>
              <a:path h="3244215" w="768350">
                <a:moveTo>
                  <a:pt x="730955" y="3127903"/>
                </a:moveTo>
                <a:lnTo>
                  <a:pt x="693769" y="3136158"/>
                </a:lnTo>
                <a:lnTo>
                  <a:pt x="697901" y="3154703"/>
                </a:lnTo>
                <a:lnTo>
                  <a:pt x="700973" y="3161627"/>
                </a:lnTo>
                <a:lnTo>
                  <a:pt x="706272" y="3166657"/>
                </a:lnTo>
                <a:lnTo>
                  <a:pt x="713069" y="3169330"/>
                </a:lnTo>
                <a:lnTo>
                  <a:pt x="720634" y="3169181"/>
                </a:lnTo>
                <a:lnTo>
                  <a:pt x="727543" y="3166111"/>
                </a:lnTo>
                <a:lnTo>
                  <a:pt x="732566" y="3160815"/>
                </a:lnTo>
                <a:lnTo>
                  <a:pt x="735236" y="3154019"/>
                </a:lnTo>
                <a:lnTo>
                  <a:pt x="735087" y="3146448"/>
                </a:lnTo>
                <a:lnTo>
                  <a:pt x="730955" y="3127903"/>
                </a:lnTo>
                <a:close/>
              </a:path>
              <a:path h="3244215" w="768350">
                <a:moveTo>
                  <a:pt x="768132" y="3119651"/>
                </a:moveTo>
                <a:lnTo>
                  <a:pt x="730955" y="3127903"/>
                </a:lnTo>
                <a:lnTo>
                  <a:pt x="735087" y="3146448"/>
                </a:lnTo>
                <a:lnTo>
                  <a:pt x="735236" y="3154019"/>
                </a:lnTo>
                <a:lnTo>
                  <a:pt x="732566" y="3160815"/>
                </a:lnTo>
                <a:lnTo>
                  <a:pt x="727543" y="3166111"/>
                </a:lnTo>
                <a:lnTo>
                  <a:pt x="720634" y="3169181"/>
                </a:lnTo>
                <a:lnTo>
                  <a:pt x="713069" y="3169330"/>
                </a:lnTo>
                <a:lnTo>
                  <a:pt x="755733" y="3169330"/>
                </a:lnTo>
                <a:lnTo>
                  <a:pt x="768132" y="3119651"/>
                </a:lnTo>
                <a:close/>
              </a:path>
              <a:path h="3244215" w="768350">
                <a:moveTo>
                  <a:pt x="22163" y="0"/>
                </a:moveTo>
                <a:lnTo>
                  <a:pt x="14603" y="150"/>
                </a:lnTo>
                <a:lnTo>
                  <a:pt x="7689" y="3220"/>
                </a:lnTo>
                <a:lnTo>
                  <a:pt x="2667" y="8516"/>
                </a:lnTo>
                <a:lnTo>
                  <a:pt x="0" y="15313"/>
                </a:lnTo>
                <a:lnTo>
                  <a:pt x="151" y="22883"/>
                </a:lnTo>
                <a:lnTo>
                  <a:pt x="693769" y="3136158"/>
                </a:lnTo>
                <a:lnTo>
                  <a:pt x="730955" y="3127903"/>
                </a:lnTo>
                <a:lnTo>
                  <a:pt x="37336" y="14501"/>
                </a:lnTo>
                <a:lnTo>
                  <a:pt x="34263" y="7651"/>
                </a:lnTo>
                <a:lnTo>
                  <a:pt x="28960" y="2659"/>
                </a:lnTo>
                <a:lnTo>
                  <a:pt x="22163" y="0"/>
                </a:lnTo>
                <a:close/>
              </a:path>
            </a:pathLst>
          </a:custGeom>
          <a:solidFill>
            <a:srgbClr val="3493B9"/>
          </a:solidFill>
        </p:spPr>
        <p:txBody>
          <a:bodyPr bIns="0" lIns="0" numCol="1" rIns="0" rtlCol="0" tIns="0" wrap="square"/>
          <a:lstStyle/>
          <a:p>
            <a:endParaRPr/>
          </a:p>
        </p:txBody>
      </p:sp>
    </p:spTree>
    <p:extLst>
      <p:ext uri="{BB962C8B-B14F-4D97-AF65-F5344CB8AC3E}">
        <p14:creationId xmlns:p14="http://schemas.microsoft.com/office/powerpoint/2010/main" val="15232102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CF31B78-BB1E-6CEB-5C8F-38CD176E187C}"/>
              </a:ext>
            </a:extLst>
          </p:cNvPr>
          <p:cNvSpPr txBox="1"/>
          <p:nvPr/>
        </p:nvSpPr>
        <p:spPr>
          <a:xfrm>
            <a:off x="1545969" y="35334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41FEC533-D64A-14CF-E4CF-F215C0544080}"/>
              </a:ext>
            </a:extLst>
          </p:cNvPr>
          <p:cNvSpPr txBox="1"/>
          <p:nvPr/>
        </p:nvSpPr>
        <p:spPr>
          <a:xfrm>
            <a:off x="2669157" y="35334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9D282867-6792-4292-9688-2C0738C8BFDC}"/>
              </a:ext>
            </a:extLst>
          </p:cNvPr>
          <p:cNvSpPr txBox="1"/>
          <p:nvPr/>
        </p:nvSpPr>
        <p:spPr>
          <a:xfrm>
            <a:off x="2396871" y="3948227"/>
            <a:ext cx="1118871" cy="346249"/>
          </a:xfrm>
          <a:prstGeom prst="rect">
            <a:avLst/>
          </a:prstGeom>
          <a:ln w="12191">
            <a:solidFill>
              <a:srgbClr val="6B9F24"/>
            </a:solidFill>
          </a:ln>
        </p:spPr>
        <p:txBody>
          <a:bodyPr bIns="0" lIns="0" numCol="1" rIns="0" rtlCol="0" tIns="0" vert="horz" wrap="square">
            <a:spAutoFit/>
          </a:bodyPr>
          <a:lstStyle/>
          <a:p>
            <a:pPr marL="333366">
              <a:lnSpc>
                <a:spcPts val="2711"/>
              </a:lnSpc>
            </a:pPr>
            <a:r>
              <a:rPr dirty="0" spc="-51" sz="2500">
                <a:latin typeface="Cambria Math"/>
                <a:cs typeface="Cambria Math"/>
              </a:rPr>
              <a:t>A</a:t>
            </a:r>
            <a:endParaRPr sz="2500">
              <a:latin typeface="Cambria Math"/>
              <a:cs typeface="Cambria Math"/>
            </a:endParaRPr>
          </a:p>
        </p:txBody>
      </p:sp>
      <p:sp>
        <p:nvSpPr>
          <p:cNvPr id="5" name="object 5">
            <a:extLst>
              <a:ext uri="{FF2B5EF4-FFF2-40B4-BE49-F238E27FC236}">
                <a16:creationId xmlns:a16="http://schemas.microsoft.com/office/drawing/2014/main" id="{B1FF4C4E-14A6-32F0-413B-6F2B172E5DCE}"/>
              </a:ext>
            </a:extLst>
          </p:cNvPr>
          <p:cNvSpPr txBox="1"/>
          <p:nvPr/>
        </p:nvSpPr>
        <p:spPr>
          <a:xfrm>
            <a:off x="3661789" y="3894912"/>
            <a:ext cx="455931" cy="401393"/>
          </a:xfrm>
          <a:prstGeom prst="rect">
            <a:avLst/>
          </a:prstGeom>
        </p:spPr>
        <p:txBody>
          <a:bodyPr bIns="0" lIns="0" numCol="1" rIns="0" rtlCol="0" tIns="16511" vert="horz" wrap="square">
            <a:spAutoFit/>
          </a:bodyPr>
          <a:lstStyle/>
          <a:p>
            <a:pPr marL="126361">
              <a:spcBef>
                <a:spcPts val="131"/>
              </a:spcBef>
            </a:pPr>
            <a:r>
              <a:rPr dirty="0" spc="-51" sz="2500">
                <a:latin typeface="Cambria Math"/>
                <a:cs typeface="Cambria Math"/>
              </a:rPr>
              <a:t>A</a:t>
            </a:r>
            <a:endParaRPr sz="2500">
              <a:latin typeface="Cambria Math"/>
              <a:cs typeface="Cambria Math"/>
            </a:endParaRPr>
          </a:p>
        </p:txBody>
      </p:sp>
      <p:sp>
        <p:nvSpPr>
          <p:cNvPr id="6" name="object 6">
            <a:extLst>
              <a:ext uri="{FF2B5EF4-FFF2-40B4-BE49-F238E27FC236}">
                <a16:creationId xmlns:a16="http://schemas.microsoft.com/office/drawing/2014/main" id="{B31D44A9-D5EA-B691-2E56-4A74F1AAC301}"/>
              </a:ext>
            </a:extLst>
          </p:cNvPr>
          <p:cNvSpPr txBox="1"/>
          <p:nvPr/>
        </p:nvSpPr>
        <p:spPr>
          <a:xfrm>
            <a:off x="4779136" y="3894912"/>
            <a:ext cx="184151" cy="401393"/>
          </a:xfrm>
          <a:prstGeom prst="rect">
            <a:avLst/>
          </a:prstGeom>
        </p:spPr>
        <p:txBody>
          <a:bodyPr bIns="0" lIns="0" numCol="1" rIns="0" rtlCol="0" tIns="16511" vert="horz" wrap="square">
            <a:spAutoFit/>
          </a:bodyPr>
          <a:lstStyle/>
          <a:p>
            <a:pPr>
              <a:spcBef>
                <a:spcPts val="131"/>
              </a:spcBef>
            </a:pPr>
            <a:r>
              <a:rPr dirty="0" spc="-51" sz="2500">
                <a:latin typeface="Cambria Math"/>
                <a:cs typeface="Cambria Math"/>
              </a:rPr>
              <a:t>C</a:t>
            </a:r>
            <a:endParaRPr sz="2500">
              <a:latin typeface="Cambria Math"/>
              <a:cs typeface="Cambria Math"/>
            </a:endParaRPr>
          </a:p>
        </p:txBody>
      </p:sp>
      <p:sp>
        <p:nvSpPr>
          <p:cNvPr id="7" name="object 7">
            <a:extLst>
              <a:ext uri="{FF2B5EF4-FFF2-40B4-BE49-F238E27FC236}">
                <a16:creationId xmlns:a16="http://schemas.microsoft.com/office/drawing/2014/main" id="{8F4CCCE1-4F45-1988-7DA8-C52985CAB927}"/>
              </a:ext>
            </a:extLst>
          </p:cNvPr>
          <p:cNvSpPr txBox="1"/>
          <p:nvPr/>
        </p:nvSpPr>
        <p:spPr>
          <a:xfrm>
            <a:off x="5749924" y="3894912"/>
            <a:ext cx="184151" cy="401393"/>
          </a:xfrm>
          <a:prstGeom prst="rect">
            <a:avLst/>
          </a:prstGeom>
        </p:spPr>
        <p:txBody>
          <a:bodyPr bIns="0" lIns="0" numCol="1" rIns="0" rtlCol="0" tIns="16511" vert="horz" wrap="square">
            <a:spAutoFit/>
          </a:bodyPr>
          <a:lstStyle/>
          <a:p>
            <a:pPr>
              <a:spcBef>
                <a:spcPts val="131"/>
              </a:spcBef>
            </a:pPr>
            <a:r>
              <a:rPr dirty="0" spc="-51" sz="2500">
                <a:latin typeface="Cambria Math"/>
                <a:cs typeface="Cambria Math"/>
              </a:rPr>
              <a:t>C</a:t>
            </a:r>
            <a:endParaRPr sz="2500">
              <a:latin typeface="Cambria Math"/>
              <a:cs typeface="Cambria Math"/>
            </a:endParaRPr>
          </a:p>
        </p:txBody>
      </p:sp>
      <p:sp>
        <p:nvSpPr>
          <p:cNvPr id="8" name="object 8">
            <a:extLst>
              <a:ext uri="{FF2B5EF4-FFF2-40B4-BE49-F238E27FC236}">
                <a16:creationId xmlns:a16="http://schemas.microsoft.com/office/drawing/2014/main" id="{2413B122-F0E7-21E3-2752-C9719502FE77}"/>
              </a:ext>
            </a:extLst>
          </p:cNvPr>
          <p:cNvSpPr txBox="1"/>
          <p:nvPr/>
        </p:nvSpPr>
        <p:spPr>
          <a:xfrm>
            <a:off x="2402966" y="4260351"/>
            <a:ext cx="1106805" cy="401393"/>
          </a:xfrm>
          <a:prstGeom prst="rect">
            <a:avLst/>
          </a:prstGeom>
        </p:spPr>
        <p:txBody>
          <a:bodyPr bIns="0" lIns="0" numCol="1" rIns="0" rtlCol="0" tIns="16511" vert="horz" wrap="square">
            <a:spAutoFit/>
          </a:bodyPr>
          <a:lstStyle/>
          <a:p>
            <a:pPr marL="327652">
              <a:spcBef>
                <a:spcPts val="131"/>
              </a:spcBef>
            </a:pPr>
            <a:r>
              <a:rPr dirty="0" spc="-51" sz="2500">
                <a:latin typeface="Cambria Math"/>
                <a:cs typeface="Cambria Math"/>
              </a:rPr>
              <a:t>A</a:t>
            </a:r>
            <a:endParaRPr sz="2500">
              <a:latin typeface="Cambria Math"/>
              <a:cs typeface="Cambria Math"/>
            </a:endParaRPr>
          </a:p>
        </p:txBody>
      </p:sp>
      <p:sp>
        <p:nvSpPr>
          <p:cNvPr id="9" name="object 9">
            <a:extLst>
              <a:ext uri="{FF2B5EF4-FFF2-40B4-BE49-F238E27FC236}">
                <a16:creationId xmlns:a16="http://schemas.microsoft.com/office/drawing/2014/main" id="{2E9E82AA-454A-4FE0-F0AB-6814B7DAA08E}"/>
              </a:ext>
            </a:extLst>
          </p:cNvPr>
          <p:cNvSpPr txBox="1"/>
          <p:nvPr/>
        </p:nvSpPr>
        <p:spPr>
          <a:xfrm>
            <a:off x="3775835" y="4276851"/>
            <a:ext cx="21717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a:t>
            </a:r>
            <a:endParaRPr sz="2400">
              <a:latin typeface="Cambria Math"/>
              <a:cs typeface="Cambria Math"/>
            </a:endParaRPr>
          </a:p>
        </p:txBody>
      </p:sp>
      <p:sp>
        <p:nvSpPr>
          <p:cNvPr id="10" name="object 10">
            <a:extLst>
              <a:ext uri="{FF2B5EF4-FFF2-40B4-BE49-F238E27FC236}">
                <a16:creationId xmlns:a16="http://schemas.microsoft.com/office/drawing/2014/main" id="{82DDCEE0-7463-DF69-2C28-220D6A3C7575}"/>
              </a:ext>
            </a:extLst>
          </p:cNvPr>
          <p:cNvSpPr txBox="1"/>
          <p:nvPr/>
        </p:nvSpPr>
        <p:spPr>
          <a:xfrm>
            <a:off x="4767959" y="4260351"/>
            <a:ext cx="21209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B</a:t>
            </a:r>
            <a:endParaRPr sz="2500">
              <a:latin typeface="Cambria Math"/>
              <a:cs typeface="Cambria Math"/>
            </a:endParaRPr>
          </a:p>
        </p:txBody>
      </p:sp>
      <p:sp>
        <p:nvSpPr>
          <p:cNvPr id="11" name="object 11">
            <a:extLst>
              <a:ext uri="{FF2B5EF4-FFF2-40B4-BE49-F238E27FC236}">
                <a16:creationId xmlns:a16="http://schemas.microsoft.com/office/drawing/2014/main" id="{481C0154-2BA3-CECB-3DE8-A3F047239847}"/>
              </a:ext>
            </a:extLst>
          </p:cNvPr>
          <p:cNvSpPr txBox="1"/>
          <p:nvPr/>
        </p:nvSpPr>
        <p:spPr>
          <a:xfrm>
            <a:off x="1305686" y="4649266"/>
            <a:ext cx="1091565" cy="346249"/>
          </a:xfrm>
          <a:prstGeom prst="rect">
            <a:avLst/>
          </a:prstGeom>
          <a:ln w="12191">
            <a:solidFill>
              <a:srgbClr val="6B9F24"/>
            </a:solidFill>
          </a:ln>
        </p:spPr>
        <p:txBody>
          <a:bodyPr bIns="0" lIns="0" numCol="1" rIns="0" rtlCol="0" tIns="0" vert="horz" wrap="square">
            <a:spAutoFit/>
          </a:bodyPr>
          <a:lstStyle/>
          <a:p>
            <a:pPr marL="278758">
              <a:lnSpc>
                <a:spcPts val="2711"/>
              </a:lnSpc>
            </a:pPr>
            <a:r>
              <a:rPr dirty="0" spc="-51" sz="2500">
                <a:latin typeface="Cambria Math"/>
                <a:cs typeface="Cambria Math"/>
              </a:rPr>
              <a:t>A</a:t>
            </a:r>
            <a:endParaRPr sz="2500">
              <a:latin typeface="Cambria Math"/>
              <a:cs typeface="Cambria Math"/>
            </a:endParaRPr>
          </a:p>
        </p:txBody>
      </p:sp>
      <p:sp>
        <p:nvSpPr>
          <p:cNvPr id="12" name="object 12">
            <a:extLst>
              <a:ext uri="{FF2B5EF4-FFF2-40B4-BE49-F238E27FC236}">
                <a16:creationId xmlns:a16="http://schemas.microsoft.com/office/drawing/2014/main" id="{41927948-DEF9-FAC1-5636-508B46840AD5}"/>
              </a:ext>
            </a:extLst>
          </p:cNvPr>
          <p:cNvSpPr txBox="1"/>
          <p:nvPr/>
        </p:nvSpPr>
        <p:spPr>
          <a:xfrm>
            <a:off x="936369" y="4260350"/>
            <a:ext cx="1056640" cy="1511953"/>
          </a:xfrm>
          <a:prstGeom prst="rect">
            <a:avLst/>
          </a:prstGeom>
        </p:spPr>
        <p:txBody>
          <a:bodyPr bIns="0" lIns="0" numCol="1" rIns="0" rtlCol="0" tIns="16511" vert="horz" wrap="square">
            <a:spAutoFit/>
          </a:bodyPr>
          <a:lstStyle/>
          <a:p>
            <a:pPr marL="12700">
              <a:lnSpc>
                <a:spcPts val="2991"/>
              </a:lnSpc>
              <a:spcBef>
                <a:spcPts val="131"/>
              </a:spcBef>
              <a:tabLst>
                <a:tab algn="l" pos="669274"/>
              </a:tabLst>
            </a:pPr>
            <a:r>
              <a:rPr dirty="0" spc="-51" sz="2400">
                <a:latin typeface="Cambria Math"/>
                <a:cs typeface="Cambria Math"/>
              </a:rPr>
              <a:t>2</a:t>
            </a:r>
            <a:r>
              <a:rPr dirty="0" sz="2400">
                <a:latin typeface="Cambria Math"/>
                <a:cs typeface="Cambria Math"/>
              </a:rPr>
              <a:t>	</a:t>
            </a:r>
            <a:r>
              <a:rPr dirty="0" spc="-51" sz="2500">
                <a:latin typeface="Cambria Math"/>
                <a:cs typeface="Cambria Math"/>
              </a:rPr>
              <a:t>A</a:t>
            </a:r>
            <a:endParaRPr sz="2500">
              <a:latin typeface="Cambria Math"/>
              <a:cs typeface="Cambria Math"/>
            </a:endParaRPr>
          </a:p>
          <a:p>
            <a:pPr marL="12700">
              <a:lnSpc>
                <a:spcPts val="2871"/>
              </a:lnSpc>
            </a:pPr>
            <a:r>
              <a:rPr dirty="0" spc="-51" sz="2400">
                <a:latin typeface="Cambria Math"/>
                <a:cs typeface="Cambria Math"/>
              </a:rPr>
              <a:t>3</a:t>
            </a:r>
            <a:endParaRPr sz="2400">
              <a:latin typeface="Cambria Math"/>
              <a:cs typeface="Cambria Math"/>
            </a:endParaRPr>
          </a:p>
          <a:p>
            <a:pPr marL="12700"/>
            <a:r>
              <a:rPr dirty="0" spc="-51" sz="2400">
                <a:latin typeface="Cambria Math"/>
                <a:cs typeface="Cambria Math"/>
              </a:rPr>
              <a:t>4</a:t>
            </a:r>
            <a:endParaRPr sz="2400">
              <a:latin typeface="Cambria Math"/>
              <a:cs typeface="Cambria Math"/>
            </a:endParaRPr>
          </a:p>
          <a:p>
            <a:pPr marL="12700"/>
            <a:r>
              <a:rPr dirty="0" spc="-51" sz="2400">
                <a:latin typeface="Cambria Math"/>
                <a:cs typeface="Cambria Math"/>
              </a:rPr>
              <a:t>5</a:t>
            </a:r>
            <a:endParaRPr sz="2400">
              <a:latin typeface="Cambria Math"/>
              <a:cs typeface="Cambria Math"/>
            </a:endParaRPr>
          </a:p>
        </p:txBody>
      </p:sp>
      <p:sp>
        <p:nvSpPr>
          <p:cNvPr id="13" name="object 14">
            <a:extLst>
              <a:ext uri="{FF2B5EF4-FFF2-40B4-BE49-F238E27FC236}">
                <a16:creationId xmlns:a16="http://schemas.microsoft.com/office/drawing/2014/main" id="{E35C1661-C51E-768C-1B7B-5ACFF25488B0}"/>
              </a:ext>
            </a:extLst>
          </p:cNvPr>
          <p:cNvSpPr txBox="1"/>
          <p:nvPr/>
        </p:nvSpPr>
        <p:spPr>
          <a:xfrm>
            <a:off x="657782" y="8493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4" name="object 15">
            <a:extLst>
              <a:ext uri="{FF2B5EF4-FFF2-40B4-BE49-F238E27FC236}">
                <a16:creationId xmlns:a16="http://schemas.microsoft.com/office/drawing/2014/main" id="{6F0CCB6B-C4E8-8A6F-DD0D-DE986A639BC1}"/>
              </a:ext>
            </a:extLst>
          </p:cNvPr>
          <p:cNvSpPr/>
          <p:nvPr/>
        </p:nvSpPr>
        <p:spPr>
          <a:xfrm>
            <a:off x="1296541" y="3948227"/>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5" name="object 16">
            <a:extLst>
              <a:ext uri="{FF2B5EF4-FFF2-40B4-BE49-F238E27FC236}">
                <a16:creationId xmlns:a16="http://schemas.microsoft.com/office/drawing/2014/main" id="{40869745-1B1F-A73A-E039-E9BFF61E887D}"/>
              </a:ext>
            </a:extLst>
          </p:cNvPr>
          <p:cNvSpPr txBox="1"/>
          <p:nvPr/>
        </p:nvSpPr>
        <p:spPr>
          <a:xfrm>
            <a:off x="1749297" y="33174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6" name="object 17">
            <a:extLst>
              <a:ext uri="{FF2B5EF4-FFF2-40B4-BE49-F238E27FC236}">
                <a16:creationId xmlns:a16="http://schemas.microsoft.com/office/drawing/2014/main" id="{40EEB5CA-F293-B2D4-B3EF-0BF97537190C}"/>
              </a:ext>
            </a:extLst>
          </p:cNvPr>
          <p:cNvSpPr txBox="1"/>
          <p:nvPr/>
        </p:nvSpPr>
        <p:spPr>
          <a:xfrm>
            <a:off x="703808" y="3838246"/>
            <a:ext cx="110489" cy="320601"/>
          </a:xfrm>
          <a:prstGeom prst="rect">
            <a:avLst/>
          </a:prstGeom>
        </p:spPr>
        <p:txBody>
          <a:bodyPr bIns="0" lIns="0" numCol="1" rIns="0" rtlCol="0" tIns="12700" vert="horz" wrap="square">
            <a:spAutoFit/>
          </a:bodyPr>
          <a:lstStyle/>
          <a:p>
            <a:pPr marL="12700">
              <a:spcBef>
                <a:spcPts val="100"/>
              </a:spcBef>
            </a:pPr>
            <a:r>
              <a:rPr b="1" dirty="0" spc="65" sz="2000">
                <a:latin typeface="Arial"/>
                <a:cs typeface="Arial"/>
              </a:rPr>
              <a:t>j</a:t>
            </a:r>
            <a:endParaRPr sz="2000">
              <a:latin typeface="Arial"/>
              <a:cs typeface="Arial"/>
            </a:endParaRPr>
          </a:p>
        </p:txBody>
      </p:sp>
      <p:sp>
        <p:nvSpPr>
          <p:cNvPr id="17" name="object 18">
            <a:extLst>
              <a:ext uri="{FF2B5EF4-FFF2-40B4-BE49-F238E27FC236}">
                <a16:creationId xmlns:a16="http://schemas.microsoft.com/office/drawing/2014/main" id="{4DEBB7C3-4477-667B-0629-6BA6CC54ECBF}"/>
              </a:ext>
            </a:extLst>
          </p:cNvPr>
          <p:cNvSpPr txBox="1"/>
          <p:nvPr/>
        </p:nvSpPr>
        <p:spPr>
          <a:xfrm>
            <a:off x="632180" y="3894912"/>
            <a:ext cx="1784351" cy="401393"/>
          </a:xfrm>
          <a:prstGeom prst="rect">
            <a:avLst/>
          </a:prstGeom>
        </p:spPr>
        <p:txBody>
          <a:bodyPr bIns="0" lIns="0" numCol="1" rIns="0" rtlCol="0" tIns="16511" vert="horz" wrap="square">
            <a:spAutoFit/>
          </a:bodyPr>
          <a:lstStyle/>
          <a:p>
            <a:pPr marL="50799">
              <a:spcBef>
                <a:spcPts val="131"/>
              </a:spcBef>
              <a:tabLst>
                <a:tab algn="l" pos="973430"/>
              </a:tabLst>
            </a:pPr>
            <a:r>
              <a:rPr baseline="-40277" dirty="0" sz="3000">
                <a:latin typeface="Symbol"/>
                <a:cs typeface="Symbol"/>
              </a:rPr>
              <a:t></a:t>
            </a:r>
            <a:r>
              <a:rPr baseline="-40277" dirty="0" spc="577" sz="3000">
                <a:latin typeface="Times New Roman"/>
                <a:cs typeface="Times New Roman"/>
              </a:rPr>
              <a:t> </a:t>
            </a:r>
            <a:r>
              <a:rPr dirty="0" spc="-51" sz="2400">
                <a:latin typeface="Cambria Math"/>
                <a:cs typeface="Cambria Math"/>
              </a:rPr>
              <a:t>1</a:t>
            </a:r>
            <a:r>
              <a:rPr dirty="0" sz="2400">
                <a:latin typeface="Cambria Math"/>
                <a:cs typeface="Cambria Math"/>
              </a:rPr>
              <a:t>	</a:t>
            </a:r>
            <a:r>
              <a:rPr dirty="0" spc="-51" sz="2500">
                <a:latin typeface="Cambria Math"/>
                <a:cs typeface="Cambria Math"/>
              </a:rPr>
              <a:t>A</a:t>
            </a:r>
            <a:endParaRPr sz="2500">
              <a:latin typeface="Cambria Math"/>
              <a:cs typeface="Cambria Math"/>
            </a:endParaRPr>
          </a:p>
        </p:txBody>
      </p:sp>
      <p:sp>
        <p:nvSpPr>
          <p:cNvPr id="18" name="object 19">
            <a:extLst>
              <a:ext uri="{FF2B5EF4-FFF2-40B4-BE49-F238E27FC236}">
                <a16:creationId xmlns:a16="http://schemas.microsoft.com/office/drawing/2014/main" id="{7087F949-B345-9D2A-9D9F-FCACCBC49856}"/>
              </a:ext>
            </a:extLst>
          </p:cNvPr>
          <p:cNvSpPr txBox="1"/>
          <p:nvPr/>
        </p:nvSpPr>
        <p:spPr>
          <a:xfrm>
            <a:off x="1393570" y="30507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9" name="object 20">
            <a:extLst>
              <a:ext uri="{FF2B5EF4-FFF2-40B4-BE49-F238E27FC236}">
                <a16:creationId xmlns:a16="http://schemas.microsoft.com/office/drawing/2014/main" id="{9049373D-49E6-290A-1DEE-5FCD68B7B876}"/>
              </a:ext>
            </a:extLst>
          </p:cNvPr>
          <p:cNvSpPr txBox="1"/>
          <p:nvPr/>
        </p:nvSpPr>
        <p:spPr>
          <a:xfrm>
            <a:off x="3679824" y="29026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20" name="object 21">
            <a:extLst>
              <a:ext uri="{FF2B5EF4-FFF2-40B4-BE49-F238E27FC236}">
                <a16:creationId xmlns:a16="http://schemas.microsoft.com/office/drawing/2014/main" id="{B8924E8D-244A-4BFF-5BAB-2419CE68C5EB}"/>
              </a:ext>
            </a:extLst>
          </p:cNvPr>
          <p:cNvSpPr txBox="1"/>
          <p:nvPr/>
        </p:nvSpPr>
        <p:spPr>
          <a:xfrm>
            <a:off x="4822825" y="29026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21" name="object 22">
            <a:extLst>
              <a:ext uri="{FF2B5EF4-FFF2-40B4-BE49-F238E27FC236}">
                <a16:creationId xmlns:a16="http://schemas.microsoft.com/office/drawing/2014/main" id="{FE7E5C48-6E08-3B1B-5119-6A0DC0B8333A}"/>
              </a:ext>
            </a:extLst>
          </p:cNvPr>
          <p:cNvSpPr txBox="1"/>
          <p:nvPr/>
        </p:nvSpPr>
        <p:spPr>
          <a:xfrm>
            <a:off x="5789420" y="29026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22" name="object 23">
            <a:extLst>
              <a:ext uri="{FF2B5EF4-FFF2-40B4-BE49-F238E27FC236}">
                <a16:creationId xmlns:a16="http://schemas.microsoft.com/office/drawing/2014/main" id="{357C73B3-F824-018C-1163-A5F89C8D64F3}"/>
              </a:ext>
            </a:extLst>
          </p:cNvPr>
          <p:cNvSpPr txBox="1"/>
          <p:nvPr/>
        </p:nvSpPr>
        <p:spPr>
          <a:xfrm>
            <a:off x="3886200" y="762000"/>
            <a:ext cx="6212205" cy="1489510"/>
          </a:xfrm>
          <a:prstGeom prst="rect">
            <a:avLst/>
          </a:prstGeom>
        </p:spPr>
        <p:txBody>
          <a:bodyPr bIns="0" lIns="0" numCol="1" rIns="0" rtlCol="0" tIns="12065" vert="horz" wrap="square">
            <a:spAutoFit/>
          </a:bodyPr>
          <a:lstStyle/>
          <a:p>
            <a:pPr marL="12700" marR="5080">
              <a:lnSpc>
                <a:spcPct val="100200"/>
              </a:lnSpc>
              <a:spcBef>
                <a:spcPts val="95"/>
              </a:spcBef>
              <a:tabLst>
                <a:tab algn="l" pos="1569046"/>
              </a:tabLst>
            </a:pPr>
            <a:r>
              <a:rPr dirty="0" sz="2400">
                <a:latin typeface="Palatino Linotype"/>
                <a:cs typeface="Palatino Linotype"/>
              </a:rPr>
              <a:t>We</a:t>
            </a:r>
            <a:r>
              <a:rPr dirty="0" spc="-35" sz="2400">
                <a:latin typeface="Palatino Linotype"/>
                <a:cs typeface="Palatino Linotype"/>
              </a:rPr>
              <a:t> </a:t>
            </a:r>
            <a:r>
              <a:rPr dirty="0" sz="2400">
                <a:latin typeface="Palatino Linotype"/>
                <a:cs typeface="Palatino Linotype"/>
              </a:rPr>
              <a:t>can</a:t>
            </a:r>
            <a:r>
              <a:rPr dirty="0" spc="-45" sz="2400">
                <a:latin typeface="Palatino Linotype"/>
                <a:cs typeface="Palatino Linotype"/>
              </a:rPr>
              <a:t> </a:t>
            </a:r>
            <a:r>
              <a:rPr dirty="0" sz="2400">
                <a:latin typeface="Palatino Linotype"/>
                <a:cs typeface="Palatino Linotype"/>
              </a:rPr>
              <a:t>continue</a:t>
            </a:r>
            <a:r>
              <a:rPr dirty="0" spc="-11" sz="2400">
                <a:latin typeface="Palatino Linotype"/>
                <a:cs typeface="Palatino Linotype"/>
              </a:rPr>
              <a:t> </a:t>
            </a:r>
            <a:r>
              <a:rPr dirty="0" sz="2400">
                <a:latin typeface="Palatino Linotype"/>
                <a:cs typeface="Palatino Linotype"/>
              </a:rPr>
              <a:t>checking</a:t>
            </a:r>
            <a:r>
              <a:rPr dirty="0" spc="-31" sz="2400">
                <a:latin typeface="Palatino Linotype"/>
                <a:cs typeface="Palatino Linotype"/>
              </a:rPr>
              <a:t> </a:t>
            </a:r>
            <a:r>
              <a:rPr dirty="0" sz="2400">
                <a:latin typeface="Palatino Linotype"/>
                <a:cs typeface="Palatino Linotype"/>
              </a:rPr>
              <a:t>all</a:t>
            </a:r>
            <a:r>
              <a:rPr dirty="0" spc="-35" sz="2400">
                <a:latin typeface="Palatino Linotype"/>
                <a:cs typeface="Palatino Linotype"/>
              </a:rPr>
              <a:t> </a:t>
            </a:r>
            <a:r>
              <a:rPr dirty="0" sz="2400">
                <a:latin typeface="Palatino Linotype"/>
                <a:cs typeface="Palatino Linotype"/>
              </a:rPr>
              <a:t>of</a:t>
            </a:r>
            <a:r>
              <a:rPr dirty="0" spc="-35" sz="2400">
                <a:latin typeface="Palatino Linotype"/>
                <a:cs typeface="Palatino Linotype"/>
              </a:rPr>
              <a:t> </a:t>
            </a:r>
            <a:r>
              <a:rPr dirty="0" sz="2400">
                <a:latin typeface="Palatino Linotype"/>
                <a:cs typeface="Palatino Linotype"/>
              </a:rPr>
              <a:t>the</a:t>
            </a:r>
            <a:r>
              <a:rPr dirty="0" spc="-25" sz="2400">
                <a:latin typeface="Palatino Linotype"/>
                <a:cs typeface="Palatino Linotype"/>
              </a:rPr>
              <a:t> </a:t>
            </a:r>
            <a:r>
              <a:rPr dirty="0" spc="-11" sz="2400">
                <a:latin typeface="Palatino Linotype"/>
                <a:cs typeface="Palatino Linotype"/>
              </a:rPr>
              <a:t>possible </a:t>
            </a:r>
            <a:r>
              <a:rPr dirty="0" sz="2400">
                <a:latin typeface="Palatino Linotype"/>
                <a:cs typeface="Palatino Linotype"/>
              </a:rPr>
              <a:t>ways</a:t>
            </a:r>
            <a:r>
              <a:rPr dirty="0" spc="-71" sz="2400">
                <a:latin typeface="Palatino Linotype"/>
                <a:cs typeface="Palatino Linotype"/>
              </a:rPr>
              <a:t> </a:t>
            </a:r>
            <a:r>
              <a:rPr dirty="0" sz="2400">
                <a:latin typeface="Palatino Linotype"/>
                <a:cs typeface="Palatino Linotype"/>
              </a:rPr>
              <a:t>to</a:t>
            </a:r>
            <a:r>
              <a:rPr dirty="0" spc="-40" sz="2400">
                <a:latin typeface="Palatino Linotype"/>
                <a:cs typeface="Palatino Linotype"/>
              </a:rPr>
              <a:t> </a:t>
            </a:r>
            <a:r>
              <a:rPr dirty="0" sz="2400">
                <a:latin typeface="Palatino Linotype"/>
                <a:cs typeface="Palatino Linotype"/>
              </a:rPr>
              <a:t>produce</a:t>
            </a:r>
            <a:r>
              <a:rPr dirty="0" spc="-45" sz="2400">
                <a:latin typeface="Palatino Linotype"/>
                <a:cs typeface="Palatino Linotype"/>
              </a:rPr>
              <a:t> </a:t>
            </a:r>
            <a:r>
              <a:rPr dirty="0" sz="2400">
                <a:latin typeface="Palatino Linotype"/>
                <a:cs typeface="Palatino Linotype"/>
              </a:rPr>
              <a:t>strings</a:t>
            </a:r>
            <a:r>
              <a:rPr dirty="0" spc="-35" sz="2400">
                <a:latin typeface="Palatino Linotype"/>
                <a:cs typeface="Palatino Linotype"/>
              </a:rPr>
              <a:t> </a:t>
            </a:r>
            <a:r>
              <a:rPr dirty="0" sz="2400">
                <a:latin typeface="Palatino Linotype"/>
                <a:cs typeface="Palatino Linotype"/>
              </a:rPr>
              <a:t>of</a:t>
            </a:r>
            <a:r>
              <a:rPr dirty="0" spc="-45" sz="2400">
                <a:latin typeface="Palatino Linotype"/>
                <a:cs typeface="Palatino Linotype"/>
              </a:rPr>
              <a:t> </a:t>
            </a:r>
            <a:r>
              <a:rPr dirty="0" sz="2400">
                <a:latin typeface="Palatino Linotype"/>
                <a:cs typeface="Palatino Linotype"/>
              </a:rPr>
              <a:t>length</a:t>
            </a:r>
            <a:r>
              <a:rPr dirty="0" spc="-31" sz="2400">
                <a:latin typeface="Palatino Linotype"/>
                <a:cs typeface="Palatino Linotype"/>
              </a:rPr>
              <a:t> </a:t>
            </a:r>
            <a:r>
              <a:rPr dirty="0" sz="2400">
                <a:latin typeface="Palatino Linotype"/>
                <a:cs typeface="Palatino Linotype"/>
              </a:rPr>
              <a:t>3</a:t>
            </a:r>
            <a:r>
              <a:rPr dirty="0" spc="-45" sz="2400">
                <a:latin typeface="Palatino Linotype"/>
                <a:cs typeface="Palatino Linotype"/>
              </a:rPr>
              <a:t> </a:t>
            </a:r>
            <a:r>
              <a:rPr dirty="0" sz="2400">
                <a:latin typeface="Palatino Linotype"/>
                <a:cs typeface="Palatino Linotype"/>
              </a:rPr>
              <a:t>starting</a:t>
            </a:r>
            <a:r>
              <a:rPr dirty="0" spc="-31" sz="2400">
                <a:latin typeface="Palatino Linotype"/>
                <a:cs typeface="Palatino Linotype"/>
              </a:rPr>
              <a:t> </a:t>
            </a:r>
            <a:r>
              <a:rPr dirty="0" spc="-25" sz="2400">
                <a:latin typeface="Palatino Linotype"/>
                <a:cs typeface="Palatino Linotype"/>
              </a:rPr>
              <a:t>at </a:t>
            </a:r>
            <a:r>
              <a:rPr dirty="0" sz="2400">
                <a:latin typeface="Palatino Linotype"/>
                <a:cs typeface="Palatino Linotype"/>
              </a:rPr>
              <a:t>position</a:t>
            </a:r>
            <a:r>
              <a:rPr dirty="0" spc="-65" sz="2400">
                <a:latin typeface="Palatino Linotype"/>
                <a:cs typeface="Palatino Linotype"/>
              </a:rPr>
              <a:t> </a:t>
            </a:r>
            <a:r>
              <a:rPr dirty="0" spc="-25" sz="2400">
                <a:latin typeface="Palatino Linotype"/>
                <a:cs typeface="Palatino Linotype"/>
              </a:rPr>
              <a:t>1.</a:t>
            </a:r>
            <a:r>
              <a:rPr dirty="0" sz="2400">
                <a:latin typeface="Palatino Linotype"/>
                <a:cs typeface="Palatino Linotype"/>
              </a:rPr>
              <a:t>	However,</a:t>
            </a:r>
            <a:r>
              <a:rPr dirty="0" spc="-25" sz="2400">
                <a:latin typeface="Palatino Linotype"/>
                <a:cs typeface="Palatino Linotype"/>
              </a:rPr>
              <a:t> </a:t>
            </a:r>
            <a:r>
              <a:rPr dirty="0" sz="2400">
                <a:latin typeface="Palatino Linotype"/>
                <a:cs typeface="Palatino Linotype"/>
              </a:rPr>
              <a:t>in</a:t>
            </a:r>
            <a:r>
              <a:rPr dirty="0" spc="-25" sz="2400">
                <a:latin typeface="Palatino Linotype"/>
                <a:cs typeface="Palatino Linotype"/>
              </a:rPr>
              <a:t> </a:t>
            </a:r>
            <a:r>
              <a:rPr dirty="0" sz="2400">
                <a:latin typeface="Palatino Linotype"/>
                <a:cs typeface="Palatino Linotype"/>
              </a:rPr>
              <a:t>this</a:t>
            </a:r>
            <a:r>
              <a:rPr dirty="0" spc="-15" sz="2400">
                <a:latin typeface="Palatino Linotype"/>
                <a:cs typeface="Palatino Linotype"/>
              </a:rPr>
              <a:t> </a:t>
            </a:r>
            <a:r>
              <a:rPr dirty="0" sz="2400">
                <a:latin typeface="Palatino Linotype"/>
                <a:cs typeface="Palatino Linotype"/>
              </a:rPr>
              <a:t>case,</a:t>
            </a:r>
            <a:r>
              <a:rPr dirty="0" spc="-25" sz="2400">
                <a:latin typeface="Palatino Linotype"/>
                <a:cs typeface="Palatino Linotype"/>
              </a:rPr>
              <a:t> </a:t>
            </a:r>
            <a:r>
              <a:rPr dirty="0" sz="2400">
                <a:latin typeface="Palatino Linotype"/>
                <a:cs typeface="Palatino Linotype"/>
              </a:rPr>
              <a:t>we’re</a:t>
            </a:r>
            <a:r>
              <a:rPr dirty="0" spc="-45" sz="2400">
                <a:latin typeface="Palatino Linotype"/>
                <a:cs typeface="Palatino Linotype"/>
              </a:rPr>
              <a:t> </a:t>
            </a:r>
            <a:r>
              <a:rPr dirty="0" spc="-20" sz="2400">
                <a:latin typeface="Palatino Linotype"/>
                <a:cs typeface="Palatino Linotype"/>
              </a:rPr>
              <a:t>just </a:t>
            </a:r>
            <a:r>
              <a:rPr dirty="0" sz="2400">
                <a:latin typeface="Palatino Linotype"/>
                <a:cs typeface="Palatino Linotype"/>
              </a:rPr>
              <a:t>looking</a:t>
            </a:r>
            <a:r>
              <a:rPr dirty="0" spc="-11" sz="2400">
                <a:latin typeface="Palatino Linotype"/>
                <a:cs typeface="Palatino Linotype"/>
              </a:rPr>
              <a:t> </a:t>
            </a:r>
            <a:r>
              <a:rPr dirty="0" sz="2400">
                <a:latin typeface="Palatino Linotype"/>
                <a:cs typeface="Palatino Linotype"/>
              </a:rPr>
              <a:t>at</a:t>
            </a:r>
            <a:r>
              <a:rPr dirty="0" spc="-35" sz="2400">
                <a:latin typeface="Palatino Linotype"/>
                <a:cs typeface="Palatino Linotype"/>
              </a:rPr>
              <a:t> </a:t>
            </a:r>
            <a:r>
              <a:rPr dirty="0" sz="2400">
                <a:latin typeface="Palatino Linotype"/>
                <a:cs typeface="Palatino Linotype"/>
              </a:rPr>
              <a:t>two</a:t>
            </a:r>
            <a:r>
              <a:rPr dirty="0" spc="-31" sz="2400">
                <a:latin typeface="Palatino Linotype"/>
                <a:cs typeface="Palatino Linotype"/>
              </a:rPr>
              <a:t> </a:t>
            </a:r>
            <a:r>
              <a:rPr dirty="0" sz="2400">
                <a:latin typeface="Cambria Math"/>
                <a:cs typeface="Cambria Math"/>
              </a:rPr>
              <a:t>𝐴</a:t>
            </a:r>
            <a:r>
              <a:rPr dirty="0" sz="2400">
                <a:latin typeface="Palatino Linotype"/>
                <a:cs typeface="Palatino Linotype"/>
              </a:rPr>
              <a:t>’s</a:t>
            </a:r>
            <a:r>
              <a:rPr dirty="0" spc="-40" sz="2400">
                <a:latin typeface="Palatino Linotype"/>
                <a:cs typeface="Palatino Linotype"/>
              </a:rPr>
              <a:t> </a:t>
            </a:r>
            <a:r>
              <a:rPr dirty="0" sz="2400">
                <a:latin typeface="Palatino Linotype"/>
                <a:cs typeface="Palatino Linotype"/>
              </a:rPr>
              <a:t>again</a:t>
            </a:r>
            <a:r>
              <a:rPr dirty="0" spc="-40" sz="2400">
                <a:latin typeface="Palatino Linotype"/>
                <a:cs typeface="Palatino Linotype"/>
              </a:rPr>
              <a:t> </a:t>
            </a:r>
            <a:r>
              <a:rPr dirty="0" sz="2400">
                <a:latin typeface="Palatino Linotype"/>
                <a:cs typeface="Palatino Linotype"/>
              </a:rPr>
              <a:t>so</a:t>
            </a:r>
            <a:r>
              <a:rPr dirty="0" spc="-35" sz="2400">
                <a:latin typeface="Palatino Linotype"/>
                <a:cs typeface="Palatino Linotype"/>
              </a:rPr>
              <a:t> </a:t>
            </a:r>
            <a:r>
              <a:rPr dirty="0" sz="2400">
                <a:latin typeface="Palatino Linotype"/>
                <a:cs typeface="Palatino Linotype"/>
              </a:rPr>
              <a:t>it’s</a:t>
            </a:r>
            <a:r>
              <a:rPr dirty="0" spc="-40" sz="2400">
                <a:latin typeface="Palatino Linotype"/>
                <a:cs typeface="Palatino Linotype"/>
              </a:rPr>
              <a:t> </a:t>
            </a:r>
            <a:r>
              <a:rPr dirty="0" sz="2400">
                <a:latin typeface="Palatino Linotype"/>
                <a:cs typeface="Palatino Linotype"/>
              </a:rPr>
              <a:t>not</a:t>
            </a:r>
            <a:r>
              <a:rPr dirty="0" spc="-31" sz="2400">
                <a:latin typeface="Palatino Linotype"/>
                <a:cs typeface="Palatino Linotype"/>
              </a:rPr>
              <a:t> </a:t>
            </a:r>
            <a:r>
              <a:rPr dirty="0" spc="-20" sz="2400">
                <a:latin typeface="Palatino Linotype"/>
                <a:cs typeface="Palatino Linotype"/>
              </a:rPr>
              <a:t>very</a:t>
            </a:r>
            <a:endParaRPr sz="2400">
              <a:latin typeface="Palatino Linotype"/>
              <a:cs typeface="Palatino Linotype"/>
            </a:endParaRPr>
          </a:p>
        </p:txBody>
      </p:sp>
      <p:sp>
        <p:nvSpPr>
          <p:cNvPr id="23" name="object 24">
            <a:extLst>
              <a:ext uri="{FF2B5EF4-FFF2-40B4-BE49-F238E27FC236}">
                <a16:creationId xmlns:a16="http://schemas.microsoft.com/office/drawing/2014/main" id="{019CE205-C2BC-23CE-91F6-558D5DFD3A68}"/>
              </a:ext>
            </a:extLst>
          </p:cNvPr>
          <p:cNvSpPr txBox="1"/>
          <p:nvPr/>
        </p:nvSpPr>
        <p:spPr>
          <a:xfrm>
            <a:off x="3886199" y="2225853"/>
            <a:ext cx="1543051" cy="382156"/>
          </a:xfrm>
          <a:prstGeom prst="rect">
            <a:avLst/>
          </a:prstGeom>
        </p:spPr>
        <p:txBody>
          <a:bodyPr bIns="0" lIns="0" numCol="1" rIns="0" rtlCol="0" tIns="12700" vert="horz" wrap="square">
            <a:spAutoFit/>
          </a:bodyPr>
          <a:lstStyle/>
          <a:p>
            <a:pPr marL="12700">
              <a:spcBef>
                <a:spcPts val="100"/>
              </a:spcBef>
            </a:pPr>
            <a:r>
              <a:rPr dirty="0" spc="-11" sz="2400">
                <a:latin typeface="Palatino Linotype"/>
                <a:cs typeface="Palatino Linotype"/>
              </a:rPr>
              <a:t>interesting.</a:t>
            </a:r>
            <a:endParaRPr sz="2400">
              <a:latin typeface="Palatino Linotype"/>
              <a:cs typeface="Palatino Linotype"/>
            </a:endParaRPr>
          </a:p>
        </p:txBody>
      </p:sp>
      <p:grpSp>
        <p:nvGrpSpPr>
          <p:cNvPr id="24" name="object 25">
            <a:extLst>
              <a:ext uri="{FF2B5EF4-FFF2-40B4-BE49-F238E27FC236}">
                <a16:creationId xmlns:a16="http://schemas.microsoft.com/office/drawing/2014/main" id="{D29FF428-2B40-EABA-1EFC-A44CCA99AE25}"/>
              </a:ext>
            </a:extLst>
          </p:cNvPr>
          <p:cNvGrpSpPr/>
          <p:nvPr/>
        </p:nvGrpSpPr>
        <p:grpSpPr>
          <a:xfrm>
            <a:off x="1499233" y="2395269"/>
            <a:ext cx="9828531" cy="3328671"/>
            <a:chOff x="1057655" y="2930651"/>
            <a:chExt cx="9828530" cy="3328670"/>
          </a:xfrm>
        </p:grpSpPr>
        <p:sp>
          <p:nvSpPr>
            <p:cNvPr id="25" name="object 26">
              <a:extLst>
                <a:ext uri="{FF2B5EF4-FFF2-40B4-BE49-F238E27FC236}">
                  <a16:creationId xmlns:a16="http://schemas.microsoft.com/office/drawing/2014/main" id="{60271326-7416-35E0-73A3-3CAC6791553E}"/>
                </a:ext>
              </a:extLst>
            </p:cNvPr>
            <p:cNvSpPr/>
            <p:nvPr/>
          </p:nvSpPr>
          <p:spPr>
            <a:xfrm>
              <a:off x="5868161" y="2940557"/>
              <a:ext cx="3031490" cy="1173480"/>
            </a:xfrm>
            <a:custGeom>
              <a:avLst/>
              <a:gdLst/>
              <a:ahLst/>
              <a:cxnLst/>
              <a:rect b="b" l="l" r="r" t="t"/>
              <a:pathLst>
                <a:path h="1173479" w="3031490">
                  <a:moveTo>
                    <a:pt x="2890266" y="0"/>
                  </a:moveTo>
                  <a:lnTo>
                    <a:pt x="140970" y="0"/>
                  </a:lnTo>
                  <a:lnTo>
                    <a:pt x="96414" y="7187"/>
                  </a:lnTo>
                  <a:lnTo>
                    <a:pt x="57716" y="27200"/>
                  </a:lnTo>
                  <a:lnTo>
                    <a:pt x="27200" y="57716"/>
                  </a:lnTo>
                  <a:lnTo>
                    <a:pt x="7187" y="96414"/>
                  </a:lnTo>
                  <a:lnTo>
                    <a:pt x="0" y="140969"/>
                  </a:lnTo>
                  <a:lnTo>
                    <a:pt x="0" y="1032509"/>
                  </a:lnTo>
                  <a:lnTo>
                    <a:pt x="7187" y="1077065"/>
                  </a:lnTo>
                  <a:lnTo>
                    <a:pt x="27200" y="1115763"/>
                  </a:lnTo>
                  <a:lnTo>
                    <a:pt x="57716" y="1146279"/>
                  </a:lnTo>
                  <a:lnTo>
                    <a:pt x="96414" y="1166292"/>
                  </a:lnTo>
                  <a:lnTo>
                    <a:pt x="140970" y="1173479"/>
                  </a:lnTo>
                  <a:lnTo>
                    <a:pt x="2890266" y="1173479"/>
                  </a:lnTo>
                  <a:lnTo>
                    <a:pt x="2934821" y="1166292"/>
                  </a:lnTo>
                  <a:lnTo>
                    <a:pt x="2973519" y="1146279"/>
                  </a:lnTo>
                  <a:lnTo>
                    <a:pt x="3004035" y="1115763"/>
                  </a:lnTo>
                  <a:lnTo>
                    <a:pt x="3024048" y="1077065"/>
                  </a:lnTo>
                  <a:lnTo>
                    <a:pt x="3031236" y="1032509"/>
                  </a:lnTo>
                  <a:lnTo>
                    <a:pt x="3031236" y="140969"/>
                  </a:lnTo>
                  <a:lnTo>
                    <a:pt x="3024048" y="96414"/>
                  </a:lnTo>
                  <a:lnTo>
                    <a:pt x="3004035" y="57716"/>
                  </a:lnTo>
                  <a:lnTo>
                    <a:pt x="2973519" y="27200"/>
                  </a:lnTo>
                  <a:lnTo>
                    <a:pt x="2934821" y="7187"/>
                  </a:lnTo>
                  <a:lnTo>
                    <a:pt x="2890266" y="0"/>
                  </a:lnTo>
                  <a:close/>
                </a:path>
              </a:pathLst>
            </a:custGeom>
            <a:solidFill>
              <a:srgbClr val="3493B9"/>
            </a:solidFill>
          </p:spPr>
          <p:txBody>
            <a:bodyPr bIns="0" lIns="0" numCol="1" rIns="0" rtlCol="0" tIns="0" wrap="square"/>
            <a:lstStyle/>
            <a:p>
              <a:endParaRPr/>
            </a:p>
          </p:txBody>
        </p:sp>
        <p:sp>
          <p:nvSpPr>
            <p:cNvPr id="26" name="object 27">
              <a:extLst>
                <a:ext uri="{FF2B5EF4-FFF2-40B4-BE49-F238E27FC236}">
                  <a16:creationId xmlns:a16="http://schemas.microsoft.com/office/drawing/2014/main" id="{428B08D9-81BD-E18B-8F82-D83217F7CEFA}"/>
                </a:ext>
              </a:extLst>
            </p:cNvPr>
            <p:cNvSpPr/>
            <p:nvPr/>
          </p:nvSpPr>
          <p:spPr>
            <a:xfrm>
              <a:off x="5868161" y="2940557"/>
              <a:ext cx="3031490" cy="1173480"/>
            </a:xfrm>
            <a:custGeom>
              <a:avLst/>
              <a:gdLst/>
              <a:ahLst/>
              <a:cxnLst/>
              <a:rect b="b" l="l" r="r" t="t"/>
              <a:pathLst>
                <a:path h="1173479" w="3031490">
                  <a:moveTo>
                    <a:pt x="0" y="140969"/>
                  </a:moveTo>
                  <a:lnTo>
                    <a:pt x="7187" y="96414"/>
                  </a:lnTo>
                  <a:lnTo>
                    <a:pt x="27200" y="57716"/>
                  </a:lnTo>
                  <a:lnTo>
                    <a:pt x="57716" y="27200"/>
                  </a:lnTo>
                  <a:lnTo>
                    <a:pt x="96414" y="7187"/>
                  </a:lnTo>
                  <a:lnTo>
                    <a:pt x="140970" y="0"/>
                  </a:lnTo>
                  <a:lnTo>
                    <a:pt x="2890266" y="0"/>
                  </a:lnTo>
                  <a:lnTo>
                    <a:pt x="2934821" y="7187"/>
                  </a:lnTo>
                  <a:lnTo>
                    <a:pt x="2973519" y="27200"/>
                  </a:lnTo>
                  <a:lnTo>
                    <a:pt x="3004035" y="57716"/>
                  </a:lnTo>
                  <a:lnTo>
                    <a:pt x="3024048" y="96414"/>
                  </a:lnTo>
                  <a:lnTo>
                    <a:pt x="3031236" y="140969"/>
                  </a:lnTo>
                  <a:lnTo>
                    <a:pt x="3031236" y="1032509"/>
                  </a:lnTo>
                  <a:lnTo>
                    <a:pt x="3024048" y="1077065"/>
                  </a:lnTo>
                  <a:lnTo>
                    <a:pt x="3004035" y="1115763"/>
                  </a:lnTo>
                  <a:lnTo>
                    <a:pt x="2973519" y="1146279"/>
                  </a:lnTo>
                  <a:lnTo>
                    <a:pt x="2934821" y="1166292"/>
                  </a:lnTo>
                  <a:lnTo>
                    <a:pt x="2890266" y="1173479"/>
                  </a:lnTo>
                  <a:lnTo>
                    <a:pt x="140970" y="1173479"/>
                  </a:lnTo>
                  <a:lnTo>
                    <a:pt x="96414" y="1166292"/>
                  </a:lnTo>
                  <a:lnTo>
                    <a:pt x="57716" y="1146279"/>
                  </a:lnTo>
                  <a:lnTo>
                    <a:pt x="27200" y="1115763"/>
                  </a:lnTo>
                  <a:lnTo>
                    <a:pt x="7187" y="1077065"/>
                  </a:lnTo>
                  <a:lnTo>
                    <a:pt x="0" y="1032509"/>
                  </a:lnTo>
                  <a:lnTo>
                    <a:pt x="0" y="140969"/>
                  </a:lnTo>
                  <a:close/>
                </a:path>
              </a:pathLst>
            </a:custGeom>
            <a:ln w="19812">
              <a:solidFill>
                <a:srgbClr val="226B87"/>
              </a:solidFill>
            </a:ln>
          </p:spPr>
          <p:txBody>
            <a:bodyPr bIns="0" lIns="0" numCol="1" rIns="0" rtlCol="0" tIns="0" wrap="square"/>
            <a:lstStyle/>
            <a:p>
              <a:endParaRPr/>
            </a:p>
          </p:txBody>
        </p:sp>
        <p:sp>
          <p:nvSpPr>
            <p:cNvPr id="27" name="object 28">
              <a:extLst>
                <a:ext uri="{FF2B5EF4-FFF2-40B4-BE49-F238E27FC236}">
                  <a16:creationId xmlns:a16="http://schemas.microsoft.com/office/drawing/2014/main" id="{C3AFA583-3B12-6DAF-79A4-78CD345BA0A0}"/>
                </a:ext>
              </a:extLst>
            </p:cNvPr>
            <p:cNvSpPr/>
            <p:nvPr/>
          </p:nvSpPr>
          <p:spPr>
            <a:xfrm>
              <a:off x="1570481" y="3508269"/>
              <a:ext cx="4317365" cy="1528445"/>
            </a:xfrm>
            <a:custGeom>
              <a:avLst/>
              <a:gdLst/>
              <a:ahLst/>
              <a:cxnLst/>
              <a:rect b="b" l="l" r="r" t="t"/>
              <a:pathLst>
                <a:path h="1528445" w="4317365">
                  <a:moveTo>
                    <a:pt x="89281" y="1420346"/>
                  </a:moveTo>
                  <a:lnTo>
                    <a:pt x="0" y="1511786"/>
                  </a:lnTo>
                  <a:lnTo>
                    <a:pt x="126745" y="1528296"/>
                  </a:lnTo>
                  <a:lnTo>
                    <a:pt x="116784" y="1499592"/>
                  </a:lnTo>
                  <a:lnTo>
                    <a:pt x="88725" y="1499592"/>
                  </a:lnTo>
                  <a:lnTo>
                    <a:pt x="81660" y="1497736"/>
                  </a:lnTo>
                  <a:lnTo>
                    <a:pt x="75834" y="1493381"/>
                  </a:lnTo>
                  <a:lnTo>
                    <a:pt x="72009" y="1486894"/>
                  </a:lnTo>
                  <a:lnTo>
                    <a:pt x="70994" y="1479353"/>
                  </a:lnTo>
                  <a:lnTo>
                    <a:pt x="72850" y="1472289"/>
                  </a:lnTo>
                  <a:lnTo>
                    <a:pt x="77206" y="1466463"/>
                  </a:lnTo>
                  <a:lnTo>
                    <a:pt x="83693" y="1462637"/>
                  </a:lnTo>
                  <a:lnTo>
                    <a:pt x="101778" y="1456355"/>
                  </a:lnTo>
                  <a:lnTo>
                    <a:pt x="89281" y="1420346"/>
                  </a:lnTo>
                  <a:close/>
                </a:path>
                <a:path h="1528445" w="4317365">
                  <a:moveTo>
                    <a:pt x="101778" y="1456355"/>
                  </a:moveTo>
                  <a:lnTo>
                    <a:pt x="83693" y="1462637"/>
                  </a:lnTo>
                  <a:lnTo>
                    <a:pt x="77206" y="1466463"/>
                  </a:lnTo>
                  <a:lnTo>
                    <a:pt x="72850" y="1472289"/>
                  </a:lnTo>
                  <a:lnTo>
                    <a:pt x="70994" y="1479353"/>
                  </a:lnTo>
                  <a:lnTo>
                    <a:pt x="72009" y="1486894"/>
                  </a:lnTo>
                  <a:lnTo>
                    <a:pt x="75834" y="1493381"/>
                  </a:lnTo>
                  <a:lnTo>
                    <a:pt x="81660" y="1497736"/>
                  </a:lnTo>
                  <a:lnTo>
                    <a:pt x="88725" y="1499592"/>
                  </a:lnTo>
                  <a:lnTo>
                    <a:pt x="96266" y="1498578"/>
                  </a:lnTo>
                  <a:lnTo>
                    <a:pt x="114262" y="1492327"/>
                  </a:lnTo>
                  <a:lnTo>
                    <a:pt x="101778" y="1456355"/>
                  </a:lnTo>
                  <a:close/>
                </a:path>
                <a:path h="1528445" w="4317365">
                  <a:moveTo>
                    <a:pt x="114262" y="1492327"/>
                  </a:moveTo>
                  <a:lnTo>
                    <a:pt x="96266" y="1498578"/>
                  </a:lnTo>
                  <a:lnTo>
                    <a:pt x="88725" y="1499592"/>
                  </a:lnTo>
                  <a:lnTo>
                    <a:pt x="116784" y="1499592"/>
                  </a:lnTo>
                  <a:lnTo>
                    <a:pt x="114262" y="1492327"/>
                  </a:lnTo>
                  <a:close/>
                </a:path>
                <a:path h="1528445" w="4317365">
                  <a:moveTo>
                    <a:pt x="4299251" y="0"/>
                  </a:moveTo>
                  <a:lnTo>
                    <a:pt x="4291710" y="994"/>
                  </a:lnTo>
                  <a:lnTo>
                    <a:pt x="101778" y="1456355"/>
                  </a:lnTo>
                  <a:lnTo>
                    <a:pt x="114262" y="1492327"/>
                  </a:lnTo>
                  <a:lnTo>
                    <a:pt x="4304283" y="37062"/>
                  </a:lnTo>
                  <a:lnTo>
                    <a:pt x="4310770" y="33218"/>
                  </a:lnTo>
                  <a:lnTo>
                    <a:pt x="4315126" y="27362"/>
                  </a:lnTo>
                  <a:lnTo>
                    <a:pt x="4316982" y="20292"/>
                  </a:lnTo>
                  <a:lnTo>
                    <a:pt x="4315968" y="12805"/>
                  </a:lnTo>
                  <a:lnTo>
                    <a:pt x="4312142" y="6298"/>
                  </a:lnTo>
                  <a:lnTo>
                    <a:pt x="4306316" y="1899"/>
                  </a:lnTo>
                  <a:lnTo>
                    <a:pt x="4299251" y="0"/>
                  </a:lnTo>
                  <a:close/>
                </a:path>
              </a:pathLst>
            </a:custGeom>
            <a:solidFill>
              <a:srgbClr val="3493B9"/>
            </a:solidFill>
          </p:spPr>
          <p:txBody>
            <a:bodyPr bIns="0" lIns="0" numCol="1" rIns="0" rtlCol="0" tIns="0" wrap="square"/>
            <a:lstStyle/>
            <a:p>
              <a:endParaRPr/>
            </a:p>
          </p:txBody>
        </p:sp>
        <p:sp>
          <p:nvSpPr>
            <p:cNvPr id="28" name="object 29">
              <a:extLst>
                <a:ext uri="{FF2B5EF4-FFF2-40B4-BE49-F238E27FC236}">
                  <a16:creationId xmlns:a16="http://schemas.microsoft.com/office/drawing/2014/main" id="{B90DFE74-665F-BD63-1784-53C99016F712}"/>
                </a:ext>
              </a:extLst>
            </p:cNvPr>
            <p:cNvSpPr/>
            <p:nvPr/>
          </p:nvSpPr>
          <p:spPr>
            <a:xfrm>
              <a:off x="1076705" y="4871466"/>
              <a:ext cx="494030" cy="295910"/>
            </a:xfrm>
            <a:custGeom>
              <a:avLst/>
              <a:gdLst/>
              <a:ahLst/>
              <a:cxnLst/>
              <a:rect b="b" l="l" r="r" t="t"/>
              <a:pathLst>
                <a:path h="295910" w="494030">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sp>
          <p:nvSpPr>
            <p:cNvPr id="29" name="object 30">
              <a:extLst>
                <a:ext uri="{FF2B5EF4-FFF2-40B4-BE49-F238E27FC236}">
                  <a16:creationId xmlns:a16="http://schemas.microsoft.com/office/drawing/2014/main" id="{EE432D84-0FD9-FF1B-7D79-3FB9C0AA8AB4}"/>
                </a:ext>
              </a:extLst>
            </p:cNvPr>
            <p:cNvSpPr/>
            <p:nvPr/>
          </p:nvSpPr>
          <p:spPr>
            <a:xfrm>
              <a:off x="6134861" y="4161281"/>
              <a:ext cx="4741545" cy="2087880"/>
            </a:xfrm>
            <a:custGeom>
              <a:avLst/>
              <a:gdLst/>
              <a:ahLst/>
              <a:cxnLst/>
              <a:rect b="b" l="l" r="r" t="t"/>
              <a:pathLst>
                <a:path h="2087879" w="4741545">
                  <a:moveTo>
                    <a:pt x="4393184" y="0"/>
                  </a:moveTo>
                  <a:lnTo>
                    <a:pt x="347979" y="0"/>
                  </a:lnTo>
                  <a:lnTo>
                    <a:pt x="300768" y="3177"/>
                  </a:lnTo>
                  <a:lnTo>
                    <a:pt x="255484" y="12432"/>
                  </a:lnTo>
                  <a:lnTo>
                    <a:pt x="212544" y="27350"/>
                  </a:lnTo>
                  <a:lnTo>
                    <a:pt x="172362" y="47516"/>
                  </a:lnTo>
                  <a:lnTo>
                    <a:pt x="135353" y="72516"/>
                  </a:lnTo>
                  <a:lnTo>
                    <a:pt x="101933" y="101933"/>
                  </a:lnTo>
                  <a:lnTo>
                    <a:pt x="72516" y="135353"/>
                  </a:lnTo>
                  <a:lnTo>
                    <a:pt x="47516" y="172362"/>
                  </a:lnTo>
                  <a:lnTo>
                    <a:pt x="27350" y="212544"/>
                  </a:lnTo>
                  <a:lnTo>
                    <a:pt x="12432" y="255484"/>
                  </a:lnTo>
                  <a:lnTo>
                    <a:pt x="3177" y="300768"/>
                  </a:lnTo>
                  <a:lnTo>
                    <a:pt x="0" y="347980"/>
                  </a:lnTo>
                  <a:lnTo>
                    <a:pt x="0" y="1739887"/>
                  </a:lnTo>
                  <a:lnTo>
                    <a:pt x="3177" y="1787107"/>
                  </a:lnTo>
                  <a:lnTo>
                    <a:pt x="12432" y="1832396"/>
                  </a:lnTo>
                  <a:lnTo>
                    <a:pt x="27350" y="1875340"/>
                  </a:lnTo>
                  <a:lnTo>
                    <a:pt x="47516" y="1915525"/>
                  </a:lnTo>
                  <a:lnTo>
                    <a:pt x="72516" y="1952534"/>
                  </a:lnTo>
                  <a:lnTo>
                    <a:pt x="101933" y="1985954"/>
                  </a:lnTo>
                  <a:lnTo>
                    <a:pt x="135353" y="2015370"/>
                  </a:lnTo>
                  <a:lnTo>
                    <a:pt x="172362" y="2040368"/>
                  </a:lnTo>
                  <a:lnTo>
                    <a:pt x="212544" y="2060532"/>
                  </a:lnTo>
                  <a:lnTo>
                    <a:pt x="255484" y="2075449"/>
                  </a:lnTo>
                  <a:lnTo>
                    <a:pt x="300768" y="2084703"/>
                  </a:lnTo>
                  <a:lnTo>
                    <a:pt x="347979" y="2087880"/>
                  </a:lnTo>
                  <a:lnTo>
                    <a:pt x="4393184" y="2087880"/>
                  </a:lnTo>
                  <a:lnTo>
                    <a:pt x="4440395" y="2084703"/>
                  </a:lnTo>
                  <a:lnTo>
                    <a:pt x="4485679" y="2075449"/>
                  </a:lnTo>
                  <a:lnTo>
                    <a:pt x="4528619" y="2060532"/>
                  </a:lnTo>
                  <a:lnTo>
                    <a:pt x="4568801" y="2040368"/>
                  </a:lnTo>
                  <a:lnTo>
                    <a:pt x="4605810" y="2015370"/>
                  </a:lnTo>
                  <a:lnTo>
                    <a:pt x="4639230" y="1985954"/>
                  </a:lnTo>
                  <a:lnTo>
                    <a:pt x="4668647" y="1952534"/>
                  </a:lnTo>
                  <a:lnTo>
                    <a:pt x="4693647" y="1915525"/>
                  </a:lnTo>
                  <a:lnTo>
                    <a:pt x="4713813" y="1875340"/>
                  </a:lnTo>
                  <a:lnTo>
                    <a:pt x="4728731" y="1832396"/>
                  </a:lnTo>
                  <a:lnTo>
                    <a:pt x="4737986" y="1787107"/>
                  </a:lnTo>
                  <a:lnTo>
                    <a:pt x="4741164" y="1739887"/>
                  </a:lnTo>
                  <a:lnTo>
                    <a:pt x="4741164" y="347980"/>
                  </a:lnTo>
                  <a:lnTo>
                    <a:pt x="4737986" y="300768"/>
                  </a:lnTo>
                  <a:lnTo>
                    <a:pt x="4728731" y="255484"/>
                  </a:lnTo>
                  <a:lnTo>
                    <a:pt x="4713813" y="212544"/>
                  </a:lnTo>
                  <a:lnTo>
                    <a:pt x="4693647" y="172362"/>
                  </a:lnTo>
                  <a:lnTo>
                    <a:pt x="4668647" y="135353"/>
                  </a:lnTo>
                  <a:lnTo>
                    <a:pt x="4639230" y="101933"/>
                  </a:lnTo>
                  <a:lnTo>
                    <a:pt x="4605810" y="72516"/>
                  </a:lnTo>
                  <a:lnTo>
                    <a:pt x="4568801" y="47516"/>
                  </a:lnTo>
                  <a:lnTo>
                    <a:pt x="4528619" y="27350"/>
                  </a:lnTo>
                  <a:lnTo>
                    <a:pt x="4485679" y="12432"/>
                  </a:lnTo>
                  <a:lnTo>
                    <a:pt x="4440395" y="3177"/>
                  </a:lnTo>
                  <a:lnTo>
                    <a:pt x="4393184" y="0"/>
                  </a:lnTo>
                  <a:close/>
                </a:path>
              </a:pathLst>
            </a:custGeom>
            <a:solidFill>
              <a:srgbClr val="3493B9"/>
            </a:solidFill>
          </p:spPr>
          <p:txBody>
            <a:bodyPr bIns="0" lIns="0" numCol="1" rIns="0" rtlCol="0" tIns="0" wrap="square"/>
            <a:lstStyle/>
            <a:p>
              <a:endParaRPr/>
            </a:p>
          </p:txBody>
        </p:sp>
        <p:sp>
          <p:nvSpPr>
            <p:cNvPr id="30" name="object 31">
              <a:extLst>
                <a:ext uri="{FF2B5EF4-FFF2-40B4-BE49-F238E27FC236}">
                  <a16:creationId xmlns:a16="http://schemas.microsoft.com/office/drawing/2014/main" id="{A130E662-9D49-DBED-5431-0087B3AA7CC2}"/>
                </a:ext>
              </a:extLst>
            </p:cNvPr>
            <p:cNvSpPr/>
            <p:nvPr/>
          </p:nvSpPr>
          <p:spPr>
            <a:xfrm>
              <a:off x="6134861" y="4161281"/>
              <a:ext cx="4741545" cy="2087880"/>
            </a:xfrm>
            <a:custGeom>
              <a:avLst/>
              <a:gdLst/>
              <a:ahLst/>
              <a:cxnLst/>
              <a:rect b="b" l="l" r="r" t="t"/>
              <a:pathLst>
                <a:path h="2087879" w="4741545">
                  <a:moveTo>
                    <a:pt x="0" y="347980"/>
                  </a:moveTo>
                  <a:lnTo>
                    <a:pt x="3177" y="300768"/>
                  </a:lnTo>
                  <a:lnTo>
                    <a:pt x="12432" y="255484"/>
                  </a:lnTo>
                  <a:lnTo>
                    <a:pt x="27350" y="212544"/>
                  </a:lnTo>
                  <a:lnTo>
                    <a:pt x="47516" y="172362"/>
                  </a:lnTo>
                  <a:lnTo>
                    <a:pt x="72516" y="135353"/>
                  </a:lnTo>
                  <a:lnTo>
                    <a:pt x="101933" y="101933"/>
                  </a:lnTo>
                  <a:lnTo>
                    <a:pt x="135353" y="72516"/>
                  </a:lnTo>
                  <a:lnTo>
                    <a:pt x="172362" y="47516"/>
                  </a:lnTo>
                  <a:lnTo>
                    <a:pt x="212544" y="27350"/>
                  </a:lnTo>
                  <a:lnTo>
                    <a:pt x="255484" y="12432"/>
                  </a:lnTo>
                  <a:lnTo>
                    <a:pt x="300768" y="3177"/>
                  </a:lnTo>
                  <a:lnTo>
                    <a:pt x="347979" y="0"/>
                  </a:lnTo>
                  <a:lnTo>
                    <a:pt x="4393184" y="0"/>
                  </a:lnTo>
                  <a:lnTo>
                    <a:pt x="4440395" y="3177"/>
                  </a:lnTo>
                  <a:lnTo>
                    <a:pt x="4485679" y="12432"/>
                  </a:lnTo>
                  <a:lnTo>
                    <a:pt x="4528619" y="27350"/>
                  </a:lnTo>
                  <a:lnTo>
                    <a:pt x="4568801" y="47516"/>
                  </a:lnTo>
                  <a:lnTo>
                    <a:pt x="4605810" y="72516"/>
                  </a:lnTo>
                  <a:lnTo>
                    <a:pt x="4639230" y="101933"/>
                  </a:lnTo>
                  <a:lnTo>
                    <a:pt x="4668647" y="135353"/>
                  </a:lnTo>
                  <a:lnTo>
                    <a:pt x="4693647" y="172362"/>
                  </a:lnTo>
                  <a:lnTo>
                    <a:pt x="4713813" y="212544"/>
                  </a:lnTo>
                  <a:lnTo>
                    <a:pt x="4728731" y="255484"/>
                  </a:lnTo>
                  <a:lnTo>
                    <a:pt x="4737986" y="300768"/>
                  </a:lnTo>
                  <a:lnTo>
                    <a:pt x="4741164" y="347980"/>
                  </a:lnTo>
                  <a:lnTo>
                    <a:pt x="4741164" y="1739887"/>
                  </a:lnTo>
                  <a:lnTo>
                    <a:pt x="4737986" y="1787107"/>
                  </a:lnTo>
                  <a:lnTo>
                    <a:pt x="4728731" y="1832396"/>
                  </a:lnTo>
                  <a:lnTo>
                    <a:pt x="4713813" y="1875340"/>
                  </a:lnTo>
                  <a:lnTo>
                    <a:pt x="4693647" y="1915525"/>
                  </a:lnTo>
                  <a:lnTo>
                    <a:pt x="4668647" y="1952534"/>
                  </a:lnTo>
                  <a:lnTo>
                    <a:pt x="4639230" y="1985954"/>
                  </a:lnTo>
                  <a:lnTo>
                    <a:pt x="4605810" y="2015370"/>
                  </a:lnTo>
                  <a:lnTo>
                    <a:pt x="4568801" y="2040368"/>
                  </a:lnTo>
                  <a:lnTo>
                    <a:pt x="4528619" y="2060532"/>
                  </a:lnTo>
                  <a:lnTo>
                    <a:pt x="4485679" y="2075449"/>
                  </a:lnTo>
                  <a:lnTo>
                    <a:pt x="4440395" y="2084703"/>
                  </a:lnTo>
                  <a:lnTo>
                    <a:pt x="4393184" y="2087880"/>
                  </a:lnTo>
                  <a:lnTo>
                    <a:pt x="347979" y="2087880"/>
                  </a:lnTo>
                  <a:lnTo>
                    <a:pt x="300768" y="2084703"/>
                  </a:lnTo>
                  <a:lnTo>
                    <a:pt x="255484" y="2075449"/>
                  </a:lnTo>
                  <a:lnTo>
                    <a:pt x="212544" y="2060532"/>
                  </a:lnTo>
                  <a:lnTo>
                    <a:pt x="172362" y="2040368"/>
                  </a:lnTo>
                  <a:lnTo>
                    <a:pt x="135353" y="2015370"/>
                  </a:lnTo>
                  <a:lnTo>
                    <a:pt x="101933" y="1985954"/>
                  </a:lnTo>
                  <a:lnTo>
                    <a:pt x="72516" y="1952534"/>
                  </a:lnTo>
                  <a:lnTo>
                    <a:pt x="47516" y="1915525"/>
                  </a:lnTo>
                  <a:lnTo>
                    <a:pt x="27350" y="1875340"/>
                  </a:lnTo>
                  <a:lnTo>
                    <a:pt x="12432" y="1832396"/>
                  </a:lnTo>
                  <a:lnTo>
                    <a:pt x="3177" y="1787107"/>
                  </a:lnTo>
                  <a:lnTo>
                    <a:pt x="0" y="1739887"/>
                  </a:lnTo>
                  <a:lnTo>
                    <a:pt x="0" y="347980"/>
                  </a:lnTo>
                  <a:close/>
                </a:path>
              </a:pathLst>
            </a:custGeom>
            <a:ln w="19812">
              <a:solidFill>
                <a:srgbClr val="226B87"/>
              </a:solidFill>
            </a:ln>
          </p:spPr>
          <p:txBody>
            <a:bodyPr bIns="0" lIns="0" numCol="1" rIns="0" rtlCol="0" tIns="0" wrap="square"/>
            <a:lstStyle/>
            <a:p>
              <a:endParaRPr/>
            </a:p>
          </p:txBody>
        </p:sp>
      </p:grpSp>
      <p:sp>
        <p:nvSpPr>
          <p:cNvPr id="31" name="object 32">
            <a:extLst>
              <a:ext uri="{FF2B5EF4-FFF2-40B4-BE49-F238E27FC236}">
                <a16:creationId xmlns:a16="http://schemas.microsoft.com/office/drawing/2014/main" id="{E7AD6F26-ACF1-0800-AC83-0264699842F7}"/>
              </a:ext>
            </a:extLst>
          </p:cNvPr>
          <p:cNvSpPr txBox="1"/>
          <p:nvPr/>
        </p:nvSpPr>
        <p:spPr>
          <a:xfrm>
            <a:off x="6446900" y="2409115"/>
            <a:ext cx="4613911" cy="3185487"/>
          </a:xfrm>
          <a:prstGeom prst="rect">
            <a:avLst/>
          </a:prstGeom>
        </p:spPr>
        <p:txBody>
          <a:bodyPr bIns="0" lIns="0" numCol="1" rIns="0" rtlCol="0" tIns="12700" vert="horz" wrap="square">
            <a:spAutoFit/>
          </a:bodyPr>
          <a:lstStyle/>
          <a:p>
            <a:pPr algn="just" indent="124457" marL="12700" marR="1861773">
              <a:spcBef>
                <a:spcPts val="100"/>
              </a:spcBef>
            </a:pPr>
            <a:r>
              <a:rPr dirty="0" sz="2400">
                <a:solidFill>
                  <a:srgbClr val="FFFFFF"/>
                </a:solidFill>
                <a:latin typeface="Palatino Linotype"/>
                <a:cs typeface="Palatino Linotype"/>
              </a:rPr>
              <a:t>A</a:t>
            </a:r>
            <a:r>
              <a:rPr dirty="0" spc="-55"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35" sz="2400">
                <a:solidFill>
                  <a:srgbClr val="FFFFFF"/>
                </a:solidFill>
                <a:latin typeface="Palatino Linotype"/>
                <a:cs typeface="Palatino Linotype"/>
              </a:rPr>
              <a:t> </a:t>
            </a:r>
            <a:r>
              <a:rPr dirty="0" spc="-11" sz="2400">
                <a:solidFill>
                  <a:srgbClr val="FFFFFF"/>
                </a:solidFill>
                <a:latin typeface="Palatino Linotype"/>
                <a:cs typeface="Palatino Linotype"/>
              </a:rPr>
              <a:t>produced </a:t>
            </a:r>
            <a:r>
              <a:rPr dirty="0" sz="2400">
                <a:solidFill>
                  <a:srgbClr val="FFFFFF"/>
                </a:solidFill>
                <a:latin typeface="Palatino Linotype"/>
                <a:cs typeface="Palatino Linotype"/>
              </a:rPr>
              <a:t>by</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11" sz="2400">
                <a:solidFill>
                  <a:srgbClr val="FFFFFF"/>
                </a:solidFill>
                <a:latin typeface="Palatino Linotype"/>
                <a:cs typeface="Palatino Linotype"/>
              </a:rPr>
              <a:t> </a:t>
            </a:r>
            <a:r>
              <a:rPr dirty="0" sz="2400">
                <a:solidFill>
                  <a:srgbClr val="FFFFFF"/>
                </a:solidFill>
                <a:latin typeface="Palatino Linotype"/>
                <a:cs typeface="Palatino Linotype"/>
              </a:rPr>
              <a:t>variable</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11" sz="2400">
                <a:solidFill>
                  <a:srgbClr val="FFFFFF"/>
                </a:solidFill>
                <a:latin typeface="Palatino Linotype"/>
                <a:cs typeface="Palatino Linotype"/>
              </a:rPr>
              <a:t> </a:t>
            </a:r>
            <a:r>
              <a:rPr dirty="0" spc="-20" sz="2400">
                <a:solidFill>
                  <a:srgbClr val="FFFFFF"/>
                </a:solidFill>
                <a:latin typeface="Palatino Linotype"/>
                <a:cs typeface="Palatino Linotype"/>
              </a:rPr>
              <a:t>cell </a:t>
            </a:r>
            <a:r>
              <a:rPr dirty="0" sz="2400">
                <a:solidFill>
                  <a:srgbClr val="FFFFFF"/>
                </a:solidFill>
                <a:latin typeface="Palatino Linotype"/>
                <a:cs typeface="Palatino Linotype"/>
              </a:rPr>
              <a:t>1,2</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has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31" sz="2400">
                <a:solidFill>
                  <a:srgbClr val="FFFFFF"/>
                </a:solidFill>
                <a:latin typeface="Palatino Linotype"/>
                <a:cs typeface="Palatino Linotype"/>
              </a:rPr>
              <a:t> </a:t>
            </a:r>
            <a:r>
              <a:rPr dirty="0" spc="-25" sz="2400">
                <a:solidFill>
                  <a:srgbClr val="FFFFFF"/>
                </a:solidFill>
                <a:latin typeface="Palatino Linotype"/>
                <a:cs typeface="Palatino Linotype"/>
              </a:rPr>
              <a:t>2.</a:t>
            </a:r>
            <a:endParaRPr sz="2400">
              <a:latin typeface="Palatino Linotype"/>
              <a:cs typeface="Palatino Linotype"/>
            </a:endParaRPr>
          </a:p>
          <a:p>
            <a:pPr algn="just" indent="144776" marL="396230" marR="5080">
              <a:spcBef>
                <a:spcPts val="1689"/>
              </a:spcBef>
            </a:pPr>
            <a:r>
              <a:rPr dirty="0" sz="2400">
                <a:solidFill>
                  <a:srgbClr val="FFFFFF"/>
                </a:solidFill>
                <a:latin typeface="Palatino Linotype"/>
                <a:cs typeface="Palatino Linotype"/>
              </a:rPr>
              <a:t>So,</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to</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get</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25" sz="2400">
                <a:solidFill>
                  <a:srgbClr val="FFFFFF"/>
                </a:solidFill>
                <a:latin typeface="Palatino Linotype"/>
                <a:cs typeface="Palatino Linotype"/>
              </a:rPr>
              <a:t> 3, </a:t>
            </a:r>
            <a:r>
              <a:rPr dirty="0" sz="2400">
                <a:solidFill>
                  <a:srgbClr val="FFFFFF"/>
                </a:solidFill>
                <a:latin typeface="Palatino Linotype"/>
                <a:cs typeface="Palatino Linotype"/>
              </a:rPr>
              <a:t>we</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need</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that</a:t>
            </a:r>
            <a:r>
              <a:rPr dirty="0" spc="-5" sz="2400">
                <a:solidFill>
                  <a:srgbClr val="FFFFFF"/>
                </a:solidFill>
                <a:latin typeface="Palatino Linotype"/>
                <a:cs typeface="Palatino Linotype"/>
              </a:rPr>
              <a:t> </a:t>
            </a:r>
            <a:r>
              <a:rPr dirty="0" sz="2400">
                <a:solidFill>
                  <a:srgbClr val="FFFFFF"/>
                </a:solidFill>
                <a:latin typeface="Palatino Linotype"/>
                <a:cs typeface="Palatino Linotype"/>
              </a:rPr>
              <a:t>starts</a:t>
            </a:r>
            <a:r>
              <a:rPr dirty="0" spc="-15" sz="2400">
                <a:solidFill>
                  <a:srgbClr val="FFFFFF"/>
                </a:solidFill>
                <a:latin typeface="Palatino Linotype"/>
                <a:cs typeface="Palatino Linotype"/>
              </a:rPr>
              <a:t> </a:t>
            </a:r>
            <a:r>
              <a:rPr dirty="0" spc="-25" sz="2400">
                <a:solidFill>
                  <a:srgbClr val="FFFFFF"/>
                </a:solidFill>
                <a:latin typeface="Palatino Linotype"/>
                <a:cs typeface="Palatino Linotype"/>
              </a:rPr>
              <a:t>at </a:t>
            </a:r>
            <a:r>
              <a:rPr dirty="0" sz="2400">
                <a:solidFill>
                  <a:srgbClr val="FFFFFF"/>
                </a:solidFill>
                <a:latin typeface="Palatino Linotype"/>
                <a:cs typeface="Palatino Linotype"/>
              </a:rPr>
              <a:t>position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3</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and</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1" sz="2400">
                <a:solidFill>
                  <a:srgbClr val="FFFFFF"/>
                </a:solidFill>
                <a:latin typeface="Palatino Linotype"/>
                <a:cs typeface="Palatino Linotype"/>
              </a:rPr>
              <a:t> </a:t>
            </a:r>
            <a:r>
              <a:rPr dirty="0" spc="-25" sz="2400">
                <a:solidFill>
                  <a:srgbClr val="FFFFFF"/>
                </a:solidFill>
                <a:latin typeface="Palatino Linotype"/>
                <a:cs typeface="Palatino Linotype"/>
              </a:rPr>
              <a:t>1. </a:t>
            </a:r>
            <a:r>
              <a:rPr dirty="0" sz="2400">
                <a:solidFill>
                  <a:srgbClr val="FFFFFF"/>
                </a:solidFill>
                <a:latin typeface="Palatino Linotype"/>
                <a:cs typeface="Palatino Linotype"/>
              </a:rPr>
              <a:t>Such</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strings</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are</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produced</a:t>
            </a:r>
            <a:r>
              <a:rPr dirty="0" spc="-45" sz="2400">
                <a:solidFill>
                  <a:srgbClr val="FFFFFF"/>
                </a:solidFill>
                <a:latin typeface="Palatino Linotype"/>
                <a:cs typeface="Palatino Linotype"/>
              </a:rPr>
              <a:t> </a:t>
            </a:r>
            <a:r>
              <a:rPr dirty="0" spc="-25" sz="2400">
                <a:solidFill>
                  <a:srgbClr val="FFFFFF"/>
                </a:solidFill>
                <a:latin typeface="Palatino Linotype"/>
                <a:cs typeface="Palatino Linotype"/>
              </a:rPr>
              <a:t>by </a:t>
            </a:r>
            <a:r>
              <a:rPr dirty="0" sz="2400">
                <a:solidFill>
                  <a:srgbClr val="FFFFFF"/>
                </a:solidFill>
                <a:latin typeface="Palatino Linotype"/>
                <a:cs typeface="Palatino Linotype"/>
              </a:rPr>
              <a:t>variables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cell</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3,1</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15" sz="2400">
                <a:solidFill>
                  <a:srgbClr val="FFFFFF"/>
                </a:solidFill>
                <a:latin typeface="Palatino Linotype"/>
                <a:cs typeface="Palatino Linotype"/>
              </a:rPr>
              <a:t> </a:t>
            </a:r>
            <a:r>
              <a:rPr dirty="0" spc="-11" sz="2400">
                <a:solidFill>
                  <a:srgbClr val="FFFFFF"/>
                </a:solidFill>
                <a:latin typeface="Palatino Linotype"/>
                <a:cs typeface="Palatino Linotype"/>
              </a:rPr>
              <a:t>table.</a:t>
            </a:r>
            <a:endParaRPr sz="2400">
              <a:latin typeface="Palatino Linotype"/>
              <a:cs typeface="Palatino Linotype"/>
            </a:endParaRPr>
          </a:p>
        </p:txBody>
      </p:sp>
      <p:grpSp>
        <p:nvGrpSpPr>
          <p:cNvPr id="32" name="object 33">
            <a:extLst>
              <a:ext uri="{FF2B5EF4-FFF2-40B4-BE49-F238E27FC236}">
                <a16:creationId xmlns:a16="http://schemas.microsoft.com/office/drawing/2014/main" id="{15839DCA-116D-3CAB-11A7-C541B06E342A}"/>
              </a:ext>
            </a:extLst>
          </p:cNvPr>
          <p:cNvGrpSpPr/>
          <p:nvPr/>
        </p:nvGrpSpPr>
        <p:grpSpPr>
          <a:xfrm>
            <a:off x="3623690" y="3964989"/>
            <a:ext cx="2972435" cy="723900"/>
            <a:chOff x="3182111" y="4500371"/>
            <a:chExt cx="2972435" cy="723900"/>
          </a:xfrm>
        </p:grpSpPr>
        <p:sp>
          <p:nvSpPr>
            <p:cNvPr id="33" name="object 34">
              <a:extLst>
                <a:ext uri="{FF2B5EF4-FFF2-40B4-BE49-F238E27FC236}">
                  <a16:creationId xmlns:a16="http://schemas.microsoft.com/office/drawing/2014/main" id="{C0019BB2-6EF4-EB40-B238-D36BD08EC314}"/>
                </a:ext>
              </a:extLst>
            </p:cNvPr>
            <p:cNvSpPr/>
            <p:nvPr/>
          </p:nvSpPr>
          <p:spPr>
            <a:xfrm>
              <a:off x="3694937" y="4636007"/>
              <a:ext cx="2459355" cy="588645"/>
            </a:xfrm>
            <a:custGeom>
              <a:avLst/>
              <a:gdLst/>
              <a:ahLst/>
              <a:cxnLst/>
              <a:rect b="b" l="l" r="r" t="t"/>
              <a:pathLst>
                <a:path h="588645" w="2459354">
                  <a:moveTo>
                    <a:pt x="115732" y="37242"/>
                  </a:moveTo>
                  <a:lnTo>
                    <a:pt x="107517" y="74462"/>
                  </a:lnTo>
                  <a:lnTo>
                    <a:pt x="2436495" y="587883"/>
                  </a:lnTo>
                  <a:lnTo>
                    <a:pt x="2443991" y="588031"/>
                  </a:lnTo>
                  <a:lnTo>
                    <a:pt x="2450750" y="585358"/>
                  </a:lnTo>
                  <a:lnTo>
                    <a:pt x="2456033" y="580328"/>
                  </a:lnTo>
                  <a:lnTo>
                    <a:pt x="2459101" y="573405"/>
                  </a:lnTo>
                  <a:lnTo>
                    <a:pt x="2459249" y="565834"/>
                  </a:lnTo>
                  <a:lnTo>
                    <a:pt x="2456576" y="559038"/>
                  </a:lnTo>
                  <a:lnTo>
                    <a:pt x="2451546" y="553741"/>
                  </a:lnTo>
                  <a:lnTo>
                    <a:pt x="2444623" y="550672"/>
                  </a:lnTo>
                  <a:lnTo>
                    <a:pt x="115732" y="37242"/>
                  </a:lnTo>
                  <a:close/>
                </a:path>
                <a:path h="588645" w="2459354">
                  <a:moveTo>
                    <a:pt x="123951" y="0"/>
                  </a:moveTo>
                  <a:lnTo>
                    <a:pt x="0" y="31242"/>
                  </a:lnTo>
                  <a:lnTo>
                    <a:pt x="99313" y="111633"/>
                  </a:lnTo>
                  <a:lnTo>
                    <a:pt x="107517" y="74462"/>
                  </a:lnTo>
                  <a:lnTo>
                    <a:pt x="88900" y="70358"/>
                  </a:lnTo>
                  <a:lnTo>
                    <a:pt x="81976" y="67288"/>
                  </a:lnTo>
                  <a:lnTo>
                    <a:pt x="76946" y="61991"/>
                  </a:lnTo>
                  <a:lnTo>
                    <a:pt x="74273" y="55195"/>
                  </a:lnTo>
                  <a:lnTo>
                    <a:pt x="74422" y="47625"/>
                  </a:lnTo>
                  <a:lnTo>
                    <a:pt x="77491" y="40701"/>
                  </a:lnTo>
                  <a:lnTo>
                    <a:pt x="82788" y="35671"/>
                  </a:lnTo>
                  <a:lnTo>
                    <a:pt x="89584" y="32998"/>
                  </a:lnTo>
                  <a:lnTo>
                    <a:pt x="116669" y="32998"/>
                  </a:lnTo>
                  <a:lnTo>
                    <a:pt x="123951" y="0"/>
                  </a:lnTo>
                  <a:close/>
                </a:path>
                <a:path h="588645" w="2459354">
                  <a:moveTo>
                    <a:pt x="89584" y="32998"/>
                  </a:moveTo>
                  <a:lnTo>
                    <a:pt x="82788" y="35671"/>
                  </a:lnTo>
                  <a:lnTo>
                    <a:pt x="77491" y="40701"/>
                  </a:lnTo>
                  <a:lnTo>
                    <a:pt x="74422" y="47625"/>
                  </a:lnTo>
                  <a:lnTo>
                    <a:pt x="74273" y="55195"/>
                  </a:lnTo>
                  <a:lnTo>
                    <a:pt x="76946" y="61991"/>
                  </a:lnTo>
                  <a:lnTo>
                    <a:pt x="81976" y="67288"/>
                  </a:lnTo>
                  <a:lnTo>
                    <a:pt x="88900" y="70358"/>
                  </a:lnTo>
                  <a:lnTo>
                    <a:pt x="107517" y="74462"/>
                  </a:lnTo>
                  <a:lnTo>
                    <a:pt x="115732" y="37242"/>
                  </a:lnTo>
                  <a:lnTo>
                    <a:pt x="97154" y="33147"/>
                  </a:lnTo>
                  <a:lnTo>
                    <a:pt x="89584" y="32998"/>
                  </a:lnTo>
                  <a:close/>
                </a:path>
                <a:path h="588645" w="2459354">
                  <a:moveTo>
                    <a:pt x="116669" y="32998"/>
                  </a:moveTo>
                  <a:lnTo>
                    <a:pt x="89584" y="32998"/>
                  </a:lnTo>
                  <a:lnTo>
                    <a:pt x="97154" y="33147"/>
                  </a:lnTo>
                  <a:lnTo>
                    <a:pt x="115732" y="37242"/>
                  </a:lnTo>
                  <a:lnTo>
                    <a:pt x="116636" y="33147"/>
                  </a:lnTo>
                  <a:lnTo>
                    <a:pt x="116669" y="32998"/>
                  </a:lnTo>
                  <a:close/>
                </a:path>
              </a:pathLst>
            </a:custGeom>
            <a:solidFill>
              <a:srgbClr val="3493B9"/>
            </a:solidFill>
          </p:spPr>
          <p:txBody>
            <a:bodyPr bIns="0" lIns="0" numCol="1" rIns="0" rtlCol="0" tIns="0" wrap="square"/>
            <a:lstStyle/>
            <a:p>
              <a:endParaRPr/>
            </a:p>
          </p:txBody>
        </p:sp>
        <p:sp>
          <p:nvSpPr>
            <p:cNvPr id="34" name="object 35">
              <a:extLst>
                <a:ext uri="{FF2B5EF4-FFF2-40B4-BE49-F238E27FC236}">
                  <a16:creationId xmlns:a16="http://schemas.microsoft.com/office/drawing/2014/main" id="{F685C7A3-34F5-405E-C091-5552593CF052}"/>
                </a:ext>
              </a:extLst>
            </p:cNvPr>
            <p:cNvSpPr/>
            <p:nvPr/>
          </p:nvSpPr>
          <p:spPr>
            <a:xfrm>
              <a:off x="3201161" y="4519421"/>
              <a:ext cx="494030" cy="295910"/>
            </a:xfrm>
            <a:custGeom>
              <a:avLst/>
              <a:gdLst/>
              <a:ahLst/>
              <a:cxnLst/>
              <a:rect b="b" l="l" r="r" t="t"/>
              <a:pathLst>
                <a:path h="295910" w="494029">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grpSp>
    </p:spTree>
    <p:extLst>
      <p:ext uri="{BB962C8B-B14F-4D97-AF65-F5344CB8AC3E}">
        <p14:creationId xmlns:p14="http://schemas.microsoft.com/office/powerpoint/2010/main" val="32726338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6AA2D57-47DB-947F-2E04-F5645B971154}"/>
              </a:ext>
            </a:extLst>
          </p:cNvPr>
          <p:cNvSpPr txBox="1"/>
          <p:nvPr/>
        </p:nvSpPr>
        <p:spPr>
          <a:xfrm>
            <a:off x="1724278" y="3509762"/>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6C3584E2-DFD4-7011-008E-72037FAAA6B4}"/>
              </a:ext>
            </a:extLst>
          </p:cNvPr>
          <p:cNvSpPr txBox="1"/>
          <p:nvPr/>
        </p:nvSpPr>
        <p:spPr>
          <a:xfrm>
            <a:off x="2847466" y="3509762"/>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833C0265-02DC-0513-2DC7-F04B686E2272}"/>
              </a:ext>
            </a:extLst>
          </p:cNvPr>
          <p:cNvSpPr txBox="1"/>
          <p:nvPr/>
        </p:nvSpPr>
        <p:spPr>
          <a:xfrm>
            <a:off x="3858133" y="2878974"/>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a:extLst>
              <a:ext uri="{FF2B5EF4-FFF2-40B4-BE49-F238E27FC236}">
                <a16:creationId xmlns:a16="http://schemas.microsoft.com/office/drawing/2014/main" id="{6684807A-D251-3655-CB11-20F58EF2C277}"/>
              </a:ext>
            </a:extLst>
          </p:cNvPr>
          <p:cNvSpPr txBox="1"/>
          <p:nvPr/>
        </p:nvSpPr>
        <p:spPr>
          <a:xfrm>
            <a:off x="5001134" y="2878974"/>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a:extLst>
              <a:ext uri="{FF2B5EF4-FFF2-40B4-BE49-F238E27FC236}">
                <a16:creationId xmlns:a16="http://schemas.microsoft.com/office/drawing/2014/main" id="{983810EC-1952-16E7-AE51-36491E47C90C}"/>
              </a:ext>
            </a:extLst>
          </p:cNvPr>
          <p:cNvSpPr txBox="1"/>
          <p:nvPr/>
        </p:nvSpPr>
        <p:spPr>
          <a:xfrm>
            <a:off x="5967729" y="2878974"/>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a:extLst>
              <a:ext uri="{FF2B5EF4-FFF2-40B4-BE49-F238E27FC236}">
                <a16:creationId xmlns:a16="http://schemas.microsoft.com/office/drawing/2014/main" id="{224CA361-7AFC-E3C4-C74B-4B6C43AC35CA}"/>
              </a:ext>
            </a:extLst>
          </p:cNvPr>
          <p:cNvSpPr txBox="1"/>
          <p:nvPr/>
        </p:nvSpPr>
        <p:spPr>
          <a:xfrm>
            <a:off x="856716" y="3764269"/>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a:extLst>
              <a:ext uri="{FF2B5EF4-FFF2-40B4-BE49-F238E27FC236}">
                <a16:creationId xmlns:a16="http://schemas.microsoft.com/office/drawing/2014/main" id="{3F224832-4151-3279-802C-BDEEB358E156}"/>
              </a:ext>
            </a:extLst>
          </p:cNvPr>
          <p:cNvGraphicFramePr>
            <a:graphicFrameLocks noGrp="1"/>
          </p:cNvGraphicFramePr>
          <p:nvPr/>
        </p:nvGraphicFramePr>
        <p:xfrm>
          <a:off x="1477900" y="3918447"/>
          <a:ext cx="5002528" cy="1987296"/>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54609">
                  <a:extLst>
                    <a:ext uri="{9D8B030D-6E8A-4147-A177-3AD203B41FA5}">
                      <a16:colId xmlns:a16="http://schemas.microsoft.com/office/drawing/2014/main" val="20001"/>
                    </a:ext>
                  </a:extLst>
                </a:gridCol>
                <a:gridCol w="1063624">
                  <a:extLst>
                    <a:ext uri="{9D8B030D-6E8A-4147-A177-3AD203B41FA5}">
                      <a16:colId xmlns:a16="http://schemas.microsoft.com/office/drawing/2014/main" val="20002"/>
                    </a:ext>
                  </a:extLst>
                </a:gridCol>
                <a:gridCol w="888364">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gridCol w="800100">
                  <a:extLst>
                    <a:ext uri="{9D8B030D-6E8A-4147-A177-3AD203B41FA5}">
                      <a16:colId xmlns:a16="http://schemas.microsoft.com/office/drawing/2014/main" val="20005"/>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3352">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lnB w="12700">
                      <a:solidFill>
                        <a:srgbClr val="6B9F24"/>
                      </a:solidFill>
                      <a:prstDash val="solid"/>
                    </a:lnB>
                    <a:solidFill>
                      <a:srgbClr val="FF0000"/>
                    </a:solidFill>
                  </a:tcPr>
                </a:tc>
                <a:tc>
                  <a:txBody>
                    <a:bodyPr numCol="1"/>
                    <a:lstStyle/>
                    <a:p>
                      <a:pPr>
                        <a:lnSpc>
                          <a:spcPct val="100000"/>
                        </a:lnSpc>
                      </a:pPr>
                      <a:endParaRPr sz="2100">
                        <a:latin typeface="Times New Roman"/>
                        <a:cs typeface="Times New Roman"/>
                      </a:endParaRPr>
                    </a:p>
                  </a:txBody>
                  <a:tcPr marB="0" marL="0" marR="0" marT="0">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a:extLst>
              <a:ext uri="{FF2B5EF4-FFF2-40B4-BE49-F238E27FC236}">
                <a16:creationId xmlns:a16="http://schemas.microsoft.com/office/drawing/2014/main" id="{39DE48D8-9EAB-1467-A8D2-22905A90532A}"/>
              </a:ext>
            </a:extLst>
          </p:cNvPr>
          <p:cNvSpPr txBox="1"/>
          <p:nvPr/>
        </p:nvSpPr>
        <p:spPr>
          <a:xfrm>
            <a:off x="823189" y="3889956"/>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1">
            <a:extLst>
              <a:ext uri="{FF2B5EF4-FFF2-40B4-BE49-F238E27FC236}">
                <a16:creationId xmlns:a16="http://schemas.microsoft.com/office/drawing/2014/main" id="{93E38942-CE28-5E08-8C77-CC56D19AE90A}"/>
              </a:ext>
            </a:extLst>
          </p:cNvPr>
          <p:cNvSpPr txBox="1"/>
          <p:nvPr/>
        </p:nvSpPr>
        <p:spPr>
          <a:xfrm>
            <a:off x="836091" y="825693"/>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1" name="object 12">
            <a:extLst>
              <a:ext uri="{FF2B5EF4-FFF2-40B4-BE49-F238E27FC236}">
                <a16:creationId xmlns:a16="http://schemas.microsoft.com/office/drawing/2014/main" id="{6A3948B0-22A8-3CC5-7D84-7BD82F950A98}"/>
              </a:ext>
            </a:extLst>
          </p:cNvPr>
          <p:cNvSpPr txBox="1"/>
          <p:nvPr/>
        </p:nvSpPr>
        <p:spPr>
          <a:xfrm>
            <a:off x="1927606" y="3293735"/>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2" name="object 13">
            <a:extLst>
              <a:ext uri="{FF2B5EF4-FFF2-40B4-BE49-F238E27FC236}">
                <a16:creationId xmlns:a16="http://schemas.microsoft.com/office/drawing/2014/main" id="{3731E0DD-1511-6C7E-885D-DFDDF2FF2142}"/>
              </a:ext>
            </a:extLst>
          </p:cNvPr>
          <p:cNvSpPr txBox="1"/>
          <p:nvPr/>
        </p:nvSpPr>
        <p:spPr>
          <a:xfrm>
            <a:off x="1571879" y="3027032"/>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3" name="object 14">
            <a:extLst>
              <a:ext uri="{FF2B5EF4-FFF2-40B4-BE49-F238E27FC236}">
                <a16:creationId xmlns:a16="http://schemas.microsoft.com/office/drawing/2014/main" id="{BCCE74B2-8B8C-93A6-37CC-FADCC3FD4397}"/>
              </a:ext>
            </a:extLst>
          </p:cNvPr>
          <p:cNvSpPr txBox="1"/>
          <p:nvPr/>
        </p:nvSpPr>
        <p:spPr>
          <a:xfrm>
            <a:off x="4648200" y="1379690"/>
            <a:ext cx="6014720" cy="751488"/>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Let’s</a:t>
            </a:r>
            <a:r>
              <a:rPr dirty="0" spc="-31" sz="2400">
                <a:latin typeface="Palatino Linotype"/>
                <a:cs typeface="Palatino Linotype"/>
              </a:rPr>
              <a:t> </a:t>
            </a:r>
            <a:r>
              <a:rPr dirty="0" sz="2400">
                <a:latin typeface="Palatino Linotype"/>
                <a:cs typeface="Palatino Linotype"/>
              </a:rPr>
              <a:t>do</a:t>
            </a:r>
            <a:r>
              <a:rPr dirty="0" spc="-25" sz="2400">
                <a:latin typeface="Palatino Linotype"/>
                <a:cs typeface="Palatino Linotype"/>
              </a:rPr>
              <a:t> </a:t>
            </a:r>
            <a:r>
              <a:rPr dirty="0" sz="2400">
                <a:latin typeface="Palatino Linotype"/>
                <a:cs typeface="Palatino Linotype"/>
              </a:rPr>
              <a:t>the</a:t>
            </a:r>
            <a:r>
              <a:rPr dirty="0" spc="-5" sz="2400">
                <a:latin typeface="Palatino Linotype"/>
                <a:cs typeface="Palatino Linotype"/>
              </a:rPr>
              <a:t> </a:t>
            </a:r>
            <a:r>
              <a:rPr dirty="0" sz="2400">
                <a:latin typeface="Palatino Linotype"/>
                <a:cs typeface="Palatino Linotype"/>
              </a:rPr>
              <a:t>same</a:t>
            </a:r>
            <a:r>
              <a:rPr dirty="0" spc="-15" sz="2400">
                <a:latin typeface="Palatino Linotype"/>
                <a:cs typeface="Palatino Linotype"/>
              </a:rPr>
              <a:t> </a:t>
            </a:r>
            <a:r>
              <a:rPr dirty="0" sz="2400">
                <a:latin typeface="Palatino Linotype"/>
                <a:cs typeface="Palatino Linotype"/>
              </a:rPr>
              <a:t>exercise</a:t>
            </a:r>
            <a:r>
              <a:rPr dirty="0" spc="-25" sz="2400">
                <a:latin typeface="Palatino Linotype"/>
                <a:cs typeface="Palatino Linotype"/>
              </a:rPr>
              <a:t> </a:t>
            </a:r>
            <a:r>
              <a:rPr dirty="0" sz="2400">
                <a:latin typeface="Palatino Linotype"/>
                <a:cs typeface="Palatino Linotype"/>
              </a:rPr>
              <a:t>for</a:t>
            </a:r>
            <a:r>
              <a:rPr dirty="0" spc="-15" sz="2400">
                <a:latin typeface="Palatino Linotype"/>
                <a:cs typeface="Palatino Linotype"/>
              </a:rPr>
              <a:t> </a:t>
            </a:r>
            <a:r>
              <a:rPr dirty="0" sz="2400">
                <a:latin typeface="Palatino Linotype"/>
                <a:cs typeface="Palatino Linotype"/>
              </a:rPr>
              <a:t>the</a:t>
            </a:r>
            <a:r>
              <a:rPr dirty="0" spc="-5" sz="2400">
                <a:latin typeface="Palatino Linotype"/>
                <a:cs typeface="Palatino Linotype"/>
              </a:rPr>
              <a:t> </a:t>
            </a:r>
            <a:r>
              <a:rPr dirty="0" sz="2400">
                <a:latin typeface="Palatino Linotype"/>
                <a:cs typeface="Palatino Linotype"/>
              </a:rPr>
              <a:t>next</a:t>
            </a:r>
            <a:r>
              <a:rPr dirty="0" spc="-11" sz="2400">
                <a:latin typeface="Palatino Linotype"/>
                <a:cs typeface="Palatino Linotype"/>
              </a:rPr>
              <a:t> </a:t>
            </a:r>
            <a:r>
              <a:rPr dirty="0" sz="2400">
                <a:latin typeface="Palatino Linotype"/>
                <a:cs typeface="Palatino Linotype"/>
              </a:rPr>
              <a:t>cell</a:t>
            </a:r>
            <a:r>
              <a:rPr dirty="0" spc="-15" sz="2400">
                <a:latin typeface="Palatino Linotype"/>
                <a:cs typeface="Palatino Linotype"/>
              </a:rPr>
              <a:t> </a:t>
            </a:r>
            <a:r>
              <a:rPr dirty="0" spc="-25" sz="2400">
                <a:latin typeface="Palatino Linotype"/>
                <a:cs typeface="Palatino Linotype"/>
              </a:rPr>
              <a:t>in</a:t>
            </a:r>
            <a:endParaRPr dirty="0" sz="2400">
              <a:latin typeface="Palatino Linotype"/>
              <a:cs typeface="Palatino Linotype"/>
            </a:endParaRPr>
          </a:p>
          <a:p>
            <a:pPr marL="12700">
              <a:spcBef>
                <a:spcPts val="5"/>
              </a:spcBef>
            </a:pPr>
            <a:r>
              <a:rPr dirty="0" sz="2400">
                <a:latin typeface="Palatino Linotype"/>
                <a:cs typeface="Palatino Linotype"/>
              </a:rPr>
              <a:t>the</a:t>
            </a:r>
            <a:r>
              <a:rPr dirty="0" spc="-40" sz="2400">
                <a:latin typeface="Palatino Linotype"/>
                <a:cs typeface="Palatino Linotype"/>
              </a:rPr>
              <a:t> </a:t>
            </a:r>
            <a:r>
              <a:rPr dirty="0" spc="-11" sz="2400">
                <a:latin typeface="Palatino Linotype"/>
                <a:cs typeface="Palatino Linotype"/>
              </a:rPr>
              <a:t>table.</a:t>
            </a:r>
            <a:endParaRPr dirty="0" sz="2400">
              <a:latin typeface="Palatino Linotype"/>
              <a:cs typeface="Palatino Linotype"/>
            </a:endParaRPr>
          </a:p>
        </p:txBody>
      </p:sp>
    </p:spTree>
    <p:extLst>
      <p:ext uri="{BB962C8B-B14F-4D97-AF65-F5344CB8AC3E}">
        <p14:creationId xmlns:p14="http://schemas.microsoft.com/office/powerpoint/2010/main" val="12550203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DB1AAAE-EDC4-FAFB-D625-1D49EE6CA525}"/>
              </a:ext>
            </a:extLst>
          </p:cNvPr>
          <p:cNvSpPr txBox="1"/>
          <p:nvPr/>
        </p:nvSpPr>
        <p:spPr>
          <a:xfrm>
            <a:off x="1698370" y="33810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E40D594C-E643-25F4-FCB3-A52053D63092}"/>
              </a:ext>
            </a:extLst>
          </p:cNvPr>
          <p:cNvSpPr txBox="1"/>
          <p:nvPr/>
        </p:nvSpPr>
        <p:spPr>
          <a:xfrm>
            <a:off x="2821558" y="33810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934F7E6D-B38F-5235-31A7-6F8E1E7E69FB}"/>
              </a:ext>
            </a:extLst>
          </p:cNvPr>
          <p:cNvSpPr txBox="1"/>
          <p:nvPr/>
        </p:nvSpPr>
        <p:spPr>
          <a:xfrm>
            <a:off x="1458087" y="3795828"/>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5" name="object 5">
            <a:extLst>
              <a:ext uri="{FF2B5EF4-FFF2-40B4-BE49-F238E27FC236}">
                <a16:creationId xmlns:a16="http://schemas.microsoft.com/office/drawing/2014/main" id="{7A3FCF96-B64C-4880-CD6C-FF557A82B7FF}"/>
              </a:ext>
            </a:extLst>
          </p:cNvPr>
          <p:cNvSpPr txBox="1"/>
          <p:nvPr/>
        </p:nvSpPr>
        <p:spPr>
          <a:xfrm>
            <a:off x="2759583" y="3742513"/>
            <a:ext cx="455931" cy="401393"/>
          </a:xfrm>
          <a:prstGeom prst="rect">
            <a:avLst/>
          </a:prstGeom>
        </p:spPr>
        <p:txBody>
          <a:bodyPr bIns="0" lIns="0" numCol="1" rIns="0" rtlCol="0" tIns="16511" vert="horz" wrap="square">
            <a:spAutoFit/>
          </a:bodyPr>
          <a:lstStyle/>
          <a:p>
            <a:pPr marL="123186">
              <a:spcBef>
                <a:spcPts val="131"/>
              </a:spcBef>
            </a:pPr>
            <a:r>
              <a:rPr dirty="0" spc="-51" sz="2500">
                <a:latin typeface="Cambria Math"/>
                <a:cs typeface="Cambria Math"/>
              </a:rPr>
              <a:t>A</a:t>
            </a:r>
            <a:endParaRPr sz="2500">
              <a:latin typeface="Cambria Math"/>
              <a:cs typeface="Cambria Math"/>
            </a:endParaRPr>
          </a:p>
        </p:txBody>
      </p:sp>
      <p:sp>
        <p:nvSpPr>
          <p:cNvPr id="6" name="object 6">
            <a:extLst>
              <a:ext uri="{FF2B5EF4-FFF2-40B4-BE49-F238E27FC236}">
                <a16:creationId xmlns:a16="http://schemas.microsoft.com/office/drawing/2014/main" id="{F3ABDBF9-4B0C-13A5-E943-3B004D64BC01}"/>
              </a:ext>
            </a:extLst>
          </p:cNvPr>
          <p:cNvSpPr txBox="1"/>
          <p:nvPr/>
        </p:nvSpPr>
        <p:spPr>
          <a:xfrm>
            <a:off x="3673984" y="3742513"/>
            <a:ext cx="876300" cy="401393"/>
          </a:xfrm>
          <a:prstGeom prst="rect">
            <a:avLst/>
          </a:prstGeom>
        </p:spPr>
        <p:txBody>
          <a:bodyPr bIns="0" lIns="0" numCol="1" rIns="0" rtlCol="0" tIns="16511" vert="horz" wrap="square">
            <a:spAutoFit/>
          </a:bodyPr>
          <a:lstStyle/>
          <a:p>
            <a:pPr marL="266693">
              <a:spcBef>
                <a:spcPts val="131"/>
              </a:spcBef>
            </a:pPr>
            <a:r>
              <a:rPr dirty="0" spc="-51" sz="2500">
                <a:latin typeface="Cambria Math"/>
                <a:cs typeface="Cambria Math"/>
              </a:rPr>
              <a:t>A</a:t>
            </a:r>
            <a:endParaRPr sz="2500">
              <a:latin typeface="Cambria Math"/>
              <a:cs typeface="Cambria Math"/>
            </a:endParaRPr>
          </a:p>
        </p:txBody>
      </p:sp>
      <p:sp>
        <p:nvSpPr>
          <p:cNvPr id="7" name="object 7">
            <a:extLst>
              <a:ext uri="{FF2B5EF4-FFF2-40B4-BE49-F238E27FC236}">
                <a16:creationId xmlns:a16="http://schemas.microsoft.com/office/drawing/2014/main" id="{AEC8FF85-17B6-BA66-63AE-02DAA0642061}"/>
              </a:ext>
            </a:extLst>
          </p:cNvPr>
          <p:cNvSpPr txBox="1"/>
          <p:nvPr/>
        </p:nvSpPr>
        <p:spPr>
          <a:xfrm>
            <a:off x="4562476" y="3742513"/>
            <a:ext cx="1092835" cy="401393"/>
          </a:xfrm>
          <a:prstGeom prst="rect">
            <a:avLst/>
          </a:prstGeom>
        </p:spPr>
        <p:txBody>
          <a:bodyPr bIns="0" lIns="0" numCol="1" rIns="0" rtlCol="0" tIns="16511" vert="horz" wrap="square">
            <a:spAutoFit/>
          </a:bodyPr>
          <a:lstStyle/>
          <a:p>
            <a:pPr algn="ctr" marR="175256">
              <a:spcBef>
                <a:spcPts val="131"/>
              </a:spcBef>
            </a:pPr>
            <a:r>
              <a:rPr dirty="0" spc="-51" sz="2500">
                <a:latin typeface="Cambria Math"/>
                <a:cs typeface="Cambria Math"/>
              </a:rPr>
              <a:t>C</a:t>
            </a:r>
            <a:endParaRPr sz="2500">
              <a:latin typeface="Cambria Math"/>
              <a:cs typeface="Cambria Math"/>
            </a:endParaRPr>
          </a:p>
        </p:txBody>
      </p:sp>
      <p:sp>
        <p:nvSpPr>
          <p:cNvPr id="8" name="object 8">
            <a:extLst>
              <a:ext uri="{FF2B5EF4-FFF2-40B4-BE49-F238E27FC236}">
                <a16:creationId xmlns:a16="http://schemas.microsoft.com/office/drawing/2014/main" id="{843FD66F-4ED7-0758-0D2B-43FC36442951}"/>
              </a:ext>
            </a:extLst>
          </p:cNvPr>
          <p:cNvSpPr txBox="1"/>
          <p:nvPr/>
        </p:nvSpPr>
        <p:spPr>
          <a:xfrm>
            <a:off x="5667376" y="3742513"/>
            <a:ext cx="788035" cy="401393"/>
          </a:xfrm>
          <a:prstGeom prst="rect">
            <a:avLst/>
          </a:prstGeom>
        </p:spPr>
        <p:txBody>
          <a:bodyPr bIns="0" lIns="0" numCol="1" rIns="0" rtlCol="0" tIns="16511" vert="horz" wrap="square">
            <a:spAutoFit/>
          </a:bodyPr>
          <a:lstStyle/>
          <a:p>
            <a:pPr marL="234945">
              <a:spcBef>
                <a:spcPts val="131"/>
              </a:spcBef>
            </a:pPr>
            <a:r>
              <a:rPr dirty="0" spc="-51" sz="2500">
                <a:latin typeface="Cambria Math"/>
                <a:cs typeface="Cambria Math"/>
              </a:rPr>
              <a:t>C</a:t>
            </a:r>
            <a:endParaRPr sz="2500">
              <a:latin typeface="Cambria Math"/>
              <a:cs typeface="Cambria Math"/>
            </a:endParaRPr>
          </a:p>
        </p:txBody>
      </p:sp>
      <p:sp>
        <p:nvSpPr>
          <p:cNvPr id="9" name="object 9">
            <a:extLst>
              <a:ext uri="{FF2B5EF4-FFF2-40B4-BE49-F238E27FC236}">
                <a16:creationId xmlns:a16="http://schemas.microsoft.com/office/drawing/2014/main" id="{8C7D638E-1E5A-F6A0-1BF3-5BF8D09C054D}"/>
              </a:ext>
            </a:extLst>
          </p:cNvPr>
          <p:cNvSpPr txBox="1"/>
          <p:nvPr/>
        </p:nvSpPr>
        <p:spPr>
          <a:xfrm>
            <a:off x="1088772" y="4124452"/>
            <a:ext cx="194945" cy="1490152"/>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a:p>
            <a:pPr marL="12700">
              <a:spcBef>
                <a:spcPts val="5"/>
              </a:spcBef>
            </a:pPr>
            <a:r>
              <a:rPr dirty="0" spc="-51" sz="2400">
                <a:latin typeface="Cambria Math"/>
                <a:cs typeface="Cambria Math"/>
              </a:rPr>
              <a:t>3</a:t>
            </a:r>
            <a:endParaRPr sz="2400">
              <a:latin typeface="Cambria Math"/>
              <a:cs typeface="Cambria Math"/>
            </a:endParaRPr>
          </a:p>
          <a:p>
            <a:pPr marL="12700"/>
            <a:r>
              <a:rPr dirty="0" spc="-51" sz="2400">
                <a:latin typeface="Cambria Math"/>
                <a:cs typeface="Cambria Math"/>
              </a:rPr>
              <a:t>4</a:t>
            </a:r>
            <a:endParaRPr sz="2400">
              <a:latin typeface="Cambria Math"/>
              <a:cs typeface="Cambria Math"/>
            </a:endParaRPr>
          </a:p>
          <a:p>
            <a:pPr marL="12700"/>
            <a:r>
              <a:rPr dirty="0" spc="-51" sz="2400">
                <a:latin typeface="Cambria Math"/>
                <a:cs typeface="Cambria Math"/>
              </a:rPr>
              <a:t>5</a:t>
            </a:r>
            <a:endParaRPr sz="2400">
              <a:latin typeface="Cambria Math"/>
              <a:cs typeface="Cambria Math"/>
            </a:endParaRPr>
          </a:p>
        </p:txBody>
      </p:sp>
      <p:sp>
        <p:nvSpPr>
          <p:cNvPr id="10" name="object 10">
            <a:extLst>
              <a:ext uri="{FF2B5EF4-FFF2-40B4-BE49-F238E27FC236}">
                <a16:creationId xmlns:a16="http://schemas.microsoft.com/office/drawing/2014/main" id="{A588FC69-939F-E320-B5C9-FFC8D94C7827}"/>
              </a:ext>
            </a:extLst>
          </p:cNvPr>
          <p:cNvSpPr txBox="1"/>
          <p:nvPr/>
        </p:nvSpPr>
        <p:spPr>
          <a:xfrm>
            <a:off x="1458087" y="4152443"/>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11" name="object 11">
            <a:extLst>
              <a:ext uri="{FF2B5EF4-FFF2-40B4-BE49-F238E27FC236}">
                <a16:creationId xmlns:a16="http://schemas.microsoft.com/office/drawing/2014/main" id="{F748EEC7-999A-1C75-2C1F-E5C15B994C41}"/>
              </a:ext>
            </a:extLst>
          </p:cNvPr>
          <p:cNvSpPr txBox="1"/>
          <p:nvPr/>
        </p:nvSpPr>
        <p:spPr>
          <a:xfrm>
            <a:off x="2549272" y="4152443"/>
            <a:ext cx="1118871" cy="346249"/>
          </a:xfrm>
          <a:prstGeom prst="rect">
            <a:avLst/>
          </a:prstGeom>
          <a:ln w="12191">
            <a:solidFill>
              <a:srgbClr val="6B9F24"/>
            </a:solidFill>
          </a:ln>
        </p:spPr>
        <p:txBody>
          <a:bodyPr bIns="0" lIns="0" numCol="1" rIns="0" rtlCol="0" tIns="0" vert="horz" wrap="square">
            <a:spAutoFit/>
          </a:bodyPr>
          <a:lstStyle/>
          <a:p>
            <a:pPr marL="333366">
              <a:lnSpc>
                <a:spcPts val="2711"/>
              </a:lnSpc>
            </a:pPr>
            <a:r>
              <a:rPr dirty="0" spc="-51" sz="2500">
                <a:latin typeface="Cambria Math"/>
                <a:cs typeface="Cambria Math"/>
              </a:rPr>
              <a:t>A</a:t>
            </a:r>
            <a:endParaRPr sz="2500">
              <a:latin typeface="Cambria Math"/>
              <a:cs typeface="Cambria Math"/>
            </a:endParaRPr>
          </a:p>
        </p:txBody>
      </p:sp>
      <p:sp>
        <p:nvSpPr>
          <p:cNvPr id="12" name="object 12">
            <a:extLst>
              <a:ext uri="{FF2B5EF4-FFF2-40B4-BE49-F238E27FC236}">
                <a16:creationId xmlns:a16="http://schemas.microsoft.com/office/drawing/2014/main" id="{1511C15C-F88B-D466-7251-7A32A8E56436}"/>
              </a:ext>
            </a:extLst>
          </p:cNvPr>
          <p:cNvSpPr txBox="1"/>
          <p:nvPr/>
        </p:nvSpPr>
        <p:spPr>
          <a:xfrm>
            <a:off x="3814190" y="4124452"/>
            <a:ext cx="455931" cy="382156"/>
          </a:xfrm>
          <a:prstGeom prst="rect">
            <a:avLst/>
          </a:prstGeom>
        </p:spPr>
        <p:txBody>
          <a:bodyPr bIns="0" lIns="0" numCol="1" rIns="0" rtlCol="0" tIns="12700" vert="horz" wrap="square">
            <a:spAutoFit/>
          </a:bodyPr>
          <a:lstStyle/>
          <a:p>
            <a:pPr marL="126361">
              <a:spcBef>
                <a:spcPts val="100"/>
              </a:spcBef>
            </a:pPr>
            <a:r>
              <a:rPr dirty="0" spc="-51" sz="2400">
                <a:latin typeface="Cambria Math"/>
                <a:cs typeface="Cambria Math"/>
              </a:rPr>
              <a:t>∅</a:t>
            </a:r>
            <a:endParaRPr sz="2400">
              <a:latin typeface="Cambria Math"/>
              <a:cs typeface="Cambria Math"/>
            </a:endParaRPr>
          </a:p>
        </p:txBody>
      </p:sp>
      <p:sp>
        <p:nvSpPr>
          <p:cNvPr id="13" name="object 13">
            <a:extLst>
              <a:ext uri="{FF2B5EF4-FFF2-40B4-BE49-F238E27FC236}">
                <a16:creationId xmlns:a16="http://schemas.microsoft.com/office/drawing/2014/main" id="{2970A6E0-E2EC-7204-0665-A63C11086995}"/>
              </a:ext>
            </a:extLst>
          </p:cNvPr>
          <p:cNvSpPr txBox="1"/>
          <p:nvPr/>
        </p:nvSpPr>
        <p:spPr>
          <a:xfrm>
            <a:off x="4562476" y="4107952"/>
            <a:ext cx="1092835" cy="401393"/>
          </a:xfrm>
          <a:prstGeom prst="rect">
            <a:avLst/>
          </a:prstGeom>
        </p:spPr>
        <p:txBody>
          <a:bodyPr bIns="0" lIns="0" numCol="1" rIns="0" rtlCol="0" tIns="16511" vert="horz" wrap="square">
            <a:spAutoFit/>
          </a:bodyPr>
          <a:lstStyle/>
          <a:p>
            <a:pPr algn="ctr" marR="156841">
              <a:spcBef>
                <a:spcPts val="131"/>
              </a:spcBef>
            </a:pPr>
            <a:r>
              <a:rPr dirty="0" spc="-51" sz="2500">
                <a:latin typeface="Cambria Math"/>
                <a:cs typeface="Cambria Math"/>
              </a:rPr>
              <a:t>B</a:t>
            </a:r>
            <a:endParaRPr sz="2500">
              <a:latin typeface="Cambria Math"/>
              <a:cs typeface="Cambria Math"/>
            </a:endParaRPr>
          </a:p>
        </p:txBody>
      </p:sp>
      <p:sp>
        <p:nvSpPr>
          <p:cNvPr id="14" name="object 14">
            <a:extLst>
              <a:ext uri="{FF2B5EF4-FFF2-40B4-BE49-F238E27FC236}">
                <a16:creationId xmlns:a16="http://schemas.microsoft.com/office/drawing/2014/main" id="{2A4EE98E-EFF7-0EDC-A7C8-DB45A03A507A}"/>
              </a:ext>
            </a:extLst>
          </p:cNvPr>
          <p:cNvSpPr txBox="1"/>
          <p:nvPr/>
        </p:nvSpPr>
        <p:spPr>
          <a:xfrm>
            <a:off x="1458087" y="4496867"/>
            <a:ext cx="1091565" cy="346249"/>
          </a:xfrm>
          <a:prstGeom prst="rect">
            <a:avLst/>
          </a:prstGeom>
          <a:ln w="12191">
            <a:solidFill>
              <a:srgbClr val="6B9F24"/>
            </a:solidFill>
          </a:ln>
        </p:spPr>
        <p:txBody>
          <a:bodyPr bIns="0" lIns="0" numCol="1" rIns="0" rtlCol="0" tIns="0" vert="horz" wrap="square">
            <a:spAutoFit/>
          </a:bodyPr>
          <a:lstStyle/>
          <a:p>
            <a:pPr marL="278758">
              <a:lnSpc>
                <a:spcPts val="2711"/>
              </a:lnSpc>
            </a:pPr>
            <a:r>
              <a:rPr dirty="0" spc="-51" sz="2500">
                <a:latin typeface="Cambria Math"/>
                <a:cs typeface="Cambria Math"/>
              </a:rPr>
              <a:t>A</a:t>
            </a:r>
            <a:endParaRPr sz="2500">
              <a:latin typeface="Cambria Math"/>
              <a:cs typeface="Cambria Math"/>
            </a:endParaRPr>
          </a:p>
        </p:txBody>
      </p:sp>
      <p:sp>
        <p:nvSpPr>
          <p:cNvPr id="15" name="object 16">
            <a:extLst>
              <a:ext uri="{FF2B5EF4-FFF2-40B4-BE49-F238E27FC236}">
                <a16:creationId xmlns:a16="http://schemas.microsoft.com/office/drawing/2014/main" id="{58CA8212-2BF7-E047-E674-D48191FBB618}"/>
              </a:ext>
            </a:extLst>
          </p:cNvPr>
          <p:cNvSpPr txBox="1"/>
          <p:nvPr/>
        </p:nvSpPr>
        <p:spPr>
          <a:xfrm>
            <a:off x="810183" y="6969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6" name="object 17">
            <a:extLst>
              <a:ext uri="{FF2B5EF4-FFF2-40B4-BE49-F238E27FC236}">
                <a16:creationId xmlns:a16="http://schemas.microsoft.com/office/drawing/2014/main" id="{ABC41AA9-8672-9129-DE4F-B9EFD5041BB7}"/>
              </a:ext>
            </a:extLst>
          </p:cNvPr>
          <p:cNvSpPr/>
          <p:nvPr/>
        </p:nvSpPr>
        <p:spPr>
          <a:xfrm>
            <a:off x="1448942" y="3795828"/>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7" name="object 18">
            <a:extLst>
              <a:ext uri="{FF2B5EF4-FFF2-40B4-BE49-F238E27FC236}">
                <a16:creationId xmlns:a16="http://schemas.microsoft.com/office/drawing/2014/main" id="{FD3C6DCE-5780-E5FA-6258-1413D18E7B78}"/>
              </a:ext>
            </a:extLst>
          </p:cNvPr>
          <p:cNvSpPr txBox="1"/>
          <p:nvPr/>
        </p:nvSpPr>
        <p:spPr>
          <a:xfrm>
            <a:off x="1901698" y="31650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8" name="object 19">
            <a:extLst>
              <a:ext uri="{FF2B5EF4-FFF2-40B4-BE49-F238E27FC236}">
                <a16:creationId xmlns:a16="http://schemas.microsoft.com/office/drawing/2014/main" id="{CCE3A001-2C04-8115-2A26-C3E2600E0A10}"/>
              </a:ext>
            </a:extLst>
          </p:cNvPr>
          <p:cNvSpPr txBox="1"/>
          <p:nvPr/>
        </p:nvSpPr>
        <p:spPr>
          <a:xfrm>
            <a:off x="856209" y="3685847"/>
            <a:ext cx="110489" cy="320601"/>
          </a:xfrm>
          <a:prstGeom prst="rect">
            <a:avLst/>
          </a:prstGeom>
        </p:spPr>
        <p:txBody>
          <a:bodyPr bIns="0" lIns="0" numCol="1" rIns="0" rtlCol="0" tIns="12700" vert="horz" wrap="square">
            <a:spAutoFit/>
          </a:bodyPr>
          <a:lstStyle/>
          <a:p>
            <a:pPr marL="12700">
              <a:spcBef>
                <a:spcPts val="100"/>
              </a:spcBef>
            </a:pPr>
            <a:r>
              <a:rPr b="1" dirty="0" spc="65" sz="2000">
                <a:latin typeface="Arial"/>
                <a:cs typeface="Arial"/>
              </a:rPr>
              <a:t>j</a:t>
            </a:r>
            <a:endParaRPr sz="2000">
              <a:latin typeface="Arial"/>
              <a:cs typeface="Arial"/>
            </a:endParaRPr>
          </a:p>
        </p:txBody>
      </p:sp>
      <p:sp>
        <p:nvSpPr>
          <p:cNvPr id="19" name="object 20">
            <a:extLst>
              <a:ext uri="{FF2B5EF4-FFF2-40B4-BE49-F238E27FC236}">
                <a16:creationId xmlns:a16="http://schemas.microsoft.com/office/drawing/2014/main" id="{3B320BF2-FD36-8D61-0A92-DC8743CF0794}"/>
              </a:ext>
            </a:extLst>
          </p:cNvPr>
          <p:cNvSpPr txBox="1"/>
          <p:nvPr/>
        </p:nvSpPr>
        <p:spPr>
          <a:xfrm>
            <a:off x="797281" y="3758998"/>
            <a:ext cx="511175" cy="382156"/>
          </a:xfrm>
          <a:prstGeom prst="rect">
            <a:avLst/>
          </a:prstGeom>
        </p:spPr>
        <p:txBody>
          <a:bodyPr bIns="0" lIns="0" numCol="1" rIns="0" rtlCol="0" tIns="12700" vert="horz" wrap="square">
            <a:spAutoFit/>
          </a:bodyPr>
          <a:lstStyle/>
          <a:p>
            <a:pPr marL="38099">
              <a:spcBef>
                <a:spcPts val="100"/>
              </a:spcBef>
            </a:pPr>
            <a:r>
              <a:rPr baseline="-40277" dirty="0" sz="3000">
                <a:latin typeface="Symbol"/>
                <a:cs typeface="Symbol"/>
              </a:rPr>
              <a:t></a:t>
            </a:r>
            <a:r>
              <a:rPr baseline="-40277" dirty="0" spc="577" sz="3000">
                <a:latin typeface="Times New Roman"/>
                <a:cs typeface="Times New Roman"/>
              </a:rPr>
              <a:t> </a:t>
            </a:r>
            <a:r>
              <a:rPr dirty="0" spc="-51" sz="2400">
                <a:latin typeface="Cambria Math"/>
                <a:cs typeface="Cambria Math"/>
              </a:rPr>
              <a:t>1</a:t>
            </a:r>
            <a:endParaRPr sz="2400">
              <a:latin typeface="Cambria Math"/>
              <a:cs typeface="Cambria Math"/>
            </a:endParaRPr>
          </a:p>
        </p:txBody>
      </p:sp>
      <p:sp>
        <p:nvSpPr>
          <p:cNvPr id="20" name="object 21">
            <a:extLst>
              <a:ext uri="{FF2B5EF4-FFF2-40B4-BE49-F238E27FC236}">
                <a16:creationId xmlns:a16="http://schemas.microsoft.com/office/drawing/2014/main" id="{BA4E70A2-6C73-2253-BB97-A927EB502ACF}"/>
              </a:ext>
            </a:extLst>
          </p:cNvPr>
          <p:cNvSpPr txBox="1"/>
          <p:nvPr/>
        </p:nvSpPr>
        <p:spPr>
          <a:xfrm>
            <a:off x="1545971" y="28983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21" name="object 22">
            <a:extLst>
              <a:ext uri="{FF2B5EF4-FFF2-40B4-BE49-F238E27FC236}">
                <a16:creationId xmlns:a16="http://schemas.microsoft.com/office/drawing/2014/main" id="{A43F89B7-2AB6-1A2F-DA29-0F11D182DBE4}"/>
              </a:ext>
            </a:extLst>
          </p:cNvPr>
          <p:cNvSpPr txBox="1"/>
          <p:nvPr/>
        </p:nvSpPr>
        <p:spPr>
          <a:xfrm>
            <a:off x="3832225" y="27502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22" name="object 23">
            <a:extLst>
              <a:ext uri="{FF2B5EF4-FFF2-40B4-BE49-F238E27FC236}">
                <a16:creationId xmlns:a16="http://schemas.microsoft.com/office/drawing/2014/main" id="{FCFE7A6C-AA82-E789-C4EC-06F517EE107A}"/>
              </a:ext>
            </a:extLst>
          </p:cNvPr>
          <p:cNvSpPr txBox="1"/>
          <p:nvPr/>
        </p:nvSpPr>
        <p:spPr>
          <a:xfrm>
            <a:off x="4975226" y="27502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23" name="object 24">
            <a:extLst>
              <a:ext uri="{FF2B5EF4-FFF2-40B4-BE49-F238E27FC236}">
                <a16:creationId xmlns:a16="http://schemas.microsoft.com/office/drawing/2014/main" id="{60A0EEB2-24C2-2D49-CBAE-88B2C009A468}"/>
              </a:ext>
            </a:extLst>
          </p:cNvPr>
          <p:cNvSpPr txBox="1"/>
          <p:nvPr/>
        </p:nvSpPr>
        <p:spPr>
          <a:xfrm>
            <a:off x="5941821" y="27502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24" name="object 25">
            <a:extLst>
              <a:ext uri="{FF2B5EF4-FFF2-40B4-BE49-F238E27FC236}">
                <a16:creationId xmlns:a16="http://schemas.microsoft.com/office/drawing/2014/main" id="{3DA2A2DA-C03E-CC7A-4CE7-54DE1602A305}"/>
              </a:ext>
            </a:extLst>
          </p:cNvPr>
          <p:cNvSpPr txBox="1"/>
          <p:nvPr/>
        </p:nvSpPr>
        <p:spPr>
          <a:xfrm>
            <a:off x="4038600" y="609600"/>
            <a:ext cx="5261611" cy="751488"/>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In</a:t>
            </a:r>
            <a:r>
              <a:rPr dirty="0" spc="-51" sz="2400">
                <a:latin typeface="Palatino Linotype"/>
                <a:cs typeface="Palatino Linotype"/>
              </a:rPr>
              <a:t> </a:t>
            </a:r>
            <a:r>
              <a:rPr dirty="0" sz="2400">
                <a:latin typeface="Palatino Linotype"/>
                <a:cs typeface="Palatino Linotype"/>
              </a:rPr>
              <a:t>this</a:t>
            </a:r>
            <a:r>
              <a:rPr dirty="0" spc="-40" sz="2400">
                <a:latin typeface="Palatino Linotype"/>
                <a:cs typeface="Palatino Linotype"/>
              </a:rPr>
              <a:t> </a:t>
            </a:r>
            <a:r>
              <a:rPr dirty="0" sz="2400">
                <a:latin typeface="Palatino Linotype"/>
                <a:cs typeface="Palatino Linotype"/>
              </a:rPr>
              <a:t>case,</a:t>
            </a:r>
            <a:r>
              <a:rPr dirty="0" spc="-55" sz="2400">
                <a:latin typeface="Palatino Linotype"/>
                <a:cs typeface="Palatino Linotype"/>
              </a:rPr>
              <a:t> </a:t>
            </a:r>
            <a:r>
              <a:rPr dirty="0" sz="2400">
                <a:latin typeface="Palatino Linotype"/>
                <a:cs typeface="Palatino Linotype"/>
              </a:rPr>
              <a:t>we</a:t>
            </a:r>
            <a:r>
              <a:rPr dirty="0" spc="-45" sz="2400">
                <a:latin typeface="Palatino Linotype"/>
                <a:cs typeface="Palatino Linotype"/>
              </a:rPr>
              <a:t> </a:t>
            </a:r>
            <a:r>
              <a:rPr dirty="0" sz="2400">
                <a:latin typeface="Palatino Linotype"/>
                <a:cs typeface="Palatino Linotype"/>
              </a:rPr>
              <a:t>want</a:t>
            </a:r>
            <a:r>
              <a:rPr dirty="0" spc="-45" sz="2400">
                <a:latin typeface="Palatino Linotype"/>
                <a:cs typeface="Palatino Linotype"/>
              </a:rPr>
              <a:t> </a:t>
            </a:r>
            <a:r>
              <a:rPr dirty="0" sz="2400">
                <a:latin typeface="Palatino Linotype"/>
                <a:cs typeface="Palatino Linotype"/>
              </a:rPr>
              <a:t>strings</a:t>
            </a:r>
            <a:r>
              <a:rPr dirty="0" spc="-40" sz="2400">
                <a:latin typeface="Palatino Linotype"/>
                <a:cs typeface="Palatino Linotype"/>
              </a:rPr>
              <a:t> </a:t>
            </a:r>
            <a:r>
              <a:rPr dirty="0" sz="2400">
                <a:latin typeface="Palatino Linotype"/>
                <a:cs typeface="Palatino Linotype"/>
              </a:rPr>
              <a:t>starting</a:t>
            </a:r>
            <a:r>
              <a:rPr dirty="0" spc="-35" sz="2400">
                <a:latin typeface="Palatino Linotype"/>
                <a:cs typeface="Palatino Linotype"/>
              </a:rPr>
              <a:t> </a:t>
            </a:r>
            <a:r>
              <a:rPr dirty="0" spc="-25" sz="2400">
                <a:latin typeface="Palatino Linotype"/>
                <a:cs typeface="Palatino Linotype"/>
              </a:rPr>
              <a:t>at</a:t>
            </a:r>
            <a:endParaRPr sz="2400">
              <a:latin typeface="Palatino Linotype"/>
              <a:cs typeface="Palatino Linotype"/>
            </a:endParaRPr>
          </a:p>
          <a:p>
            <a:pPr marL="12700">
              <a:spcBef>
                <a:spcPts val="5"/>
              </a:spcBef>
            </a:pPr>
            <a:r>
              <a:rPr dirty="0" sz="2400">
                <a:latin typeface="Palatino Linotype"/>
                <a:cs typeface="Palatino Linotype"/>
              </a:rPr>
              <a:t>position</a:t>
            </a:r>
            <a:r>
              <a:rPr dirty="0" spc="-75" sz="2400">
                <a:latin typeface="Palatino Linotype"/>
                <a:cs typeface="Palatino Linotype"/>
              </a:rPr>
              <a:t> </a:t>
            </a:r>
            <a:r>
              <a:rPr b="1" dirty="0" spc="-155" sz="2400">
                <a:latin typeface="Arial"/>
                <a:cs typeface="Arial"/>
              </a:rPr>
              <a:t>2</a:t>
            </a:r>
            <a:r>
              <a:rPr b="1" dirty="0" spc="-65" sz="2400">
                <a:latin typeface="Arial"/>
                <a:cs typeface="Arial"/>
              </a:rPr>
              <a:t> </a:t>
            </a:r>
            <a:r>
              <a:rPr dirty="0" sz="2400">
                <a:latin typeface="Palatino Linotype"/>
                <a:cs typeface="Palatino Linotype"/>
              </a:rPr>
              <a:t>of</a:t>
            </a:r>
            <a:r>
              <a:rPr dirty="0" spc="-45" sz="2400">
                <a:latin typeface="Palatino Linotype"/>
                <a:cs typeface="Palatino Linotype"/>
              </a:rPr>
              <a:t> </a:t>
            </a:r>
            <a:r>
              <a:rPr dirty="0" sz="2400">
                <a:latin typeface="Palatino Linotype"/>
                <a:cs typeface="Palatino Linotype"/>
              </a:rPr>
              <a:t>length</a:t>
            </a:r>
            <a:r>
              <a:rPr dirty="0" spc="-31" sz="2400">
                <a:latin typeface="Palatino Linotype"/>
                <a:cs typeface="Palatino Linotype"/>
              </a:rPr>
              <a:t> </a:t>
            </a:r>
            <a:r>
              <a:rPr dirty="0" spc="-25" sz="2400">
                <a:latin typeface="Palatino Linotype"/>
                <a:cs typeface="Palatino Linotype"/>
              </a:rPr>
              <a:t>3.</a:t>
            </a:r>
            <a:endParaRPr sz="2400">
              <a:latin typeface="Palatino Linotype"/>
              <a:cs typeface="Palatino Linotype"/>
            </a:endParaRPr>
          </a:p>
        </p:txBody>
      </p:sp>
      <p:grpSp>
        <p:nvGrpSpPr>
          <p:cNvPr id="25" name="object 26">
            <a:extLst>
              <a:ext uri="{FF2B5EF4-FFF2-40B4-BE49-F238E27FC236}">
                <a16:creationId xmlns:a16="http://schemas.microsoft.com/office/drawing/2014/main" id="{316E9457-F863-11EA-E22E-05281A40FA9B}"/>
              </a:ext>
            </a:extLst>
          </p:cNvPr>
          <p:cNvGrpSpPr/>
          <p:nvPr/>
        </p:nvGrpSpPr>
        <p:grpSpPr>
          <a:xfrm>
            <a:off x="2721484" y="2163370"/>
            <a:ext cx="8759191" cy="3408679"/>
            <a:chOff x="2127504" y="2851150"/>
            <a:chExt cx="8759190" cy="3408679"/>
          </a:xfrm>
        </p:grpSpPr>
        <p:sp>
          <p:nvSpPr>
            <p:cNvPr id="26" name="object 27">
              <a:extLst>
                <a:ext uri="{FF2B5EF4-FFF2-40B4-BE49-F238E27FC236}">
                  <a16:creationId xmlns:a16="http://schemas.microsoft.com/office/drawing/2014/main" id="{85BB0F7B-7CF7-A3AC-F72F-909722ED7FC6}"/>
                </a:ext>
              </a:extLst>
            </p:cNvPr>
            <p:cNvSpPr/>
            <p:nvPr/>
          </p:nvSpPr>
          <p:spPr>
            <a:xfrm>
              <a:off x="6134862" y="2861310"/>
              <a:ext cx="4191000" cy="1173480"/>
            </a:xfrm>
            <a:custGeom>
              <a:avLst/>
              <a:gdLst/>
              <a:ahLst/>
              <a:cxnLst/>
              <a:rect b="b" l="l" r="r" t="t"/>
              <a:pathLst>
                <a:path h="1173479" w="4191000">
                  <a:moveTo>
                    <a:pt x="4050030" y="0"/>
                  </a:moveTo>
                  <a:lnTo>
                    <a:pt x="140970" y="0"/>
                  </a:lnTo>
                  <a:lnTo>
                    <a:pt x="96414" y="7187"/>
                  </a:lnTo>
                  <a:lnTo>
                    <a:pt x="57716" y="27200"/>
                  </a:lnTo>
                  <a:lnTo>
                    <a:pt x="27200" y="57716"/>
                  </a:lnTo>
                  <a:lnTo>
                    <a:pt x="7187" y="96414"/>
                  </a:lnTo>
                  <a:lnTo>
                    <a:pt x="0" y="140969"/>
                  </a:lnTo>
                  <a:lnTo>
                    <a:pt x="0" y="1032509"/>
                  </a:lnTo>
                  <a:lnTo>
                    <a:pt x="7187" y="1077065"/>
                  </a:lnTo>
                  <a:lnTo>
                    <a:pt x="27200" y="1115763"/>
                  </a:lnTo>
                  <a:lnTo>
                    <a:pt x="57716" y="1146279"/>
                  </a:lnTo>
                  <a:lnTo>
                    <a:pt x="96414" y="1166292"/>
                  </a:lnTo>
                  <a:lnTo>
                    <a:pt x="140970" y="1173479"/>
                  </a:lnTo>
                  <a:lnTo>
                    <a:pt x="4050030" y="1173479"/>
                  </a:lnTo>
                  <a:lnTo>
                    <a:pt x="4094585" y="1166292"/>
                  </a:lnTo>
                  <a:lnTo>
                    <a:pt x="4133283" y="1146279"/>
                  </a:lnTo>
                  <a:lnTo>
                    <a:pt x="4163799" y="1115763"/>
                  </a:lnTo>
                  <a:lnTo>
                    <a:pt x="4183812" y="1077065"/>
                  </a:lnTo>
                  <a:lnTo>
                    <a:pt x="4190999" y="1032509"/>
                  </a:lnTo>
                  <a:lnTo>
                    <a:pt x="4190999" y="140969"/>
                  </a:lnTo>
                  <a:lnTo>
                    <a:pt x="4183812" y="96414"/>
                  </a:lnTo>
                  <a:lnTo>
                    <a:pt x="4163799" y="57716"/>
                  </a:lnTo>
                  <a:lnTo>
                    <a:pt x="4133283" y="27200"/>
                  </a:lnTo>
                  <a:lnTo>
                    <a:pt x="4094585" y="7187"/>
                  </a:lnTo>
                  <a:lnTo>
                    <a:pt x="4050030" y="0"/>
                  </a:lnTo>
                  <a:close/>
                </a:path>
              </a:pathLst>
            </a:custGeom>
            <a:solidFill>
              <a:srgbClr val="3493B9"/>
            </a:solidFill>
          </p:spPr>
          <p:txBody>
            <a:bodyPr bIns="0" lIns="0" numCol="1" rIns="0" rtlCol="0" tIns="0" wrap="square"/>
            <a:lstStyle/>
            <a:p>
              <a:endParaRPr/>
            </a:p>
          </p:txBody>
        </p:sp>
        <p:sp>
          <p:nvSpPr>
            <p:cNvPr id="27" name="object 28">
              <a:extLst>
                <a:ext uri="{FF2B5EF4-FFF2-40B4-BE49-F238E27FC236}">
                  <a16:creationId xmlns:a16="http://schemas.microsoft.com/office/drawing/2014/main" id="{A95A13D5-87E7-9018-A45A-682BA0C967F1}"/>
                </a:ext>
              </a:extLst>
            </p:cNvPr>
            <p:cNvSpPr/>
            <p:nvPr/>
          </p:nvSpPr>
          <p:spPr>
            <a:xfrm>
              <a:off x="6134862" y="2861310"/>
              <a:ext cx="4191000" cy="1173480"/>
            </a:xfrm>
            <a:custGeom>
              <a:avLst/>
              <a:gdLst/>
              <a:ahLst/>
              <a:cxnLst/>
              <a:rect b="b" l="l" r="r" t="t"/>
              <a:pathLst>
                <a:path h="1173479" w="4191000">
                  <a:moveTo>
                    <a:pt x="0" y="140969"/>
                  </a:moveTo>
                  <a:lnTo>
                    <a:pt x="7187" y="96414"/>
                  </a:lnTo>
                  <a:lnTo>
                    <a:pt x="27200" y="57716"/>
                  </a:lnTo>
                  <a:lnTo>
                    <a:pt x="57716" y="27200"/>
                  </a:lnTo>
                  <a:lnTo>
                    <a:pt x="96414" y="7187"/>
                  </a:lnTo>
                  <a:lnTo>
                    <a:pt x="140970" y="0"/>
                  </a:lnTo>
                  <a:lnTo>
                    <a:pt x="4050030" y="0"/>
                  </a:lnTo>
                  <a:lnTo>
                    <a:pt x="4094585" y="7187"/>
                  </a:lnTo>
                  <a:lnTo>
                    <a:pt x="4133283" y="27200"/>
                  </a:lnTo>
                  <a:lnTo>
                    <a:pt x="4163799" y="57716"/>
                  </a:lnTo>
                  <a:lnTo>
                    <a:pt x="4183812" y="96414"/>
                  </a:lnTo>
                  <a:lnTo>
                    <a:pt x="4190999" y="140969"/>
                  </a:lnTo>
                  <a:lnTo>
                    <a:pt x="4190999" y="1032509"/>
                  </a:lnTo>
                  <a:lnTo>
                    <a:pt x="4183812" y="1077065"/>
                  </a:lnTo>
                  <a:lnTo>
                    <a:pt x="4163799" y="1115763"/>
                  </a:lnTo>
                  <a:lnTo>
                    <a:pt x="4133283" y="1146279"/>
                  </a:lnTo>
                  <a:lnTo>
                    <a:pt x="4094585" y="1166292"/>
                  </a:lnTo>
                  <a:lnTo>
                    <a:pt x="4050030" y="1173479"/>
                  </a:lnTo>
                  <a:lnTo>
                    <a:pt x="140970" y="1173479"/>
                  </a:lnTo>
                  <a:lnTo>
                    <a:pt x="96414" y="1166292"/>
                  </a:lnTo>
                  <a:lnTo>
                    <a:pt x="57716" y="1146279"/>
                  </a:lnTo>
                  <a:lnTo>
                    <a:pt x="27200" y="1115763"/>
                  </a:lnTo>
                  <a:lnTo>
                    <a:pt x="7187" y="1077065"/>
                  </a:lnTo>
                  <a:lnTo>
                    <a:pt x="0" y="1032509"/>
                  </a:lnTo>
                  <a:lnTo>
                    <a:pt x="0" y="140969"/>
                  </a:lnTo>
                  <a:close/>
                </a:path>
              </a:pathLst>
            </a:custGeom>
            <a:ln w="19812">
              <a:solidFill>
                <a:srgbClr val="226B87"/>
              </a:solidFill>
            </a:ln>
          </p:spPr>
          <p:txBody>
            <a:bodyPr bIns="0" lIns="0" numCol="1" rIns="0" rtlCol="0" tIns="0" wrap="square"/>
            <a:lstStyle/>
            <a:p>
              <a:endParaRPr/>
            </a:p>
          </p:txBody>
        </p:sp>
        <p:sp>
          <p:nvSpPr>
            <p:cNvPr id="28" name="object 29">
              <a:extLst>
                <a:ext uri="{FF2B5EF4-FFF2-40B4-BE49-F238E27FC236}">
                  <a16:creationId xmlns:a16="http://schemas.microsoft.com/office/drawing/2014/main" id="{20654C94-6F34-52FD-60AC-6F1A1B809F7E}"/>
                </a:ext>
              </a:extLst>
            </p:cNvPr>
            <p:cNvSpPr/>
            <p:nvPr/>
          </p:nvSpPr>
          <p:spPr>
            <a:xfrm>
              <a:off x="2640330" y="3429001"/>
              <a:ext cx="3514725" cy="1264285"/>
            </a:xfrm>
            <a:custGeom>
              <a:avLst/>
              <a:gdLst/>
              <a:ahLst/>
              <a:cxnLst/>
              <a:rect b="b" l="l" r="r" t="t"/>
              <a:pathLst>
                <a:path h="1264285" w="3514725">
                  <a:moveTo>
                    <a:pt x="88900" y="1155952"/>
                  </a:moveTo>
                  <a:lnTo>
                    <a:pt x="0" y="1247773"/>
                  </a:lnTo>
                  <a:lnTo>
                    <a:pt x="126745" y="1263775"/>
                  </a:lnTo>
                  <a:lnTo>
                    <a:pt x="116696" y="1235144"/>
                  </a:lnTo>
                  <a:lnTo>
                    <a:pt x="88651" y="1235144"/>
                  </a:lnTo>
                  <a:lnTo>
                    <a:pt x="81581" y="1233326"/>
                  </a:lnTo>
                  <a:lnTo>
                    <a:pt x="75725" y="1228984"/>
                  </a:lnTo>
                  <a:lnTo>
                    <a:pt x="71881" y="1222500"/>
                  </a:lnTo>
                  <a:lnTo>
                    <a:pt x="70867" y="1215010"/>
                  </a:lnTo>
                  <a:lnTo>
                    <a:pt x="72723" y="1207926"/>
                  </a:lnTo>
                  <a:lnTo>
                    <a:pt x="77079" y="1202033"/>
                  </a:lnTo>
                  <a:lnTo>
                    <a:pt x="83565" y="1198116"/>
                  </a:lnTo>
                  <a:lnTo>
                    <a:pt x="101488" y="1191815"/>
                  </a:lnTo>
                  <a:lnTo>
                    <a:pt x="88900" y="1155952"/>
                  </a:lnTo>
                  <a:close/>
                </a:path>
                <a:path h="1264285" w="3514725">
                  <a:moveTo>
                    <a:pt x="101488" y="1191815"/>
                  </a:moveTo>
                  <a:lnTo>
                    <a:pt x="83565" y="1198116"/>
                  </a:lnTo>
                  <a:lnTo>
                    <a:pt x="77079" y="1202033"/>
                  </a:lnTo>
                  <a:lnTo>
                    <a:pt x="72723" y="1207926"/>
                  </a:lnTo>
                  <a:lnTo>
                    <a:pt x="70867" y="1215010"/>
                  </a:lnTo>
                  <a:lnTo>
                    <a:pt x="71881" y="1222500"/>
                  </a:lnTo>
                  <a:lnTo>
                    <a:pt x="75725" y="1228984"/>
                  </a:lnTo>
                  <a:lnTo>
                    <a:pt x="81581" y="1233326"/>
                  </a:lnTo>
                  <a:lnTo>
                    <a:pt x="88651" y="1235144"/>
                  </a:lnTo>
                  <a:lnTo>
                    <a:pt x="96138" y="1234057"/>
                  </a:lnTo>
                  <a:lnTo>
                    <a:pt x="114099" y="1227744"/>
                  </a:lnTo>
                  <a:lnTo>
                    <a:pt x="101488" y="1191815"/>
                  </a:lnTo>
                  <a:close/>
                </a:path>
                <a:path h="1264285" w="3514725">
                  <a:moveTo>
                    <a:pt x="114099" y="1227744"/>
                  </a:moveTo>
                  <a:lnTo>
                    <a:pt x="96138" y="1234057"/>
                  </a:lnTo>
                  <a:lnTo>
                    <a:pt x="88651" y="1235144"/>
                  </a:lnTo>
                  <a:lnTo>
                    <a:pt x="116696" y="1235144"/>
                  </a:lnTo>
                  <a:lnTo>
                    <a:pt x="114099" y="1227744"/>
                  </a:lnTo>
                  <a:close/>
                </a:path>
                <a:path h="1264285" w="3514725">
                  <a:moveTo>
                    <a:pt x="3496306" y="0"/>
                  </a:moveTo>
                  <a:lnTo>
                    <a:pt x="3488817" y="1014"/>
                  </a:lnTo>
                  <a:lnTo>
                    <a:pt x="101488" y="1191815"/>
                  </a:lnTo>
                  <a:lnTo>
                    <a:pt x="114099" y="1227744"/>
                  </a:lnTo>
                  <a:lnTo>
                    <a:pt x="3501517" y="37082"/>
                  </a:lnTo>
                  <a:lnTo>
                    <a:pt x="3508003" y="33164"/>
                  </a:lnTo>
                  <a:lnTo>
                    <a:pt x="3512359" y="27271"/>
                  </a:lnTo>
                  <a:lnTo>
                    <a:pt x="3514215" y="20187"/>
                  </a:lnTo>
                  <a:lnTo>
                    <a:pt x="3513201" y="12698"/>
                  </a:lnTo>
                  <a:lnTo>
                    <a:pt x="3509283" y="6211"/>
                  </a:lnTo>
                  <a:lnTo>
                    <a:pt x="3503390" y="1855"/>
                  </a:lnTo>
                  <a:lnTo>
                    <a:pt x="3496306" y="0"/>
                  </a:lnTo>
                  <a:close/>
                </a:path>
              </a:pathLst>
            </a:custGeom>
            <a:solidFill>
              <a:srgbClr val="3493B9"/>
            </a:solidFill>
          </p:spPr>
          <p:txBody>
            <a:bodyPr bIns="0" lIns="0" numCol="1" rIns="0" rtlCol="0" tIns="0" wrap="square"/>
            <a:lstStyle/>
            <a:p>
              <a:endParaRPr/>
            </a:p>
          </p:txBody>
        </p:sp>
        <p:sp>
          <p:nvSpPr>
            <p:cNvPr id="29" name="object 30">
              <a:extLst>
                <a:ext uri="{FF2B5EF4-FFF2-40B4-BE49-F238E27FC236}">
                  <a16:creationId xmlns:a16="http://schemas.microsoft.com/office/drawing/2014/main" id="{8676E0AE-7A3E-7E5B-5512-6B8F6AB8BD24}"/>
                </a:ext>
              </a:extLst>
            </p:cNvPr>
            <p:cNvSpPr/>
            <p:nvPr/>
          </p:nvSpPr>
          <p:spPr>
            <a:xfrm>
              <a:off x="2146554" y="4528566"/>
              <a:ext cx="494030" cy="295910"/>
            </a:xfrm>
            <a:custGeom>
              <a:avLst/>
              <a:gdLst/>
              <a:ahLst/>
              <a:cxnLst/>
              <a:rect b="b" l="l" r="r" t="t"/>
              <a:pathLst>
                <a:path h="295910" w="494030">
                  <a:moveTo>
                    <a:pt x="0" y="295655"/>
                  </a:moveTo>
                  <a:lnTo>
                    <a:pt x="493775" y="295655"/>
                  </a:lnTo>
                  <a:lnTo>
                    <a:pt x="493775" y="0"/>
                  </a:lnTo>
                  <a:lnTo>
                    <a:pt x="0" y="0"/>
                  </a:lnTo>
                  <a:lnTo>
                    <a:pt x="0" y="295655"/>
                  </a:lnTo>
                  <a:close/>
                </a:path>
              </a:pathLst>
            </a:custGeom>
            <a:ln w="38100">
              <a:solidFill>
                <a:srgbClr val="226B87"/>
              </a:solidFill>
            </a:ln>
          </p:spPr>
          <p:txBody>
            <a:bodyPr bIns="0" lIns="0" numCol="1" rIns="0" rtlCol="0" tIns="0" wrap="square"/>
            <a:lstStyle/>
            <a:p>
              <a:endParaRPr/>
            </a:p>
          </p:txBody>
        </p:sp>
        <p:sp>
          <p:nvSpPr>
            <p:cNvPr id="30" name="object 31">
              <a:extLst>
                <a:ext uri="{FF2B5EF4-FFF2-40B4-BE49-F238E27FC236}">
                  <a16:creationId xmlns:a16="http://schemas.microsoft.com/office/drawing/2014/main" id="{12CC4D33-544D-151D-24FC-9CA86145889C}"/>
                </a:ext>
              </a:extLst>
            </p:cNvPr>
            <p:cNvSpPr/>
            <p:nvPr/>
          </p:nvSpPr>
          <p:spPr>
            <a:xfrm>
              <a:off x="6134862" y="4161282"/>
              <a:ext cx="4741545" cy="2087880"/>
            </a:xfrm>
            <a:custGeom>
              <a:avLst/>
              <a:gdLst/>
              <a:ahLst/>
              <a:cxnLst/>
              <a:rect b="b" l="l" r="r" t="t"/>
              <a:pathLst>
                <a:path h="2087879" w="4741545">
                  <a:moveTo>
                    <a:pt x="4393184" y="0"/>
                  </a:moveTo>
                  <a:lnTo>
                    <a:pt x="347979" y="0"/>
                  </a:lnTo>
                  <a:lnTo>
                    <a:pt x="300768" y="3177"/>
                  </a:lnTo>
                  <a:lnTo>
                    <a:pt x="255484" y="12432"/>
                  </a:lnTo>
                  <a:lnTo>
                    <a:pt x="212544" y="27350"/>
                  </a:lnTo>
                  <a:lnTo>
                    <a:pt x="172362" y="47516"/>
                  </a:lnTo>
                  <a:lnTo>
                    <a:pt x="135353" y="72516"/>
                  </a:lnTo>
                  <a:lnTo>
                    <a:pt x="101933" y="101933"/>
                  </a:lnTo>
                  <a:lnTo>
                    <a:pt x="72516" y="135353"/>
                  </a:lnTo>
                  <a:lnTo>
                    <a:pt x="47516" y="172362"/>
                  </a:lnTo>
                  <a:lnTo>
                    <a:pt x="27350" y="212544"/>
                  </a:lnTo>
                  <a:lnTo>
                    <a:pt x="12432" y="255484"/>
                  </a:lnTo>
                  <a:lnTo>
                    <a:pt x="3177" y="300768"/>
                  </a:lnTo>
                  <a:lnTo>
                    <a:pt x="0" y="347980"/>
                  </a:lnTo>
                  <a:lnTo>
                    <a:pt x="0" y="1739887"/>
                  </a:lnTo>
                  <a:lnTo>
                    <a:pt x="3177" y="1787107"/>
                  </a:lnTo>
                  <a:lnTo>
                    <a:pt x="12432" y="1832396"/>
                  </a:lnTo>
                  <a:lnTo>
                    <a:pt x="27350" y="1875340"/>
                  </a:lnTo>
                  <a:lnTo>
                    <a:pt x="47516" y="1915525"/>
                  </a:lnTo>
                  <a:lnTo>
                    <a:pt x="72516" y="1952534"/>
                  </a:lnTo>
                  <a:lnTo>
                    <a:pt x="101933" y="1985954"/>
                  </a:lnTo>
                  <a:lnTo>
                    <a:pt x="135353" y="2015370"/>
                  </a:lnTo>
                  <a:lnTo>
                    <a:pt x="172362" y="2040368"/>
                  </a:lnTo>
                  <a:lnTo>
                    <a:pt x="212544" y="2060532"/>
                  </a:lnTo>
                  <a:lnTo>
                    <a:pt x="255484" y="2075449"/>
                  </a:lnTo>
                  <a:lnTo>
                    <a:pt x="300768" y="2084703"/>
                  </a:lnTo>
                  <a:lnTo>
                    <a:pt x="347979" y="2087880"/>
                  </a:lnTo>
                  <a:lnTo>
                    <a:pt x="4393184" y="2087880"/>
                  </a:lnTo>
                  <a:lnTo>
                    <a:pt x="4440395" y="2084703"/>
                  </a:lnTo>
                  <a:lnTo>
                    <a:pt x="4485679" y="2075449"/>
                  </a:lnTo>
                  <a:lnTo>
                    <a:pt x="4528619" y="2060532"/>
                  </a:lnTo>
                  <a:lnTo>
                    <a:pt x="4568801" y="2040368"/>
                  </a:lnTo>
                  <a:lnTo>
                    <a:pt x="4605810" y="2015370"/>
                  </a:lnTo>
                  <a:lnTo>
                    <a:pt x="4639230" y="1985954"/>
                  </a:lnTo>
                  <a:lnTo>
                    <a:pt x="4668647" y="1952534"/>
                  </a:lnTo>
                  <a:lnTo>
                    <a:pt x="4693647" y="1915525"/>
                  </a:lnTo>
                  <a:lnTo>
                    <a:pt x="4713813" y="1875340"/>
                  </a:lnTo>
                  <a:lnTo>
                    <a:pt x="4728731" y="1832396"/>
                  </a:lnTo>
                  <a:lnTo>
                    <a:pt x="4737986" y="1787107"/>
                  </a:lnTo>
                  <a:lnTo>
                    <a:pt x="4741164" y="1739887"/>
                  </a:lnTo>
                  <a:lnTo>
                    <a:pt x="4741164" y="347980"/>
                  </a:lnTo>
                  <a:lnTo>
                    <a:pt x="4737986" y="300768"/>
                  </a:lnTo>
                  <a:lnTo>
                    <a:pt x="4728731" y="255484"/>
                  </a:lnTo>
                  <a:lnTo>
                    <a:pt x="4713813" y="212544"/>
                  </a:lnTo>
                  <a:lnTo>
                    <a:pt x="4693647" y="172362"/>
                  </a:lnTo>
                  <a:lnTo>
                    <a:pt x="4668647" y="135353"/>
                  </a:lnTo>
                  <a:lnTo>
                    <a:pt x="4639230" y="101933"/>
                  </a:lnTo>
                  <a:lnTo>
                    <a:pt x="4605810" y="72516"/>
                  </a:lnTo>
                  <a:lnTo>
                    <a:pt x="4568801" y="47516"/>
                  </a:lnTo>
                  <a:lnTo>
                    <a:pt x="4528619" y="27350"/>
                  </a:lnTo>
                  <a:lnTo>
                    <a:pt x="4485679" y="12432"/>
                  </a:lnTo>
                  <a:lnTo>
                    <a:pt x="4440395" y="3177"/>
                  </a:lnTo>
                  <a:lnTo>
                    <a:pt x="4393184" y="0"/>
                  </a:lnTo>
                  <a:close/>
                </a:path>
              </a:pathLst>
            </a:custGeom>
            <a:solidFill>
              <a:srgbClr val="3493B9"/>
            </a:solidFill>
          </p:spPr>
          <p:txBody>
            <a:bodyPr bIns="0" lIns="0" numCol="1" rIns="0" rtlCol="0" tIns="0" wrap="square"/>
            <a:lstStyle/>
            <a:p>
              <a:endParaRPr/>
            </a:p>
          </p:txBody>
        </p:sp>
        <p:sp>
          <p:nvSpPr>
            <p:cNvPr id="31" name="object 32">
              <a:extLst>
                <a:ext uri="{FF2B5EF4-FFF2-40B4-BE49-F238E27FC236}">
                  <a16:creationId xmlns:a16="http://schemas.microsoft.com/office/drawing/2014/main" id="{D234D4E3-D218-9014-6C1B-5C4D9DC4C1C9}"/>
                </a:ext>
              </a:extLst>
            </p:cNvPr>
            <p:cNvSpPr/>
            <p:nvPr/>
          </p:nvSpPr>
          <p:spPr>
            <a:xfrm>
              <a:off x="6134862" y="4161282"/>
              <a:ext cx="4741545" cy="2087880"/>
            </a:xfrm>
            <a:custGeom>
              <a:avLst/>
              <a:gdLst/>
              <a:ahLst/>
              <a:cxnLst/>
              <a:rect b="b" l="l" r="r" t="t"/>
              <a:pathLst>
                <a:path h="2087879" w="4741545">
                  <a:moveTo>
                    <a:pt x="0" y="347980"/>
                  </a:moveTo>
                  <a:lnTo>
                    <a:pt x="3177" y="300768"/>
                  </a:lnTo>
                  <a:lnTo>
                    <a:pt x="12432" y="255484"/>
                  </a:lnTo>
                  <a:lnTo>
                    <a:pt x="27350" y="212544"/>
                  </a:lnTo>
                  <a:lnTo>
                    <a:pt x="47516" y="172362"/>
                  </a:lnTo>
                  <a:lnTo>
                    <a:pt x="72516" y="135353"/>
                  </a:lnTo>
                  <a:lnTo>
                    <a:pt x="101933" y="101933"/>
                  </a:lnTo>
                  <a:lnTo>
                    <a:pt x="135353" y="72516"/>
                  </a:lnTo>
                  <a:lnTo>
                    <a:pt x="172362" y="47516"/>
                  </a:lnTo>
                  <a:lnTo>
                    <a:pt x="212544" y="27350"/>
                  </a:lnTo>
                  <a:lnTo>
                    <a:pt x="255484" y="12432"/>
                  </a:lnTo>
                  <a:lnTo>
                    <a:pt x="300768" y="3177"/>
                  </a:lnTo>
                  <a:lnTo>
                    <a:pt x="347979" y="0"/>
                  </a:lnTo>
                  <a:lnTo>
                    <a:pt x="4393184" y="0"/>
                  </a:lnTo>
                  <a:lnTo>
                    <a:pt x="4440395" y="3177"/>
                  </a:lnTo>
                  <a:lnTo>
                    <a:pt x="4485679" y="12432"/>
                  </a:lnTo>
                  <a:lnTo>
                    <a:pt x="4528619" y="27350"/>
                  </a:lnTo>
                  <a:lnTo>
                    <a:pt x="4568801" y="47516"/>
                  </a:lnTo>
                  <a:lnTo>
                    <a:pt x="4605810" y="72516"/>
                  </a:lnTo>
                  <a:lnTo>
                    <a:pt x="4639230" y="101933"/>
                  </a:lnTo>
                  <a:lnTo>
                    <a:pt x="4668647" y="135353"/>
                  </a:lnTo>
                  <a:lnTo>
                    <a:pt x="4693647" y="172362"/>
                  </a:lnTo>
                  <a:lnTo>
                    <a:pt x="4713813" y="212544"/>
                  </a:lnTo>
                  <a:lnTo>
                    <a:pt x="4728731" y="255484"/>
                  </a:lnTo>
                  <a:lnTo>
                    <a:pt x="4737986" y="300768"/>
                  </a:lnTo>
                  <a:lnTo>
                    <a:pt x="4741164" y="347980"/>
                  </a:lnTo>
                  <a:lnTo>
                    <a:pt x="4741164" y="1739887"/>
                  </a:lnTo>
                  <a:lnTo>
                    <a:pt x="4737986" y="1787107"/>
                  </a:lnTo>
                  <a:lnTo>
                    <a:pt x="4728731" y="1832396"/>
                  </a:lnTo>
                  <a:lnTo>
                    <a:pt x="4713813" y="1875340"/>
                  </a:lnTo>
                  <a:lnTo>
                    <a:pt x="4693647" y="1915525"/>
                  </a:lnTo>
                  <a:lnTo>
                    <a:pt x="4668647" y="1952534"/>
                  </a:lnTo>
                  <a:lnTo>
                    <a:pt x="4639230" y="1985954"/>
                  </a:lnTo>
                  <a:lnTo>
                    <a:pt x="4605810" y="2015370"/>
                  </a:lnTo>
                  <a:lnTo>
                    <a:pt x="4568801" y="2040368"/>
                  </a:lnTo>
                  <a:lnTo>
                    <a:pt x="4528619" y="2060532"/>
                  </a:lnTo>
                  <a:lnTo>
                    <a:pt x="4485679" y="2075449"/>
                  </a:lnTo>
                  <a:lnTo>
                    <a:pt x="4440395" y="2084703"/>
                  </a:lnTo>
                  <a:lnTo>
                    <a:pt x="4393184" y="2087880"/>
                  </a:lnTo>
                  <a:lnTo>
                    <a:pt x="347979" y="2087880"/>
                  </a:lnTo>
                  <a:lnTo>
                    <a:pt x="300768" y="2084703"/>
                  </a:lnTo>
                  <a:lnTo>
                    <a:pt x="255484" y="2075449"/>
                  </a:lnTo>
                  <a:lnTo>
                    <a:pt x="212544" y="2060532"/>
                  </a:lnTo>
                  <a:lnTo>
                    <a:pt x="172362" y="2040368"/>
                  </a:lnTo>
                  <a:lnTo>
                    <a:pt x="135353" y="2015370"/>
                  </a:lnTo>
                  <a:lnTo>
                    <a:pt x="101933" y="1985954"/>
                  </a:lnTo>
                  <a:lnTo>
                    <a:pt x="72516" y="1952534"/>
                  </a:lnTo>
                  <a:lnTo>
                    <a:pt x="47516" y="1915525"/>
                  </a:lnTo>
                  <a:lnTo>
                    <a:pt x="27350" y="1875340"/>
                  </a:lnTo>
                  <a:lnTo>
                    <a:pt x="12432" y="1832396"/>
                  </a:lnTo>
                  <a:lnTo>
                    <a:pt x="3177" y="1787107"/>
                  </a:lnTo>
                  <a:lnTo>
                    <a:pt x="0" y="1739887"/>
                  </a:lnTo>
                  <a:lnTo>
                    <a:pt x="0" y="347980"/>
                  </a:lnTo>
                  <a:close/>
                </a:path>
              </a:pathLst>
            </a:custGeom>
            <a:ln w="19812">
              <a:solidFill>
                <a:srgbClr val="226B87"/>
              </a:solidFill>
            </a:ln>
          </p:spPr>
          <p:txBody>
            <a:bodyPr bIns="0" lIns="0" numCol="1" rIns="0" rtlCol="0" tIns="0" wrap="square"/>
            <a:lstStyle/>
            <a:p>
              <a:endParaRPr/>
            </a:p>
          </p:txBody>
        </p:sp>
      </p:grpSp>
      <p:sp>
        <p:nvSpPr>
          <p:cNvPr id="32" name="object 33">
            <a:extLst>
              <a:ext uri="{FF2B5EF4-FFF2-40B4-BE49-F238E27FC236}">
                <a16:creationId xmlns:a16="http://schemas.microsoft.com/office/drawing/2014/main" id="{52D5DB5F-96F2-12F1-4DF9-322B32E6F33F}"/>
              </a:ext>
            </a:extLst>
          </p:cNvPr>
          <p:cNvSpPr txBox="1"/>
          <p:nvPr/>
        </p:nvSpPr>
        <p:spPr>
          <a:xfrm>
            <a:off x="6962267" y="2177416"/>
            <a:ext cx="4251325" cy="3262432"/>
          </a:xfrm>
          <a:prstGeom prst="rect">
            <a:avLst/>
          </a:prstGeom>
        </p:spPr>
        <p:txBody>
          <a:bodyPr bIns="0" lIns="0" numCol="1" rIns="0" rtlCol="0" tIns="12700" vert="horz" wrap="square">
            <a:spAutoFit/>
          </a:bodyPr>
          <a:lstStyle/>
          <a:p>
            <a:pPr algn="ctr" marL="12700" marR="533387">
              <a:spcBef>
                <a:spcPts val="100"/>
              </a:spcBef>
            </a:pPr>
            <a:r>
              <a:rPr dirty="0" sz="2400">
                <a:solidFill>
                  <a:srgbClr val="FFFFFF"/>
                </a:solidFill>
                <a:latin typeface="Palatino Linotype"/>
                <a:cs typeface="Palatino Linotype"/>
              </a:rPr>
              <a:t>A</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produced</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by</a:t>
            </a:r>
            <a:r>
              <a:rPr dirty="0" spc="-31" sz="2400">
                <a:solidFill>
                  <a:srgbClr val="FFFFFF"/>
                </a:solidFill>
                <a:latin typeface="Palatino Linotype"/>
                <a:cs typeface="Palatino Linotype"/>
              </a:rPr>
              <a:t> </a:t>
            </a:r>
            <a:r>
              <a:rPr dirty="0" spc="-51" sz="2400">
                <a:solidFill>
                  <a:srgbClr val="FFFFFF"/>
                </a:solidFill>
                <a:latin typeface="Palatino Linotype"/>
                <a:cs typeface="Palatino Linotype"/>
              </a:rPr>
              <a:t>a </a:t>
            </a:r>
            <a:r>
              <a:rPr dirty="0" sz="2400">
                <a:solidFill>
                  <a:srgbClr val="FFFFFF"/>
                </a:solidFill>
                <a:latin typeface="Palatino Linotype"/>
                <a:cs typeface="Palatino Linotype"/>
              </a:rPr>
              <a:t>variable</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cell</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2,1</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starts</a:t>
            </a:r>
            <a:r>
              <a:rPr dirty="0" spc="-20" sz="2400">
                <a:solidFill>
                  <a:srgbClr val="FFFFFF"/>
                </a:solidFill>
                <a:latin typeface="Palatino Linotype"/>
                <a:cs typeface="Palatino Linotype"/>
              </a:rPr>
              <a:t> </a:t>
            </a:r>
            <a:r>
              <a:rPr dirty="0" spc="-25" sz="2400">
                <a:solidFill>
                  <a:srgbClr val="FFFFFF"/>
                </a:solidFill>
                <a:latin typeface="Palatino Linotype"/>
                <a:cs typeface="Palatino Linotype"/>
              </a:rPr>
              <a:t>at </a:t>
            </a:r>
            <a:r>
              <a:rPr dirty="0" sz="2400">
                <a:solidFill>
                  <a:srgbClr val="FFFFFF"/>
                </a:solidFill>
                <a:latin typeface="Palatino Linotype"/>
                <a:cs typeface="Palatino Linotype"/>
              </a:rPr>
              <a:t>position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2</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and</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has</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5" sz="2400">
                <a:solidFill>
                  <a:srgbClr val="FFFFFF"/>
                </a:solidFill>
                <a:latin typeface="Palatino Linotype"/>
                <a:cs typeface="Palatino Linotype"/>
              </a:rPr>
              <a:t> </a:t>
            </a:r>
            <a:r>
              <a:rPr dirty="0" spc="-25" sz="2400">
                <a:solidFill>
                  <a:srgbClr val="FFFFFF"/>
                </a:solidFill>
                <a:latin typeface="Palatino Linotype"/>
                <a:cs typeface="Palatino Linotype"/>
              </a:rPr>
              <a:t>1.</a:t>
            </a:r>
            <a:endParaRPr sz="2400">
              <a:latin typeface="Palatino Linotype"/>
              <a:cs typeface="Palatino Linotype"/>
            </a:endParaRPr>
          </a:p>
          <a:p>
            <a:pPr algn="just" indent="144776" marL="33654" marR="5080">
              <a:spcBef>
                <a:spcPts val="2315"/>
              </a:spcBef>
            </a:pPr>
            <a:r>
              <a:rPr dirty="0" sz="2400">
                <a:solidFill>
                  <a:srgbClr val="FFFFFF"/>
                </a:solidFill>
                <a:latin typeface="Palatino Linotype"/>
                <a:cs typeface="Palatino Linotype"/>
              </a:rPr>
              <a:t>So,</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to</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get</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25" sz="2400">
                <a:solidFill>
                  <a:srgbClr val="FFFFFF"/>
                </a:solidFill>
                <a:latin typeface="Palatino Linotype"/>
                <a:cs typeface="Palatino Linotype"/>
              </a:rPr>
              <a:t> 3, </a:t>
            </a:r>
            <a:r>
              <a:rPr dirty="0" sz="2400">
                <a:solidFill>
                  <a:srgbClr val="FFFFFF"/>
                </a:solidFill>
                <a:latin typeface="Palatino Linotype"/>
                <a:cs typeface="Palatino Linotype"/>
              </a:rPr>
              <a:t>we</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need</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that</a:t>
            </a:r>
            <a:r>
              <a:rPr dirty="0" spc="-5" sz="2400">
                <a:solidFill>
                  <a:srgbClr val="FFFFFF"/>
                </a:solidFill>
                <a:latin typeface="Palatino Linotype"/>
                <a:cs typeface="Palatino Linotype"/>
              </a:rPr>
              <a:t> </a:t>
            </a:r>
            <a:r>
              <a:rPr dirty="0" sz="2400">
                <a:solidFill>
                  <a:srgbClr val="FFFFFF"/>
                </a:solidFill>
                <a:latin typeface="Palatino Linotype"/>
                <a:cs typeface="Palatino Linotype"/>
              </a:rPr>
              <a:t>starts</a:t>
            </a:r>
            <a:r>
              <a:rPr dirty="0" spc="-15" sz="2400">
                <a:solidFill>
                  <a:srgbClr val="FFFFFF"/>
                </a:solidFill>
                <a:latin typeface="Palatino Linotype"/>
                <a:cs typeface="Palatino Linotype"/>
              </a:rPr>
              <a:t> </a:t>
            </a:r>
            <a:r>
              <a:rPr dirty="0" spc="-25" sz="2400">
                <a:solidFill>
                  <a:srgbClr val="FFFFFF"/>
                </a:solidFill>
                <a:latin typeface="Palatino Linotype"/>
                <a:cs typeface="Palatino Linotype"/>
              </a:rPr>
              <a:t>at </a:t>
            </a:r>
            <a:r>
              <a:rPr dirty="0" sz="2400">
                <a:solidFill>
                  <a:srgbClr val="FFFFFF"/>
                </a:solidFill>
                <a:latin typeface="Palatino Linotype"/>
                <a:cs typeface="Palatino Linotype"/>
              </a:rPr>
              <a:t>position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3</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and</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1" sz="2400">
                <a:solidFill>
                  <a:srgbClr val="FFFFFF"/>
                </a:solidFill>
                <a:latin typeface="Palatino Linotype"/>
                <a:cs typeface="Palatino Linotype"/>
              </a:rPr>
              <a:t> </a:t>
            </a:r>
            <a:r>
              <a:rPr dirty="0" spc="-25" sz="2400">
                <a:solidFill>
                  <a:srgbClr val="FFFFFF"/>
                </a:solidFill>
                <a:latin typeface="Palatino Linotype"/>
                <a:cs typeface="Palatino Linotype"/>
              </a:rPr>
              <a:t>2. </a:t>
            </a:r>
            <a:r>
              <a:rPr dirty="0" sz="2400">
                <a:solidFill>
                  <a:srgbClr val="FFFFFF"/>
                </a:solidFill>
                <a:latin typeface="Palatino Linotype"/>
                <a:cs typeface="Palatino Linotype"/>
              </a:rPr>
              <a:t>Such</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strings</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are</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produced</a:t>
            </a:r>
            <a:r>
              <a:rPr dirty="0" spc="-45" sz="2400">
                <a:solidFill>
                  <a:srgbClr val="FFFFFF"/>
                </a:solidFill>
                <a:latin typeface="Palatino Linotype"/>
                <a:cs typeface="Palatino Linotype"/>
              </a:rPr>
              <a:t> </a:t>
            </a:r>
            <a:r>
              <a:rPr dirty="0" spc="-25" sz="2400">
                <a:solidFill>
                  <a:srgbClr val="FFFFFF"/>
                </a:solidFill>
                <a:latin typeface="Palatino Linotype"/>
                <a:cs typeface="Palatino Linotype"/>
              </a:rPr>
              <a:t>by </a:t>
            </a:r>
            <a:r>
              <a:rPr dirty="0" sz="2400">
                <a:solidFill>
                  <a:srgbClr val="FFFFFF"/>
                </a:solidFill>
                <a:latin typeface="Palatino Linotype"/>
                <a:cs typeface="Palatino Linotype"/>
              </a:rPr>
              <a:t>variables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cell</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3,2</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15" sz="2400">
                <a:solidFill>
                  <a:srgbClr val="FFFFFF"/>
                </a:solidFill>
                <a:latin typeface="Palatino Linotype"/>
                <a:cs typeface="Palatino Linotype"/>
              </a:rPr>
              <a:t> </a:t>
            </a:r>
            <a:r>
              <a:rPr dirty="0" spc="-11" sz="2400">
                <a:solidFill>
                  <a:srgbClr val="FFFFFF"/>
                </a:solidFill>
                <a:latin typeface="Palatino Linotype"/>
                <a:cs typeface="Palatino Linotype"/>
              </a:rPr>
              <a:t>table.</a:t>
            </a:r>
            <a:endParaRPr sz="2400">
              <a:latin typeface="Palatino Linotype"/>
              <a:cs typeface="Palatino Linotype"/>
            </a:endParaRPr>
          </a:p>
        </p:txBody>
      </p:sp>
      <p:grpSp>
        <p:nvGrpSpPr>
          <p:cNvPr id="33" name="object 34">
            <a:extLst>
              <a:ext uri="{FF2B5EF4-FFF2-40B4-BE49-F238E27FC236}">
                <a16:creationId xmlns:a16="http://schemas.microsoft.com/office/drawing/2014/main" id="{487C54C0-AFF5-A255-942A-785AC0420CDD}"/>
              </a:ext>
            </a:extLst>
          </p:cNvPr>
          <p:cNvGrpSpPr/>
          <p:nvPr/>
        </p:nvGrpSpPr>
        <p:grpSpPr>
          <a:xfrm>
            <a:off x="3776091" y="4170731"/>
            <a:ext cx="2972435" cy="366395"/>
            <a:chOff x="3182111" y="4858511"/>
            <a:chExt cx="2972435" cy="366395"/>
          </a:xfrm>
        </p:grpSpPr>
        <p:sp>
          <p:nvSpPr>
            <p:cNvPr id="34" name="object 35">
              <a:extLst>
                <a:ext uri="{FF2B5EF4-FFF2-40B4-BE49-F238E27FC236}">
                  <a16:creationId xmlns:a16="http://schemas.microsoft.com/office/drawing/2014/main" id="{DEE1AFDB-A3FD-E791-923D-65D5B14DB110}"/>
                </a:ext>
              </a:extLst>
            </p:cNvPr>
            <p:cNvSpPr/>
            <p:nvPr/>
          </p:nvSpPr>
          <p:spPr>
            <a:xfrm>
              <a:off x="3694937" y="4978272"/>
              <a:ext cx="2459990" cy="246379"/>
            </a:xfrm>
            <a:custGeom>
              <a:avLst/>
              <a:gdLst/>
              <a:ahLst/>
              <a:cxnLst/>
              <a:rect b="b" l="l" r="r" t="t"/>
              <a:pathLst>
                <a:path h="246379" w="2459990">
                  <a:moveTo>
                    <a:pt x="115361" y="37965"/>
                  </a:moveTo>
                  <a:lnTo>
                    <a:pt x="112713" y="74549"/>
                  </a:lnTo>
                  <a:lnTo>
                    <a:pt x="112613" y="75941"/>
                  </a:lnTo>
                  <a:lnTo>
                    <a:pt x="2439162" y="246379"/>
                  </a:lnTo>
                  <a:lnTo>
                    <a:pt x="2446676" y="245427"/>
                  </a:lnTo>
                  <a:lnTo>
                    <a:pt x="2452989" y="241807"/>
                  </a:lnTo>
                  <a:lnTo>
                    <a:pt x="2457467" y="236093"/>
                  </a:lnTo>
                  <a:lnTo>
                    <a:pt x="2459482" y="228853"/>
                  </a:lnTo>
                  <a:lnTo>
                    <a:pt x="2458529" y="221319"/>
                  </a:lnTo>
                  <a:lnTo>
                    <a:pt x="2454910" y="214963"/>
                  </a:lnTo>
                  <a:lnTo>
                    <a:pt x="2449195" y="210440"/>
                  </a:lnTo>
                  <a:lnTo>
                    <a:pt x="2441956" y="208406"/>
                  </a:lnTo>
                  <a:lnTo>
                    <a:pt x="115361" y="37965"/>
                  </a:lnTo>
                  <a:close/>
                </a:path>
                <a:path h="246379" w="2459990">
                  <a:moveTo>
                    <a:pt x="118110" y="0"/>
                  </a:moveTo>
                  <a:lnTo>
                    <a:pt x="0" y="48640"/>
                  </a:lnTo>
                  <a:lnTo>
                    <a:pt x="109854" y="114045"/>
                  </a:lnTo>
                  <a:lnTo>
                    <a:pt x="112613" y="75941"/>
                  </a:lnTo>
                  <a:lnTo>
                    <a:pt x="93599" y="74549"/>
                  </a:lnTo>
                  <a:lnTo>
                    <a:pt x="86286" y="72517"/>
                  </a:lnTo>
                  <a:lnTo>
                    <a:pt x="80533" y="68008"/>
                  </a:lnTo>
                  <a:lnTo>
                    <a:pt x="76900" y="61690"/>
                  </a:lnTo>
                  <a:lnTo>
                    <a:pt x="75946" y="54228"/>
                  </a:lnTo>
                  <a:lnTo>
                    <a:pt x="77979" y="46916"/>
                  </a:lnTo>
                  <a:lnTo>
                    <a:pt x="82502" y="41163"/>
                  </a:lnTo>
                  <a:lnTo>
                    <a:pt x="88858" y="37530"/>
                  </a:lnTo>
                  <a:lnTo>
                    <a:pt x="96392" y="36575"/>
                  </a:lnTo>
                  <a:lnTo>
                    <a:pt x="115462" y="36575"/>
                  </a:lnTo>
                  <a:lnTo>
                    <a:pt x="118110" y="0"/>
                  </a:lnTo>
                  <a:close/>
                </a:path>
                <a:path h="246379" w="2459990">
                  <a:moveTo>
                    <a:pt x="96392" y="36575"/>
                  </a:moveTo>
                  <a:lnTo>
                    <a:pt x="88858" y="37530"/>
                  </a:lnTo>
                  <a:lnTo>
                    <a:pt x="82502" y="41163"/>
                  </a:lnTo>
                  <a:lnTo>
                    <a:pt x="77979" y="46916"/>
                  </a:lnTo>
                  <a:lnTo>
                    <a:pt x="75946" y="54228"/>
                  </a:lnTo>
                  <a:lnTo>
                    <a:pt x="76900" y="61690"/>
                  </a:lnTo>
                  <a:lnTo>
                    <a:pt x="80533" y="68008"/>
                  </a:lnTo>
                  <a:lnTo>
                    <a:pt x="86286" y="72517"/>
                  </a:lnTo>
                  <a:lnTo>
                    <a:pt x="93599" y="74549"/>
                  </a:lnTo>
                  <a:lnTo>
                    <a:pt x="112613" y="75941"/>
                  </a:lnTo>
                  <a:lnTo>
                    <a:pt x="115361" y="37965"/>
                  </a:lnTo>
                  <a:lnTo>
                    <a:pt x="96392" y="36575"/>
                  </a:lnTo>
                  <a:close/>
                </a:path>
                <a:path h="246379" w="2459990">
                  <a:moveTo>
                    <a:pt x="115462" y="36575"/>
                  </a:moveTo>
                  <a:lnTo>
                    <a:pt x="96392" y="36575"/>
                  </a:lnTo>
                  <a:lnTo>
                    <a:pt x="115361" y="37965"/>
                  </a:lnTo>
                  <a:lnTo>
                    <a:pt x="115462" y="36575"/>
                  </a:lnTo>
                  <a:close/>
                </a:path>
              </a:pathLst>
            </a:custGeom>
            <a:solidFill>
              <a:srgbClr val="3493B9"/>
            </a:solidFill>
          </p:spPr>
          <p:txBody>
            <a:bodyPr bIns="0" lIns="0" numCol="1" rIns="0" rtlCol="0" tIns="0" wrap="square"/>
            <a:lstStyle/>
            <a:p>
              <a:endParaRPr/>
            </a:p>
          </p:txBody>
        </p:sp>
        <p:sp>
          <p:nvSpPr>
            <p:cNvPr id="35" name="object 36">
              <a:extLst>
                <a:ext uri="{FF2B5EF4-FFF2-40B4-BE49-F238E27FC236}">
                  <a16:creationId xmlns:a16="http://schemas.microsoft.com/office/drawing/2014/main" id="{FBD7FE31-BB1C-3B23-1131-F459C3806077}"/>
                </a:ext>
              </a:extLst>
            </p:cNvPr>
            <p:cNvSpPr/>
            <p:nvPr/>
          </p:nvSpPr>
          <p:spPr>
            <a:xfrm>
              <a:off x="3201161" y="4877561"/>
              <a:ext cx="494030" cy="297180"/>
            </a:xfrm>
            <a:custGeom>
              <a:avLst/>
              <a:gdLst/>
              <a:ahLst/>
              <a:cxnLst/>
              <a:rect b="b" l="l" r="r" t="t"/>
              <a:pathLst>
                <a:path h="297179" w="494029">
                  <a:moveTo>
                    <a:pt x="0" y="297180"/>
                  </a:moveTo>
                  <a:lnTo>
                    <a:pt x="493775" y="297180"/>
                  </a:lnTo>
                  <a:lnTo>
                    <a:pt x="493775" y="0"/>
                  </a:lnTo>
                  <a:lnTo>
                    <a:pt x="0" y="0"/>
                  </a:lnTo>
                  <a:lnTo>
                    <a:pt x="0" y="297180"/>
                  </a:lnTo>
                  <a:close/>
                </a:path>
              </a:pathLst>
            </a:custGeom>
            <a:ln w="38100">
              <a:solidFill>
                <a:srgbClr val="226B87"/>
              </a:solidFill>
            </a:ln>
          </p:spPr>
          <p:txBody>
            <a:bodyPr bIns="0" lIns="0" numCol="1" rIns="0" rtlCol="0" tIns="0" wrap="square"/>
            <a:lstStyle/>
            <a:p>
              <a:endParaRPr/>
            </a:p>
          </p:txBody>
        </p:sp>
      </p:grpSp>
      <p:sp>
        <p:nvSpPr>
          <p:cNvPr id="36" name="object 37">
            <a:extLst>
              <a:ext uri="{FF2B5EF4-FFF2-40B4-BE49-F238E27FC236}">
                <a16:creationId xmlns:a16="http://schemas.microsoft.com/office/drawing/2014/main" id="{F86B96AC-A88A-1513-B64E-D76B4190CAC7}"/>
              </a:ext>
            </a:extLst>
          </p:cNvPr>
          <p:cNvSpPr/>
          <p:nvPr/>
        </p:nvSpPr>
        <p:spPr>
          <a:xfrm>
            <a:off x="2604136" y="4522774"/>
            <a:ext cx="1036319" cy="302260"/>
          </a:xfrm>
          <a:custGeom>
            <a:avLst/>
            <a:gdLst/>
            <a:ahLst/>
            <a:cxnLst/>
            <a:rect b="b" l="l" r="r" t="t"/>
            <a:pathLst>
              <a:path h="302260" w="1036319">
                <a:moveTo>
                  <a:pt x="1036319" y="0"/>
                </a:moveTo>
                <a:lnTo>
                  <a:pt x="0" y="0"/>
                </a:lnTo>
                <a:lnTo>
                  <a:pt x="0" y="301752"/>
                </a:lnTo>
                <a:lnTo>
                  <a:pt x="1036319" y="301752"/>
                </a:lnTo>
                <a:lnTo>
                  <a:pt x="1036319" y="0"/>
                </a:lnTo>
                <a:close/>
              </a:path>
            </a:pathLst>
          </a:custGeom>
          <a:solidFill>
            <a:srgbClr val="FF0000"/>
          </a:solidFill>
        </p:spPr>
        <p:txBody>
          <a:bodyPr bIns="0" lIns="0" numCol="1" rIns="0" rtlCol="0" tIns="0" wrap="square"/>
          <a:lstStyle/>
          <a:p>
            <a:endParaRPr/>
          </a:p>
        </p:txBody>
      </p:sp>
    </p:spTree>
    <p:extLst>
      <p:ext uri="{BB962C8B-B14F-4D97-AF65-F5344CB8AC3E}">
        <p14:creationId xmlns:p14="http://schemas.microsoft.com/office/powerpoint/2010/main" val="38380446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C04DBBFE-7048-C707-44D1-1E7D46D890DB}"/>
              </a:ext>
            </a:extLst>
          </p:cNvPr>
          <p:cNvSpPr txBox="1"/>
          <p:nvPr/>
        </p:nvSpPr>
        <p:spPr>
          <a:xfrm>
            <a:off x="1081531" y="345160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14">
            <a:extLst>
              <a:ext uri="{FF2B5EF4-FFF2-40B4-BE49-F238E27FC236}">
                <a16:creationId xmlns:a16="http://schemas.microsoft.com/office/drawing/2014/main" id="{468AE503-7302-10C5-CC25-409168006A09}"/>
              </a:ext>
            </a:extLst>
          </p:cNvPr>
          <p:cNvSpPr txBox="1">
            <a:spLocks/>
          </p:cNvSpPr>
          <p:nvPr/>
        </p:nvSpPr>
        <p:spPr>
          <a:xfrm>
            <a:off x="5164939" y="799359"/>
            <a:ext cx="6655104" cy="1736373"/>
          </a:xfrm>
          <a:prstGeom prst="rect">
            <a:avLst/>
          </a:prstGeom>
        </p:spPr>
        <p:txBody>
          <a:bodyPr bIns="0" lIns="0" numCol="1" rIns="0" rtlCol="0" tIns="12700" vert="horz" wrap="square">
            <a:sp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marL="12700" marR="5080">
              <a:lnSpc>
                <a:spcPct val="100000"/>
              </a:lnSpc>
              <a:spcBef>
                <a:spcPts val="100"/>
              </a:spcBef>
            </a:pPr>
            <a:r>
              <a:rPr lang="en-US"/>
              <a:t>No</a:t>
            </a:r>
            <a:r>
              <a:rPr lang="en-US" spc="-15"/>
              <a:t> </a:t>
            </a:r>
            <a:r>
              <a:rPr lang="en-US"/>
              <a:t>possible</a:t>
            </a:r>
            <a:r>
              <a:rPr lang="en-US" spc="-25"/>
              <a:t> </a:t>
            </a:r>
            <a:r>
              <a:rPr lang="en-US"/>
              <a:t>productions</a:t>
            </a:r>
            <a:r>
              <a:rPr lang="en-US" spc="-15"/>
              <a:t> </a:t>
            </a:r>
            <a:r>
              <a:rPr lang="en-US"/>
              <a:t>produce</a:t>
            </a:r>
            <a:r>
              <a:rPr lang="en-US" spc="-25"/>
              <a:t> </a:t>
            </a:r>
            <a:r>
              <a:rPr lang="en-US"/>
              <a:t>a</a:t>
            </a:r>
            <a:r>
              <a:rPr lang="en-US" spc="-15"/>
              <a:t> </a:t>
            </a:r>
            <a:r>
              <a:rPr lang="en-US"/>
              <a:t>variable</a:t>
            </a:r>
            <a:r>
              <a:rPr lang="en-US" spc="-11"/>
              <a:t> </a:t>
            </a:r>
            <a:r>
              <a:rPr lang="en-US" spc="-25"/>
              <a:t>in </a:t>
            </a:r>
            <a:r>
              <a:rPr lang="en-US"/>
              <a:t>cell</a:t>
            </a:r>
            <a:r>
              <a:rPr lang="en-US" spc="-25"/>
              <a:t> </a:t>
            </a:r>
            <a:r>
              <a:rPr lang="en-US"/>
              <a:t>2,1</a:t>
            </a:r>
            <a:r>
              <a:rPr lang="en-US" spc="-25"/>
              <a:t> </a:t>
            </a:r>
            <a:r>
              <a:rPr lang="en-US"/>
              <a:t>followed</a:t>
            </a:r>
            <a:r>
              <a:rPr lang="en-US" spc="-20"/>
              <a:t> </a:t>
            </a:r>
            <a:r>
              <a:rPr lang="en-US"/>
              <a:t>by</a:t>
            </a:r>
            <a:r>
              <a:rPr lang="en-US" spc="-35"/>
              <a:t> </a:t>
            </a:r>
            <a:r>
              <a:rPr lang="en-US"/>
              <a:t>a</a:t>
            </a:r>
            <a:r>
              <a:rPr lang="en-US" spc="-25"/>
              <a:t> </a:t>
            </a:r>
            <a:r>
              <a:rPr lang="en-US"/>
              <a:t>variable</a:t>
            </a:r>
            <a:r>
              <a:rPr lang="en-US" spc="-25"/>
              <a:t> </a:t>
            </a:r>
            <a:r>
              <a:rPr lang="en-US"/>
              <a:t>in</a:t>
            </a:r>
            <a:r>
              <a:rPr lang="en-US" spc="-25"/>
              <a:t> </a:t>
            </a:r>
            <a:r>
              <a:rPr lang="en-US"/>
              <a:t>cell</a:t>
            </a:r>
            <a:r>
              <a:rPr lang="en-US" spc="-25"/>
              <a:t> </a:t>
            </a:r>
            <a:r>
              <a:rPr lang="en-US" spc="-20"/>
              <a:t>3,2, </a:t>
            </a:r>
            <a:r>
              <a:rPr lang="en-US"/>
              <a:t>simply</a:t>
            </a:r>
            <a:r>
              <a:rPr lang="en-US" spc="-55"/>
              <a:t> </a:t>
            </a:r>
            <a:r>
              <a:rPr lang="en-US"/>
              <a:t>because</a:t>
            </a:r>
            <a:r>
              <a:rPr lang="en-US" spc="-71"/>
              <a:t> </a:t>
            </a:r>
            <a:r>
              <a:rPr lang="en-US"/>
              <a:t>cell</a:t>
            </a:r>
            <a:r>
              <a:rPr lang="en-US" spc="-51"/>
              <a:t> </a:t>
            </a:r>
            <a:r>
              <a:rPr lang="en-US"/>
              <a:t>3,2</a:t>
            </a:r>
            <a:r>
              <a:rPr lang="en-US" spc="-45"/>
              <a:t> </a:t>
            </a:r>
            <a:r>
              <a:rPr lang="en-US"/>
              <a:t>doesn’t</a:t>
            </a:r>
            <a:r>
              <a:rPr lang="en-US" spc="-55"/>
              <a:t> </a:t>
            </a:r>
            <a:r>
              <a:rPr lang="en-US"/>
              <a:t>contain</a:t>
            </a:r>
            <a:r>
              <a:rPr lang="en-US" spc="-40"/>
              <a:t> </a:t>
            </a:r>
            <a:r>
              <a:rPr lang="en-US" spc="-25"/>
              <a:t>any </a:t>
            </a:r>
            <a:r>
              <a:rPr lang="en-US" spc="-11"/>
              <a:t>variables.</a:t>
            </a:r>
            <a:endParaRPr dirty="0" lang="en-US" spc="-11"/>
          </a:p>
        </p:txBody>
      </p:sp>
      <p:sp>
        <p:nvSpPr>
          <p:cNvPr id="4" name="object 3">
            <a:extLst>
              <a:ext uri="{FF2B5EF4-FFF2-40B4-BE49-F238E27FC236}">
                <a16:creationId xmlns:a16="http://schemas.microsoft.com/office/drawing/2014/main" id="{88B32422-1F92-991D-94F5-E249D1A6209F}"/>
              </a:ext>
            </a:extLst>
          </p:cNvPr>
          <p:cNvSpPr txBox="1"/>
          <p:nvPr/>
        </p:nvSpPr>
        <p:spPr>
          <a:xfrm>
            <a:off x="2204719" y="345160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5" name="object 4">
            <a:extLst>
              <a:ext uri="{FF2B5EF4-FFF2-40B4-BE49-F238E27FC236}">
                <a16:creationId xmlns:a16="http://schemas.microsoft.com/office/drawing/2014/main" id="{E900CEB9-5F3B-FD7A-BA4A-77944055FE05}"/>
              </a:ext>
            </a:extLst>
          </p:cNvPr>
          <p:cNvSpPr txBox="1"/>
          <p:nvPr/>
        </p:nvSpPr>
        <p:spPr>
          <a:xfrm>
            <a:off x="3215386" y="2820819"/>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6" name="object 5">
            <a:extLst>
              <a:ext uri="{FF2B5EF4-FFF2-40B4-BE49-F238E27FC236}">
                <a16:creationId xmlns:a16="http://schemas.microsoft.com/office/drawing/2014/main" id="{9F997BBE-6864-DD62-4622-F947C8450025}"/>
              </a:ext>
            </a:extLst>
          </p:cNvPr>
          <p:cNvSpPr txBox="1"/>
          <p:nvPr/>
        </p:nvSpPr>
        <p:spPr>
          <a:xfrm>
            <a:off x="4358387" y="2820819"/>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7" name="object 6">
            <a:extLst>
              <a:ext uri="{FF2B5EF4-FFF2-40B4-BE49-F238E27FC236}">
                <a16:creationId xmlns:a16="http://schemas.microsoft.com/office/drawing/2014/main" id="{DFC3CA4E-45D5-B40E-2457-71BA83257542}"/>
              </a:ext>
            </a:extLst>
          </p:cNvPr>
          <p:cNvSpPr txBox="1"/>
          <p:nvPr/>
        </p:nvSpPr>
        <p:spPr>
          <a:xfrm>
            <a:off x="5324982" y="2820819"/>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8" name="object 7">
            <a:extLst>
              <a:ext uri="{FF2B5EF4-FFF2-40B4-BE49-F238E27FC236}">
                <a16:creationId xmlns:a16="http://schemas.microsoft.com/office/drawing/2014/main" id="{106210E3-562A-3880-529A-479664B387E5}"/>
              </a:ext>
            </a:extLst>
          </p:cNvPr>
          <p:cNvSpPr txBox="1"/>
          <p:nvPr/>
        </p:nvSpPr>
        <p:spPr>
          <a:xfrm>
            <a:off x="213969" y="3706114"/>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9" name="object 8">
            <a:extLst>
              <a:ext uri="{FF2B5EF4-FFF2-40B4-BE49-F238E27FC236}">
                <a16:creationId xmlns:a16="http://schemas.microsoft.com/office/drawing/2014/main" id="{7897F8A3-62D3-42C3-380D-576F66AC85A3}"/>
              </a:ext>
            </a:extLst>
          </p:cNvPr>
          <p:cNvGraphicFramePr>
            <a:graphicFrameLocks noGrp="1"/>
          </p:cNvGraphicFramePr>
          <p:nvPr>
            <p:extLst>
              <p:ext uri="{D42A27DB-BD31-4B8C-83A1-F6EECF244321}">
                <p14:modId xmlns:p14="http://schemas.microsoft.com/office/powerpoint/2010/main" val="4263326461"/>
              </p:ext>
            </p:extLst>
          </p:nvPr>
        </p:nvGraphicFramePr>
        <p:xfrm>
          <a:off x="835153" y="3860292"/>
          <a:ext cx="5000625" cy="1987296"/>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54609">
                  <a:extLst>
                    <a:ext uri="{9D8B030D-6E8A-4147-A177-3AD203B41FA5}">
                      <a16:colId xmlns:a16="http://schemas.microsoft.com/office/drawing/2014/main" val="20001"/>
                    </a:ext>
                  </a:extLst>
                </a:gridCol>
                <a:gridCol w="135891">
                  <a:extLst>
                    <a:ext uri="{9D8B030D-6E8A-4147-A177-3AD203B41FA5}">
                      <a16:colId xmlns:a16="http://schemas.microsoft.com/office/drawing/2014/main" val="20002"/>
                    </a:ext>
                  </a:extLst>
                </a:gridCol>
                <a:gridCol w="493395">
                  <a:extLst>
                    <a:ext uri="{9D8B030D-6E8A-4147-A177-3AD203B41FA5}">
                      <a16:colId xmlns:a16="http://schemas.microsoft.com/office/drawing/2014/main" val="20003"/>
                    </a:ext>
                  </a:extLst>
                </a:gridCol>
                <a:gridCol w="433069">
                  <a:extLst>
                    <a:ext uri="{9D8B030D-6E8A-4147-A177-3AD203B41FA5}">
                      <a16:colId xmlns:a16="http://schemas.microsoft.com/office/drawing/2014/main" val="20004"/>
                    </a:ext>
                  </a:extLst>
                </a:gridCol>
                <a:gridCol w="127000">
                  <a:extLst>
                    <a:ext uri="{9D8B030D-6E8A-4147-A177-3AD203B41FA5}">
                      <a16:colId xmlns:a16="http://schemas.microsoft.com/office/drawing/2014/main" val="20005"/>
                    </a:ext>
                  </a:extLst>
                </a:gridCol>
                <a:gridCol w="493395">
                  <a:extLst>
                    <a:ext uri="{9D8B030D-6E8A-4147-A177-3AD203B41FA5}">
                      <a16:colId xmlns:a16="http://schemas.microsoft.com/office/drawing/2014/main" val="20006"/>
                    </a:ext>
                  </a:extLst>
                </a:gridCol>
                <a:gridCol w="267335">
                  <a:extLst>
                    <a:ext uri="{9D8B030D-6E8A-4147-A177-3AD203B41FA5}">
                      <a16:colId xmlns:a16="http://schemas.microsoft.com/office/drawing/2014/main" val="20007"/>
                    </a:ext>
                  </a:extLst>
                </a:gridCol>
                <a:gridCol w="1104900">
                  <a:extLst>
                    <a:ext uri="{9D8B030D-6E8A-4147-A177-3AD203B41FA5}">
                      <a16:colId xmlns:a16="http://schemas.microsoft.com/office/drawing/2014/main" val="20008"/>
                    </a:ext>
                  </a:extLst>
                </a:gridCol>
                <a:gridCol w="800100">
                  <a:extLst>
                    <a:ext uri="{9D8B030D-6E8A-4147-A177-3AD203B41FA5}">
                      <a16:colId xmlns:a16="http://schemas.microsoft.com/office/drawing/2014/main" val="20009"/>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a:txBody>
                    <a:bodyPr numCol="1"/>
                    <a:lstStyle/>
                    <a:p>
                      <a:pPr marL="142240">
                        <a:lnSpc>
                          <a:spcPts val="27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45415">
                        <a:lnSpc>
                          <a:spcPts val="2610"/>
                        </a:lnSpc>
                      </a:pPr>
                      <a:r>
                        <a:rPr dirty="0" spc="-50" sz="2400">
                          <a:latin typeface="Cambria Math"/>
                          <a:cs typeface="Cambria Math"/>
                        </a:rPr>
                        <a:t>∅</a:t>
                      </a:r>
                      <a:endParaRPr sz="24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3352">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lnB w="12700">
                      <a:solidFill>
                        <a:srgbClr val="6B9F24"/>
                      </a:solidFill>
                      <a:prstDash val="solid"/>
                    </a:lnB>
                    <a:solidFill>
                      <a:srgbClr val="FF0000"/>
                    </a:solidFill>
                  </a:tcPr>
                </a:tc>
                <a:tc gridSpan="3">
                  <a:txBody>
                    <a:bodyPr numCol="1"/>
                    <a:lstStyle/>
                    <a:p>
                      <a:pPr>
                        <a:lnSpc>
                          <a:spcPct val="100000"/>
                        </a:lnSpc>
                      </a:pPr>
                      <a:endParaRPr sz="2100">
                        <a:latin typeface="Times New Roman"/>
                        <a:cs typeface="Times New Roman"/>
                      </a:endParaRPr>
                    </a:p>
                  </a:txBody>
                  <a:tcPr marB="0" marL="0" marR="0" marT="0">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hMerge="1">
                  <a:txBody>
                    <a:bodyPr numCol="1"/>
                    <a:lstStyle/>
                    <a:p>
                      <a:endParaRPr/>
                    </a:p>
                  </a:txBody>
                  <a:tcPr marB="0" marL="0" marR="0" marT="0"/>
                </a:tc>
                <a:tc hMerge="1">
                  <a:txBody>
                    <a:bodyPr numCol="1"/>
                    <a:lstStyle/>
                    <a:p>
                      <a:endParaRPr/>
                    </a:p>
                  </a:txBody>
                  <a:tcPr marB="0" marL="0" marR="0" marT="0"/>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9">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10" name="object 9">
            <a:extLst>
              <a:ext uri="{FF2B5EF4-FFF2-40B4-BE49-F238E27FC236}">
                <a16:creationId xmlns:a16="http://schemas.microsoft.com/office/drawing/2014/main" id="{EC41A500-7DE9-3698-148C-696F72D60E5A}"/>
              </a:ext>
            </a:extLst>
          </p:cNvPr>
          <p:cNvSpPr txBox="1"/>
          <p:nvPr/>
        </p:nvSpPr>
        <p:spPr>
          <a:xfrm>
            <a:off x="180442" y="3831801"/>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a:extLst>
              <a:ext uri="{FF2B5EF4-FFF2-40B4-BE49-F238E27FC236}">
                <a16:creationId xmlns:a16="http://schemas.microsoft.com/office/drawing/2014/main" id="{D1CD6057-C9F5-9EB5-5803-984F159ED3EA}"/>
              </a:ext>
            </a:extLst>
          </p:cNvPr>
          <p:cNvSpPr txBox="1"/>
          <p:nvPr/>
        </p:nvSpPr>
        <p:spPr>
          <a:xfrm>
            <a:off x="1310259" y="622300"/>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a:extLst>
              <a:ext uri="{FF2B5EF4-FFF2-40B4-BE49-F238E27FC236}">
                <a16:creationId xmlns:a16="http://schemas.microsoft.com/office/drawing/2014/main" id="{2D2544D3-6A62-F755-9604-A7A4BBB463EC}"/>
              </a:ext>
            </a:extLst>
          </p:cNvPr>
          <p:cNvSpPr txBox="1"/>
          <p:nvPr/>
        </p:nvSpPr>
        <p:spPr>
          <a:xfrm>
            <a:off x="1284859" y="3235580"/>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a:extLst>
              <a:ext uri="{FF2B5EF4-FFF2-40B4-BE49-F238E27FC236}">
                <a16:creationId xmlns:a16="http://schemas.microsoft.com/office/drawing/2014/main" id="{A4D6F253-4DBB-53F9-AD68-27346D274ECB}"/>
              </a:ext>
            </a:extLst>
          </p:cNvPr>
          <p:cNvSpPr txBox="1"/>
          <p:nvPr/>
        </p:nvSpPr>
        <p:spPr>
          <a:xfrm>
            <a:off x="929132" y="2968877"/>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Tree>
    <p:extLst>
      <p:ext uri="{BB962C8B-B14F-4D97-AF65-F5344CB8AC3E}">
        <p14:creationId xmlns:p14="http://schemas.microsoft.com/office/powerpoint/2010/main" val="42604989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A72C531-9618-DBA0-D973-121A6584F2BA}"/>
              </a:ext>
            </a:extLst>
          </p:cNvPr>
          <p:cNvSpPr txBox="1"/>
          <p:nvPr/>
        </p:nvSpPr>
        <p:spPr>
          <a:xfrm>
            <a:off x="1774570" y="34953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0BE96FAF-5134-BB86-A63D-7B32FC03E0CC}"/>
              </a:ext>
            </a:extLst>
          </p:cNvPr>
          <p:cNvSpPr txBox="1"/>
          <p:nvPr/>
        </p:nvSpPr>
        <p:spPr>
          <a:xfrm>
            <a:off x="2897758" y="34953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E4248F4E-E1E9-EB52-8A2E-77D952CBCCC6}"/>
              </a:ext>
            </a:extLst>
          </p:cNvPr>
          <p:cNvSpPr txBox="1"/>
          <p:nvPr/>
        </p:nvSpPr>
        <p:spPr>
          <a:xfrm>
            <a:off x="1534287" y="3910128"/>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5" name="object 5">
            <a:extLst>
              <a:ext uri="{FF2B5EF4-FFF2-40B4-BE49-F238E27FC236}">
                <a16:creationId xmlns:a16="http://schemas.microsoft.com/office/drawing/2014/main" id="{ADD8B4AB-F45D-6DB6-7720-691E58D860EB}"/>
              </a:ext>
            </a:extLst>
          </p:cNvPr>
          <p:cNvSpPr txBox="1"/>
          <p:nvPr/>
        </p:nvSpPr>
        <p:spPr>
          <a:xfrm>
            <a:off x="2631567" y="3856813"/>
            <a:ext cx="1106805" cy="401393"/>
          </a:xfrm>
          <a:prstGeom prst="rect">
            <a:avLst/>
          </a:prstGeom>
        </p:spPr>
        <p:txBody>
          <a:bodyPr bIns="0" lIns="0" numCol="1" rIns="0" rtlCol="0" tIns="16511" vert="horz" wrap="square">
            <a:spAutoFit/>
          </a:bodyPr>
          <a:lstStyle/>
          <a:p>
            <a:pPr marL="327652">
              <a:spcBef>
                <a:spcPts val="131"/>
              </a:spcBef>
            </a:pPr>
            <a:r>
              <a:rPr dirty="0" spc="-51" sz="2500">
                <a:latin typeface="Cambria Math"/>
                <a:cs typeface="Cambria Math"/>
              </a:rPr>
              <a:t>A</a:t>
            </a:r>
            <a:endParaRPr sz="2500">
              <a:latin typeface="Cambria Math"/>
              <a:cs typeface="Cambria Math"/>
            </a:endParaRPr>
          </a:p>
        </p:txBody>
      </p:sp>
      <p:sp>
        <p:nvSpPr>
          <p:cNvPr id="6" name="object 6">
            <a:extLst>
              <a:ext uri="{FF2B5EF4-FFF2-40B4-BE49-F238E27FC236}">
                <a16:creationId xmlns:a16="http://schemas.microsoft.com/office/drawing/2014/main" id="{179E7498-F54D-0732-F013-15144B41CBA5}"/>
              </a:ext>
            </a:extLst>
          </p:cNvPr>
          <p:cNvSpPr txBox="1"/>
          <p:nvPr/>
        </p:nvSpPr>
        <p:spPr>
          <a:xfrm>
            <a:off x="3744086" y="3910128"/>
            <a:ext cx="889000" cy="346249"/>
          </a:xfrm>
          <a:prstGeom prst="rect">
            <a:avLst/>
          </a:prstGeom>
          <a:ln w="12192">
            <a:solidFill>
              <a:srgbClr val="6B9F24"/>
            </a:solidFill>
          </a:ln>
        </p:spPr>
        <p:txBody>
          <a:bodyPr bIns="0" lIns="0" numCol="1" rIns="0" rtlCol="0" tIns="0" vert="horz" wrap="square">
            <a:spAutoFit/>
          </a:bodyPr>
          <a:lstStyle/>
          <a:p>
            <a:pPr marL="273044">
              <a:lnSpc>
                <a:spcPts val="2711"/>
              </a:lnSpc>
            </a:pPr>
            <a:r>
              <a:rPr dirty="0" spc="-51" sz="2500">
                <a:latin typeface="Cambria Math"/>
                <a:cs typeface="Cambria Math"/>
              </a:rPr>
              <a:t>A</a:t>
            </a:r>
            <a:endParaRPr sz="2500">
              <a:latin typeface="Cambria Math"/>
              <a:cs typeface="Cambria Math"/>
            </a:endParaRPr>
          </a:p>
        </p:txBody>
      </p:sp>
      <p:sp>
        <p:nvSpPr>
          <p:cNvPr id="7" name="object 7">
            <a:extLst>
              <a:ext uri="{FF2B5EF4-FFF2-40B4-BE49-F238E27FC236}">
                <a16:creationId xmlns:a16="http://schemas.microsoft.com/office/drawing/2014/main" id="{A047AFA2-9C5E-696B-B9E6-04B8635C2AC1}"/>
              </a:ext>
            </a:extLst>
          </p:cNvPr>
          <p:cNvSpPr txBox="1"/>
          <p:nvPr/>
        </p:nvSpPr>
        <p:spPr>
          <a:xfrm>
            <a:off x="4926711" y="3856813"/>
            <a:ext cx="455931" cy="401393"/>
          </a:xfrm>
          <a:prstGeom prst="rect">
            <a:avLst/>
          </a:prstGeom>
        </p:spPr>
        <p:txBody>
          <a:bodyPr bIns="0" lIns="0" numCol="1" rIns="0" rtlCol="0" tIns="16511" vert="horz" wrap="square">
            <a:spAutoFit/>
          </a:bodyPr>
          <a:lstStyle/>
          <a:p>
            <a:pPr marL="80643">
              <a:spcBef>
                <a:spcPts val="131"/>
              </a:spcBef>
            </a:pPr>
            <a:r>
              <a:rPr dirty="0" spc="-51" sz="2500">
                <a:latin typeface="Cambria Math"/>
                <a:cs typeface="Cambria Math"/>
              </a:rPr>
              <a:t>C</a:t>
            </a:r>
            <a:endParaRPr sz="2500">
              <a:latin typeface="Cambria Math"/>
              <a:cs typeface="Cambria Math"/>
            </a:endParaRPr>
          </a:p>
        </p:txBody>
      </p:sp>
      <p:sp>
        <p:nvSpPr>
          <p:cNvPr id="8" name="object 8">
            <a:extLst>
              <a:ext uri="{FF2B5EF4-FFF2-40B4-BE49-F238E27FC236}">
                <a16:creationId xmlns:a16="http://schemas.microsoft.com/office/drawing/2014/main" id="{EFDD7D5A-5D68-1F71-57AB-E5A14B1285A1}"/>
              </a:ext>
            </a:extLst>
          </p:cNvPr>
          <p:cNvSpPr txBox="1"/>
          <p:nvPr/>
        </p:nvSpPr>
        <p:spPr>
          <a:xfrm>
            <a:off x="5420487" y="3856813"/>
            <a:ext cx="1111251" cy="401393"/>
          </a:xfrm>
          <a:prstGeom prst="rect">
            <a:avLst/>
          </a:prstGeom>
        </p:spPr>
        <p:txBody>
          <a:bodyPr bIns="0" lIns="0" numCol="1" rIns="0" rtlCol="0" tIns="16511" vert="horz" wrap="square">
            <a:spAutoFit/>
          </a:bodyPr>
          <a:lstStyle/>
          <a:p>
            <a:pPr algn="ctr" marL="176526">
              <a:spcBef>
                <a:spcPts val="131"/>
              </a:spcBef>
            </a:pPr>
            <a:r>
              <a:rPr dirty="0" spc="-51" sz="2500">
                <a:latin typeface="Cambria Math"/>
                <a:cs typeface="Cambria Math"/>
              </a:rPr>
              <a:t>C</a:t>
            </a:r>
            <a:endParaRPr sz="2500">
              <a:latin typeface="Cambria Math"/>
              <a:cs typeface="Cambria Math"/>
            </a:endParaRPr>
          </a:p>
        </p:txBody>
      </p:sp>
      <p:sp>
        <p:nvSpPr>
          <p:cNvPr id="9" name="object 9">
            <a:extLst>
              <a:ext uri="{FF2B5EF4-FFF2-40B4-BE49-F238E27FC236}">
                <a16:creationId xmlns:a16="http://schemas.microsoft.com/office/drawing/2014/main" id="{E1F29536-FFC6-4AB8-9B44-2235F623BD35}"/>
              </a:ext>
            </a:extLst>
          </p:cNvPr>
          <p:cNvSpPr txBox="1"/>
          <p:nvPr/>
        </p:nvSpPr>
        <p:spPr>
          <a:xfrm>
            <a:off x="1164972" y="4238752"/>
            <a:ext cx="194945" cy="1490152"/>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a:p>
            <a:pPr marL="12700">
              <a:spcBef>
                <a:spcPts val="5"/>
              </a:spcBef>
            </a:pPr>
            <a:r>
              <a:rPr dirty="0" spc="-51" sz="2400">
                <a:latin typeface="Cambria Math"/>
                <a:cs typeface="Cambria Math"/>
              </a:rPr>
              <a:t>3</a:t>
            </a:r>
            <a:endParaRPr sz="2400">
              <a:latin typeface="Cambria Math"/>
              <a:cs typeface="Cambria Math"/>
            </a:endParaRPr>
          </a:p>
          <a:p>
            <a:pPr marL="12700"/>
            <a:r>
              <a:rPr dirty="0" spc="-51" sz="2400">
                <a:latin typeface="Cambria Math"/>
                <a:cs typeface="Cambria Math"/>
              </a:rPr>
              <a:t>4</a:t>
            </a:r>
            <a:endParaRPr sz="2400">
              <a:latin typeface="Cambria Math"/>
              <a:cs typeface="Cambria Math"/>
            </a:endParaRPr>
          </a:p>
          <a:p>
            <a:pPr marL="12700"/>
            <a:r>
              <a:rPr dirty="0" spc="-51" sz="2400">
                <a:latin typeface="Cambria Math"/>
                <a:cs typeface="Cambria Math"/>
              </a:rPr>
              <a:t>5</a:t>
            </a:r>
            <a:endParaRPr sz="2400">
              <a:latin typeface="Cambria Math"/>
              <a:cs typeface="Cambria Math"/>
            </a:endParaRPr>
          </a:p>
        </p:txBody>
      </p:sp>
      <p:sp>
        <p:nvSpPr>
          <p:cNvPr id="10" name="object 10">
            <a:extLst>
              <a:ext uri="{FF2B5EF4-FFF2-40B4-BE49-F238E27FC236}">
                <a16:creationId xmlns:a16="http://schemas.microsoft.com/office/drawing/2014/main" id="{2C620490-FBAD-A903-AE17-D85DB0437533}"/>
              </a:ext>
            </a:extLst>
          </p:cNvPr>
          <p:cNvSpPr txBox="1"/>
          <p:nvPr/>
        </p:nvSpPr>
        <p:spPr>
          <a:xfrm>
            <a:off x="1534287" y="4266743"/>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11" name="object 11">
            <a:extLst>
              <a:ext uri="{FF2B5EF4-FFF2-40B4-BE49-F238E27FC236}">
                <a16:creationId xmlns:a16="http://schemas.microsoft.com/office/drawing/2014/main" id="{509913AF-7600-E62A-1063-03784A8E9179}"/>
              </a:ext>
            </a:extLst>
          </p:cNvPr>
          <p:cNvSpPr txBox="1"/>
          <p:nvPr/>
        </p:nvSpPr>
        <p:spPr>
          <a:xfrm>
            <a:off x="2835783" y="4222252"/>
            <a:ext cx="455931" cy="401393"/>
          </a:xfrm>
          <a:prstGeom prst="rect">
            <a:avLst/>
          </a:prstGeom>
        </p:spPr>
        <p:txBody>
          <a:bodyPr bIns="0" lIns="0" numCol="1" rIns="0" rtlCol="0" tIns="16511" vert="horz" wrap="square">
            <a:spAutoFit/>
          </a:bodyPr>
          <a:lstStyle/>
          <a:p>
            <a:pPr marL="123186">
              <a:spcBef>
                <a:spcPts val="131"/>
              </a:spcBef>
            </a:pPr>
            <a:r>
              <a:rPr dirty="0" spc="-51" sz="2500">
                <a:latin typeface="Cambria Math"/>
                <a:cs typeface="Cambria Math"/>
              </a:rPr>
              <a:t>A</a:t>
            </a:r>
            <a:endParaRPr sz="2500">
              <a:latin typeface="Cambria Math"/>
              <a:cs typeface="Cambria Math"/>
            </a:endParaRPr>
          </a:p>
        </p:txBody>
      </p:sp>
      <p:sp>
        <p:nvSpPr>
          <p:cNvPr id="12" name="object 12">
            <a:extLst>
              <a:ext uri="{FF2B5EF4-FFF2-40B4-BE49-F238E27FC236}">
                <a16:creationId xmlns:a16="http://schemas.microsoft.com/office/drawing/2014/main" id="{DFD59732-02C8-31E6-4596-ECCA091DB94C}"/>
              </a:ext>
            </a:extLst>
          </p:cNvPr>
          <p:cNvSpPr txBox="1"/>
          <p:nvPr/>
        </p:nvSpPr>
        <p:spPr>
          <a:xfrm>
            <a:off x="3750184" y="4238752"/>
            <a:ext cx="876300" cy="382156"/>
          </a:xfrm>
          <a:prstGeom prst="rect">
            <a:avLst/>
          </a:prstGeom>
        </p:spPr>
        <p:txBody>
          <a:bodyPr bIns="0" lIns="0" numCol="1" rIns="0" rtlCol="0" tIns="12700" vert="horz" wrap="square">
            <a:spAutoFit/>
          </a:bodyPr>
          <a:lstStyle/>
          <a:p>
            <a:pPr marL="266693">
              <a:spcBef>
                <a:spcPts val="100"/>
              </a:spcBef>
            </a:pPr>
            <a:r>
              <a:rPr dirty="0" spc="-51" sz="2400">
                <a:latin typeface="Cambria Math"/>
                <a:cs typeface="Cambria Math"/>
              </a:rPr>
              <a:t>∅</a:t>
            </a:r>
            <a:endParaRPr sz="2400">
              <a:latin typeface="Cambria Math"/>
              <a:cs typeface="Cambria Math"/>
            </a:endParaRPr>
          </a:p>
        </p:txBody>
      </p:sp>
      <p:sp>
        <p:nvSpPr>
          <p:cNvPr id="13" name="object 13">
            <a:extLst>
              <a:ext uri="{FF2B5EF4-FFF2-40B4-BE49-F238E27FC236}">
                <a16:creationId xmlns:a16="http://schemas.microsoft.com/office/drawing/2014/main" id="{57464F24-1814-9B41-DAC2-6BAD91D6DC44}"/>
              </a:ext>
            </a:extLst>
          </p:cNvPr>
          <p:cNvSpPr txBox="1"/>
          <p:nvPr/>
        </p:nvSpPr>
        <p:spPr>
          <a:xfrm>
            <a:off x="4996560" y="4222252"/>
            <a:ext cx="21209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B</a:t>
            </a:r>
            <a:endParaRPr sz="2500">
              <a:latin typeface="Cambria Math"/>
              <a:cs typeface="Cambria Math"/>
            </a:endParaRPr>
          </a:p>
        </p:txBody>
      </p:sp>
      <p:sp>
        <p:nvSpPr>
          <p:cNvPr id="14" name="object 14">
            <a:extLst>
              <a:ext uri="{FF2B5EF4-FFF2-40B4-BE49-F238E27FC236}">
                <a16:creationId xmlns:a16="http://schemas.microsoft.com/office/drawing/2014/main" id="{CEC989A0-9D8F-0CCC-2F43-DBB4B494A198}"/>
              </a:ext>
            </a:extLst>
          </p:cNvPr>
          <p:cNvSpPr txBox="1"/>
          <p:nvPr/>
        </p:nvSpPr>
        <p:spPr>
          <a:xfrm>
            <a:off x="1534287" y="4611167"/>
            <a:ext cx="1091565" cy="346249"/>
          </a:xfrm>
          <a:prstGeom prst="rect">
            <a:avLst/>
          </a:prstGeom>
          <a:ln w="12191">
            <a:solidFill>
              <a:srgbClr val="6B9F24"/>
            </a:solidFill>
          </a:ln>
        </p:spPr>
        <p:txBody>
          <a:bodyPr bIns="0" lIns="0" numCol="1" rIns="0" rtlCol="0" tIns="0" vert="horz" wrap="square">
            <a:spAutoFit/>
          </a:bodyPr>
          <a:lstStyle/>
          <a:p>
            <a:pPr marL="278758">
              <a:lnSpc>
                <a:spcPts val="2711"/>
              </a:lnSpc>
            </a:pPr>
            <a:r>
              <a:rPr dirty="0" spc="-51" sz="2500">
                <a:latin typeface="Cambria Math"/>
                <a:cs typeface="Cambria Math"/>
              </a:rPr>
              <a:t>A</a:t>
            </a:r>
            <a:endParaRPr sz="2500">
              <a:latin typeface="Cambria Math"/>
              <a:cs typeface="Cambria Math"/>
            </a:endParaRPr>
          </a:p>
        </p:txBody>
      </p:sp>
      <p:sp>
        <p:nvSpPr>
          <p:cNvPr id="15" name="object 16">
            <a:extLst>
              <a:ext uri="{FF2B5EF4-FFF2-40B4-BE49-F238E27FC236}">
                <a16:creationId xmlns:a16="http://schemas.microsoft.com/office/drawing/2014/main" id="{E237DBE9-58C7-C4CB-FD75-210E67D1B432}"/>
              </a:ext>
            </a:extLst>
          </p:cNvPr>
          <p:cNvSpPr txBox="1"/>
          <p:nvPr/>
        </p:nvSpPr>
        <p:spPr>
          <a:xfrm>
            <a:off x="886383" y="8112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6" name="object 17">
            <a:extLst>
              <a:ext uri="{FF2B5EF4-FFF2-40B4-BE49-F238E27FC236}">
                <a16:creationId xmlns:a16="http://schemas.microsoft.com/office/drawing/2014/main" id="{3C339522-D869-7F61-A3D0-3AF7815DD30A}"/>
              </a:ext>
            </a:extLst>
          </p:cNvPr>
          <p:cNvSpPr/>
          <p:nvPr/>
        </p:nvSpPr>
        <p:spPr>
          <a:xfrm>
            <a:off x="1525142" y="3910128"/>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7" name="object 18">
            <a:extLst>
              <a:ext uri="{FF2B5EF4-FFF2-40B4-BE49-F238E27FC236}">
                <a16:creationId xmlns:a16="http://schemas.microsoft.com/office/drawing/2014/main" id="{C00CFF63-6420-7F77-BA4E-B51B3D866675}"/>
              </a:ext>
            </a:extLst>
          </p:cNvPr>
          <p:cNvSpPr txBox="1"/>
          <p:nvPr/>
        </p:nvSpPr>
        <p:spPr>
          <a:xfrm>
            <a:off x="1977898" y="32793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8" name="object 19">
            <a:extLst>
              <a:ext uri="{FF2B5EF4-FFF2-40B4-BE49-F238E27FC236}">
                <a16:creationId xmlns:a16="http://schemas.microsoft.com/office/drawing/2014/main" id="{31BDB5D3-1AF4-C03D-29F5-602C8090423B}"/>
              </a:ext>
            </a:extLst>
          </p:cNvPr>
          <p:cNvSpPr txBox="1"/>
          <p:nvPr/>
        </p:nvSpPr>
        <p:spPr>
          <a:xfrm>
            <a:off x="932409" y="3800147"/>
            <a:ext cx="110489" cy="320601"/>
          </a:xfrm>
          <a:prstGeom prst="rect">
            <a:avLst/>
          </a:prstGeom>
        </p:spPr>
        <p:txBody>
          <a:bodyPr bIns="0" lIns="0" numCol="1" rIns="0" rtlCol="0" tIns="12700" vert="horz" wrap="square">
            <a:spAutoFit/>
          </a:bodyPr>
          <a:lstStyle/>
          <a:p>
            <a:pPr marL="12700">
              <a:spcBef>
                <a:spcPts val="100"/>
              </a:spcBef>
            </a:pPr>
            <a:r>
              <a:rPr b="1" dirty="0" spc="65" sz="2000">
                <a:latin typeface="Arial"/>
                <a:cs typeface="Arial"/>
              </a:rPr>
              <a:t>j</a:t>
            </a:r>
            <a:endParaRPr sz="2000">
              <a:latin typeface="Arial"/>
              <a:cs typeface="Arial"/>
            </a:endParaRPr>
          </a:p>
        </p:txBody>
      </p:sp>
      <p:sp>
        <p:nvSpPr>
          <p:cNvPr id="19" name="object 20">
            <a:extLst>
              <a:ext uri="{FF2B5EF4-FFF2-40B4-BE49-F238E27FC236}">
                <a16:creationId xmlns:a16="http://schemas.microsoft.com/office/drawing/2014/main" id="{C893BA50-8225-1EAE-59EF-F0A39425705D}"/>
              </a:ext>
            </a:extLst>
          </p:cNvPr>
          <p:cNvSpPr txBox="1"/>
          <p:nvPr/>
        </p:nvSpPr>
        <p:spPr>
          <a:xfrm>
            <a:off x="873481" y="3873298"/>
            <a:ext cx="511175" cy="382156"/>
          </a:xfrm>
          <a:prstGeom prst="rect">
            <a:avLst/>
          </a:prstGeom>
        </p:spPr>
        <p:txBody>
          <a:bodyPr bIns="0" lIns="0" numCol="1" rIns="0" rtlCol="0" tIns="12700" vert="horz" wrap="square">
            <a:spAutoFit/>
          </a:bodyPr>
          <a:lstStyle/>
          <a:p>
            <a:pPr marL="38099">
              <a:spcBef>
                <a:spcPts val="100"/>
              </a:spcBef>
            </a:pPr>
            <a:r>
              <a:rPr baseline="-40277" dirty="0" sz="3000">
                <a:latin typeface="Symbol"/>
                <a:cs typeface="Symbol"/>
              </a:rPr>
              <a:t></a:t>
            </a:r>
            <a:r>
              <a:rPr baseline="-40277" dirty="0" spc="577" sz="3000">
                <a:latin typeface="Times New Roman"/>
                <a:cs typeface="Times New Roman"/>
              </a:rPr>
              <a:t> </a:t>
            </a:r>
            <a:r>
              <a:rPr dirty="0" spc="-51" sz="2400">
                <a:latin typeface="Cambria Math"/>
                <a:cs typeface="Cambria Math"/>
              </a:rPr>
              <a:t>1</a:t>
            </a:r>
            <a:endParaRPr sz="2400">
              <a:latin typeface="Cambria Math"/>
              <a:cs typeface="Cambria Math"/>
            </a:endParaRPr>
          </a:p>
        </p:txBody>
      </p:sp>
      <p:sp>
        <p:nvSpPr>
          <p:cNvPr id="20" name="object 21">
            <a:extLst>
              <a:ext uri="{FF2B5EF4-FFF2-40B4-BE49-F238E27FC236}">
                <a16:creationId xmlns:a16="http://schemas.microsoft.com/office/drawing/2014/main" id="{99BD8E53-21AB-9CC1-B07D-56451D0FD1A6}"/>
              </a:ext>
            </a:extLst>
          </p:cNvPr>
          <p:cNvSpPr txBox="1"/>
          <p:nvPr/>
        </p:nvSpPr>
        <p:spPr>
          <a:xfrm>
            <a:off x="1622171" y="30126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21" name="object 22">
            <a:extLst>
              <a:ext uri="{FF2B5EF4-FFF2-40B4-BE49-F238E27FC236}">
                <a16:creationId xmlns:a16="http://schemas.microsoft.com/office/drawing/2014/main" id="{13D700BB-D0B5-EF09-5C69-3AA074C802C1}"/>
              </a:ext>
            </a:extLst>
          </p:cNvPr>
          <p:cNvSpPr txBox="1"/>
          <p:nvPr/>
        </p:nvSpPr>
        <p:spPr>
          <a:xfrm>
            <a:off x="3908425" y="28645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22" name="object 23">
            <a:extLst>
              <a:ext uri="{FF2B5EF4-FFF2-40B4-BE49-F238E27FC236}">
                <a16:creationId xmlns:a16="http://schemas.microsoft.com/office/drawing/2014/main" id="{B985005D-9B73-71F0-3E58-BF2C64DD809B}"/>
              </a:ext>
            </a:extLst>
          </p:cNvPr>
          <p:cNvSpPr txBox="1"/>
          <p:nvPr/>
        </p:nvSpPr>
        <p:spPr>
          <a:xfrm>
            <a:off x="5051426" y="28645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23" name="object 24">
            <a:extLst>
              <a:ext uri="{FF2B5EF4-FFF2-40B4-BE49-F238E27FC236}">
                <a16:creationId xmlns:a16="http://schemas.microsoft.com/office/drawing/2014/main" id="{2FB646D4-4886-2101-1385-CA3148096C7B}"/>
              </a:ext>
            </a:extLst>
          </p:cNvPr>
          <p:cNvSpPr txBox="1"/>
          <p:nvPr/>
        </p:nvSpPr>
        <p:spPr>
          <a:xfrm>
            <a:off x="6018021" y="28645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24" name="object 25">
            <a:extLst>
              <a:ext uri="{FF2B5EF4-FFF2-40B4-BE49-F238E27FC236}">
                <a16:creationId xmlns:a16="http://schemas.microsoft.com/office/drawing/2014/main" id="{7F99DF94-4C84-D028-F5E3-993BDDBF5E0D}"/>
              </a:ext>
            </a:extLst>
          </p:cNvPr>
          <p:cNvSpPr txBox="1"/>
          <p:nvPr/>
        </p:nvSpPr>
        <p:spPr>
          <a:xfrm>
            <a:off x="4114800" y="723900"/>
            <a:ext cx="5634355" cy="1120820"/>
          </a:xfrm>
          <a:prstGeom prst="rect">
            <a:avLst/>
          </a:prstGeom>
        </p:spPr>
        <p:txBody>
          <a:bodyPr bIns="0" lIns="0" numCol="1" rIns="0" rtlCol="0" tIns="12700" vert="horz" wrap="square">
            <a:spAutoFit/>
          </a:bodyPr>
          <a:lstStyle/>
          <a:p>
            <a:pPr algn="just" marL="12700" marR="5080">
              <a:spcBef>
                <a:spcPts val="100"/>
              </a:spcBef>
            </a:pPr>
            <a:r>
              <a:rPr dirty="0" sz="2400">
                <a:latin typeface="Palatino Linotype"/>
                <a:cs typeface="Palatino Linotype"/>
              </a:rPr>
              <a:t>Now,</a:t>
            </a:r>
            <a:r>
              <a:rPr dirty="0" spc="-31" sz="2400">
                <a:latin typeface="Palatino Linotype"/>
                <a:cs typeface="Palatino Linotype"/>
              </a:rPr>
              <a:t> </a:t>
            </a:r>
            <a:r>
              <a:rPr dirty="0" sz="2400">
                <a:latin typeface="Palatino Linotype"/>
                <a:cs typeface="Palatino Linotype"/>
              </a:rPr>
              <a:t>we</a:t>
            </a:r>
            <a:r>
              <a:rPr dirty="0" spc="-51" sz="2400">
                <a:latin typeface="Palatino Linotype"/>
                <a:cs typeface="Palatino Linotype"/>
              </a:rPr>
              <a:t> </a:t>
            </a:r>
            <a:r>
              <a:rPr dirty="0" sz="2400">
                <a:latin typeface="Palatino Linotype"/>
                <a:cs typeface="Palatino Linotype"/>
              </a:rPr>
              <a:t>are</a:t>
            </a:r>
            <a:r>
              <a:rPr dirty="0" spc="-35" sz="2400">
                <a:latin typeface="Palatino Linotype"/>
                <a:cs typeface="Palatino Linotype"/>
              </a:rPr>
              <a:t> </a:t>
            </a:r>
            <a:r>
              <a:rPr dirty="0" sz="2400">
                <a:latin typeface="Palatino Linotype"/>
                <a:cs typeface="Palatino Linotype"/>
              </a:rPr>
              <a:t>looking</a:t>
            </a:r>
            <a:r>
              <a:rPr dirty="0" spc="-11" sz="2400">
                <a:latin typeface="Palatino Linotype"/>
                <a:cs typeface="Palatino Linotype"/>
              </a:rPr>
              <a:t> </a:t>
            </a:r>
            <a:r>
              <a:rPr dirty="0" sz="2400">
                <a:latin typeface="Palatino Linotype"/>
                <a:cs typeface="Palatino Linotype"/>
              </a:rPr>
              <a:t>for</a:t>
            </a:r>
            <a:r>
              <a:rPr dirty="0" spc="-35" sz="2400">
                <a:latin typeface="Palatino Linotype"/>
                <a:cs typeface="Palatino Linotype"/>
              </a:rPr>
              <a:t> </a:t>
            </a:r>
            <a:r>
              <a:rPr dirty="0" sz="2400">
                <a:latin typeface="Palatino Linotype"/>
                <a:cs typeface="Palatino Linotype"/>
              </a:rPr>
              <a:t>productions</a:t>
            </a:r>
            <a:r>
              <a:rPr dirty="0" spc="-35" sz="2400">
                <a:latin typeface="Palatino Linotype"/>
                <a:cs typeface="Palatino Linotype"/>
              </a:rPr>
              <a:t> </a:t>
            </a:r>
            <a:r>
              <a:rPr dirty="0" spc="-20" sz="2400">
                <a:latin typeface="Palatino Linotype"/>
                <a:cs typeface="Palatino Linotype"/>
              </a:rPr>
              <a:t>that </a:t>
            </a:r>
            <a:r>
              <a:rPr dirty="0" sz="2400">
                <a:latin typeface="Palatino Linotype"/>
                <a:cs typeface="Palatino Linotype"/>
              </a:rPr>
              <a:t>produce</a:t>
            </a:r>
            <a:r>
              <a:rPr dirty="0" spc="-31" sz="2400">
                <a:latin typeface="Palatino Linotype"/>
                <a:cs typeface="Palatino Linotype"/>
              </a:rPr>
              <a:t> </a:t>
            </a:r>
            <a:r>
              <a:rPr dirty="0" sz="2400">
                <a:latin typeface="Palatino Linotype"/>
                <a:cs typeface="Palatino Linotype"/>
              </a:rPr>
              <a:t>an</a:t>
            </a:r>
            <a:r>
              <a:rPr dirty="0" spc="-15" sz="2400">
                <a:latin typeface="Palatino Linotype"/>
                <a:cs typeface="Palatino Linotype"/>
              </a:rPr>
              <a:t> </a:t>
            </a:r>
            <a:r>
              <a:rPr dirty="0" sz="2400">
                <a:latin typeface="Cambria Math"/>
                <a:cs typeface="Cambria Math"/>
              </a:rPr>
              <a:t>𝐴</a:t>
            </a:r>
            <a:r>
              <a:rPr dirty="0" spc="75" sz="2400">
                <a:latin typeface="Cambria Math"/>
                <a:cs typeface="Cambria Math"/>
              </a:rPr>
              <a:t> </a:t>
            </a:r>
            <a:r>
              <a:rPr dirty="0" sz="2400">
                <a:latin typeface="Palatino Linotype"/>
                <a:cs typeface="Palatino Linotype"/>
              </a:rPr>
              <a:t>followed</a:t>
            </a:r>
            <a:r>
              <a:rPr dirty="0" spc="-15" sz="2400">
                <a:latin typeface="Palatino Linotype"/>
                <a:cs typeface="Palatino Linotype"/>
              </a:rPr>
              <a:t> </a:t>
            </a:r>
            <a:r>
              <a:rPr dirty="0" sz="2400">
                <a:latin typeface="Palatino Linotype"/>
                <a:cs typeface="Palatino Linotype"/>
              </a:rPr>
              <a:t>by</a:t>
            </a:r>
            <a:r>
              <a:rPr dirty="0" spc="-31" sz="2400">
                <a:latin typeface="Palatino Linotype"/>
                <a:cs typeface="Palatino Linotype"/>
              </a:rPr>
              <a:t> </a:t>
            </a:r>
            <a:r>
              <a:rPr dirty="0" sz="2400">
                <a:latin typeface="Palatino Linotype"/>
                <a:cs typeface="Palatino Linotype"/>
              </a:rPr>
              <a:t>a</a:t>
            </a:r>
            <a:r>
              <a:rPr dirty="0" spc="-20" sz="2400">
                <a:latin typeface="Palatino Linotype"/>
                <a:cs typeface="Palatino Linotype"/>
              </a:rPr>
              <a:t> </a:t>
            </a:r>
            <a:r>
              <a:rPr dirty="0" spc="51" sz="2400">
                <a:latin typeface="Cambria Math"/>
                <a:cs typeface="Cambria Math"/>
              </a:rPr>
              <a:t>𝐶</a:t>
            </a:r>
            <a:r>
              <a:rPr dirty="0" spc="51" sz="2400">
                <a:latin typeface="Palatino Linotype"/>
                <a:cs typeface="Palatino Linotype"/>
              </a:rPr>
              <a:t>.</a:t>
            </a:r>
            <a:r>
              <a:rPr dirty="0" spc="560" sz="2400">
                <a:latin typeface="Palatino Linotype"/>
                <a:cs typeface="Palatino Linotype"/>
              </a:rPr>
              <a:t> </a:t>
            </a:r>
            <a:r>
              <a:rPr dirty="0" spc="-11" sz="2400">
                <a:latin typeface="Palatino Linotype"/>
                <a:cs typeface="Palatino Linotype"/>
              </a:rPr>
              <a:t>However, </a:t>
            </a:r>
            <a:r>
              <a:rPr dirty="0" sz="2400">
                <a:latin typeface="Palatino Linotype"/>
                <a:cs typeface="Palatino Linotype"/>
              </a:rPr>
              <a:t>there</a:t>
            </a:r>
            <a:r>
              <a:rPr dirty="0" spc="-71" sz="2400">
                <a:latin typeface="Palatino Linotype"/>
                <a:cs typeface="Palatino Linotype"/>
              </a:rPr>
              <a:t> </a:t>
            </a:r>
            <a:r>
              <a:rPr dirty="0" sz="2400">
                <a:latin typeface="Palatino Linotype"/>
                <a:cs typeface="Palatino Linotype"/>
              </a:rPr>
              <a:t>aren’t</a:t>
            </a:r>
            <a:r>
              <a:rPr dirty="0" spc="-75" sz="2400">
                <a:latin typeface="Palatino Linotype"/>
                <a:cs typeface="Palatino Linotype"/>
              </a:rPr>
              <a:t> </a:t>
            </a:r>
            <a:r>
              <a:rPr dirty="0" spc="-20" sz="2400">
                <a:latin typeface="Palatino Linotype"/>
                <a:cs typeface="Palatino Linotype"/>
              </a:rPr>
              <a:t>any.</a:t>
            </a:r>
            <a:endParaRPr sz="2400">
              <a:latin typeface="Palatino Linotype"/>
              <a:cs typeface="Palatino Linotype"/>
            </a:endParaRPr>
          </a:p>
        </p:txBody>
      </p:sp>
      <p:grpSp>
        <p:nvGrpSpPr>
          <p:cNvPr id="25" name="object 26">
            <a:extLst>
              <a:ext uri="{FF2B5EF4-FFF2-40B4-BE49-F238E27FC236}">
                <a16:creationId xmlns:a16="http://schemas.microsoft.com/office/drawing/2014/main" id="{DEB74702-9F12-0524-59C3-A853A2451BF3}"/>
              </a:ext>
            </a:extLst>
          </p:cNvPr>
          <p:cNvGrpSpPr/>
          <p:nvPr/>
        </p:nvGrpSpPr>
        <p:grpSpPr>
          <a:xfrm>
            <a:off x="2797684" y="2277670"/>
            <a:ext cx="8759191" cy="3408679"/>
            <a:chOff x="2127504" y="2851150"/>
            <a:chExt cx="8759190" cy="3408679"/>
          </a:xfrm>
        </p:grpSpPr>
        <p:sp>
          <p:nvSpPr>
            <p:cNvPr id="26" name="object 27">
              <a:extLst>
                <a:ext uri="{FF2B5EF4-FFF2-40B4-BE49-F238E27FC236}">
                  <a16:creationId xmlns:a16="http://schemas.microsoft.com/office/drawing/2014/main" id="{D9381CF7-F09C-C3FF-4C9E-BFF9B185F8A7}"/>
                </a:ext>
              </a:extLst>
            </p:cNvPr>
            <p:cNvSpPr/>
            <p:nvPr/>
          </p:nvSpPr>
          <p:spPr>
            <a:xfrm>
              <a:off x="6134862" y="2861310"/>
              <a:ext cx="4191000" cy="1173480"/>
            </a:xfrm>
            <a:custGeom>
              <a:avLst/>
              <a:gdLst/>
              <a:ahLst/>
              <a:cxnLst/>
              <a:rect b="b" l="l" r="r" t="t"/>
              <a:pathLst>
                <a:path h="1173479" w="4191000">
                  <a:moveTo>
                    <a:pt x="4050030" y="0"/>
                  </a:moveTo>
                  <a:lnTo>
                    <a:pt x="140970" y="0"/>
                  </a:lnTo>
                  <a:lnTo>
                    <a:pt x="96414" y="7187"/>
                  </a:lnTo>
                  <a:lnTo>
                    <a:pt x="57716" y="27200"/>
                  </a:lnTo>
                  <a:lnTo>
                    <a:pt x="27200" y="57716"/>
                  </a:lnTo>
                  <a:lnTo>
                    <a:pt x="7187" y="96414"/>
                  </a:lnTo>
                  <a:lnTo>
                    <a:pt x="0" y="140969"/>
                  </a:lnTo>
                  <a:lnTo>
                    <a:pt x="0" y="1032509"/>
                  </a:lnTo>
                  <a:lnTo>
                    <a:pt x="7187" y="1077065"/>
                  </a:lnTo>
                  <a:lnTo>
                    <a:pt x="27200" y="1115763"/>
                  </a:lnTo>
                  <a:lnTo>
                    <a:pt x="57716" y="1146279"/>
                  </a:lnTo>
                  <a:lnTo>
                    <a:pt x="96414" y="1166292"/>
                  </a:lnTo>
                  <a:lnTo>
                    <a:pt x="140970" y="1173479"/>
                  </a:lnTo>
                  <a:lnTo>
                    <a:pt x="4050030" y="1173479"/>
                  </a:lnTo>
                  <a:lnTo>
                    <a:pt x="4094585" y="1166292"/>
                  </a:lnTo>
                  <a:lnTo>
                    <a:pt x="4133283" y="1146279"/>
                  </a:lnTo>
                  <a:lnTo>
                    <a:pt x="4163799" y="1115763"/>
                  </a:lnTo>
                  <a:lnTo>
                    <a:pt x="4183812" y="1077065"/>
                  </a:lnTo>
                  <a:lnTo>
                    <a:pt x="4190999" y="1032509"/>
                  </a:lnTo>
                  <a:lnTo>
                    <a:pt x="4190999" y="140969"/>
                  </a:lnTo>
                  <a:lnTo>
                    <a:pt x="4183812" y="96414"/>
                  </a:lnTo>
                  <a:lnTo>
                    <a:pt x="4163799" y="57716"/>
                  </a:lnTo>
                  <a:lnTo>
                    <a:pt x="4133283" y="27200"/>
                  </a:lnTo>
                  <a:lnTo>
                    <a:pt x="4094585" y="7187"/>
                  </a:lnTo>
                  <a:lnTo>
                    <a:pt x="4050030" y="0"/>
                  </a:lnTo>
                  <a:close/>
                </a:path>
              </a:pathLst>
            </a:custGeom>
            <a:solidFill>
              <a:srgbClr val="3493B9"/>
            </a:solidFill>
          </p:spPr>
          <p:txBody>
            <a:bodyPr bIns="0" lIns="0" numCol="1" rIns="0" rtlCol="0" tIns="0" wrap="square"/>
            <a:lstStyle/>
            <a:p>
              <a:endParaRPr/>
            </a:p>
          </p:txBody>
        </p:sp>
        <p:sp>
          <p:nvSpPr>
            <p:cNvPr id="27" name="object 28">
              <a:extLst>
                <a:ext uri="{FF2B5EF4-FFF2-40B4-BE49-F238E27FC236}">
                  <a16:creationId xmlns:a16="http://schemas.microsoft.com/office/drawing/2014/main" id="{776C2B7A-DE68-ABDB-2039-D901574E5DE9}"/>
                </a:ext>
              </a:extLst>
            </p:cNvPr>
            <p:cNvSpPr/>
            <p:nvPr/>
          </p:nvSpPr>
          <p:spPr>
            <a:xfrm>
              <a:off x="6134862" y="2861310"/>
              <a:ext cx="4191000" cy="1173480"/>
            </a:xfrm>
            <a:custGeom>
              <a:avLst/>
              <a:gdLst/>
              <a:ahLst/>
              <a:cxnLst/>
              <a:rect b="b" l="l" r="r" t="t"/>
              <a:pathLst>
                <a:path h="1173479" w="4191000">
                  <a:moveTo>
                    <a:pt x="0" y="140969"/>
                  </a:moveTo>
                  <a:lnTo>
                    <a:pt x="7187" y="96414"/>
                  </a:lnTo>
                  <a:lnTo>
                    <a:pt x="27200" y="57716"/>
                  </a:lnTo>
                  <a:lnTo>
                    <a:pt x="57716" y="27200"/>
                  </a:lnTo>
                  <a:lnTo>
                    <a:pt x="96414" y="7187"/>
                  </a:lnTo>
                  <a:lnTo>
                    <a:pt x="140970" y="0"/>
                  </a:lnTo>
                  <a:lnTo>
                    <a:pt x="4050030" y="0"/>
                  </a:lnTo>
                  <a:lnTo>
                    <a:pt x="4094585" y="7187"/>
                  </a:lnTo>
                  <a:lnTo>
                    <a:pt x="4133283" y="27200"/>
                  </a:lnTo>
                  <a:lnTo>
                    <a:pt x="4163799" y="57716"/>
                  </a:lnTo>
                  <a:lnTo>
                    <a:pt x="4183812" y="96414"/>
                  </a:lnTo>
                  <a:lnTo>
                    <a:pt x="4190999" y="140969"/>
                  </a:lnTo>
                  <a:lnTo>
                    <a:pt x="4190999" y="1032509"/>
                  </a:lnTo>
                  <a:lnTo>
                    <a:pt x="4183812" y="1077065"/>
                  </a:lnTo>
                  <a:lnTo>
                    <a:pt x="4163799" y="1115763"/>
                  </a:lnTo>
                  <a:lnTo>
                    <a:pt x="4133283" y="1146279"/>
                  </a:lnTo>
                  <a:lnTo>
                    <a:pt x="4094585" y="1166292"/>
                  </a:lnTo>
                  <a:lnTo>
                    <a:pt x="4050030" y="1173479"/>
                  </a:lnTo>
                  <a:lnTo>
                    <a:pt x="140970" y="1173479"/>
                  </a:lnTo>
                  <a:lnTo>
                    <a:pt x="96414" y="1166292"/>
                  </a:lnTo>
                  <a:lnTo>
                    <a:pt x="57716" y="1146279"/>
                  </a:lnTo>
                  <a:lnTo>
                    <a:pt x="27200" y="1115763"/>
                  </a:lnTo>
                  <a:lnTo>
                    <a:pt x="7187" y="1077065"/>
                  </a:lnTo>
                  <a:lnTo>
                    <a:pt x="0" y="1032509"/>
                  </a:lnTo>
                  <a:lnTo>
                    <a:pt x="0" y="140969"/>
                  </a:lnTo>
                  <a:close/>
                </a:path>
              </a:pathLst>
            </a:custGeom>
            <a:ln w="19812">
              <a:solidFill>
                <a:srgbClr val="226B87"/>
              </a:solidFill>
            </a:ln>
          </p:spPr>
          <p:txBody>
            <a:bodyPr bIns="0" lIns="0" numCol="1" rIns="0" rtlCol="0" tIns="0" wrap="square"/>
            <a:lstStyle/>
            <a:p>
              <a:endParaRPr/>
            </a:p>
          </p:txBody>
        </p:sp>
        <p:sp>
          <p:nvSpPr>
            <p:cNvPr id="28" name="object 29">
              <a:extLst>
                <a:ext uri="{FF2B5EF4-FFF2-40B4-BE49-F238E27FC236}">
                  <a16:creationId xmlns:a16="http://schemas.microsoft.com/office/drawing/2014/main" id="{526B1475-8997-4510-A9D9-97446C69440C}"/>
                </a:ext>
              </a:extLst>
            </p:cNvPr>
            <p:cNvSpPr/>
            <p:nvPr/>
          </p:nvSpPr>
          <p:spPr>
            <a:xfrm>
              <a:off x="2640330" y="3428978"/>
              <a:ext cx="3514725" cy="1604010"/>
            </a:xfrm>
            <a:custGeom>
              <a:avLst/>
              <a:gdLst/>
              <a:ahLst/>
              <a:cxnLst/>
              <a:rect b="b" l="l" r="r" t="t"/>
              <a:pathLst>
                <a:path h="1604010" w="3514725">
                  <a:moveTo>
                    <a:pt x="80644" y="1499637"/>
                  </a:moveTo>
                  <a:lnTo>
                    <a:pt x="0" y="1598824"/>
                  </a:lnTo>
                  <a:lnTo>
                    <a:pt x="127634" y="1603777"/>
                  </a:lnTo>
                  <a:lnTo>
                    <a:pt x="116298" y="1578653"/>
                  </a:lnTo>
                  <a:lnTo>
                    <a:pt x="87274" y="1578653"/>
                  </a:lnTo>
                  <a:lnTo>
                    <a:pt x="80089" y="1577409"/>
                  </a:lnTo>
                  <a:lnTo>
                    <a:pt x="73880" y="1573569"/>
                  </a:lnTo>
                  <a:lnTo>
                    <a:pt x="69468" y="1567455"/>
                  </a:lnTo>
                  <a:lnTo>
                    <a:pt x="67778" y="1560042"/>
                  </a:lnTo>
                  <a:lnTo>
                    <a:pt x="68992" y="1552819"/>
                  </a:lnTo>
                  <a:lnTo>
                    <a:pt x="72826" y="1546596"/>
                  </a:lnTo>
                  <a:lnTo>
                    <a:pt x="78993" y="1542182"/>
                  </a:lnTo>
                  <a:lnTo>
                    <a:pt x="96310" y="1534355"/>
                  </a:lnTo>
                  <a:lnTo>
                    <a:pt x="80644" y="1499637"/>
                  </a:lnTo>
                  <a:close/>
                </a:path>
                <a:path h="1604010" w="3514725">
                  <a:moveTo>
                    <a:pt x="96310" y="1534355"/>
                  </a:moveTo>
                  <a:lnTo>
                    <a:pt x="78993" y="1542182"/>
                  </a:lnTo>
                  <a:lnTo>
                    <a:pt x="72826" y="1546596"/>
                  </a:lnTo>
                  <a:lnTo>
                    <a:pt x="68992" y="1552819"/>
                  </a:lnTo>
                  <a:lnTo>
                    <a:pt x="67778" y="1560042"/>
                  </a:lnTo>
                  <a:lnTo>
                    <a:pt x="69468" y="1567455"/>
                  </a:lnTo>
                  <a:lnTo>
                    <a:pt x="73880" y="1573569"/>
                  </a:lnTo>
                  <a:lnTo>
                    <a:pt x="80089" y="1577409"/>
                  </a:lnTo>
                  <a:lnTo>
                    <a:pt x="87274" y="1578653"/>
                  </a:lnTo>
                  <a:lnTo>
                    <a:pt x="94614" y="1576980"/>
                  </a:lnTo>
                  <a:lnTo>
                    <a:pt x="111998" y="1569123"/>
                  </a:lnTo>
                  <a:lnTo>
                    <a:pt x="96310" y="1534355"/>
                  </a:lnTo>
                  <a:close/>
                </a:path>
                <a:path h="1604010" w="3514725">
                  <a:moveTo>
                    <a:pt x="111998" y="1569123"/>
                  </a:moveTo>
                  <a:lnTo>
                    <a:pt x="94614" y="1576980"/>
                  </a:lnTo>
                  <a:lnTo>
                    <a:pt x="87274" y="1578653"/>
                  </a:lnTo>
                  <a:lnTo>
                    <a:pt x="116298" y="1578653"/>
                  </a:lnTo>
                  <a:lnTo>
                    <a:pt x="111998" y="1569123"/>
                  </a:lnTo>
                  <a:close/>
                </a:path>
                <a:path h="1604010" w="3514725">
                  <a:moveTo>
                    <a:pt x="3494706" y="0"/>
                  </a:moveTo>
                  <a:lnTo>
                    <a:pt x="3487293" y="1672"/>
                  </a:lnTo>
                  <a:lnTo>
                    <a:pt x="96310" y="1534355"/>
                  </a:lnTo>
                  <a:lnTo>
                    <a:pt x="111998" y="1569123"/>
                  </a:lnTo>
                  <a:lnTo>
                    <a:pt x="3503041" y="36470"/>
                  </a:lnTo>
                  <a:lnTo>
                    <a:pt x="3509154" y="32057"/>
                  </a:lnTo>
                  <a:lnTo>
                    <a:pt x="3512994" y="25834"/>
                  </a:lnTo>
                  <a:lnTo>
                    <a:pt x="3514238" y="18611"/>
                  </a:lnTo>
                  <a:lnTo>
                    <a:pt x="3512566" y="11197"/>
                  </a:lnTo>
                  <a:lnTo>
                    <a:pt x="3508152" y="5083"/>
                  </a:lnTo>
                  <a:lnTo>
                    <a:pt x="3501929" y="1244"/>
                  </a:lnTo>
                  <a:lnTo>
                    <a:pt x="3494706" y="0"/>
                  </a:lnTo>
                  <a:close/>
                </a:path>
              </a:pathLst>
            </a:custGeom>
            <a:solidFill>
              <a:srgbClr val="3493B9"/>
            </a:solidFill>
          </p:spPr>
          <p:txBody>
            <a:bodyPr bIns="0" lIns="0" numCol="1" rIns="0" rtlCol="0" tIns="0" wrap="square"/>
            <a:lstStyle/>
            <a:p>
              <a:endParaRPr/>
            </a:p>
          </p:txBody>
        </p:sp>
        <p:sp>
          <p:nvSpPr>
            <p:cNvPr id="29" name="object 30">
              <a:extLst>
                <a:ext uri="{FF2B5EF4-FFF2-40B4-BE49-F238E27FC236}">
                  <a16:creationId xmlns:a16="http://schemas.microsoft.com/office/drawing/2014/main" id="{931E93E0-AD53-3FD4-3578-52E279B77EC3}"/>
                </a:ext>
              </a:extLst>
            </p:cNvPr>
            <p:cNvSpPr/>
            <p:nvPr/>
          </p:nvSpPr>
          <p:spPr>
            <a:xfrm>
              <a:off x="2146554" y="4880610"/>
              <a:ext cx="494030" cy="295910"/>
            </a:xfrm>
            <a:custGeom>
              <a:avLst/>
              <a:gdLst/>
              <a:ahLst/>
              <a:cxnLst/>
              <a:rect b="b" l="l" r="r" t="t"/>
              <a:pathLst>
                <a:path h="295910" w="494030">
                  <a:moveTo>
                    <a:pt x="0" y="295656"/>
                  </a:moveTo>
                  <a:lnTo>
                    <a:pt x="493775" y="295656"/>
                  </a:lnTo>
                  <a:lnTo>
                    <a:pt x="493775" y="0"/>
                  </a:lnTo>
                  <a:lnTo>
                    <a:pt x="0" y="0"/>
                  </a:lnTo>
                  <a:lnTo>
                    <a:pt x="0" y="295656"/>
                  </a:lnTo>
                  <a:close/>
                </a:path>
              </a:pathLst>
            </a:custGeom>
            <a:ln w="38100">
              <a:solidFill>
                <a:srgbClr val="226B87"/>
              </a:solidFill>
            </a:ln>
          </p:spPr>
          <p:txBody>
            <a:bodyPr bIns="0" lIns="0" numCol="1" rIns="0" rtlCol="0" tIns="0" wrap="square"/>
            <a:lstStyle/>
            <a:p>
              <a:endParaRPr/>
            </a:p>
          </p:txBody>
        </p:sp>
        <p:sp>
          <p:nvSpPr>
            <p:cNvPr id="30" name="object 31">
              <a:extLst>
                <a:ext uri="{FF2B5EF4-FFF2-40B4-BE49-F238E27FC236}">
                  <a16:creationId xmlns:a16="http://schemas.microsoft.com/office/drawing/2014/main" id="{E3921EB1-D0CF-06C7-4D99-CA87D1BEAEB8}"/>
                </a:ext>
              </a:extLst>
            </p:cNvPr>
            <p:cNvSpPr/>
            <p:nvPr/>
          </p:nvSpPr>
          <p:spPr>
            <a:xfrm>
              <a:off x="6134862" y="4161282"/>
              <a:ext cx="4741545" cy="2087880"/>
            </a:xfrm>
            <a:custGeom>
              <a:avLst/>
              <a:gdLst/>
              <a:ahLst/>
              <a:cxnLst/>
              <a:rect b="b" l="l" r="r" t="t"/>
              <a:pathLst>
                <a:path h="2087879" w="4741545">
                  <a:moveTo>
                    <a:pt x="4393184" y="0"/>
                  </a:moveTo>
                  <a:lnTo>
                    <a:pt x="347979" y="0"/>
                  </a:lnTo>
                  <a:lnTo>
                    <a:pt x="300768" y="3177"/>
                  </a:lnTo>
                  <a:lnTo>
                    <a:pt x="255484" y="12432"/>
                  </a:lnTo>
                  <a:lnTo>
                    <a:pt x="212544" y="27350"/>
                  </a:lnTo>
                  <a:lnTo>
                    <a:pt x="172362" y="47516"/>
                  </a:lnTo>
                  <a:lnTo>
                    <a:pt x="135353" y="72516"/>
                  </a:lnTo>
                  <a:lnTo>
                    <a:pt x="101933" y="101933"/>
                  </a:lnTo>
                  <a:lnTo>
                    <a:pt x="72516" y="135353"/>
                  </a:lnTo>
                  <a:lnTo>
                    <a:pt x="47516" y="172362"/>
                  </a:lnTo>
                  <a:lnTo>
                    <a:pt x="27350" y="212544"/>
                  </a:lnTo>
                  <a:lnTo>
                    <a:pt x="12432" y="255484"/>
                  </a:lnTo>
                  <a:lnTo>
                    <a:pt x="3177" y="300768"/>
                  </a:lnTo>
                  <a:lnTo>
                    <a:pt x="0" y="347980"/>
                  </a:lnTo>
                  <a:lnTo>
                    <a:pt x="0" y="1739887"/>
                  </a:lnTo>
                  <a:lnTo>
                    <a:pt x="3177" y="1787107"/>
                  </a:lnTo>
                  <a:lnTo>
                    <a:pt x="12432" y="1832396"/>
                  </a:lnTo>
                  <a:lnTo>
                    <a:pt x="27350" y="1875340"/>
                  </a:lnTo>
                  <a:lnTo>
                    <a:pt x="47516" y="1915525"/>
                  </a:lnTo>
                  <a:lnTo>
                    <a:pt x="72516" y="1952534"/>
                  </a:lnTo>
                  <a:lnTo>
                    <a:pt x="101933" y="1985954"/>
                  </a:lnTo>
                  <a:lnTo>
                    <a:pt x="135353" y="2015370"/>
                  </a:lnTo>
                  <a:lnTo>
                    <a:pt x="172362" y="2040368"/>
                  </a:lnTo>
                  <a:lnTo>
                    <a:pt x="212544" y="2060532"/>
                  </a:lnTo>
                  <a:lnTo>
                    <a:pt x="255484" y="2075449"/>
                  </a:lnTo>
                  <a:lnTo>
                    <a:pt x="300768" y="2084703"/>
                  </a:lnTo>
                  <a:lnTo>
                    <a:pt x="347979" y="2087880"/>
                  </a:lnTo>
                  <a:lnTo>
                    <a:pt x="4393184" y="2087880"/>
                  </a:lnTo>
                  <a:lnTo>
                    <a:pt x="4440395" y="2084703"/>
                  </a:lnTo>
                  <a:lnTo>
                    <a:pt x="4485679" y="2075449"/>
                  </a:lnTo>
                  <a:lnTo>
                    <a:pt x="4528619" y="2060532"/>
                  </a:lnTo>
                  <a:lnTo>
                    <a:pt x="4568801" y="2040368"/>
                  </a:lnTo>
                  <a:lnTo>
                    <a:pt x="4605810" y="2015370"/>
                  </a:lnTo>
                  <a:lnTo>
                    <a:pt x="4639230" y="1985954"/>
                  </a:lnTo>
                  <a:lnTo>
                    <a:pt x="4668647" y="1952534"/>
                  </a:lnTo>
                  <a:lnTo>
                    <a:pt x="4693647" y="1915525"/>
                  </a:lnTo>
                  <a:lnTo>
                    <a:pt x="4713813" y="1875340"/>
                  </a:lnTo>
                  <a:lnTo>
                    <a:pt x="4728731" y="1832396"/>
                  </a:lnTo>
                  <a:lnTo>
                    <a:pt x="4737986" y="1787107"/>
                  </a:lnTo>
                  <a:lnTo>
                    <a:pt x="4741164" y="1739887"/>
                  </a:lnTo>
                  <a:lnTo>
                    <a:pt x="4741164" y="347980"/>
                  </a:lnTo>
                  <a:lnTo>
                    <a:pt x="4737986" y="300768"/>
                  </a:lnTo>
                  <a:lnTo>
                    <a:pt x="4728731" y="255484"/>
                  </a:lnTo>
                  <a:lnTo>
                    <a:pt x="4713813" y="212544"/>
                  </a:lnTo>
                  <a:lnTo>
                    <a:pt x="4693647" y="172362"/>
                  </a:lnTo>
                  <a:lnTo>
                    <a:pt x="4668647" y="135353"/>
                  </a:lnTo>
                  <a:lnTo>
                    <a:pt x="4639230" y="101933"/>
                  </a:lnTo>
                  <a:lnTo>
                    <a:pt x="4605810" y="72516"/>
                  </a:lnTo>
                  <a:lnTo>
                    <a:pt x="4568801" y="47516"/>
                  </a:lnTo>
                  <a:lnTo>
                    <a:pt x="4528619" y="27350"/>
                  </a:lnTo>
                  <a:lnTo>
                    <a:pt x="4485679" y="12432"/>
                  </a:lnTo>
                  <a:lnTo>
                    <a:pt x="4440395" y="3177"/>
                  </a:lnTo>
                  <a:lnTo>
                    <a:pt x="4393184" y="0"/>
                  </a:lnTo>
                  <a:close/>
                </a:path>
              </a:pathLst>
            </a:custGeom>
            <a:solidFill>
              <a:srgbClr val="3493B9"/>
            </a:solidFill>
          </p:spPr>
          <p:txBody>
            <a:bodyPr bIns="0" lIns="0" numCol="1" rIns="0" rtlCol="0" tIns="0" wrap="square"/>
            <a:lstStyle/>
            <a:p>
              <a:endParaRPr/>
            </a:p>
          </p:txBody>
        </p:sp>
        <p:sp>
          <p:nvSpPr>
            <p:cNvPr id="31" name="object 32">
              <a:extLst>
                <a:ext uri="{FF2B5EF4-FFF2-40B4-BE49-F238E27FC236}">
                  <a16:creationId xmlns:a16="http://schemas.microsoft.com/office/drawing/2014/main" id="{349CA1F3-9CE2-A245-144D-EA6571173B3D}"/>
                </a:ext>
              </a:extLst>
            </p:cNvPr>
            <p:cNvSpPr/>
            <p:nvPr/>
          </p:nvSpPr>
          <p:spPr>
            <a:xfrm>
              <a:off x="6134862" y="4161282"/>
              <a:ext cx="4741545" cy="2087880"/>
            </a:xfrm>
            <a:custGeom>
              <a:avLst/>
              <a:gdLst/>
              <a:ahLst/>
              <a:cxnLst/>
              <a:rect b="b" l="l" r="r" t="t"/>
              <a:pathLst>
                <a:path h="2087879" w="4741545">
                  <a:moveTo>
                    <a:pt x="0" y="347980"/>
                  </a:moveTo>
                  <a:lnTo>
                    <a:pt x="3177" y="300768"/>
                  </a:lnTo>
                  <a:lnTo>
                    <a:pt x="12432" y="255484"/>
                  </a:lnTo>
                  <a:lnTo>
                    <a:pt x="27350" y="212544"/>
                  </a:lnTo>
                  <a:lnTo>
                    <a:pt x="47516" y="172362"/>
                  </a:lnTo>
                  <a:lnTo>
                    <a:pt x="72516" y="135353"/>
                  </a:lnTo>
                  <a:lnTo>
                    <a:pt x="101933" y="101933"/>
                  </a:lnTo>
                  <a:lnTo>
                    <a:pt x="135353" y="72516"/>
                  </a:lnTo>
                  <a:lnTo>
                    <a:pt x="172362" y="47516"/>
                  </a:lnTo>
                  <a:lnTo>
                    <a:pt x="212544" y="27350"/>
                  </a:lnTo>
                  <a:lnTo>
                    <a:pt x="255484" y="12432"/>
                  </a:lnTo>
                  <a:lnTo>
                    <a:pt x="300768" y="3177"/>
                  </a:lnTo>
                  <a:lnTo>
                    <a:pt x="347979" y="0"/>
                  </a:lnTo>
                  <a:lnTo>
                    <a:pt x="4393184" y="0"/>
                  </a:lnTo>
                  <a:lnTo>
                    <a:pt x="4440395" y="3177"/>
                  </a:lnTo>
                  <a:lnTo>
                    <a:pt x="4485679" y="12432"/>
                  </a:lnTo>
                  <a:lnTo>
                    <a:pt x="4528619" y="27350"/>
                  </a:lnTo>
                  <a:lnTo>
                    <a:pt x="4568801" y="47516"/>
                  </a:lnTo>
                  <a:lnTo>
                    <a:pt x="4605810" y="72516"/>
                  </a:lnTo>
                  <a:lnTo>
                    <a:pt x="4639230" y="101933"/>
                  </a:lnTo>
                  <a:lnTo>
                    <a:pt x="4668647" y="135353"/>
                  </a:lnTo>
                  <a:lnTo>
                    <a:pt x="4693647" y="172362"/>
                  </a:lnTo>
                  <a:lnTo>
                    <a:pt x="4713813" y="212544"/>
                  </a:lnTo>
                  <a:lnTo>
                    <a:pt x="4728731" y="255484"/>
                  </a:lnTo>
                  <a:lnTo>
                    <a:pt x="4737986" y="300768"/>
                  </a:lnTo>
                  <a:lnTo>
                    <a:pt x="4741164" y="347980"/>
                  </a:lnTo>
                  <a:lnTo>
                    <a:pt x="4741164" y="1739887"/>
                  </a:lnTo>
                  <a:lnTo>
                    <a:pt x="4737986" y="1787107"/>
                  </a:lnTo>
                  <a:lnTo>
                    <a:pt x="4728731" y="1832396"/>
                  </a:lnTo>
                  <a:lnTo>
                    <a:pt x="4713813" y="1875340"/>
                  </a:lnTo>
                  <a:lnTo>
                    <a:pt x="4693647" y="1915525"/>
                  </a:lnTo>
                  <a:lnTo>
                    <a:pt x="4668647" y="1952534"/>
                  </a:lnTo>
                  <a:lnTo>
                    <a:pt x="4639230" y="1985954"/>
                  </a:lnTo>
                  <a:lnTo>
                    <a:pt x="4605810" y="2015370"/>
                  </a:lnTo>
                  <a:lnTo>
                    <a:pt x="4568801" y="2040368"/>
                  </a:lnTo>
                  <a:lnTo>
                    <a:pt x="4528619" y="2060532"/>
                  </a:lnTo>
                  <a:lnTo>
                    <a:pt x="4485679" y="2075449"/>
                  </a:lnTo>
                  <a:lnTo>
                    <a:pt x="4440395" y="2084703"/>
                  </a:lnTo>
                  <a:lnTo>
                    <a:pt x="4393184" y="2087880"/>
                  </a:lnTo>
                  <a:lnTo>
                    <a:pt x="347979" y="2087880"/>
                  </a:lnTo>
                  <a:lnTo>
                    <a:pt x="300768" y="2084703"/>
                  </a:lnTo>
                  <a:lnTo>
                    <a:pt x="255484" y="2075449"/>
                  </a:lnTo>
                  <a:lnTo>
                    <a:pt x="212544" y="2060532"/>
                  </a:lnTo>
                  <a:lnTo>
                    <a:pt x="172362" y="2040368"/>
                  </a:lnTo>
                  <a:lnTo>
                    <a:pt x="135353" y="2015370"/>
                  </a:lnTo>
                  <a:lnTo>
                    <a:pt x="101933" y="1985954"/>
                  </a:lnTo>
                  <a:lnTo>
                    <a:pt x="72516" y="1952534"/>
                  </a:lnTo>
                  <a:lnTo>
                    <a:pt x="47516" y="1915525"/>
                  </a:lnTo>
                  <a:lnTo>
                    <a:pt x="27350" y="1875340"/>
                  </a:lnTo>
                  <a:lnTo>
                    <a:pt x="12432" y="1832396"/>
                  </a:lnTo>
                  <a:lnTo>
                    <a:pt x="3177" y="1787107"/>
                  </a:lnTo>
                  <a:lnTo>
                    <a:pt x="0" y="1739887"/>
                  </a:lnTo>
                  <a:lnTo>
                    <a:pt x="0" y="347980"/>
                  </a:lnTo>
                  <a:close/>
                </a:path>
              </a:pathLst>
            </a:custGeom>
            <a:ln w="19812">
              <a:solidFill>
                <a:srgbClr val="226B87"/>
              </a:solidFill>
            </a:ln>
          </p:spPr>
          <p:txBody>
            <a:bodyPr bIns="0" lIns="0" numCol="1" rIns="0" rtlCol="0" tIns="0" wrap="square"/>
            <a:lstStyle/>
            <a:p>
              <a:endParaRPr/>
            </a:p>
          </p:txBody>
        </p:sp>
      </p:grpSp>
      <p:sp>
        <p:nvSpPr>
          <p:cNvPr id="32" name="object 33">
            <a:extLst>
              <a:ext uri="{FF2B5EF4-FFF2-40B4-BE49-F238E27FC236}">
                <a16:creationId xmlns:a16="http://schemas.microsoft.com/office/drawing/2014/main" id="{A79EB70C-1E92-BD70-2BE9-C70A524AE7D8}"/>
              </a:ext>
            </a:extLst>
          </p:cNvPr>
          <p:cNvSpPr txBox="1"/>
          <p:nvPr/>
        </p:nvSpPr>
        <p:spPr>
          <a:xfrm>
            <a:off x="7038467" y="2291716"/>
            <a:ext cx="4251325" cy="3262432"/>
          </a:xfrm>
          <a:prstGeom prst="rect">
            <a:avLst/>
          </a:prstGeom>
        </p:spPr>
        <p:txBody>
          <a:bodyPr bIns="0" lIns="0" numCol="1" rIns="0" rtlCol="0" tIns="12700" vert="horz" wrap="square">
            <a:spAutoFit/>
          </a:bodyPr>
          <a:lstStyle/>
          <a:p>
            <a:pPr algn="ctr" marL="12700" marR="533387">
              <a:spcBef>
                <a:spcPts val="100"/>
              </a:spcBef>
            </a:pPr>
            <a:r>
              <a:rPr dirty="0" sz="2400">
                <a:solidFill>
                  <a:srgbClr val="FFFFFF"/>
                </a:solidFill>
                <a:latin typeface="Palatino Linotype"/>
                <a:cs typeface="Palatino Linotype"/>
              </a:rPr>
              <a:t>A</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produced</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by</a:t>
            </a:r>
            <a:r>
              <a:rPr dirty="0" spc="-31" sz="2400">
                <a:solidFill>
                  <a:srgbClr val="FFFFFF"/>
                </a:solidFill>
                <a:latin typeface="Palatino Linotype"/>
                <a:cs typeface="Palatino Linotype"/>
              </a:rPr>
              <a:t> </a:t>
            </a:r>
            <a:r>
              <a:rPr dirty="0" spc="-51" sz="2400">
                <a:solidFill>
                  <a:srgbClr val="FFFFFF"/>
                </a:solidFill>
                <a:latin typeface="Palatino Linotype"/>
                <a:cs typeface="Palatino Linotype"/>
              </a:rPr>
              <a:t>a </a:t>
            </a:r>
            <a:r>
              <a:rPr dirty="0" sz="2400">
                <a:solidFill>
                  <a:srgbClr val="FFFFFF"/>
                </a:solidFill>
                <a:latin typeface="Palatino Linotype"/>
                <a:cs typeface="Palatino Linotype"/>
              </a:rPr>
              <a:t>variable</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cell</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2,2</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starts</a:t>
            </a:r>
            <a:r>
              <a:rPr dirty="0" spc="-20" sz="2400">
                <a:solidFill>
                  <a:srgbClr val="FFFFFF"/>
                </a:solidFill>
                <a:latin typeface="Palatino Linotype"/>
                <a:cs typeface="Palatino Linotype"/>
              </a:rPr>
              <a:t> </a:t>
            </a:r>
            <a:r>
              <a:rPr dirty="0" spc="-25" sz="2400">
                <a:solidFill>
                  <a:srgbClr val="FFFFFF"/>
                </a:solidFill>
                <a:latin typeface="Palatino Linotype"/>
                <a:cs typeface="Palatino Linotype"/>
              </a:rPr>
              <a:t>at </a:t>
            </a:r>
            <a:r>
              <a:rPr dirty="0" sz="2400">
                <a:solidFill>
                  <a:srgbClr val="FFFFFF"/>
                </a:solidFill>
                <a:latin typeface="Palatino Linotype"/>
                <a:cs typeface="Palatino Linotype"/>
              </a:rPr>
              <a:t>position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2</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and</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has</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5" sz="2400">
                <a:solidFill>
                  <a:srgbClr val="FFFFFF"/>
                </a:solidFill>
                <a:latin typeface="Palatino Linotype"/>
                <a:cs typeface="Palatino Linotype"/>
              </a:rPr>
              <a:t> </a:t>
            </a:r>
            <a:r>
              <a:rPr dirty="0" spc="-25" sz="2400">
                <a:solidFill>
                  <a:srgbClr val="FFFFFF"/>
                </a:solidFill>
                <a:latin typeface="Palatino Linotype"/>
                <a:cs typeface="Palatino Linotype"/>
              </a:rPr>
              <a:t>2.</a:t>
            </a:r>
            <a:endParaRPr sz="2400">
              <a:latin typeface="Palatino Linotype"/>
              <a:cs typeface="Palatino Linotype"/>
            </a:endParaRPr>
          </a:p>
          <a:p>
            <a:pPr algn="just" indent="144776" marL="33654" marR="5080">
              <a:spcBef>
                <a:spcPts val="2315"/>
              </a:spcBef>
            </a:pPr>
            <a:r>
              <a:rPr dirty="0" sz="2400">
                <a:solidFill>
                  <a:srgbClr val="FFFFFF"/>
                </a:solidFill>
                <a:latin typeface="Palatino Linotype"/>
                <a:cs typeface="Palatino Linotype"/>
              </a:rPr>
              <a:t>So,</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to</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get</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25" sz="2400">
                <a:solidFill>
                  <a:srgbClr val="FFFFFF"/>
                </a:solidFill>
                <a:latin typeface="Palatino Linotype"/>
                <a:cs typeface="Palatino Linotype"/>
              </a:rPr>
              <a:t> 3, </a:t>
            </a:r>
            <a:r>
              <a:rPr dirty="0" sz="2400">
                <a:solidFill>
                  <a:srgbClr val="FFFFFF"/>
                </a:solidFill>
                <a:latin typeface="Palatino Linotype"/>
                <a:cs typeface="Palatino Linotype"/>
              </a:rPr>
              <a:t>we</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need</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15" sz="2400">
                <a:solidFill>
                  <a:srgbClr val="FFFFFF"/>
                </a:solidFill>
                <a:latin typeface="Palatino Linotype"/>
                <a:cs typeface="Palatino Linotype"/>
              </a:rPr>
              <a:t> </a:t>
            </a:r>
            <a:r>
              <a:rPr dirty="0" sz="2400">
                <a:solidFill>
                  <a:srgbClr val="FFFFFF"/>
                </a:solidFill>
                <a:latin typeface="Palatino Linotype"/>
                <a:cs typeface="Palatino Linotype"/>
              </a:rPr>
              <a:t>that</a:t>
            </a:r>
            <a:r>
              <a:rPr dirty="0" spc="-5" sz="2400">
                <a:solidFill>
                  <a:srgbClr val="FFFFFF"/>
                </a:solidFill>
                <a:latin typeface="Palatino Linotype"/>
                <a:cs typeface="Palatino Linotype"/>
              </a:rPr>
              <a:t> </a:t>
            </a:r>
            <a:r>
              <a:rPr dirty="0" sz="2400">
                <a:solidFill>
                  <a:srgbClr val="FFFFFF"/>
                </a:solidFill>
                <a:latin typeface="Palatino Linotype"/>
                <a:cs typeface="Palatino Linotype"/>
              </a:rPr>
              <a:t>starts</a:t>
            </a:r>
            <a:r>
              <a:rPr dirty="0" spc="-15" sz="2400">
                <a:solidFill>
                  <a:srgbClr val="FFFFFF"/>
                </a:solidFill>
                <a:latin typeface="Palatino Linotype"/>
                <a:cs typeface="Palatino Linotype"/>
              </a:rPr>
              <a:t> </a:t>
            </a:r>
            <a:r>
              <a:rPr dirty="0" spc="-25" sz="2400">
                <a:solidFill>
                  <a:srgbClr val="FFFFFF"/>
                </a:solidFill>
                <a:latin typeface="Palatino Linotype"/>
                <a:cs typeface="Palatino Linotype"/>
              </a:rPr>
              <a:t>at </a:t>
            </a:r>
            <a:r>
              <a:rPr dirty="0" sz="2400">
                <a:solidFill>
                  <a:srgbClr val="FFFFFF"/>
                </a:solidFill>
                <a:latin typeface="Palatino Linotype"/>
                <a:cs typeface="Palatino Linotype"/>
              </a:rPr>
              <a:t>position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4</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and</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11" sz="2400">
                <a:solidFill>
                  <a:srgbClr val="FFFFFF"/>
                </a:solidFill>
                <a:latin typeface="Palatino Linotype"/>
                <a:cs typeface="Palatino Linotype"/>
              </a:rPr>
              <a:t> </a:t>
            </a:r>
            <a:r>
              <a:rPr dirty="0" spc="-25" sz="2400">
                <a:solidFill>
                  <a:srgbClr val="FFFFFF"/>
                </a:solidFill>
                <a:latin typeface="Palatino Linotype"/>
                <a:cs typeface="Palatino Linotype"/>
              </a:rPr>
              <a:t>1. </a:t>
            </a:r>
            <a:r>
              <a:rPr dirty="0" sz="2400">
                <a:solidFill>
                  <a:srgbClr val="FFFFFF"/>
                </a:solidFill>
                <a:latin typeface="Palatino Linotype"/>
                <a:cs typeface="Palatino Linotype"/>
              </a:rPr>
              <a:t>Such</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strings</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are</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produced</a:t>
            </a:r>
            <a:r>
              <a:rPr dirty="0" spc="-45" sz="2400">
                <a:solidFill>
                  <a:srgbClr val="FFFFFF"/>
                </a:solidFill>
                <a:latin typeface="Palatino Linotype"/>
                <a:cs typeface="Palatino Linotype"/>
              </a:rPr>
              <a:t> </a:t>
            </a:r>
            <a:r>
              <a:rPr dirty="0" spc="-25" sz="2400">
                <a:solidFill>
                  <a:srgbClr val="FFFFFF"/>
                </a:solidFill>
                <a:latin typeface="Palatino Linotype"/>
                <a:cs typeface="Palatino Linotype"/>
              </a:rPr>
              <a:t>by </a:t>
            </a:r>
            <a:r>
              <a:rPr dirty="0" sz="2400">
                <a:solidFill>
                  <a:srgbClr val="FFFFFF"/>
                </a:solidFill>
                <a:latin typeface="Palatino Linotype"/>
                <a:cs typeface="Palatino Linotype"/>
              </a:rPr>
              <a:t>variables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cell</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4,1</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15" sz="2400">
                <a:solidFill>
                  <a:srgbClr val="FFFFFF"/>
                </a:solidFill>
                <a:latin typeface="Palatino Linotype"/>
                <a:cs typeface="Palatino Linotype"/>
              </a:rPr>
              <a:t> </a:t>
            </a:r>
            <a:r>
              <a:rPr dirty="0" spc="-11" sz="2400">
                <a:solidFill>
                  <a:srgbClr val="FFFFFF"/>
                </a:solidFill>
                <a:latin typeface="Palatino Linotype"/>
                <a:cs typeface="Palatino Linotype"/>
              </a:rPr>
              <a:t>table.</a:t>
            </a:r>
            <a:endParaRPr sz="2400">
              <a:latin typeface="Palatino Linotype"/>
              <a:cs typeface="Palatino Linotype"/>
            </a:endParaRPr>
          </a:p>
        </p:txBody>
      </p:sp>
      <p:grpSp>
        <p:nvGrpSpPr>
          <p:cNvPr id="33" name="object 34">
            <a:extLst>
              <a:ext uri="{FF2B5EF4-FFF2-40B4-BE49-F238E27FC236}">
                <a16:creationId xmlns:a16="http://schemas.microsoft.com/office/drawing/2014/main" id="{43985039-F205-9ACE-4F91-04B3DB92A207}"/>
              </a:ext>
            </a:extLst>
          </p:cNvPr>
          <p:cNvGrpSpPr/>
          <p:nvPr/>
        </p:nvGrpSpPr>
        <p:grpSpPr>
          <a:xfrm>
            <a:off x="4888611" y="3917748"/>
            <a:ext cx="1936115" cy="732155"/>
            <a:chOff x="4218432" y="4491228"/>
            <a:chExt cx="1936114" cy="732155"/>
          </a:xfrm>
        </p:grpSpPr>
        <p:sp>
          <p:nvSpPr>
            <p:cNvPr id="34" name="object 35">
              <a:extLst>
                <a:ext uri="{FF2B5EF4-FFF2-40B4-BE49-F238E27FC236}">
                  <a16:creationId xmlns:a16="http://schemas.microsoft.com/office/drawing/2014/main" id="{80F777A4-A4B2-C292-B4EE-D9434121465C}"/>
                </a:ext>
              </a:extLst>
            </p:cNvPr>
            <p:cNvSpPr/>
            <p:nvPr/>
          </p:nvSpPr>
          <p:spPr>
            <a:xfrm>
              <a:off x="4731258" y="4646295"/>
              <a:ext cx="1423035" cy="577215"/>
            </a:xfrm>
            <a:custGeom>
              <a:avLst/>
              <a:gdLst/>
              <a:ahLst/>
              <a:cxnLst/>
              <a:rect b="b" l="l" r="r" t="t"/>
              <a:pathLst>
                <a:path h="577214" w="1423035">
                  <a:moveTo>
                    <a:pt x="113455" y="35511"/>
                  </a:moveTo>
                  <a:lnTo>
                    <a:pt x="99652" y="71036"/>
                  </a:lnTo>
                  <a:lnTo>
                    <a:pt x="1396745" y="575690"/>
                  </a:lnTo>
                  <a:lnTo>
                    <a:pt x="1404185" y="576986"/>
                  </a:lnTo>
                  <a:lnTo>
                    <a:pt x="1411303" y="575389"/>
                  </a:lnTo>
                  <a:lnTo>
                    <a:pt x="1417302" y="571244"/>
                  </a:lnTo>
                  <a:lnTo>
                    <a:pt x="1421383" y="564895"/>
                  </a:lnTo>
                  <a:lnTo>
                    <a:pt x="1422679" y="557456"/>
                  </a:lnTo>
                  <a:lnTo>
                    <a:pt x="1421082" y="550338"/>
                  </a:lnTo>
                  <a:lnTo>
                    <a:pt x="1416937" y="544339"/>
                  </a:lnTo>
                  <a:lnTo>
                    <a:pt x="1410589" y="540257"/>
                  </a:lnTo>
                  <a:lnTo>
                    <a:pt x="113455" y="35511"/>
                  </a:lnTo>
                  <a:close/>
                </a:path>
                <a:path h="577214" w="1423035">
                  <a:moveTo>
                    <a:pt x="127253" y="0"/>
                  </a:moveTo>
                  <a:lnTo>
                    <a:pt x="0" y="11810"/>
                  </a:lnTo>
                  <a:lnTo>
                    <a:pt x="85851" y="106552"/>
                  </a:lnTo>
                  <a:lnTo>
                    <a:pt x="99652" y="71036"/>
                  </a:lnTo>
                  <a:lnTo>
                    <a:pt x="81914" y="64134"/>
                  </a:lnTo>
                  <a:lnTo>
                    <a:pt x="75493" y="60053"/>
                  </a:lnTo>
                  <a:lnTo>
                    <a:pt x="71310" y="54054"/>
                  </a:lnTo>
                  <a:lnTo>
                    <a:pt x="69699" y="46936"/>
                  </a:lnTo>
                  <a:lnTo>
                    <a:pt x="70992" y="39496"/>
                  </a:lnTo>
                  <a:lnTo>
                    <a:pt x="75074" y="33075"/>
                  </a:lnTo>
                  <a:lnTo>
                    <a:pt x="81073" y="28892"/>
                  </a:lnTo>
                  <a:lnTo>
                    <a:pt x="88191" y="27281"/>
                  </a:lnTo>
                  <a:lnTo>
                    <a:pt x="116653" y="27281"/>
                  </a:lnTo>
                  <a:lnTo>
                    <a:pt x="127253" y="0"/>
                  </a:lnTo>
                  <a:close/>
                </a:path>
                <a:path h="577214" w="1423035">
                  <a:moveTo>
                    <a:pt x="88191" y="27281"/>
                  </a:moveTo>
                  <a:lnTo>
                    <a:pt x="81073" y="28892"/>
                  </a:lnTo>
                  <a:lnTo>
                    <a:pt x="75074" y="33075"/>
                  </a:lnTo>
                  <a:lnTo>
                    <a:pt x="70992" y="39496"/>
                  </a:lnTo>
                  <a:lnTo>
                    <a:pt x="69699" y="46936"/>
                  </a:lnTo>
                  <a:lnTo>
                    <a:pt x="71310" y="54054"/>
                  </a:lnTo>
                  <a:lnTo>
                    <a:pt x="75493" y="60053"/>
                  </a:lnTo>
                  <a:lnTo>
                    <a:pt x="81914" y="64134"/>
                  </a:lnTo>
                  <a:lnTo>
                    <a:pt x="99652" y="71036"/>
                  </a:lnTo>
                  <a:lnTo>
                    <a:pt x="113455" y="35511"/>
                  </a:lnTo>
                  <a:lnTo>
                    <a:pt x="95630" y="28574"/>
                  </a:lnTo>
                  <a:lnTo>
                    <a:pt x="88191" y="27281"/>
                  </a:lnTo>
                  <a:close/>
                </a:path>
                <a:path h="577214" w="1423035">
                  <a:moveTo>
                    <a:pt x="116653" y="27281"/>
                  </a:moveTo>
                  <a:lnTo>
                    <a:pt x="88191" y="27281"/>
                  </a:lnTo>
                  <a:lnTo>
                    <a:pt x="95630" y="28574"/>
                  </a:lnTo>
                  <a:lnTo>
                    <a:pt x="113455" y="35511"/>
                  </a:lnTo>
                  <a:lnTo>
                    <a:pt x="116653" y="27281"/>
                  </a:lnTo>
                  <a:close/>
                </a:path>
              </a:pathLst>
            </a:custGeom>
            <a:solidFill>
              <a:srgbClr val="3493B9"/>
            </a:solidFill>
          </p:spPr>
          <p:txBody>
            <a:bodyPr bIns="0" lIns="0" numCol="1" rIns="0" rtlCol="0" tIns="0" wrap="square"/>
            <a:lstStyle/>
            <a:p>
              <a:endParaRPr/>
            </a:p>
          </p:txBody>
        </p:sp>
        <p:sp>
          <p:nvSpPr>
            <p:cNvPr id="35" name="object 36">
              <a:extLst>
                <a:ext uri="{FF2B5EF4-FFF2-40B4-BE49-F238E27FC236}">
                  <a16:creationId xmlns:a16="http://schemas.microsoft.com/office/drawing/2014/main" id="{87E88BE2-D6AF-CBEC-B155-792DBD2BA26B}"/>
                </a:ext>
              </a:extLst>
            </p:cNvPr>
            <p:cNvSpPr/>
            <p:nvPr/>
          </p:nvSpPr>
          <p:spPr>
            <a:xfrm>
              <a:off x="4237482" y="4510278"/>
              <a:ext cx="494030" cy="297180"/>
            </a:xfrm>
            <a:custGeom>
              <a:avLst/>
              <a:gdLst/>
              <a:ahLst/>
              <a:cxnLst/>
              <a:rect b="b" l="l" r="r" t="t"/>
              <a:pathLst>
                <a:path h="297179" w="494029">
                  <a:moveTo>
                    <a:pt x="0" y="297180"/>
                  </a:moveTo>
                  <a:lnTo>
                    <a:pt x="493775" y="297180"/>
                  </a:lnTo>
                  <a:lnTo>
                    <a:pt x="493775" y="0"/>
                  </a:lnTo>
                  <a:lnTo>
                    <a:pt x="0" y="0"/>
                  </a:lnTo>
                  <a:lnTo>
                    <a:pt x="0" y="297180"/>
                  </a:lnTo>
                  <a:close/>
                </a:path>
              </a:pathLst>
            </a:custGeom>
            <a:ln w="38100">
              <a:solidFill>
                <a:srgbClr val="226B87"/>
              </a:solidFill>
            </a:ln>
          </p:spPr>
          <p:txBody>
            <a:bodyPr bIns="0" lIns="0" numCol="1" rIns="0" rtlCol="0" tIns="0" wrap="square"/>
            <a:lstStyle/>
            <a:p>
              <a:endParaRPr/>
            </a:p>
          </p:txBody>
        </p:sp>
      </p:grpSp>
      <p:sp>
        <p:nvSpPr>
          <p:cNvPr id="36" name="object 37">
            <a:extLst>
              <a:ext uri="{FF2B5EF4-FFF2-40B4-BE49-F238E27FC236}">
                <a16:creationId xmlns:a16="http://schemas.microsoft.com/office/drawing/2014/main" id="{B1526BD9-C3E3-F55E-12CB-610AF74AC4E1}"/>
              </a:ext>
            </a:extLst>
          </p:cNvPr>
          <p:cNvSpPr/>
          <p:nvPr/>
        </p:nvSpPr>
        <p:spPr>
          <a:xfrm>
            <a:off x="2680336" y="4637074"/>
            <a:ext cx="1036319" cy="302260"/>
          </a:xfrm>
          <a:custGeom>
            <a:avLst/>
            <a:gdLst/>
            <a:ahLst/>
            <a:cxnLst/>
            <a:rect b="b" l="l" r="r" t="t"/>
            <a:pathLst>
              <a:path h="302260" w="1036319">
                <a:moveTo>
                  <a:pt x="1036319" y="0"/>
                </a:moveTo>
                <a:lnTo>
                  <a:pt x="0" y="0"/>
                </a:lnTo>
                <a:lnTo>
                  <a:pt x="0" y="301752"/>
                </a:lnTo>
                <a:lnTo>
                  <a:pt x="1036319" y="301752"/>
                </a:lnTo>
                <a:lnTo>
                  <a:pt x="1036319" y="0"/>
                </a:lnTo>
                <a:close/>
              </a:path>
            </a:pathLst>
          </a:custGeom>
          <a:solidFill>
            <a:srgbClr val="FF0000"/>
          </a:solidFill>
        </p:spPr>
        <p:txBody>
          <a:bodyPr bIns="0" lIns="0" numCol="1" rIns="0" rtlCol="0" tIns="0" wrap="square"/>
          <a:lstStyle/>
          <a:p>
            <a:endParaRPr/>
          </a:p>
        </p:txBody>
      </p:sp>
    </p:spTree>
    <p:extLst>
      <p:ext uri="{BB962C8B-B14F-4D97-AF65-F5344CB8AC3E}">
        <p14:creationId xmlns:p14="http://schemas.microsoft.com/office/powerpoint/2010/main" val="15520455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BD8E8F0-6DFD-67E4-07F3-20CD10D36A39}"/>
              </a:ext>
            </a:extLst>
          </p:cNvPr>
          <p:cNvSpPr txBox="1"/>
          <p:nvPr/>
        </p:nvSpPr>
        <p:spPr>
          <a:xfrm>
            <a:off x="1115821" y="382879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14">
            <a:extLst>
              <a:ext uri="{FF2B5EF4-FFF2-40B4-BE49-F238E27FC236}">
                <a16:creationId xmlns:a16="http://schemas.microsoft.com/office/drawing/2014/main" id="{02FFEB98-D23E-678A-C84D-DAECB613A27F}"/>
              </a:ext>
            </a:extLst>
          </p:cNvPr>
          <p:cNvSpPr txBox="1">
            <a:spLocks/>
          </p:cNvSpPr>
          <p:nvPr/>
        </p:nvSpPr>
        <p:spPr>
          <a:xfrm>
            <a:off x="5116830" y="369957"/>
            <a:ext cx="5491734" cy="2167260"/>
          </a:xfrm>
          <a:prstGeom prst="rect">
            <a:avLst/>
          </a:prstGeom>
        </p:spPr>
        <p:txBody>
          <a:bodyPr bIns="0" lIns="0" numCol="1" rIns="0" rtlCol="0" tIns="12700" vert="horz" wrap="square">
            <a:sp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F0502020204030204" pitchFamily="34" typeface="Calibri"/>
              <a:buChar char=" "/>
              <a:defRPr kern="1200" sz="20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charset="0" pitchFamily="34" typeface="Calibri"/>
              <a:buChar char="◦"/>
              <a:defRPr kern="1200" sz="18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charset="0" pitchFamily="34" typeface="Calibri"/>
              <a:buChar char="◦"/>
              <a:defRPr kern="1200" sz="1400">
                <a:solidFill>
                  <a:schemeClr val="tx1">
                    <a:lumMod val="75000"/>
                    <a:lumOff val="25000"/>
                  </a:schemeClr>
                </a:solidFill>
                <a:latin typeface="+mn-lt"/>
                <a:ea typeface="+mn-ea"/>
                <a:cs typeface="+mn-cs"/>
              </a:defRPr>
            </a:lvl9pPr>
          </a:lstStyle>
          <a:p>
            <a:pPr marL="12700" marR="5080">
              <a:lnSpc>
                <a:spcPct val="100000"/>
              </a:lnSpc>
              <a:spcBef>
                <a:spcPts val="100"/>
              </a:spcBef>
            </a:pPr>
            <a:r>
              <a:rPr lang="en-US"/>
              <a:t>We</a:t>
            </a:r>
            <a:r>
              <a:rPr lang="en-US" spc="-25"/>
              <a:t> </a:t>
            </a:r>
            <a:r>
              <a:rPr lang="en-US"/>
              <a:t>weren’t</a:t>
            </a:r>
            <a:r>
              <a:rPr lang="en-US" spc="-20"/>
              <a:t> </a:t>
            </a:r>
            <a:r>
              <a:rPr lang="en-US"/>
              <a:t>able</a:t>
            </a:r>
            <a:r>
              <a:rPr lang="en-US" spc="-45"/>
              <a:t> </a:t>
            </a:r>
            <a:r>
              <a:rPr lang="en-US"/>
              <a:t>to</a:t>
            </a:r>
            <a:r>
              <a:rPr lang="en-US" spc="-20"/>
              <a:t> </a:t>
            </a:r>
            <a:r>
              <a:rPr lang="en-US"/>
              <a:t>find</a:t>
            </a:r>
            <a:r>
              <a:rPr lang="en-US" spc="-20"/>
              <a:t> </a:t>
            </a:r>
            <a:r>
              <a:rPr lang="en-US"/>
              <a:t>any</a:t>
            </a:r>
            <a:r>
              <a:rPr lang="en-US" spc="-15"/>
              <a:t> </a:t>
            </a:r>
            <a:r>
              <a:rPr lang="en-US"/>
              <a:t>productions</a:t>
            </a:r>
            <a:r>
              <a:rPr lang="en-US" spc="-25"/>
              <a:t> for </a:t>
            </a:r>
            <a:r>
              <a:rPr lang="en-US"/>
              <a:t>this</a:t>
            </a:r>
            <a:r>
              <a:rPr lang="en-US" spc="-31"/>
              <a:t> </a:t>
            </a:r>
            <a:r>
              <a:rPr lang="en-US"/>
              <a:t>cell,</a:t>
            </a:r>
            <a:r>
              <a:rPr lang="en-US" spc="-40"/>
              <a:t> </a:t>
            </a:r>
            <a:r>
              <a:rPr lang="en-US"/>
              <a:t>so</a:t>
            </a:r>
            <a:r>
              <a:rPr lang="en-US" spc="-35"/>
              <a:t> </a:t>
            </a:r>
            <a:r>
              <a:rPr lang="en-US"/>
              <a:t>we’ll</a:t>
            </a:r>
            <a:r>
              <a:rPr lang="en-US" spc="-55"/>
              <a:t> </a:t>
            </a:r>
            <a:r>
              <a:rPr lang="en-US"/>
              <a:t>just</a:t>
            </a:r>
            <a:r>
              <a:rPr lang="en-US" spc="-45"/>
              <a:t> </a:t>
            </a:r>
            <a:r>
              <a:rPr lang="en-US"/>
              <a:t>indicate</a:t>
            </a:r>
            <a:r>
              <a:rPr lang="en-US" spc="-40"/>
              <a:t> </a:t>
            </a:r>
            <a:r>
              <a:rPr lang="en-US"/>
              <a:t>that</a:t>
            </a:r>
            <a:r>
              <a:rPr lang="en-US" spc="-25"/>
              <a:t> </a:t>
            </a:r>
            <a:r>
              <a:rPr lang="en-US"/>
              <a:t>the</a:t>
            </a:r>
            <a:r>
              <a:rPr lang="en-US" spc="-31"/>
              <a:t> </a:t>
            </a:r>
            <a:r>
              <a:rPr lang="en-US"/>
              <a:t>“set</a:t>
            </a:r>
            <a:r>
              <a:rPr lang="en-US" spc="-40"/>
              <a:t> </a:t>
            </a:r>
            <a:r>
              <a:rPr lang="en-US" spc="-25"/>
              <a:t>of </a:t>
            </a:r>
            <a:r>
              <a:rPr lang="en-US"/>
              <a:t>variables</a:t>
            </a:r>
            <a:r>
              <a:rPr lang="en-US" spc="-60"/>
              <a:t> </a:t>
            </a:r>
            <a:r>
              <a:rPr lang="en-US"/>
              <a:t>producing</a:t>
            </a:r>
            <a:r>
              <a:rPr lang="en-US" spc="-40"/>
              <a:t> </a:t>
            </a:r>
            <a:r>
              <a:rPr lang="en-US"/>
              <a:t>substrings</a:t>
            </a:r>
            <a:r>
              <a:rPr lang="en-US" spc="-51"/>
              <a:t> </a:t>
            </a:r>
            <a:r>
              <a:rPr lang="en-US"/>
              <a:t>of</a:t>
            </a:r>
            <a:r>
              <a:rPr lang="en-US" spc="-45"/>
              <a:t> </a:t>
            </a:r>
            <a:r>
              <a:rPr lang="en-US"/>
              <a:t>length</a:t>
            </a:r>
            <a:r>
              <a:rPr lang="en-US" spc="-35"/>
              <a:t> </a:t>
            </a:r>
            <a:r>
              <a:rPr lang="en-US" spc="-51"/>
              <a:t>3 </a:t>
            </a:r>
            <a:r>
              <a:rPr lang="en-US"/>
              <a:t>starting</a:t>
            </a:r>
            <a:r>
              <a:rPr lang="en-US" spc="-31"/>
              <a:t> </a:t>
            </a:r>
            <a:r>
              <a:rPr lang="en-US"/>
              <a:t>at</a:t>
            </a:r>
            <a:r>
              <a:rPr lang="en-US" spc="-40"/>
              <a:t> </a:t>
            </a:r>
            <a:r>
              <a:rPr lang="en-US"/>
              <a:t>position</a:t>
            </a:r>
            <a:r>
              <a:rPr lang="en-US" spc="-35"/>
              <a:t> </a:t>
            </a:r>
            <a:r>
              <a:rPr lang="en-US"/>
              <a:t>2”</a:t>
            </a:r>
            <a:r>
              <a:rPr lang="en-US" spc="-45"/>
              <a:t> </a:t>
            </a:r>
            <a:r>
              <a:rPr lang="en-US"/>
              <a:t>is</a:t>
            </a:r>
            <a:r>
              <a:rPr lang="en-US" spc="-60"/>
              <a:t> </a:t>
            </a:r>
            <a:r>
              <a:rPr lang="en-US" spc="-11"/>
              <a:t>empty.</a:t>
            </a:r>
            <a:endParaRPr dirty="0" lang="en-US" spc="-11"/>
          </a:p>
        </p:txBody>
      </p:sp>
      <p:sp>
        <p:nvSpPr>
          <p:cNvPr id="4" name="object 3">
            <a:extLst>
              <a:ext uri="{FF2B5EF4-FFF2-40B4-BE49-F238E27FC236}">
                <a16:creationId xmlns:a16="http://schemas.microsoft.com/office/drawing/2014/main" id="{A6F5202E-C16B-A3F5-CD3B-304AD16FA6F2}"/>
              </a:ext>
            </a:extLst>
          </p:cNvPr>
          <p:cNvSpPr txBox="1"/>
          <p:nvPr/>
        </p:nvSpPr>
        <p:spPr>
          <a:xfrm>
            <a:off x="2239009" y="382879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5" name="object 4">
            <a:extLst>
              <a:ext uri="{FF2B5EF4-FFF2-40B4-BE49-F238E27FC236}">
                <a16:creationId xmlns:a16="http://schemas.microsoft.com/office/drawing/2014/main" id="{1488CF7E-111F-612A-E3CE-0596D300913F}"/>
              </a:ext>
            </a:extLst>
          </p:cNvPr>
          <p:cNvSpPr txBox="1"/>
          <p:nvPr/>
        </p:nvSpPr>
        <p:spPr>
          <a:xfrm>
            <a:off x="3249676" y="3198009"/>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6" name="object 5">
            <a:extLst>
              <a:ext uri="{FF2B5EF4-FFF2-40B4-BE49-F238E27FC236}">
                <a16:creationId xmlns:a16="http://schemas.microsoft.com/office/drawing/2014/main" id="{77D9D285-3C11-054C-69EA-8CD7037FB0DF}"/>
              </a:ext>
            </a:extLst>
          </p:cNvPr>
          <p:cNvSpPr txBox="1"/>
          <p:nvPr/>
        </p:nvSpPr>
        <p:spPr>
          <a:xfrm>
            <a:off x="4392677" y="3198009"/>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7" name="object 6">
            <a:extLst>
              <a:ext uri="{FF2B5EF4-FFF2-40B4-BE49-F238E27FC236}">
                <a16:creationId xmlns:a16="http://schemas.microsoft.com/office/drawing/2014/main" id="{6B180A6B-72CF-3E8E-6D69-7063170A135A}"/>
              </a:ext>
            </a:extLst>
          </p:cNvPr>
          <p:cNvSpPr txBox="1"/>
          <p:nvPr/>
        </p:nvSpPr>
        <p:spPr>
          <a:xfrm>
            <a:off x="5359272" y="3198009"/>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8" name="object 7">
            <a:extLst>
              <a:ext uri="{FF2B5EF4-FFF2-40B4-BE49-F238E27FC236}">
                <a16:creationId xmlns:a16="http://schemas.microsoft.com/office/drawing/2014/main" id="{6890DC83-7A37-4AFC-5419-A51EA802F758}"/>
              </a:ext>
            </a:extLst>
          </p:cNvPr>
          <p:cNvSpPr txBox="1"/>
          <p:nvPr/>
        </p:nvSpPr>
        <p:spPr>
          <a:xfrm>
            <a:off x="248259" y="4083304"/>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9" name="object 8">
            <a:extLst>
              <a:ext uri="{FF2B5EF4-FFF2-40B4-BE49-F238E27FC236}">
                <a16:creationId xmlns:a16="http://schemas.microsoft.com/office/drawing/2014/main" id="{E170C7EC-53CC-DE96-26E9-03FB4730A151}"/>
              </a:ext>
            </a:extLst>
          </p:cNvPr>
          <p:cNvGraphicFramePr>
            <a:graphicFrameLocks noGrp="1"/>
          </p:cNvGraphicFramePr>
          <p:nvPr>
            <p:extLst>
              <p:ext uri="{D42A27DB-BD31-4B8C-83A1-F6EECF244321}">
                <p14:modId xmlns:p14="http://schemas.microsoft.com/office/powerpoint/2010/main" val="1101765944"/>
              </p:ext>
            </p:extLst>
          </p:nvPr>
        </p:nvGraphicFramePr>
        <p:xfrm>
          <a:off x="869443" y="4237482"/>
          <a:ext cx="5002530" cy="1989837"/>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10" name="object 9">
            <a:extLst>
              <a:ext uri="{FF2B5EF4-FFF2-40B4-BE49-F238E27FC236}">
                <a16:creationId xmlns:a16="http://schemas.microsoft.com/office/drawing/2014/main" id="{69F03F8A-71B4-2F53-AFE9-6999DEBD36E2}"/>
              </a:ext>
            </a:extLst>
          </p:cNvPr>
          <p:cNvSpPr txBox="1"/>
          <p:nvPr/>
        </p:nvSpPr>
        <p:spPr>
          <a:xfrm>
            <a:off x="214732" y="4208991"/>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a:extLst>
              <a:ext uri="{FF2B5EF4-FFF2-40B4-BE49-F238E27FC236}">
                <a16:creationId xmlns:a16="http://schemas.microsoft.com/office/drawing/2014/main" id="{0F42F69C-0FEF-46C5-A36D-6C02D9544E52}"/>
              </a:ext>
            </a:extLst>
          </p:cNvPr>
          <p:cNvSpPr txBox="1"/>
          <p:nvPr/>
        </p:nvSpPr>
        <p:spPr>
          <a:xfrm>
            <a:off x="1319149" y="689660"/>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dirty="0"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dirty="0"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dirty="0" sz="2400">
              <a:latin typeface="Palatino Linotype"/>
              <a:cs typeface="Palatino Linotype"/>
            </a:endParaRPr>
          </a:p>
        </p:txBody>
      </p:sp>
      <p:sp>
        <p:nvSpPr>
          <p:cNvPr id="12" name="object 12">
            <a:extLst>
              <a:ext uri="{FF2B5EF4-FFF2-40B4-BE49-F238E27FC236}">
                <a16:creationId xmlns:a16="http://schemas.microsoft.com/office/drawing/2014/main" id="{1E5AACA4-AE4C-CBDB-B3C9-B3862429422B}"/>
              </a:ext>
            </a:extLst>
          </p:cNvPr>
          <p:cNvSpPr txBox="1"/>
          <p:nvPr/>
        </p:nvSpPr>
        <p:spPr>
          <a:xfrm>
            <a:off x="1319149" y="3612770"/>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a:extLst>
              <a:ext uri="{FF2B5EF4-FFF2-40B4-BE49-F238E27FC236}">
                <a16:creationId xmlns:a16="http://schemas.microsoft.com/office/drawing/2014/main" id="{56BE869F-9BB0-7A85-38A0-C927AE088FED}"/>
              </a:ext>
            </a:extLst>
          </p:cNvPr>
          <p:cNvSpPr txBox="1"/>
          <p:nvPr/>
        </p:nvSpPr>
        <p:spPr>
          <a:xfrm>
            <a:off x="963422" y="3346067"/>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Tree>
    <p:extLst>
      <p:ext uri="{BB962C8B-B14F-4D97-AF65-F5344CB8AC3E}">
        <p14:creationId xmlns:p14="http://schemas.microsoft.com/office/powerpoint/2010/main" val="4970616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93F6D9B-5203-8A32-C77E-0E7DDB6000FC}"/>
              </a:ext>
            </a:extLst>
          </p:cNvPr>
          <p:cNvSpPr txBox="1"/>
          <p:nvPr/>
        </p:nvSpPr>
        <p:spPr>
          <a:xfrm>
            <a:off x="2003169" y="35334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D2580C3A-1547-4AA5-FEA2-7B232AFDD444}"/>
              </a:ext>
            </a:extLst>
          </p:cNvPr>
          <p:cNvSpPr txBox="1"/>
          <p:nvPr/>
        </p:nvSpPr>
        <p:spPr>
          <a:xfrm>
            <a:off x="3126357" y="35334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3C60AE06-5853-9BD5-A52C-68D3A2FEBDF7}"/>
              </a:ext>
            </a:extLst>
          </p:cNvPr>
          <p:cNvSpPr txBox="1"/>
          <p:nvPr/>
        </p:nvSpPr>
        <p:spPr>
          <a:xfrm>
            <a:off x="4137024" y="29026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a:extLst>
              <a:ext uri="{FF2B5EF4-FFF2-40B4-BE49-F238E27FC236}">
                <a16:creationId xmlns:a16="http://schemas.microsoft.com/office/drawing/2014/main" id="{4099C379-45CC-CABF-F3CD-1735709B71C1}"/>
              </a:ext>
            </a:extLst>
          </p:cNvPr>
          <p:cNvSpPr txBox="1"/>
          <p:nvPr/>
        </p:nvSpPr>
        <p:spPr>
          <a:xfrm>
            <a:off x="5280025" y="29026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a:extLst>
              <a:ext uri="{FF2B5EF4-FFF2-40B4-BE49-F238E27FC236}">
                <a16:creationId xmlns:a16="http://schemas.microsoft.com/office/drawing/2014/main" id="{C1018619-AF74-BC43-1076-EB10F8F31C78}"/>
              </a:ext>
            </a:extLst>
          </p:cNvPr>
          <p:cNvSpPr txBox="1"/>
          <p:nvPr/>
        </p:nvSpPr>
        <p:spPr>
          <a:xfrm>
            <a:off x="6246620" y="29026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a:extLst>
              <a:ext uri="{FF2B5EF4-FFF2-40B4-BE49-F238E27FC236}">
                <a16:creationId xmlns:a16="http://schemas.microsoft.com/office/drawing/2014/main" id="{ED7242E5-2991-3C39-6E87-E04538AF41CB}"/>
              </a:ext>
            </a:extLst>
          </p:cNvPr>
          <p:cNvSpPr txBox="1"/>
          <p:nvPr/>
        </p:nvSpPr>
        <p:spPr>
          <a:xfrm>
            <a:off x="1135607" y="37879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a:extLst>
              <a:ext uri="{FF2B5EF4-FFF2-40B4-BE49-F238E27FC236}">
                <a16:creationId xmlns:a16="http://schemas.microsoft.com/office/drawing/2014/main" id="{56ABED51-E982-787E-ED53-B323C67CCC0A}"/>
              </a:ext>
            </a:extLst>
          </p:cNvPr>
          <p:cNvGraphicFramePr>
            <a:graphicFrameLocks noGrp="1"/>
          </p:cNvGraphicFramePr>
          <p:nvPr/>
        </p:nvGraphicFramePr>
        <p:xfrm>
          <a:off x="1756791" y="3942130"/>
          <a:ext cx="4998720" cy="1989837"/>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166369">
                  <a:extLst>
                    <a:ext uri="{9D8B030D-6E8A-4147-A177-3AD203B41FA5}">
                      <a16:colId xmlns:a16="http://schemas.microsoft.com/office/drawing/2014/main" val="20002"/>
                    </a:ext>
                  </a:extLst>
                </a:gridCol>
                <a:gridCol w="491491">
                  <a:extLst>
                    <a:ext uri="{9D8B030D-6E8A-4147-A177-3AD203B41FA5}">
                      <a16:colId xmlns:a16="http://schemas.microsoft.com/office/drawing/2014/main" val="20003"/>
                    </a:ext>
                  </a:extLst>
                </a:gridCol>
                <a:gridCol w="228600">
                  <a:extLst>
                    <a:ext uri="{9D8B030D-6E8A-4147-A177-3AD203B41FA5}">
                      <a16:colId xmlns:a16="http://schemas.microsoft.com/office/drawing/2014/main" val="20004"/>
                    </a:ext>
                  </a:extLst>
                </a:gridCol>
                <a:gridCol w="242571">
                  <a:extLst>
                    <a:ext uri="{9D8B030D-6E8A-4147-A177-3AD203B41FA5}">
                      <a16:colId xmlns:a16="http://schemas.microsoft.com/office/drawing/2014/main" val="20005"/>
                    </a:ext>
                  </a:extLst>
                </a:gridCol>
                <a:gridCol w="493395">
                  <a:extLst>
                    <a:ext uri="{9D8B030D-6E8A-4147-A177-3AD203B41FA5}">
                      <a16:colId xmlns:a16="http://schemas.microsoft.com/office/drawing/2014/main" val="20006"/>
                    </a:ext>
                  </a:extLst>
                </a:gridCol>
                <a:gridCol w="367664">
                  <a:extLst>
                    <a:ext uri="{9D8B030D-6E8A-4147-A177-3AD203B41FA5}">
                      <a16:colId xmlns:a16="http://schemas.microsoft.com/office/drawing/2014/main" val="20007"/>
                    </a:ext>
                  </a:extLst>
                </a:gridCol>
                <a:gridCol w="799464">
                  <a:extLst>
                    <a:ext uri="{9D8B030D-6E8A-4147-A177-3AD203B41FA5}">
                      <a16:colId xmlns:a16="http://schemas.microsoft.com/office/drawing/2014/main" val="20008"/>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06045">
                        <a:lnSpc>
                          <a:spcPts val="27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gn="ctr" marR="17526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33350">
                        <a:lnSpc>
                          <a:spcPts val="2610"/>
                        </a:lnSpc>
                      </a:pPr>
                      <a:r>
                        <a:rPr dirty="0" spc="-50" sz="2500">
                          <a:latin typeface="Cambria Math"/>
                          <a:cs typeface="Cambria Math"/>
                        </a:rPr>
                        <a:t>B</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hMerge="1">
                  <a:txBody>
                    <a:bodyPr numCol="1"/>
                    <a:lstStyle/>
                    <a:p>
                      <a:endParaRPr/>
                    </a:p>
                  </a:txBody>
                  <a:tcPr marB="0" marL="0" marR="0" marT="0"/>
                </a:tc>
                <a:tc hMerge="1">
                  <a:txBody>
                    <a:bodyPr numCol="1"/>
                    <a:lstStyle/>
                    <a:p>
                      <a:endParaRPr/>
                    </a:p>
                  </a:txBody>
                  <a:tcPr marB="0" marL="0" marR="0" marT="0"/>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7">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8">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a:extLst>
              <a:ext uri="{FF2B5EF4-FFF2-40B4-BE49-F238E27FC236}">
                <a16:creationId xmlns:a16="http://schemas.microsoft.com/office/drawing/2014/main" id="{C6F159E4-1A90-03E8-E9CB-FB75AFC11067}"/>
              </a:ext>
            </a:extLst>
          </p:cNvPr>
          <p:cNvSpPr txBox="1"/>
          <p:nvPr/>
        </p:nvSpPr>
        <p:spPr>
          <a:xfrm>
            <a:off x="1102080" y="391363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1">
            <a:extLst>
              <a:ext uri="{FF2B5EF4-FFF2-40B4-BE49-F238E27FC236}">
                <a16:creationId xmlns:a16="http://schemas.microsoft.com/office/drawing/2014/main" id="{D1FC9CA5-7A80-C587-1972-FA548163005D}"/>
              </a:ext>
            </a:extLst>
          </p:cNvPr>
          <p:cNvSpPr txBox="1"/>
          <p:nvPr/>
        </p:nvSpPr>
        <p:spPr>
          <a:xfrm>
            <a:off x="1114982" y="8493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1" name="object 12">
            <a:extLst>
              <a:ext uri="{FF2B5EF4-FFF2-40B4-BE49-F238E27FC236}">
                <a16:creationId xmlns:a16="http://schemas.microsoft.com/office/drawing/2014/main" id="{7959D463-62FC-E6D1-3547-9308B986A075}"/>
              </a:ext>
            </a:extLst>
          </p:cNvPr>
          <p:cNvSpPr txBox="1"/>
          <p:nvPr/>
        </p:nvSpPr>
        <p:spPr>
          <a:xfrm>
            <a:off x="2206497" y="33174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2" name="object 13">
            <a:extLst>
              <a:ext uri="{FF2B5EF4-FFF2-40B4-BE49-F238E27FC236}">
                <a16:creationId xmlns:a16="http://schemas.microsoft.com/office/drawing/2014/main" id="{1A8D1069-E376-0B31-9C80-19D50A37789C}"/>
              </a:ext>
            </a:extLst>
          </p:cNvPr>
          <p:cNvSpPr txBox="1"/>
          <p:nvPr/>
        </p:nvSpPr>
        <p:spPr>
          <a:xfrm>
            <a:off x="1850770" y="30507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3" name="object 14">
            <a:extLst>
              <a:ext uri="{FF2B5EF4-FFF2-40B4-BE49-F238E27FC236}">
                <a16:creationId xmlns:a16="http://schemas.microsoft.com/office/drawing/2014/main" id="{898E2F2D-E020-08BD-6591-3F5B8E1C5E51}"/>
              </a:ext>
            </a:extLst>
          </p:cNvPr>
          <p:cNvSpPr txBox="1"/>
          <p:nvPr/>
        </p:nvSpPr>
        <p:spPr>
          <a:xfrm>
            <a:off x="4343400" y="762000"/>
            <a:ext cx="6073140" cy="1120178"/>
          </a:xfrm>
          <a:prstGeom prst="rect">
            <a:avLst/>
          </a:prstGeom>
        </p:spPr>
        <p:txBody>
          <a:bodyPr bIns="0" lIns="0" numCol="1" rIns="0" rtlCol="0" tIns="12065" vert="horz" wrap="square">
            <a:spAutoFit/>
          </a:bodyPr>
          <a:lstStyle/>
          <a:p>
            <a:pPr marL="12700" marR="5080">
              <a:lnSpc>
                <a:spcPct val="100200"/>
              </a:lnSpc>
              <a:spcBef>
                <a:spcPts val="95"/>
              </a:spcBef>
            </a:pPr>
            <a:r>
              <a:rPr dirty="0" sz="2400">
                <a:latin typeface="Palatino Linotype"/>
                <a:cs typeface="Palatino Linotype"/>
              </a:rPr>
              <a:t>Following</a:t>
            </a:r>
            <a:r>
              <a:rPr dirty="0" spc="-20" sz="2400">
                <a:latin typeface="Palatino Linotype"/>
                <a:cs typeface="Palatino Linotype"/>
              </a:rPr>
              <a:t> </a:t>
            </a:r>
            <a:r>
              <a:rPr dirty="0" sz="2400">
                <a:latin typeface="Palatino Linotype"/>
                <a:cs typeface="Palatino Linotype"/>
              </a:rPr>
              <a:t>the</a:t>
            </a:r>
            <a:r>
              <a:rPr dirty="0" spc="-25" sz="2400">
                <a:latin typeface="Palatino Linotype"/>
                <a:cs typeface="Palatino Linotype"/>
              </a:rPr>
              <a:t> </a:t>
            </a:r>
            <a:r>
              <a:rPr dirty="0" sz="2400">
                <a:latin typeface="Palatino Linotype"/>
                <a:cs typeface="Palatino Linotype"/>
              </a:rPr>
              <a:t>same</a:t>
            </a:r>
            <a:r>
              <a:rPr dirty="0" spc="-51" sz="2400">
                <a:latin typeface="Palatino Linotype"/>
                <a:cs typeface="Palatino Linotype"/>
              </a:rPr>
              <a:t> </a:t>
            </a:r>
            <a:r>
              <a:rPr dirty="0" sz="2400">
                <a:latin typeface="Palatino Linotype"/>
                <a:cs typeface="Palatino Linotype"/>
              </a:rPr>
              <a:t>pattern,</a:t>
            </a:r>
            <a:r>
              <a:rPr dirty="0" spc="-25" sz="2400">
                <a:latin typeface="Palatino Linotype"/>
                <a:cs typeface="Palatino Linotype"/>
              </a:rPr>
              <a:t> </a:t>
            </a:r>
            <a:r>
              <a:rPr dirty="0" sz="2400">
                <a:latin typeface="Palatino Linotype"/>
                <a:cs typeface="Palatino Linotype"/>
              </a:rPr>
              <a:t>for</a:t>
            </a:r>
            <a:r>
              <a:rPr dirty="0" spc="-40" sz="2400">
                <a:latin typeface="Palatino Linotype"/>
                <a:cs typeface="Palatino Linotype"/>
              </a:rPr>
              <a:t> </a:t>
            </a:r>
            <a:r>
              <a:rPr dirty="0" sz="2400">
                <a:latin typeface="Palatino Linotype"/>
                <a:cs typeface="Palatino Linotype"/>
              </a:rPr>
              <a:t>cell</a:t>
            </a:r>
            <a:r>
              <a:rPr dirty="0" spc="-35" sz="2400">
                <a:latin typeface="Palatino Linotype"/>
                <a:cs typeface="Palatino Linotype"/>
              </a:rPr>
              <a:t> </a:t>
            </a:r>
            <a:r>
              <a:rPr dirty="0" sz="2400">
                <a:latin typeface="Palatino Linotype"/>
                <a:cs typeface="Palatino Linotype"/>
              </a:rPr>
              <a:t>3,3,</a:t>
            </a:r>
            <a:r>
              <a:rPr dirty="0" spc="-40" sz="2400">
                <a:latin typeface="Palatino Linotype"/>
                <a:cs typeface="Palatino Linotype"/>
              </a:rPr>
              <a:t> </a:t>
            </a:r>
            <a:r>
              <a:rPr dirty="0" spc="-11" sz="2400">
                <a:latin typeface="Palatino Linotype"/>
                <a:cs typeface="Palatino Linotype"/>
              </a:rPr>
              <a:t>we’ll </a:t>
            </a:r>
            <a:r>
              <a:rPr dirty="0" sz="2400">
                <a:latin typeface="Palatino Linotype"/>
                <a:cs typeface="Palatino Linotype"/>
              </a:rPr>
              <a:t>first</a:t>
            </a:r>
            <a:r>
              <a:rPr dirty="0" spc="-55" sz="2400">
                <a:latin typeface="Palatino Linotype"/>
                <a:cs typeface="Palatino Linotype"/>
              </a:rPr>
              <a:t> </a:t>
            </a:r>
            <a:r>
              <a:rPr dirty="0" sz="2400">
                <a:latin typeface="Palatino Linotype"/>
                <a:cs typeface="Palatino Linotype"/>
              </a:rPr>
              <a:t>look</a:t>
            </a:r>
            <a:r>
              <a:rPr dirty="0" spc="-35" sz="2400">
                <a:latin typeface="Palatino Linotype"/>
                <a:cs typeface="Palatino Linotype"/>
              </a:rPr>
              <a:t> </a:t>
            </a:r>
            <a:r>
              <a:rPr dirty="0" sz="2400">
                <a:latin typeface="Palatino Linotype"/>
                <a:cs typeface="Palatino Linotype"/>
              </a:rPr>
              <a:t>for</a:t>
            </a:r>
            <a:r>
              <a:rPr dirty="0" spc="-45" sz="2400">
                <a:latin typeface="Palatino Linotype"/>
                <a:cs typeface="Palatino Linotype"/>
              </a:rPr>
              <a:t> </a:t>
            </a:r>
            <a:r>
              <a:rPr dirty="0" spc="-11" sz="2400">
                <a:latin typeface="Palatino Linotype"/>
                <a:cs typeface="Palatino Linotype"/>
              </a:rPr>
              <a:t>productions</a:t>
            </a:r>
            <a:r>
              <a:rPr dirty="0" spc="-40" sz="2400">
                <a:latin typeface="Palatino Linotype"/>
                <a:cs typeface="Palatino Linotype"/>
              </a:rPr>
              <a:t> </a:t>
            </a:r>
            <a:r>
              <a:rPr dirty="0" sz="2400">
                <a:latin typeface="Palatino Linotype"/>
                <a:cs typeface="Palatino Linotype"/>
              </a:rPr>
              <a:t>that</a:t>
            </a:r>
            <a:r>
              <a:rPr dirty="0" spc="-31" sz="2400">
                <a:latin typeface="Palatino Linotype"/>
                <a:cs typeface="Palatino Linotype"/>
              </a:rPr>
              <a:t> </a:t>
            </a:r>
            <a:r>
              <a:rPr dirty="0" sz="2400">
                <a:latin typeface="Palatino Linotype"/>
                <a:cs typeface="Palatino Linotype"/>
              </a:rPr>
              <a:t>produce</a:t>
            </a:r>
            <a:r>
              <a:rPr dirty="0" spc="-55" sz="2400">
                <a:latin typeface="Palatino Linotype"/>
                <a:cs typeface="Palatino Linotype"/>
              </a:rPr>
              <a:t> </a:t>
            </a:r>
            <a:r>
              <a:rPr dirty="0" sz="2400">
                <a:latin typeface="Palatino Linotype"/>
                <a:cs typeface="Palatino Linotype"/>
              </a:rPr>
              <a:t>an</a:t>
            </a:r>
            <a:r>
              <a:rPr dirty="0" spc="-25" sz="2400">
                <a:latin typeface="Palatino Linotype"/>
                <a:cs typeface="Palatino Linotype"/>
              </a:rPr>
              <a:t> </a:t>
            </a:r>
            <a:r>
              <a:rPr dirty="0" spc="-51" sz="2400">
                <a:latin typeface="Cambria Math"/>
                <a:cs typeface="Cambria Math"/>
              </a:rPr>
              <a:t>𝐴 </a:t>
            </a:r>
            <a:r>
              <a:rPr dirty="0" sz="2400">
                <a:latin typeface="Palatino Linotype"/>
                <a:cs typeface="Palatino Linotype"/>
              </a:rPr>
              <a:t>followed</a:t>
            </a:r>
            <a:r>
              <a:rPr dirty="0" spc="-35" sz="2400">
                <a:latin typeface="Palatino Linotype"/>
                <a:cs typeface="Palatino Linotype"/>
              </a:rPr>
              <a:t> </a:t>
            </a:r>
            <a:r>
              <a:rPr dirty="0" sz="2400">
                <a:latin typeface="Palatino Linotype"/>
                <a:cs typeface="Palatino Linotype"/>
              </a:rPr>
              <a:t>by</a:t>
            </a:r>
            <a:r>
              <a:rPr dirty="0" spc="-40" sz="2400">
                <a:latin typeface="Palatino Linotype"/>
                <a:cs typeface="Palatino Linotype"/>
              </a:rPr>
              <a:t> </a:t>
            </a:r>
            <a:r>
              <a:rPr dirty="0" sz="2400">
                <a:latin typeface="Palatino Linotype"/>
                <a:cs typeface="Palatino Linotype"/>
              </a:rPr>
              <a:t>a</a:t>
            </a:r>
            <a:r>
              <a:rPr dirty="0" spc="-31" sz="2400">
                <a:latin typeface="Palatino Linotype"/>
                <a:cs typeface="Palatino Linotype"/>
              </a:rPr>
              <a:t> </a:t>
            </a:r>
            <a:r>
              <a:rPr dirty="0" spc="-25" sz="2400">
                <a:latin typeface="Cambria Math"/>
                <a:cs typeface="Cambria Math"/>
              </a:rPr>
              <a:t>𝐵</a:t>
            </a:r>
            <a:r>
              <a:rPr dirty="0" spc="-25" sz="2400">
                <a:latin typeface="Palatino Linotype"/>
                <a:cs typeface="Palatino Linotype"/>
              </a:rPr>
              <a:t>.</a:t>
            </a:r>
            <a:endParaRPr sz="2400">
              <a:latin typeface="Palatino Linotype"/>
              <a:cs typeface="Palatino Linotype"/>
            </a:endParaRPr>
          </a:p>
        </p:txBody>
      </p:sp>
    </p:spTree>
    <p:extLst>
      <p:ext uri="{BB962C8B-B14F-4D97-AF65-F5344CB8AC3E}">
        <p14:creationId xmlns:p14="http://schemas.microsoft.com/office/powerpoint/2010/main" val="28454831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EEEE3BA-82D1-63B5-D873-4FB14230D830}"/>
              </a:ext>
            </a:extLst>
          </p:cNvPr>
          <p:cNvSpPr txBox="1"/>
          <p:nvPr/>
        </p:nvSpPr>
        <p:spPr>
          <a:xfrm>
            <a:off x="2155569" y="3531922"/>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1CD06592-29D9-0246-313D-83836BD0B7A5}"/>
              </a:ext>
            </a:extLst>
          </p:cNvPr>
          <p:cNvSpPr txBox="1"/>
          <p:nvPr/>
        </p:nvSpPr>
        <p:spPr>
          <a:xfrm>
            <a:off x="3278757" y="3531922"/>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08FDC188-6C62-D6BE-0137-AF4DE422065F}"/>
              </a:ext>
            </a:extLst>
          </p:cNvPr>
          <p:cNvSpPr txBox="1"/>
          <p:nvPr/>
        </p:nvSpPr>
        <p:spPr>
          <a:xfrm>
            <a:off x="4289424" y="2901134"/>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a:extLst>
              <a:ext uri="{FF2B5EF4-FFF2-40B4-BE49-F238E27FC236}">
                <a16:creationId xmlns:a16="http://schemas.microsoft.com/office/drawing/2014/main" id="{3AD3E36D-4199-7973-59B7-8FE15826FBD9}"/>
              </a:ext>
            </a:extLst>
          </p:cNvPr>
          <p:cNvSpPr txBox="1"/>
          <p:nvPr/>
        </p:nvSpPr>
        <p:spPr>
          <a:xfrm>
            <a:off x="5432425" y="2901134"/>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a:extLst>
              <a:ext uri="{FF2B5EF4-FFF2-40B4-BE49-F238E27FC236}">
                <a16:creationId xmlns:a16="http://schemas.microsoft.com/office/drawing/2014/main" id="{49064836-8556-F1C3-0DB5-8FA4B039C2AA}"/>
              </a:ext>
            </a:extLst>
          </p:cNvPr>
          <p:cNvSpPr txBox="1"/>
          <p:nvPr/>
        </p:nvSpPr>
        <p:spPr>
          <a:xfrm>
            <a:off x="6399020" y="2901134"/>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a:extLst>
              <a:ext uri="{FF2B5EF4-FFF2-40B4-BE49-F238E27FC236}">
                <a16:creationId xmlns:a16="http://schemas.microsoft.com/office/drawing/2014/main" id="{6397DA3C-5B84-0A1A-4E75-EF9194E11039}"/>
              </a:ext>
            </a:extLst>
          </p:cNvPr>
          <p:cNvSpPr txBox="1"/>
          <p:nvPr/>
        </p:nvSpPr>
        <p:spPr>
          <a:xfrm>
            <a:off x="1288007" y="3786429"/>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a:extLst>
              <a:ext uri="{FF2B5EF4-FFF2-40B4-BE49-F238E27FC236}">
                <a16:creationId xmlns:a16="http://schemas.microsoft.com/office/drawing/2014/main" id="{017126D8-C57B-EC32-C3A7-6DDD973D9D40}"/>
              </a:ext>
            </a:extLst>
          </p:cNvPr>
          <p:cNvGraphicFramePr>
            <a:graphicFrameLocks noGrp="1"/>
          </p:cNvGraphicFramePr>
          <p:nvPr/>
        </p:nvGraphicFramePr>
        <p:xfrm>
          <a:off x="1909191" y="3940607"/>
          <a:ext cx="4998720" cy="1989837"/>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166369">
                  <a:extLst>
                    <a:ext uri="{9D8B030D-6E8A-4147-A177-3AD203B41FA5}">
                      <a16:colId xmlns:a16="http://schemas.microsoft.com/office/drawing/2014/main" val="20002"/>
                    </a:ext>
                  </a:extLst>
                </a:gridCol>
                <a:gridCol w="491491">
                  <a:extLst>
                    <a:ext uri="{9D8B030D-6E8A-4147-A177-3AD203B41FA5}">
                      <a16:colId xmlns:a16="http://schemas.microsoft.com/office/drawing/2014/main" val="20003"/>
                    </a:ext>
                  </a:extLst>
                </a:gridCol>
                <a:gridCol w="228600">
                  <a:extLst>
                    <a:ext uri="{9D8B030D-6E8A-4147-A177-3AD203B41FA5}">
                      <a16:colId xmlns:a16="http://schemas.microsoft.com/office/drawing/2014/main" val="20004"/>
                    </a:ext>
                  </a:extLst>
                </a:gridCol>
                <a:gridCol w="242571">
                  <a:extLst>
                    <a:ext uri="{9D8B030D-6E8A-4147-A177-3AD203B41FA5}">
                      <a16:colId xmlns:a16="http://schemas.microsoft.com/office/drawing/2014/main" val="20005"/>
                    </a:ext>
                  </a:extLst>
                </a:gridCol>
                <a:gridCol w="493395">
                  <a:extLst>
                    <a:ext uri="{9D8B030D-6E8A-4147-A177-3AD203B41FA5}">
                      <a16:colId xmlns:a16="http://schemas.microsoft.com/office/drawing/2014/main" val="20006"/>
                    </a:ext>
                  </a:extLst>
                </a:gridCol>
                <a:gridCol w="367664">
                  <a:extLst>
                    <a:ext uri="{9D8B030D-6E8A-4147-A177-3AD203B41FA5}">
                      <a16:colId xmlns:a16="http://schemas.microsoft.com/office/drawing/2014/main" val="20007"/>
                    </a:ext>
                  </a:extLst>
                </a:gridCol>
                <a:gridCol w="799464">
                  <a:extLst>
                    <a:ext uri="{9D8B030D-6E8A-4147-A177-3AD203B41FA5}">
                      <a16:colId xmlns:a16="http://schemas.microsoft.com/office/drawing/2014/main" val="20008"/>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06045">
                        <a:lnSpc>
                          <a:spcPts val="27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gn="ctr" marR="17526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33350">
                        <a:lnSpc>
                          <a:spcPts val="2610"/>
                        </a:lnSpc>
                      </a:pPr>
                      <a:r>
                        <a:rPr dirty="0" spc="-50" sz="2500">
                          <a:latin typeface="Cambria Math"/>
                          <a:cs typeface="Cambria Math"/>
                        </a:rPr>
                        <a:t>B</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7">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8">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a:extLst>
              <a:ext uri="{FF2B5EF4-FFF2-40B4-BE49-F238E27FC236}">
                <a16:creationId xmlns:a16="http://schemas.microsoft.com/office/drawing/2014/main" id="{B8028822-D93C-8388-3591-1CD1B61D9B72}"/>
              </a:ext>
            </a:extLst>
          </p:cNvPr>
          <p:cNvSpPr txBox="1"/>
          <p:nvPr/>
        </p:nvSpPr>
        <p:spPr>
          <a:xfrm>
            <a:off x="1254480" y="3912116"/>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1">
            <a:extLst>
              <a:ext uri="{FF2B5EF4-FFF2-40B4-BE49-F238E27FC236}">
                <a16:creationId xmlns:a16="http://schemas.microsoft.com/office/drawing/2014/main" id="{B84D11A9-B939-969F-A27A-177FF1C8FB75}"/>
              </a:ext>
            </a:extLst>
          </p:cNvPr>
          <p:cNvSpPr txBox="1"/>
          <p:nvPr/>
        </p:nvSpPr>
        <p:spPr>
          <a:xfrm>
            <a:off x="1343583" y="847853"/>
            <a:ext cx="53403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75" sz="2400">
                <a:latin typeface="Cambria Math"/>
                <a:cs typeface="Cambria Math"/>
              </a:rPr>
              <a:t> </a:t>
            </a:r>
            <a:r>
              <a:rPr dirty="0" spc="-60" sz="2400">
                <a:latin typeface="Cambria Math"/>
                <a:cs typeface="Cambria Math"/>
              </a:rPr>
              <a:t>→</a:t>
            </a:r>
            <a:endParaRPr sz="2400">
              <a:latin typeface="Cambria Math"/>
              <a:cs typeface="Cambria Math"/>
            </a:endParaRPr>
          </a:p>
        </p:txBody>
      </p:sp>
      <p:sp>
        <p:nvSpPr>
          <p:cNvPr id="11" name="object 12">
            <a:extLst>
              <a:ext uri="{FF2B5EF4-FFF2-40B4-BE49-F238E27FC236}">
                <a16:creationId xmlns:a16="http://schemas.microsoft.com/office/drawing/2014/main" id="{97ADE68E-7C79-6C7A-B5E5-6776335A39E0}"/>
              </a:ext>
            </a:extLst>
          </p:cNvPr>
          <p:cNvSpPr txBox="1"/>
          <p:nvPr/>
        </p:nvSpPr>
        <p:spPr>
          <a:xfrm>
            <a:off x="1896236" y="902513"/>
            <a:ext cx="494031" cy="294953"/>
          </a:xfrm>
          <a:prstGeom prst="rect">
            <a:avLst/>
          </a:prstGeom>
          <a:ln w="38100">
            <a:solidFill>
              <a:srgbClr val="226B87"/>
            </a:solidFill>
          </a:ln>
        </p:spPr>
        <p:txBody>
          <a:bodyPr bIns="0" lIns="0" numCol="1" rIns="0" rtlCol="0" tIns="0" vert="horz" wrap="square">
            <a:spAutoFit/>
          </a:bodyPr>
          <a:lstStyle/>
          <a:p>
            <a:pPr marL="52704">
              <a:lnSpc>
                <a:spcPts val="2340"/>
              </a:lnSpc>
            </a:pPr>
            <a:r>
              <a:rPr dirty="0" spc="-25" sz="2400">
                <a:latin typeface="Cambria Math"/>
                <a:cs typeface="Cambria Math"/>
              </a:rPr>
              <a:t>𝐴𝐵</a:t>
            </a:r>
            <a:endParaRPr sz="2400">
              <a:latin typeface="Cambria Math"/>
              <a:cs typeface="Cambria Math"/>
            </a:endParaRPr>
          </a:p>
        </p:txBody>
      </p:sp>
      <p:sp>
        <p:nvSpPr>
          <p:cNvPr id="12" name="object 13">
            <a:extLst>
              <a:ext uri="{FF2B5EF4-FFF2-40B4-BE49-F238E27FC236}">
                <a16:creationId xmlns:a16="http://schemas.microsoft.com/office/drawing/2014/main" id="{FC44E439-4F5A-157C-EDD9-AD1827CE4F1F}"/>
              </a:ext>
            </a:extLst>
          </p:cNvPr>
          <p:cNvSpPr txBox="1"/>
          <p:nvPr/>
        </p:nvSpPr>
        <p:spPr>
          <a:xfrm>
            <a:off x="2563748" y="1283513"/>
            <a:ext cx="494031" cy="294953"/>
          </a:xfrm>
          <a:prstGeom prst="rect">
            <a:avLst/>
          </a:prstGeom>
          <a:ln w="38100">
            <a:solidFill>
              <a:srgbClr val="226B87"/>
            </a:solidFill>
          </a:ln>
        </p:spPr>
        <p:txBody>
          <a:bodyPr bIns="0" lIns="0" numCol="1" rIns="0" rtlCol="0" tIns="0" vert="horz" wrap="square">
            <a:spAutoFit/>
          </a:bodyPr>
          <a:lstStyle/>
          <a:p>
            <a:pPr marL="34290">
              <a:lnSpc>
                <a:spcPts val="2340"/>
              </a:lnSpc>
            </a:pPr>
            <a:r>
              <a:rPr dirty="0" spc="-25" sz="2400">
                <a:latin typeface="Cambria Math"/>
                <a:cs typeface="Cambria Math"/>
              </a:rPr>
              <a:t>𝐴𝐵</a:t>
            </a:r>
            <a:endParaRPr sz="2400">
              <a:latin typeface="Cambria Math"/>
              <a:cs typeface="Cambria Math"/>
            </a:endParaRPr>
          </a:p>
        </p:txBody>
      </p:sp>
      <p:sp>
        <p:nvSpPr>
          <p:cNvPr id="13" name="object 14">
            <a:extLst>
              <a:ext uri="{FF2B5EF4-FFF2-40B4-BE49-F238E27FC236}">
                <a16:creationId xmlns:a16="http://schemas.microsoft.com/office/drawing/2014/main" id="{05B967C3-DA19-10ED-922E-F9C4C7930746}"/>
              </a:ext>
            </a:extLst>
          </p:cNvPr>
          <p:cNvSpPr txBox="1"/>
          <p:nvPr/>
        </p:nvSpPr>
        <p:spPr>
          <a:xfrm>
            <a:off x="1343583" y="1214300"/>
            <a:ext cx="2070100" cy="1120820"/>
          </a:xfrm>
          <a:prstGeom prst="rect">
            <a:avLst/>
          </a:prstGeom>
        </p:spPr>
        <p:txBody>
          <a:bodyPr bIns="0" lIns="0" numCol="1" rIns="0" rtlCol="0" tIns="12700" vert="horz" wrap="square">
            <a:spAutoFit/>
          </a:bodyPr>
          <a:lstStyle/>
          <a:p>
            <a:pPr marL="12700">
              <a:spcBef>
                <a:spcPts val="100"/>
              </a:spcBef>
              <a:tabLst>
                <a:tab algn="l" pos="1723982"/>
              </a:tabLst>
            </a:pPr>
            <a:r>
              <a:rPr dirty="0" sz="2400">
                <a:latin typeface="Cambria Math"/>
                <a:cs typeface="Cambria Math"/>
              </a:rPr>
              <a:t>𝐴</a:t>
            </a:r>
            <a:r>
              <a:rPr dirty="0" spc="14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𝐴𝐴</a:t>
            </a:r>
            <a:r>
              <a:rPr dirty="0" spc="5"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a:p>
            <a:pPr marL="12700"/>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12700"/>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p:txBody>
      </p:sp>
      <p:sp>
        <p:nvSpPr>
          <p:cNvPr id="14" name="object 15">
            <a:extLst>
              <a:ext uri="{FF2B5EF4-FFF2-40B4-BE49-F238E27FC236}">
                <a16:creationId xmlns:a16="http://schemas.microsoft.com/office/drawing/2014/main" id="{44E87CEE-B4EF-D422-1D6B-E4CE9C5F6DB7}"/>
              </a:ext>
            </a:extLst>
          </p:cNvPr>
          <p:cNvSpPr txBox="1"/>
          <p:nvPr/>
        </p:nvSpPr>
        <p:spPr>
          <a:xfrm>
            <a:off x="1267382" y="2311833"/>
            <a:ext cx="246316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5" name="object 16">
            <a:extLst>
              <a:ext uri="{FF2B5EF4-FFF2-40B4-BE49-F238E27FC236}">
                <a16:creationId xmlns:a16="http://schemas.microsoft.com/office/drawing/2014/main" id="{B98F7BCB-C21A-31B2-CB42-F89AF6BBD5C7}"/>
              </a:ext>
            </a:extLst>
          </p:cNvPr>
          <p:cNvSpPr txBox="1"/>
          <p:nvPr/>
        </p:nvSpPr>
        <p:spPr>
          <a:xfrm>
            <a:off x="2358897" y="3315895"/>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6" name="object 17">
            <a:extLst>
              <a:ext uri="{FF2B5EF4-FFF2-40B4-BE49-F238E27FC236}">
                <a16:creationId xmlns:a16="http://schemas.microsoft.com/office/drawing/2014/main" id="{4EB99931-C904-ECEF-073C-86841006318F}"/>
              </a:ext>
            </a:extLst>
          </p:cNvPr>
          <p:cNvSpPr txBox="1"/>
          <p:nvPr/>
        </p:nvSpPr>
        <p:spPr>
          <a:xfrm>
            <a:off x="2003170" y="3049192"/>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7" name="object 18">
            <a:extLst>
              <a:ext uri="{FF2B5EF4-FFF2-40B4-BE49-F238E27FC236}">
                <a16:creationId xmlns:a16="http://schemas.microsoft.com/office/drawing/2014/main" id="{E1247C93-9230-7924-F7E2-1F31E263EC51}"/>
              </a:ext>
            </a:extLst>
          </p:cNvPr>
          <p:cNvSpPr txBox="1"/>
          <p:nvPr/>
        </p:nvSpPr>
        <p:spPr>
          <a:xfrm>
            <a:off x="4495800" y="762000"/>
            <a:ext cx="5960745" cy="1121461"/>
          </a:xfrm>
          <a:prstGeom prst="rect">
            <a:avLst/>
          </a:prstGeom>
        </p:spPr>
        <p:txBody>
          <a:bodyPr bIns="0" lIns="0" numCol="1" rIns="0" rtlCol="0" tIns="13335" vert="horz" wrap="square">
            <a:spAutoFit/>
          </a:bodyPr>
          <a:lstStyle/>
          <a:p>
            <a:pPr marL="12700" marR="5080">
              <a:lnSpc>
                <a:spcPct val="99800"/>
              </a:lnSpc>
              <a:spcBef>
                <a:spcPts val="105"/>
              </a:spcBef>
              <a:tabLst>
                <a:tab algn="l" pos="1030580"/>
              </a:tabLst>
            </a:pPr>
            <a:r>
              <a:rPr dirty="0" sz="2400">
                <a:latin typeface="Palatino Linotype"/>
                <a:cs typeface="Palatino Linotype"/>
              </a:rPr>
              <a:t>There</a:t>
            </a:r>
            <a:r>
              <a:rPr dirty="0" spc="-35" sz="2400">
                <a:latin typeface="Palatino Linotype"/>
                <a:cs typeface="Palatino Linotype"/>
              </a:rPr>
              <a:t> </a:t>
            </a:r>
            <a:r>
              <a:rPr dirty="0" sz="2400">
                <a:latin typeface="Palatino Linotype"/>
                <a:cs typeface="Palatino Linotype"/>
              </a:rPr>
              <a:t>are</a:t>
            </a:r>
            <a:r>
              <a:rPr dirty="0" spc="-31" sz="2400">
                <a:latin typeface="Palatino Linotype"/>
                <a:cs typeface="Palatino Linotype"/>
              </a:rPr>
              <a:t> </a:t>
            </a:r>
            <a:r>
              <a:rPr dirty="0" sz="2400">
                <a:latin typeface="Palatino Linotype"/>
                <a:cs typeface="Palatino Linotype"/>
              </a:rPr>
              <a:t>two</a:t>
            </a:r>
            <a:r>
              <a:rPr dirty="0" spc="-31" sz="2400">
                <a:latin typeface="Palatino Linotype"/>
                <a:cs typeface="Palatino Linotype"/>
              </a:rPr>
              <a:t> </a:t>
            </a:r>
            <a:r>
              <a:rPr dirty="0" sz="2400">
                <a:latin typeface="Palatino Linotype"/>
                <a:cs typeface="Palatino Linotype"/>
              </a:rPr>
              <a:t>variables</a:t>
            </a:r>
            <a:r>
              <a:rPr dirty="0" spc="-45" sz="2400">
                <a:latin typeface="Palatino Linotype"/>
                <a:cs typeface="Palatino Linotype"/>
              </a:rPr>
              <a:t> </a:t>
            </a:r>
            <a:r>
              <a:rPr dirty="0" sz="2400">
                <a:latin typeface="Palatino Linotype"/>
                <a:cs typeface="Palatino Linotype"/>
              </a:rPr>
              <a:t>that</a:t>
            </a:r>
            <a:r>
              <a:rPr dirty="0" spc="-15" sz="2400">
                <a:latin typeface="Palatino Linotype"/>
                <a:cs typeface="Palatino Linotype"/>
              </a:rPr>
              <a:t> </a:t>
            </a:r>
            <a:r>
              <a:rPr dirty="0" sz="2400">
                <a:latin typeface="Palatino Linotype"/>
                <a:cs typeface="Palatino Linotype"/>
              </a:rPr>
              <a:t>produce</a:t>
            </a:r>
            <a:r>
              <a:rPr dirty="0" spc="-40" sz="2400">
                <a:latin typeface="Palatino Linotype"/>
                <a:cs typeface="Palatino Linotype"/>
              </a:rPr>
              <a:t> </a:t>
            </a:r>
            <a:r>
              <a:rPr dirty="0" sz="2400">
                <a:latin typeface="Palatino Linotype"/>
                <a:cs typeface="Palatino Linotype"/>
              </a:rPr>
              <a:t>this:</a:t>
            </a:r>
            <a:r>
              <a:rPr dirty="0" spc="-20" sz="2400">
                <a:latin typeface="Palatino Linotype"/>
                <a:cs typeface="Palatino Linotype"/>
              </a:rPr>
              <a:t> </a:t>
            </a:r>
            <a:r>
              <a:rPr dirty="0" spc="-25" sz="2400">
                <a:latin typeface="Cambria Math"/>
                <a:cs typeface="Cambria Math"/>
              </a:rPr>
              <a:t>𝑆</a:t>
            </a:r>
            <a:r>
              <a:rPr dirty="0" spc="-25" sz="2400">
                <a:latin typeface="Palatino Linotype"/>
                <a:cs typeface="Palatino Linotype"/>
              </a:rPr>
              <a:t>, </a:t>
            </a:r>
            <a:r>
              <a:rPr dirty="0" sz="2400">
                <a:latin typeface="Palatino Linotype"/>
                <a:cs typeface="Palatino Linotype"/>
              </a:rPr>
              <a:t>and </a:t>
            </a:r>
            <a:r>
              <a:rPr dirty="0" spc="-25" sz="2400">
                <a:latin typeface="Cambria Math"/>
                <a:cs typeface="Cambria Math"/>
              </a:rPr>
              <a:t>𝐴</a:t>
            </a:r>
            <a:r>
              <a:rPr dirty="0" spc="-25" sz="2400">
                <a:latin typeface="Palatino Linotype"/>
                <a:cs typeface="Palatino Linotype"/>
              </a:rPr>
              <a:t>.</a:t>
            </a:r>
            <a:r>
              <a:rPr dirty="0" sz="2400">
                <a:latin typeface="Palatino Linotype"/>
                <a:cs typeface="Palatino Linotype"/>
              </a:rPr>
              <a:t>	So,</a:t>
            </a:r>
            <a:r>
              <a:rPr dirty="0" spc="-40" sz="2400">
                <a:latin typeface="Palatino Linotype"/>
                <a:cs typeface="Palatino Linotype"/>
              </a:rPr>
              <a:t> </a:t>
            </a:r>
            <a:r>
              <a:rPr dirty="0" sz="2400">
                <a:latin typeface="Palatino Linotype"/>
                <a:cs typeface="Palatino Linotype"/>
              </a:rPr>
              <a:t>we’ll</a:t>
            </a:r>
            <a:r>
              <a:rPr dirty="0" spc="-35" sz="2400">
                <a:latin typeface="Palatino Linotype"/>
                <a:cs typeface="Palatino Linotype"/>
              </a:rPr>
              <a:t> </a:t>
            </a:r>
            <a:r>
              <a:rPr dirty="0" sz="2400">
                <a:latin typeface="Palatino Linotype"/>
                <a:cs typeface="Palatino Linotype"/>
              </a:rPr>
              <a:t>put</a:t>
            </a:r>
            <a:r>
              <a:rPr dirty="0" spc="-40" sz="2400">
                <a:latin typeface="Palatino Linotype"/>
                <a:cs typeface="Palatino Linotype"/>
              </a:rPr>
              <a:t> </a:t>
            </a:r>
            <a:r>
              <a:rPr dirty="0" sz="2400">
                <a:latin typeface="Palatino Linotype"/>
                <a:cs typeface="Palatino Linotype"/>
              </a:rPr>
              <a:t>both</a:t>
            </a:r>
            <a:r>
              <a:rPr dirty="0" spc="-35" sz="2400">
                <a:latin typeface="Palatino Linotype"/>
                <a:cs typeface="Palatino Linotype"/>
              </a:rPr>
              <a:t> </a:t>
            </a:r>
            <a:r>
              <a:rPr dirty="0" sz="2400">
                <a:latin typeface="Palatino Linotype"/>
                <a:cs typeface="Palatino Linotype"/>
              </a:rPr>
              <a:t>of</a:t>
            </a:r>
            <a:r>
              <a:rPr dirty="0" spc="-35" sz="2400">
                <a:latin typeface="Palatino Linotype"/>
                <a:cs typeface="Palatino Linotype"/>
              </a:rPr>
              <a:t> </a:t>
            </a:r>
            <a:r>
              <a:rPr dirty="0" sz="2400">
                <a:latin typeface="Palatino Linotype"/>
                <a:cs typeface="Palatino Linotype"/>
              </a:rPr>
              <a:t>these</a:t>
            </a:r>
            <a:r>
              <a:rPr dirty="0" spc="-35" sz="2400">
                <a:latin typeface="Palatino Linotype"/>
                <a:cs typeface="Palatino Linotype"/>
              </a:rPr>
              <a:t> </a:t>
            </a:r>
            <a:r>
              <a:rPr dirty="0" spc="-11" sz="2400">
                <a:latin typeface="Palatino Linotype"/>
                <a:cs typeface="Palatino Linotype"/>
              </a:rPr>
              <a:t>variables </a:t>
            </a:r>
            <a:r>
              <a:rPr dirty="0" sz="2400">
                <a:latin typeface="Palatino Linotype"/>
                <a:cs typeface="Palatino Linotype"/>
              </a:rPr>
              <a:t>into</a:t>
            </a:r>
            <a:r>
              <a:rPr dirty="0" spc="-31" sz="2400">
                <a:latin typeface="Palatino Linotype"/>
                <a:cs typeface="Palatino Linotype"/>
              </a:rPr>
              <a:t> </a:t>
            </a:r>
            <a:r>
              <a:rPr dirty="0" sz="2400">
                <a:latin typeface="Palatino Linotype"/>
                <a:cs typeface="Palatino Linotype"/>
              </a:rPr>
              <a:t>the</a:t>
            </a:r>
            <a:r>
              <a:rPr dirty="0" spc="-31" sz="2400">
                <a:latin typeface="Palatino Linotype"/>
                <a:cs typeface="Palatino Linotype"/>
              </a:rPr>
              <a:t> </a:t>
            </a:r>
            <a:r>
              <a:rPr dirty="0" sz="2400">
                <a:latin typeface="Palatino Linotype"/>
                <a:cs typeface="Palatino Linotype"/>
              </a:rPr>
              <a:t>set</a:t>
            </a:r>
            <a:r>
              <a:rPr dirty="0" spc="-45" sz="2400">
                <a:latin typeface="Palatino Linotype"/>
                <a:cs typeface="Palatino Linotype"/>
              </a:rPr>
              <a:t> </a:t>
            </a:r>
            <a:r>
              <a:rPr dirty="0" sz="2400">
                <a:latin typeface="Palatino Linotype"/>
                <a:cs typeface="Palatino Linotype"/>
              </a:rPr>
              <a:t>in</a:t>
            </a:r>
            <a:r>
              <a:rPr dirty="0" spc="-45" sz="2400">
                <a:latin typeface="Palatino Linotype"/>
                <a:cs typeface="Palatino Linotype"/>
              </a:rPr>
              <a:t> </a:t>
            </a:r>
            <a:r>
              <a:rPr dirty="0" sz="2400">
                <a:latin typeface="Palatino Linotype"/>
                <a:cs typeface="Palatino Linotype"/>
              </a:rPr>
              <a:t>cell</a:t>
            </a:r>
            <a:r>
              <a:rPr dirty="0" spc="-40" sz="2400">
                <a:latin typeface="Palatino Linotype"/>
                <a:cs typeface="Palatino Linotype"/>
              </a:rPr>
              <a:t> </a:t>
            </a:r>
            <a:r>
              <a:rPr dirty="0" spc="-20" sz="2400">
                <a:latin typeface="Palatino Linotype"/>
                <a:cs typeface="Palatino Linotype"/>
              </a:rPr>
              <a:t>3,3.</a:t>
            </a:r>
            <a:endParaRPr sz="2400">
              <a:latin typeface="Palatino Linotype"/>
              <a:cs typeface="Palatino Linotype"/>
            </a:endParaRPr>
          </a:p>
        </p:txBody>
      </p:sp>
    </p:spTree>
    <p:extLst>
      <p:ext uri="{BB962C8B-B14F-4D97-AF65-F5344CB8AC3E}">
        <p14:creationId xmlns:p14="http://schemas.microsoft.com/office/powerpoint/2010/main" val="37382016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FC4E878-65C6-E94E-2C95-6159CD7071F3}"/>
              </a:ext>
            </a:extLst>
          </p:cNvPr>
          <p:cNvSpPr txBox="1"/>
          <p:nvPr/>
        </p:nvSpPr>
        <p:spPr>
          <a:xfrm>
            <a:off x="2003170" y="35334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BF548E75-5061-A23A-D6D6-7D34A9024743}"/>
              </a:ext>
            </a:extLst>
          </p:cNvPr>
          <p:cNvSpPr txBox="1"/>
          <p:nvPr/>
        </p:nvSpPr>
        <p:spPr>
          <a:xfrm>
            <a:off x="3126358" y="35334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CEF49675-48A1-B1A0-5984-B3D4B1D30EF3}"/>
              </a:ext>
            </a:extLst>
          </p:cNvPr>
          <p:cNvSpPr txBox="1"/>
          <p:nvPr/>
        </p:nvSpPr>
        <p:spPr>
          <a:xfrm>
            <a:off x="4137025" y="29026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a:extLst>
              <a:ext uri="{FF2B5EF4-FFF2-40B4-BE49-F238E27FC236}">
                <a16:creationId xmlns:a16="http://schemas.microsoft.com/office/drawing/2014/main" id="{B9B012C1-8822-5562-4BE3-464B052A56AB}"/>
              </a:ext>
            </a:extLst>
          </p:cNvPr>
          <p:cNvSpPr txBox="1"/>
          <p:nvPr/>
        </p:nvSpPr>
        <p:spPr>
          <a:xfrm>
            <a:off x="5280026" y="29026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a:extLst>
              <a:ext uri="{FF2B5EF4-FFF2-40B4-BE49-F238E27FC236}">
                <a16:creationId xmlns:a16="http://schemas.microsoft.com/office/drawing/2014/main" id="{0C532D96-475B-E245-37E6-EAB5D2446A73}"/>
              </a:ext>
            </a:extLst>
          </p:cNvPr>
          <p:cNvSpPr txBox="1"/>
          <p:nvPr/>
        </p:nvSpPr>
        <p:spPr>
          <a:xfrm>
            <a:off x="6246621" y="29026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a:extLst>
              <a:ext uri="{FF2B5EF4-FFF2-40B4-BE49-F238E27FC236}">
                <a16:creationId xmlns:a16="http://schemas.microsoft.com/office/drawing/2014/main" id="{D5408C0C-881F-6CE0-D0AF-9811A14BC702}"/>
              </a:ext>
            </a:extLst>
          </p:cNvPr>
          <p:cNvSpPr txBox="1"/>
          <p:nvPr/>
        </p:nvSpPr>
        <p:spPr>
          <a:xfrm>
            <a:off x="1135608" y="3787953"/>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a:extLst>
              <a:ext uri="{FF2B5EF4-FFF2-40B4-BE49-F238E27FC236}">
                <a16:creationId xmlns:a16="http://schemas.microsoft.com/office/drawing/2014/main" id="{4DF491EA-A67F-A66C-0EF6-096536C9F98D}"/>
              </a:ext>
            </a:extLst>
          </p:cNvPr>
          <p:cNvGraphicFramePr>
            <a:graphicFrameLocks noGrp="1"/>
          </p:cNvGraphicFramePr>
          <p:nvPr/>
        </p:nvGraphicFramePr>
        <p:xfrm>
          <a:off x="1756792" y="3942131"/>
          <a:ext cx="4998721" cy="1989837"/>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166369">
                  <a:extLst>
                    <a:ext uri="{9D8B030D-6E8A-4147-A177-3AD203B41FA5}">
                      <a16:colId xmlns:a16="http://schemas.microsoft.com/office/drawing/2014/main" val="20002"/>
                    </a:ext>
                  </a:extLst>
                </a:gridCol>
                <a:gridCol w="491491">
                  <a:extLst>
                    <a:ext uri="{9D8B030D-6E8A-4147-A177-3AD203B41FA5}">
                      <a16:colId xmlns:a16="http://schemas.microsoft.com/office/drawing/2014/main" val="20003"/>
                    </a:ext>
                  </a:extLst>
                </a:gridCol>
                <a:gridCol w="228600">
                  <a:extLst>
                    <a:ext uri="{9D8B030D-6E8A-4147-A177-3AD203B41FA5}">
                      <a16:colId xmlns:a16="http://schemas.microsoft.com/office/drawing/2014/main" val="20004"/>
                    </a:ext>
                  </a:extLst>
                </a:gridCol>
                <a:gridCol w="1104264">
                  <a:extLst>
                    <a:ext uri="{9D8B030D-6E8A-4147-A177-3AD203B41FA5}">
                      <a16:colId xmlns:a16="http://schemas.microsoft.com/office/drawing/2014/main" val="20005"/>
                    </a:ext>
                  </a:extLst>
                </a:gridCol>
                <a:gridCol w="181611">
                  <a:extLst>
                    <a:ext uri="{9D8B030D-6E8A-4147-A177-3AD203B41FA5}">
                      <a16:colId xmlns:a16="http://schemas.microsoft.com/office/drawing/2014/main" val="20006"/>
                    </a:ext>
                  </a:extLst>
                </a:gridCol>
                <a:gridCol w="493395">
                  <a:extLst>
                    <a:ext uri="{9D8B030D-6E8A-4147-A177-3AD203B41FA5}">
                      <a16:colId xmlns:a16="http://schemas.microsoft.com/office/drawing/2014/main" val="20007"/>
                    </a:ext>
                  </a:extLst>
                </a:gridCol>
                <a:gridCol w="123825">
                  <a:extLst>
                    <a:ext uri="{9D8B030D-6E8A-4147-A177-3AD203B41FA5}">
                      <a16:colId xmlns:a16="http://schemas.microsoft.com/office/drawing/2014/main" val="20008"/>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58419">
                        <a:lnSpc>
                          <a:spcPts val="2710"/>
                        </a:lnSpc>
                      </a:pPr>
                      <a:r>
                        <a:rPr dirty="0" spc="-50" sz="2500">
                          <a:latin typeface="Cambria Math"/>
                          <a:cs typeface="Cambria Math"/>
                        </a:rPr>
                        <a:t>C</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06045">
                        <a:lnSpc>
                          <a:spcPts val="2610"/>
                        </a:lnSpc>
                      </a:pPr>
                      <a:r>
                        <a:rPr dirty="0" spc="-50" sz="2400">
                          <a:latin typeface="Cambria Math"/>
                          <a:cs typeface="Cambria Math"/>
                        </a:rPr>
                        <a:t>∅</a:t>
                      </a:r>
                      <a:endParaRPr sz="24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7">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8">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a:extLst>
              <a:ext uri="{FF2B5EF4-FFF2-40B4-BE49-F238E27FC236}">
                <a16:creationId xmlns:a16="http://schemas.microsoft.com/office/drawing/2014/main" id="{6E3EDC03-E75D-AE74-9F47-32894F556209}"/>
              </a:ext>
            </a:extLst>
          </p:cNvPr>
          <p:cNvSpPr txBox="1"/>
          <p:nvPr/>
        </p:nvSpPr>
        <p:spPr>
          <a:xfrm>
            <a:off x="1102081" y="3913640"/>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1">
            <a:extLst>
              <a:ext uri="{FF2B5EF4-FFF2-40B4-BE49-F238E27FC236}">
                <a16:creationId xmlns:a16="http://schemas.microsoft.com/office/drawing/2014/main" id="{9F137BA7-88BD-F766-E384-648FD309B8D6}"/>
              </a:ext>
            </a:extLst>
          </p:cNvPr>
          <p:cNvSpPr txBox="1"/>
          <p:nvPr/>
        </p:nvSpPr>
        <p:spPr>
          <a:xfrm>
            <a:off x="1114983" y="8493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1" name="object 12">
            <a:extLst>
              <a:ext uri="{FF2B5EF4-FFF2-40B4-BE49-F238E27FC236}">
                <a16:creationId xmlns:a16="http://schemas.microsoft.com/office/drawing/2014/main" id="{F9F430A6-00F6-88CA-8066-C994812BF74A}"/>
              </a:ext>
            </a:extLst>
          </p:cNvPr>
          <p:cNvSpPr txBox="1"/>
          <p:nvPr/>
        </p:nvSpPr>
        <p:spPr>
          <a:xfrm>
            <a:off x="2206498" y="33174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2" name="object 13">
            <a:extLst>
              <a:ext uri="{FF2B5EF4-FFF2-40B4-BE49-F238E27FC236}">
                <a16:creationId xmlns:a16="http://schemas.microsoft.com/office/drawing/2014/main" id="{4DAE6095-04AA-3852-1269-4D80FC7C77AE}"/>
              </a:ext>
            </a:extLst>
          </p:cNvPr>
          <p:cNvSpPr txBox="1"/>
          <p:nvPr/>
        </p:nvSpPr>
        <p:spPr>
          <a:xfrm>
            <a:off x="1850771" y="30507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3" name="object 14">
            <a:extLst>
              <a:ext uri="{FF2B5EF4-FFF2-40B4-BE49-F238E27FC236}">
                <a16:creationId xmlns:a16="http://schemas.microsoft.com/office/drawing/2014/main" id="{9197E75A-C0E5-58E9-0264-04048E0AC5B8}"/>
              </a:ext>
            </a:extLst>
          </p:cNvPr>
          <p:cNvSpPr txBox="1"/>
          <p:nvPr/>
        </p:nvSpPr>
        <p:spPr>
          <a:xfrm>
            <a:off x="4343400" y="762000"/>
            <a:ext cx="6228715" cy="1120820"/>
          </a:xfrm>
          <a:prstGeom prst="rect">
            <a:avLst/>
          </a:prstGeom>
        </p:spPr>
        <p:txBody>
          <a:bodyPr bIns="0" lIns="0" numCol="1" rIns="0" rtlCol="0" tIns="12700" vert="horz" wrap="square">
            <a:spAutoFit/>
          </a:bodyPr>
          <a:lstStyle/>
          <a:p>
            <a:pPr marL="12700" marR="5080">
              <a:spcBef>
                <a:spcPts val="100"/>
              </a:spcBef>
            </a:pPr>
            <a:r>
              <a:rPr dirty="0" sz="2400">
                <a:latin typeface="Palatino Linotype"/>
                <a:cs typeface="Palatino Linotype"/>
              </a:rPr>
              <a:t>The</a:t>
            </a:r>
            <a:r>
              <a:rPr dirty="0" spc="-40" sz="2400">
                <a:latin typeface="Palatino Linotype"/>
                <a:cs typeface="Palatino Linotype"/>
              </a:rPr>
              <a:t> </a:t>
            </a:r>
            <a:r>
              <a:rPr dirty="0" sz="2400">
                <a:latin typeface="Palatino Linotype"/>
                <a:cs typeface="Palatino Linotype"/>
              </a:rPr>
              <a:t>next</a:t>
            </a:r>
            <a:r>
              <a:rPr dirty="0" spc="-25" sz="2400">
                <a:latin typeface="Palatino Linotype"/>
                <a:cs typeface="Palatino Linotype"/>
              </a:rPr>
              <a:t> </a:t>
            </a:r>
            <a:r>
              <a:rPr dirty="0" sz="2400">
                <a:latin typeface="Palatino Linotype"/>
                <a:cs typeface="Palatino Linotype"/>
              </a:rPr>
              <a:t>entries</a:t>
            </a:r>
            <a:r>
              <a:rPr dirty="0" spc="-35" sz="2400">
                <a:latin typeface="Palatino Linotype"/>
                <a:cs typeface="Palatino Linotype"/>
              </a:rPr>
              <a:t> </a:t>
            </a:r>
            <a:r>
              <a:rPr dirty="0" sz="2400">
                <a:latin typeface="Palatino Linotype"/>
                <a:cs typeface="Palatino Linotype"/>
              </a:rPr>
              <a:t>we</a:t>
            </a:r>
            <a:r>
              <a:rPr dirty="0" spc="-51" sz="2400">
                <a:latin typeface="Palatino Linotype"/>
                <a:cs typeface="Palatino Linotype"/>
              </a:rPr>
              <a:t> </a:t>
            </a:r>
            <a:r>
              <a:rPr dirty="0" sz="2400">
                <a:latin typeface="Palatino Linotype"/>
                <a:cs typeface="Palatino Linotype"/>
              </a:rPr>
              <a:t>check</a:t>
            </a:r>
            <a:r>
              <a:rPr dirty="0" spc="-40" sz="2400">
                <a:latin typeface="Palatino Linotype"/>
                <a:cs typeface="Palatino Linotype"/>
              </a:rPr>
              <a:t> </a:t>
            </a:r>
            <a:r>
              <a:rPr dirty="0" sz="2400">
                <a:latin typeface="Palatino Linotype"/>
                <a:cs typeface="Palatino Linotype"/>
              </a:rPr>
              <a:t>once</a:t>
            </a:r>
            <a:r>
              <a:rPr dirty="0" spc="-35" sz="2400">
                <a:latin typeface="Palatino Linotype"/>
                <a:cs typeface="Palatino Linotype"/>
              </a:rPr>
              <a:t> </a:t>
            </a:r>
            <a:r>
              <a:rPr dirty="0" sz="2400">
                <a:latin typeface="Palatino Linotype"/>
                <a:cs typeface="Palatino Linotype"/>
              </a:rPr>
              <a:t>again</a:t>
            </a:r>
            <a:r>
              <a:rPr dirty="0" spc="-31" sz="2400">
                <a:latin typeface="Palatino Linotype"/>
                <a:cs typeface="Palatino Linotype"/>
              </a:rPr>
              <a:t> </a:t>
            </a:r>
            <a:r>
              <a:rPr dirty="0" spc="-11" sz="2400">
                <a:latin typeface="Palatino Linotype"/>
                <a:cs typeface="Palatino Linotype"/>
              </a:rPr>
              <a:t>involves </a:t>
            </a:r>
            <a:r>
              <a:rPr dirty="0" sz="2400">
                <a:latin typeface="Palatino Linotype"/>
                <a:cs typeface="Palatino Linotype"/>
              </a:rPr>
              <a:t>an</a:t>
            </a:r>
            <a:r>
              <a:rPr dirty="0" spc="-55" sz="2400">
                <a:latin typeface="Palatino Linotype"/>
                <a:cs typeface="Palatino Linotype"/>
              </a:rPr>
              <a:t> </a:t>
            </a:r>
            <a:r>
              <a:rPr dirty="0" sz="2400">
                <a:latin typeface="Palatino Linotype"/>
                <a:cs typeface="Palatino Linotype"/>
              </a:rPr>
              <a:t>empty</a:t>
            </a:r>
            <a:r>
              <a:rPr dirty="0" spc="-51" sz="2400">
                <a:latin typeface="Palatino Linotype"/>
                <a:cs typeface="Palatino Linotype"/>
              </a:rPr>
              <a:t> </a:t>
            </a:r>
            <a:r>
              <a:rPr dirty="0" sz="2400">
                <a:latin typeface="Palatino Linotype"/>
                <a:cs typeface="Palatino Linotype"/>
              </a:rPr>
              <a:t>cell,</a:t>
            </a:r>
            <a:r>
              <a:rPr dirty="0" spc="-40" sz="2400">
                <a:latin typeface="Palatino Linotype"/>
                <a:cs typeface="Palatino Linotype"/>
              </a:rPr>
              <a:t> </a:t>
            </a:r>
            <a:r>
              <a:rPr dirty="0" sz="2400">
                <a:latin typeface="Palatino Linotype"/>
                <a:cs typeface="Palatino Linotype"/>
              </a:rPr>
              <a:t>so</a:t>
            </a:r>
            <a:r>
              <a:rPr dirty="0" spc="-60" sz="2400">
                <a:latin typeface="Palatino Linotype"/>
                <a:cs typeface="Palatino Linotype"/>
              </a:rPr>
              <a:t> </a:t>
            </a:r>
            <a:r>
              <a:rPr dirty="0" sz="2400">
                <a:latin typeface="Palatino Linotype"/>
                <a:cs typeface="Palatino Linotype"/>
              </a:rPr>
              <a:t>we</a:t>
            </a:r>
            <a:r>
              <a:rPr dirty="0" spc="-51" sz="2400">
                <a:latin typeface="Palatino Linotype"/>
                <a:cs typeface="Palatino Linotype"/>
              </a:rPr>
              <a:t> </a:t>
            </a:r>
            <a:r>
              <a:rPr dirty="0" sz="2400">
                <a:latin typeface="Palatino Linotype"/>
                <a:cs typeface="Palatino Linotype"/>
              </a:rPr>
              <a:t>don’t</a:t>
            </a:r>
            <a:r>
              <a:rPr dirty="0" spc="-40" sz="2400">
                <a:latin typeface="Palatino Linotype"/>
                <a:cs typeface="Palatino Linotype"/>
              </a:rPr>
              <a:t> </a:t>
            </a:r>
            <a:r>
              <a:rPr dirty="0" sz="2400">
                <a:latin typeface="Palatino Linotype"/>
                <a:cs typeface="Palatino Linotype"/>
              </a:rPr>
              <a:t>add</a:t>
            </a:r>
            <a:r>
              <a:rPr dirty="0" spc="-65" sz="2400">
                <a:latin typeface="Palatino Linotype"/>
                <a:cs typeface="Palatino Linotype"/>
              </a:rPr>
              <a:t> </a:t>
            </a:r>
            <a:r>
              <a:rPr dirty="0" sz="2400">
                <a:latin typeface="Palatino Linotype"/>
                <a:cs typeface="Palatino Linotype"/>
              </a:rPr>
              <a:t>anything</a:t>
            </a:r>
            <a:r>
              <a:rPr dirty="0" spc="-11" sz="2400">
                <a:latin typeface="Palatino Linotype"/>
                <a:cs typeface="Palatino Linotype"/>
              </a:rPr>
              <a:t> </a:t>
            </a:r>
            <a:r>
              <a:rPr dirty="0" spc="-20" sz="2400">
                <a:latin typeface="Palatino Linotype"/>
                <a:cs typeface="Palatino Linotype"/>
              </a:rPr>
              <a:t>else </a:t>
            </a:r>
            <a:r>
              <a:rPr dirty="0" sz="2400">
                <a:latin typeface="Palatino Linotype"/>
                <a:cs typeface="Palatino Linotype"/>
              </a:rPr>
              <a:t>to</a:t>
            </a:r>
            <a:r>
              <a:rPr dirty="0" spc="-25" sz="2400">
                <a:latin typeface="Palatino Linotype"/>
                <a:cs typeface="Palatino Linotype"/>
              </a:rPr>
              <a:t> </a:t>
            </a:r>
            <a:r>
              <a:rPr dirty="0" sz="2400">
                <a:latin typeface="Palatino Linotype"/>
                <a:cs typeface="Palatino Linotype"/>
              </a:rPr>
              <a:t>cell</a:t>
            </a:r>
            <a:r>
              <a:rPr dirty="0" spc="-31" sz="2400">
                <a:latin typeface="Palatino Linotype"/>
                <a:cs typeface="Palatino Linotype"/>
              </a:rPr>
              <a:t> </a:t>
            </a:r>
            <a:r>
              <a:rPr dirty="0" spc="-20" sz="2400">
                <a:latin typeface="Palatino Linotype"/>
                <a:cs typeface="Palatino Linotype"/>
              </a:rPr>
              <a:t>3,3.</a:t>
            </a:r>
            <a:endParaRPr sz="2400">
              <a:latin typeface="Palatino Linotype"/>
              <a:cs typeface="Palatino Linotype"/>
            </a:endParaRPr>
          </a:p>
        </p:txBody>
      </p:sp>
    </p:spTree>
    <p:extLst>
      <p:ext uri="{BB962C8B-B14F-4D97-AF65-F5344CB8AC3E}">
        <p14:creationId xmlns:p14="http://schemas.microsoft.com/office/powerpoint/2010/main" val="21298128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4A269D0-D577-C3C0-4C43-7764ED3CD425}"/>
              </a:ext>
            </a:extLst>
          </p:cNvPr>
          <p:cNvSpPr txBox="1"/>
          <p:nvPr/>
        </p:nvSpPr>
        <p:spPr>
          <a:xfrm>
            <a:off x="1998978" y="355371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a:extLst>
              <a:ext uri="{FF2B5EF4-FFF2-40B4-BE49-F238E27FC236}">
                <a16:creationId xmlns:a16="http://schemas.microsoft.com/office/drawing/2014/main" id="{06194A88-E59F-CC42-3BDA-6876956B1C14}"/>
              </a:ext>
            </a:extLst>
          </p:cNvPr>
          <p:cNvSpPr txBox="1"/>
          <p:nvPr/>
        </p:nvSpPr>
        <p:spPr>
          <a:xfrm>
            <a:off x="3122166" y="355371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a:extLst>
              <a:ext uri="{FF2B5EF4-FFF2-40B4-BE49-F238E27FC236}">
                <a16:creationId xmlns:a16="http://schemas.microsoft.com/office/drawing/2014/main" id="{535CEA94-52AD-46E4-2B71-F2A07128E641}"/>
              </a:ext>
            </a:extLst>
          </p:cNvPr>
          <p:cNvSpPr txBox="1"/>
          <p:nvPr/>
        </p:nvSpPr>
        <p:spPr>
          <a:xfrm>
            <a:off x="4132833" y="292292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a:extLst>
              <a:ext uri="{FF2B5EF4-FFF2-40B4-BE49-F238E27FC236}">
                <a16:creationId xmlns:a16="http://schemas.microsoft.com/office/drawing/2014/main" id="{6098D27F-84D7-DBFE-A03C-9875FFAC0548}"/>
              </a:ext>
            </a:extLst>
          </p:cNvPr>
          <p:cNvSpPr txBox="1"/>
          <p:nvPr/>
        </p:nvSpPr>
        <p:spPr>
          <a:xfrm>
            <a:off x="5275834" y="292292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a:extLst>
              <a:ext uri="{FF2B5EF4-FFF2-40B4-BE49-F238E27FC236}">
                <a16:creationId xmlns:a16="http://schemas.microsoft.com/office/drawing/2014/main" id="{18A12470-2F91-CEB4-299E-0284D1AE32BF}"/>
              </a:ext>
            </a:extLst>
          </p:cNvPr>
          <p:cNvSpPr txBox="1"/>
          <p:nvPr/>
        </p:nvSpPr>
        <p:spPr>
          <a:xfrm>
            <a:off x="6242429" y="292292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a:extLst>
              <a:ext uri="{FF2B5EF4-FFF2-40B4-BE49-F238E27FC236}">
                <a16:creationId xmlns:a16="http://schemas.microsoft.com/office/drawing/2014/main" id="{DE151642-FC62-B969-DE4C-ECD4BC6A55D7}"/>
              </a:ext>
            </a:extLst>
          </p:cNvPr>
          <p:cNvSpPr txBox="1"/>
          <p:nvPr/>
        </p:nvSpPr>
        <p:spPr>
          <a:xfrm>
            <a:off x="1131416" y="380822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a:extLst>
              <a:ext uri="{FF2B5EF4-FFF2-40B4-BE49-F238E27FC236}">
                <a16:creationId xmlns:a16="http://schemas.microsoft.com/office/drawing/2014/main" id="{04DD2F8C-8AB3-37EA-DD0D-8165CCF2D7AB}"/>
              </a:ext>
            </a:extLst>
          </p:cNvPr>
          <p:cNvGraphicFramePr>
            <a:graphicFrameLocks noGrp="1"/>
          </p:cNvGraphicFramePr>
          <p:nvPr/>
        </p:nvGraphicFramePr>
        <p:xfrm>
          <a:off x="1752600" y="3962400"/>
          <a:ext cx="5002530" cy="1989837"/>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a:extLst>
              <a:ext uri="{FF2B5EF4-FFF2-40B4-BE49-F238E27FC236}">
                <a16:creationId xmlns:a16="http://schemas.microsoft.com/office/drawing/2014/main" id="{2F8B246E-821A-153A-C54A-20DCE81171DA}"/>
              </a:ext>
            </a:extLst>
          </p:cNvPr>
          <p:cNvSpPr txBox="1"/>
          <p:nvPr/>
        </p:nvSpPr>
        <p:spPr>
          <a:xfrm>
            <a:off x="1097889" y="393390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0" name="object 11">
            <a:extLst>
              <a:ext uri="{FF2B5EF4-FFF2-40B4-BE49-F238E27FC236}">
                <a16:creationId xmlns:a16="http://schemas.microsoft.com/office/drawing/2014/main" id="{840F69F7-336B-8F28-2110-81AA23B26079}"/>
              </a:ext>
            </a:extLst>
          </p:cNvPr>
          <p:cNvSpPr txBox="1"/>
          <p:nvPr/>
        </p:nvSpPr>
        <p:spPr>
          <a:xfrm>
            <a:off x="1110791" y="86964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1" name="object 12">
            <a:extLst>
              <a:ext uri="{FF2B5EF4-FFF2-40B4-BE49-F238E27FC236}">
                <a16:creationId xmlns:a16="http://schemas.microsoft.com/office/drawing/2014/main" id="{71B0FC84-DE5B-9272-1C0E-96F1F8C3838F}"/>
              </a:ext>
            </a:extLst>
          </p:cNvPr>
          <p:cNvSpPr txBox="1"/>
          <p:nvPr/>
        </p:nvSpPr>
        <p:spPr>
          <a:xfrm>
            <a:off x="2202306" y="333768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2" name="object 13">
            <a:extLst>
              <a:ext uri="{FF2B5EF4-FFF2-40B4-BE49-F238E27FC236}">
                <a16:creationId xmlns:a16="http://schemas.microsoft.com/office/drawing/2014/main" id="{C130945F-694A-12BC-9A54-2E5897DAB3AB}"/>
              </a:ext>
            </a:extLst>
          </p:cNvPr>
          <p:cNvSpPr txBox="1"/>
          <p:nvPr/>
        </p:nvSpPr>
        <p:spPr>
          <a:xfrm>
            <a:off x="1846579" y="307098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3" name="object 14">
            <a:extLst>
              <a:ext uri="{FF2B5EF4-FFF2-40B4-BE49-F238E27FC236}">
                <a16:creationId xmlns:a16="http://schemas.microsoft.com/office/drawing/2014/main" id="{9299A7E2-92A6-8038-BDFF-2525FC759FDF}"/>
              </a:ext>
            </a:extLst>
          </p:cNvPr>
          <p:cNvSpPr txBox="1"/>
          <p:nvPr/>
        </p:nvSpPr>
        <p:spPr>
          <a:xfrm>
            <a:off x="4339208" y="782269"/>
            <a:ext cx="6217920" cy="751488"/>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Now,</a:t>
            </a:r>
            <a:r>
              <a:rPr dirty="0" spc="-5" sz="2400">
                <a:latin typeface="Palatino Linotype"/>
                <a:cs typeface="Palatino Linotype"/>
              </a:rPr>
              <a:t> </a:t>
            </a:r>
            <a:r>
              <a:rPr dirty="0" sz="2400">
                <a:latin typeface="Palatino Linotype"/>
                <a:cs typeface="Palatino Linotype"/>
              </a:rPr>
              <a:t>we’ll</a:t>
            </a:r>
            <a:r>
              <a:rPr dirty="0" spc="-31" sz="2400">
                <a:latin typeface="Palatino Linotype"/>
                <a:cs typeface="Palatino Linotype"/>
              </a:rPr>
              <a:t> </a:t>
            </a:r>
            <a:r>
              <a:rPr dirty="0" sz="2400">
                <a:latin typeface="Palatino Linotype"/>
                <a:cs typeface="Palatino Linotype"/>
              </a:rPr>
              <a:t>move</a:t>
            </a:r>
            <a:r>
              <a:rPr dirty="0" spc="-15" sz="2400">
                <a:latin typeface="Palatino Linotype"/>
                <a:cs typeface="Palatino Linotype"/>
              </a:rPr>
              <a:t> </a:t>
            </a:r>
            <a:r>
              <a:rPr dirty="0" sz="2400">
                <a:latin typeface="Palatino Linotype"/>
                <a:cs typeface="Palatino Linotype"/>
              </a:rPr>
              <a:t>on</a:t>
            </a:r>
            <a:r>
              <a:rPr dirty="0" spc="-15" sz="2400">
                <a:latin typeface="Palatino Linotype"/>
                <a:cs typeface="Palatino Linotype"/>
              </a:rPr>
              <a:t> </a:t>
            </a:r>
            <a:r>
              <a:rPr dirty="0" sz="2400">
                <a:latin typeface="Palatino Linotype"/>
                <a:cs typeface="Palatino Linotype"/>
              </a:rPr>
              <a:t>to</a:t>
            </a:r>
            <a:r>
              <a:rPr dirty="0" spc="-15" sz="2400">
                <a:latin typeface="Palatino Linotype"/>
                <a:cs typeface="Palatino Linotype"/>
              </a:rPr>
              <a:t> </a:t>
            </a:r>
            <a:r>
              <a:rPr dirty="0" sz="2400">
                <a:latin typeface="Palatino Linotype"/>
                <a:cs typeface="Palatino Linotype"/>
              </a:rPr>
              <a:t>cell</a:t>
            </a:r>
            <a:r>
              <a:rPr dirty="0" spc="-15" sz="2400">
                <a:latin typeface="Palatino Linotype"/>
                <a:cs typeface="Palatino Linotype"/>
              </a:rPr>
              <a:t> </a:t>
            </a:r>
            <a:r>
              <a:rPr dirty="0" sz="2400">
                <a:latin typeface="Palatino Linotype"/>
                <a:cs typeface="Palatino Linotype"/>
              </a:rPr>
              <a:t>4,1,</a:t>
            </a:r>
            <a:r>
              <a:rPr dirty="0" spc="-15" sz="2400">
                <a:latin typeface="Palatino Linotype"/>
                <a:cs typeface="Palatino Linotype"/>
              </a:rPr>
              <a:t> </a:t>
            </a:r>
            <a:r>
              <a:rPr dirty="0" spc="-11" sz="2400">
                <a:latin typeface="Palatino Linotype"/>
                <a:cs typeface="Palatino Linotype"/>
              </a:rPr>
              <a:t>corresponding</a:t>
            </a:r>
            <a:endParaRPr sz="2400">
              <a:latin typeface="Palatino Linotype"/>
              <a:cs typeface="Palatino Linotype"/>
            </a:endParaRPr>
          </a:p>
          <a:p>
            <a:pPr marL="12700">
              <a:spcBef>
                <a:spcPts val="5"/>
              </a:spcBef>
            </a:pPr>
            <a:r>
              <a:rPr dirty="0" sz="2400">
                <a:latin typeface="Palatino Linotype"/>
                <a:cs typeface="Palatino Linotype"/>
              </a:rPr>
              <a:t>to</a:t>
            </a:r>
            <a:r>
              <a:rPr dirty="0" spc="-51" sz="2400">
                <a:latin typeface="Palatino Linotype"/>
                <a:cs typeface="Palatino Linotype"/>
              </a:rPr>
              <a:t> </a:t>
            </a:r>
            <a:r>
              <a:rPr dirty="0" sz="2400">
                <a:latin typeface="Palatino Linotype"/>
                <a:cs typeface="Palatino Linotype"/>
              </a:rPr>
              <a:t>substrings</a:t>
            </a:r>
            <a:r>
              <a:rPr dirty="0" spc="-55" sz="2400">
                <a:latin typeface="Palatino Linotype"/>
                <a:cs typeface="Palatino Linotype"/>
              </a:rPr>
              <a:t> </a:t>
            </a:r>
            <a:r>
              <a:rPr dirty="0" sz="2400">
                <a:latin typeface="Palatino Linotype"/>
                <a:cs typeface="Palatino Linotype"/>
              </a:rPr>
              <a:t>of</a:t>
            </a:r>
            <a:r>
              <a:rPr dirty="0" spc="-51" sz="2400">
                <a:latin typeface="Palatino Linotype"/>
                <a:cs typeface="Palatino Linotype"/>
              </a:rPr>
              <a:t> </a:t>
            </a:r>
            <a:r>
              <a:rPr dirty="0" sz="2400">
                <a:latin typeface="Palatino Linotype"/>
                <a:cs typeface="Palatino Linotype"/>
              </a:rPr>
              <a:t>length</a:t>
            </a:r>
            <a:r>
              <a:rPr dirty="0" spc="-40" sz="2400">
                <a:latin typeface="Palatino Linotype"/>
                <a:cs typeface="Palatino Linotype"/>
              </a:rPr>
              <a:t> </a:t>
            </a:r>
            <a:r>
              <a:rPr dirty="0" sz="2400">
                <a:latin typeface="Palatino Linotype"/>
                <a:cs typeface="Palatino Linotype"/>
              </a:rPr>
              <a:t>4</a:t>
            </a:r>
            <a:r>
              <a:rPr dirty="0" spc="-55" sz="2400">
                <a:latin typeface="Palatino Linotype"/>
                <a:cs typeface="Palatino Linotype"/>
              </a:rPr>
              <a:t> </a:t>
            </a:r>
            <a:r>
              <a:rPr dirty="0" sz="2400">
                <a:latin typeface="Palatino Linotype"/>
                <a:cs typeface="Palatino Linotype"/>
              </a:rPr>
              <a:t>starting</a:t>
            </a:r>
            <a:r>
              <a:rPr dirty="0" spc="-25" sz="2400">
                <a:latin typeface="Palatino Linotype"/>
                <a:cs typeface="Palatino Linotype"/>
              </a:rPr>
              <a:t> </a:t>
            </a:r>
            <a:r>
              <a:rPr dirty="0" sz="2400">
                <a:latin typeface="Palatino Linotype"/>
                <a:cs typeface="Palatino Linotype"/>
              </a:rPr>
              <a:t>at</a:t>
            </a:r>
            <a:r>
              <a:rPr dirty="0" spc="-55" sz="2400">
                <a:latin typeface="Palatino Linotype"/>
                <a:cs typeface="Palatino Linotype"/>
              </a:rPr>
              <a:t> </a:t>
            </a:r>
            <a:r>
              <a:rPr dirty="0" sz="2400">
                <a:latin typeface="Palatino Linotype"/>
                <a:cs typeface="Palatino Linotype"/>
              </a:rPr>
              <a:t>position</a:t>
            </a:r>
            <a:r>
              <a:rPr dirty="0" spc="-40" sz="2400">
                <a:latin typeface="Palatino Linotype"/>
                <a:cs typeface="Palatino Linotype"/>
              </a:rPr>
              <a:t> </a:t>
            </a:r>
            <a:r>
              <a:rPr dirty="0" spc="-25" sz="2400">
                <a:latin typeface="Palatino Linotype"/>
                <a:cs typeface="Palatino Linotype"/>
              </a:rPr>
              <a:t>1.</a:t>
            </a:r>
            <a:endParaRPr sz="2400">
              <a:latin typeface="Palatino Linotype"/>
              <a:cs typeface="Palatino Linotype"/>
            </a:endParaRPr>
          </a:p>
        </p:txBody>
      </p:sp>
    </p:spTree>
    <p:extLst>
      <p:ext uri="{BB962C8B-B14F-4D97-AF65-F5344CB8AC3E}">
        <p14:creationId xmlns:p14="http://schemas.microsoft.com/office/powerpoint/2010/main" val="35751072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79370" y="34572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202558" y="34572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1211808" y="3711753"/>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sp>
        <p:nvSpPr>
          <p:cNvPr id="5" name="object 5"/>
          <p:cNvSpPr txBox="1"/>
          <p:nvPr/>
        </p:nvSpPr>
        <p:spPr>
          <a:xfrm>
            <a:off x="2012823" y="3818713"/>
            <a:ext cx="455931" cy="401393"/>
          </a:xfrm>
          <a:prstGeom prst="rect">
            <a:avLst/>
          </a:prstGeom>
        </p:spPr>
        <p:txBody>
          <a:bodyPr bIns="0" lIns="0" numCol="1" rIns="0" rtlCol="0" tIns="16511" vert="horz" wrap="square">
            <a:spAutoFit/>
          </a:bodyPr>
          <a:lstStyle/>
          <a:p>
            <a:pPr marL="126361">
              <a:spcBef>
                <a:spcPts val="131"/>
              </a:spcBef>
            </a:pPr>
            <a:r>
              <a:rPr dirty="0" spc="-51" sz="2500">
                <a:latin typeface="Cambria Math"/>
                <a:cs typeface="Cambria Math"/>
              </a:rPr>
              <a:t>A</a:t>
            </a:r>
            <a:endParaRPr sz="2500">
              <a:latin typeface="Cambria Math"/>
              <a:cs typeface="Cambria Math"/>
            </a:endParaRPr>
          </a:p>
        </p:txBody>
      </p:sp>
      <p:sp>
        <p:nvSpPr>
          <p:cNvPr id="6" name="object 6"/>
          <p:cNvSpPr txBox="1"/>
          <p:nvPr/>
        </p:nvSpPr>
        <p:spPr>
          <a:xfrm>
            <a:off x="2936367" y="3818713"/>
            <a:ext cx="1106805" cy="401393"/>
          </a:xfrm>
          <a:prstGeom prst="rect">
            <a:avLst/>
          </a:prstGeom>
        </p:spPr>
        <p:txBody>
          <a:bodyPr bIns="0" lIns="0" numCol="1" rIns="0" rtlCol="0" tIns="16511" vert="horz" wrap="square">
            <a:spAutoFit/>
          </a:bodyPr>
          <a:lstStyle/>
          <a:p>
            <a:pPr marL="327652">
              <a:spcBef>
                <a:spcPts val="131"/>
              </a:spcBef>
            </a:pPr>
            <a:r>
              <a:rPr dirty="0" spc="-51" sz="2500">
                <a:latin typeface="Cambria Math"/>
                <a:cs typeface="Cambria Math"/>
              </a:rPr>
              <a:t>A</a:t>
            </a:r>
            <a:endParaRPr sz="2500">
              <a:latin typeface="Cambria Math"/>
              <a:cs typeface="Cambria Math"/>
            </a:endParaRPr>
          </a:p>
        </p:txBody>
      </p:sp>
      <p:sp>
        <p:nvSpPr>
          <p:cNvPr id="7" name="object 7"/>
          <p:cNvSpPr txBox="1"/>
          <p:nvPr/>
        </p:nvSpPr>
        <p:spPr>
          <a:xfrm>
            <a:off x="4054984" y="3818713"/>
            <a:ext cx="876300" cy="401393"/>
          </a:xfrm>
          <a:prstGeom prst="rect">
            <a:avLst/>
          </a:prstGeom>
        </p:spPr>
        <p:txBody>
          <a:bodyPr bIns="0" lIns="0" numCol="1" rIns="0" rtlCol="0" tIns="16511" vert="horz" wrap="square">
            <a:spAutoFit/>
          </a:bodyPr>
          <a:lstStyle/>
          <a:p>
            <a:pPr marL="266693">
              <a:spcBef>
                <a:spcPts val="131"/>
              </a:spcBef>
            </a:pPr>
            <a:r>
              <a:rPr dirty="0" spc="-51" sz="2500">
                <a:latin typeface="Cambria Math"/>
                <a:cs typeface="Cambria Math"/>
              </a:rPr>
              <a:t>A</a:t>
            </a:r>
            <a:endParaRPr sz="2500">
              <a:latin typeface="Cambria Math"/>
              <a:cs typeface="Cambria Math"/>
            </a:endParaRPr>
          </a:p>
        </p:txBody>
      </p:sp>
      <p:sp>
        <p:nvSpPr>
          <p:cNvPr id="8" name="object 8"/>
          <p:cNvSpPr txBox="1"/>
          <p:nvPr/>
        </p:nvSpPr>
        <p:spPr>
          <a:xfrm>
            <a:off x="4943476" y="3818713"/>
            <a:ext cx="1092835" cy="401393"/>
          </a:xfrm>
          <a:prstGeom prst="rect">
            <a:avLst/>
          </a:prstGeom>
        </p:spPr>
        <p:txBody>
          <a:bodyPr bIns="0" lIns="0" numCol="1" rIns="0" rtlCol="0" tIns="16511" vert="horz" wrap="square">
            <a:spAutoFit/>
          </a:bodyPr>
          <a:lstStyle/>
          <a:p>
            <a:pPr algn="ctr" marR="175256">
              <a:spcBef>
                <a:spcPts val="131"/>
              </a:spcBef>
            </a:pPr>
            <a:r>
              <a:rPr dirty="0" spc="-51" sz="2500">
                <a:latin typeface="Cambria Math"/>
                <a:cs typeface="Cambria Math"/>
              </a:rPr>
              <a:t>C</a:t>
            </a:r>
            <a:endParaRPr sz="2500">
              <a:latin typeface="Cambria Math"/>
              <a:cs typeface="Cambria Math"/>
            </a:endParaRPr>
          </a:p>
        </p:txBody>
      </p:sp>
      <p:sp>
        <p:nvSpPr>
          <p:cNvPr id="9" name="object 9"/>
          <p:cNvSpPr txBox="1"/>
          <p:nvPr/>
        </p:nvSpPr>
        <p:spPr>
          <a:xfrm>
            <a:off x="6048376" y="3818713"/>
            <a:ext cx="788035" cy="401393"/>
          </a:xfrm>
          <a:prstGeom prst="rect">
            <a:avLst/>
          </a:prstGeom>
        </p:spPr>
        <p:txBody>
          <a:bodyPr bIns="0" lIns="0" numCol="1" rIns="0" rtlCol="0" tIns="16511" vert="horz" wrap="square">
            <a:spAutoFit/>
          </a:bodyPr>
          <a:lstStyle/>
          <a:p>
            <a:pPr marL="234945">
              <a:spcBef>
                <a:spcPts val="131"/>
              </a:spcBef>
            </a:pPr>
            <a:r>
              <a:rPr dirty="0" spc="-51" sz="2500">
                <a:latin typeface="Cambria Math"/>
                <a:cs typeface="Cambria Math"/>
              </a:rPr>
              <a:t>C</a:t>
            </a:r>
            <a:endParaRPr sz="2500">
              <a:latin typeface="Cambria Math"/>
              <a:cs typeface="Cambria Math"/>
            </a:endParaRPr>
          </a:p>
        </p:txBody>
      </p:sp>
      <p:sp>
        <p:nvSpPr>
          <p:cNvPr id="10" name="object 10"/>
          <p:cNvSpPr txBox="1"/>
          <p:nvPr/>
        </p:nvSpPr>
        <p:spPr>
          <a:xfrm>
            <a:off x="1178281" y="3837440"/>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839087" y="4228643"/>
            <a:ext cx="1091565" cy="346249"/>
          </a:xfrm>
          <a:prstGeom prst="rect">
            <a:avLst/>
          </a:prstGeom>
          <a:ln w="12191">
            <a:solidFill>
              <a:srgbClr val="6B9F24"/>
            </a:solidFill>
          </a:ln>
        </p:spPr>
        <p:txBody>
          <a:bodyPr bIns="0" lIns="0" numCol="1" rIns="0" rtlCol="0" tIns="0" vert="horz" wrap="square">
            <a:spAutoFit/>
          </a:bodyPr>
          <a:lstStyle/>
          <a:p>
            <a:pPr marL="299713">
              <a:lnSpc>
                <a:spcPts val="2711"/>
              </a:lnSpc>
            </a:pPr>
            <a:r>
              <a:rPr dirty="0" spc="-51" sz="2500">
                <a:latin typeface="Cambria Math"/>
                <a:cs typeface="Cambria Math"/>
              </a:rPr>
              <a:t>A</a:t>
            </a:r>
            <a:endParaRPr sz="2500">
              <a:latin typeface="Cambria Math"/>
              <a:cs typeface="Cambria Math"/>
            </a:endParaRPr>
          </a:p>
        </p:txBody>
      </p:sp>
      <p:sp>
        <p:nvSpPr>
          <p:cNvPr id="12" name="object 12"/>
          <p:cNvSpPr txBox="1"/>
          <p:nvPr/>
        </p:nvSpPr>
        <p:spPr>
          <a:xfrm>
            <a:off x="2930272" y="4228643"/>
            <a:ext cx="1118871" cy="346249"/>
          </a:xfrm>
          <a:prstGeom prst="rect">
            <a:avLst/>
          </a:prstGeom>
          <a:ln w="12191">
            <a:solidFill>
              <a:srgbClr val="6B9F24"/>
            </a:solidFill>
          </a:ln>
        </p:spPr>
        <p:txBody>
          <a:bodyPr bIns="0" lIns="0" numCol="1" rIns="0" rtlCol="0" tIns="0" vert="horz" wrap="square">
            <a:spAutoFit/>
          </a:bodyPr>
          <a:lstStyle/>
          <a:p>
            <a:pPr marL="333366">
              <a:lnSpc>
                <a:spcPts val="2711"/>
              </a:lnSpc>
            </a:pPr>
            <a:r>
              <a:rPr dirty="0" spc="-51" sz="2500">
                <a:latin typeface="Cambria Math"/>
                <a:cs typeface="Cambria Math"/>
              </a:rPr>
              <a:t>A</a:t>
            </a:r>
            <a:endParaRPr sz="2500">
              <a:latin typeface="Cambria Math"/>
              <a:cs typeface="Cambria Math"/>
            </a:endParaRPr>
          </a:p>
        </p:txBody>
      </p:sp>
      <p:sp>
        <p:nvSpPr>
          <p:cNvPr id="13" name="object 13"/>
          <p:cNvSpPr txBox="1"/>
          <p:nvPr/>
        </p:nvSpPr>
        <p:spPr>
          <a:xfrm>
            <a:off x="4048886" y="4228643"/>
            <a:ext cx="889000" cy="346249"/>
          </a:xfrm>
          <a:prstGeom prst="rect">
            <a:avLst/>
          </a:prstGeom>
          <a:ln w="12192">
            <a:solidFill>
              <a:srgbClr val="6B9F24"/>
            </a:solidFill>
          </a:ln>
        </p:spPr>
        <p:txBody>
          <a:bodyPr bIns="0" lIns="0" numCol="1" rIns="0" rtlCol="0" tIns="0" vert="horz" wrap="square">
            <a:spAutoFit/>
          </a:bodyPr>
          <a:lstStyle/>
          <a:p>
            <a:pPr marL="273044">
              <a:lnSpc>
                <a:spcPts val="2711"/>
              </a:lnSpc>
            </a:pPr>
            <a:r>
              <a:rPr dirty="0" spc="-51" sz="2400">
                <a:latin typeface="Cambria Math"/>
                <a:cs typeface="Cambria Math"/>
              </a:rPr>
              <a:t>∅</a:t>
            </a:r>
            <a:endParaRPr sz="2400">
              <a:latin typeface="Cambria Math"/>
              <a:cs typeface="Cambria Math"/>
            </a:endParaRPr>
          </a:p>
        </p:txBody>
      </p:sp>
      <p:sp>
        <p:nvSpPr>
          <p:cNvPr id="14" name="object 14"/>
          <p:cNvSpPr txBox="1"/>
          <p:nvPr/>
        </p:nvSpPr>
        <p:spPr>
          <a:xfrm>
            <a:off x="4937380" y="4228643"/>
            <a:ext cx="1104900" cy="346249"/>
          </a:xfrm>
          <a:prstGeom prst="rect">
            <a:avLst/>
          </a:prstGeom>
          <a:ln w="12192">
            <a:solidFill>
              <a:srgbClr val="6B9F24"/>
            </a:solidFill>
          </a:ln>
        </p:spPr>
        <p:txBody>
          <a:bodyPr bIns="0" lIns="0" numCol="1" rIns="0" rtlCol="0" tIns="0" vert="horz" wrap="square">
            <a:spAutoFit/>
          </a:bodyPr>
          <a:lstStyle/>
          <a:p>
            <a:pPr algn="ctr" marR="156841">
              <a:lnSpc>
                <a:spcPts val="2711"/>
              </a:lnSpc>
            </a:pPr>
            <a:r>
              <a:rPr dirty="0" spc="-51" sz="2500">
                <a:latin typeface="Cambria Math"/>
                <a:cs typeface="Cambria Math"/>
              </a:rPr>
              <a:t>B</a:t>
            </a:r>
            <a:endParaRPr sz="2500">
              <a:latin typeface="Cambria Math"/>
              <a:cs typeface="Cambria Math"/>
            </a:endParaRPr>
          </a:p>
        </p:txBody>
      </p:sp>
      <p:sp>
        <p:nvSpPr>
          <p:cNvPr id="15" name="object 15"/>
          <p:cNvSpPr txBox="1"/>
          <p:nvPr/>
        </p:nvSpPr>
        <p:spPr>
          <a:xfrm>
            <a:off x="1839087" y="4573067"/>
            <a:ext cx="1091565" cy="346249"/>
          </a:xfrm>
          <a:prstGeom prst="rect">
            <a:avLst/>
          </a:prstGeom>
          <a:ln w="12191">
            <a:solidFill>
              <a:srgbClr val="6B9F24"/>
            </a:solidFill>
          </a:ln>
        </p:spPr>
        <p:txBody>
          <a:bodyPr bIns="0" lIns="0" numCol="1" rIns="0" rtlCol="0" tIns="0" vert="horz" wrap="square">
            <a:spAutoFit/>
          </a:bodyPr>
          <a:lstStyle/>
          <a:p>
            <a:pPr marL="278758">
              <a:lnSpc>
                <a:spcPts val="2711"/>
              </a:lnSpc>
            </a:pPr>
            <a:r>
              <a:rPr dirty="0" spc="-51" sz="2500">
                <a:latin typeface="Cambria Math"/>
                <a:cs typeface="Cambria Math"/>
              </a:rPr>
              <a:t>A</a:t>
            </a:r>
            <a:endParaRPr sz="2500">
              <a:latin typeface="Cambria Math"/>
              <a:cs typeface="Cambria Math"/>
            </a:endParaRPr>
          </a:p>
        </p:txBody>
      </p:sp>
      <p:sp>
        <p:nvSpPr>
          <p:cNvPr id="16" name="object 16"/>
          <p:cNvSpPr txBox="1"/>
          <p:nvPr/>
        </p:nvSpPr>
        <p:spPr>
          <a:xfrm>
            <a:off x="3148202" y="4567098"/>
            <a:ext cx="455931" cy="382156"/>
          </a:xfrm>
          <a:prstGeom prst="rect">
            <a:avLst/>
          </a:prstGeom>
        </p:spPr>
        <p:txBody>
          <a:bodyPr bIns="0" lIns="0" numCol="1" rIns="0" rtlCol="0" tIns="12700" vert="horz" wrap="square">
            <a:spAutoFit/>
          </a:bodyPr>
          <a:lstStyle/>
          <a:p>
            <a:pPr marL="92708">
              <a:spcBef>
                <a:spcPts val="100"/>
              </a:spcBef>
            </a:pPr>
            <a:r>
              <a:rPr dirty="0" spc="-51" sz="2400">
                <a:latin typeface="Cambria Math"/>
                <a:cs typeface="Cambria Math"/>
              </a:rPr>
              <a:t>∅</a:t>
            </a:r>
            <a:endParaRPr sz="2400">
              <a:latin typeface="Cambria Math"/>
              <a:cs typeface="Cambria Math"/>
            </a:endParaRPr>
          </a:p>
        </p:txBody>
      </p:sp>
      <p:sp>
        <p:nvSpPr>
          <p:cNvPr id="17" name="object 17"/>
          <p:cNvSpPr txBox="1"/>
          <p:nvPr/>
        </p:nvSpPr>
        <p:spPr>
          <a:xfrm>
            <a:off x="4054984" y="4550615"/>
            <a:ext cx="876300" cy="401393"/>
          </a:xfrm>
          <a:prstGeom prst="rect">
            <a:avLst/>
          </a:prstGeom>
        </p:spPr>
        <p:txBody>
          <a:bodyPr bIns="0" lIns="0" numCol="1" rIns="0" rtlCol="0" tIns="16511" vert="horz" wrap="square">
            <a:spAutoFit/>
          </a:bodyPr>
          <a:lstStyle/>
          <a:p>
            <a:pPr marL="245105">
              <a:spcBef>
                <a:spcPts val="131"/>
              </a:spcBef>
            </a:pPr>
            <a:r>
              <a:rPr dirty="0" spc="-25" sz="2500">
                <a:latin typeface="Cambria Math"/>
                <a:cs typeface="Cambria Math"/>
              </a:rPr>
              <a:t>S,A</a:t>
            </a:r>
            <a:endParaRPr sz="2500">
              <a:latin typeface="Cambria Math"/>
              <a:cs typeface="Cambria Math"/>
            </a:endParaRPr>
          </a:p>
        </p:txBody>
      </p:sp>
      <p:sp>
        <p:nvSpPr>
          <p:cNvPr id="19" name="object 19"/>
          <p:cNvSpPr txBox="1"/>
          <p:nvPr/>
        </p:nvSpPr>
        <p:spPr>
          <a:xfrm>
            <a:off x="1191183" y="7731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20" name="object 20"/>
          <p:cNvSpPr/>
          <p:nvPr/>
        </p:nvSpPr>
        <p:spPr>
          <a:xfrm>
            <a:off x="1829942" y="3872028"/>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21" name="object 21"/>
          <p:cNvSpPr txBox="1"/>
          <p:nvPr/>
        </p:nvSpPr>
        <p:spPr>
          <a:xfrm>
            <a:off x="2282698" y="32412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22" name="object 22"/>
          <p:cNvSpPr txBox="1"/>
          <p:nvPr/>
        </p:nvSpPr>
        <p:spPr>
          <a:xfrm>
            <a:off x="1926971" y="29745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23" name="object 23"/>
          <p:cNvSpPr txBox="1"/>
          <p:nvPr/>
        </p:nvSpPr>
        <p:spPr>
          <a:xfrm>
            <a:off x="4213225" y="28264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24" name="object 24"/>
          <p:cNvSpPr txBox="1"/>
          <p:nvPr/>
        </p:nvSpPr>
        <p:spPr>
          <a:xfrm>
            <a:off x="5356226" y="28264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25" name="object 25"/>
          <p:cNvSpPr txBox="1"/>
          <p:nvPr/>
        </p:nvSpPr>
        <p:spPr>
          <a:xfrm>
            <a:off x="6322821" y="28264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26" name="object 26"/>
          <p:cNvSpPr txBox="1"/>
          <p:nvPr/>
        </p:nvSpPr>
        <p:spPr>
          <a:xfrm>
            <a:off x="4419600" y="685800"/>
            <a:ext cx="6218555" cy="1120820"/>
          </a:xfrm>
          <a:prstGeom prst="rect">
            <a:avLst/>
          </a:prstGeom>
        </p:spPr>
        <p:txBody>
          <a:bodyPr bIns="0" lIns="0" numCol="1" rIns="0" rtlCol="0" tIns="12700" vert="horz" wrap="square">
            <a:spAutoFit/>
          </a:bodyPr>
          <a:lstStyle/>
          <a:p>
            <a:pPr marL="12700" marR="5080">
              <a:spcBef>
                <a:spcPts val="100"/>
              </a:spcBef>
            </a:pPr>
            <a:r>
              <a:rPr dirty="0" sz="2400">
                <a:latin typeface="Palatino Linotype"/>
                <a:cs typeface="Palatino Linotype"/>
              </a:rPr>
              <a:t>First,</a:t>
            </a:r>
            <a:r>
              <a:rPr dirty="0" spc="-20" sz="2400">
                <a:latin typeface="Palatino Linotype"/>
                <a:cs typeface="Palatino Linotype"/>
              </a:rPr>
              <a:t> </a:t>
            </a:r>
            <a:r>
              <a:rPr dirty="0" sz="2400">
                <a:latin typeface="Palatino Linotype"/>
                <a:cs typeface="Palatino Linotype"/>
              </a:rPr>
              <a:t>we’ll</a:t>
            </a:r>
            <a:r>
              <a:rPr dirty="0" spc="-40" sz="2400">
                <a:latin typeface="Palatino Linotype"/>
                <a:cs typeface="Palatino Linotype"/>
              </a:rPr>
              <a:t> </a:t>
            </a:r>
            <a:r>
              <a:rPr dirty="0" sz="2400">
                <a:latin typeface="Palatino Linotype"/>
                <a:cs typeface="Palatino Linotype"/>
              </a:rPr>
              <a:t>check</a:t>
            </a:r>
            <a:r>
              <a:rPr dirty="0" spc="-25" sz="2400">
                <a:latin typeface="Palatino Linotype"/>
                <a:cs typeface="Palatino Linotype"/>
              </a:rPr>
              <a:t> </a:t>
            </a:r>
            <a:r>
              <a:rPr dirty="0" sz="2400">
                <a:latin typeface="Palatino Linotype"/>
                <a:cs typeface="Palatino Linotype"/>
              </a:rPr>
              <a:t>these</a:t>
            </a:r>
            <a:r>
              <a:rPr dirty="0" spc="-20" sz="2400">
                <a:latin typeface="Palatino Linotype"/>
                <a:cs typeface="Palatino Linotype"/>
              </a:rPr>
              <a:t> </a:t>
            </a:r>
            <a:r>
              <a:rPr dirty="0" sz="2400">
                <a:latin typeface="Palatino Linotype"/>
                <a:cs typeface="Palatino Linotype"/>
              </a:rPr>
              <a:t>two</a:t>
            </a:r>
            <a:r>
              <a:rPr dirty="0" spc="-25" sz="2400">
                <a:latin typeface="Palatino Linotype"/>
                <a:cs typeface="Palatino Linotype"/>
              </a:rPr>
              <a:t> </a:t>
            </a:r>
            <a:r>
              <a:rPr dirty="0" sz="2400">
                <a:latin typeface="Palatino Linotype"/>
                <a:cs typeface="Palatino Linotype"/>
              </a:rPr>
              <a:t>cells,</a:t>
            </a:r>
            <a:r>
              <a:rPr dirty="0" spc="-25" sz="2400">
                <a:latin typeface="Palatino Linotype"/>
                <a:cs typeface="Palatino Linotype"/>
              </a:rPr>
              <a:t> </a:t>
            </a:r>
            <a:r>
              <a:rPr dirty="0" sz="2400">
                <a:latin typeface="Palatino Linotype"/>
                <a:cs typeface="Palatino Linotype"/>
              </a:rPr>
              <a:t>one</a:t>
            </a:r>
            <a:r>
              <a:rPr dirty="0" spc="-15" sz="2400">
                <a:latin typeface="Palatino Linotype"/>
                <a:cs typeface="Palatino Linotype"/>
              </a:rPr>
              <a:t> </a:t>
            </a:r>
            <a:r>
              <a:rPr dirty="0" sz="2400">
                <a:latin typeface="Palatino Linotype"/>
                <a:cs typeface="Palatino Linotype"/>
              </a:rPr>
              <a:t>of</a:t>
            </a:r>
            <a:r>
              <a:rPr dirty="0" spc="-25" sz="2400">
                <a:latin typeface="Palatino Linotype"/>
                <a:cs typeface="Palatino Linotype"/>
              </a:rPr>
              <a:t> </a:t>
            </a:r>
            <a:r>
              <a:rPr dirty="0" spc="-11" sz="2400">
                <a:latin typeface="Palatino Linotype"/>
                <a:cs typeface="Palatino Linotype"/>
              </a:rPr>
              <a:t>which </a:t>
            </a:r>
            <a:r>
              <a:rPr dirty="0" sz="2400">
                <a:latin typeface="Palatino Linotype"/>
                <a:cs typeface="Palatino Linotype"/>
              </a:rPr>
              <a:t>is</a:t>
            </a:r>
            <a:r>
              <a:rPr dirty="0" spc="-40" sz="2400">
                <a:latin typeface="Palatino Linotype"/>
                <a:cs typeface="Palatino Linotype"/>
              </a:rPr>
              <a:t> </a:t>
            </a:r>
            <a:r>
              <a:rPr dirty="0" sz="2400">
                <a:latin typeface="Palatino Linotype"/>
                <a:cs typeface="Palatino Linotype"/>
              </a:rPr>
              <a:t>empty</a:t>
            </a:r>
            <a:r>
              <a:rPr dirty="0" spc="-45" sz="2400">
                <a:latin typeface="Palatino Linotype"/>
                <a:cs typeface="Palatino Linotype"/>
              </a:rPr>
              <a:t> </a:t>
            </a:r>
            <a:r>
              <a:rPr dirty="0" sz="2400">
                <a:latin typeface="Palatino Linotype"/>
                <a:cs typeface="Palatino Linotype"/>
              </a:rPr>
              <a:t>so</a:t>
            </a:r>
            <a:r>
              <a:rPr dirty="0" spc="-40" sz="2400">
                <a:latin typeface="Palatino Linotype"/>
                <a:cs typeface="Palatino Linotype"/>
              </a:rPr>
              <a:t> </a:t>
            </a:r>
            <a:r>
              <a:rPr dirty="0" sz="2400">
                <a:latin typeface="Palatino Linotype"/>
                <a:cs typeface="Palatino Linotype"/>
              </a:rPr>
              <a:t>we</a:t>
            </a:r>
            <a:r>
              <a:rPr dirty="0" spc="-40" sz="2400">
                <a:latin typeface="Palatino Linotype"/>
                <a:cs typeface="Palatino Linotype"/>
              </a:rPr>
              <a:t> </a:t>
            </a:r>
            <a:r>
              <a:rPr dirty="0" sz="2400">
                <a:latin typeface="Palatino Linotype"/>
                <a:cs typeface="Palatino Linotype"/>
              </a:rPr>
              <a:t>clearly</a:t>
            </a:r>
            <a:r>
              <a:rPr dirty="0" spc="-45" sz="2400">
                <a:latin typeface="Palatino Linotype"/>
                <a:cs typeface="Palatino Linotype"/>
              </a:rPr>
              <a:t> </a:t>
            </a:r>
            <a:r>
              <a:rPr dirty="0" sz="2400">
                <a:latin typeface="Palatino Linotype"/>
                <a:cs typeface="Palatino Linotype"/>
              </a:rPr>
              <a:t>won’t</a:t>
            </a:r>
            <a:r>
              <a:rPr dirty="0" spc="-31" sz="2400">
                <a:latin typeface="Palatino Linotype"/>
                <a:cs typeface="Palatino Linotype"/>
              </a:rPr>
              <a:t> </a:t>
            </a:r>
            <a:r>
              <a:rPr dirty="0" sz="2400">
                <a:latin typeface="Palatino Linotype"/>
                <a:cs typeface="Palatino Linotype"/>
              </a:rPr>
              <a:t>find</a:t>
            </a:r>
            <a:r>
              <a:rPr dirty="0" spc="-40" sz="2400">
                <a:latin typeface="Palatino Linotype"/>
                <a:cs typeface="Palatino Linotype"/>
              </a:rPr>
              <a:t> </a:t>
            </a:r>
            <a:r>
              <a:rPr dirty="0" spc="-25" sz="2400">
                <a:latin typeface="Palatino Linotype"/>
                <a:cs typeface="Palatino Linotype"/>
              </a:rPr>
              <a:t>any </a:t>
            </a:r>
            <a:r>
              <a:rPr dirty="0" sz="2400">
                <a:latin typeface="Palatino Linotype"/>
                <a:cs typeface="Palatino Linotype"/>
              </a:rPr>
              <a:t>productions</a:t>
            </a:r>
            <a:r>
              <a:rPr dirty="0" spc="-40" sz="2400">
                <a:latin typeface="Palatino Linotype"/>
                <a:cs typeface="Palatino Linotype"/>
              </a:rPr>
              <a:t> </a:t>
            </a:r>
            <a:r>
              <a:rPr dirty="0" sz="2400">
                <a:latin typeface="Palatino Linotype"/>
                <a:cs typeface="Palatino Linotype"/>
              </a:rPr>
              <a:t>for</a:t>
            </a:r>
            <a:r>
              <a:rPr dirty="0" spc="-51" sz="2400">
                <a:latin typeface="Palatino Linotype"/>
                <a:cs typeface="Palatino Linotype"/>
              </a:rPr>
              <a:t> </a:t>
            </a:r>
            <a:r>
              <a:rPr dirty="0" sz="2400">
                <a:latin typeface="Palatino Linotype"/>
                <a:cs typeface="Palatino Linotype"/>
              </a:rPr>
              <a:t>this</a:t>
            </a:r>
            <a:r>
              <a:rPr dirty="0" spc="-40" sz="2400">
                <a:latin typeface="Palatino Linotype"/>
                <a:cs typeface="Palatino Linotype"/>
              </a:rPr>
              <a:t> </a:t>
            </a:r>
            <a:r>
              <a:rPr dirty="0" spc="-11" sz="2400">
                <a:latin typeface="Palatino Linotype"/>
                <a:cs typeface="Palatino Linotype"/>
              </a:rPr>
              <a:t>combination.</a:t>
            </a:r>
            <a:endParaRPr sz="2400">
              <a:latin typeface="Palatino Linotype"/>
              <a:cs typeface="Palatino Linotype"/>
            </a:endParaRPr>
          </a:p>
        </p:txBody>
      </p:sp>
      <p:grpSp>
        <p:nvGrpSpPr>
          <p:cNvPr id="27" name="object 27"/>
          <p:cNvGrpSpPr/>
          <p:nvPr/>
        </p:nvGrpSpPr>
        <p:grpSpPr>
          <a:xfrm>
            <a:off x="1883283" y="2239571"/>
            <a:ext cx="9427845" cy="3019425"/>
            <a:chOff x="908303" y="2851150"/>
            <a:chExt cx="9427845" cy="3019425"/>
          </a:xfrm>
        </p:grpSpPr>
        <p:sp>
          <p:nvSpPr>
            <p:cNvPr id="28" name="object 28"/>
            <p:cNvSpPr/>
            <p:nvPr/>
          </p:nvSpPr>
          <p:spPr>
            <a:xfrm>
              <a:off x="1018793" y="4502657"/>
              <a:ext cx="1629410" cy="1013460"/>
            </a:xfrm>
            <a:custGeom>
              <a:avLst/>
              <a:gdLst/>
              <a:ahLst/>
              <a:cxnLst/>
              <a:rect b="b" l="l" r="r" t="t"/>
              <a:pathLst>
                <a:path h="1013460" w="1629410">
                  <a:moveTo>
                    <a:pt x="0" y="295656"/>
                  </a:moveTo>
                  <a:lnTo>
                    <a:pt x="493775" y="295656"/>
                  </a:lnTo>
                  <a:lnTo>
                    <a:pt x="493775" y="0"/>
                  </a:lnTo>
                  <a:lnTo>
                    <a:pt x="0" y="0"/>
                  </a:lnTo>
                  <a:lnTo>
                    <a:pt x="0" y="295656"/>
                  </a:lnTo>
                  <a:close/>
                </a:path>
                <a:path h="1013460" w="1629410">
                  <a:moveTo>
                    <a:pt x="1135380" y="1013460"/>
                  </a:moveTo>
                  <a:lnTo>
                    <a:pt x="1629156" y="1013460"/>
                  </a:lnTo>
                  <a:lnTo>
                    <a:pt x="1629156" y="717804"/>
                  </a:lnTo>
                  <a:lnTo>
                    <a:pt x="1135380" y="717804"/>
                  </a:lnTo>
                  <a:lnTo>
                    <a:pt x="1135380" y="1013460"/>
                  </a:lnTo>
                  <a:close/>
                </a:path>
              </a:pathLst>
            </a:custGeom>
            <a:ln w="38100">
              <a:solidFill>
                <a:srgbClr val="226B87"/>
              </a:solidFill>
            </a:ln>
          </p:spPr>
          <p:txBody>
            <a:bodyPr bIns="0" lIns="0" numCol="1" rIns="0" rtlCol="0" tIns="0" wrap="square"/>
            <a:lstStyle/>
            <a:p>
              <a:endParaRPr/>
            </a:p>
          </p:txBody>
        </p:sp>
        <p:sp>
          <p:nvSpPr>
            <p:cNvPr id="29" name="object 29"/>
            <p:cNvSpPr/>
            <p:nvPr/>
          </p:nvSpPr>
          <p:spPr>
            <a:xfrm>
              <a:off x="908303" y="5568695"/>
              <a:ext cx="993775" cy="302260"/>
            </a:xfrm>
            <a:custGeom>
              <a:avLst/>
              <a:gdLst/>
              <a:ahLst/>
              <a:cxnLst/>
              <a:rect b="b" l="l" r="r" t="t"/>
              <a:pathLst>
                <a:path h="302260" w="993775">
                  <a:moveTo>
                    <a:pt x="993647" y="0"/>
                  </a:moveTo>
                  <a:lnTo>
                    <a:pt x="0" y="0"/>
                  </a:lnTo>
                  <a:lnTo>
                    <a:pt x="0" y="301751"/>
                  </a:lnTo>
                  <a:lnTo>
                    <a:pt x="993647" y="301751"/>
                  </a:lnTo>
                  <a:lnTo>
                    <a:pt x="993647" y="0"/>
                  </a:lnTo>
                  <a:close/>
                </a:path>
              </a:pathLst>
            </a:custGeom>
            <a:solidFill>
              <a:srgbClr val="FF0000"/>
            </a:solidFill>
          </p:spPr>
          <p:txBody>
            <a:bodyPr bIns="0" lIns="0" numCol="1" rIns="0" rtlCol="0" tIns="0" wrap="square"/>
            <a:lstStyle/>
            <a:p>
              <a:endParaRPr/>
            </a:p>
          </p:txBody>
        </p:sp>
        <p:sp>
          <p:nvSpPr>
            <p:cNvPr id="30" name="object 30"/>
            <p:cNvSpPr/>
            <p:nvPr/>
          </p:nvSpPr>
          <p:spPr>
            <a:xfrm>
              <a:off x="6134862" y="2861310"/>
              <a:ext cx="4191000" cy="1173480"/>
            </a:xfrm>
            <a:custGeom>
              <a:avLst/>
              <a:gdLst/>
              <a:ahLst/>
              <a:cxnLst/>
              <a:rect b="b" l="l" r="r" t="t"/>
              <a:pathLst>
                <a:path h="1173479" w="4191000">
                  <a:moveTo>
                    <a:pt x="4050030" y="0"/>
                  </a:moveTo>
                  <a:lnTo>
                    <a:pt x="140970" y="0"/>
                  </a:lnTo>
                  <a:lnTo>
                    <a:pt x="96414" y="7187"/>
                  </a:lnTo>
                  <a:lnTo>
                    <a:pt x="57716" y="27200"/>
                  </a:lnTo>
                  <a:lnTo>
                    <a:pt x="27200" y="57716"/>
                  </a:lnTo>
                  <a:lnTo>
                    <a:pt x="7187" y="96414"/>
                  </a:lnTo>
                  <a:lnTo>
                    <a:pt x="0" y="140969"/>
                  </a:lnTo>
                  <a:lnTo>
                    <a:pt x="0" y="1032509"/>
                  </a:lnTo>
                  <a:lnTo>
                    <a:pt x="7187" y="1077065"/>
                  </a:lnTo>
                  <a:lnTo>
                    <a:pt x="27200" y="1115763"/>
                  </a:lnTo>
                  <a:lnTo>
                    <a:pt x="57716" y="1146279"/>
                  </a:lnTo>
                  <a:lnTo>
                    <a:pt x="96414" y="1166292"/>
                  </a:lnTo>
                  <a:lnTo>
                    <a:pt x="140970" y="1173479"/>
                  </a:lnTo>
                  <a:lnTo>
                    <a:pt x="4050030" y="1173479"/>
                  </a:lnTo>
                  <a:lnTo>
                    <a:pt x="4094585" y="1166292"/>
                  </a:lnTo>
                  <a:lnTo>
                    <a:pt x="4133283" y="1146279"/>
                  </a:lnTo>
                  <a:lnTo>
                    <a:pt x="4163799" y="1115763"/>
                  </a:lnTo>
                  <a:lnTo>
                    <a:pt x="4183812" y="1077065"/>
                  </a:lnTo>
                  <a:lnTo>
                    <a:pt x="4190999" y="1032509"/>
                  </a:lnTo>
                  <a:lnTo>
                    <a:pt x="4190999" y="140969"/>
                  </a:lnTo>
                  <a:lnTo>
                    <a:pt x="4183812" y="96414"/>
                  </a:lnTo>
                  <a:lnTo>
                    <a:pt x="4163799" y="57716"/>
                  </a:lnTo>
                  <a:lnTo>
                    <a:pt x="4133283" y="27200"/>
                  </a:lnTo>
                  <a:lnTo>
                    <a:pt x="4094585" y="7187"/>
                  </a:lnTo>
                  <a:lnTo>
                    <a:pt x="4050030" y="0"/>
                  </a:lnTo>
                  <a:close/>
                </a:path>
              </a:pathLst>
            </a:custGeom>
            <a:solidFill>
              <a:srgbClr val="3493B9"/>
            </a:solidFill>
          </p:spPr>
          <p:txBody>
            <a:bodyPr bIns="0" lIns="0" numCol="1" rIns="0" rtlCol="0" tIns="0" wrap="square"/>
            <a:lstStyle/>
            <a:p>
              <a:endParaRPr/>
            </a:p>
          </p:txBody>
        </p:sp>
        <p:sp>
          <p:nvSpPr>
            <p:cNvPr id="31" name="object 31"/>
            <p:cNvSpPr/>
            <p:nvPr/>
          </p:nvSpPr>
          <p:spPr>
            <a:xfrm>
              <a:off x="6134862" y="2861310"/>
              <a:ext cx="4191000" cy="1173480"/>
            </a:xfrm>
            <a:custGeom>
              <a:avLst/>
              <a:gdLst/>
              <a:ahLst/>
              <a:cxnLst/>
              <a:rect b="b" l="l" r="r" t="t"/>
              <a:pathLst>
                <a:path h="1173479" w="4191000">
                  <a:moveTo>
                    <a:pt x="0" y="140969"/>
                  </a:moveTo>
                  <a:lnTo>
                    <a:pt x="7187" y="96414"/>
                  </a:lnTo>
                  <a:lnTo>
                    <a:pt x="27200" y="57716"/>
                  </a:lnTo>
                  <a:lnTo>
                    <a:pt x="57716" y="27200"/>
                  </a:lnTo>
                  <a:lnTo>
                    <a:pt x="96414" y="7187"/>
                  </a:lnTo>
                  <a:lnTo>
                    <a:pt x="140970" y="0"/>
                  </a:lnTo>
                  <a:lnTo>
                    <a:pt x="4050030" y="0"/>
                  </a:lnTo>
                  <a:lnTo>
                    <a:pt x="4094585" y="7187"/>
                  </a:lnTo>
                  <a:lnTo>
                    <a:pt x="4133283" y="27200"/>
                  </a:lnTo>
                  <a:lnTo>
                    <a:pt x="4163799" y="57716"/>
                  </a:lnTo>
                  <a:lnTo>
                    <a:pt x="4183812" y="96414"/>
                  </a:lnTo>
                  <a:lnTo>
                    <a:pt x="4190999" y="140969"/>
                  </a:lnTo>
                  <a:lnTo>
                    <a:pt x="4190999" y="1032509"/>
                  </a:lnTo>
                  <a:lnTo>
                    <a:pt x="4183812" y="1077065"/>
                  </a:lnTo>
                  <a:lnTo>
                    <a:pt x="4163799" y="1115763"/>
                  </a:lnTo>
                  <a:lnTo>
                    <a:pt x="4133283" y="1146279"/>
                  </a:lnTo>
                  <a:lnTo>
                    <a:pt x="4094585" y="1166292"/>
                  </a:lnTo>
                  <a:lnTo>
                    <a:pt x="4050030" y="1173479"/>
                  </a:lnTo>
                  <a:lnTo>
                    <a:pt x="140970" y="1173479"/>
                  </a:lnTo>
                  <a:lnTo>
                    <a:pt x="96414" y="1166292"/>
                  </a:lnTo>
                  <a:lnTo>
                    <a:pt x="57716" y="1146279"/>
                  </a:lnTo>
                  <a:lnTo>
                    <a:pt x="27200" y="1115763"/>
                  </a:lnTo>
                  <a:lnTo>
                    <a:pt x="7187" y="1077065"/>
                  </a:lnTo>
                  <a:lnTo>
                    <a:pt x="0" y="1032509"/>
                  </a:lnTo>
                  <a:lnTo>
                    <a:pt x="0" y="140969"/>
                  </a:lnTo>
                  <a:close/>
                </a:path>
              </a:pathLst>
            </a:custGeom>
            <a:ln w="19812">
              <a:solidFill>
                <a:srgbClr val="226B87"/>
              </a:solidFill>
            </a:ln>
          </p:spPr>
          <p:txBody>
            <a:bodyPr bIns="0" lIns="0" numCol="1" rIns="0" rtlCol="0" tIns="0" wrap="square"/>
            <a:lstStyle/>
            <a:p>
              <a:endParaRPr/>
            </a:p>
          </p:txBody>
        </p:sp>
      </p:grpSp>
      <p:sp>
        <p:nvSpPr>
          <p:cNvPr id="32" name="object 32"/>
          <p:cNvSpPr txBox="1"/>
          <p:nvPr/>
        </p:nvSpPr>
        <p:spPr>
          <a:xfrm>
            <a:off x="7739509" y="2253616"/>
            <a:ext cx="2929255" cy="1120820"/>
          </a:xfrm>
          <a:prstGeom prst="rect">
            <a:avLst/>
          </a:prstGeom>
        </p:spPr>
        <p:txBody>
          <a:bodyPr bIns="0" lIns="0" numCol="1" rIns="0" rtlCol="0" tIns="12700" vert="horz" wrap="square">
            <a:spAutoFit/>
          </a:bodyPr>
          <a:lstStyle/>
          <a:p>
            <a:pPr algn="just" indent="81913" marL="12700" marR="5080">
              <a:spcBef>
                <a:spcPts val="100"/>
              </a:spcBef>
            </a:pPr>
            <a:r>
              <a:rPr dirty="0" sz="2400">
                <a:solidFill>
                  <a:srgbClr val="FFFFFF"/>
                </a:solidFill>
                <a:latin typeface="Palatino Linotype"/>
                <a:cs typeface="Palatino Linotype"/>
              </a:rPr>
              <a:t>Reminder: </a:t>
            </a:r>
            <a:r>
              <a:rPr dirty="0" spc="-11" sz="2400">
                <a:solidFill>
                  <a:srgbClr val="FFFFFF"/>
                </a:solidFill>
                <a:latin typeface="Palatino Linotype"/>
                <a:cs typeface="Palatino Linotype"/>
              </a:rPr>
              <a:t>produces </a:t>
            </a:r>
            <a:r>
              <a:rPr dirty="0" sz="2400">
                <a:solidFill>
                  <a:srgbClr val="FFFFFF"/>
                </a:solidFill>
                <a:latin typeface="Palatino Linotype"/>
                <a:cs typeface="Palatino Linotype"/>
              </a:rPr>
              <a:t>substrings</a:t>
            </a:r>
            <a:r>
              <a:rPr dirty="0" spc="-6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60"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45" sz="2400">
                <a:solidFill>
                  <a:srgbClr val="FFFFFF"/>
                </a:solidFill>
                <a:latin typeface="Palatino Linotype"/>
                <a:cs typeface="Palatino Linotype"/>
              </a:rPr>
              <a:t> </a:t>
            </a:r>
            <a:r>
              <a:rPr dirty="0" spc="-51" sz="2400">
                <a:solidFill>
                  <a:srgbClr val="FFFFFF"/>
                </a:solidFill>
                <a:latin typeface="Palatino Linotype"/>
                <a:cs typeface="Palatino Linotype"/>
              </a:rPr>
              <a:t>1 </a:t>
            </a:r>
            <a:r>
              <a:rPr dirty="0" sz="2400">
                <a:solidFill>
                  <a:srgbClr val="FFFFFF"/>
                </a:solidFill>
                <a:latin typeface="Palatino Linotype"/>
                <a:cs typeface="Palatino Linotype"/>
              </a:rPr>
              <a:t>starting</a:t>
            </a:r>
            <a:r>
              <a:rPr dirty="0" spc="-60" sz="2400">
                <a:solidFill>
                  <a:srgbClr val="FFFFFF"/>
                </a:solidFill>
                <a:latin typeface="Palatino Linotype"/>
                <a:cs typeface="Palatino Linotype"/>
              </a:rPr>
              <a:t> </a:t>
            </a:r>
            <a:r>
              <a:rPr dirty="0" sz="2400">
                <a:solidFill>
                  <a:srgbClr val="FFFFFF"/>
                </a:solidFill>
                <a:latin typeface="Palatino Linotype"/>
                <a:cs typeface="Palatino Linotype"/>
              </a:rPr>
              <a:t>at</a:t>
            </a:r>
            <a:r>
              <a:rPr dirty="0" spc="-71" sz="2400">
                <a:solidFill>
                  <a:srgbClr val="FFFFFF"/>
                </a:solidFill>
                <a:latin typeface="Palatino Linotype"/>
                <a:cs typeface="Palatino Linotype"/>
              </a:rPr>
              <a:t> </a:t>
            </a:r>
            <a:r>
              <a:rPr dirty="0" sz="2400">
                <a:solidFill>
                  <a:srgbClr val="FFFFFF"/>
                </a:solidFill>
                <a:latin typeface="Palatino Linotype"/>
                <a:cs typeface="Palatino Linotype"/>
              </a:rPr>
              <a:t>position</a:t>
            </a:r>
            <a:r>
              <a:rPr dirty="0" spc="-65" sz="2400">
                <a:solidFill>
                  <a:srgbClr val="FFFFFF"/>
                </a:solidFill>
                <a:latin typeface="Palatino Linotype"/>
                <a:cs typeface="Palatino Linotype"/>
              </a:rPr>
              <a:t> </a:t>
            </a:r>
            <a:r>
              <a:rPr dirty="0" spc="-25" sz="2400">
                <a:solidFill>
                  <a:srgbClr val="FFFFFF"/>
                </a:solidFill>
                <a:latin typeface="Palatino Linotype"/>
                <a:cs typeface="Palatino Linotype"/>
              </a:rPr>
              <a:t>1.</a:t>
            </a:r>
            <a:endParaRPr sz="2400">
              <a:latin typeface="Palatino Linotype"/>
              <a:cs typeface="Palatino Linotype"/>
            </a:endParaRPr>
          </a:p>
        </p:txBody>
      </p:sp>
      <p:grpSp>
        <p:nvGrpSpPr>
          <p:cNvPr id="33" name="object 33"/>
          <p:cNvGrpSpPr/>
          <p:nvPr/>
        </p:nvGrpSpPr>
        <p:grpSpPr>
          <a:xfrm>
            <a:off x="2487548" y="2817624"/>
            <a:ext cx="8997315" cy="2830195"/>
            <a:chOff x="1512569" y="3429204"/>
            <a:chExt cx="8997315" cy="2830195"/>
          </a:xfrm>
        </p:grpSpPr>
        <p:sp>
          <p:nvSpPr>
            <p:cNvPr id="34" name="object 34"/>
            <p:cNvSpPr/>
            <p:nvPr/>
          </p:nvSpPr>
          <p:spPr>
            <a:xfrm>
              <a:off x="1512570" y="3429215"/>
              <a:ext cx="8987155" cy="2820035"/>
            </a:xfrm>
            <a:custGeom>
              <a:avLst/>
              <a:gdLst/>
              <a:ahLst/>
              <a:cxnLst/>
              <a:rect b="b" l="l" r="r" t="t"/>
              <a:pathLst>
                <a:path h="2820035" w="8987155">
                  <a:moveTo>
                    <a:pt x="4641634" y="21551"/>
                  </a:moveTo>
                  <a:lnTo>
                    <a:pt x="4641215" y="14008"/>
                  </a:lnTo>
                  <a:lnTo>
                    <a:pt x="4637875" y="7226"/>
                  </a:lnTo>
                  <a:lnTo>
                    <a:pt x="4632401" y="2413"/>
                  </a:lnTo>
                  <a:lnTo>
                    <a:pt x="4625505" y="0"/>
                  </a:lnTo>
                  <a:lnTo>
                    <a:pt x="4617974" y="419"/>
                  </a:lnTo>
                  <a:lnTo>
                    <a:pt x="105816" y="1174305"/>
                  </a:lnTo>
                  <a:lnTo>
                    <a:pt x="96266" y="1137450"/>
                  </a:lnTo>
                  <a:lnTo>
                    <a:pt x="0" y="1221524"/>
                  </a:lnTo>
                  <a:lnTo>
                    <a:pt x="124968" y="1248067"/>
                  </a:lnTo>
                  <a:lnTo>
                    <a:pt x="116763" y="1216482"/>
                  </a:lnTo>
                  <a:lnTo>
                    <a:pt x="115404" y="1211249"/>
                  </a:lnTo>
                  <a:lnTo>
                    <a:pt x="4627626" y="37249"/>
                  </a:lnTo>
                  <a:lnTo>
                    <a:pt x="4634408" y="33921"/>
                  </a:lnTo>
                  <a:lnTo>
                    <a:pt x="4639221" y="28448"/>
                  </a:lnTo>
                  <a:lnTo>
                    <a:pt x="4641634" y="21551"/>
                  </a:lnTo>
                  <a:close/>
                </a:path>
                <a:path h="2820035" w="8987155">
                  <a:moveTo>
                    <a:pt x="8987028" y="1129576"/>
                  </a:moveTo>
                  <a:lnTo>
                    <a:pt x="8981719" y="1083500"/>
                  </a:lnTo>
                  <a:lnTo>
                    <a:pt x="8966606" y="1041209"/>
                  </a:lnTo>
                  <a:lnTo>
                    <a:pt x="8942895" y="1003909"/>
                  </a:lnTo>
                  <a:lnTo>
                    <a:pt x="8911780" y="972794"/>
                  </a:lnTo>
                  <a:lnTo>
                    <a:pt x="8874481" y="949083"/>
                  </a:lnTo>
                  <a:lnTo>
                    <a:pt x="8832190" y="933970"/>
                  </a:lnTo>
                  <a:lnTo>
                    <a:pt x="8786114" y="928662"/>
                  </a:lnTo>
                  <a:lnTo>
                    <a:pt x="4823206" y="928662"/>
                  </a:lnTo>
                  <a:lnTo>
                    <a:pt x="4777117" y="933970"/>
                  </a:lnTo>
                  <a:lnTo>
                    <a:pt x="4734826" y="949083"/>
                  </a:lnTo>
                  <a:lnTo>
                    <a:pt x="4697527" y="972794"/>
                  </a:lnTo>
                  <a:lnTo>
                    <a:pt x="4666412" y="1003909"/>
                  </a:lnTo>
                  <a:lnTo>
                    <a:pt x="4642701" y="1041209"/>
                  </a:lnTo>
                  <a:lnTo>
                    <a:pt x="4627588" y="1083500"/>
                  </a:lnTo>
                  <a:lnTo>
                    <a:pt x="4622292" y="1129576"/>
                  </a:lnTo>
                  <a:lnTo>
                    <a:pt x="4622292" y="2619057"/>
                  </a:lnTo>
                  <a:lnTo>
                    <a:pt x="4627588" y="2665120"/>
                  </a:lnTo>
                  <a:lnTo>
                    <a:pt x="4642701" y="2707411"/>
                  </a:lnTo>
                  <a:lnTo>
                    <a:pt x="4666412" y="2744711"/>
                  </a:lnTo>
                  <a:lnTo>
                    <a:pt x="4697527" y="2775813"/>
                  </a:lnTo>
                  <a:lnTo>
                    <a:pt x="4734826" y="2799537"/>
                  </a:lnTo>
                  <a:lnTo>
                    <a:pt x="4777117" y="2814650"/>
                  </a:lnTo>
                  <a:lnTo>
                    <a:pt x="4823206" y="2819946"/>
                  </a:lnTo>
                  <a:lnTo>
                    <a:pt x="8786114" y="2819946"/>
                  </a:lnTo>
                  <a:lnTo>
                    <a:pt x="8832190" y="2814650"/>
                  </a:lnTo>
                  <a:lnTo>
                    <a:pt x="8874481" y="2799537"/>
                  </a:lnTo>
                  <a:lnTo>
                    <a:pt x="8911780" y="2775813"/>
                  </a:lnTo>
                  <a:lnTo>
                    <a:pt x="8942895" y="2744711"/>
                  </a:lnTo>
                  <a:lnTo>
                    <a:pt x="8966606" y="2707411"/>
                  </a:lnTo>
                  <a:lnTo>
                    <a:pt x="8981719" y="2665120"/>
                  </a:lnTo>
                  <a:lnTo>
                    <a:pt x="8987028" y="2619057"/>
                  </a:lnTo>
                  <a:lnTo>
                    <a:pt x="8987028" y="1129576"/>
                  </a:lnTo>
                  <a:close/>
                </a:path>
              </a:pathLst>
            </a:custGeom>
            <a:solidFill>
              <a:srgbClr val="3493B9"/>
            </a:solidFill>
          </p:spPr>
          <p:txBody>
            <a:bodyPr bIns="0" lIns="0" numCol="1" rIns="0" rtlCol="0" tIns="0" wrap="square"/>
            <a:lstStyle/>
            <a:p>
              <a:endParaRPr/>
            </a:p>
          </p:txBody>
        </p:sp>
        <p:sp>
          <p:nvSpPr>
            <p:cNvPr id="35" name="object 35"/>
            <p:cNvSpPr/>
            <p:nvPr/>
          </p:nvSpPr>
          <p:spPr>
            <a:xfrm>
              <a:off x="6134861" y="4357877"/>
              <a:ext cx="4364990" cy="1891664"/>
            </a:xfrm>
            <a:custGeom>
              <a:avLst/>
              <a:gdLst/>
              <a:ahLst/>
              <a:cxnLst/>
              <a:rect b="b" l="l" r="r" t="t"/>
              <a:pathLst>
                <a:path h="1891664" w="4364990">
                  <a:moveTo>
                    <a:pt x="0" y="200914"/>
                  </a:moveTo>
                  <a:lnTo>
                    <a:pt x="5304" y="154834"/>
                  </a:lnTo>
                  <a:lnTo>
                    <a:pt x="20414" y="112541"/>
                  </a:lnTo>
                  <a:lnTo>
                    <a:pt x="44127" y="75237"/>
                  </a:lnTo>
                  <a:lnTo>
                    <a:pt x="75237" y="44127"/>
                  </a:lnTo>
                  <a:lnTo>
                    <a:pt x="112541" y="20414"/>
                  </a:lnTo>
                  <a:lnTo>
                    <a:pt x="154834" y="5304"/>
                  </a:lnTo>
                  <a:lnTo>
                    <a:pt x="200913" y="0"/>
                  </a:lnTo>
                  <a:lnTo>
                    <a:pt x="4163821" y="0"/>
                  </a:lnTo>
                  <a:lnTo>
                    <a:pt x="4209901" y="5304"/>
                  </a:lnTo>
                  <a:lnTo>
                    <a:pt x="4252194" y="20414"/>
                  </a:lnTo>
                  <a:lnTo>
                    <a:pt x="4289498" y="44127"/>
                  </a:lnTo>
                  <a:lnTo>
                    <a:pt x="4320608" y="75237"/>
                  </a:lnTo>
                  <a:lnTo>
                    <a:pt x="4344321" y="112541"/>
                  </a:lnTo>
                  <a:lnTo>
                    <a:pt x="4359431" y="154834"/>
                  </a:lnTo>
                  <a:lnTo>
                    <a:pt x="4364736" y="200914"/>
                  </a:lnTo>
                  <a:lnTo>
                    <a:pt x="4364736" y="1690395"/>
                  </a:lnTo>
                  <a:lnTo>
                    <a:pt x="4359431" y="1736457"/>
                  </a:lnTo>
                  <a:lnTo>
                    <a:pt x="4344321" y="1778740"/>
                  </a:lnTo>
                  <a:lnTo>
                    <a:pt x="4320608" y="1816040"/>
                  </a:lnTo>
                  <a:lnTo>
                    <a:pt x="4289498" y="1847150"/>
                  </a:lnTo>
                  <a:lnTo>
                    <a:pt x="4252194" y="1870865"/>
                  </a:lnTo>
                  <a:lnTo>
                    <a:pt x="4209901" y="1885978"/>
                  </a:lnTo>
                  <a:lnTo>
                    <a:pt x="4163821" y="1891284"/>
                  </a:lnTo>
                  <a:lnTo>
                    <a:pt x="200913" y="1891284"/>
                  </a:lnTo>
                  <a:lnTo>
                    <a:pt x="154834" y="1885978"/>
                  </a:lnTo>
                  <a:lnTo>
                    <a:pt x="112541" y="1870865"/>
                  </a:lnTo>
                  <a:lnTo>
                    <a:pt x="75237" y="1847150"/>
                  </a:lnTo>
                  <a:lnTo>
                    <a:pt x="44127" y="1816040"/>
                  </a:lnTo>
                  <a:lnTo>
                    <a:pt x="20414" y="1778740"/>
                  </a:lnTo>
                  <a:lnTo>
                    <a:pt x="5304" y="1736457"/>
                  </a:lnTo>
                  <a:lnTo>
                    <a:pt x="0" y="1690395"/>
                  </a:lnTo>
                  <a:lnTo>
                    <a:pt x="0" y="200914"/>
                  </a:lnTo>
                  <a:close/>
                </a:path>
              </a:pathLst>
            </a:custGeom>
            <a:ln w="19812">
              <a:solidFill>
                <a:srgbClr val="226B87"/>
              </a:solidFill>
            </a:ln>
          </p:spPr>
          <p:txBody>
            <a:bodyPr bIns="0" lIns="0" numCol="1" rIns="0" rtlCol="0" tIns="0" wrap="square"/>
            <a:lstStyle/>
            <a:p>
              <a:endParaRPr/>
            </a:p>
          </p:txBody>
        </p:sp>
      </p:grpSp>
      <p:sp>
        <p:nvSpPr>
          <p:cNvPr id="36" name="object 36"/>
          <p:cNvSpPr txBox="1"/>
          <p:nvPr/>
        </p:nvSpPr>
        <p:spPr>
          <a:xfrm>
            <a:off x="7279512" y="3744138"/>
            <a:ext cx="4032251" cy="1858842"/>
          </a:xfrm>
          <a:prstGeom prst="rect">
            <a:avLst/>
          </a:prstGeom>
        </p:spPr>
        <p:txBody>
          <a:bodyPr bIns="0" lIns="0" numCol="1" rIns="0" rtlCol="0" tIns="12065" vert="horz" wrap="square">
            <a:spAutoFit/>
          </a:bodyPr>
          <a:lstStyle/>
          <a:p>
            <a:pPr algn="ctr" marL="12065" marR="5080">
              <a:lnSpc>
                <a:spcPct val="100099"/>
              </a:lnSpc>
              <a:spcBef>
                <a:spcPts val="95"/>
              </a:spcBef>
            </a:pPr>
            <a:r>
              <a:rPr dirty="0" sz="2400">
                <a:solidFill>
                  <a:srgbClr val="FFFFFF"/>
                </a:solidFill>
                <a:latin typeface="Palatino Linotype"/>
                <a:cs typeface="Palatino Linotype"/>
              </a:rPr>
              <a:t>Produces</a:t>
            </a:r>
            <a:r>
              <a:rPr dirty="0" spc="-65" sz="2400">
                <a:solidFill>
                  <a:srgbClr val="FFFFFF"/>
                </a:solidFill>
                <a:latin typeface="Palatino Linotype"/>
                <a:cs typeface="Palatino Linotype"/>
              </a:rPr>
              <a:t> </a:t>
            </a:r>
            <a:r>
              <a:rPr dirty="0" sz="2400">
                <a:solidFill>
                  <a:srgbClr val="FFFFFF"/>
                </a:solidFill>
                <a:latin typeface="Palatino Linotype"/>
                <a:cs typeface="Palatino Linotype"/>
              </a:rPr>
              <a:t>substrings</a:t>
            </a:r>
            <a:r>
              <a:rPr dirty="0" spc="-6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40" sz="2400">
                <a:solidFill>
                  <a:srgbClr val="FFFFFF"/>
                </a:solidFill>
                <a:latin typeface="Palatino Linotype"/>
                <a:cs typeface="Palatino Linotype"/>
              </a:rPr>
              <a:t> </a:t>
            </a:r>
            <a:r>
              <a:rPr dirty="0" spc="-11" sz="2400">
                <a:solidFill>
                  <a:srgbClr val="FFFFFF"/>
                </a:solidFill>
                <a:latin typeface="Palatino Linotype"/>
                <a:cs typeface="Palatino Linotype"/>
              </a:rPr>
              <a:t>length </a:t>
            </a:r>
            <a:r>
              <a:rPr dirty="0" sz="2400">
                <a:solidFill>
                  <a:srgbClr val="FFFFFF"/>
                </a:solidFill>
                <a:latin typeface="Palatino Linotype"/>
                <a:cs typeface="Palatino Linotype"/>
              </a:rPr>
              <a:t>3</a:t>
            </a:r>
            <a:r>
              <a:rPr dirty="0" spc="-55" sz="2400">
                <a:solidFill>
                  <a:srgbClr val="FFFFFF"/>
                </a:solidFill>
                <a:latin typeface="Palatino Linotype"/>
                <a:cs typeface="Palatino Linotype"/>
              </a:rPr>
              <a:t> </a:t>
            </a:r>
            <a:r>
              <a:rPr dirty="0" sz="2400">
                <a:solidFill>
                  <a:srgbClr val="FFFFFF"/>
                </a:solidFill>
                <a:latin typeface="Palatino Linotype"/>
                <a:cs typeface="Palatino Linotype"/>
              </a:rPr>
              <a:t>starting</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at</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position</a:t>
            </a:r>
            <a:r>
              <a:rPr dirty="0" spc="-45" sz="2400">
                <a:solidFill>
                  <a:srgbClr val="FFFFFF"/>
                </a:solidFill>
                <a:latin typeface="Palatino Linotype"/>
                <a:cs typeface="Palatino Linotype"/>
              </a:rPr>
              <a:t> </a:t>
            </a:r>
            <a:r>
              <a:rPr dirty="0" spc="-51" sz="2400">
                <a:solidFill>
                  <a:srgbClr val="FFFFFF"/>
                </a:solidFill>
                <a:latin typeface="Palatino Linotype"/>
                <a:cs typeface="Palatino Linotype"/>
              </a:rPr>
              <a:t>2 </a:t>
            </a:r>
            <a:r>
              <a:rPr dirty="0" sz="2400">
                <a:solidFill>
                  <a:srgbClr val="FFFFFF"/>
                </a:solidFill>
                <a:latin typeface="Palatino Linotype"/>
                <a:cs typeface="Palatino Linotype"/>
              </a:rPr>
              <a:t>(basically</a:t>
            </a:r>
            <a:r>
              <a:rPr dirty="0" spc="-65" sz="2400">
                <a:solidFill>
                  <a:srgbClr val="FFFFFF"/>
                </a:solidFill>
                <a:latin typeface="Palatino Linotype"/>
                <a:cs typeface="Palatino Linotype"/>
              </a:rPr>
              <a:t> </a:t>
            </a:r>
            <a:r>
              <a:rPr dirty="0" sz="2400">
                <a:solidFill>
                  <a:srgbClr val="FFFFFF"/>
                </a:solidFill>
                <a:latin typeface="Palatino Linotype"/>
                <a:cs typeface="Palatino Linotype"/>
              </a:rPr>
              <a:t>this</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saying</a:t>
            </a:r>
            <a:r>
              <a:rPr dirty="0" spc="-40" sz="2400">
                <a:solidFill>
                  <a:srgbClr val="FFFFFF"/>
                </a:solidFill>
                <a:latin typeface="Palatino Linotype"/>
                <a:cs typeface="Palatino Linotype"/>
              </a:rPr>
              <a:t> </a:t>
            </a:r>
            <a:r>
              <a:rPr dirty="0" spc="-20" sz="2400">
                <a:solidFill>
                  <a:srgbClr val="FFFFFF"/>
                </a:solidFill>
                <a:latin typeface="Palatino Linotype"/>
                <a:cs typeface="Palatino Linotype"/>
              </a:rPr>
              <a:t>that </a:t>
            </a:r>
            <a:r>
              <a:rPr dirty="0" sz="2400">
                <a:solidFill>
                  <a:srgbClr val="FFFFFF"/>
                </a:solidFill>
                <a:latin typeface="Palatino Linotype"/>
                <a:cs typeface="Palatino Linotype"/>
              </a:rPr>
              <a:t>no</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variable</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in</a:t>
            </a:r>
            <a:r>
              <a:rPr dirty="0" spc="-25" sz="2400">
                <a:solidFill>
                  <a:srgbClr val="FFFFFF"/>
                </a:solidFill>
                <a:latin typeface="Palatino Linotype"/>
                <a:cs typeface="Palatino Linotype"/>
              </a:rPr>
              <a:t> </a:t>
            </a:r>
            <a:r>
              <a:rPr dirty="0" sz="2400">
                <a:solidFill>
                  <a:srgbClr val="FFFFFF"/>
                </a:solidFill>
                <a:latin typeface="Palatino Linotype"/>
                <a:cs typeface="Palatino Linotype"/>
              </a:rPr>
              <a:t>this</a:t>
            </a:r>
            <a:r>
              <a:rPr dirty="0" spc="-11" sz="2400">
                <a:solidFill>
                  <a:srgbClr val="FFFFFF"/>
                </a:solidFill>
                <a:latin typeface="Palatino Linotype"/>
                <a:cs typeface="Palatino Linotype"/>
              </a:rPr>
              <a:t> grammar </a:t>
            </a:r>
            <a:r>
              <a:rPr dirty="0" sz="2400">
                <a:solidFill>
                  <a:srgbClr val="FFFFFF"/>
                </a:solidFill>
                <a:latin typeface="Palatino Linotype"/>
                <a:cs typeface="Palatino Linotype"/>
              </a:rPr>
              <a:t>can</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produce</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the</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string</a:t>
            </a:r>
            <a:r>
              <a:rPr dirty="0" spc="-35" sz="2400">
                <a:solidFill>
                  <a:srgbClr val="FFFFFF"/>
                </a:solidFill>
                <a:latin typeface="Palatino Linotype"/>
                <a:cs typeface="Palatino Linotype"/>
              </a:rPr>
              <a:t> </a:t>
            </a:r>
            <a:r>
              <a:rPr dirty="0" spc="-11" sz="2400">
                <a:solidFill>
                  <a:srgbClr val="FFFFFF"/>
                </a:solidFill>
                <a:latin typeface="Cambria Math"/>
                <a:cs typeface="Cambria Math"/>
              </a:rPr>
              <a:t>𝑎𝑎𝑏</a:t>
            </a:r>
            <a:r>
              <a:rPr dirty="0" spc="-11" sz="2400">
                <a:solidFill>
                  <a:srgbClr val="FFFFFF"/>
                </a:solidFill>
                <a:latin typeface="Palatino Linotype"/>
                <a:cs typeface="Palatino Linotype"/>
              </a:rPr>
              <a:t>.)</a:t>
            </a:r>
            <a:endParaRPr sz="2400">
              <a:latin typeface="Palatino Linotype"/>
              <a:cs typeface="Palatino Linotype"/>
            </a:endParaRPr>
          </a:p>
        </p:txBody>
      </p:sp>
      <p:sp>
        <p:nvSpPr>
          <p:cNvPr id="37" name="object 37"/>
          <p:cNvSpPr/>
          <p:nvPr/>
        </p:nvSpPr>
        <p:spPr>
          <a:xfrm>
            <a:off x="3622929" y="4673652"/>
            <a:ext cx="3506471" cy="138431"/>
          </a:xfrm>
          <a:custGeom>
            <a:avLst/>
            <a:gdLst/>
            <a:ahLst/>
            <a:cxnLst/>
            <a:rect b="b" l="l" r="r" t="t"/>
            <a:pathLst>
              <a:path h="138429" w="3506470">
                <a:moveTo>
                  <a:pt x="113283" y="24003"/>
                </a:moveTo>
                <a:lnTo>
                  <a:pt x="0" y="83185"/>
                </a:lnTo>
                <a:lnTo>
                  <a:pt x="115316" y="138303"/>
                </a:lnTo>
                <a:lnTo>
                  <a:pt x="114643" y="100457"/>
                </a:lnTo>
                <a:lnTo>
                  <a:pt x="95631" y="100457"/>
                </a:lnTo>
                <a:lnTo>
                  <a:pt x="88165" y="99129"/>
                </a:lnTo>
                <a:lnTo>
                  <a:pt x="82010" y="95170"/>
                </a:lnTo>
                <a:lnTo>
                  <a:pt x="77807" y="89187"/>
                </a:lnTo>
                <a:lnTo>
                  <a:pt x="76200" y="81788"/>
                </a:lnTo>
                <a:lnTo>
                  <a:pt x="77527" y="74340"/>
                </a:lnTo>
                <a:lnTo>
                  <a:pt x="81486" y="68214"/>
                </a:lnTo>
                <a:lnTo>
                  <a:pt x="87469" y="64017"/>
                </a:lnTo>
                <a:lnTo>
                  <a:pt x="94868" y="62357"/>
                </a:lnTo>
                <a:lnTo>
                  <a:pt x="113959" y="62006"/>
                </a:lnTo>
                <a:lnTo>
                  <a:pt x="113534" y="38100"/>
                </a:lnTo>
                <a:lnTo>
                  <a:pt x="113430" y="32242"/>
                </a:lnTo>
                <a:lnTo>
                  <a:pt x="113321" y="26116"/>
                </a:lnTo>
                <a:lnTo>
                  <a:pt x="113283" y="24003"/>
                </a:lnTo>
                <a:close/>
              </a:path>
              <a:path h="138429" w="3506470">
                <a:moveTo>
                  <a:pt x="113959" y="62006"/>
                </a:moveTo>
                <a:lnTo>
                  <a:pt x="77527" y="74340"/>
                </a:lnTo>
                <a:lnTo>
                  <a:pt x="76200" y="81788"/>
                </a:lnTo>
                <a:lnTo>
                  <a:pt x="77807" y="89187"/>
                </a:lnTo>
                <a:lnTo>
                  <a:pt x="82010" y="95170"/>
                </a:lnTo>
                <a:lnTo>
                  <a:pt x="88165" y="99129"/>
                </a:lnTo>
                <a:lnTo>
                  <a:pt x="95631" y="100457"/>
                </a:lnTo>
                <a:lnTo>
                  <a:pt x="114636" y="100107"/>
                </a:lnTo>
                <a:lnTo>
                  <a:pt x="114178" y="74340"/>
                </a:lnTo>
                <a:lnTo>
                  <a:pt x="114069" y="68214"/>
                </a:lnTo>
                <a:lnTo>
                  <a:pt x="113959" y="62006"/>
                </a:lnTo>
                <a:close/>
              </a:path>
              <a:path h="138429" w="3506470">
                <a:moveTo>
                  <a:pt x="114636" y="100107"/>
                </a:moveTo>
                <a:lnTo>
                  <a:pt x="95631" y="100457"/>
                </a:lnTo>
                <a:lnTo>
                  <a:pt x="114643" y="100457"/>
                </a:lnTo>
                <a:lnTo>
                  <a:pt x="114636" y="100107"/>
                </a:lnTo>
                <a:close/>
              </a:path>
              <a:path h="138429" w="3506470">
                <a:moveTo>
                  <a:pt x="3486785" y="0"/>
                </a:moveTo>
                <a:lnTo>
                  <a:pt x="113959" y="62006"/>
                </a:lnTo>
                <a:lnTo>
                  <a:pt x="114311" y="81788"/>
                </a:lnTo>
                <a:lnTo>
                  <a:pt x="114336" y="83185"/>
                </a:lnTo>
                <a:lnTo>
                  <a:pt x="114442" y="89187"/>
                </a:lnTo>
                <a:lnTo>
                  <a:pt x="114549" y="95170"/>
                </a:lnTo>
                <a:lnTo>
                  <a:pt x="114636" y="100107"/>
                </a:lnTo>
                <a:lnTo>
                  <a:pt x="3487420" y="38100"/>
                </a:lnTo>
                <a:lnTo>
                  <a:pt x="3494821" y="36439"/>
                </a:lnTo>
                <a:lnTo>
                  <a:pt x="3500818" y="32242"/>
                </a:lnTo>
                <a:lnTo>
                  <a:pt x="3504815" y="26116"/>
                </a:lnTo>
                <a:lnTo>
                  <a:pt x="3506216" y="18669"/>
                </a:lnTo>
                <a:lnTo>
                  <a:pt x="3504555" y="11269"/>
                </a:lnTo>
                <a:lnTo>
                  <a:pt x="3500358" y="5286"/>
                </a:lnTo>
                <a:lnTo>
                  <a:pt x="3494232" y="1327"/>
                </a:lnTo>
                <a:lnTo>
                  <a:pt x="3486785" y="0"/>
                </a:lnTo>
                <a:close/>
              </a:path>
            </a:pathLst>
          </a:custGeom>
          <a:solidFill>
            <a:srgbClr val="3493B9"/>
          </a:solidFill>
        </p:spPr>
        <p:txBody>
          <a:bodyPr bIns="0" lIns="0" numCol="1" rIns="0" rtlCol="0" tIns="0" wrap="square"/>
          <a:lstStyle/>
          <a:p>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0770" y="35334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2973958" y="35334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3984625" y="29026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127626" y="29026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094221" y="29026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983208" y="3787953"/>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604392" y="3942131"/>
          <a:ext cx="5006976" cy="1989837"/>
        </p:xfrm>
        <a:graphic>
          <a:graphicData uri="http://schemas.openxmlformats.org/drawingml/2006/table">
            <a:tbl>
              <a:tblPr bandRow="1" firstRow="1">
                <a:tableStyleId>{2D5ABB26-0587-4C30-8999-92F81FD0307C}</a:tableStyleId>
              </a:tblPr>
              <a:tblGrid>
                <a:gridCol w="154940">
                  <a:extLst>
                    <a:ext uri="{9D8B030D-6E8A-4147-A177-3AD203B41FA5}">
                      <a16:colId xmlns:a16="http://schemas.microsoft.com/office/drawing/2014/main" val="20000"/>
                    </a:ext>
                  </a:extLst>
                </a:gridCol>
                <a:gridCol w="494029">
                  <a:extLst>
                    <a:ext uri="{9D8B030D-6E8A-4147-A177-3AD203B41FA5}">
                      <a16:colId xmlns:a16="http://schemas.microsoft.com/office/drawing/2014/main" val="20001"/>
                    </a:ext>
                  </a:extLst>
                </a:gridCol>
                <a:gridCol w="443231">
                  <a:extLst>
                    <a:ext uri="{9D8B030D-6E8A-4147-A177-3AD203B41FA5}">
                      <a16:colId xmlns:a16="http://schemas.microsoft.com/office/drawing/2014/main" val="20002"/>
                    </a:ext>
                  </a:extLst>
                </a:gridCol>
                <a:gridCol w="1118871">
                  <a:extLst>
                    <a:ext uri="{9D8B030D-6E8A-4147-A177-3AD203B41FA5}">
                      <a16:colId xmlns:a16="http://schemas.microsoft.com/office/drawing/2014/main" val="20003"/>
                    </a:ext>
                  </a:extLst>
                </a:gridCol>
                <a:gridCol w="158115">
                  <a:extLst>
                    <a:ext uri="{9D8B030D-6E8A-4147-A177-3AD203B41FA5}">
                      <a16:colId xmlns:a16="http://schemas.microsoft.com/office/drawing/2014/main" val="20004"/>
                    </a:ext>
                  </a:extLst>
                </a:gridCol>
                <a:gridCol w="494031">
                  <a:extLst>
                    <a:ext uri="{9D8B030D-6E8A-4147-A177-3AD203B41FA5}">
                      <a16:colId xmlns:a16="http://schemas.microsoft.com/office/drawing/2014/main" val="20005"/>
                    </a:ext>
                  </a:extLst>
                </a:gridCol>
                <a:gridCol w="237489">
                  <a:extLst>
                    <a:ext uri="{9D8B030D-6E8A-4147-A177-3AD203B41FA5}">
                      <a16:colId xmlns:a16="http://schemas.microsoft.com/office/drawing/2014/main" val="20006"/>
                    </a:ext>
                  </a:extLst>
                </a:gridCol>
                <a:gridCol w="1105535">
                  <a:extLst>
                    <a:ext uri="{9D8B030D-6E8A-4147-A177-3AD203B41FA5}">
                      <a16:colId xmlns:a16="http://schemas.microsoft.com/office/drawing/2014/main" val="20007"/>
                    </a:ext>
                  </a:extLst>
                </a:gridCol>
                <a:gridCol w="800735">
                  <a:extLst>
                    <a:ext uri="{9D8B030D-6E8A-4147-A177-3AD203B41FA5}">
                      <a16:colId xmlns:a16="http://schemas.microsoft.com/office/drawing/2014/main" val="20008"/>
                    </a:ext>
                  </a:extLst>
                </a:gridCol>
              </a:tblGrid>
              <a:tr h="416052">
                <a:tc gridSpan="3">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45415">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14935">
                        <a:lnSpc>
                          <a:spcPts val="2610"/>
                        </a:lnSpc>
                      </a:pPr>
                      <a:r>
                        <a:rPr dirty="0" spc="-50" sz="2400">
                          <a:latin typeface="Cambria Math"/>
                          <a:cs typeface="Cambria Math"/>
                        </a:rPr>
                        <a:t>∅</a:t>
                      </a:r>
                      <a:endParaRPr sz="24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gridSpan="3">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370205">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949681" y="3913640"/>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962583" y="8493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2054098" y="33174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1698371" y="30507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4"/>
          <p:cNvSpPr txBox="1"/>
          <p:nvPr/>
        </p:nvSpPr>
        <p:spPr>
          <a:xfrm>
            <a:off x="4191000" y="762000"/>
            <a:ext cx="6223635" cy="751488"/>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Next,</a:t>
            </a:r>
            <a:r>
              <a:rPr dirty="0" spc="-65" sz="2400">
                <a:latin typeface="Palatino Linotype"/>
                <a:cs typeface="Palatino Linotype"/>
              </a:rPr>
              <a:t> </a:t>
            </a:r>
            <a:r>
              <a:rPr dirty="0" sz="2400">
                <a:latin typeface="Palatino Linotype"/>
                <a:cs typeface="Palatino Linotype"/>
              </a:rPr>
              <a:t>there’s</a:t>
            </a:r>
            <a:r>
              <a:rPr dirty="0" spc="-65" sz="2400">
                <a:latin typeface="Palatino Linotype"/>
                <a:cs typeface="Palatino Linotype"/>
              </a:rPr>
              <a:t> </a:t>
            </a:r>
            <a:r>
              <a:rPr dirty="0" sz="2400">
                <a:latin typeface="Palatino Linotype"/>
                <a:cs typeface="Palatino Linotype"/>
              </a:rPr>
              <a:t>another</a:t>
            </a:r>
            <a:r>
              <a:rPr dirty="0" spc="-51" sz="2400">
                <a:latin typeface="Palatino Linotype"/>
                <a:cs typeface="Palatino Linotype"/>
              </a:rPr>
              <a:t> </a:t>
            </a:r>
            <a:r>
              <a:rPr dirty="0" sz="2400">
                <a:latin typeface="Palatino Linotype"/>
                <a:cs typeface="Palatino Linotype"/>
              </a:rPr>
              <a:t>production</a:t>
            </a:r>
            <a:r>
              <a:rPr dirty="0" spc="-60" sz="2400">
                <a:latin typeface="Palatino Linotype"/>
                <a:cs typeface="Palatino Linotype"/>
              </a:rPr>
              <a:t> </a:t>
            </a:r>
            <a:r>
              <a:rPr dirty="0" sz="2400">
                <a:latin typeface="Palatino Linotype"/>
                <a:cs typeface="Palatino Linotype"/>
              </a:rPr>
              <a:t>involving</a:t>
            </a:r>
            <a:r>
              <a:rPr dirty="0" spc="-51" sz="2400">
                <a:latin typeface="Palatino Linotype"/>
                <a:cs typeface="Palatino Linotype"/>
              </a:rPr>
              <a:t> </a:t>
            </a:r>
            <a:r>
              <a:rPr dirty="0" spc="-25" sz="2400">
                <a:latin typeface="Palatino Linotype"/>
                <a:cs typeface="Palatino Linotype"/>
              </a:rPr>
              <a:t>an</a:t>
            </a:r>
            <a:endParaRPr sz="2400">
              <a:latin typeface="Palatino Linotype"/>
              <a:cs typeface="Palatino Linotype"/>
            </a:endParaRPr>
          </a:p>
          <a:p>
            <a:pPr marL="12700">
              <a:spcBef>
                <a:spcPts val="5"/>
              </a:spcBef>
            </a:pPr>
            <a:r>
              <a:rPr dirty="0" sz="2400">
                <a:latin typeface="Palatino Linotype"/>
                <a:cs typeface="Palatino Linotype"/>
              </a:rPr>
              <a:t>empty</a:t>
            </a:r>
            <a:r>
              <a:rPr dirty="0" spc="-55" sz="2400">
                <a:latin typeface="Palatino Linotype"/>
                <a:cs typeface="Palatino Linotype"/>
              </a:rPr>
              <a:t> </a:t>
            </a:r>
            <a:r>
              <a:rPr dirty="0" sz="2400">
                <a:latin typeface="Palatino Linotype"/>
                <a:cs typeface="Palatino Linotype"/>
              </a:rPr>
              <a:t>set,</a:t>
            </a:r>
            <a:r>
              <a:rPr dirty="0" spc="-51" sz="2400">
                <a:latin typeface="Palatino Linotype"/>
                <a:cs typeface="Palatino Linotype"/>
              </a:rPr>
              <a:t> </a:t>
            </a:r>
            <a:r>
              <a:rPr dirty="0" sz="2400">
                <a:latin typeface="Palatino Linotype"/>
                <a:cs typeface="Palatino Linotype"/>
              </a:rPr>
              <a:t>so</a:t>
            </a:r>
            <a:r>
              <a:rPr dirty="0" spc="-60" sz="2400">
                <a:latin typeface="Palatino Linotype"/>
                <a:cs typeface="Palatino Linotype"/>
              </a:rPr>
              <a:t> </a:t>
            </a:r>
            <a:r>
              <a:rPr dirty="0" sz="2400">
                <a:latin typeface="Palatino Linotype"/>
                <a:cs typeface="Palatino Linotype"/>
              </a:rPr>
              <a:t>we</a:t>
            </a:r>
            <a:r>
              <a:rPr dirty="0" spc="-51" sz="2400">
                <a:latin typeface="Palatino Linotype"/>
                <a:cs typeface="Palatino Linotype"/>
              </a:rPr>
              <a:t> </a:t>
            </a:r>
            <a:r>
              <a:rPr dirty="0" sz="2400">
                <a:latin typeface="Palatino Linotype"/>
                <a:cs typeface="Palatino Linotype"/>
              </a:rPr>
              <a:t>won’t</a:t>
            </a:r>
            <a:r>
              <a:rPr dirty="0" spc="-55" sz="2400">
                <a:latin typeface="Palatino Linotype"/>
                <a:cs typeface="Palatino Linotype"/>
              </a:rPr>
              <a:t> </a:t>
            </a:r>
            <a:r>
              <a:rPr dirty="0" sz="2400">
                <a:latin typeface="Palatino Linotype"/>
                <a:cs typeface="Palatino Linotype"/>
              </a:rPr>
              <a:t>find</a:t>
            </a:r>
            <a:r>
              <a:rPr dirty="0" spc="-51" sz="2400">
                <a:latin typeface="Palatino Linotype"/>
                <a:cs typeface="Palatino Linotype"/>
              </a:rPr>
              <a:t> </a:t>
            </a:r>
            <a:r>
              <a:rPr dirty="0" sz="2400">
                <a:latin typeface="Palatino Linotype"/>
                <a:cs typeface="Palatino Linotype"/>
              </a:rPr>
              <a:t>anything</a:t>
            </a:r>
            <a:r>
              <a:rPr dirty="0" spc="-15" sz="2400">
                <a:latin typeface="Palatino Linotype"/>
                <a:cs typeface="Palatino Linotype"/>
              </a:rPr>
              <a:t> </a:t>
            </a:r>
            <a:r>
              <a:rPr dirty="0" spc="-11" sz="2400">
                <a:latin typeface="Palatino Linotype"/>
                <a:cs typeface="Palatino Linotype"/>
              </a:rPr>
              <a:t>here.</a:t>
            </a:r>
            <a:endParaRPr sz="2400">
              <a:latin typeface="Palatino Linotype"/>
              <a:cs typeface="Palatino Linotype"/>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26970" y="38382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050158" y="38382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060825" y="32074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203826" y="32074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170421" y="32074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059408" y="4092753"/>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680592" y="4246931"/>
          <a:ext cx="5006973" cy="1989837"/>
        </p:xfrm>
        <a:graphic>
          <a:graphicData uri="http://schemas.openxmlformats.org/drawingml/2006/table">
            <a:tbl>
              <a:tblPr bandRow="1" firstRow="1">
                <a:tableStyleId>{2D5ABB26-0587-4C30-8999-92F81FD0307C}</a:tableStyleId>
              </a:tblPr>
              <a:tblGrid>
                <a:gridCol w="154940">
                  <a:extLst>
                    <a:ext uri="{9D8B030D-6E8A-4147-A177-3AD203B41FA5}">
                      <a16:colId xmlns:a16="http://schemas.microsoft.com/office/drawing/2014/main" val="20000"/>
                    </a:ext>
                  </a:extLst>
                </a:gridCol>
                <a:gridCol w="494029">
                  <a:extLst>
                    <a:ext uri="{9D8B030D-6E8A-4147-A177-3AD203B41FA5}">
                      <a16:colId xmlns:a16="http://schemas.microsoft.com/office/drawing/2014/main" val="20001"/>
                    </a:ext>
                  </a:extLst>
                </a:gridCol>
                <a:gridCol w="443231">
                  <a:extLst>
                    <a:ext uri="{9D8B030D-6E8A-4147-A177-3AD203B41FA5}">
                      <a16:colId xmlns:a16="http://schemas.microsoft.com/office/drawing/2014/main" val="20002"/>
                    </a:ext>
                  </a:extLst>
                </a:gridCol>
                <a:gridCol w="1118871">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283209">
                  <a:extLst>
                    <a:ext uri="{9D8B030D-6E8A-4147-A177-3AD203B41FA5}">
                      <a16:colId xmlns:a16="http://schemas.microsoft.com/office/drawing/2014/main" val="20005"/>
                    </a:ext>
                  </a:extLst>
                </a:gridCol>
                <a:gridCol w="494029">
                  <a:extLst>
                    <a:ext uri="{9D8B030D-6E8A-4147-A177-3AD203B41FA5}">
                      <a16:colId xmlns:a16="http://schemas.microsoft.com/office/drawing/2014/main" val="20006"/>
                    </a:ext>
                  </a:extLst>
                </a:gridCol>
                <a:gridCol w="328929">
                  <a:extLst>
                    <a:ext uri="{9D8B030D-6E8A-4147-A177-3AD203B41FA5}">
                      <a16:colId xmlns:a16="http://schemas.microsoft.com/office/drawing/2014/main" val="20007"/>
                    </a:ext>
                  </a:extLst>
                </a:gridCol>
                <a:gridCol w="800735">
                  <a:extLst>
                    <a:ext uri="{9D8B030D-6E8A-4147-A177-3AD203B41FA5}">
                      <a16:colId xmlns:a16="http://schemas.microsoft.com/office/drawing/2014/main" val="20008"/>
                    </a:ext>
                  </a:extLst>
                </a:gridCol>
              </a:tblGrid>
              <a:tr h="416052">
                <a:tc gridSpan="3">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92075">
                        <a:lnSpc>
                          <a:spcPts val="2710"/>
                        </a:lnSpc>
                      </a:pPr>
                      <a:r>
                        <a:rPr dirty="0" spc="-50" sz="2500">
                          <a:latin typeface="Cambria Math"/>
                          <a:cs typeface="Cambria Math"/>
                        </a:rPr>
                        <a:t>C</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gridSpan="3">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gn="ctr" marR="15684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23825">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370205">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hMerge="1">
                  <a:txBody>
                    <a:bodyPr numCol="1"/>
                    <a:lstStyle/>
                    <a:p>
                      <a:endParaRPr/>
                    </a:p>
                  </a:txBody>
                  <a:tcPr marB="0" marL="0" marR="0" marT="0"/>
                </a:tc>
                <a:tc hMerge="1">
                  <a:txBody>
                    <a:bodyPr numCol="1"/>
                    <a:lstStyle/>
                    <a:p>
                      <a:endParaRPr/>
                    </a:p>
                  </a:txBody>
                  <a:tcPr marB="0" marL="0" marR="0" marT="0"/>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dirty="0"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1025881" y="4218440"/>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038783" y="11541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2130298" y="36222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1774571" y="33555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4"/>
          <p:cNvSpPr txBox="1"/>
          <p:nvPr/>
        </p:nvSpPr>
        <p:spPr>
          <a:xfrm>
            <a:off x="4267200" y="1066800"/>
            <a:ext cx="5449571" cy="1120820"/>
          </a:xfrm>
          <a:prstGeom prst="rect">
            <a:avLst/>
          </a:prstGeom>
        </p:spPr>
        <p:txBody>
          <a:bodyPr bIns="0" lIns="0" numCol="1" rIns="0" rtlCol="0" tIns="12700" vert="horz" wrap="square">
            <a:spAutoFit/>
          </a:bodyPr>
          <a:lstStyle/>
          <a:p>
            <a:pPr algn="just" marL="12700" marR="5080">
              <a:spcBef>
                <a:spcPts val="100"/>
              </a:spcBef>
            </a:pPr>
            <a:r>
              <a:rPr dirty="0" sz="2400">
                <a:latin typeface="Palatino Linotype"/>
                <a:cs typeface="Palatino Linotype"/>
              </a:rPr>
              <a:t>Finally,</a:t>
            </a:r>
            <a:r>
              <a:rPr dirty="0" spc="-15" sz="2400">
                <a:latin typeface="Palatino Linotype"/>
                <a:cs typeface="Palatino Linotype"/>
              </a:rPr>
              <a:t> </a:t>
            </a:r>
            <a:r>
              <a:rPr dirty="0" sz="2400">
                <a:latin typeface="Palatino Linotype"/>
                <a:cs typeface="Palatino Linotype"/>
              </a:rPr>
              <a:t>we’ll</a:t>
            </a:r>
            <a:r>
              <a:rPr dirty="0" spc="-51" sz="2400">
                <a:latin typeface="Palatino Linotype"/>
                <a:cs typeface="Palatino Linotype"/>
              </a:rPr>
              <a:t> </a:t>
            </a:r>
            <a:r>
              <a:rPr dirty="0" sz="2400">
                <a:latin typeface="Palatino Linotype"/>
                <a:cs typeface="Palatino Linotype"/>
              </a:rPr>
              <a:t>check</a:t>
            </a:r>
            <a:r>
              <a:rPr dirty="0" spc="-40" sz="2400">
                <a:latin typeface="Palatino Linotype"/>
                <a:cs typeface="Palatino Linotype"/>
              </a:rPr>
              <a:t> </a:t>
            </a:r>
            <a:r>
              <a:rPr dirty="0" sz="2400">
                <a:latin typeface="Palatino Linotype"/>
                <a:cs typeface="Palatino Linotype"/>
              </a:rPr>
              <a:t>for</a:t>
            </a:r>
            <a:r>
              <a:rPr dirty="0" spc="-45" sz="2400">
                <a:latin typeface="Palatino Linotype"/>
                <a:cs typeface="Palatino Linotype"/>
              </a:rPr>
              <a:t> </a:t>
            </a:r>
            <a:r>
              <a:rPr dirty="0" sz="2400">
                <a:latin typeface="Palatino Linotype"/>
                <a:cs typeface="Palatino Linotype"/>
              </a:rPr>
              <a:t>productions</a:t>
            </a:r>
            <a:r>
              <a:rPr dirty="0" spc="-40" sz="2400">
                <a:latin typeface="Palatino Linotype"/>
                <a:cs typeface="Palatino Linotype"/>
              </a:rPr>
              <a:t> </a:t>
            </a:r>
            <a:r>
              <a:rPr dirty="0" spc="-20" sz="2400">
                <a:latin typeface="Palatino Linotype"/>
                <a:cs typeface="Palatino Linotype"/>
              </a:rPr>
              <a:t>that </a:t>
            </a:r>
            <a:r>
              <a:rPr dirty="0" sz="2400">
                <a:latin typeface="Palatino Linotype"/>
                <a:cs typeface="Palatino Linotype"/>
              </a:rPr>
              <a:t>produce</a:t>
            </a:r>
            <a:r>
              <a:rPr dirty="0" spc="-31" sz="2400">
                <a:latin typeface="Palatino Linotype"/>
                <a:cs typeface="Palatino Linotype"/>
              </a:rPr>
              <a:t> </a:t>
            </a:r>
            <a:r>
              <a:rPr dirty="0" sz="2400">
                <a:latin typeface="Palatino Linotype"/>
                <a:cs typeface="Palatino Linotype"/>
              </a:rPr>
              <a:t>an</a:t>
            </a:r>
            <a:r>
              <a:rPr dirty="0" spc="-15" sz="2400">
                <a:latin typeface="Palatino Linotype"/>
                <a:cs typeface="Palatino Linotype"/>
              </a:rPr>
              <a:t> </a:t>
            </a:r>
            <a:r>
              <a:rPr dirty="0" sz="2400">
                <a:latin typeface="Cambria Math"/>
                <a:cs typeface="Cambria Math"/>
              </a:rPr>
              <a:t>𝐴</a:t>
            </a:r>
            <a:r>
              <a:rPr dirty="0" spc="75" sz="2400">
                <a:latin typeface="Cambria Math"/>
                <a:cs typeface="Cambria Math"/>
              </a:rPr>
              <a:t> </a:t>
            </a:r>
            <a:r>
              <a:rPr dirty="0" sz="2400">
                <a:latin typeface="Palatino Linotype"/>
                <a:cs typeface="Palatino Linotype"/>
              </a:rPr>
              <a:t>followed</a:t>
            </a:r>
            <a:r>
              <a:rPr dirty="0" spc="-15" sz="2400">
                <a:latin typeface="Palatino Linotype"/>
                <a:cs typeface="Palatino Linotype"/>
              </a:rPr>
              <a:t> </a:t>
            </a:r>
            <a:r>
              <a:rPr dirty="0" sz="2400">
                <a:latin typeface="Palatino Linotype"/>
                <a:cs typeface="Palatino Linotype"/>
              </a:rPr>
              <a:t>by</a:t>
            </a:r>
            <a:r>
              <a:rPr dirty="0" spc="-31" sz="2400">
                <a:latin typeface="Palatino Linotype"/>
                <a:cs typeface="Palatino Linotype"/>
              </a:rPr>
              <a:t> </a:t>
            </a:r>
            <a:r>
              <a:rPr dirty="0" sz="2400">
                <a:latin typeface="Palatino Linotype"/>
                <a:cs typeface="Palatino Linotype"/>
              </a:rPr>
              <a:t>a</a:t>
            </a:r>
            <a:r>
              <a:rPr dirty="0" spc="-20" sz="2400">
                <a:latin typeface="Palatino Linotype"/>
                <a:cs typeface="Palatino Linotype"/>
              </a:rPr>
              <a:t> </a:t>
            </a:r>
            <a:r>
              <a:rPr dirty="0" spc="51" sz="2400">
                <a:latin typeface="Cambria Math"/>
                <a:cs typeface="Cambria Math"/>
              </a:rPr>
              <a:t>𝐶</a:t>
            </a:r>
            <a:r>
              <a:rPr dirty="0" spc="51" sz="2400">
                <a:latin typeface="Palatino Linotype"/>
                <a:cs typeface="Palatino Linotype"/>
              </a:rPr>
              <a:t>,</a:t>
            </a:r>
            <a:r>
              <a:rPr dirty="0" spc="-20" sz="2400">
                <a:latin typeface="Palatino Linotype"/>
                <a:cs typeface="Palatino Linotype"/>
              </a:rPr>
              <a:t> </a:t>
            </a:r>
            <a:r>
              <a:rPr dirty="0" sz="2400">
                <a:latin typeface="Palatino Linotype"/>
                <a:cs typeface="Palatino Linotype"/>
              </a:rPr>
              <a:t>and</a:t>
            </a:r>
            <a:r>
              <a:rPr dirty="0" spc="-20" sz="2400">
                <a:latin typeface="Palatino Linotype"/>
                <a:cs typeface="Palatino Linotype"/>
              </a:rPr>
              <a:t> </a:t>
            </a:r>
            <a:r>
              <a:rPr dirty="0" spc="-11" sz="2400">
                <a:latin typeface="Palatino Linotype"/>
                <a:cs typeface="Palatino Linotype"/>
              </a:rPr>
              <a:t>there </a:t>
            </a:r>
            <a:r>
              <a:rPr dirty="0" sz="2400">
                <a:latin typeface="Palatino Linotype"/>
                <a:cs typeface="Palatino Linotype"/>
              </a:rPr>
              <a:t>aren’t</a:t>
            </a:r>
            <a:r>
              <a:rPr dirty="0" spc="-95" sz="2400">
                <a:latin typeface="Palatino Linotype"/>
                <a:cs typeface="Palatino Linotype"/>
              </a:rPr>
              <a:t> </a:t>
            </a:r>
            <a:r>
              <a:rPr dirty="0" spc="-20" sz="2400">
                <a:latin typeface="Palatino Linotype"/>
                <a:cs typeface="Palatino Linotype"/>
              </a:rPr>
              <a:t>any.</a:t>
            </a:r>
            <a:endParaRPr sz="2400">
              <a:latin typeface="Palatino Linotype"/>
              <a:cs typeface="Palatino Linotype"/>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88296" y="36096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511484" y="36096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522151" y="29788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665152" y="29788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631747" y="29788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520734" y="38641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2141918" y="4018330"/>
          <a:ext cx="5002530" cy="2047115"/>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427483">
                <a:tc>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1487207" y="398983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500109" y="9255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2591624" y="33936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2235897" y="31269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4"/>
          <p:cNvSpPr txBox="1"/>
          <p:nvPr/>
        </p:nvSpPr>
        <p:spPr>
          <a:xfrm>
            <a:off x="4728527" y="838200"/>
            <a:ext cx="2734945" cy="382156"/>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So,</a:t>
            </a:r>
            <a:r>
              <a:rPr dirty="0" spc="-15" sz="2400">
                <a:latin typeface="Palatino Linotype"/>
                <a:cs typeface="Palatino Linotype"/>
              </a:rPr>
              <a:t> </a:t>
            </a:r>
            <a:r>
              <a:rPr dirty="0" sz="2400">
                <a:latin typeface="Palatino Linotype"/>
                <a:cs typeface="Palatino Linotype"/>
              </a:rPr>
              <a:t>cell</a:t>
            </a:r>
            <a:r>
              <a:rPr dirty="0" spc="-15" sz="2400">
                <a:latin typeface="Palatino Linotype"/>
                <a:cs typeface="Palatino Linotype"/>
              </a:rPr>
              <a:t> </a:t>
            </a:r>
            <a:r>
              <a:rPr dirty="0" sz="2400">
                <a:latin typeface="Palatino Linotype"/>
                <a:cs typeface="Palatino Linotype"/>
              </a:rPr>
              <a:t>1,4</a:t>
            </a:r>
            <a:r>
              <a:rPr dirty="0" spc="-11" sz="2400">
                <a:latin typeface="Palatino Linotype"/>
                <a:cs typeface="Palatino Linotype"/>
              </a:rPr>
              <a:t> </a:t>
            </a:r>
            <a:r>
              <a:rPr dirty="0" sz="2400">
                <a:latin typeface="Palatino Linotype"/>
                <a:cs typeface="Palatino Linotype"/>
              </a:rPr>
              <a:t>is</a:t>
            </a:r>
            <a:r>
              <a:rPr dirty="0" spc="-35" sz="2400">
                <a:latin typeface="Palatino Linotype"/>
                <a:cs typeface="Palatino Linotype"/>
              </a:rPr>
              <a:t> </a:t>
            </a:r>
            <a:r>
              <a:rPr dirty="0" spc="-11" sz="2400">
                <a:latin typeface="Palatino Linotype"/>
                <a:cs typeface="Palatino Linotype"/>
              </a:rPr>
              <a:t>empty.</a:t>
            </a:r>
            <a:endParaRPr sz="2400">
              <a:latin typeface="Palatino Linotype"/>
              <a:cs typeface="Palatino Linotype"/>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03169" y="36096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126357" y="36096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2050415" y="3971112"/>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5" name="object 5"/>
          <p:cNvSpPr txBox="1"/>
          <p:nvPr/>
        </p:nvSpPr>
        <p:spPr>
          <a:xfrm>
            <a:off x="3175127" y="3971112"/>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6" name="object 6"/>
          <p:cNvSpPr txBox="1"/>
          <p:nvPr/>
        </p:nvSpPr>
        <p:spPr>
          <a:xfrm>
            <a:off x="4233037" y="3971112"/>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7" name="object 7"/>
          <p:cNvSpPr txBox="1"/>
          <p:nvPr/>
        </p:nvSpPr>
        <p:spPr>
          <a:xfrm>
            <a:off x="5223635" y="3971112"/>
            <a:ext cx="19685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C</a:t>
            </a:r>
            <a:endParaRPr sz="2500">
              <a:latin typeface="Cambria Math"/>
              <a:cs typeface="Cambria Math"/>
            </a:endParaRPr>
          </a:p>
        </p:txBody>
      </p:sp>
      <p:sp>
        <p:nvSpPr>
          <p:cNvPr id="8" name="object 8"/>
          <p:cNvSpPr txBox="1"/>
          <p:nvPr/>
        </p:nvSpPr>
        <p:spPr>
          <a:xfrm>
            <a:off x="6194423" y="3971112"/>
            <a:ext cx="19685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C</a:t>
            </a:r>
            <a:endParaRPr sz="2500">
              <a:latin typeface="Cambria Math"/>
              <a:cs typeface="Cambria Math"/>
            </a:endParaRPr>
          </a:p>
        </p:txBody>
      </p:sp>
      <p:sp>
        <p:nvSpPr>
          <p:cNvPr id="9" name="object 9"/>
          <p:cNvSpPr txBox="1"/>
          <p:nvPr/>
        </p:nvSpPr>
        <p:spPr>
          <a:xfrm>
            <a:off x="2050415" y="4336551"/>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10" name="object 10"/>
          <p:cNvSpPr txBox="1"/>
          <p:nvPr/>
        </p:nvSpPr>
        <p:spPr>
          <a:xfrm>
            <a:off x="3175127" y="4336551"/>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11" name="object 11"/>
          <p:cNvSpPr txBox="1"/>
          <p:nvPr/>
        </p:nvSpPr>
        <p:spPr>
          <a:xfrm>
            <a:off x="4233035" y="4353051"/>
            <a:ext cx="21717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a:t>
            </a:r>
            <a:endParaRPr sz="2400">
              <a:latin typeface="Cambria Math"/>
              <a:cs typeface="Cambria Math"/>
            </a:endParaRPr>
          </a:p>
        </p:txBody>
      </p:sp>
      <p:sp>
        <p:nvSpPr>
          <p:cNvPr id="12" name="object 12"/>
          <p:cNvSpPr txBox="1"/>
          <p:nvPr/>
        </p:nvSpPr>
        <p:spPr>
          <a:xfrm>
            <a:off x="5225159" y="4336551"/>
            <a:ext cx="21209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B</a:t>
            </a:r>
            <a:endParaRPr sz="2500">
              <a:latin typeface="Cambria Math"/>
              <a:cs typeface="Cambria Math"/>
            </a:endParaRPr>
          </a:p>
        </p:txBody>
      </p:sp>
      <p:sp>
        <p:nvSpPr>
          <p:cNvPr id="13" name="object 13"/>
          <p:cNvSpPr txBox="1"/>
          <p:nvPr/>
        </p:nvSpPr>
        <p:spPr>
          <a:xfrm>
            <a:off x="3152266" y="4719497"/>
            <a:ext cx="21717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a:t>
            </a:r>
            <a:endParaRPr sz="2400">
              <a:latin typeface="Cambria Math"/>
              <a:cs typeface="Cambria Math"/>
            </a:endParaRPr>
          </a:p>
        </p:txBody>
      </p:sp>
      <p:sp>
        <p:nvSpPr>
          <p:cNvPr id="14" name="object 14"/>
          <p:cNvSpPr txBox="1"/>
          <p:nvPr/>
        </p:nvSpPr>
        <p:spPr>
          <a:xfrm>
            <a:off x="4211699" y="4703014"/>
            <a:ext cx="429259" cy="401393"/>
          </a:xfrm>
          <a:prstGeom prst="rect">
            <a:avLst/>
          </a:prstGeom>
        </p:spPr>
        <p:txBody>
          <a:bodyPr bIns="0" lIns="0" numCol="1" rIns="0" rtlCol="0" tIns="16511" vert="horz" wrap="square">
            <a:spAutoFit/>
          </a:bodyPr>
          <a:lstStyle/>
          <a:p>
            <a:pPr marL="12700">
              <a:spcBef>
                <a:spcPts val="131"/>
              </a:spcBef>
            </a:pPr>
            <a:r>
              <a:rPr dirty="0" spc="-35" sz="2500">
                <a:latin typeface="Cambria Math"/>
                <a:cs typeface="Cambria Math"/>
              </a:rPr>
              <a:t>S,A</a:t>
            </a:r>
            <a:endParaRPr sz="2500">
              <a:latin typeface="Cambria Math"/>
              <a:cs typeface="Cambria Math"/>
            </a:endParaRPr>
          </a:p>
        </p:txBody>
      </p:sp>
      <p:sp>
        <p:nvSpPr>
          <p:cNvPr id="16" name="object 16"/>
          <p:cNvSpPr txBox="1"/>
          <p:nvPr/>
        </p:nvSpPr>
        <p:spPr>
          <a:xfrm>
            <a:off x="1114982" y="9255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7" name="object 17"/>
          <p:cNvSpPr/>
          <p:nvPr/>
        </p:nvSpPr>
        <p:spPr>
          <a:xfrm>
            <a:off x="1753741" y="4024427"/>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18" name="object 18"/>
          <p:cNvSpPr txBox="1"/>
          <p:nvPr/>
        </p:nvSpPr>
        <p:spPr>
          <a:xfrm>
            <a:off x="1135607" y="38641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sp>
        <p:nvSpPr>
          <p:cNvPr id="19" name="object 19"/>
          <p:cNvSpPr txBox="1"/>
          <p:nvPr/>
        </p:nvSpPr>
        <p:spPr>
          <a:xfrm>
            <a:off x="1076680" y="4014823"/>
            <a:ext cx="1216025" cy="1833194"/>
          </a:xfrm>
          <a:prstGeom prst="rect">
            <a:avLst/>
          </a:prstGeom>
        </p:spPr>
        <p:txBody>
          <a:bodyPr bIns="0" lIns="0" numCol="1" rIns="0" rtlCol="0" tIns="169545" vert="horz" wrap="square">
            <a:spAutoFit/>
          </a:bodyPr>
          <a:lstStyle/>
          <a:p>
            <a:pPr marL="63498">
              <a:spcBef>
                <a:spcPts val="13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29557">
              <a:lnSpc>
                <a:spcPts val="2991"/>
              </a:lnSpc>
              <a:spcBef>
                <a:spcPts val="1331"/>
              </a:spcBef>
              <a:tabLst>
                <a:tab algn="l" pos="964541"/>
              </a:tabLst>
            </a:pPr>
            <a:r>
              <a:rPr dirty="0" spc="-51" sz="2400">
                <a:latin typeface="Cambria Math"/>
                <a:cs typeface="Cambria Math"/>
              </a:rPr>
              <a:t>3</a:t>
            </a:r>
            <a:r>
              <a:rPr dirty="0" sz="2400">
                <a:latin typeface="Cambria Math"/>
                <a:cs typeface="Cambria Math"/>
              </a:rPr>
              <a:t>	</a:t>
            </a:r>
            <a:r>
              <a:rPr dirty="0" spc="-51" sz="2500">
                <a:latin typeface="Cambria Math"/>
                <a:cs typeface="Cambria Math"/>
              </a:rPr>
              <a:t>A</a:t>
            </a:r>
            <a:endParaRPr sz="2500">
              <a:latin typeface="Cambria Math"/>
              <a:cs typeface="Cambria Math"/>
            </a:endParaRPr>
          </a:p>
          <a:p>
            <a:pPr marL="329557">
              <a:lnSpc>
                <a:spcPts val="2871"/>
              </a:lnSpc>
              <a:tabLst>
                <a:tab algn="l" pos="986130"/>
              </a:tabLst>
            </a:pPr>
            <a:r>
              <a:rPr dirty="0" spc="-51" sz="2400">
                <a:latin typeface="Cambria Math"/>
                <a:cs typeface="Cambria Math"/>
              </a:rPr>
              <a:t>4</a:t>
            </a:r>
            <a:r>
              <a:rPr dirty="0" sz="2400">
                <a:latin typeface="Cambria Math"/>
                <a:cs typeface="Cambria Math"/>
              </a:rPr>
              <a:t>	</a:t>
            </a:r>
            <a:r>
              <a:rPr dirty="0" spc="-51" sz="2400">
                <a:latin typeface="Cambria Math"/>
                <a:cs typeface="Cambria Math"/>
              </a:rPr>
              <a:t>∅</a:t>
            </a:r>
            <a:endParaRPr sz="2400">
              <a:latin typeface="Cambria Math"/>
              <a:cs typeface="Cambria Math"/>
            </a:endParaRPr>
          </a:p>
          <a:p>
            <a:pPr marL="329557"/>
            <a:r>
              <a:rPr dirty="0" spc="-51" sz="2400">
                <a:latin typeface="Cambria Math"/>
                <a:cs typeface="Cambria Math"/>
              </a:rPr>
              <a:t>5</a:t>
            </a:r>
            <a:endParaRPr sz="2400">
              <a:latin typeface="Cambria Math"/>
              <a:cs typeface="Cambria Math"/>
            </a:endParaRPr>
          </a:p>
        </p:txBody>
      </p:sp>
      <p:sp>
        <p:nvSpPr>
          <p:cNvPr id="20" name="object 20"/>
          <p:cNvSpPr txBox="1"/>
          <p:nvPr/>
        </p:nvSpPr>
        <p:spPr>
          <a:xfrm>
            <a:off x="4137024" y="29788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dirty="0" sz="2000">
              <a:latin typeface="Palatino Linotype"/>
              <a:cs typeface="Palatino Linotype"/>
            </a:endParaRPr>
          </a:p>
          <a:p>
            <a:pPr marL="79373">
              <a:spcBef>
                <a:spcPts val="1395"/>
              </a:spcBef>
            </a:pPr>
            <a:r>
              <a:rPr dirty="0" spc="-51" sz="2400">
                <a:latin typeface="Cambria Math"/>
                <a:cs typeface="Cambria Math"/>
              </a:rPr>
              <a:t>3</a:t>
            </a:r>
            <a:endParaRPr dirty="0" sz="2400">
              <a:latin typeface="Cambria Math"/>
              <a:cs typeface="Cambria Math"/>
            </a:endParaRPr>
          </a:p>
        </p:txBody>
      </p:sp>
      <p:sp>
        <p:nvSpPr>
          <p:cNvPr id="21" name="object 21"/>
          <p:cNvSpPr txBox="1"/>
          <p:nvPr/>
        </p:nvSpPr>
        <p:spPr>
          <a:xfrm>
            <a:off x="5280025" y="29788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22" name="object 22"/>
          <p:cNvSpPr txBox="1"/>
          <p:nvPr/>
        </p:nvSpPr>
        <p:spPr>
          <a:xfrm>
            <a:off x="6246620" y="29788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23" name="object 23"/>
          <p:cNvSpPr txBox="1"/>
          <p:nvPr/>
        </p:nvSpPr>
        <p:spPr>
          <a:xfrm>
            <a:off x="2206497" y="33936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24" name="object 24"/>
          <p:cNvSpPr txBox="1"/>
          <p:nvPr/>
        </p:nvSpPr>
        <p:spPr>
          <a:xfrm>
            <a:off x="1850770" y="31269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25" name="object 25"/>
          <p:cNvSpPr txBox="1"/>
          <p:nvPr/>
        </p:nvSpPr>
        <p:spPr>
          <a:xfrm>
            <a:off x="4343400" y="838200"/>
            <a:ext cx="6166485" cy="2235740"/>
          </a:xfrm>
          <a:prstGeom prst="rect">
            <a:avLst/>
          </a:prstGeom>
        </p:spPr>
        <p:txBody>
          <a:bodyPr bIns="0" lIns="0" numCol="1" rIns="0" rtlCol="0" tIns="12700" vert="horz" wrap="square">
            <a:spAutoFit/>
          </a:bodyPr>
          <a:lstStyle/>
          <a:p>
            <a:pPr marL="12700" marR="5080">
              <a:spcBef>
                <a:spcPts val="100"/>
              </a:spcBef>
              <a:tabLst>
                <a:tab algn="l" pos="3544482"/>
              </a:tabLst>
            </a:pPr>
            <a:r>
              <a:rPr dirty="0" sz="2400">
                <a:latin typeface="Palatino Linotype"/>
                <a:cs typeface="Palatino Linotype"/>
              </a:rPr>
              <a:t>Next,</a:t>
            </a:r>
            <a:r>
              <a:rPr dirty="0" spc="-20" sz="2400">
                <a:latin typeface="Palatino Linotype"/>
                <a:cs typeface="Palatino Linotype"/>
              </a:rPr>
              <a:t> </a:t>
            </a:r>
            <a:r>
              <a:rPr dirty="0" sz="2400">
                <a:latin typeface="Palatino Linotype"/>
                <a:cs typeface="Palatino Linotype"/>
              </a:rPr>
              <a:t>we’ll</a:t>
            </a:r>
            <a:r>
              <a:rPr dirty="0" spc="-25" sz="2400">
                <a:latin typeface="Palatino Linotype"/>
                <a:cs typeface="Palatino Linotype"/>
              </a:rPr>
              <a:t> </a:t>
            </a:r>
            <a:r>
              <a:rPr dirty="0" sz="2400">
                <a:latin typeface="Palatino Linotype"/>
                <a:cs typeface="Palatino Linotype"/>
              </a:rPr>
              <a:t>check</a:t>
            </a:r>
            <a:r>
              <a:rPr dirty="0" spc="-35" sz="2400">
                <a:latin typeface="Palatino Linotype"/>
                <a:cs typeface="Palatino Linotype"/>
              </a:rPr>
              <a:t> </a:t>
            </a:r>
            <a:r>
              <a:rPr dirty="0" sz="2400">
                <a:latin typeface="Palatino Linotype"/>
                <a:cs typeface="Palatino Linotype"/>
              </a:rPr>
              <a:t>cell</a:t>
            </a:r>
            <a:r>
              <a:rPr dirty="0" spc="-25" sz="2400">
                <a:latin typeface="Palatino Linotype"/>
                <a:cs typeface="Palatino Linotype"/>
              </a:rPr>
              <a:t> </a:t>
            </a:r>
            <a:r>
              <a:rPr dirty="0" spc="-20" sz="2400">
                <a:latin typeface="Palatino Linotype"/>
                <a:cs typeface="Palatino Linotype"/>
              </a:rPr>
              <a:t>2,4.</a:t>
            </a:r>
            <a:r>
              <a:rPr dirty="0" sz="2400">
                <a:latin typeface="Palatino Linotype"/>
                <a:cs typeface="Palatino Linotype"/>
              </a:rPr>
              <a:t>	The</a:t>
            </a:r>
            <a:r>
              <a:rPr dirty="0" spc="-45" sz="2400">
                <a:latin typeface="Palatino Linotype"/>
                <a:cs typeface="Palatino Linotype"/>
              </a:rPr>
              <a:t> </a:t>
            </a:r>
            <a:r>
              <a:rPr dirty="0" spc="-11" sz="2400">
                <a:latin typeface="Palatino Linotype"/>
                <a:cs typeface="Palatino Linotype"/>
              </a:rPr>
              <a:t>first combination</a:t>
            </a:r>
            <a:r>
              <a:rPr dirty="0" spc="-35" sz="2400">
                <a:latin typeface="Palatino Linotype"/>
                <a:cs typeface="Palatino Linotype"/>
              </a:rPr>
              <a:t> </a:t>
            </a:r>
            <a:r>
              <a:rPr dirty="0" sz="2400">
                <a:latin typeface="Palatino Linotype"/>
                <a:cs typeface="Palatino Linotype"/>
              </a:rPr>
              <a:t>we</a:t>
            </a:r>
            <a:r>
              <a:rPr dirty="0" spc="-40" sz="2400">
                <a:latin typeface="Palatino Linotype"/>
                <a:cs typeface="Palatino Linotype"/>
              </a:rPr>
              <a:t> </a:t>
            </a:r>
            <a:r>
              <a:rPr dirty="0" sz="2400">
                <a:latin typeface="Palatino Linotype"/>
                <a:cs typeface="Palatino Linotype"/>
              </a:rPr>
              <a:t>check</a:t>
            </a:r>
            <a:r>
              <a:rPr dirty="0" spc="-45" sz="2400">
                <a:latin typeface="Palatino Linotype"/>
                <a:cs typeface="Palatino Linotype"/>
              </a:rPr>
              <a:t> </a:t>
            </a:r>
            <a:r>
              <a:rPr dirty="0" sz="2400">
                <a:latin typeface="Palatino Linotype"/>
                <a:cs typeface="Palatino Linotype"/>
              </a:rPr>
              <a:t>has</a:t>
            </a:r>
            <a:r>
              <a:rPr dirty="0" spc="-35" sz="2400">
                <a:latin typeface="Palatino Linotype"/>
                <a:cs typeface="Palatino Linotype"/>
              </a:rPr>
              <a:t> </a:t>
            </a:r>
            <a:r>
              <a:rPr dirty="0" sz="2400">
                <a:latin typeface="Palatino Linotype"/>
                <a:cs typeface="Palatino Linotype"/>
              </a:rPr>
              <a:t>two</a:t>
            </a:r>
            <a:r>
              <a:rPr dirty="0" spc="-35" sz="2400">
                <a:latin typeface="Palatino Linotype"/>
                <a:cs typeface="Palatino Linotype"/>
              </a:rPr>
              <a:t> </a:t>
            </a:r>
            <a:r>
              <a:rPr dirty="0" spc="-11" sz="2400">
                <a:latin typeface="Palatino Linotype"/>
                <a:cs typeface="Palatino Linotype"/>
              </a:rPr>
              <a:t>possible </a:t>
            </a:r>
            <a:r>
              <a:rPr dirty="0" sz="2400">
                <a:latin typeface="Palatino Linotype"/>
                <a:cs typeface="Palatino Linotype"/>
              </a:rPr>
              <a:t>variables</a:t>
            </a:r>
            <a:r>
              <a:rPr dirty="0" spc="-45" sz="2400">
                <a:latin typeface="Palatino Linotype"/>
                <a:cs typeface="Palatino Linotype"/>
              </a:rPr>
              <a:t> </a:t>
            </a:r>
            <a:r>
              <a:rPr dirty="0" sz="2400">
                <a:latin typeface="Palatino Linotype"/>
                <a:cs typeface="Palatino Linotype"/>
              </a:rPr>
              <a:t>corresponding</a:t>
            </a:r>
            <a:r>
              <a:rPr dirty="0" spc="-15" sz="2400">
                <a:latin typeface="Palatino Linotype"/>
                <a:cs typeface="Palatino Linotype"/>
              </a:rPr>
              <a:t> </a:t>
            </a:r>
            <a:r>
              <a:rPr dirty="0" sz="2400">
                <a:latin typeface="Palatino Linotype"/>
                <a:cs typeface="Palatino Linotype"/>
              </a:rPr>
              <a:t>to</a:t>
            </a:r>
            <a:r>
              <a:rPr dirty="0" spc="-25" sz="2400">
                <a:latin typeface="Palatino Linotype"/>
                <a:cs typeface="Palatino Linotype"/>
              </a:rPr>
              <a:t> </a:t>
            </a:r>
            <a:r>
              <a:rPr dirty="0" sz="2400">
                <a:latin typeface="Palatino Linotype"/>
                <a:cs typeface="Palatino Linotype"/>
              </a:rPr>
              <a:t>the</a:t>
            </a:r>
            <a:r>
              <a:rPr dirty="0" spc="-25" sz="2400">
                <a:latin typeface="Palatino Linotype"/>
                <a:cs typeface="Palatino Linotype"/>
              </a:rPr>
              <a:t> </a:t>
            </a:r>
            <a:r>
              <a:rPr dirty="0" sz="2400">
                <a:latin typeface="Palatino Linotype"/>
                <a:cs typeface="Palatino Linotype"/>
              </a:rPr>
              <a:t>second</a:t>
            </a:r>
            <a:r>
              <a:rPr dirty="0" spc="-45" sz="2400">
                <a:latin typeface="Palatino Linotype"/>
                <a:cs typeface="Palatino Linotype"/>
              </a:rPr>
              <a:t> </a:t>
            </a:r>
            <a:r>
              <a:rPr dirty="0" sz="2400">
                <a:latin typeface="Palatino Linotype"/>
                <a:cs typeface="Palatino Linotype"/>
              </a:rPr>
              <a:t>part</a:t>
            </a:r>
            <a:r>
              <a:rPr dirty="0" spc="-31" sz="2400">
                <a:latin typeface="Palatino Linotype"/>
                <a:cs typeface="Palatino Linotype"/>
              </a:rPr>
              <a:t> </a:t>
            </a:r>
            <a:r>
              <a:rPr dirty="0" spc="-25" sz="2400">
                <a:latin typeface="Palatino Linotype"/>
                <a:cs typeface="Palatino Linotype"/>
              </a:rPr>
              <a:t>of </a:t>
            </a:r>
            <a:r>
              <a:rPr dirty="0" sz="2400">
                <a:latin typeface="Palatino Linotype"/>
                <a:cs typeface="Palatino Linotype"/>
              </a:rPr>
              <a:t>the</a:t>
            </a:r>
            <a:r>
              <a:rPr dirty="0" spc="-35" sz="2400">
                <a:latin typeface="Palatino Linotype"/>
                <a:cs typeface="Palatino Linotype"/>
              </a:rPr>
              <a:t> </a:t>
            </a:r>
            <a:r>
              <a:rPr dirty="0" sz="2400">
                <a:latin typeface="Palatino Linotype"/>
                <a:cs typeface="Palatino Linotype"/>
              </a:rPr>
              <a:t>substring,</a:t>
            </a:r>
            <a:r>
              <a:rPr dirty="0" spc="-45" sz="2400">
                <a:latin typeface="Palatino Linotype"/>
                <a:cs typeface="Palatino Linotype"/>
              </a:rPr>
              <a:t> </a:t>
            </a:r>
            <a:r>
              <a:rPr dirty="0" sz="2400">
                <a:latin typeface="Palatino Linotype"/>
                <a:cs typeface="Palatino Linotype"/>
              </a:rPr>
              <a:t>so</a:t>
            </a:r>
            <a:r>
              <a:rPr dirty="0" spc="-40" sz="2400">
                <a:latin typeface="Palatino Linotype"/>
                <a:cs typeface="Palatino Linotype"/>
              </a:rPr>
              <a:t> </a:t>
            </a:r>
            <a:r>
              <a:rPr dirty="0" sz="2400">
                <a:latin typeface="Palatino Linotype"/>
                <a:cs typeface="Palatino Linotype"/>
              </a:rPr>
              <a:t>we’ll</a:t>
            </a:r>
            <a:r>
              <a:rPr dirty="0" spc="-45" sz="2400">
                <a:latin typeface="Palatino Linotype"/>
                <a:cs typeface="Palatino Linotype"/>
              </a:rPr>
              <a:t> </a:t>
            </a:r>
            <a:r>
              <a:rPr dirty="0" sz="2400">
                <a:latin typeface="Palatino Linotype"/>
                <a:cs typeface="Palatino Linotype"/>
              </a:rPr>
              <a:t>look</a:t>
            </a:r>
            <a:r>
              <a:rPr dirty="0" spc="-40" sz="2400">
                <a:latin typeface="Palatino Linotype"/>
                <a:cs typeface="Palatino Linotype"/>
              </a:rPr>
              <a:t> </a:t>
            </a:r>
            <a:r>
              <a:rPr dirty="0" sz="2400">
                <a:latin typeface="Palatino Linotype"/>
                <a:cs typeface="Palatino Linotype"/>
              </a:rPr>
              <a:t>for</a:t>
            </a:r>
            <a:r>
              <a:rPr dirty="0" spc="-45" sz="2400">
                <a:latin typeface="Palatino Linotype"/>
                <a:cs typeface="Palatino Linotype"/>
              </a:rPr>
              <a:t> </a:t>
            </a:r>
            <a:r>
              <a:rPr dirty="0" spc="-11" sz="2400">
                <a:latin typeface="Palatino Linotype"/>
                <a:cs typeface="Palatino Linotype"/>
              </a:rPr>
              <a:t>productions</a:t>
            </a:r>
            <a:r>
              <a:rPr dirty="0" spc="-35" sz="2400">
                <a:latin typeface="Palatino Linotype"/>
                <a:cs typeface="Palatino Linotype"/>
              </a:rPr>
              <a:t> </a:t>
            </a:r>
            <a:r>
              <a:rPr dirty="0" spc="-25" sz="2400">
                <a:latin typeface="Palatino Linotype"/>
                <a:cs typeface="Palatino Linotype"/>
              </a:rPr>
              <a:t>of</a:t>
            </a:r>
            <a:endParaRPr dirty="0" sz="2400">
              <a:latin typeface="Palatino Linotype"/>
              <a:cs typeface="Palatino Linotype"/>
            </a:endParaRPr>
          </a:p>
          <a:p>
            <a:pPr marL="12700" marR="298443">
              <a:lnSpc>
                <a:spcPts val="2871"/>
              </a:lnSpc>
              <a:spcBef>
                <a:spcPts val="120"/>
              </a:spcBef>
            </a:pPr>
            <a:r>
              <a:rPr dirty="0" sz="2400">
                <a:latin typeface="Cambria Math"/>
                <a:cs typeface="Cambria Math"/>
              </a:rPr>
              <a:t>𝐴𝑆</a:t>
            </a:r>
            <a:r>
              <a:rPr dirty="0" spc="80" sz="2400">
                <a:latin typeface="Cambria Math"/>
                <a:cs typeface="Cambria Math"/>
              </a:rPr>
              <a:t> </a:t>
            </a:r>
            <a:r>
              <a:rPr dirty="0" sz="2400">
                <a:latin typeface="Palatino Linotype"/>
                <a:cs typeface="Palatino Linotype"/>
              </a:rPr>
              <a:t>and</a:t>
            </a:r>
            <a:r>
              <a:rPr dirty="0" spc="-25" sz="2400">
                <a:latin typeface="Palatino Linotype"/>
                <a:cs typeface="Palatino Linotype"/>
              </a:rPr>
              <a:t> </a:t>
            </a:r>
            <a:r>
              <a:rPr dirty="0" sz="2400">
                <a:latin typeface="Cambria Math"/>
                <a:cs typeface="Cambria Math"/>
              </a:rPr>
              <a:t>𝐴𝐴</a:t>
            </a:r>
            <a:r>
              <a:rPr dirty="0" spc="71" sz="2400">
                <a:latin typeface="Cambria Math"/>
                <a:cs typeface="Cambria Math"/>
              </a:rPr>
              <a:t> </a:t>
            </a:r>
            <a:r>
              <a:rPr dirty="0" sz="2400">
                <a:latin typeface="Palatino Linotype"/>
                <a:cs typeface="Palatino Linotype"/>
              </a:rPr>
              <a:t>(using</a:t>
            </a:r>
            <a:r>
              <a:rPr dirty="0" spc="-40" sz="2400">
                <a:latin typeface="Palatino Linotype"/>
                <a:cs typeface="Palatino Linotype"/>
              </a:rPr>
              <a:t> </a:t>
            </a:r>
            <a:r>
              <a:rPr dirty="0" sz="2400">
                <a:latin typeface="Palatino Linotype"/>
                <a:cs typeface="Palatino Linotype"/>
              </a:rPr>
              <a:t>both</a:t>
            </a:r>
            <a:r>
              <a:rPr dirty="0" spc="-31" sz="2400">
                <a:latin typeface="Palatino Linotype"/>
                <a:cs typeface="Palatino Linotype"/>
              </a:rPr>
              <a:t> </a:t>
            </a:r>
            <a:r>
              <a:rPr dirty="0" sz="2400">
                <a:latin typeface="Palatino Linotype"/>
                <a:cs typeface="Palatino Linotype"/>
              </a:rPr>
              <a:t>possible</a:t>
            </a:r>
            <a:r>
              <a:rPr dirty="0" spc="-40" sz="2400">
                <a:latin typeface="Palatino Linotype"/>
                <a:cs typeface="Palatino Linotype"/>
              </a:rPr>
              <a:t> </a:t>
            </a:r>
            <a:r>
              <a:rPr dirty="0" sz="2400">
                <a:latin typeface="Palatino Linotype"/>
                <a:cs typeface="Palatino Linotype"/>
              </a:rPr>
              <a:t>variables</a:t>
            </a:r>
            <a:r>
              <a:rPr dirty="0" spc="-35" sz="2400">
                <a:latin typeface="Palatino Linotype"/>
                <a:cs typeface="Palatino Linotype"/>
              </a:rPr>
              <a:t> </a:t>
            </a:r>
            <a:r>
              <a:rPr dirty="0" spc="-25" sz="2400">
                <a:latin typeface="Palatino Linotype"/>
                <a:cs typeface="Palatino Linotype"/>
              </a:rPr>
              <a:t>in </a:t>
            </a:r>
            <a:r>
              <a:rPr dirty="0" sz="2400">
                <a:latin typeface="Palatino Linotype"/>
                <a:cs typeface="Palatino Linotype"/>
              </a:rPr>
              <a:t>the</a:t>
            </a:r>
            <a:r>
              <a:rPr dirty="0" spc="-15" sz="2400">
                <a:latin typeface="Palatino Linotype"/>
                <a:cs typeface="Palatino Linotype"/>
              </a:rPr>
              <a:t> </a:t>
            </a:r>
            <a:r>
              <a:rPr dirty="0" sz="2400">
                <a:latin typeface="Palatino Linotype"/>
                <a:cs typeface="Palatino Linotype"/>
              </a:rPr>
              <a:t>second</a:t>
            </a:r>
            <a:r>
              <a:rPr dirty="0" spc="-25" sz="2400">
                <a:latin typeface="Palatino Linotype"/>
                <a:cs typeface="Palatino Linotype"/>
              </a:rPr>
              <a:t> </a:t>
            </a:r>
            <a:r>
              <a:rPr dirty="0" spc="-11" sz="2400">
                <a:latin typeface="Palatino Linotype"/>
                <a:cs typeface="Palatino Linotype"/>
              </a:rPr>
              <a:t>cell).</a:t>
            </a:r>
            <a:endParaRPr dirty="0" sz="2400">
              <a:latin typeface="Palatino Linotype"/>
              <a:cs typeface="Palatino Linotype"/>
            </a:endParaRPr>
          </a:p>
        </p:txBody>
      </p:sp>
      <p:grpSp>
        <p:nvGrpSpPr>
          <p:cNvPr id="26" name="object 26"/>
          <p:cNvGrpSpPr/>
          <p:nvPr/>
        </p:nvGrpSpPr>
        <p:grpSpPr>
          <a:xfrm>
            <a:off x="2898267" y="4041189"/>
            <a:ext cx="1811020" cy="1370331"/>
            <a:chOff x="1999488" y="4500371"/>
            <a:chExt cx="1811020" cy="1370330"/>
          </a:xfrm>
        </p:grpSpPr>
        <p:sp>
          <p:nvSpPr>
            <p:cNvPr id="27" name="object 27"/>
            <p:cNvSpPr/>
            <p:nvPr/>
          </p:nvSpPr>
          <p:spPr>
            <a:xfrm>
              <a:off x="1999488" y="5568695"/>
              <a:ext cx="1045844" cy="302260"/>
            </a:xfrm>
            <a:custGeom>
              <a:avLst/>
              <a:gdLst/>
              <a:ahLst/>
              <a:cxnLst/>
              <a:rect b="b" l="l" r="r" t="t"/>
              <a:pathLst>
                <a:path h="302260" w="1045844">
                  <a:moveTo>
                    <a:pt x="1045463" y="0"/>
                  </a:moveTo>
                  <a:lnTo>
                    <a:pt x="0" y="0"/>
                  </a:lnTo>
                  <a:lnTo>
                    <a:pt x="0" y="301751"/>
                  </a:lnTo>
                  <a:lnTo>
                    <a:pt x="1045463" y="301751"/>
                  </a:lnTo>
                  <a:lnTo>
                    <a:pt x="1045463" y="0"/>
                  </a:lnTo>
                  <a:close/>
                </a:path>
              </a:pathLst>
            </a:custGeom>
            <a:solidFill>
              <a:srgbClr val="FF0000"/>
            </a:solidFill>
          </p:spPr>
          <p:txBody>
            <a:bodyPr bIns="0" lIns="0" numCol="1" rIns="0" rtlCol="0" tIns="0" wrap="square"/>
            <a:lstStyle/>
            <a:p>
              <a:endParaRPr/>
            </a:p>
          </p:txBody>
        </p:sp>
        <p:sp>
          <p:nvSpPr>
            <p:cNvPr id="28" name="object 28"/>
            <p:cNvSpPr/>
            <p:nvPr/>
          </p:nvSpPr>
          <p:spPr>
            <a:xfrm>
              <a:off x="2161794" y="4519421"/>
              <a:ext cx="1629410" cy="1013460"/>
            </a:xfrm>
            <a:custGeom>
              <a:avLst/>
              <a:gdLst/>
              <a:ahLst/>
              <a:cxnLst/>
              <a:rect b="b" l="l" r="r" t="t"/>
              <a:pathLst>
                <a:path h="1013460" w="1629410">
                  <a:moveTo>
                    <a:pt x="0" y="295655"/>
                  </a:moveTo>
                  <a:lnTo>
                    <a:pt x="493775" y="295655"/>
                  </a:lnTo>
                  <a:lnTo>
                    <a:pt x="493775" y="0"/>
                  </a:lnTo>
                  <a:lnTo>
                    <a:pt x="0" y="0"/>
                  </a:lnTo>
                  <a:lnTo>
                    <a:pt x="0" y="295655"/>
                  </a:lnTo>
                  <a:close/>
                </a:path>
                <a:path h="1013460" w="1629410">
                  <a:moveTo>
                    <a:pt x="1135380" y="1013459"/>
                  </a:moveTo>
                  <a:lnTo>
                    <a:pt x="1629156" y="1013459"/>
                  </a:lnTo>
                  <a:lnTo>
                    <a:pt x="1629156" y="716279"/>
                  </a:lnTo>
                  <a:lnTo>
                    <a:pt x="1135380" y="716279"/>
                  </a:lnTo>
                  <a:lnTo>
                    <a:pt x="1135380" y="1013459"/>
                  </a:lnTo>
                  <a:close/>
                </a:path>
              </a:pathLst>
            </a:custGeom>
            <a:ln w="38100">
              <a:solidFill>
                <a:srgbClr val="226B87"/>
              </a:solidFill>
            </a:ln>
          </p:spPr>
          <p:txBody>
            <a:bodyPr bIns="0" lIns="0" numCol="1" rIns="0" rtlCol="0" tIns="0" wrap="square"/>
            <a:lstStyle/>
            <a:p>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42442" y="417526"/>
            <a:ext cx="101282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dirty="0" sz="2400">
              <a:latin typeface="Cambria Math"/>
              <a:cs typeface="Cambria Math"/>
            </a:endParaRPr>
          </a:p>
        </p:txBody>
      </p:sp>
      <p:sp>
        <p:nvSpPr>
          <p:cNvPr id="4" name="object 4"/>
          <p:cNvSpPr txBox="1"/>
          <p:nvPr/>
        </p:nvSpPr>
        <p:spPr>
          <a:xfrm>
            <a:off x="1927099" y="871474"/>
            <a:ext cx="494031" cy="294953"/>
          </a:xfrm>
          <a:prstGeom prst="rect">
            <a:avLst/>
          </a:prstGeom>
          <a:ln w="38100">
            <a:solidFill>
              <a:srgbClr val="226B87"/>
            </a:solidFill>
          </a:ln>
        </p:spPr>
        <p:txBody>
          <a:bodyPr bIns="0" lIns="0" numCol="1" rIns="0" rtlCol="0" tIns="0" vert="horz" wrap="square">
            <a:spAutoFit/>
          </a:bodyPr>
          <a:lstStyle/>
          <a:p>
            <a:pPr marL="49529">
              <a:lnSpc>
                <a:spcPts val="2291"/>
              </a:lnSpc>
            </a:pPr>
            <a:r>
              <a:rPr dirty="0" spc="-25" sz="2400">
                <a:latin typeface="Cambria Math"/>
                <a:cs typeface="Cambria Math"/>
              </a:rPr>
              <a:t>𝐴𝐴</a:t>
            </a:r>
            <a:endParaRPr sz="2400">
              <a:latin typeface="Cambria Math"/>
              <a:cs typeface="Cambria Math"/>
            </a:endParaRPr>
          </a:p>
        </p:txBody>
      </p:sp>
      <p:sp>
        <p:nvSpPr>
          <p:cNvPr id="5" name="object 5"/>
          <p:cNvSpPr txBox="1"/>
          <p:nvPr/>
        </p:nvSpPr>
        <p:spPr>
          <a:xfrm>
            <a:off x="1342442" y="783972"/>
            <a:ext cx="2070100" cy="382156"/>
          </a:xfrm>
          <a:prstGeom prst="rect">
            <a:avLst/>
          </a:prstGeom>
        </p:spPr>
        <p:txBody>
          <a:bodyPr bIns="0" lIns="0" numCol="1" rIns="0" rtlCol="0" tIns="12700" vert="horz" wrap="square">
            <a:spAutoFit/>
          </a:bodyPr>
          <a:lstStyle/>
          <a:p>
            <a:pPr marL="12700">
              <a:spcBef>
                <a:spcPts val="100"/>
              </a:spcBef>
              <a:tabLst>
                <a:tab algn="l" pos="1091538"/>
              </a:tabLst>
            </a:pPr>
            <a:r>
              <a:rPr dirty="0" sz="2400">
                <a:latin typeface="Cambria Math"/>
                <a:cs typeface="Cambria Math"/>
              </a:rPr>
              <a:t>𝐴</a:t>
            </a:r>
            <a:r>
              <a:rPr dirty="0" spc="151"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p:txBody>
      </p:sp>
      <p:sp>
        <p:nvSpPr>
          <p:cNvPr id="10" name="object 10"/>
          <p:cNvSpPr txBox="1"/>
          <p:nvPr/>
        </p:nvSpPr>
        <p:spPr>
          <a:xfrm>
            <a:off x="1266241" y="1149731"/>
            <a:ext cx="2463165" cy="2028761"/>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altLang="en-IN" dirty="0" lang="en-IN" spc="-25" sz="2400">
                <a:latin typeface="Palatino Linotype"/>
                <a:cs typeface="Palatino Linotype"/>
              </a:rPr>
              <a:t>)</a:t>
            </a:r>
            <a:endParaRPr altLang="en-IN" dirty="0" lang="en-IN" sz="2400">
              <a:latin typeface="Palatino Linotype"/>
              <a:cs typeface="Palatino Linotype"/>
            </a:endParaRPr>
          </a:p>
          <a:p>
            <a:pPr>
              <a:spcBef>
                <a:spcPts val="1789"/>
              </a:spcBef>
            </a:pPr>
            <a:endParaRPr altLang="en-IN" dirty="0" lang="en-IN" sz="2400">
              <a:latin typeface="Palatino Linotype"/>
              <a:cs typeface="Palatino Linotype"/>
            </a:endParaRPr>
          </a:p>
          <a:p>
            <a:pPr marL="24765">
              <a:spcBef>
                <a:spcPts val="25"/>
              </a:spcBef>
            </a:pPr>
            <a:endParaRPr dirty="0" sz="2000">
              <a:latin typeface="Symbol"/>
              <a:cs typeface="Symbol"/>
            </a:endParaRPr>
          </a:p>
        </p:txBody>
      </p:sp>
      <p:sp>
        <p:nvSpPr>
          <p:cNvPr id="12" name="object 12"/>
          <p:cNvSpPr txBox="1"/>
          <p:nvPr/>
        </p:nvSpPr>
        <p:spPr>
          <a:xfrm>
            <a:off x="5092195" y="975050"/>
            <a:ext cx="6071871" cy="751488"/>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Nothing</a:t>
            </a:r>
            <a:r>
              <a:rPr dirty="0" spc="5" sz="2400">
                <a:latin typeface="Palatino Linotype"/>
                <a:cs typeface="Palatino Linotype"/>
              </a:rPr>
              <a:t> </a:t>
            </a:r>
            <a:r>
              <a:rPr dirty="0" sz="2400">
                <a:latin typeface="Palatino Linotype"/>
                <a:cs typeface="Palatino Linotype"/>
              </a:rPr>
              <a:t>produces</a:t>
            </a:r>
            <a:r>
              <a:rPr dirty="0" spc="-35" sz="2400">
                <a:latin typeface="Palatino Linotype"/>
                <a:cs typeface="Palatino Linotype"/>
              </a:rPr>
              <a:t> </a:t>
            </a:r>
            <a:r>
              <a:rPr dirty="0" sz="2400">
                <a:latin typeface="Palatino Linotype"/>
                <a:cs typeface="Palatino Linotype"/>
              </a:rPr>
              <a:t>an</a:t>
            </a:r>
            <a:r>
              <a:rPr dirty="0" spc="-35" sz="2400">
                <a:latin typeface="Palatino Linotype"/>
                <a:cs typeface="Palatino Linotype"/>
              </a:rPr>
              <a:t> </a:t>
            </a:r>
            <a:r>
              <a:rPr dirty="0" sz="2400">
                <a:latin typeface="Cambria Math"/>
                <a:cs typeface="Cambria Math"/>
              </a:rPr>
              <a:t>𝑆</a:t>
            </a:r>
            <a:r>
              <a:rPr dirty="0" sz="2400">
                <a:latin typeface="Palatino Linotype"/>
                <a:cs typeface="Palatino Linotype"/>
              </a:rPr>
              <a:t>,</a:t>
            </a:r>
            <a:r>
              <a:rPr dirty="0" spc="-31" sz="2400">
                <a:latin typeface="Palatino Linotype"/>
                <a:cs typeface="Palatino Linotype"/>
              </a:rPr>
              <a:t> </a:t>
            </a:r>
            <a:r>
              <a:rPr dirty="0" sz="2400">
                <a:latin typeface="Palatino Linotype"/>
                <a:cs typeface="Palatino Linotype"/>
              </a:rPr>
              <a:t>however</a:t>
            </a:r>
            <a:r>
              <a:rPr dirty="0" spc="-35" sz="2400">
                <a:latin typeface="Palatino Linotype"/>
                <a:cs typeface="Palatino Linotype"/>
              </a:rPr>
              <a:t> </a:t>
            </a:r>
            <a:r>
              <a:rPr dirty="0" sz="2400">
                <a:latin typeface="Cambria Math"/>
                <a:cs typeface="Cambria Math"/>
              </a:rPr>
              <a:t>𝐴</a:t>
            </a:r>
            <a:r>
              <a:rPr dirty="0" spc="65" sz="2400">
                <a:latin typeface="Cambria Math"/>
                <a:cs typeface="Cambria Math"/>
              </a:rPr>
              <a:t> </a:t>
            </a:r>
            <a:r>
              <a:rPr dirty="0" spc="-11" sz="2400">
                <a:latin typeface="Palatino Linotype"/>
                <a:cs typeface="Palatino Linotype"/>
              </a:rPr>
              <a:t>produces</a:t>
            </a:r>
            <a:endParaRPr dirty="0" sz="2400">
              <a:latin typeface="Palatino Linotype"/>
              <a:cs typeface="Palatino Linotype"/>
            </a:endParaRPr>
          </a:p>
          <a:p>
            <a:pPr marL="12700">
              <a:spcBef>
                <a:spcPts val="5"/>
              </a:spcBef>
            </a:pPr>
            <a:r>
              <a:rPr dirty="0" sz="2400">
                <a:latin typeface="Cambria Math"/>
                <a:cs typeface="Cambria Math"/>
              </a:rPr>
              <a:t>𝐴𝐴</a:t>
            </a:r>
            <a:r>
              <a:rPr dirty="0" sz="2400">
                <a:latin typeface="Palatino Linotype"/>
                <a:cs typeface="Palatino Linotype"/>
              </a:rPr>
              <a:t>,</a:t>
            </a:r>
            <a:r>
              <a:rPr dirty="0" spc="-20" sz="2400">
                <a:latin typeface="Palatino Linotype"/>
                <a:cs typeface="Palatino Linotype"/>
              </a:rPr>
              <a:t> </a:t>
            </a:r>
            <a:r>
              <a:rPr dirty="0" sz="2400">
                <a:latin typeface="Palatino Linotype"/>
                <a:cs typeface="Palatino Linotype"/>
              </a:rPr>
              <a:t>so</a:t>
            </a:r>
            <a:r>
              <a:rPr dirty="0" spc="-15" sz="2400">
                <a:latin typeface="Palatino Linotype"/>
                <a:cs typeface="Palatino Linotype"/>
              </a:rPr>
              <a:t> </a:t>
            </a:r>
            <a:r>
              <a:rPr dirty="0" sz="2400">
                <a:latin typeface="Palatino Linotype"/>
                <a:cs typeface="Palatino Linotype"/>
              </a:rPr>
              <a:t>we</a:t>
            </a:r>
            <a:r>
              <a:rPr dirty="0" spc="-25" sz="2400">
                <a:latin typeface="Palatino Linotype"/>
                <a:cs typeface="Palatino Linotype"/>
              </a:rPr>
              <a:t> </a:t>
            </a:r>
            <a:r>
              <a:rPr dirty="0" sz="2400">
                <a:latin typeface="Palatino Linotype"/>
                <a:cs typeface="Palatino Linotype"/>
              </a:rPr>
              <a:t>can</a:t>
            </a:r>
            <a:r>
              <a:rPr dirty="0" spc="-20" sz="2400">
                <a:latin typeface="Palatino Linotype"/>
                <a:cs typeface="Palatino Linotype"/>
              </a:rPr>
              <a:t> </a:t>
            </a:r>
            <a:r>
              <a:rPr dirty="0" sz="2400">
                <a:latin typeface="Palatino Linotype"/>
                <a:cs typeface="Palatino Linotype"/>
              </a:rPr>
              <a:t>add</a:t>
            </a:r>
            <a:r>
              <a:rPr dirty="0" spc="-20" sz="2400">
                <a:latin typeface="Palatino Linotype"/>
                <a:cs typeface="Palatino Linotype"/>
              </a:rPr>
              <a:t> </a:t>
            </a:r>
            <a:r>
              <a:rPr dirty="0" sz="2400">
                <a:latin typeface="Cambria Math"/>
                <a:cs typeface="Cambria Math"/>
              </a:rPr>
              <a:t>𝐴</a:t>
            </a:r>
            <a:r>
              <a:rPr dirty="0" spc="80" sz="2400">
                <a:latin typeface="Cambria Math"/>
                <a:cs typeface="Cambria Math"/>
              </a:rPr>
              <a:t> </a:t>
            </a:r>
            <a:r>
              <a:rPr dirty="0" sz="2400">
                <a:latin typeface="Palatino Linotype"/>
                <a:cs typeface="Palatino Linotype"/>
              </a:rPr>
              <a:t>to</a:t>
            </a:r>
            <a:r>
              <a:rPr dirty="0" spc="-11" sz="2400">
                <a:latin typeface="Palatino Linotype"/>
                <a:cs typeface="Palatino Linotype"/>
              </a:rPr>
              <a:t> </a:t>
            </a:r>
            <a:r>
              <a:rPr dirty="0" sz="2400">
                <a:latin typeface="Palatino Linotype"/>
                <a:cs typeface="Palatino Linotype"/>
              </a:rPr>
              <a:t>cell</a:t>
            </a:r>
            <a:r>
              <a:rPr dirty="0" spc="-15" sz="2400">
                <a:latin typeface="Palatino Linotype"/>
                <a:cs typeface="Palatino Linotype"/>
              </a:rPr>
              <a:t> </a:t>
            </a:r>
            <a:r>
              <a:rPr dirty="0" spc="-20" sz="2400">
                <a:latin typeface="Palatino Linotype"/>
                <a:cs typeface="Palatino Linotype"/>
              </a:rPr>
              <a:t>2,4.</a:t>
            </a:r>
            <a:endParaRPr dirty="0" sz="2400">
              <a:latin typeface="Palatino Linotype"/>
              <a:cs typeface="Palatino Linotype"/>
            </a:endParaRPr>
          </a:p>
        </p:txBody>
      </p:sp>
      <p:sp>
        <p:nvSpPr>
          <p:cNvPr id="45" name="object 2">
            <a:extLst>
              <a:ext uri="{FF2B5EF4-FFF2-40B4-BE49-F238E27FC236}">
                <a16:creationId xmlns:a16="http://schemas.microsoft.com/office/drawing/2014/main" id="{82F8C607-8759-3D96-5DCA-AC3DADFDD7E4}"/>
              </a:ext>
            </a:extLst>
          </p:cNvPr>
          <p:cNvSpPr txBox="1"/>
          <p:nvPr/>
        </p:nvSpPr>
        <p:spPr>
          <a:xfrm>
            <a:off x="2535428" y="3928618"/>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46" name="object 3">
            <a:extLst>
              <a:ext uri="{FF2B5EF4-FFF2-40B4-BE49-F238E27FC236}">
                <a16:creationId xmlns:a16="http://schemas.microsoft.com/office/drawing/2014/main" id="{84909813-9F0B-B456-5307-D675D0E0E6E3}"/>
              </a:ext>
            </a:extLst>
          </p:cNvPr>
          <p:cNvSpPr txBox="1"/>
          <p:nvPr/>
        </p:nvSpPr>
        <p:spPr>
          <a:xfrm>
            <a:off x="3658616" y="3928618"/>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7" name="object 4">
            <a:extLst>
              <a:ext uri="{FF2B5EF4-FFF2-40B4-BE49-F238E27FC236}">
                <a16:creationId xmlns:a16="http://schemas.microsoft.com/office/drawing/2014/main" id="{201EFF00-6D40-15A6-B2E6-1DAD20FCE822}"/>
              </a:ext>
            </a:extLst>
          </p:cNvPr>
          <p:cNvSpPr txBox="1"/>
          <p:nvPr/>
        </p:nvSpPr>
        <p:spPr>
          <a:xfrm>
            <a:off x="2582674" y="4290085"/>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48" name="object 5">
            <a:extLst>
              <a:ext uri="{FF2B5EF4-FFF2-40B4-BE49-F238E27FC236}">
                <a16:creationId xmlns:a16="http://schemas.microsoft.com/office/drawing/2014/main" id="{1FEFBB9B-2558-A59E-01A5-E3A59C7D486F}"/>
              </a:ext>
            </a:extLst>
          </p:cNvPr>
          <p:cNvSpPr txBox="1"/>
          <p:nvPr/>
        </p:nvSpPr>
        <p:spPr>
          <a:xfrm>
            <a:off x="3707386" y="4290085"/>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49" name="object 6">
            <a:extLst>
              <a:ext uri="{FF2B5EF4-FFF2-40B4-BE49-F238E27FC236}">
                <a16:creationId xmlns:a16="http://schemas.microsoft.com/office/drawing/2014/main" id="{5680BEF8-EBD6-55F3-02EB-376AFCBAF3E6}"/>
              </a:ext>
            </a:extLst>
          </p:cNvPr>
          <p:cNvSpPr txBox="1"/>
          <p:nvPr/>
        </p:nvSpPr>
        <p:spPr>
          <a:xfrm>
            <a:off x="4765296" y="4290085"/>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50" name="object 7">
            <a:extLst>
              <a:ext uri="{FF2B5EF4-FFF2-40B4-BE49-F238E27FC236}">
                <a16:creationId xmlns:a16="http://schemas.microsoft.com/office/drawing/2014/main" id="{A0CD81E9-3FC0-B31B-FDE4-258B4EA07807}"/>
              </a:ext>
            </a:extLst>
          </p:cNvPr>
          <p:cNvSpPr txBox="1"/>
          <p:nvPr/>
        </p:nvSpPr>
        <p:spPr>
          <a:xfrm>
            <a:off x="5755894" y="4290085"/>
            <a:ext cx="19685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C</a:t>
            </a:r>
            <a:endParaRPr sz="2500">
              <a:latin typeface="Cambria Math"/>
              <a:cs typeface="Cambria Math"/>
            </a:endParaRPr>
          </a:p>
        </p:txBody>
      </p:sp>
      <p:sp>
        <p:nvSpPr>
          <p:cNvPr id="51" name="object 8">
            <a:extLst>
              <a:ext uri="{FF2B5EF4-FFF2-40B4-BE49-F238E27FC236}">
                <a16:creationId xmlns:a16="http://schemas.microsoft.com/office/drawing/2014/main" id="{A95B3D61-6157-1DBA-BF96-3F9DA46C3351}"/>
              </a:ext>
            </a:extLst>
          </p:cNvPr>
          <p:cNvSpPr txBox="1"/>
          <p:nvPr/>
        </p:nvSpPr>
        <p:spPr>
          <a:xfrm>
            <a:off x="6726682" y="4290085"/>
            <a:ext cx="19685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C</a:t>
            </a:r>
            <a:endParaRPr sz="2500">
              <a:latin typeface="Cambria Math"/>
              <a:cs typeface="Cambria Math"/>
            </a:endParaRPr>
          </a:p>
        </p:txBody>
      </p:sp>
      <p:sp>
        <p:nvSpPr>
          <p:cNvPr id="52" name="object 9">
            <a:extLst>
              <a:ext uri="{FF2B5EF4-FFF2-40B4-BE49-F238E27FC236}">
                <a16:creationId xmlns:a16="http://schemas.microsoft.com/office/drawing/2014/main" id="{1808307F-71C0-99C0-24D2-5CD97D1F5141}"/>
              </a:ext>
            </a:extLst>
          </p:cNvPr>
          <p:cNvSpPr txBox="1"/>
          <p:nvPr/>
        </p:nvSpPr>
        <p:spPr>
          <a:xfrm>
            <a:off x="2582674" y="4655524"/>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53" name="object 10">
            <a:extLst>
              <a:ext uri="{FF2B5EF4-FFF2-40B4-BE49-F238E27FC236}">
                <a16:creationId xmlns:a16="http://schemas.microsoft.com/office/drawing/2014/main" id="{21A97BB3-E010-C807-F4CF-96B592834514}"/>
              </a:ext>
            </a:extLst>
          </p:cNvPr>
          <p:cNvSpPr txBox="1"/>
          <p:nvPr/>
        </p:nvSpPr>
        <p:spPr>
          <a:xfrm>
            <a:off x="3707386" y="4655524"/>
            <a:ext cx="215900"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A</a:t>
            </a:r>
            <a:endParaRPr sz="2500">
              <a:latin typeface="Cambria Math"/>
              <a:cs typeface="Cambria Math"/>
            </a:endParaRPr>
          </a:p>
        </p:txBody>
      </p:sp>
      <p:sp>
        <p:nvSpPr>
          <p:cNvPr id="54" name="object 11">
            <a:extLst>
              <a:ext uri="{FF2B5EF4-FFF2-40B4-BE49-F238E27FC236}">
                <a16:creationId xmlns:a16="http://schemas.microsoft.com/office/drawing/2014/main" id="{9F3B575B-4C2B-1DC0-999F-2E6FF3130FE6}"/>
              </a:ext>
            </a:extLst>
          </p:cNvPr>
          <p:cNvSpPr txBox="1"/>
          <p:nvPr/>
        </p:nvSpPr>
        <p:spPr>
          <a:xfrm>
            <a:off x="4765294" y="4672024"/>
            <a:ext cx="21717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a:t>
            </a:r>
            <a:endParaRPr sz="2400">
              <a:latin typeface="Cambria Math"/>
              <a:cs typeface="Cambria Math"/>
            </a:endParaRPr>
          </a:p>
        </p:txBody>
      </p:sp>
      <p:sp>
        <p:nvSpPr>
          <p:cNvPr id="55" name="object 12">
            <a:extLst>
              <a:ext uri="{FF2B5EF4-FFF2-40B4-BE49-F238E27FC236}">
                <a16:creationId xmlns:a16="http://schemas.microsoft.com/office/drawing/2014/main" id="{5492B253-0C56-781D-EBB3-36D693452EFD}"/>
              </a:ext>
            </a:extLst>
          </p:cNvPr>
          <p:cNvSpPr txBox="1"/>
          <p:nvPr/>
        </p:nvSpPr>
        <p:spPr>
          <a:xfrm>
            <a:off x="5757418" y="4655524"/>
            <a:ext cx="212091" cy="401393"/>
          </a:xfrm>
          <a:prstGeom prst="rect">
            <a:avLst/>
          </a:prstGeom>
        </p:spPr>
        <p:txBody>
          <a:bodyPr bIns="0" lIns="0" numCol="1" rIns="0" rtlCol="0" tIns="16511" vert="horz" wrap="square">
            <a:spAutoFit/>
          </a:bodyPr>
          <a:lstStyle/>
          <a:p>
            <a:pPr marL="12700">
              <a:spcBef>
                <a:spcPts val="131"/>
              </a:spcBef>
            </a:pPr>
            <a:r>
              <a:rPr dirty="0" spc="-51" sz="2500">
                <a:latin typeface="Cambria Math"/>
                <a:cs typeface="Cambria Math"/>
              </a:rPr>
              <a:t>B</a:t>
            </a:r>
            <a:endParaRPr sz="2500">
              <a:latin typeface="Cambria Math"/>
              <a:cs typeface="Cambria Math"/>
            </a:endParaRPr>
          </a:p>
        </p:txBody>
      </p:sp>
      <p:sp>
        <p:nvSpPr>
          <p:cNvPr id="56" name="object 13">
            <a:extLst>
              <a:ext uri="{FF2B5EF4-FFF2-40B4-BE49-F238E27FC236}">
                <a16:creationId xmlns:a16="http://schemas.microsoft.com/office/drawing/2014/main" id="{EA45B22F-19B4-3E0B-9C0C-90E1FB85AED7}"/>
              </a:ext>
            </a:extLst>
          </p:cNvPr>
          <p:cNvSpPr txBox="1"/>
          <p:nvPr/>
        </p:nvSpPr>
        <p:spPr>
          <a:xfrm>
            <a:off x="3684525" y="5038470"/>
            <a:ext cx="21717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a:t>
            </a:r>
            <a:endParaRPr sz="2400">
              <a:latin typeface="Cambria Math"/>
              <a:cs typeface="Cambria Math"/>
            </a:endParaRPr>
          </a:p>
        </p:txBody>
      </p:sp>
      <p:sp>
        <p:nvSpPr>
          <p:cNvPr id="57" name="object 14">
            <a:extLst>
              <a:ext uri="{FF2B5EF4-FFF2-40B4-BE49-F238E27FC236}">
                <a16:creationId xmlns:a16="http://schemas.microsoft.com/office/drawing/2014/main" id="{44D91C94-5E86-3166-E3C0-5A562538CE78}"/>
              </a:ext>
            </a:extLst>
          </p:cNvPr>
          <p:cNvSpPr txBox="1"/>
          <p:nvPr/>
        </p:nvSpPr>
        <p:spPr>
          <a:xfrm>
            <a:off x="4743958" y="5021987"/>
            <a:ext cx="429259" cy="401393"/>
          </a:xfrm>
          <a:prstGeom prst="rect">
            <a:avLst/>
          </a:prstGeom>
        </p:spPr>
        <p:txBody>
          <a:bodyPr bIns="0" lIns="0" numCol="1" rIns="0" rtlCol="0" tIns="16511" vert="horz" wrap="square">
            <a:spAutoFit/>
          </a:bodyPr>
          <a:lstStyle/>
          <a:p>
            <a:pPr marL="12700">
              <a:spcBef>
                <a:spcPts val="131"/>
              </a:spcBef>
            </a:pPr>
            <a:r>
              <a:rPr dirty="0" spc="-35" sz="2500">
                <a:latin typeface="Cambria Math"/>
                <a:cs typeface="Cambria Math"/>
              </a:rPr>
              <a:t>S,A</a:t>
            </a:r>
            <a:endParaRPr sz="2500">
              <a:latin typeface="Cambria Math"/>
              <a:cs typeface="Cambria Math"/>
            </a:endParaRPr>
          </a:p>
        </p:txBody>
      </p:sp>
      <p:sp>
        <p:nvSpPr>
          <p:cNvPr id="58" name="object 17">
            <a:extLst>
              <a:ext uri="{FF2B5EF4-FFF2-40B4-BE49-F238E27FC236}">
                <a16:creationId xmlns:a16="http://schemas.microsoft.com/office/drawing/2014/main" id="{A665EDF3-FC50-2B31-E172-6ACA9BD84AEB}"/>
              </a:ext>
            </a:extLst>
          </p:cNvPr>
          <p:cNvSpPr/>
          <p:nvPr/>
        </p:nvSpPr>
        <p:spPr>
          <a:xfrm>
            <a:off x="2286000" y="4343400"/>
            <a:ext cx="5013960" cy="1811020"/>
          </a:xfrm>
          <a:custGeom>
            <a:avLst/>
            <a:gdLst/>
            <a:ahLst/>
            <a:cxnLst/>
            <a:rect b="b" l="l" r="r" t="t"/>
            <a:pathLst>
              <a:path h="1811020" w="5013960">
                <a:moveTo>
                  <a:pt x="9144" y="0"/>
                </a:moveTo>
                <a:lnTo>
                  <a:pt x="5012436" y="0"/>
                </a:lnTo>
              </a:path>
              <a:path h="1811020" w="5013960">
                <a:moveTo>
                  <a:pt x="10668" y="356616"/>
                </a:moveTo>
                <a:lnTo>
                  <a:pt x="5013960" y="356616"/>
                </a:lnTo>
              </a:path>
              <a:path h="1811020" w="5013960">
                <a:moveTo>
                  <a:pt x="36576" y="701040"/>
                </a:moveTo>
                <a:lnTo>
                  <a:pt x="4215384" y="701040"/>
                </a:lnTo>
              </a:path>
              <a:path h="1811020" w="5013960">
                <a:moveTo>
                  <a:pt x="0" y="1045464"/>
                </a:moveTo>
                <a:lnTo>
                  <a:pt x="3112008" y="1045464"/>
                </a:lnTo>
              </a:path>
              <a:path h="1811020" w="5013960">
                <a:moveTo>
                  <a:pt x="3048" y="1415796"/>
                </a:moveTo>
                <a:lnTo>
                  <a:pt x="2225040" y="1415796"/>
                </a:lnTo>
              </a:path>
              <a:path h="1811020" w="5013960">
                <a:moveTo>
                  <a:pt x="16764" y="1810512"/>
                </a:moveTo>
                <a:lnTo>
                  <a:pt x="1109472" y="1810512"/>
                </a:lnTo>
              </a:path>
              <a:path h="1811020" w="5013960">
                <a:moveTo>
                  <a:pt x="9144" y="0"/>
                </a:moveTo>
                <a:lnTo>
                  <a:pt x="9144" y="1802892"/>
                </a:lnTo>
              </a:path>
              <a:path h="1811020" w="5013960">
                <a:moveTo>
                  <a:pt x="1100328" y="1802892"/>
                </a:moveTo>
                <a:lnTo>
                  <a:pt x="1100328" y="0"/>
                </a:lnTo>
              </a:path>
              <a:path h="1811020" w="5013960">
                <a:moveTo>
                  <a:pt x="2218944" y="1409700"/>
                </a:moveTo>
                <a:lnTo>
                  <a:pt x="2218944" y="0"/>
                </a:lnTo>
              </a:path>
              <a:path h="1811020" w="5013960">
                <a:moveTo>
                  <a:pt x="3107436" y="1040892"/>
                </a:moveTo>
                <a:lnTo>
                  <a:pt x="3107436" y="0"/>
                </a:lnTo>
              </a:path>
              <a:path h="1811020" w="5013960">
                <a:moveTo>
                  <a:pt x="4212336" y="697992"/>
                </a:moveTo>
                <a:lnTo>
                  <a:pt x="4212336" y="12192"/>
                </a:lnTo>
              </a:path>
              <a:path h="1811020" w="5013960">
                <a:moveTo>
                  <a:pt x="5012436" y="355092"/>
                </a:moveTo>
                <a:lnTo>
                  <a:pt x="5012436" y="0"/>
                </a:lnTo>
              </a:path>
            </a:pathLst>
          </a:custGeom>
          <a:ln w="12192">
            <a:solidFill>
              <a:srgbClr val="6B9F24"/>
            </a:solidFill>
          </a:ln>
        </p:spPr>
        <p:txBody>
          <a:bodyPr bIns="0" lIns="0" numCol="1" rIns="0" rtlCol="0" tIns="0" wrap="square"/>
          <a:lstStyle/>
          <a:p>
            <a:endParaRPr/>
          </a:p>
        </p:txBody>
      </p:sp>
      <p:sp>
        <p:nvSpPr>
          <p:cNvPr id="59" name="object 18">
            <a:extLst>
              <a:ext uri="{FF2B5EF4-FFF2-40B4-BE49-F238E27FC236}">
                <a16:creationId xmlns:a16="http://schemas.microsoft.com/office/drawing/2014/main" id="{6C643FCE-B7E7-4D22-C391-97D73F63FA2B}"/>
              </a:ext>
            </a:extLst>
          </p:cNvPr>
          <p:cNvSpPr txBox="1"/>
          <p:nvPr/>
        </p:nvSpPr>
        <p:spPr>
          <a:xfrm>
            <a:off x="1667866" y="4183125"/>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sp>
        <p:nvSpPr>
          <p:cNvPr id="60" name="object 19">
            <a:extLst>
              <a:ext uri="{FF2B5EF4-FFF2-40B4-BE49-F238E27FC236}">
                <a16:creationId xmlns:a16="http://schemas.microsoft.com/office/drawing/2014/main" id="{931EF60D-3453-A379-C9B0-2C8747107591}"/>
              </a:ext>
            </a:extLst>
          </p:cNvPr>
          <p:cNvSpPr txBox="1"/>
          <p:nvPr/>
        </p:nvSpPr>
        <p:spPr>
          <a:xfrm>
            <a:off x="1608939" y="4333796"/>
            <a:ext cx="1216025" cy="1833194"/>
          </a:xfrm>
          <a:prstGeom prst="rect">
            <a:avLst/>
          </a:prstGeom>
        </p:spPr>
        <p:txBody>
          <a:bodyPr bIns="0" lIns="0" numCol="1" rIns="0" rtlCol="0" tIns="169545" vert="horz" wrap="square">
            <a:spAutoFit/>
          </a:bodyPr>
          <a:lstStyle/>
          <a:p>
            <a:pPr marL="63498">
              <a:spcBef>
                <a:spcPts val="13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29557">
              <a:lnSpc>
                <a:spcPts val="2991"/>
              </a:lnSpc>
              <a:spcBef>
                <a:spcPts val="1331"/>
              </a:spcBef>
              <a:tabLst>
                <a:tab algn="l" pos="964541"/>
              </a:tabLst>
            </a:pPr>
            <a:r>
              <a:rPr dirty="0" spc="-51" sz="2400">
                <a:latin typeface="Cambria Math"/>
                <a:cs typeface="Cambria Math"/>
              </a:rPr>
              <a:t>3</a:t>
            </a:r>
            <a:r>
              <a:rPr dirty="0" sz="2400">
                <a:latin typeface="Cambria Math"/>
                <a:cs typeface="Cambria Math"/>
              </a:rPr>
              <a:t>	</a:t>
            </a:r>
            <a:r>
              <a:rPr dirty="0" spc="-51" sz="2500">
                <a:latin typeface="Cambria Math"/>
                <a:cs typeface="Cambria Math"/>
              </a:rPr>
              <a:t>A</a:t>
            </a:r>
            <a:endParaRPr sz="2500">
              <a:latin typeface="Cambria Math"/>
              <a:cs typeface="Cambria Math"/>
            </a:endParaRPr>
          </a:p>
          <a:p>
            <a:pPr marL="329557">
              <a:lnSpc>
                <a:spcPts val="2871"/>
              </a:lnSpc>
              <a:tabLst>
                <a:tab algn="l" pos="986130"/>
              </a:tabLst>
            </a:pPr>
            <a:r>
              <a:rPr dirty="0" spc="-51" sz="2400">
                <a:latin typeface="Cambria Math"/>
                <a:cs typeface="Cambria Math"/>
              </a:rPr>
              <a:t>4</a:t>
            </a:r>
            <a:r>
              <a:rPr dirty="0" sz="2400">
                <a:latin typeface="Cambria Math"/>
                <a:cs typeface="Cambria Math"/>
              </a:rPr>
              <a:t>	</a:t>
            </a:r>
            <a:r>
              <a:rPr dirty="0" spc="-51" sz="2400">
                <a:latin typeface="Cambria Math"/>
                <a:cs typeface="Cambria Math"/>
              </a:rPr>
              <a:t>∅</a:t>
            </a:r>
            <a:endParaRPr sz="2400">
              <a:latin typeface="Cambria Math"/>
              <a:cs typeface="Cambria Math"/>
            </a:endParaRPr>
          </a:p>
          <a:p>
            <a:pPr marL="329557"/>
            <a:r>
              <a:rPr dirty="0" spc="-51" sz="2400">
                <a:latin typeface="Cambria Math"/>
                <a:cs typeface="Cambria Math"/>
              </a:rPr>
              <a:t>5</a:t>
            </a:r>
            <a:endParaRPr sz="2400">
              <a:latin typeface="Cambria Math"/>
              <a:cs typeface="Cambria Math"/>
            </a:endParaRPr>
          </a:p>
        </p:txBody>
      </p:sp>
      <p:sp>
        <p:nvSpPr>
          <p:cNvPr id="61" name="object 20">
            <a:extLst>
              <a:ext uri="{FF2B5EF4-FFF2-40B4-BE49-F238E27FC236}">
                <a16:creationId xmlns:a16="http://schemas.microsoft.com/office/drawing/2014/main" id="{7639F113-C446-DB99-BE39-1EC99E6D5884}"/>
              </a:ext>
            </a:extLst>
          </p:cNvPr>
          <p:cNvSpPr txBox="1"/>
          <p:nvPr/>
        </p:nvSpPr>
        <p:spPr>
          <a:xfrm>
            <a:off x="4669283" y="3297830"/>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dirty="0" sz="2000">
              <a:latin typeface="Palatino Linotype"/>
              <a:cs typeface="Palatino Linotype"/>
            </a:endParaRPr>
          </a:p>
          <a:p>
            <a:pPr marL="79373">
              <a:spcBef>
                <a:spcPts val="1395"/>
              </a:spcBef>
            </a:pPr>
            <a:r>
              <a:rPr dirty="0" spc="-51" sz="2400">
                <a:latin typeface="Cambria Math"/>
                <a:cs typeface="Cambria Math"/>
              </a:rPr>
              <a:t>3</a:t>
            </a:r>
            <a:endParaRPr dirty="0" sz="2400">
              <a:latin typeface="Cambria Math"/>
              <a:cs typeface="Cambria Math"/>
            </a:endParaRPr>
          </a:p>
        </p:txBody>
      </p:sp>
      <p:sp>
        <p:nvSpPr>
          <p:cNvPr id="62" name="object 21">
            <a:extLst>
              <a:ext uri="{FF2B5EF4-FFF2-40B4-BE49-F238E27FC236}">
                <a16:creationId xmlns:a16="http://schemas.microsoft.com/office/drawing/2014/main" id="{A4C18408-0039-DD05-E52E-E3764B20045F}"/>
              </a:ext>
            </a:extLst>
          </p:cNvPr>
          <p:cNvSpPr txBox="1"/>
          <p:nvPr/>
        </p:nvSpPr>
        <p:spPr>
          <a:xfrm>
            <a:off x="5812284" y="3297830"/>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3" name="object 22">
            <a:extLst>
              <a:ext uri="{FF2B5EF4-FFF2-40B4-BE49-F238E27FC236}">
                <a16:creationId xmlns:a16="http://schemas.microsoft.com/office/drawing/2014/main" id="{211768D1-9015-289B-C584-A93D55364458}"/>
              </a:ext>
            </a:extLst>
          </p:cNvPr>
          <p:cNvSpPr txBox="1"/>
          <p:nvPr/>
        </p:nvSpPr>
        <p:spPr>
          <a:xfrm>
            <a:off x="6778879" y="3297830"/>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64" name="object 23">
            <a:extLst>
              <a:ext uri="{FF2B5EF4-FFF2-40B4-BE49-F238E27FC236}">
                <a16:creationId xmlns:a16="http://schemas.microsoft.com/office/drawing/2014/main" id="{09F7190C-EADC-30F0-73A3-2F3711F0BC3C}"/>
              </a:ext>
            </a:extLst>
          </p:cNvPr>
          <p:cNvSpPr txBox="1"/>
          <p:nvPr/>
        </p:nvSpPr>
        <p:spPr>
          <a:xfrm>
            <a:off x="2738756" y="3712591"/>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65" name="object 24">
            <a:extLst>
              <a:ext uri="{FF2B5EF4-FFF2-40B4-BE49-F238E27FC236}">
                <a16:creationId xmlns:a16="http://schemas.microsoft.com/office/drawing/2014/main" id="{C64D7951-B01B-C5EC-372C-AE18E4A12987}"/>
              </a:ext>
            </a:extLst>
          </p:cNvPr>
          <p:cNvSpPr txBox="1"/>
          <p:nvPr/>
        </p:nvSpPr>
        <p:spPr>
          <a:xfrm>
            <a:off x="2383029" y="3445888"/>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grpSp>
        <p:nvGrpSpPr>
          <p:cNvPr id="66" name="object 26">
            <a:extLst>
              <a:ext uri="{FF2B5EF4-FFF2-40B4-BE49-F238E27FC236}">
                <a16:creationId xmlns:a16="http://schemas.microsoft.com/office/drawing/2014/main" id="{D06735E2-3AAC-957B-1223-3EDB6C5D7914}"/>
              </a:ext>
            </a:extLst>
          </p:cNvPr>
          <p:cNvGrpSpPr/>
          <p:nvPr/>
        </p:nvGrpSpPr>
        <p:grpSpPr>
          <a:xfrm>
            <a:off x="3430526" y="4360162"/>
            <a:ext cx="1811020" cy="1370331"/>
            <a:chOff x="1999488" y="4500371"/>
            <a:chExt cx="1811020" cy="1370330"/>
          </a:xfrm>
        </p:grpSpPr>
        <p:sp>
          <p:nvSpPr>
            <p:cNvPr id="67" name="object 27">
              <a:extLst>
                <a:ext uri="{FF2B5EF4-FFF2-40B4-BE49-F238E27FC236}">
                  <a16:creationId xmlns:a16="http://schemas.microsoft.com/office/drawing/2014/main" id="{A1EBF8F8-B419-3E6A-5BEE-394A3B025396}"/>
                </a:ext>
              </a:extLst>
            </p:cNvPr>
            <p:cNvSpPr/>
            <p:nvPr/>
          </p:nvSpPr>
          <p:spPr>
            <a:xfrm>
              <a:off x="1999488" y="5568695"/>
              <a:ext cx="1045844" cy="302260"/>
            </a:xfrm>
            <a:custGeom>
              <a:avLst/>
              <a:gdLst/>
              <a:ahLst/>
              <a:cxnLst/>
              <a:rect b="b" l="l" r="r" t="t"/>
              <a:pathLst>
                <a:path h="302260" w="1045844">
                  <a:moveTo>
                    <a:pt x="1045463" y="0"/>
                  </a:moveTo>
                  <a:lnTo>
                    <a:pt x="0" y="0"/>
                  </a:lnTo>
                  <a:lnTo>
                    <a:pt x="0" y="301751"/>
                  </a:lnTo>
                  <a:lnTo>
                    <a:pt x="1045463" y="301751"/>
                  </a:lnTo>
                  <a:lnTo>
                    <a:pt x="1045463" y="0"/>
                  </a:lnTo>
                  <a:close/>
                </a:path>
              </a:pathLst>
            </a:custGeom>
            <a:solidFill>
              <a:srgbClr val="FF0000"/>
            </a:solidFill>
          </p:spPr>
          <p:txBody>
            <a:bodyPr bIns="0" lIns="0" numCol="1" rIns="0" rtlCol="0" tIns="0" wrap="square"/>
            <a:lstStyle/>
            <a:p>
              <a:endParaRPr/>
            </a:p>
          </p:txBody>
        </p:sp>
        <p:sp>
          <p:nvSpPr>
            <p:cNvPr id="68" name="object 28">
              <a:extLst>
                <a:ext uri="{FF2B5EF4-FFF2-40B4-BE49-F238E27FC236}">
                  <a16:creationId xmlns:a16="http://schemas.microsoft.com/office/drawing/2014/main" id="{253A586F-7DA8-E9D5-2FA9-D451976AB037}"/>
                </a:ext>
              </a:extLst>
            </p:cNvPr>
            <p:cNvSpPr/>
            <p:nvPr/>
          </p:nvSpPr>
          <p:spPr>
            <a:xfrm>
              <a:off x="2161794" y="4519421"/>
              <a:ext cx="1629410" cy="1013460"/>
            </a:xfrm>
            <a:custGeom>
              <a:avLst/>
              <a:gdLst/>
              <a:ahLst/>
              <a:cxnLst/>
              <a:rect b="b" l="l" r="r" t="t"/>
              <a:pathLst>
                <a:path h="1013460" w="1629410">
                  <a:moveTo>
                    <a:pt x="0" y="295655"/>
                  </a:moveTo>
                  <a:lnTo>
                    <a:pt x="493775" y="295655"/>
                  </a:lnTo>
                  <a:lnTo>
                    <a:pt x="493775" y="0"/>
                  </a:lnTo>
                  <a:lnTo>
                    <a:pt x="0" y="0"/>
                  </a:lnTo>
                  <a:lnTo>
                    <a:pt x="0" y="295655"/>
                  </a:lnTo>
                  <a:close/>
                </a:path>
                <a:path h="1013460" w="1629410">
                  <a:moveTo>
                    <a:pt x="1135380" y="1013459"/>
                  </a:moveTo>
                  <a:lnTo>
                    <a:pt x="1629156" y="1013459"/>
                  </a:lnTo>
                  <a:lnTo>
                    <a:pt x="1629156" y="716279"/>
                  </a:lnTo>
                  <a:lnTo>
                    <a:pt x="1135380" y="716279"/>
                  </a:lnTo>
                  <a:lnTo>
                    <a:pt x="1135380" y="1013459"/>
                  </a:lnTo>
                  <a:close/>
                </a:path>
              </a:pathLst>
            </a:custGeom>
            <a:ln w="38100">
              <a:solidFill>
                <a:srgbClr val="226B87"/>
              </a:solidFill>
            </a:ln>
          </p:spPr>
          <p:txBody>
            <a:bodyPr bIns="0" lIns="0" numCol="1" rIns="0" rtlCol="0" tIns="0" wrap="square"/>
            <a:lstStyle/>
            <a:p>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75178" y="362991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18" name="object 18"/>
          <p:cNvSpPr txBox="1">
            <a:spLocks noGrp="1"/>
          </p:cNvSpPr>
          <p:nvPr>
            <p:ph idx="2147483647"/>
          </p:nvPr>
        </p:nvSpPr>
        <p:spPr>
          <a:xfrm>
            <a:off x="5240338" y="395288"/>
            <a:ext cx="6951662" cy="1865312"/>
          </a:xfrm>
          <a:prstGeom prst="rect">
            <a:avLst/>
          </a:prstGeom>
        </p:spPr>
        <p:txBody>
          <a:bodyPr bIns="0" lIns="0" numCol="1" rIns="0" rtlCol="0" tIns="12700" vert="horz" wrap="square">
            <a:spAutoFit/>
          </a:bodyPr>
          <a:lstStyle/>
          <a:p>
            <a:pPr marL="12700">
              <a:lnSpc>
                <a:spcPct val="100000"/>
              </a:lnSpc>
              <a:spcBef>
                <a:spcPts val="100"/>
              </a:spcBef>
            </a:pPr>
            <a:r>
              <a:rPr dirty="0"/>
              <a:t>Next,</a:t>
            </a:r>
            <a:r>
              <a:rPr dirty="0" spc="-40"/>
              <a:t> </a:t>
            </a:r>
            <a:r>
              <a:rPr dirty="0"/>
              <a:t>we’ll</a:t>
            </a:r>
            <a:r>
              <a:rPr dirty="0" spc="-40"/>
              <a:t> </a:t>
            </a:r>
            <a:r>
              <a:rPr dirty="0"/>
              <a:t>look</a:t>
            </a:r>
            <a:r>
              <a:rPr dirty="0" spc="-40"/>
              <a:t> </a:t>
            </a:r>
            <a:r>
              <a:rPr dirty="0"/>
              <a:t>for</a:t>
            </a:r>
            <a:r>
              <a:rPr dirty="0" spc="-40"/>
              <a:t> </a:t>
            </a:r>
            <a:r>
              <a:rPr dirty="0"/>
              <a:t>productions</a:t>
            </a:r>
            <a:r>
              <a:rPr dirty="0" spc="-40"/>
              <a:t> </a:t>
            </a:r>
            <a:r>
              <a:rPr dirty="0"/>
              <a:t>that</a:t>
            </a:r>
            <a:r>
              <a:rPr dirty="0" spc="-35"/>
              <a:t> </a:t>
            </a:r>
            <a:r>
              <a:rPr dirty="0" spc="-11"/>
              <a:t>produce</a:t>
            </a:r>
          </a:p>
          <a:p>
            <a:pPr marL="12700">
              <a:lnSpc>
                <a:spcPct val="100000"/>
              </a:lnSpc>
              <a:spcBef>
                <a:spcPts val="15"/>
              </a:spcBef>
            </a:pPr>
            <a:r>
              <a:rPr dirty="0">
                <a:latin typeface="Cambria Math"/>
                <a:cs typeface="Cambria Math"/>
              </a:rPr>
              <a:t>𝐴𝐵</a:t>
            </a:r>
            <a:r>
              <a:rPr dirty="0"/>
              <a:t>,</a:t>
            </a:r>
            <a:r>
              <a:rPr dirty="0" spc="-11"/>
              <a:t> </a:t>
            </a:r>
            <a:r>
              <a:rPr dirty="0"/>
              <a:t>and</a:t>
            </a:r>
            <a:r>
              <a:rPr dirty="0" spc="-5"/>
              <a:t> </a:t>
            </a:r>
            <a:r>
              <a:rPr dirty="0"/>
              <a:t>we</a:t>
            </a:r>
            <a:r>
              <a:rPr dirty="0" spc="-5"/>
              <a:t> </a:t>
            </a:r>
            <a:r>
              <a:rPr dirty="0"/>
              <a:t>see</a:t>
            </a:r>
            <a:r>
              <a:rPr dirty="0" spc="-20"/>
              <a:t> </a:t>
            </a:r>
            <a:r>
              <a:rPr dirty="0"/>
              <a:t>that</a:t>
            </a:r>
            <a:r>
              <a:rPr dirty="0" spc="15"/>
              <a:t> </a:t>
            </a:r>
            <a:r>
              <a:rPr dirty="0">
                <a:latin typeface="Cambria Math"/>
                <a:cs typeface="Cambria Math"/>
              </a:rPr>
              <a:t>𝑆</a:t>
            </a:r>
            <a:r>
              <a:rPr dirty="0" spc="115">
                <a:latin typeface="Cambria Math"/>
                <a:cs typeface="Cambria Math"/>
              </a:rPr>
              <a:t> </a:t>
            </a:r>
            <a:r>
              <a:rPr dirty="0"/>
              <a:t>and</a:t>
            </a:r>
            <a:r>
              <a:rPr dirty="0" spc="-5"/>
              <a:t> </a:t>
            </a:r>
            <a:r>
              <a:rPr dirty="0">
                <a:latin typeface="Cambria Math"/>
                <a:cs typeface="Cambria Math"/>
              </a:rPr>
              <a:t>𝐴</a:t>
            </a:r>
            <a:r>
              <a:rPr dirty="0" spc="91">
                <a:latin typeface="Cambria Math"/>
                <a:cs typeface="Cambria Math"/>
              </a:rPr>
              <a:t> </a:t>
            </a:r>
            <a:r>
              <a:rPr dirty="0"/>
              <a:t>produce</a:t>
            </a:r>
            <a:r>
              <a:rPr dirty="0" spc="-20"/>
              <a:t> </a:t>
            </a:r>
            <a:r>
              <a:rPr dirty="0" spc="-25">
                <a:latin typeface="Cambria Math"/>
                <a:cs typeface="Cambria Math"/>
              </a:rPr>
              <a:t>𝐴𝐵</a:t>
            </a:r>
            <a:r>
              <a:rPr dirty="0" spc="-25"/>
              <a:t>.</a:t>
            </a:r>
          </a:p>
          <a:p>
            <a:pPr marL="12700" marR="5080">
              <a:lnSpc>
                <a:spcPct val="100000"/>
              </a:lnSpc>
            </a:pPr>
            <a:r>
              <a:rPr dirty="0"/>
              <a:t>Cell</a:t>
            </a:r>
            <a:r>
              <a:rPr dirty="0" spc="-35"/>
              <a:t> </a:t>
            </a:r>
            <a:r>
              <a:rPr dirty="0"/>
              <a:t>2,4</a:t>
            </a:r>
            <a:r>
              <a:rPr dirty="0" spc="-35"/>
              <a:t> </a:t>
            </a:r>
            <a:r>
              <a:rPr dirty="0"/>
              <a:t>already</a:t>
            </a:r>
            <a:r>
              <a:rPr dirty="0" spc="-40"/>
              <a:t> </a:t>
            </a:r>
            <a:r>
              <a:rPr dirty="0"/>
              <a:t>contains</a:t>
            </a:r>
            <a:r>
              <a:rPr dirty="0" spc="-15"/>
              <a:t> </a:t>
            </a:r>
            <a:r>
              <a:rPr dirty="0">
                <a:latin typeface="Cambria Math"/>
                <a:cs typeface="Cambria Math"/>
              </a:rPr>
              <a:t>𝐴</a:t>
            </a:r>
            <a:r>
              <a:rPr dirty="0"/>
              <a:t>,</a:t>
            </a:r>
            <a:r>
              <a:rPr dirty="0" spc="-35"/>
              <a:t> </a:t>
            </a:r>
            <a:r>
              <a:rPr dirty="0"/>
              <a:t>so</a:t>
            </a:r>
            <a:r>
              <a:rPr dirty="0" spc="-35"/>
              <a:t> </a:t>
            </a:r>
            <a:r>
              <a:rPr dirty="0"/>
              <a:t>we</a:t>
            </a:r>
            <a:r>
              <a:rPr dirty="0" spc="-31"/>
              <a:t> </a:t>
            </a:r>
            <a:r>
              <a:rPr dirty="0"/>
              <a:t>only</a:t>
            </a:r>
            <a:r>
              <a:rPr dirty="0" spc="-25"/>
              <a:t> </a:t>
            </a:r>
            <a:r>
              <a:rPr dirty="0"/>
              <a:t>need</a:t>
            </a:r>
            <a:r>
              <a:rPr dirty="0" spc="-35"/>
              <a:t> </a:t>
            </a:r>
            <a:r>
              <a:rPr dirty="0" spc="-25"/>
              <a:t>to </a:t>
            </a:r>
            <a:r>
              <a:rPr dirty="0"/>
              <a:t>add</a:t>
            </a:r>
            <a:r>
              <a:rPr dirty="0" spc="-25"/>
              <a:t> </a:t>
            </a:r>
            <a:r>
              <a:rPr dirty="0"/>
              <a:t>the</a:t>
            </a:r>
            <a:r>
              <a:rPr dirty="0" spc="-15"/>
              <a:t> </a:t>
            </a:r>
            <a:r>
              <a:rPr dirty="0" spc="-25">
                <a:latin typeface="Cambria Math"/>
                <a:cs typeface="Cambria Math"/>
              </a:rPr>
              <a:t>𝑆</a:t>
            </a:r>
            <a:r>
              <a:rPr dirty="0" spc="-25"/>
              <a:t>.</a:t>
            </a:r>
          </a:p>
        </p:txBody>
      </p:sp>
      <p:sp>
        <p:nvSpPr>
          <p:cNvPr id="3" name="object 3"/>
          <p:cNvSpPr txBox="1"/>
          <p:nvPr/>
        </p:nvSpPr>
        <p:spPr>
          <a:xfrm>
            <a:off x="3198366" y="362991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209033" y="299912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352034" y="299912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318629" y="299912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207616" y="388442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828800" y="4038600"/>
          <a:ext cx="4999355" cy="2050924"/>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206375">
                  <a:extLst>
                    <a:ext uri="{9D8B030D-6E8A-4147-A177-3AD203B41FA5}">
                      <a16:colId xmlns:a16="http://schemas.microsoft.com/office/drawing/2014/main" val="20001"/>
                    </a:ext>
                  </a:extLst>
                </a:gridCol>
                <a:gridCol w="493395">
                  <a:extLst>
                    <a:ext uri="{9D8B030D-6E8A-4147-A177-3AD203B41FA5}">
                      <a16:colId xmlns:a16="http://schemas.microsoft.com/office/drawing/2014/main" val="20002"/>
                    </a:ext>
                  </a:extLst>
                </a:gridCol>
                <a:gridCol w="417831">
                  <a:extLst>
                    <a:ext uri="{9D8B030D-6E8A-4147-A177-3AD203B41FA5}">
                      <a16:colId xmlns:a16="http://schemas.microsoft.com/office/drawing/2014/main" val="20003"/>
                    </a:ext>
                  </a:extLst>
                </a:gridCol>
                <a:gridCol w="887731">
                  <a:extLst>
                    <a:ext uri="{9D8B030D-6E8A-4147-A177-3AD203B41FA5}">
                      <a16:colId xmlns:a16="http://schemas.microsoft.com/office/drawing/2014/main" val="20004"/>
                    </a:ext>
                  </a:extLst>
                </a:gridCol>
                <a:gridCol w="265429">
                  <a:extLst>
                    <a:ext uri="{9D8B030D-6E8A-4147-A177-3AD203B41FA5}">
                      <a16:colId xmlns:a16="http://schemas.microsoft.com/office/drawing/2014/main" val="20005"/>
                    </a:ext>
                  </a:extLst>
                </a:gridCol>
                <a:gridCol w="493395">
                  <a:extLst>
                    <a:ext uri="{9D8B030D-6E8A-4147-A177-3AD203B41FA5}">
                      <a16:colId xmlns:a16="http://schemas.microsoft.com/office/drawing/2014/main" val="20006"/>
                    </a:ext>
                  </a:extLst>
                </a:gridCol>
                <a:gridCol w="344804">
                  <a:extLst>
                    <a:ext uri="{9D8B030D-6E8A-4147-A177-3AD203B41FA5}">
                      <a16:colId xmlns:a16="http://schemas.microsoft.com/office/drawing/2014/main" val="20007"/>
                    </a:ext>
                  </a:extLst>
                </a:gridCol>
                <a:gridCol w="799464">
                  <a:extLst>
                    <a:ext uri="{9D8B030D-6E8A-4147-A177-3AD203B41FA5}">
                      <a16:colId xmlns:a16="http://schemas.microsoft.com/office/drawing/2014/main" val="20008"/>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gn="ctr" marR="17526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27000">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10489">
                        <a:lnSpc>
                          <a:spcPts val="2610"/>
                        </a:lnSpc>
                      </a:pPr>
                      <a:r>
                        <a:rPr dirty="0" spc="-50" sz="2500">
                          <a:latin typeface="Cambria Math"/>
                          <a:cs typeface="Cambria Math"/>
                        </a:rPr>
                        <a:t>B</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431292">
                <a:tc>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8">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1174089" y="401010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263192" y="945846"/>
            <a:ext cx="53403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75" sz="2400">
                <a:latin typeface="Cambria Math"/>
                <a:cs typeface="Cambria Math"/>
              </a:rPr>
              <a:t> </a:t>
            </a:r>
            <a:r>
              <a:rPr dirty="0" spc="-60" sz="2400">
                <a:latin typeface="Cambria Math"/>
                <a:cs typeface="Cambria Math"/>
              </a:rPr>
              <a:t>→</a:t>
            </a:r>
            <a:endParaRPr sz="2400">
              <a:latin typeface="Cambria Math"/>
              <a:cs typeface="Cambria Math"/>
            </a:endParaRPr>
          </a:p>
        </p:txBody>
      </p:sp>
      <p:sp>
        <p:nvSpPr>
          <p:cNvPr id="12" name="object 12"/>
          <p:cNvSpPr txBox="1"/>
          <p:nvPr/>
        </p:nvSpPr>
        <p:spPr>
          <a:xfrm>
            <a:off x="1829562" y="1021842"/>
            <a:ext cx="492759" cy="294953"/>
          </a:xfrm>
          <a:prstGeom prst="rect">
            <a:avLst/>
          </a:prstGeom>
          <a:ln w="38100">
            <a:solidFill>
              <a:srgbClr val="226B87"/>
            </a:solidFill>
          </a:ln>
        </p:spPr>
        <p:txBody>
          <a:bodyPr bIns="0" lIns="0" numCol="1" rIns="0" rtlCol="0" tIns="0" vert="horz" wrap="square">
            <a:spAutoFit/>
          </a:bodyPr>
          <a:lstStyle/>
          <a:p>
            <a:pPr marL="38734">
              <a:lnSpc>
                <a:spcPts val="2331"/>
              </a:lnSpc>
            </a:pPr>
            <a:r>
              <a:rPr dirty="0" spc="-25" sz="2400">
                <a:latin typeface="Cambria Math"/>
                <a:cs typeface="Cambria Math"/>
              </a:rPr>
              <a:t>𝐴𝐵</a:t>
            </a:r>
            <a:endParaRPr sz="2400">
              <a:latin typeface="Cambria Math"/>
              <a:cs typeface="Cambria Math"/>
            </a:endParaRPr>
          </a:p>
        </p:txBody>
      </p:sp>
      <p:sp>
        <p:nvSpPr>
          <p:cNvPr id="13" name="object 13"/>
          <p:cNvSpPr txBox="1"/>
          <p:nvPr/>
        </p:nvSpPr>
        <p:spPr>
          <a:xfrm>
            <a:off x="2468117" y="1392174"/>
            <a:ext cx="494031" cy="294953"/>
          </a:xfrm>
          <a:prstGeom prst="rect">
            <a:avLst/>
          </a:prstGeom>
          <a:ln w="38100">
            <a:solidFill>
              <a:srgbClr val="226B87"/>
            </a:solidFill>
          </a:ln>
        </p:spPr>
        <p:txBody>
          <a:bodyPr bIns="0" lIns="0" numCol="1" rIns="0" rtlCol="0" tIns="0" vert="horz" wrap="square">
            <a:spAutoFit/>
          </a:bodyPr>
          <a:lstStyle/>
          <a:p>
            <a:pPr marL="49529">
              <a:lnSpc>
                <a:spcPts val="2331"/>
              </a:lnSpc>
            </a:pPr>
            <a:r>
              <a:rPr dirty="0" spc="-25" sz="2400">
                <a:latin typeface="Cambria Math"/>
                <a:cs typeface="Cambria Math"/>
              </a:rPr>
              <a:t>𝐴𝐵</a:t>
            </a:r>
            <a:endParaRPr sz="2400">
              <a:latin typeface="Cambria Math"/>
              <a:cs typeface="Cambria Math"/>
            </a:endParaRPr>
          </a:p>
        </p:txBody>
      </p:sp>
      <p:sp>
        <p:nvSpPr>
          <p:cNvPr id="14" name="object 14"/>
          <p:cNvSpPr txBox="1"/>
          <p:nvPr/>
        </p:nvSpPr>
        <p:spPr>
          <a:xfrm>
            <a:off x="1263192" y="1312293"/>
            <a:ext cx="2070100" cy="1120820"/>
          </a:xfrm>
          <a:prstGeom prst="rect">
            <a:avLst/>
          </a:prstGeom>
        </p:spPr>
        <p:txBody>
          <a:bodyPr bIns="0" lIns="0" numCol="1" rIns="0" rtlCol="0" tIns="12700" vert="horz" wrap="square">
            <a:spAutoFit/>
          </a:bodyPr>
          <a:lstStyle/>
          <a:p>
            <a:pPr marL="12700">
              <a:spcBef>
                <a:spcPts val="100"/>
              </a:spcBef>
              <a:tabLst>
                <a:tab algn="l" pos="1723982"/>
              </a:tabLst>
            </a:pPr>
            <a:r>
              <a:rPr dirty="0" sz="2400">
                <a:latin typeface="Cambria Math"/>
                <a:cs typeface="Cambria Math"/>
              </a:rPr>
              <a:t>𝐴</a:t>
            </a:r>
            <a:r>
              <a:rPr dirty="0" spc="14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𝐴𝐴</a:t>
            </a:r>
            <a:r>
              <a:rPr dirty="0" spc="5"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a:p>
            <a:pPr marL="12700"/>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12700"/>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p:txBody>
      </p:sp>
      <p:sp>
        <p:nvSpPr>
          <p:cNvPr id="15" name="object 15"/>
          <p:cNvSpPr txBox="1"/>
          <p:nvPr/>
        </p:nvSpPr>
        <p:spPr>
          <a:xfrm>
            <a:off x="1186991" y="2409826"/>
            <a:ext cx="246316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6" name="object 16"/>
          <p:cNvSpPr txBox="1"/>
          <p:nvPr/>
        </p:nvSpPr>
        <p:spPr>
          <a:xfrm>
            <a:off x="2278506" y="341388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7" name="object 17"/>
          <p:cNvSpPr txBox="1"/>
          <p:nvPr/>
        </p:nvSpPr>
        <p:spPr>
          <a:xfrm>
            <a:off x="1922779" y="314718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26969" y="33810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050157" y="33810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060824" y="27502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203825" y="27502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170420" y="27502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059407" y="36355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680591" y="3789730"/>
          <a:ext cx="4999357" cy="2050924"/>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206375">
                  <a:extLst>
                    <a:ext uri="{9D8B030D-6E8A-4147-A177-3AD203B41FA5}">
                      <a16:colId xmlns:a16="http://schemas.microsoft.com/office/drawing/2014/main" val="20001"/>
                    </a:ext>
                  </a:extLst>
                </a:gridCol>
                <a:gridCol w="493395">
                  <a:extLst>
                    <a:ext uri="{9D8B030D-6E8A-4147-A177-3AD203B41FA5}">
                      <a16:colId xmlns:a16="http://schemas.microsoft.com/office/drawing/2014/main" val="20002"/>
                    </a:ext>
                  </a:extLst>
                </a:gridCol>
                <a:gridCol w="417831">
                  <a:extLst>
                    <a:ext uri="{9D8B030D-6E8A-4147-A177-3AD203B41FA5}">
                      <a16:colId xmlns:a16="http://schemas.microsoft.com/office/drawing/2014/main" val="20003"/>
                    </a:ext>
                  </a:extLst>
                </a:gridCol>
                <a:gridCol w="887731">
                  <a:extLst>
                    <a:ext uri="{9D8B030D-6E8A-4147-A177-3AD203B41FA5}">
                      <a16:colId xmlns:a16="http://schemas.microsoft.com/office/drawing/2014/main" val="20004"/>
                    </a:ext>
                  </a:extLst>
                </a:gridCol>
                <a:gridCol w="1104264">
                  <a:extLst>
                    <a:ext uri="{9D8B030D-6E8A-4147-A177-3AD203B41FA5}">
                      <a16:colId xmlns:a16="http://schemas.microsoft.com/office/drawing/2014/main" val="20005"/>
                    </a:ext>
                  </a:extLst>
                </a:gridCol>
                <a:gridCol w="155575">
                  <a:extLst>
                    <a:ext uri="{9D8B030D-6E8A-4147-A177-3AD203B41FA5}">
                      <a16:colId xmlns:a16="http://schemas.microsoft.com/office/drawing/2014/main" val="20006"/>
                    </a:ext>
                  </a:extLst>
                </a:gridCol>
                <a:gridCol w="493395">
                  <a:extLst>
                    <a:ext uri="{9D8B030D-6E8A-4147-A177-3AD203B41FA5}">
                      <a16:colId xmlns:a16="http://schemas.microsoft.com/office/drawing/2014/main" val="20007"/>
                    </a:ext>
                  </a:extLst>
                </a:gridCol>
                <a:gridCol w="149860">
                  <a:extLst>
                    <a:ext uri="{9D8B030D-6E8A-4147-A177-3AD203B41FA5}">
                      <a16:colId xmlns:a16="http://schemas.microsoft.com/office/drawing/2014/main" val="20008"/>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84455">
                        <a:lnSpc>
                          <a:spcPts val="2710"/>
                        </a:lnSpc>
                      </a:pPr>
                      <a:r>
                        <a:rPr dirty="0" spc="-50" sz="2500">
                          <a:latin typeface="Cambria Math"/>
                          <a:cs typeface="Cambria Math"/>
                        </a:rPr>
                        <a:t>C</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04139">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431292">
                <a:tc>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94335">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8">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1025880" y="376123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038782" y="6969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2130297" y="31650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1774570" y="28983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4"/>
          <p:cNvSpPr txBox="1"/>
          <p:nvPr/>
        </p:nvSpPr>
        <p:spPr>
          <a:xfrm>
            <a:off x="4267200" y="609600"/>
            <a:ext cx="5706745" cy="1120820"/>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Finally,</a:t>
            </a:r>
            <a:r>
              <a:rPr dirty="0" spc="-20" sz="2400">
                <a:latin typeface="Palatino Linotype"/>
                <a:cs typeface="Palatino Linotype"/>
              </a:rPr>
              <a:t> </a:t>
            </a:r>
            <a:r>
              <a:rPr dirty="0" sz="2400">
                <a:latin typeface="Palatino Linotype"/>
                <a:cs typeface="Palatino Linotype"/>
              </a:rPr>
              <a:t>we</a:t>
            </a:r>
            <a:r>
              <a:rPr dirty="0" spc="-51" sz="2400">
                <a:latin typeface="Palatino Linotype"/>
                <a:cs typeface="Palatino Linotype"/>
              </a:rPr>
              <a:t> </a:t>
            </a:r>
            <a:r>
              <a:rPr dirty="0" sz="2400">
                <a:latin typeface="Palatino Linotype"/>
                <a:cs typeface="Palatino Linotype"/>
              </a:rPr>
              <a:t>know</a:t>
            </a:r>
            <a:r>
              <a:rPr dirty="0" spc="-35" sz="2400">
                <a:latin typeface="Palatino Linotype"/>
                <a:cs typeface="Palatino Linotype"/>
              </a:rPr>
              <a:t> </a:t>
            </a:r>
            <a:r>
              <a:rPr dirty="0" sz="2400">
                <a:latin typeface="Palatino Linotype"/>
                <a:cs typeface="Palatino Linotype"/>
              </a:rPr>
              <a:t>we</a:t>
            </a:r>
            <a:r>
              <a:rPr dirty="0" spc="-40" sz="2400">
                <a:latin typeface="Palatino Linotype"/>
                <a:cs typeface="Palatino Linotype"/>
              </a:rPr>
              <a:t> </a:t>
            </a:r>
            <a:r>
              <a:rPr dirty="0" sz="2400">
                <a:latin typeface="Palatino Linotype"/>
                <a:cs typeface="Palatino Linotype"/>
              </a:rPr>
              <a:t>won’t</a:t>
            </a:r>
            <a:r>
              <a:rPr dirty="0" spc="-40" sz="2400">
                <a:latin typeface="Palatino Linotype"/>
                <a:cs typeface="Palatino Linotype"/>
              </a:rPr>
              <a:t> </a:t>
            </a:r>
            <a:r>
              <a:rPr dirty="0" sz="2400">
                <a:latin typeface="Palatino Linotype"/>
                <a:cs typeface="Palatino Linotype"/>
              </a:rPr>
              <a:t>get</a:t>
            </a:r>
            <a:r>
              <a:rPr dirty="0" spc="-40" sz="2400">
                <a:latin typeface="Palatino Linotype"/>
                <a:cs typeface="Palatino Linotype"/>
              </a:rPr>
              <a:t> </a:t>
            </a:r>
            <a:r>
              <a:rPr dirty="0" sz="2400">
                <a:latin typeface="Palatino Linotype"/>
                <a:cs typeface="Palatino Linotype"/>
              </a:rPr>
              <a:t>any</a:t>
            </a:r>
            <a:r>
              <a:rPr dirty="0" spc="-35" sz="2400">
                <a:latin typeface="Palatino Linotype"/>
                <a:cs typeface="Palatino Linotype"/>
              </a:rPr>
              <a:t> </a:t>
            </a:r>
            <a:r>
              <a:rPr dirty="0" spc="-25" sz="2400">
                <a:latin typeface="Palatino Linotype"/>
                <a:cs typeface="Palatino Linotype"/>
              </a:rPr>
              <a:t>new</a:t>
            </a:r>
            <a:endParaRPr sz="2400">
              <a:latin typeface="Palatino Linotype"/>
              <a:cs typeface="Palatino Linotype"/>
            </a:endParaRPr>
          </a:p>
          <a:p>
            <a:pPr marL="12700">
              <a:spcBef>
                <a:spcPts val="5"/>
              </a:spcBef>
            </a:pPr>
            <a:r>
              <a:rPr dirty="0" sz="2400">
                <a:latin typeface="Palatino Linotype"/>
                <a:cs typeface="Palatino Linotype"/>
              </a:rPr>
              <a:t>productions</a:t>
            </a:r>
            <a:r>
              <a:rPr dirty="0" spc="-25" sz="2400">
                <a:latin typeface="Palatino Linotype"/>
                <a:cs typeface="Palatino Linotype"/>
              </a:rPr>
              <a:t> </a:t>
            </a:r>
            <a:r>
              <a:rPr dirty="0" sz="2400">
                <a:latin typeface="Palatino Linotype"/>
                <a:cs typeface="Palatino Linotype"/>
              </a:rPr>
              <a:t>from</a:t>
            </a:r>
            <a:r>
              <a:rPr dirty="0" spc="-31" sz="2400">
                <a:latin typeface="Palatino Linotype"/>
                <a:cs typeface="Palatino Linotype"/>
              </a:rPr>
              <a:t> </a:t>
            </a:r>
            <a:r>
              <a:rPr dirty="0" sz="2400">
                <a:latin typeface="Palatino Linotype"/>
                <a:cs typeface="Palatino Linotype"/>
              </a:rPr>
              <a:t>these</a:t>
            </a:r>
            <a:r>
              <a:rPr dirty="0" spc="-25" sz="2400">
                <a:latin typeface="Palatino Linotype"/>
                <a:cs typeface="Palatino Linotype"/>
              </a:rPr>
              <a:t> </a:t>
            </a:r>
            <a:r>
              <a:rPr dirty="0" sz="2400">
                <a:latin typeface="Palatino Linotype"/>
                <a:cs typeface="Palatino Linotype"/>
              </a:rPr>
              <a:t>two</a:t>
            </a:r>
            <a:r>
              <a:rPr dirty="0" spc="-35" sz="2400">
                <a:latin typeface="Palatino Linotype"/>
                <a:cs typeface="Palatino Linotype"/>
              </a:rPr>
              <a:t> </a:t>
            </a:r>
            <a:r>
              <a:rPr dirty="0" sz="2400">
                <a:latin typeface="Palatino Linotype"/>
                <a:cs typeface="Palatino Linotype"/>
              </a:rPr>
              <a:t>cells,</a:t>
            </a:r>
            <a:r>
              <a:rPr dirty="0" spc="-35" sz="2400">
                <a:latin typeface="Palatino Linotype"/>
                <a:cs typeface="Palatino Linotype"/>
              </a:rPr>
              <a:t> </a:t>
            </a:r>
            <a:r>
              <a:rPr dirty="0" sz="2400">
                <a:latin typeface="Palatino Linotype"/>
                <a:cs typeface="Palatino Linotype"/>
              </a:rPr>
              <a:t>so</a:t>
            </a:r>
            <a:r>
              <a:rPr dirty="0" spc="-51" sz="2400">
                <a:latin typeface="Palatino Linotype"/>
                <a:cs typeface="Palatino Linotype"/>
              </a:rPr>
              <a:t> </a:t>
            </a:r>
            <a:r>
              <a:rPr dirty="0" spc="-11" sz="2400">
                <a:latin typeface="Palatino Linotype"/>
                <a:cs typeface="Palatino Linotype"/>
              </a:rPr>
              <a:t>we’re</a:t>
            </a:r>
            <a:endParaRPr sz="2400">
              <a:latin typeface="Palatino Linotype"/>
              <a:cs typeface="Palatino Linotype"/>
            </a:endParaRPr>
          </a:p>
          <a:p>
            <a:pPr marL="12700"/>
            <a:r>
              <a:rPr dirty="0" sz="2400">
                <a:latin typeface="Palatino Linotype"/>
                <a:cs typeface="Palatino Linotype"/>
              </a:rPr>
              <a:t>done</a:t>
            </a:r>
            <a:r>
              <a:rPr dirty="0" spc="-51" sz="2400">
                <a:latin typeface="Palatino Linotype"/>
                <a:cs typeface="Palatino Linotype"/>
              </a:rPr>
              <a:t> </a:t>
            </a:r>
            <a:r>
              <a:rPr dirty="0" sz="2400">
                <a:latin typeface="Palatino Linotype"/>
                <a:cs typeface="Palatino Linotype"/>
              </a:rPr>
              <a:t>with</a:t>
            </a:r>
            <a:r>
              <a:rPr dirty="0" spc="-60" sz="2400">
                <a:latin typeface="Palatino Linotype"/>
                <a:cs typeface="Palatino Linotype"/>
              </a:rPr>
              <a:t> </a:t>
            </a:r>
            <a:r>
              <a:rPr dirty="0" sz="2400">
                <a:latin typeface="Palatino Linotype"/>
                <a:cs typeface="Palatino Linotype"/>
              </a:rPr>
              <a:t>cell</a:t>
            </a:r>
            <a:r>
              <a:rPr dirty="0" spc="-55" sz="2400">
                <a:latin typeface="Palatino Linotype"/>
                <a:cs typeface="Palatino Linotype"/>
              </a:rPr>
              <a:t> </a:t>
            </a:r>
            <a:r>
              <a:rPr dirty="0" spc="-20" sz="2400">
                <a:latin typeface="Palatino Linotype"/>
                <a:cs typeface="Palatino Linotype"/>
              </a:rPr>
              <a:t>2,4.</a:t>
            </a:r>
            <a:endParaRPr sz="2400">
              <a:latin typeface="Palatino Linotype"/>
              <a:cs typeface="Palatino Linotype"/>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04391" y="406882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14" name="object 14"/>
          <p:cNvSpPr txBox="1">
            <a:spLocks noGrp="1"/>
          </p:cNvSpPr>
          <p:nvPr>
            <p:ph idx="2147483647"/>
          </p:nvPr>
        </p:nvSpPr>
        <p:spPr>
          <a:xfrm>
            <a:off x="5905500" y="301625"/>
            <a:ext cx="6286500" cy="2166938"/>
          </a:xfrm>
          <a:prstGeom prst="rect">
            <a:avLst/>
          </a:prstGeom>
        </p:spPr>
        <p:txBody>
          <a:bodyPr bIns="0" lIns="0" numCol="1" rIns="0" rtlCol="0" tIns="12700" vert="horz" wrap="square">
            <a:spAutoFit/>
          </a:bodyPr>
          <a:lstStyle/>
          <a:p>
            <a:pPr marL="12700" marR="5080">
              <a:lnSpc>
                <a:spcPct val="100000"/>
              </a:lnSpc>
              <a:spcBef>
                <a:spcPts val="100"/>
              </a:spcBef>
              <a:tabLst>
                <a:tab algn="l" pos="1674453"/>
              </a:tabLst>
            </a:pPr>
            <a:r>
              <a:rPr dirty="0"/>
              <a:t>Finally,</a:t>
            </a:r>
            <a:r>
              <a:rPr dirty="0" spc="-11"/>
              <a:t> </a:t>
            </a:r>
            <a:r>
              <a:rPr dirty="0"/>
              <a:t>we</a:t>
            </a:r>
            <a:r>
              <a:rPr dirty="0" spc="-45"/>
              <a:t> </a:t>
            </a:r>
            <a:r>
              <a:rPr dirty="0"/>
              <a:t>need</a:t>
            </a:r>
            <a:r>
              <a:rPr dirty="0" spc="-40"/>
              <a:t> </a:t>
            </a:r>
            <a:r>
              <a:rPr dirty="0"/>
              <a:t>to</a:t>
            </a:r>
            <a:r>
              <a:rPr dirty="0" spc="-31"/>
              <a:t> </a:t>
            </a:r>
            <a:r>
              <a:rPr dirty="0"/>
              <a:t>fill</a:t>
            </a:r>
            <a:r>
              <a:rPr dirty="0" spc="-31"/>
              <a:t> </a:t>
            </a:r>
            <a:r>
              <a:rPr dirty="0"/>
              <a:t>in</a:t>
            </a:r>
            <a:r>
              <a:rPr dirty="0" spc="-25"/>
              <a:t> </a:t>
            </a:r>
            <a:r>
              <a:rPr dirty="0"/>
              <a:t>the</a:t>
            </a:r>
            <a:r>
              <a:rPr dirty="0" spc="-20"/>
              <a:t> </a:t>
            </a:r>
            <a:r>
              <a:rPr dirty="0"/>
              <a:t>last</a:t>
            </a:r>
            <a:r>
              <a:rPr dirty="0" spc="-31"/>
              <a:t> </a:t>
            </a:r>
            <a:r>
              <a:rPr dirty="0" spc="-11"/>
              <a:t>cell, </a:t>
            </a:r>
            <a:r>
              <a:rPr dirty="0"/>
              <a:t>corresponding</a:t>
            </a:r>
            <a:r>
              <a:rPr dirty="0" spc="-45"/>
              <a:t> </a:t>
            </a:r>
            <a:r>
              <a:rPr dirty="0"/>
              <a:t>to</a:t>
            </a:r>
            <a:r>
              <a:rPr dirty="0" spc="-51"/>
              <a:t> </a:t>
            </a:r>
            <a:r>
              <a:rPr dirty="0"/>
              <a:t>a</a:t>
            </a:r>
            <a:r>
              <a:rPr dirty="0" spc="-55"/>
              <a:t> </a:t>
            </a:r>
            <a:r>
              <a:rPr dirty="0"/>
              <a:t>string</a:t>
            </a:r>
            <a:r>
              <a:rPr dirty="0" spc="-55"/>
              <a:t> </a:t>
            </a:r>
            <a:r>
              <a:rPr dirty="0"/>
              <a:t>starting</a:t>
            </a:r>
            <a:r>
              <a:rPr dirty="0" spc="-31"/>
              <a:t> </a:t>
            </a:r>
            <a:r>
              <a:rPr dirty="0"/>
              <a:t>at</a:t>
            </a:r>
            <a:r>
              <a:rPr dirty="0" spc="-60"/>
              <a:t> </a:t>
            </a:r>
            <a:r>
              <a:rPr dirty="0"/>
              <a:t>position</a:t>
            </a:r>
            <a:r>
              <a:rPr dirty="0" spc="-40"/>
              <a:t> </a:t>
            </a:r>
            <a:r>
              <a:rPr dirty="0" spc="-51"/>
              <a:t>1 </a:t>
            </a:r>
            <a:r>
              <a:rPr dirty="0"/>
              <a:t>of</a:t>
            </a:r>
            <a:r>
              <a:rPr dirty="0" spc="-60"/>
              <a:t> </a:t>
            </a:r>
            <a:r>
              <a:rPr dirty="0"/>
              <a:t>length</a:t>
            </a:r>
            <a:r>
              <a:rPr dirty="0" spc="-35"/>
              <a:t> </a:t>
            </a:r>
            <a:r>
              <a:rPr dirty="0" spc="-25"/>
              <a:t>5.</a:t>
            </a:r>
            <a:r>
              <a:rPr dirty="0"/>
              <a:t>	(In</a:t>
            </a:r>
            <a:r>
              <a:rPr dirty="0" spc="-45"/>
              <a:t> </a:t>
            </a:r>
            <a:r>
              <a:rPr dirty="0"/>
              <a:t>other</a:t>
            </a:r>
            <a:r>
              <a:rPr dirty="0" spc="-35"/>
              <a:t> </a:t>
            </a:r>
            <a:r>
              <a:rPr dirty="0"/>
              <a:t>words,</a:t>
            </a:r>
            <a:r>
              <a:rPr dirty="0" spc="-45"/>
              <a:t> </a:t>
            </a:r>
            <a:r>
              <a:rPr dirty="0"/>
              <a:t>the</a:t>
            </a:r>
            <a:r>
              <a:rPr dirty="0" spc="-45"/>
              <a:t> </a:t>
            </a:r>
            <a:r>
              <a:rPr dirty="0"/>
              <a:t>entire</a:t>
            </a:r>
            <a:r>
              <a:rPr dirty="0" spc="-35"/>
              <a:t> </a:t>
            </a:r>
            <a:r>
              <a:rPr dirty="0" spc="-11"/>
              <a:t>string.) </a:t>
            </a:r>
            <a:r>
              <a:rPr dirty="0"/>
              <a:t>We’ll</a:t>
            </a:r>
            <a:r>
              <a:rPr dirty="0" spc="-60"/>
              <a:t> </a:t>
            </a:r>
            <a:r>
              <a:rPr dirty="0"/>
              <a:t>just</a:t>
            </a:r>
            <a:r>
              <a:rPr dirty="0" spc="-71"/>
              <a:t> </a:t>
            </a:r>
            <a:r>
              <a:rPr dirty="0"/>
              <a:t>work</a:t>
            </a:r>
            <a:r>
              <a:rPr dirty="0" spc="-55"/>
              <a:t> </a:t>
            </a:r>
            <a:r>
              <a:rPr dirty="0"/>
              <a:t>through</a:t>
            </a:r>
            <a:r>
              <a:rPr dirty="0" spc="-35"/>
              <a:t> </a:t>
            </a:r>
            <a:r>
              <a:rPr dirty="0"/>
              <a:t>the</a:t>
            </a:r>
            <a:r>
              <a:rPr dirty="0" spc="-51"/>
              <a:t> </a:t>
            </a:r>
            <a:r>
              <a:rPr dirty="0"/>
              <a:t>possibilities</a:t>
            </a:r>
            <a:r>
              <a:rPr dirty="0" spc="-60"/>
              <a:t> </a:t>
            </a:r>
            <a:r>
              <a:rPr dirty="0" spc="-20"/>
              <a:t>like </a:t>
            </a:r>
            <a:r>
              <a:rPr dirty="0" spc="-11"/>
              <a:t>before.</a:t>
            </a:r>
          </a:p>
        </p:txBody>
      </p:sp>
      <p:sp>
        <p:nvSpPr>
          <p:cNvPr id="3" name="object 3"/>
          <p:cNvSpPr txBox="1"/>
          <p:nvPr/>
        </p:nvSpPr>
        <p:spPr>
          <a:xfrm>
            <a:off x="2227579" y="4068827"/>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3238246" y="3438039"/>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4381247" y="3438039"/>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5347842" y="3438039"/>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236829" y="4323334"/>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858013" y="4477511"/>
          <a:ext cx="5002530" cy="2032509"/>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456692">
                <a:tc>
                  <a:txBody>
                    <a:bodyPr numCol="1"/>
                    <a:lstStyle/>
                    <a:p>
                      <a:pPr marL="299720">
                        <a:lnSpc>
                          <a:spcPts val="277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5280">
                        <a:lnSpc>
                          <a:spcPts val="287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347980">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solidFill>
                      <a:srgbClr val="FF0000"/>
                    </a:solidFill>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203302" y="4449021"/>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307719" y="929690"/>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dirty="0"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dirty="0"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dirty="0"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dirty="0"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dirty="0" sz="2400">
              <a:latin typeface="Palatino Linotype"/>
              <a:cs typeface="Palatino Linotype"/>
            </a:endParaRPr>
          </a:p>
        </p:txBody>
      </p:sp>
      <p:sp>
        <p:nvSpPr>
          <p:cNvPr id="12" name="object 12"/>
          <p:cNvSpPr txBox="1"/>
          <p:nvPr/>
        </p:nvSpPr>
        <p:spPr>
          <a:xfrm>
            <a:off x="1307719" y="3852800"/>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951992" y="3586097"/>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79369" y="34572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202557" y="34572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213224" y="28264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356225" y="28264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322820" y="28264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211807" y="3711753"/>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832991" y="3865930"/>
          <a:ext cx="5002529" cy="2505162"/>
        </p:xfrm>
        <a:graphic>
          <a:graphicData uri="http://schemas.openxmlformats.org/drawingml/2006/table">
            <a:tbl>
              <a:tblPr bandRow="1" firstRow="1">
                <a:tableStyleId>{2D5ABB26-0587-4C30-8999-92F81FD0307C}</a:tableStyleId>
              </a:tblPr>
              <a:tblGrid>
                <a:gridCol w="167005">
                  <a:extLst>
                    <a:ext uri="{9D8B030D-6E8A-4147-A177-3AD203B41FA5}">
                      <a16:colId xmlns:a16="http://schemas.microsoft.com/office/drawing/2014/main" val="20000"/>
                    </a:ext>
                  </a:extLst>
                </a:gridCol>
                <a:gridCol w="494031">
                  <a:extLst>
                    <a:ext uri="{9D8B030D-6E8A-4147-A177-3AD203B41FA5}">
                      <a16:colId xmlns:a16="http://schemas.microsoft.com/office/drawing/2014/main" val="20001"/>
                    </a:ext>
                  </a:extLst>
                </a:gridCol>
                <a:gridCol w="430529">
                  <a:extLst>
                    <a:ext uri="{9D8B030D-6E8A-4147-A177-3AD203B41FA5}">
                      <a16:colId xmlns:a16="http://schemas.microsoft.com/office/drawing/2014/main" val="20002"/>
                    </a:ext>
                  </a:extLst>
                </a:gridCol>
                <a:gridCol w="271780">
                  <a:extLst>
                    <a:ext uri="{9D8B030D-6E8A-4147-A177-3AD203B41FA5}">
                      <a16:colId xmlns:a16="http://schemas.microsoft.com/office/drawing/2014/main" val="20003"/>
                    </a:ext>
                  </a:extLst>
                </a:gridCol>
                <a:gridCol w="493395">
                  <a:extLst>
                    <a:ext uri="{9D8B030D-6E8A-4147-A177-3AD203B41FA5}">
                      <a16:colId xmlns:a16="http://schemas.microsoft.com/office/drawing/2014/main" val="20004"/>
                    </a:ext>
                  </a:extLst>
                </a:gridCol>
                <a:gridCol w="352425">
                  <a:extLst>
                    <a:ext uri="{9D8B030D-6E8A-4147-A177-3AD203B41FA5}">
                      <a16:colId xmlns:a16="http://schemas.microsoft.com/office/drawing/2014/main" val="20005"/>
                    </a:ext>
                  </a:extLst>
                </a:gridCol>
                <a:gridCol w="888364">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gridCol w="800100">
                  <a:extLst>
                    <a:ext uri="{9D8B030D-6E8A-4147-A177-3AD203B41FA5}">
                      <a16:colId xmlns:a16="http://schemas.microsoft.com/office/drawing/2014/main" val="20008"/>
                    </a:ext>
                  </a:extLst>
                </a:gridCol>
              </a:tblGrid>
              <a:tr h="416052">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33350">
                        <a:lnSpc>
                          <a:spcPts val="27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gridSpan="3">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3">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gridSpan="3">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3">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82551">
                <a:tc gridSpan="3" rowSpan="2">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rowSpan="2">
                  <a:txBody>
                    <a:bodyPr numCol="1"/>
                    <a:lstStyle/>
                    <a:p>
                      <a:endParaRPr/>
                    </a:p>
                  </a:txBody>
                  <a:tcPr marB="0" marL="0" marR="0" marT="0"/>
                </a:tc>
                <a:tc hMerge="1" rowSpan="2">
                  <a:txBody>
                    <a:bodyPr numCol="1"/>
                    <a:lstStyle/>
                    <a:p>
                      <a:endParaRPr/>
                    </a:p>
                  </a:txBody>
                  <a:tcPr marB="0" marL="0" marR="0" marT="0"/>
                </a:tc>
                <a:tc gridSpan="3">
                  <a:txBody>
                    <a:bodyPr numCol="1"/>
                    <a:lstStyle/>
                    <a:p>
                      <a:pPr>
                        <a:lnSpc>
                          <a:spcPct val="100000"/>
                        </a:lnSpc>
                      </a:pPr>
                      <a:endParaRPr sz="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tcPr>
                </a:tc>
                <a:tc hMerge="1">
                  <a:txBody>
                    <a:bodyPr numCol="1"/>
                    <a:lstStyle/>
                    <a:p>
                      <a:endParaRPr/>
                    </a:p>
                  </a:txBody>
                  <a:tcPr marB="0" marL="0" marR="0" marT="0"/>
                </a:tc>
                <a:tc hMerge="1">
                  <a:txBody>
                    <a:bodyPr numCol="1"/>
                    <a:lstStyle/>
                    <a:p>
                      <a:endParaRPr/>
                    </a:p>
                  </a:txBody>
                  <a:tcPr marB="0" marL="0" marR="0" marT="0"/>
                </a:tc>
                <a:tc gridSpan="3" rowSpan="2">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rowSpan="2">
                  <a:txBody>
                    <a:bodyPr numCol="1"/>
                    <a:lstStyle/>
                    <a:p>
                      <a:endParaRPr/>
                    </a:p>
                  </a:txBody>
                  <a:tcPr marB="0" marL="0" marR="0" marT="0"/>
                </a:tc>
                <a:tc hMerge="1" rowSpan="2">
                  <a:txBody>
                    <a:bodyPr numCol="1"/>
                    <a:lstStyle/>
                    <a:p>
                      <a:endParaRPr/>
                    </a:p>
                  </a:txBody>
                  <a:tcPr marB="0" marL="0" marR="0" marT="0"/>
                </a:tc>
                <a:extLst>
                  <a:ext uri="{0D108BD9-81ED-4DB2-BD59-A6C34878D82A}">
                    <a16:rowId xmlns:a16="http://schemas.microsoft.com/office/drawing/2014/main" val="10003"/>
                  </a:ext>
                </a:extLst>
              </a:tr>
              <a:tr h="745067">
                <a:tc gridSpan="3" vMerge="1">
                  <a:txBody>
                    <a:bodyPr numCol="1"/>
                    <a:lstStyle/>
                    <a:p>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vMerge="1">
                  <a:txBody>
                    <a:bodyPr numCol="1"/>
                    <a:lstStyle/>
                    <a:p>
                      <a:endParaRPr/>
                    </a:p>
                  </a:txBody>
                  <a:tcPr marB="0" marL="0" marR="0" marT="0"/>
                </a:tc>
                <a:tc hMerge="1" vMerge="1">
                  <a:txBody>
                    <a:bodyPr numCol="1"/>
                    <a:lstStyle/>
                    <a:p>
                      <a:endParaRPr/>
                    </a:p>
                  </a:txBody>
                  <a:tcPr marB="0" marL="0" marR="0" marT="0"/>
                </a:tc>
                <a:tc>
                  <a:txBody>
                    <a:bodyPr numCol="1"/>
                    <a:lstStyle/>
                    <a:p>
                      <a:pPr>
                        <a:lnSpc>
                          <a:spcPct val="100000"/>
                        </a:lnSpc>
                      </a:pPr>
                      <a:endParaRPr sz="1700">
                        <a:latin typeface="Times New Roman"/>
                        <a:cs typeface="Times New Roman"/>
                      </a:endParaRPr>
                    </a:p>
                  </a:txBody>
                  <a:tcPr marB="0" marL="0" marR="0" marT="0">
                    <a:lnL w="12700">
                      <a:solidFill>
                        <a:srgbClr val="6B9F24"/>
                      </a:solidFill>
                      <a:prstDash val="solid"/>
                    </a:lnL>
                    <a:lnR w="38100">
                      <a:solidFill>
                        <a:srgbClr val="226B87"/>
                      </a:solidFill>
                      <a:prstDash val="solid"/>
                    </a:lnR>
                    <a:lnB w="12700">
                      <a:solidFill>
                        <a:srgbClr val="6B9F24"/>
                      </a:solidFill>
                      <a:prstDash val="solid"/>
                    </a:lnB>
                  </a:tcPr>
                </a:tc>
                <a:tc>
                  <a:txBody>
                    <a:bodyPr numCol="1"/>
                    <a:lstStyle/>
                    <a:p>
                      <a:pPr marL="62865">
                        <a:lnSpc>
                          <a:spcPts val="2160"/>
                        </a:lnSpc>
                      </a:pPr>
                      <a:r>
                        <a:rPr dirty="0" spc="-25" sz="2500">
                          <a:latin typeface="Cambria Math"/>
                          <a:cs typeface="Cambria Math"/>
                        </a:rPr>
                        <a:t>S,A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38100">
                      <a:solidFill>
                        <a:srgbClr val="226B87"/>
                      </a:solidFill>
                      <a:prstDash val="solid"/>
                    </a:lnT>
                    <a:lnB w="12700">
                      <a:solidFill>
                        <a:srgbClr val="226B87"/>
                      </a:solidFill>
                      <a:prstDash val="solid"/>
                    </a:lnB>
                  </a:tcPr>
                </a:tc>
                <a:tc>
                  <a:txBody>
                    <a:bodyPr numCol="1"/>
                    <a:lstStyle/>
                    <a:p>
                      <a:pPr>
                        <a:lnSpc>
                          <a:spcPct val="100000"/>
                        </a:lnSpc>
                      </a:pPr>
                      <a:endParaRPr sz="1700">
                        <a:latin typeface="Times New Roman"/>
                        <a:cs typeface="Times New Roman"/>
                      </a:endParaRPr>
                    </a:p>
                  </a:txBody>
                  <a:tcPr marB="0" marL="0" marR="0" marT="0">
                    <a:lnL w="38100">
                      <a:solidFill>
                        <a:srgbClr val="226B87"/>
                      </a:solidFill>
                      <a:prstDash val="solid"/>
                    </a:lnL>
                    <a:lnR w="12700">
                      <a:solidFill>
                        <a:srgbClr val="6B9F24"/>
                      </a:solidFill>
                      <a:prstDash val="solid"/>
                    </a:lnR>
                    <a:lnB w="12700">
                      <a:solidFill>
                        <a:srgbClr val="6B9F24"/>
                      </a:solidFill>
                      <a:prstDash val="solid"/>
                    </a:lnB>
                  </a:tcPr>
                </a:tc>
                <a:tc gridSpan="3" vMerge="1">
                  <a:txBody>
                    <a:bodyPr numCol="1"/>
                    <a:lstStyle/>
                    <a:p>
                      <a:endParaRPr/>
                    </a:p>
                  </a:txBody>
                  <a:tcPr marB="0" marL="0" marR="0" marT="0">
                    <a:lnL w="12700">
                      <a:solidFill>
                        <a:srgbClr val="6B9F24"/>
                      </a:solidFill>
                      <a:prstDash val="solid"/>
                    </a:lnL>
                  </a:tcPr>
                </a:tc>
                <a:tc hMerge="1" vMerge="1">
                  <a:txBody>
                    <a:bodyPr numCol="1"/>
                    <a:lstStyle/>
                    <a:p>
                      <a:endParaRPr/>
                    </a:p>
                  </a:txBody>
                  <a:tcPr marB="0" marL="0" marR="0" marT="0"/>
                </a:tc>
                <a:tc hMerge="1" vMerge="1">
                  <a:txBody>
                    <a:bodyPr numCol="1"/>
                    <a:lstStyle/>
                    <a:p>
                      <a:endParaRPr/>
                    </a:p>
                  </a:txBody>
                  <a:tcPr marB="0" marL="0" marR="0" marT="0"/>
                </a:tc>
                <a:extLst>
                  <a:ext uri="{0D108BD9-81ED-4DB2-BD59-A6C34878D82A}">
                    <a16:rowId xmlns:a16="http://schemas.microsoft.com/office/drawing/2014/main" val="10004"/>
                  </a:ext>
                </a:extLst>
              </a:tr>
              <a:tr h="452247">
                <a:tc gridSpan="3">
                  <a:txBody>
                    <a:bodyPr numCol="1"/>
                    <a:lstStyle/>
                    <a:p>
                      <a:pPr marL="278765">
                        <a:lnSpc>
                          <a:spcPts val="2925"/>
                        </a:lnSpc>
                        <a:spcBef>
                          <a:spcPts val="85"/>
                        </a:spcBef>
                      </a:pPr>
                      <a:r>
                        <a:rPr dirty="0" spc="-50" sz="2500">
                          <a:latin typeface="Cambria Math"/>
                          <a:cs typeface="Cambria Math"/>
                        </a:rPr>
                        <a:t>A</a:t>
                      </a:r>
                      <a:endParaRPr sz="2500">
                        <a:latin typeface="Cambria Math"/>
                        <a:cs typeface="Cambria Math"/>
                      </a:endParaRPr>
                    </a:p>
                  </a:txBody>
                  <a:tcPr marB="0" marL="0" marR="0" marT="10795">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5"/>
                  </a:ext>
                </a:extLst>
              </a:tr>
            </a:tbl>
          </a:graphicData>
        </a:graphic>
      </p:graphicFrame>
      <p:sp>
        <p:nvSpPr>
          <p:cNvPr id="9" name="object 9"/>
          <p:cNvSpPr txBox="1"/>
          <p:nvPr/>
        </p:nvSpPr>
        <p:spPr>
          <a:xfrm>
            <a:off x="1178280" y="3837440"/>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267383" y="773177"/>
            <a:ext cx="101282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p:txBody>
      </p:sp>
      <p:sp>
        <p:nvSpPr>
          <p:cNvPr id="12" name="object 12"/>
          <p:cNvSpPr txBox="1"/>
          <p:nvPr/>
        </p:nvSpPr>
        <p:spPr>
          <a:xfrm>
            <a:off x="1856612" y="1219505"/>
            <a:ext cx="494031" cy="294953"/>
          </a:xfrm>
          <a:prstGeom prst="rect">
            <a:avLst/>
          </a:prstGeom>
          <a:ln w="38100">
            <a:solidFill>
              <a:srgbClr val="226B87"/>
            </a:solidFill>
          </a:ln>
        </p:spPr>
        <p:txBody>
          <a:bodyPr bIns="0" lIns="0" numCol="1" rIns="0" rtlCol="0" tIns="0" vert="horz" wrap="square">
            <a:spAutoFit/>
          </a:bodyPr>
          <a:lstStyle/>
          <a:p>
            <a:pPr marL="45084">
              <a:lnSpc>
                <a:spcPts val="2331"/>
              </a:lnSpc>
            </a:pPr>
            <a:r>
              <a:rPr dirty="0" spc="-25" sz="2400">
                <a:latin typeface="Cambria Math"/>
                <a:cs typeface="Cambria Math"/>
              </a:rPr>
              <a:t>𝐴𝐴</a:t>
            </a:r>
            <a:endParaRPr sz="2400">
              <a:latin typeface="Cambria Math"/>
              <a:cs typeface="Cambria Math"/>
            </a:endParaRPr>
          </a:p>
        </p:txBody>
      </p:sp>
      <p:sp>
        <p:nvSpPr>
          <p:cNvPr id="13" name="object 13"/>
          <p:cNvSpPr txBox="1"/>
          <p:nvPr/>
        </p:nvSpPr>
        <p:spPr>
          <a:xfrm>
            <a:off x="1267383" y="1139623"/>
            <a:ext cx="2070100" cy="382156"/>
          </a:xfrm>
          <a:prstGeom prst="rect">
            <a:avLst/>
          </a:prstGeom>
        </p:spPr>
        <p:txBody>
          <a:bodyPr bIns="0" lIns="0" numCol="1" rIns="0" rtlCol="0" tIns="12700" vert="horz" wrap="square">
            <a:spAutoFit/>
          </a:bodyPr>
          <a:lstStyle/>
          <a:p>
            <a:pPr marL="12700">
              <a:spcBef>
                <a:spcPts val="100"/>
              </a:spcBef>
              <a:tabLst>
                <a:tab algn="l" pos="1091538"/>
              </a:tabLst>
            </a:pPr>
            <a:r>
              <a:rPr dirty="0" sz="2400">
                <a:latin typeface="Cambria Math"/>
                <a:cs typeface="Cambria Math"/>
              </a:rPr>
              <a:t>𝐴</a:t>
            </a:r>
            <a:r>
              <a:rPr dirty="0" spc="151"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p:txBody>
      </p:sp>
      <p:sp>
        <p:nvSpPr>
          <p:cNvPr id="14" name="object 14"/>
          <p:cNvSpPr txBox="1"/>
          <p:nvPr/>
        </p:nvSpPr>
        <p:spPr>
          <a:xfrm>
            <a:off x="1191182" y="1505383"/>
            <a:ext cx="2463165" cy="1120820"/>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5" name="object 15"/>
          <p:cNvSpPr txBox="1"/>
          <p:nvPr/>
        </p:nvSpPr>
        <p:spPr>
          <a:xfrm>
            <a:off x="2282697" y="32412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6" name="object 16"/>
          <p:cNvSpPr txBox="1"/>
          <p:nvPr/>
        </p:nvSpPr>
        <p:spPr>
          <a:xfrm>
            <a:off x="1926970" y="29745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7" name="object 17"/>
          <p:cNvSpPr txBox="1"/>
          <p:nvPr/>
        </p:nvSpPr>
        <p:spPr>
          <a:xfrm>
            <a:off x="4419600" y="685800"/>
            <a:ext cx="6169660" cy="1120820"/>
          </a:xfrm>
          <a:prstGeom prst="rect">
            <a:avLst/>
          </a:prstGeom>
        </p:spPr>
        <p:txBody>
          <a:bodyPr bIns="0" lIns="0" numCol="1" rIns="0" rtlCol="0" tIns="12700" vert="horz" wrap="square">
            <a:spAutoFit/>
          </a:bodyPr>
          <a:lstStyle/>
          <a:p>
            <a:pPr marL="12700" marR="5080">
              <a:spcBef>
                <a:spcPts val="100"/>
              </a:spcBef>
              <a:tabLst>
                <a:tab algn="l" pos="4091202"/>
              </a:tabLst>
            </a:pPr>
            <a:r>
              <a:rPr dirty="0" sz="2400">
                <a:latin typeface="Palatino Linotype"/>
                <a:cs typeface="Palatino Linotype"/>
              </a:rPr>
              <a:t>Once</a:t>
            </a:r>
            <a:r>
              <a:rPr dirty="0" spc="-51" sz="2400">
                <a:latin typeface="Palatino Linotype"/>
                <a:cs typeface="Palatino Linotype"/>
              </a:rPr>
              <a:t> </a:t>
            </a:r>
            <a:r>
              <a:rPr dirty="0" sz="2400">
                <a:latin typeface="Palatino Linotype"/>
                <a:cs typeface="Palatino Linotype"/>
              </a:rPr>
              <a:t>again,</a:t>
            </a:r>
            <a:r>
              <a:rPr dirty="0" spc="-31" sz="2400">
                <a:latin typeface="Palatino Linotype"/>
                <a:cs typeface="Palatino Linotype"/>
              </a:rPr>
              <a:t> </a:t>
            </a:r>
            <a:r>
              <a:rPr dirty="0" sz="2400">
                <a:latin typeface="Palatino Linotype"/>
                <a:cs typeface="Palatino Linotype"/>
              </a:rPr>
              <a:t>we’re</a:t>
            </a:r>
            <a:r>
              <a:rPr dirty="0" spc="-45" sz="2400">
                <a:latin typeface="Palatino Linotype"/>
                <a:cs typeface="Palatino Linotype"/>
              </a:rPr>
              <a:t> </a:t>
            </a:r>
            <a:r>
              <a:rPr dirty="0" sz="2400">
                <a:latin typeface="Palatino Linotype"/>
                <a:cs typeface="Palatino Linotype"/>
              </a:rPr>
              <a:t>looking</a:t>
            </a:r>
            <a:r>
              <a:rPr dirty="0" spc="-25" sz="2400">
                <a:latin typeface="Palatino Linotype"/>
                <a:cs typeface="Palatino Linotype"/>
              </a:rPr>
              <a:t> </a:t>
            </a:r>
            <a:r>
              <a:rPr dirty="0" sz="2400">
                <a:latin typeface="Palatino Linotype"/>
                <a:cs typeface="Palatino Linotype"/>
              </a:rPr>
              <a:t>for</a:t>
            </a:r>
            <a:r>
              <a:rPr dirty="0" spc="-45" sz="2400">
                <a:latin typeface="Palatino Linotype"/>
                <a:cs typeface="Palatino Linotype"/>
              </a:rPr>
              <a:t> </a:t>
            </a:r>
            <a:r>
              <a:rPr dirty="0" spc="-11" sz="2400">
                <a:latin typeface="Palatino Linotype"/>
                <a:cs typeface="Palatino Linotype"/>
              </a:rPr>
              <a:t>productions </a:t>
            </a:r>
            <a:r>
              <a:rPr dirty="0" sz="2400">
                <a:latin typeface="Palatino Linotype"/>
                <a:cs typeface="Palatino Linotype"/>
              </a:rPr>
              <a:t>that</a:t>
            </a:r>
            <a:r>
              <a:rPr dirty="0" spc="-31" sz="2400">
                <a:latin typeface="Palatino Linotype"/>
                <a:cs typeface="Palatino Linotype"/>
              </a:rPr>
              <a:t> </a:t>
            </a:r>
            <a:r>
              <a:rPr dirty="0" sz="2400">
                <a:latin typeface="Palatino Linotype"/>
                <a:cs typeface="Palatino Linotype"/>
              </a:rPr>
              <a:t>produce</a:t>
            </a:r>
            <a:r>
              <a:rPr dirty="0" spc="-51" sz="2400">
                <a:latin typeface="Palatino Linotype"/>
                <a:cs typeface="Palatino Linotype"/>
              </a:rPr>
              <a:t> </a:t>
            </a:r>
            <a:r>
              <a:rPr dirty="0" sz="2400">
                <a:latin typeface="Palatino Linotype"/>
                <a:cs typeface="Palatino Linotype"/>
              </a:rPr>
              <a:t>either</a:t>
            </a:r>
            <a:r>
              <a:rPr dirty="0" spc="-15" sz="2400">
                <a:latin typeface="Palatino Linotype"/>
                <a:cs typeface="Palatino Linotype"/>
              </a:rPr>
              <a:t> </a:t>
            </a:r>
            <a:r>
              <a:rPr dirty="0" sz="2400">
                <a:latin typeface="Cambria Math"/>
                <a:cs typeface="Cambria Math"/>
              </a:rPr>
              <a:t>𝐴𝑆</a:t>
            </a:r>
            <a:r>
              <a:rPr dirty="0" spc="71" sz="2400">
                <a:latin typeface="Cambria Math"/>
                <a:cs typeface="Cambria Math"/>
              </a:rPr>
              <a:t> </a:t>
            </a:r>
            <a:r>
              <a:rPr dirty="0" sz="2400">
                <a:latin typeface="Palatino Linotype"/>
                <a:cs typeface="Palatino Linotype"/>
              </a:rPr>
              <a:t>or</a:t>
            </a:r>
            <a:r>
              <a:rPr dirty="0" spc="-51" sz="2400">
                <a:latin typeface="Palatino Linotype"/>
                <a:cs typeface="Palatino Linotype"/>
              </a:rPr>
              <a:t> </a:t>
            </a:r>
            <a:r>
              <a:rPr dirty="0" spc="-25" sz="2400">
                <a:latin typeface="Cambria Math"/>
                <a:cs typeface="Cambria Math"/>
              </a:rPr>
              <a:t>𝐴𝐴</a:t>
            </a:r>
            <a:r>
              <a:rPr dirty="0" spc="-25" sz="2400">
                <a:latin typeface="Palatino Linotype"/>
                <a:cs typeface="Palatino Linotype"/>
              </a:rPr>
              <a:t>.</a:t>
            </a:r>
            <a:r>
              <a:rPr dirty="0" sz="2400">
                <a:latin typeface="Palatino Linotype"/>
                <a:cs typeface="Palatino Linotype"/>
              </a:rPr>
              <a:t>	</a:t>
            </a:r>
            <a:r>
              <a:rPr dirty="0" sz="2400">
                <a:latin typeface="Cambria Math"/>
                <a:cs typeface="Cambria Math"/>
              </a:rPr>
              <a:t>𝐴</a:t>
            </a:r>
            <a:r>
              <a:rPr dirty="0" spc="80" sz="2400">
                <a:latin typeface="Cambria Math"/>
                <a:cs typeface="Cambria Math"/>
              </a:rPr>
              <a:t> </a:t>
            </a:r>
            <a:r>
              <a:rPr dirty="0" sz="2400">
                <a:latin typeface="Palatino Linotype"/>
                <a:cs typeface="Palatino Linotype"/>
              </a:rPr>
              <a:t>produces</a:t>
            </a:r>
            <a:r>
              <a:rPr dirty="0" spc="-20" sz="2400">
                <a:latin typeface="Palatino Linotype"/>
                <a:cs typeface="Palatino Linotype"/>
              </a:rPr>
              <a:t> </a:t>
            </a:r>
            <a:r>
              <a:rPr dirty="0" spc="-25" sz="2400">
                <a:latin typeface="Cambria Math"/>
                <a:cs typeface="Cambria Math"/>
              </a:rPr>
              <a:t>𝐴𝐴</a:t>
            </a:r>
            <a:r>
              <a:rPr dirty="0" spc="-25" sz="2400">
                <a:latin typeface="Palatino Linotype"/>
                <a:cs typeface="Palatino Linotype"/>
              </a:rPr>
              <a:t>, </a:t>
            </a:r>
            <a:r>
              <a:rPr dirty="0" sz="2400">
                <a:latin typeface="Palatino Linotype"/>
                <a:cs typeface="Palatino Linotype"/>
              </a:rPr>
              <a:t>so</a:t>
            </a:r>
            <a:r>
              <a:rPr dirty="0" spc="-20" sz="2400">
                <a:latin typeface="Palatino Linotype"/>
                <a:cs typeface="Palatino Linotype"/>
              </a:rPr>
              <a:t> </a:t>
            </a:r>
            <a:r>
              <a:rPr dirty="0" sz="2400">
                <a:latin typeface="Palatino Linotype"/>
                <a:cs typeface="Palatino Linotype"/>
              </a:rPr>
              <a:t>add</a:t>
            </a:r>
            <a:r>
              <a:rPr dirty="0" spc="-35" sz="2400">
                <a:latin typeface="Palatino Linotype"/>
                <a:cs typeface="Palatino Linotype"/>
              </a:rPr>
              <a:t> </a:t>
            </a:r>
            <a:r>
              <a:rPr dirty="0" sz="2400">
                <a:latin typeface="Palatino Linotype"/>
                <a:cs typeface="Palatino Linotype"/>
              </a:rPr>
              <a:t>it</a:t>
            </a:r>
            <a:r>
              <a:rPr dirty="0" spc="-15" sz="2400">
                <a:latin typeface="Palatino Linotype"/>
                <a:cs typeface="Palatino Linotype"/>
              </a:rPr>
              <a:t> </a:t>
            </a:r>
            <a:r>
              <a:rPr dirty="0" sz="2400">
                <a:latin typeface="Palatino Linotype"/>
                <a:cs typeface="Palatino Linotype"/>
              </a:rPr>
              <a:t>to</a:t>
            </a:r>
            <a:r>
              <a:rPr dirty="0" spc="-11" sz="2400">
                <a:latin typeface="Palatino Linotype"/>
                <a:cs typeface="Palatino Linotype"/>
              </a:rPr>
              <a:t> </a:t>
            </a:r>
            <a:r>
              <a:rPr dirty="0" sz="2400">
                <a:latin typeface="Palatino Linotype"/>
                <a:cs typeface="Palatino Linotype"/>
              </a:rPr>
              <a:t>cell</a:t>
            </a:r>
            <a:r>
              <a:rPr dirty="0" spc="-11" sz="2400">
                <a:latin typeface="Palatino Linotype"/>
                <a:cs typeface="Palatino Linotype"/>
              </a:rPr>
              <a:t> </a:t>
            </a:r>
            <a:r>
              <a:rPr dirty="0" spc="-20" sz="2400">
                <a:latin typeface="Palatino Linotype"/>
                <a:cs typeface="Palatino Linotype"/>
              </a:rPr>
              <a:t>1,5.</a:t>
            </a:r>
            <a:endParaRPr sz="2400">
              <a:latin typeface="Palatino Linotype"/>
              <a:cs typeface="Palatino Linotype"/>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03170" y="32286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126358" y="32286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137025" y="25978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280026" y="25978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246621" y="25978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135608" y="34831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756792" y="3637329"/>
          <a:ext cx="5006974" cy="2481454"/>
        </p:xfrm>
        <a:graphic>
          <a:graphicData uri="http://schemas.openxmlformats.org/drawingml/2006/table">
            <a:tbl>
              <a:tblPr bandRow="1" firstRow="1">
                <a:tableStyleId>{2D5ABB26-0587-4C30-8999-92F81FD0307C}</a:tableStyleId>
              </a:tblPr>
              <a:tblGrid>
                <a:gridCol w="167005">
                  <a:extLst>
                    <a:ext uri="{9D8B030D-6E8A-4147-A177-3AD203B41FA5}">
                      <a16:colId xmlns:a16="http://schemas.microsoft.com/office/drawing/2014/main" val="20000"/>
                    </a:ext>
                  </a:extLst>
                </a:gridCol>
                <a:gridCol w="494031">
                  <a:extLst>
                    <a:ext uri="{9D8B030D-6E8A-4147-A177-3AD203B41FA5}">
                      <a16:colId xmlns:a16="http://schemas.microsoft.com/office/drawing/2014/main" val="20001"/>
                    </a:ext>
                  </a:extLst>
                </a:gridCol>
                <a:gridCol w="430529">
                  <a:extLst>
                    <a:ext uri="{9D8B030D-6E8A-4147-A177-3AD203B41FA5}">
                      <a16:colId xmlns:a16="http://schemas.microsoft.com/office/drawing/2014/main" val="20002"/>
                    </a:ext>
                  </a:extLst>
                </a:gridCol>
                <a:gridCol w="1118871">
                  <a:extLst>
                    <a:ext uri="{9D8B030D-6E8A-4147-A177-3AD203B41FA5}">
                      <a16:colId xmlns:a16="http://schemas.microsoft.com/office/drawing/2014/main" val="20003"/>
                    </a:ext>
                  </a:extLst>
                </a:gridCol>
                <a:gridCol w="191769">
                  <a:extLst>
                    <a:ext uri="{9D8B030D-6E8A-4147-A177-3AD203B41FA5}">
                      <a16:colId xmlns:a16="http://schemas.microsoft.com/office/drawing/2014/main" val="20004"/>
                    </a:ext>
                  </a:extLst>
                </a:gridCol>
                <a:gridCol w="492760">
                  <a:extLst>
                    <a:ext uri="{9D8B030D-6E8A-4147-A177-3AD203B41FA5}">
                      <a16:colId xmlns:a16="http://schemas.microsoft.com/office/drawing/2014/main" val="20005"/>
                    </a:ext>
                  </a:extLst>
                </a:gridCol>
                <a:gridCol w="205739">
                  <a:extLst>
                    <a:ext uri="{9D8B030D-6E8A-4147-A177-3AD203B41FA5}">
                      <a16:colId xmlns:a16="http://schemas.microsoft.com/office/drawing/2014/main" val="20006"/>
                    </a:ext>
                  </a:extLst>
                </a:gridCol>
                <a:gridCol w="1105535">
                  <a:extLst>
                    <a:ext uri="{9D8B030D-6E8A-4147-A177-3AD203B41FA5}">
                      <a16:colId xmlns:a16="http://schemas.microsoft.com/office/drawing/2014/main" val="20007"/>
                    </a:ext>
                  </a:extLst>
                </a:gridCol>
                <a:gridCol w="800735">
                  <a:extLst>
                    <a:ext uri="{9D8B030D-6E8A-4147-A177-3AD203B41FA5}">
                      <a16:colId xmlns:a16="http://schemas.microsoft.com/office/drawing/2014/main" val="20008"/>
                    </a:ext>
                  </a:extLst>
                </a:gridCol>
              </a:tblGrid>
              <a:tr h="416052">
                <a:tc gridSpan="3">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33350">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67311">
                <a:tc gridSpan="3" rowSpan="2">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rowSpan="2">
                  <a:txBody>
                    <a:bodyPr numCol="1"/>
                    <a:lstStyle/>
                    <a:p>
                      <a:endParaRPr/>
                    </a:p>
                  </a:txBody>
                  <a:tcPr marB="0" marL="0" marR="0" marT="0"/>
                </a:tc>
                <a:tc hMerge="1" rowSpan="2">
                  <a:txBody>
                    <a:bodyPr numCol="1"/>
                    <a:lstStyle/>
                    <a:p>
                      <a:endParaRPr/>
                    </a:p>
                  </a:txBody>
                  <a:tcPr marB="0" marL="0" marR="0" marT="0"/>
                </a:tc>
                <a:tc rowSpan="2">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tcPr>
                </a:tc>
                <a:tc hMerge="1">
                  <a:txBody>
                    <a:bodyPr numCol="1"/>
                    <a:lstStyle/>
                    <a:p>
                      <a:endParaRPr/>
                    </a:p>
                  </a:txBody>
                  <a:tcPr marB="0" marL="0" marR="0" marT="0"/>
                </a:tc>
                <a:tc hMerge="1">
                  <a:txBody>
                    <a:bodyPr numCol="1"/>
                    <a:lstStyle/>
                    <a:p>
                      <a:endParaRPr/>
                    </a:p>
                  </a:txBody>
                  <a:tcPr marB="0" marL="0" marR="0" marT="0"/>
                </a:tc>
                <a:tc gridSpan="2" row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rowSpan="2">
                  <a:txBody>
                    <a:bodyPr numCol="1"/>
                    <a:lstStyle/>
                    <a:p>
                      <a:endParaRPr/>
                    </a:p>
                  </a:txBody>
                  <a:tcPr marB="0" marL="0" marR="0" marT="0"/>
                </a:tc>
                <a:extLst>
                  <a:ext uri="{0D108BD9-81ED-4DB2-BD59-A6C34878D82A}">
                    <a16:rowId xmlns:a16="http://schemas.microsoft.com/office/drawing/2014/main" val="10002"/>
                  </a:ext>
                </a:extLst>
              </a:tr>
              <a:tr h="711200">
                <a:tc gridSpan="3" vMerge="1">
                  <a:txBody>
                    <a:bodyPr numCol="1"/>
                    <a:lstStyle/>
                    <a:p>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vMerge="1">
                  <a:txBody>
                    <a:bodyPr numCol="1"/>
                    <a:lstStyle/>
                    <a:p>
                      <a:endParaRPr/>
                    </a:p>
                  </a:txBody>
                  <a:tcPr marB="0" marL="0" marR="0" marT="0"/>
                </a:tc>
                <a:tc hMerge="1" vMerge="1">
                  <a:txBody>
                    <a:bodyPr numCol="1"/>
                    <a:lstStyle/>
                    <a:p>
                      <a:endParaRPr/>
                    </a:p>
                  </a:txBody>
                  <a:tcPr marB="0" marL="0" marR="0" marT="0"/>
                </a:tc>
                <a:tc vMerge="1">
                  <a:txBody>
                    <a:bodyPr numCol="1"/>
                    <a:lstStyle/>
                    <a:p>
                      <a:endParaRPr/>
                    </a:p>
                  </a:txBody>
                  <a:tcPr marB="0" marL="0" marR="0" marT="635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1700">
                        <a:latin typeface="Times New Roman"/>
                        <a:cs typeface="Times New Roman"/>
                      </a:endParaRPr>
                    </a:p>
                  </a:txBody>
                  <a:tcPr marB="0" marL="0" marR="0" marT="0">
                    <a:lnL w="12700">
                      <a:solidFill>
                        <a:srgbClr val="6B9F24"/>
                      </a:solidFill>
                      <a:prstDash val="solid"/>
                    </a:lnL>
                    <a:lnR w="38100">
                      <a:solidFill>
                        <a:srgbClr val="226B87"/>
                      </a:solidFill>
                      <a:prstDash val="solid"/>
                    </a:lnR>
                    <a:lnB w="12700">
                      <a:solidFill>
                        <a:srgbClr val="6B9F24"/>
                      </a:solidFill>
                      <a:prstDash val="solid"/>
                    </a:lnB>
                  </a:tcPr>
                </a:tc>
                <a:tc>
                  <a:txBody>
                    <a:bodyPr numCol="1"/>
                    <a:lstStyle/>
                    <a:p>
                      <a:pPr marL="60325">
                        <a:lnSpc>
                          <a:spcPts val="2080"/>
                        </a:lnSpc>
                      </a:pPr>
                      <a:r>
                        <a:rPr dirty="0" spc="-25" sz="2500">
                          <a:latin typeface="Cambria Math"/>
                          <a:cs typeface="Cambria Math"/>
                        </a:rPr>
                        <a:t>S,A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38100">
                      <a:solidFill>
                        <a:srgbClr val="226B87"/>
                      </a:solidFill>
                      <a:prstDash val="solid"/>
                    </a:lnT>
                    <a:lnB w="12700">
                      <a:solidFill>
                        <a:srgbClr val="226B87"/>
                      </a:solidFill>
                      <a:prstDash val="solid"/>
                    </a:lnB>
                  </a:tcPr>
                </a:tc>
                <a:tc>
                  <a:txBody>
                    <a:bodyPr numCol="1"/>
                    <a:lstStyle/>
                    <a:p>
                      <a:pPr>
                        <a:lnSpc>
                          <a:spcPct val="100000"/>
                        </a:lnSpc>
                      </a:pPr>
                      <a:endParaRPr sz="1700">
                        <a:latin typeface="Times New Roman"/>
                        <a:cs typeface="Times New Roman"/>
                      </a:endParaRPr>
                    </a:p>
                  </a:txBody>
                  <a:tcPr marB="0" marL="0" marR="0" marT="0">
                    <a:lnL w="38100">
                      <a:solidFill>
                        <a:srgbClr val="226B87"/>
                      </a:solidFill>
                      <a:prstDash val="solid"/>
                    </a:lnL>
                    <a:lnR w="12700">
                      <a:solidFill>
                        <a:srgbClr val="6B9F24"/>
                      </a:solidFill>
                      <a:prstDash val="solid"/>
                    </a:lnR>
                    <a:lnB w="12700">
                      <a:solidFill>
                        <a:srgbClr val="6B9F24"/>
                      </a:solidFill>
                      <a:prstDash val="solid"/>
                    </a:lnB>
                  </a:tcPr>
                </a:tc>
                <a:tc gridSpan="2" vMerge="1">
                  <a:txBody>
                    <a:bodyPr numCol="1"/>
                    <a:lstStyle/>
                    <a:p>
                      <a:endParaRPr/>
                    </a:p>
                  </a:txBody>
                  <a:tcPr marB="0" marL="0" marR="0" marT="0">
                    <a:lnL w="12700">
                      <a:solidFill>
                        <a:srgbClr val="6B9F24"/>
                      </a:solidFill>
                      <a:prstDash val="solid"/>
                    </a:lnL>
                  </a:tcPr>
                </a:tc>
                <a:tc hMerge="1" vMerge="1">
                  <a:txBody>
                    <a:bodyPr numCol="1"/>
                    <a:lstStyle/>
                    <a:p>
                      <a:endParaRPr/>
                    </a:p>
                  </a:txBody>
                  <a:tcPr marB="0" marL="0" marR="0" marT="0"/>
                </a:tc>
                <a:extLst>
                  <a:ext uri="{0D108BD9-81ED-4DB2-BD59-A6C34878D82A}">
                    <a16:rowId xmlns:a16="http://schemas.microsoft.com/office/drawing/2014/main" val="10003"/>
                  </a:ext>
                </a:extLst>
              </a:tr>
              <a:tr h="431292">
                <a:tc gridSpan="3">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r h="452247">
                <a:tc gridSpan="3">
                  <a:txBody>
                    <a:bodyPr numCol="1"/>
                    <a:lstStyle/>
                    <a:p>
                      <a:pPr marL="278765">
                        <a:lnSpc>
                          <a:spcPts val="2925"/>
                        </a:lnSpc>
                        <a:spcBef>
                          <a:spcPts val="85"/>
                        </a:spcBef>
                      </a:pPr>
                      <a:r>
                        <a:rPr dirty="0" spc="-50" sz="2500">
                          <a:latin typeface="Cambria Math"/>
                          <a:cs typeface="Cambria Math"/>
                        </a:rPr>
                        <a:t>A</a:t>
                      </a:r>
                      <a:endParaRPr sz="2500">
                        <a:latin typeface="Cambria Math"/>
                        <a:cs typeface="Cambria Math"/>
                      </a:endParaRPr>
                    </a:p>
                  </a:txBody>
                  <a:tcPr marB="0" marL="0" marR="0" marT="10795">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5"/>
                  </a:ext>
                </a:extLst>
              </a:tr>
            </a:tbl>
          </a:graphicData>
        </a:graphic>
      </p:graphicFrame>
      <p:sp>
        <p:nvSpPr>
          <p:cNvPr id="9" name="object 9"/>
          <p:cNvSpPr txBox="1"/>
          <p:nvPr/>
        </p:nvSpPr>
        <p:spPr>
          <a:xfrm>
            <a:off x="1102081" y="360883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191184" y="544576"/>
            <a:ext cx="101282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p:txBody>
      </p:sp>
      <p:sp>
        <p:nvSpPr>
          <p:cNvPr id="12" name="object 12"/>
          <p:cNvSpPr txBox="1"/>
          <p:nvPr/>
        </p:nvSpPr>
        <p:spPr>
          <a:xfrm>
            <a:off x="1780413" y="990904"/>
            <a:ext cx="494031" cy="294953"/>
          </a:xfrm>
          <a:prstGeom prst="rect">
            <a:avLst/>
          </a:prstGeom>
          <a:ln w="38100">
            <a:solidFill>
              <a:srgbClr val="226B87"/>
            </a:solidFill>
          </a:ln>
        </p:spPr>
        <p:txBody>
          <a:bodyPr bIns="0" lIns="0" numCol="1" rIns="0" rtlCol="0" tIns="0" vert="horz" wrap="square">
            <a:spAutoFit/>
          </a:bodyPr>
          <a:lstStyle/>
          <a:p>
            <a:pPr marL="45084">
              <a:lnSpc>
                <a:spcPts val="2331"/>
              </a:lnSpc>
            </a:pPr>
            <a:r>
              <a:rPr dirty="0" spc="-25" sz="2400">
                <a:latin typeface="Cambria Math"/>
                <a:cs typeface="Cambria Math"/>
              </a:rPr>
              <a:t>𝐴𝐴</a:t>
            </a:r>
            <a:endParaRPr sz="2400">
              <a:latin typeface="Cambria Math"/>
              <a:cs typeface="Cambria Math"/>
            </a:endParaRPr>
          </a:p>
        </p:txBody>
      </p:sp>
      <p:sp>
        <p:nvSpPr>
          <p:cNvPr id="13" name="object 13"/>
          <p:cNvSpPr txBox="1"/>
          <p:nvPr/>
        </p:nvSpPr>
        <p:spPr>
          <a:xfrm>
            <a:off x="1191184" y="911022"/>
            <a:ext cx="2070100" cy="382156"/>
          </a:xfrm>
          <a:prstGeom prst="rect">
            <a:avLst/>
          </a:prstGeom>
        </p:spPr>
        <p:txBody>
          <a:bodyPr bIns="0" lIns="0" numCol="1" rIns="0" rtlCol="0" tIns="12700" vert="horz" wrap="square">
            <a:spAutoFit/>
          </a:bodyPr>
          <a:lstStyle/>
          <a:p>
            <a:pPr marL="12700">
              <a:spcBef>
                <a:spcPts val="100"/>
              </a:spcBef>
              <a:tabLst>
                <a:tab algn="l" pos="1091538"/>
              </a:tabLst>
            </a:pPr>
            <a:r>
              <a:rPr dirty="0" sz="2400">
                <a:latin typeface="Cambria Math"/>
                <a:cs typeface="Cambria Math"/>
              </a:rPr>
              <a:t>𝐴</a:t>
            </a:r>
            <a:r>
              <a:rPr dirty="0" spc="151"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p:txBody>
      </p:sp>
      <p:sp>
        <p:nvSpPr>
          <p:cNvPr id="14" name="object 14"/>
          <p:cNvSpPr txBox="1"/>
          <p:nvPr/>
        </p:nvSpPr>
        <p:spPr>
          <a:xfrm>
            <a:off x="1114983" y="1276782"/>
            <a:ext cx="2463165" cy="1120820"/>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5" name="object 15"/>
          <p:cNvSpPr txBox="1"/>
          <p:nvPr/>
        </p:nvSpPr>
        <p:spPr>
          <a:xfrm>
            <a:off x="2206498" y="30126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6" name="object 16"/>
          <p:cNvSpPr txBox="1"/>
          <p:nvPr/>
        </p:nvSpPr>
        <p:spPr>
          <a:xfrm>
            <a:off x="1850771" y="27459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7" name="object 17"/>
          <p:cNvSpPr txBox="1"/>
          <p:nvPr/>
        </p:nvSpPr>
        <p:spPr>
          <a:xfrm>
            <a:off x="4343400" y="457200"/>
            <a:ext cx="5862955" cy="1120820"/>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In</a:t>
            </a:r>
            <a:r>
              <a:rPr dirty="0" spc="-20" sz="2400">
                <a:latin typeface="Palatino Linotype"/>
                <a:cs typeface="Palatino Linotype"/>
              </a:rPr>
              <a:t> </a:t>
            </a:r>
            <a:r>
              <a:rPr dirty="0" sz="2400">
                <a:latin typeface="Palatino Linotype"/>
                <a:cs typeface="Palatino Linotype"/>
              </a:rPr>
              <a:t>this</a:t>
            </a:r>
            <a:r>
              <a:rPr dirty="0" spc="-11" sz="2400">
                <a:latin typeface="Palatino Linotype"/>
                <a:cs typeface="Palatino Linotype"/>
              </a:rPr>
              <a:t> </a:t>
            </a:r>
            <a:r>
              <a:rPr dirty="0" sz="2400">
                <a:latin typeface="Palatino Linotype"/>
                <a:cs typeface="Palatino Linotype"/>
              </a:rPr>
              <a:t>example,</a:t>
            </a:r>
            <a:r>
              <a:rPr dirty="0" spc="-15" sz="2400">
                <a:latin typeface="Palatino Linotype"/>
                <a:cs typeface="Palatino Linotype"/>
              </a:rPr>
              <a:t> </a:t>
            </a:r>
            <a:r>
              <a:rPr dirty="0" sz="2400">
                <a:latin typeface="Palatino Linotype"/>
                <a:cs typeface="Palatino Linotype"/>
              </a:rPr>
              <a:t>we</a:t>
            </a:r>
            <a:r>
              <a:rPr dirty="0" spc="-15" sz="2400">
                <a:latin typeface="Palatino Linotype"/>
                <a:cs typeface="Palatino Linotype"/>
              </a:rPr>
              <a:t> </a:t>
            </a:r>
            <a:r>
              <a:rPr dirty="0" sz="2400">
                <a:latin typeface="Palatino Linotype"/>
                <a:cs typeface="Palatino Linotype"/>
              </a:rPr>
              <a:t>ended</a:t>
            </a:r>
            <a:r>
              <a:rPr dirty="0" spc="-15" sz="2400">
                <a:latin typeface="Palatino Linotype"/>
                <a:cs typeface="Palatino Linotype"/>
              </a:rPr>
              <a:t> </a:t>
            </a:r>
            <a:r>
              <a:rPr dirty="0" sz="2400">
                <a:latin typeface="Palatino Linotype"/>
                <a:cs typeface="Palatino Linotype"/>
              </a:rPr>
              <a:t>up</a:t>
            </a:r>
            <a:r>
              <a:rPr dirty="0" spc="-15" sz="2400">
                <a:latin typeface="Palatino Linotype"/>
                <a:cs typeface="Palatino Linotype"/>
              </a:rPr>
              <a:t> </a:t>
            </a:r>
            <a:r>
              <a:rPr dirty="0" spc="-11" sz="2400">
                <a:latin typeface="Palatino Linotype"/>
                <a:cs typeface="Palatino Linotype"/>
              </a:rPr>
              <a:t>already</a:t>
            </a:r>
            <a:endParaRPr sz="2400">
              <a:latin typeface="Palatino Linotype"/>
              <a:cs typeface="Palatino Linotype"/>
            </a:endParaRPr>
          </a:p>
          <a:p>
            <a:pPr marL="12700">
              <a:spcBef>
                <a:spcPts val="5"/>
              </a:spcBef>
            </a:pPr>
            <a:r>
              <a:rPr dirty="0" sz="2400">
                <a:latin typeface="Palatino Linotype"/>
                <a:cs typeface="Palatino Linotype"/>
              </a:rPr>
              <a:t>considering</a:t>
            </a:r>
            <a:r>
              <a:rPr dirty="0" spc="-45" sz="2400">
                <a:latin typeface="Palatino Linotype"/>
                <a:cs typeface="Palatino Linotype"/>
              </a:rPr>
              <a:t> </a:t>
            </a:r>
            <a:r>
              <a:rPr dirty="0" sz="2400">
                <a:latin typeface="Palatino Linotype"/>
                <a:cs typeface="Palatino Linotype"/>
              </a:rPr>
              <a:t>the</a:t>
            </a:r>
            <a:r>
              <a:rPr dirty="0" spc="-40" sz="2400">
                <a:latin typeface="Palatino Linotype"/>
                <a:cs typeface="Palatino Linotype"/>
              </a:rPr>
              <a:t> </a:t>
            </a:r>
            <a:r>
              <a:rPr dirty="0" sz="2400">
                <a:latin typeface="Palatino Linotype"/>
                <a:cs typeface="Palatino Linotype"/>
              </a:rPr>
              <a:t>next</a:t>
            </a:r>
            <a:r>
              <a:rPr dirty="0" spc="-55" sz="2400">
                <a:latin typeface="Palatino Linotype"/>
                <a:cs typeface="Palatino Linotype"/>
              </a:rPr>
              <a:t> </a:t>
            </a:r>
            <a:r>
              <a:rPr dirty="0" spc="-11" sz="2400">
                <a:latin typeface="Palatino Linotype"/>
                <a:cs typeface="Palatino Linotype"/>
              </a:rPr>
              <a:t>combination,</a:t>
            </a:r>
            <a:r>
              <a:rPr dirty="0" spc="-31" sz="2400">
                <a:latin typeface="Palatino Linotype"/>
                <a:cs typeface="Palatino Linotype"/>
              </a:rPr>
              <a:t> </a:t>
            </a:r>
            <a:r>
              <a:rPr dirty="0" sz="2400">
                <a:latin typeface="Palatino Linotype"/>
                <a:cs typeface="Palatino Linotype"/>
              </a:rPr>
              <a:t>so</a:t>
            </a:r>
            <a:r>
              <a:rPr dirty="0" spc="-51" sz="2400">
                <a:latin typeface="Palatino Linotype"/>
                <a:cs typeface="Palatino Linotype"/>
              </a:rPr>
              <a:t> </a:t>
            </a:r>
            <a:r>
              <a:rPr dirty="0" spc="-11" sz="2400">
                <a:latin typeface="Palatino Linotype"/>
                <a:cs typeface="Palatino Linotype"/>
              </a:rPr>
              <a:t>we’ve</a:t>
            </a:r>
            <a:endParaRPr sz="2400">
              <a:latin typeface="Palatino Linotype"/>
              <a:cs typeface="Palatino Linotype"/>
            </a:endParaRPr>
          </a:p>
          <a:p>
            <a:pPr marL="12700"/>
            <a:r>
              <a:rPr dirty="0" sz="2400">
                <a:latin typeface="Palatino Linotype"/>
                <a:cs typeface="Palatino Linotype"/>
              </a:rPr>
              <a:t>already</a:t>
            </a:r>
            <a:r>
              <a:rPr dirty="0" spc="-31" sz="2400">
                <a:latin typeface="Palatino Linotype"/>
                <a:cs typeface="Palatino Linotype"/>
              </a:rPr>
              <a:t> </a:t>
            </a:r>
            <a:r>
              <a:rPr dirty="0" sz="2400">
                <a:latin typeface="Palatino Linotype"/>
                <a:cs typeface="Palatino Linotype"/>
              </a:rPr>
              <a:t>added</a:t>
            </a:r>
            <a:r>
              <a:rPr dirty="0" spc="-45" sz="2400">
                <a:latin typeface="Palatino Linotype"/>
                <a:cs typeface="Palatino Linotype"/>
              </a:rPr>
              <a:t> </a:t>
            </a:r>
            <a:r>
              <a:rPr dirty="0" sz="2400">
                <a:latin typeface="Palatino Linotype"/>
                <a:cs typeface="Palatino Linotype"/>
              </a:rPr>
              <a:t>the</a:t>
            </a:r>
            <a:r>
              <a:rPr dirty="0" spc="-15" sz="2400">
                <a:latin typeface="Palatino Linotype"/>
                <a:cs typeface="Palatino Linotype"/>
              </a:rPr>
              <a:t> </a:t>
            </a:r>
            <a:r>
              <a:rPr dirty="0" sz="2400">
                <a:latin typeface="Palatino Linotype"/>
                <a:cs typeface="Palatino Linotype"/>
              </a:rPr>
              <a:t>variables</a:t>
            </a:r>
            <a:r>
              <a:rPr dirty="0" spc="-40" sz="2400">
                <a:latin typeface="Palatino Linotype"/>
                <a:cs typeface="Palatino Linotype"/>
              </a:rPr>
              <a:t> </a:t>
            </a:r>
            <a:r>
              <a:rPr dirty="0" sz="2400">
                <a:latin typeface="Palatino Linotype"/>
                <a:cs typeface="Palatino Linotype"/>
              </a:rPr>
              <a:t>we</a:t>
            </a:r>
            <a:r>
              <a:rPr dirty="0" spc="-25" sz="2400">
                <a:latin typeface="Palatino Linotype"/>
                <a:cs typeface="Palatino Linotype"/>
              </a:rPr>
              <a:t> </a:t>
            </a:r>
            <a:r>
              <a:rPr dirty="0" sz="2400">
                <a:latin typeface="Palatino Linotype"/>
                <a:cs typeface="Palatino Linotype"/>
              </a:rPr>
              <a:t>need</a:t>
            </a:r>
            <a:r>
              <a:rPr dirty="0" spc="-25" sz="2400">
                <a:latin typeface="Palatino Linotype"/>
                <a:cs typeface="Palatino Linotype"/>
              </a:rPr>
              <a:t> to.</a:t>
            </a:r>
            <a:endParaRPr sz="2400">
              <a:latin typeface="Palatino Linotype"/>
              <a:cs typeface="Palatino Linotype"/>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26970" y="3379522"/>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3050158" y="3379522"/>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4060825" y="2748734"/>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203826" y="2748734"/>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170421" y="2748734"/>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1059408" y="3634029"/>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680592" y="3788207"/>
          <a:ext cx="5005071" cy="2108836"/>
        </p:xfrm>
        <a:graphic>
          <a:graphicData uri="http://schemas.openxmlformats.org/drawingml/2006/table">
            <a:tbl>
              <a:tblPr bandRow="1" firstRow="1">
                <a:tableStyleId>{2D5ABB26-0587-4C30-8999-92F81FD0307C}</a:tableStyleId>
              </a:tblPr>
              <a:tblGrid>
                <a:gridCol w="167005">
                  <a:extLst>
                    <a:ext uri="{9D8B030D-6E8A-4147-A177-3AD203B41FA5}">
                      <a16:colId xmlns:a16="http://schemas.microsoft.com/office/drawing/2014/main" val="20000"/>
                    </a:ext>
                  </a:extLst>
                </a:gridCol>
                <a:gridCol w="494031">
                  <a:extLst>
                    <a:ext uri="{9D8B030D-6E8A-4147-A177-3AD203B41FA5}">
                      <a16:colId xmlns:a16="http://schemas.microsoft.com/office/drawing/2014/main" val="20001"/>
                    </a:ext>
                  </a:extLst>
                </a:gridCol>
                <a:gridCol w="430529">
                  <a:extLst>
                    <a:ext uri="{9D8B030D-6E8A-4147-A177-3AD203B41FA5}">
                      <a16:colId xmlns:a16="http://schemas.microsoft.com/office/drawing/2014/main" val="20002"/>
                    </a:ext>
                  </a:extLst>
                </a:gridCol>
                <a:gridCol w="1118871">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241935">
                  <a:extLst>
                    <a:ext uri="{9D8B030D-6E8A-4147-A177-3AD203B41FA5}">
                      <a16:colId xmlns:a16="http://schemas.microsoft.com/office/drawing/2014/main" val="20005"/>
                    </a:ext>
                  </a:extLst>
                </a:gridCol>
                <a:gridCol w="494029">
                  <a:extLst>
                    <a:ext uri="{9D8B030D-6E8A-4147-A177-3AD203B41FA5}">
                      <a16:colId xmlns:a16="http://schemas.microsoft.com/office/drawing/2014/main" val="20006"/>
                    </a:ext>
                  </a:extLst>
                </a:gridCol>
                <a:gridCol w="369571">
                  <a:extLst>
                    <a:ext uri="{9D8B030D-6E8A-4147-A177-3AD203B41FA5}">
                      <a16:colId xmlns:a16="http://schemas.microsoft.com/office/drawing/2014/main" val="20007"/>
                    </a:ext>
                  </a:extLst>
                </a:gridCol>
                <a:gridCol w="800100">
                  <a:extLst>
                    <a:ext uri="{9D8B030D-6E8A-4147-A177-3AD203B41FA5}">
                      <a16:colId xmlns:a16="http://schemas.microsoft.com/office/drawing/2014/main" val="20008"/>
                    </a:ext>
                  </a:extLst>
                </a:gridCol>
              </a:tblGrid>
              <a:tr h="416052">
                <a:tc gridSpan="3">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gn="ctr" marR="17526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gridSpan="3">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34620">
                        <a:lnSpc>
                          <a:spcPts val="2610"/>
                        </a:lnSpc>
                      </a:pPr>
                      <a:r>
                        <a:rPr dirty="0" spc="-50" sz="2500">
                          <a:latin typeface="Cambria Math"/>
                          <a:cs typeface="Cambria Math"/>
                        </a:rPr>
                        <a:t>B</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11760">
                        <a:lnSpc>
                          <a:spcPts val="2610"/>
                        </a:lnSpc>
                      </a:pPr>
                      <a:r>
                        <a:rPr dirty="0" spc="-50" sz="2500">
                          <a:latin typeface="Cambria Math"/>
                          <a:cs typeface="Cambria Math"/>
                        </a:rPr>
                        <a:t>A</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1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431292">
                <a:tc gridSpan="3">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452247">
                <a:tc gridSpan="3">
                  <a:txBody>
                    <a:bodyPr numCol="1"/>
                    <a:lstStyle/>
                    <a:p>
                      <a:pPr marL="278765">
                        <a:lnSpc>
                          <a:spcPts val="2925"/>
                        </a:lnSpc>
                        <a:spcBef>
                          <a:spcPts val="85"/>
                        </a:spcBef>
                      </a:pPr>
                      <a:r>
                        <a:rPr dirty="0" spc="-25" sz="2500">
                          <a:latin typeface="Cambria Math"/>
                          <a:cs typeface="Cambria Math"/>
                        </a:rPr>
                        <a:t>S,A</a:t>
                      </a:r>
                      <a:endParaRPr sz="2500">
                        <a:latin typeface="Cambria Math"/>
                        <a:cs typeface="Cambria Math"/>
                      </a:endParaRPr>
                    </a:p>
                  </a:txBody>
                  <a:tcPr marB="0" marL="0" marR="0" marT="10795">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1025881" y="3759716"/>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1114984" y="695453"/>
            <a:ext cx="53403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𝑆</a:t>
            </a:r>
            <a:r>
              <a:rPr dirty="0" spc="175" sz="2400">
                <a:latin typeface="Cambria Math"/>
                <a:cs typeface="Cambria Math"/>
              </a:rPr>
              <a:t> </a:t>
            </a:r>
            <a:r>
              <a:rPr dirty="0" spc="-60" sz="2400">
                <a:latin typeface="Cambria Math"/>
                <a:cs typeface="Cambria Math"/>
              </a:rPr>
              <a:t>→</a:t>
            </a:r>
            <a:endParaRPr sz="2400">
              <a:latin typeface="Cambria Math"/>
              <a:cs typeface="Cambria Math"/>
            </a:endParaRPr>
          </a:p>
        </p:txBody>
      </p:sp>
      <p:sp>
        <p:nvSpPr>
          <p:cNvPr id="12" name="object 12"/>
          <p:cNvSpPr txBox="1"/>
          <p:nvPr/>
        </p:nvSpPr>
        <p:spPr>
          <a:xfrm>
            <a:off x="1679829" y="774498"/>
            <a:ext cx="494031" cy="294953"/>
          </a:xfrm>
          <a:prstGeom prst="rect">
            <a:avLst/>
          </a:prstGeom>
          <a:ln w="38100">
            <a:solidFill>
              <a:srgbClr val="226B87"/>
            </a:solidFill>
          </a:ln>
        </p:spPr>
        <p:txBody>
          <a:bodyPr bIns="0" lIns="0" numCol="1" rIns="0" rtlCol="0" tIns="0" vert="horz" wrap="square">
            <a:spAutoFit/>
          </a:bodyPr>
          <a:lstStyle/>
          <a:p>
            <a:pPr marL="40639">
              <a:lnSpc>
                <a:spcPts val="2331"/>
              </a:lnSpc>
            </a:pPr>
            <a:r>
              <a:rPr dirty="0" spc="-25" sz="2400">
                <a:latin typeface="Cambria Math"/>
                <a:cs typeface="Cambria Math"/>
              </a:rPr>
              <a:t>𝐴𝐵</a:t>
            </a:r>
            <a:endParaRPr sz="2400">
              <a:latin typeface="Cambria Math"/>
              <a:cs typeface="Cambria Math"/>
            </a:endParaRPr>
          </a:p>
        </p:txBody>
      </p:sp>
      <p:sp>
        <p:nvSpPr>
          <p:cNvPr id="13" name="object 13"/>
          <p:cNvSpPr txBox="1"/>
          <p:nvPr/>
        </p:nvSpPr>
        <p:spPr>
          <a:xfrm>
            <a:off x="2321433" y="1138734"/>
            <a:ext cx="494031" cy="294953"/>
          </a:xfrm>
          <a:prstGeom prst="rect">
            <a:avLst/>
          </a:prstGeom>
          <a:ln w="38100">
            <a:solidFill>
              <a:srgbClr val="226B87"/>
            </a:solidFill>
          </a:ln>
        </p:spPr>
        <p:txBody>
          <a:bodyPr bIns="0" lIns="0" numCol="1" rIns="0" rtlCol="0" tIns="0" vert="horz" wrap="square">
            <a:spAutoFit/>
          </a:bodyPr>
          <a:lstStyle/>
          <a:p>
            <a:pPr marL="47624">
              <a:lnSpc>
                <a:spcPts val="2331"/>
              </a:lnSpc>
            </a:pPr>
            <a:r>
              <a:rPr dirty="0" spc="-25" sz="2400">
                <a:latin typeface="Cambria Math"/>
                <a:cs typeface="Cambria Math"/>
              </a:rPr>
              <a:t>𝐴𝐵</a:t>
            </a:r>
            <a:endParaRPr sz="2400">
              <a:latin typeface="Cambria Math"/>
              <a:cs typeface="Cambria Math"/>
            </a:endParaRPr>
          </a:p>
        </p:txBody>
      </p:sp>
      <p:sp>
        <p:nvSpPr>
          <p:cNvPr id="14" name="object 14"/>
          <p:cNvSpPr txBox="1"/>
          <p:nvPr/>
        </p:nvSpPr>
        <p:spPr>
          <a:xfrm>
            <a:off x="1114984" y="1061900"/>
            <a:ext cx="2070100" cy="1120820"/>
          </a:xfrm>
          <a:prstGeom prst="rect">
            <a:avLst/>
          </a:prstGeom>
        </p:spPr>
        <p:txBody>
          <a:bodyPr bIns="0" lIns="0" numCol="1" rIns="0" rtlCol="0" tIns="12700" vert="horz" wrap="square">
            <a:spAutoFit/>
          </a:bodyPr>
          <a:lstStyle/>
          <a:p>
            <a:pPr marL="12700">
              <a:spcBef>
                <a:spcPts val="100"/>
              </a:spcBef>
              <a:tabLst>
                <a:tab algn="l" pos="1723982"/>
              </a:tabLst>
            </a:pPr>
            <a:r>
              <a:rPr dirty="0" sz="2400">
                <a:latin typeface="Cambria Math"/>
                <a:cs typeface="Cambria Math"/>
              </a:rPr>
              <a:t>𝐴</a:t>
            </a:r>
            <a:r>
              <a:rPr dirty="0" spc="14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𝐴𝐴</a:t>
            </a:r>
            <a:r>
              <a:rPr dirty="0" spc="5" sz="2400">
                <a:latin typeface="Cambria Math"/>
                <a:cs typeface="Cambria Math"/>
              </a:rPr>
              <a:t> </a:t>
            </a:r>
            <a:r>
              <a:rPr dirty="0" spc="-51" sz="2400">
                <a:latin typeface="Cambria Math"/>
                <a:cs typeface="Cambria Math"/>
              </a:rPr>
              <a:t>|</a:t>
            </a:r>
            <a:r>
              <a:rPr dirty="0" sz="2400">
                <a:latin typeface="Cambria Math"/>
                <a:cs typeface="Cambria Math"/>
              </a:rPr>
              <a:t>	|</a:t>
            </a:r>
            <a:r>
              <a:rPr dirty="0" spc="-15" sz="2400">
                <a:latin typeface="Cambria Math"/>
                <a:cs typeface="Cambria Math"/>
              </a:rPr>
              <a:t> </a:t>
            </a:r>
            <a:r>
              <a:rPr dirty="0" spc="-51" sz="2400">
                <a:latin typeface="Cambria Math"/>
                <a:cs typeface="Cambria Math"/>
              </a:rPr>
              <a:t>𝑎</a:t>
            </a:r>
            <a:endParaRPr sz="2400">
              <a:latin typeface="Cambria Math"/>
              <a:cs typeface="Cambria Math"/>
            </a:endParaRPr>
          </a:p>
          <a:p>
            <a:pPr marL="12700"/>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12700"/>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p:txBody>
      </p:sp>
      <p:sp>
        <p:nvSpPr>
          <p:cNvPr id="15" name="object 15"/>
          <p:cNvSpPr txBox="1"/>
          <p:nvPr/>
        </p:nvSpPr>
        <p:spPr>
          <a:xfrm>
            <a:off x="1038783" y="2159433"/>
            <a:ext cx="2463165" cy="382156"/>
          </a:xfrm>
          <a:prstGeom prst="rect">
            <a:avLst/>
          </a:prstGeom>
        </p:spPr>
        <p:txBody>
          <a:bodyPr bIns="0" lIns="0" numCol="1" rIns="0" rtlCol="0" tIns="12700" vert="horz" wrap="square">
            <a:spAutoFit/>
          </a:bodyPr>
          <a:lstStyle/>
          <a:p>
            <a:pPr marL="12700">
              <a:spcBef>
                <a:spcPts val="100"/>
              </a:spcBef>
            </a:pPr>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6" name="object 16"/>
          <p:cNvSpPr txBox="1"/>
          <p:nvPr/>
        </p:nvSpPr>
        <p:spPr>
          <a:xfrm>
            <a:off x="2130298" y="3163495"/>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7" name="object 17"/>
          <p:cNvSpPr txBox="1"/>
          <p:nvPr/>
        </p:nvSpPr>
        <p:spPr>
          <a:xfrm>
            <a:off x="1774571" y="2896792"/>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8" name="object 18"/>
          <p:cNvSpPr txBox="1"/>
          <p:nvPr/>
        </p:nvSpPr>
        <p:spPr>
          <a:xfrm>
            <a:off x="4267200" y="609600"/>
            <a:ext cx="6023611" cy="1120820"/>
          </a:xfrm>
          <a:prstGeom prst="rect">
            <a:avLst/>
          </a:prstGeom>
        </p:spPr>
        <p:txBody>
          <a:bodyPr bIns="0" lIns="0" numCol="1" rIns="0" rtlCol="0" tIns="12700" vert="horz" wrap="square">
            <a:spAutoFit/>
          </a:bodyPr>
          <a:lstStyle/>
          <a:p>
            <a:pPr marL="12700" marR="5080">
              <a:spcBef>
                <a:spcPts val="100"/>
              </a:spcBef>
            </a:pPr>
            <a:r>
              <a:rPr dirty="0" sz="2400">
                <a:latin typeface="Palatino Linotype"/>
                <a:cs typeface="Palatino Linotype"/>
              </a:rPr>
              <a:t>We</a:t>
            </a:r>
            <a:r>
              <a:rPr dirty="0" spc="-40" sz="2400">
                <a:latin typeface="Palatino Linotype"/>
                <a:cs typeface="Palatino Linotype"/>
              </a:rPr>
              <a:t> </a:t>
            </a:r>
            <a:r>
              <a:rPr dirty="0" sz="2400">
                <a:latin typeface="Palatino Linotype"/>
                <a:cs typeface="Palatino Linotype"/>
              </a:rPr>
              <a:t>next</a:t>
            </a:r>
            <a:r>
              <a:rPr dirty="0" spc="-40" sz="2400">
                <a:latin typeface="Palatino Linotype"/>
                <a:cs typeface="Palatino Linotype"/>
              </a:rPr>
              <a:t> </a:t>
            </a:r>
            <a:r>
              <a:rPr dirty="0" sz="2400">
                <a:latin typeface="Palatino Linotype"/>
                <a:cs typeface="Palatino Linotype"/>
              </a:rPr>
              <a:t>look</a:t>
            </a:r>
            <a:r>
              <a:rPr dirty="0" spc="-31" sz="2400">
                <a:latin typeface="Palatino Linotype"/>
                <a:cs typeface="Palatino Linotype"/>
              </a:rPr>
              <a:t> </a:t>
            </a:r>
            <a:r>
              <a:rPr dirty="0" sz="2400">
                <a:latin typeface="Palatino Linotype"/>
                <a:cs typeface="Palatino Linotype"/>
              </a:rPr>
              <a:t>for</a:t>
            </a:r>
            <a:r>
              <a:rPr dirty="0" spc="-40" sz="2400">
                <a:latin typeface="Palatino Linotype"/>
                <a:cs typeface="Palatino Linotype"/>
              </a:rPr>
              <a:t> </a:t>
            </a:r>
            <a:r>
              <a:rPr dirty="0" sz="2400">
                <a:latin typeface="Palatino Linotype"/>
                <a:cs typeface="Palatino Linotype"/>
              </a:rPr>
              <a:t>productions</a:t>
            </a:r>
            <a:r>
              <a:rPr dirty="0" spc="-40" sz="2400">
                <a:latin typeface="Palatino Linotype"/>
                <a:cs typeface="Palatino Linotype"/>
              </a:rPr>
              <a:t> </a:t>
            </a:r>
            <a:r>
              <a:rPr dirty="0" sz="2400">
                <a:latin typeface="Palatino Linotype"/>
                <a:cs typeface="Palatino Linotype"/>
              </a:rPr>
              <a:t>producing</a:t>
            </a:r>
            <a:r>
              <a:rPr dirty="0" spc="-25" sz="2400">
                <a:latin typeface="Palatino Linotype"/>
                <a:cs typeface="Palatino Linotype"/>
              </a:rPr>
              <a:t> </a:t>
            </a:r>
            <a:r>
              <a:rPr dirty="0" spc="-25" sz="2400">
                <a:latin typeface="Cambria Math"/>
                <a:cs typeface="Cambria Math"/>
              </a:rPr>
              <a:t>𝐴𝐵</a:t>
            </a:r>
            <a:r>
              <a:rPr dirty="0" spc="-25" sz="2400">
                <a:latin typeface="Palatino Linotype"/>
                <a:cs typeface="Palatino Linotype"/>
              </a:rPr>
              <a:t>. </a:t>
            </a:r>
            <a:r>
              <a:rPr dirty="0" sz="2400">
                <a:latin typeface="Palatino Linotype"/>
                <a:cs typeface="Palatino Linotype"/>
              </a:rPr>
              <a:t>We</a:t>
            </a:r>
            <a:r>
              <a:rPr dirty="0" spc="-25" sz="2400">
                <a:latin typeface="Palatino Linotype"/>
                <a:cs typeface="Palatino Linotype"/>
              </a:rPr>
              <a:t> </a:t>
            </a:r>
            <a:r>
              <a:rPr dirty="0" sz="2400">
                <a:latin typeface="Palatino Linotype"/>
                <a:cs typeface="Palatino Linotype"/>
              </a:rPr>
              <a:t>already</a:t>
            </a:r>
            <a:r>
              <a:rPr dirty="0" spc="-20" sz="2400">
                <a:latin typeface="Palatino Linotype"/>
                <a:cs typeface="Palatino Linotype"/>
              </a:rPr>
              <a:t> </a:t>
            </a:r>
            <a:r>
              <a:rPr dirty="0" sz="2400">
                <a:latin typeface="Palatino Linotype"/>
                <a:cs typeface="Palatino Linotype"/>
              </a:rPr>
              <a:t>added</a:t>
            </a:r>
            <a:r>
              <a:rPr dirty="0" spc="-35" sz="2400">
                <a:latin typeface="Palatino Linotype"/>
                <a:cs typeface="Palatino Linotype"/>
              </a:rPr>
              <a:t> </a:t>
            </a:r>
            <a:r>
              <a:rPr dirty="0" sz="2400">
                <a:latin typeface="Cambria Math"/>
                <a:cs typeface="Cambria Math"/>
              </a:rPr>
              <a:t>𝐴</a:t>
            </a:r>
            <a:r>
              <a:rPr dirty="0" spc="71" sz="2400">
                <a:latin typeface="Cambria Math"/>
                <a:cs typeface="Cambria Math"/>
              </a:rPr>
              <a:t> </a:t>
            </a:r>
            <a:r>
              <a:rPr dirty="0" sz="2400">
                <a:latin typeface="Palatino Linotype"/>
                <a:cs typeface="Palatino Linotype"/>
              </a:rPr>
              <a:t>to</a:t>
            </a:r>
            <a:r>
              <a:rPr dirty="0" spc="-20" sz="2400">
                <a:latin typeface="Palatino Linotype"/>
                <a:cs typeface="Palatino Linotype"/>
              </a:rPr>
              <a:t> </a:t>
            </a:r>
            <a:r>
              <a:rPr dirty="0" sz="2400">
                <a:latin typeface="Palatino Linotype"/>
                <a:cs typeface="Palatino Linotype"/>
              </a:rPr>
              <a:t>cell</a:t>
            </a:r>
            <a:r>
              <a:rPr dirty="0" spc="-25" sz="2400">
                <a:latin typeface="Palatino Linotype"/>
                <a:cs typeface="Palatino Linotype"/>
              </a:rPr>
              <a:t> </a:t>
            </a:r>
            <a:r>
              <a:rPr dirty="0" sz="2400">
                <a:latin typeface="Palatino Linotype"/>
                <a:cs typeface="Palatino Linotype"/>
              </a:rPr>
              <a:t>1,5,</a:t>
            </a:r>
            <a:r>
              <a:rPr dirty="0" spc="-20" sz="2400">
                <a:latin typeface="Palatino Linotype"/>
                <a:cs typeface="Palatino Linotype"/>
              </a:rPr>
              <a:t> </a:t>
            </a:r>
            <a:r>
              <a:rPr dirty="0" sz="2400">
                <a:latin typeface="Palatino Linotype"/>
                <a:cs typeface="Palatino Linotype"/>
              </a:rPr>
              <a:t>so</a:t>
            </a:r>
            <a:r>
              <a:rPr dirty="0" spc="-25" sz="2400">
                <a:latin typeface="Palatino Linotype"/>
                <a:cs typeface="Palatino Linotype"/>
              </a:rPr>
              <a:t> </a:t>
            </a:r>
            <a:r>
              <a:rPr dirty="0" sz="2400">
                <a:latin typeface="Palatino Linotype"/>
                <a:cs typeface="Palatino Linotype"/>
              </a:rPr>
              <a:t>we</a:t>
            </a:r>
            <a:r>
              <a:rPr dirty="0" spc="-35" sz="2400">
                <a:latin typeface="Palatino Linotype"/>
                <a:cs typeface="Palatino Linotype"/>
              </a:rPr>
              <a:t> </a:t>
            </a:r>
            <a:r>
              <a:rPr dirty="0" spc="-20" sz="2400">
                <a:latin typeface="Palatino Linotype"/>
                <a:cs typeface="Palatino Linotype"/>
              </a:rPr>
              <a:t>only </a:t>
            </a:r>
            <a:r>
              <a:rPr dirty="0" sz="2400">
                <a:latin typeface="Palatino Linotype"/>
                <a:cs typeface="Palatino Linotype"/>
              </a:rPr>
              <a:t>need</a:t>
            </a:r>
            <a:r>
              <a:rPr dirty="0" spc="-40" sz="2400">
                <a:latin typeface="Palatino Linotype"/>
                <a:cs typeface="Palatino Linotype"/>
              </a:rPr>
              <a:t> </a:t>
            </a:r>
            <a:r>
              <a:rPr dirty="0" sz="2400">
                <a:latin typeface="Palatino Linotype"/>
                <a:cs typeface="Palatino Linotype"/>
              </a:rPr>
              <a:t>to</a:t>
            </a:r>
            <a:r>
              <a:rPr dirty="0" spc="-25" sz="2400">
                <a:latin typeface="Palatino Linotype"/>
                <a:cs typeface="Palatino Linotype"/>
              </a:rPr>
              <a:t> </a:t>
            </a:r>
            <a:r>
              <a:rPr dirty="0" sz="2400">
                <a:latin typeface="Palatino Linotype"/>
                <a:cs typeface="Palatino Linotype"/>
              </a:rPr>
              <a:t>add</a:t>
            </a:r>
            <a:r>
              <a:rPr dirty="0" spc="-25" sz="2400">
                <a:latin typeface="Palatino Linotype"/>
                <a:cs typeface="Palatino Linotype"/>
              </a:rPr>
              <a:t> </a:t>
            </a:r>
            <a:r>
              <a:rPr dirty="0" sz="2400">
                <a:latin typeface="Palatino Linotype"/>
                <a:cs typeface="Palatino Linotype"/>
              </a:rPr>
              <a:t>the</a:t>
            </a:r>
            <a:r>
              <a:rPr dirty="0" spc="-20" sz="2400">
                <a:latin typeface="Palatino Linotype"/>
                <a:cs typeface="Palatino Linotype"/>
              </a:rPr>
              <a:t> </a:t>
            </a:r>
            <a:r>
              <a:rPr dirty="0" spc="-25" sz="2400">
                <a:latin typeface="Cambria Math"/>
                <a:cs typeface="Cambria Math"/>
              </a:rPr>
              <a:t>𝑆</a:t>
            </a:r>
            <a:r>
              <a:rPr dirty="0" spc="-25" sz="2400">
                <a:latin typeface="Palatino Linotype"/>
                <a:cs typeface="Palatino Linotype"/>
              </a:rPr>
              <a:t>.</a:t>
            </a:r>
            <a:endParaRPr sz="2400">
              <a:latin typeface="Palatino Linotype"/>
              <a:cs typeface="Palatino Linotype"/>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74570" y="33810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2897758" y="3381046"/>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3908425" y="2750258"/>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5051426" y="2750258"/>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6018021" y="2750258"/>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907008" y="3635553"/>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528192" y="3789730"/>
          <a:ext cx="5002529" cy="2108836"/>
        </p:xfrm>
        <a:graphic>
          <a:graphicData uri="http://schemas.openxmlformats.org/drawingml/2006/table">
            <a:tbl>
              <a:tblPr bandRow="1" firstRow="1">
                <a:tableStyleId>{2D5ABB26-0587-4C30-8999-92F81FD0307C}</a:tableStyleId>
              </a:tblPr>
              <a:tblGrid>
                <a:gridCol w="149860">
                  <a:extLst>
                    <a:ext uri="{9D8B030D-6E8A-4147-A177-3AD203B41FA5}">
                      <a16:colId xmlns:a16="http://schemas.microsoft.com/office/drawing/2014/main" val="20000"/>
                    </a:ext>
                  </a:extLst>
                </a:gridCol>
                <a:gridCol w="493395">
                  <a:extLst>
                    <a:ext uri="{9D8B030D-6E8A-4147-A177-3AD203B41FA5}">
                      <a16:colId xmlns:a16="http://schemas.microsoft.com/office/drawing/2014/main" val="20001"/>
                    </a:ext>
                  </a:extLst>
                </a:gridCol>
                <a:gridCol w="447040">
                  <a:extLst>
                    <a:ext uri="{9D8B030D-6E8A-4147-A177-3AD203B41FA5}">
                      <a16:colId xmlns:a16="http://schemas.microsoft.com/office/drawing/2014/main" val="20002"/>
                    </a:ext>
                  </a:extLst>
                </a:gridCol>
                <a:gridCol w="1118235">
                  <a:extLst>
                    <a:ext uri="{9D8B030D-6E8A-4147-A177-3AD203B41FA5}">
                      <a16:colId xmlns:a16="http://schemas.microsoft.com/office/drawing/2014/main" val="20003"/>
                    </a:ext>
                  </a:extLst>
                </a:gridCol>
                <a:gridCol w="888365">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24460">
                  <a:extLst>
                    <a:ext uri="{9D8B030D-6E8A-4147-A177-3AD203B41FA5}">
                      <a16:colId xmlns:a16="http://schemas.microsoft.com/office/drawing/2014/main" val="20006"/>
                    </a:ext>
                  </a:extLst>
                </a:gridCol>
                <a:gridCol w="494029">
                  <a:extLst>
                    <a:ext uri="{9D8B030D-6E8A-4147-A177-3AD203B41FA5}">
                      <a16:colId xmlns:a16="http://schemas.microsoft.com/office/drawing/2014/main" val="20007"/>
                    </a:ext>
                  </a:extLst>
                </a:gridCol>
                <a:gridCol w="182245">
                  <a:extLst>
                    <a:ext uri="{9D8B030D-6E8A-4147-A177-3AD203B41FA5}">
                      <a16:colId xmlns:a16="http://schemas.microsoft.com/office/drawing/2014/main" val="20008"/>
                    </a:ext>
                  </a:extLst>
                </a:gridCol>
              </a:tblGrid>
              <a:tr h="416052">
                <a:tc gridSpan="3">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R w="38100">
                      <a:solidFill>
                        <a:srgbClr val="226B87"/>
                      </a:solidFill>
                      <a:prstDash val="solid"/>
                    </a:lnR>
                    <a:lnT w="12700">
                      <a:solidFill>
                        <a:srgbClr val="6B9F24"/>
                      </a:solidFill>
                      <a:prstDash val="solid"/>
                    </a:lnT>
                    <a:lnB w="12700">
                      <a:solidFill>
                        <a:srgbClr val="6B9F24"/>
                      </a:solidFill>
                      <a:prstDash val="solid"/>
                    </a:lnB>
                  </a:tcPr>
                </a:tc>
                <a:tc>
                  <a:txBody>
                    <a:bodyPr numCol="1"/>
                    <a:lstStyle/>
                    <a:p>
                      <a:pPr marL="116839">
                        <a:lnSpc>
                          <a:spcPts val="2710"/>
                        </a:lnSpc>
                      </a:pPr>
                      <a:r>
                        <a:rPr dirty="0" spc="-50" sz="2500">
                          <a:latin typeface="Cambria Math"/>
                          <a:cs typeface="Cambria Math"/>
                        </a:rPr>
                        <a:t>C</a:t>
                      </a:r>
                      <a:endParaRPr sz="2500">
                        <a:latin typeface="Cambria Math"/>
                        <a:cs typeface="Cambria Math"/>
                      </a:endParaRPr>
                    </a:p>
                  </a:txBody>
                  <a:tcPr marB="0" marL="0" marR="0" marT="0">
                    <a:lnL w="38100">
                      <a:solidFill>
                        <a:srgbClr val="226B87"/>
                      </a:solidFill>
                      <a:prstDash val="solid"/>
                    </a:lnL>
                    <a:lnR w="38100">
                      <a:solidFill>
                        <a:srgbClr val="226B87"/>
                      </a:solidFill>
                      <a:prstDash val="solid"/>
                    </a:lnR>
                    <a:lnT w="12700">
                      <a:solidFill>
                        <a:srgbClr val="226B87"/>
                      </a:solidFill>
                      <a:prstDash val="solid"/>
                    </a:lnT>
                    <a:lnB w="12700">
                      <a:solidFill>
                        <a:srgbClr val="226B87"/>
                      </a:solidFill>
                      <a:prstDash val="solid"/>
                    </a:lnB>
                  </a:tcPr>
                </a:tc>
                <a:tc>
                  <a:txBody>
                    <a:bodyPr numCol="1"/>
                    <a:lstStyle/>
                    <a:p>
                      <a:pPr>
                        <a:lnSpc>
                          <a:spcPct val="100000"/>
                        </a:lnSpc>
                      </a:pPr>
                      <a:endParaRPr sz="2300">
                        <a:latin typeface="Times New Roman"/>
                        <a:cs typeface="Times New Roman"/>
                      </a:endParaRPr>
                    </a:p>
                  </a:txBody>
                  <a:tcPr marB="0" marL="0" marR="0" marT="0">
                    <a:lnL w="38100">
                      <a:solidFill>
                        <a:srgbClr val="226B87"/>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gridSpan="3">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1"/>
                  </a:ext>
                </a:extLst>
              </a:tr>
              <a:tr h="405893">
                <a:tc gridSpan="3">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2"/>
                  </a:ext>
                </a:extLst>
              </a:tr>
              <a:tr h="67311">
                <a:tc gridSpan="3">
                  <a:txBody>
                    <a:bodyPr numCol="1"/>
                    <a:lstStyle/>
                    <a:p>
                      <a:pPr>
                        <a:lnSpc>
                          <a:spcPct val="100000"/>
                        </a:lnSpc>
                      </a:pPr>
                      <a:endParaRPr sz="300">
                        <a:latin typeface="Times New Roman"/>
                        <a:cs typeface="Times New Roman"/>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tcPr>
                </a:tc>
                <a:tc hMerge="1">
                  <a:txBody>
                    <a:bodyPr numCol="1"/>
                    <a:lstStyle/>
                    <a:p>
                      <a:endParaRPr/>
                    </a:p>
                  </a:txBody>
                  <a:tcPr marB="0" marL="0" marR="0" marT="0"/>
                </a:tc>
                <a:tc hMerge="1">
                  <a:txBody>
                    <a:bodyPr numCol="1"/>
                    <a:lstStyle/>
                    <a:p>
                      <a:endParaRPr/>
                    </a:p>
                  </a:txBody>
                  <a:tcPr marB="0" marL="0" marR="0" marT="0"/>
                </a:tc>
                <a:tc rowSpan="2">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rowSpan="2">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rowSpan="2">
                  <a:txBody>
                    <a:bodyPr numCol="1"/>
                    <a:lstStyle/>
                    <a:p>
                      <a:endParaRPr/>
                    </a:p>
                  </a:txBody>
                  <a:tcPr marB="0" marL="0" marR="0" marT="0"/>
                </a:tc>
                <a:tc hMerge="1" rowSpan="2">
                  <a:txBody>
                    <a:bodyPr numCol="1"/>
                    <a:lstStyle/>
                    <a:p>
                      <a:endParaRPr/>
                    </a:p>
                  </a:txBody>
                  <a:tcPr marB="0" marL="0" marR="0" marT="0"/>
                </a:tc>
                <a:tc hMerge="1" rowSpan="2">
                  <a:txBody>
                    <a:bodyPr numCol="1"/>
                    <a:lstStyle/>
                    <a:p>
                      <a:endParaRPr/>
                    </a:p>
                  </a:txBody>
                  <a:tcPr marB="0" marL="0" marR="0" marT="0"/>
                </a:tc>
                <a:tc hMerge="1" rowSpan="2">
                  <a:txBody>
                    <a:bodyPr numCol="1"/>
                    <a:lstStyle/>
                    <a:p>
                      <a:endParaRPr/>
                    </a:p>
                  </a:txBody>
                  <a:tcPr marB="0" marL="0" marR="0" marT="0"/>
                </a:tc>
                <a:extLst>
                  <a:ext uri="{0D108BD9-81ED-4DB2-BD59-A6C34878D82A}">
                    <a16:rowId xmlns:a16="http://schemas.microsoft.com/office/drawing/2014/main" val="10003"/>
                  </a:ext>
                </a:extLst>
              </a:tr>
              <a:tr h="363981">
                <a:tc>
                  <a:txBody>
                    <a:bodyPr numCol="1"/>
                    <a:lstStyle/>
                    <a:p>
                      <a:pPr>
                        <a:lnSpc>
                          <a:spcPct val="100000"/>
                        </a:lnSpc>
                      </a:pPr>
                      <a:endParaRPr sz="1900">
                        <a:latin typeface="Times New Roman"/>
                        <a:cs typeface="Times New Roman"/>
                      </a:endParaRPr>
                    </a:p>
                  </a:txBody>
                  <a:tcPr marB="0" marL="0" marR="0" marT="0">
                    <a:lnL w="12700">
                      <a:solidFill>
                        <a:srgbClr val="6B9F24"/>
                      </a:solidFill>
                      <a:prstDash val="solid"/>
                    </a:lnL>
                    <a:lnR w="38100">
                      <a:solidFill>
                        <a:srgbClr val="226B87"/>
                      </a:solidFill>
                      <a:prstDash val="solid"/>
                    </a:lnR>
                    <a:lnB w="12700">
                      <a:solidFill>
                        <a:srgbClr val="6B9F24"/>
                      </a:solidFill>
                      <a:prstDash val="solid"/>
                    </a:lnB>
                  </a:tcPr>
                </a:tc>
                <a:tc>
                  <a:txBody>
                    <a:bodyPr numCol="1"/>
                    <a:lstStyle/>
                    <a:p>
                      <a:pPr marL="149860">
                        <a:lnSpc>
                          <a:spcPts val="2280"/>
                        </a:lnSpc>
                      </a:pPr>
                      <a:r>
                        <a:rPr dirty="0" spc="-50" sz="2400">
                          <a:latin typeface="Cambria Math"/>
                          <a:cs typeface="Cambria Math"/>
                        </a:rPr>
                        <a:t>∅</a:t>
                      </a:r>
                      <a:endParaRPr sz="2400">
                        <a:latin typeface="Cambria Math"/>
                        <a:cs typeface="Cambria Math"/>
                      </a:endParaRPr>
                    </a:p>
                  </a:txBody>
                  <a:tcPr marB="0" marL="0" marR="0" marT="0">
                    <a:lnL w="38100">
                      <a:solidFill>
                        <a:srgbClr val="226B87"/>
                      </a:solidFill>
                      <a:prstDash val="solid"/>
                    </a:lnL>
                    <a:lnR w="38100">
                      <a:solidFill>
                        <a:srgbClr val="226B87"/>
                      </a:solidFill>
                      <a:prstDash val="solid"/>
                    </a:lnR>
                    <a:lnT w="38100">
                      <a:solidFill>
                        <a:srgbClr val="226B87"/>
                      </a:solidFill>
                      <a:prstDash val="solid"/>
                    </a:lnT>
                    <a:lnB w="12700">
                      <a:solidFill>
                        <a:srgbClr val="226B87"/>
                      </a:solidFill>
                      <a:prstDash val="solid"/>
                    </a:lnB>
                  </a:tcPr>
                </a:tc>
                <a:tc>
                  <a:txBody>
                    <a:bodyPr numCol="1"/>
                    <a:lstStyle/>
                    <a:p>
                      <a:pPr>
                        <a:lnSpc>
                          <a:spcPct val="100000"/>
                        </a:lnSpc>
                      </a:pPr>
                      <a:endParaRPr sz="1900">
                        <a:latin typeface="Times New Roman"/>
                        <a:cs typeface="Times New Roman"/>
                      </a:endParaRPr>
                    </a:p>
                  </a:txBody>
                  <a:tcPr marB="0" marL="0" marR="0" marT="0">
                    <a:lnL w="38100">
                      <a:solidFill>
                        <a:srgbClr val="226B87"/>
                      </a:solidFill>
                      <a:prstDash val="solid"/>
                    </a:lnL>
                    <a:lnR w="12700">
                      <a:solidFill>
                        <a:srgbClr val="6B9F24"/>
                      </a:solidFill>
                      <a:prstDash val="solid"/>
                    </a:lnR>
                    <a:lnB w="12700">
                      <a:solidFill>
                        <a:srgbClr val="6B9F24"/>
                      </a:solidFill>
                      <a:prstDash val="solid"/>
                    </a:lnB>
                  </a:tcPr>
                </a:tc>
                <a:tc vMerge="1">
                  <a:txBody>
                    <a:bodyPr numCol="1"/>
                    <a:lstStyle/>
                    <a:p>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5" vMerge="1">
                  <a:txBody>
                    <a:bodyPr numCol="1"/>
                    <a:lstStyle/>
                    <a:p>
                      <a:endParaRPr/>
                    </a:p>
                  </a:txBody>
                  <a:tcPr marB="0" marL="0" marR="0" marT="0">
                    <a:lnL w="12700">
                      <a:solidFill>
                        <a:srgbClr val="6B9F24"/>
                      </a:solidFill>
                      <a:prstDash val="solid"/>
                    </a:lnL>
                  </a:tcPr>
                </a:tc>
                <a:tc hMerge="1" vMerge="1">
                  <a:txBody>
                    <a:bodyPr numCol="1"/>
                    <a:lstStyle/>
                    <a:p>
                      <a:endParaRPr/>
                    </a:p>
                  </a:txBody>
                  <a:tcPr marB="0" marL="0" marR="0" marT="0"/>
                </a:tc>
                <a:tc hMerge="1" vMerge="1">
                  <a:txBody>
                    <a:bodyPr numCol="1"/>
                    <a:lstStyle/>
                    <a:p>
                      <a:endParaRPr/>
                    </a:p>
                  </a:txBody>
                  <a:tcPr marB="0" marL="0" marR="0" marT="0"/>
                </a:tc>
                <a:tc hMerge="1" vMerge="1">
                  <a:txBody>
                    <a:bodyPr numCol="1"/>
                    <a:lstStyle/>
                    <a:p>
                      <a:endParaRPr/>
                    </a:p>
                  </a:txBody>
                  <a:tcPr marB="0" marL="0" marR="0" marT="0"/>
                </a:tc>
                <a:tc hMerge="1" vMerge="1">
                  <a:txBody>
                    <a:bodyPr numCol="1"/>
                    <a:lstStyle/>
                    <a:p>
                      <a:endParaRPr/>
                    </a:p>
                  </a:txBody>
                  <a:tcPr marB="0" marL="0" marR="0" marT="0"/>
                </a:tc>
                <a:extLst>
                  <a:ext uri="{0D108BD9-81ED-4DB2-BD59-A6C34878D82A}">
                    <a16:rowId xmlns:a16="http://schemas.microsoft.com/office/drawing/2014/main" val="10004"/>
                  </a:ext>
                </a:extLst>
              </a:tr>
              <a:tr h="452247">
                <a:tc gridSpan="3">
                  <a:txBody>
                    <a:bodyPr numCol="1"/>
                    <a:lstStyle/>
                    <a:p>
                      <a:pPr marL="278765">
                        <a:lnSpc>
                          <a:spcPts val="2925"/>
                        </a:lnSpc>
                        <a:spcBef>
                          <a:spcPts val="85"/>
                        </a:spcBef>
                      </a:pPr>
                      <a:r>
                        <a:rPr dirty="0" spc="-25" sz="2500">
                          <a:latin typeface="Cambria Math"/>
                          <a:cs typeface="Cambria Math"/>
                        </a:rPr>
                        <a:t>S,A</a:t>
                      </a:r>
                      <a:endParaRPr sz="2500">
                        <a:latin typeface="Cambria Math"/>
                        <a:cs typeface="Cambria Math"/>
                      </a:endParaRPr>
                    </a:p>
                  </a:txBody>
                  <a:tcPr marB="0" marL="0" marR="0" marT="10795">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hMerge="1">
                  <a:txBody>
                    <a:bodyPr numCol="1"/>
                    <a:lstStyle/>
                    <a:p>
                      <a:endParaRPr/>
                    </a:p>
                  </a:txBody>
                  <a:tcPr marB="0" marL="0" marR="0" marT="0"/>
                </a:tc>
                <a:tc hMerge="1">
                  <a:txBody>
                    <a:bodyPr numCol="1"/>
                    <a:lstStyle/>
                    <a:p>
                      <a:endParaRPr/>
                    </a:p>
                  </a:txBody>
                  <a:tcPr marB="0" marL="0" marR="0" marT="0"/>
                </a:tc>
                <a:tc gridSpan="6">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5"/>
                  </a:ext>
                </a:extLst>
              </a:tr>
            </a:tbl>
          </a:graphicData>
        </a:graphic>
      </p:graphicFrame>
      <p:sp>
        <p:nvSpPr>
          <p:cNvPr id="9" name="object 9"/>
          <p:cNvSpPr txBox="1"/>
          <p:nvPr/>
        </p:nvSpPr>
        <p:spPr>
          <a:xfrm>
            <a:off x="873481" y="3761240"/>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886383" y="696977"/>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1977898" y="3165019"/>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1622171" y="2898316"/>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4"/>
          <p:cNvSpPr txBox="1"/>
          <p:nvPr/>
        </p:nvSpPr>
        <p:spPr>
          <a:xfrm>
            <a:off x="4114800" y="609600"/>
            <a:ext cx="6217920" cy="751488"/>
          </a:xfrm>
          <a:prstGeom prst="rect">
            <a:avLst/>
          </a:prstGeom>
        </p:spPr>
        <p:txBody>
          <a:bodyPr bIns="0" lIns="0" numCol="1" rIns="0" rtlCol="0" tIns="12700" vert="horz" wrap="square">
            <a:spAutoFit/>
          </a:bodyPr>
          <a:lstStyle/>
          <a:p>
            <a:pPr marL="12700">
              <a:spcBef>
                <a:spcPts val="100"/>
              </a:spcBef>
            </a:pPr>
            <a:r>
              <a:rPr dirty="0" sz="2400">
                <a:latin typeface="Palatino Linotype"/>
                <a:cs typeface="Palatino Linotype"/>
              </a:rPr>
              <a:t>And</a:t>
            </a:r>
            <a:r>
              <a:rPr dirty="0" spc="-51" sz="2400">
                <a:latin typeface="Palatino Linotype"/>
                <a:cs typeface="Palatino Linotype"/>
              </a:rPr>
              <a:t> </a:t>
            </a:r>
            <a:r>
              <a:rPr dirty="0" sz="2400">
                <a:latin typeface="Palatino Linotype"/>
                <a:cs typeface="Palatino Linotype"/>
              </a:rPr>
              <a:t>finally,</a:t>
            </a:r>
            <a:r>
              <a:rPr dirty="0" spc="-25" sz="2400">
                <a:latin typeface="Palatino Linotype"/>
                <a:cs typeface="Palatino Linotype"/>
              </a:rPr>
              <a:t> </a:t>
            </a:r>
            <a:r>
              <a:rPr dirty="0" sz="2400">
                <a:latin typeface="Palatino Linotype"/>
                <a:cs typeface="Palatino Linotype"/>
              </a:rPr>
              <a:t>we</a:t>
            </a:r>
            <a:r>
              <a:rPr dirty="0" spc="-51" sz="2400">
                <a:latin typeface="Palatino Linotype"/>
                <a:cs typeface="Palatino Linotype"/>
              </a:rPr>
              <a:t> </a:t>
            </a:r>
            <a:r>
              <a:rPr dirty="0" sz="2400">
                <a:latin typeface="Palatino Linotype"/>
                <a:cs typeface="Palatino Linotype"/>
              </a:rPr>
              <a:t>have</a:t>
            </a:r>
            <a:r>
              <a:rPr dirty="0" spc="-35" sz="2400">
                <a:latin typeface="Palatino Linotype"/>
                <a:cs typeface="Palatino Linotype"/>
              </a:rPr>
              <a:t> </a:t>
            </a:r>
            <a:r>
              <a:rPr dirty="0" sz="2400">
                <a:latin typeface="Palatino Linotype"/>
                <a:cs typeface="Palatino Linotype"/>
              </a:rPr>
              <a:t>a</a:t>
            </a:r>
            <a:r>
              <a:rPr dirty="0" spc="-40" sz="2400">
                <a:latin typeface="Palatino Linotype"/>
                <a:cs typeface="Palatino Linotype"/>
              </a:rPr>
              <a:t> </a:t>
            </a:r>
            <a:r>
              <a:rPr dirty="0" sz="2400">
                <a:latin typeface="Palatino Linotype"/>
                <a:cs typeface="Palatino Linotype"/>
              </a:rPr>
              <a:t>combination</a:t>
            </a:r>
            <a:r>
              <a:rPr dirty="0" spc="-25" sz="2400">
                <a:latin typeface="Palatino Linotype"/>
                <a:cs typeface="Palatino Linotype"/>
              </a:rPr>
              <a:t> </a:t>
            </a:r>
            <a:r>
              <a:rPr dirty="0" spc="-11" sz="2400">
                <a:latin typeface="Palatino Linotype"/>
                <a:cs typeface="Palatino Linotype"/>
              </a:rPr>
              <a:t>involving</a:t>
            </a:r>
            <a:endParaRPr sz="2400">
              <a:latin typeface="Palatino Linotype"/>
              <a:cs typeface="Palatino Linotype"/>
            </a:endParaRPr>
          </a:p>
          <a:p>
            <a:pPr marL="12700">
              <a:spcBef>
                <a:spcPts val="5"/>
              </a:spcBef>
            </a:pPr>
            <a:r>
              <a:rPr dirty="0" sz="2400">
                <a:latin typeface="Palatino Linotype"/>
                <a:cs typeface="Palatino Linotype"/>
              </a:rPr>
              <a:t>an</a:t>
            </a:r>
            <a:r>
              <a:rPr dirty="0" spc="-55" sz="2400">
                <a:latin typeface="Palatino Linotype"/>
                <a:cs typeface="Palatino Linotype"/>
              </a:rPr>
              <a:t> </a:t>
            </a:r>
            <a:r>
              <a:rPr dirty="0" sz="2400">
                <a:latin typeface="Palatino Linotype"/>
                <a:cs typeface="Palatino Linotype"/>
              </a:rPr>
              <a:t>empty</a:t>
            </a:r>
            <a:r>
              <a:rPr dirty="0" spc="-55" sz="2400">
                <a:latin typeface="Palatino Linotype"/>
                <a:cs typeface="Palatino Linotype"/>
              </a:rPr>
              <a:t> </a:t>
            </a:r>
            <a:r>
              <a:rPr dirty="0" spc="-11" sz="2400">
                <a:latin typeface="Palatino Linotype"/>
                <a:cs typeface="Palatino Linotype"/>
              </a:rPr>
              <a:t>cell—</a:t>
            </a:r>
            <a:r>
              <a:rPr dirty="0" sz="2400">
                <a:latin typeface="Palatino Linotype"/>
                <a:cs typeface="Palatino Linotype"/>
              </a:rPr>
              <a:t>no</a:t>
            </a:r>
            <a:r>
              <a:rPr dirty="0" spc="-45" sz="2400">
                <a:latin typeface="Palatino Linotype"/>
                <a:cs typeface="Palatino Linotype"/>
              </a:rPr>
              <a:t> </a:t>
            </a:r>
            <a:r>
              <a:rPr dirty="0" sz="2400">
                <a:latin typeface="Palatino Linotype"/>
                <a:cs typeface="Palatino Linotype"/>
              </a:rPr>
              <a:t>productions</a:t>
            </a:r>
            <a:r>
              <a:rPr dirty="0" spc="-40" sz="2400">
                <a:latin typeface="Palatino Linotype"/>
                <a:cs typeface="Palatino Linotype"/>
              </a:rPr>
              <a:t> </a:t>
            </a:r>
            <a:r>
              <a:rPr dirty="0" sz="2400">
                <a:latin typeface="Palatino Linotype"/>
                <a:cs typeface="Palatino Linotype"/>
              </a:rPr>
              <a:t>from</a:t>
            </a:r>
            <a:r>
              <a:rPr dirty="0" spc="-45" sz="2400">
                <a:latin typeface="Palatino Linotype"/>
                <a:cs typeface="Palatino Linotype"/>
              </a:rPr>
              <a:t> </a:t>
            </a:r>
            <a:r>
              <a:rPr dirty="0" spc="-11" sz="2400">
                <a:latin typeface="Palatino Linotype"/>
                <a:cs typeface="Palatino Linotype"/>
              </a:rPr>
              <a:t>this.</a:t>
            </a:r>
            <a:endParaRPr sz="2400">
              <a:latin typeface="Palatino Linotype"/>
              <a:cs typeface="Palatino Linotype"/>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37791" y="3509569"/>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14" name="object 14"/>
          <p:cNvSpPr txBox="1">
            <a:spLocks noGrp="1"/>
          </p:cNvSpPr>
          <p:nvPr>
            <p:ph idx="2147483647"/>
          </p:nvPr>
        </p:nvSpPr>
        <p:spPr>
          <a:xfrm>
            <a:off x="4305300" y="838200"/>
            <a:ext cx="7886700" cy="1304925"/>
          </a:xfrm>
          <a:prstGeom prst="rect">
            <a:avLst/>
          </a:prstGeom>
        </p:spPr>
        <p:txBody>
          <a:bodyPr bIns="0" lIns="0" numCol="1" rIns="0" rtlCol="0" tIns="12700" vert="horz" wrap="square">
            <a:spAutoFit/>
          </a:bodyPr>
          <a:lstStyle/>
          <a:p>
            <a:pPr marL="12700" marR="5080">
              <a:lnSpc>
                <a:spcPct val="100000"/>
              </a:lnSpc>
              <a:spcBef>
                <a:spcPts val="100"/>
              </a:spcBef>
            </a:pPr>
            <a:r>
              <a:rPr dirty="0"/>
              <a:t>So</a:t>
            </a:r>
            <a:r>
              <a:rPr dirty="0" spc="-31"/>
              <a:t> </a:t>
            </a:r>
            <a:r>
              <a:rPr dirty="0"/>
              <a:t>now</a:t>
            </a:r>
            <a:r>
              <a:rPr dirty="0" spc="-31"/>
              <a:t> </a:t>
            </a:r>
            <a:r>
              <a:rPr dirty="0"/>
              <a:t>we’re</a:t>
            </a:r>
            <a:r>
              <a:rPr dirty="0" spc="-40"/>
              <a:t> </a:t>
            </a:r>
            <a:r>
              <a:rPr dirty="0"/>
              <a:t>finished</a:t>
            </a:r>
            <a:r>
              <a:rPr dirty="0" spc="-31"/>
              <a:t> </a:t>
            </a:r>
            <a:r>
              <a:rPr dirty="0"/>
              <a:t>filling</a:t>
            </a:r>
            <a:r>
              <a:rPr dirty="0" spc="-15"/>
              <a:t> </a:t>
            </a:r>
            <a:r>
              <a:rPr dirty="0"/>
              <a:t>out</a:t>
            </a:r>
            <a:r>
              <a:rPr dirty="0" spc="-25"/>
              <a:t> </a:t>
            </a:r>
            <a:r>
              <a:rPr dirty="0"/>
              <a:t>the</a:t>
            </a:r>
            <a:r>
              <a:rPr dirty="0" spc="-20"/>
              <a:t> </a:t>
            </a:r>
            <a:r>
              <a:rPr dirty="0"/>
              <a:t>table.</a:t>
            </a:r>
            <a:r>
              <a:rPr dirty="0" spc="-31"/>
              <a:t> </a:t>
            </a:r>
            <a:r>
              <a:rPr dirty="0" spc="-25"/>
              <a:t>To </a:t>
            </a:r>
            <a:r>
              <a:rPr dirty="0"/>
              <a:t>know</a:t>
            </a:r>
            <a:r>
              <a:rPr dirty="0" spc="-51"/>
              <a:t> </a:t>
            </a:r>
            <a:r>
              <a:rPr dirty="0"/>
              <a:t>if</a:t>
            </a:r>
            <a:r>
              <a:rPr dirty="0" spc="-51"/>
              <a:t> </a:t>
            </a:r>
            <a:r>
              <a:rPr dirty="0"/>
              <a:t>the</a:t>
            </a:r>
            <a:r>
              <a:rPr dirty="0" spc="-45"/>
              <a:t> </a:t>
            </a:r>
            <a:r>
              <a:rPr dirty="0"/>
              <a:t>string</a:t>
            </a:r>
            <a:r>
              <a:rPr dirty="0" spc="-35"/>
              <a:t> </a:t>
            </a:r>
            <a:r>
              <a:rPr dirty="0"/>
              <a:t>is</a:t>
            </a:r>
            <a:r>
              <a:rPr dirty="0" spc="-51"/>
              <a:t> </a:t>
            </a:r>
            <a:r>
              <a:rPr dirty="0"/>
              <a:t>in</a:t>
            </a:r>
            <a:r>
              <a:rPr dirty="0" spc="-55"/>
              <a:t> </a:t>
            </a:r>
            <a:r>
              <a:rPr dirty="0"/>
              <a:t>the</a:t>
            </a:r>
            <a:r>
              <a:rPr dirty="0" spc="-40"/>
              <a:t> </a:t>
            </a:r>
            <a:r>
              <a:rPr dirty="0"/>
              <a:t>language</a:t>
            </a:r>
            <a:r>
              <a:rPr dirty="0" spc="-40"/>
              <a:t> </a:t>
            </a:r>
            <a:r>
              <a:rPr dirty="0" spc="-11"/>
              <a:t>produced </a:t>
            </a:r>
            <a:r>
              <a:rPr dirty="0"/>
              <a:t>by</a:t>
            </a:r>
            <a:r>
              <a:rPr dirty="0" spc="-31"/>
              <a:t> </a:t>
            </a:r>
            <a:r>
              <a:rPr dirty="0"/>
              <a:t>the</a:t>
            </a:r>
            <a:r>
              <a:rPr dirty="0" spc="-20"/>
              <a:t> </a:t>
            </a:r>
            <a:r>
              <a:rPr dirty="0"/>
              <a:t>CFG,</a:t>
            </a:r>
            <a:r>
              <a:rPr dirty="0" spc="-25"/>
              <a:t> </a:t>
            </a:r>
            <a:r>
              <a:rPr dirty="0"/>
              <a:t>we</a:t>
            </a:r>
            <a:r>
              <a:rPr dirty="0" spc="-25"/>
              <a:t> </a:t>
            </a:r>
            <a:r>
              <a:rPr dirty="0"/>
              <a:t>only</a:t>
            </a:r>
            <a:r>
              <a:rPr dirty="0" spc="-15"/>
              <a:t> </a:t>
            </a:r>
            <a:r>
              <a:rPr dirty="0"/>
              <a:t>need</a:t>
            </a:r>
            <a:r>
              <a:rPr dirty="0" spc="-25"/>
              <a:t> </a:t>
            </a:r>
            <a:r>
              <a:rPr dirty="0"/>
              <a:t>to</a:t>
            </a:r>
            <a:r>
              <a:rPr dirty="0" spc="-20"/>
              <a:t> </a:t>
            </a:r>
            <a:r>
              <a:rPr dirty="0"/>
              <a:t>see</a:t>
            </a:r>
            <a:r>
              <a:rPr dirty="0" spc="-35"/>
              <a:t> </a:t>
            </a:r>
            <a:r>
              <a:rPr dirty="0"/>
              <a:t>if</a:t>
            </a:r>
            <a:r>
              <a:rPr dirty="0" spc="-25"/>
              <a:t> </a:t>
            </a:r>
            <a:r>
              <a:rPr dirty="0"/>
              <a:t>the</a:t>
            </a:r>
            <a:r>
              <a:rPr dirty="0" spc="-20"/>
              <a:t> </a:t>
            </a:r>
            <a:r>
              <a:rPr dirty="0" spc="-11"/>
              <a:t>start </a:t>
            </a:r>
            <a:r>
              <a:rPr dirty="0"/>
              <a:t>symbol</a:t>
            </a:r>
            <a:r>
              <a:rPr dirty="0" spc="-45"/>
              <a:t> </a:t>
            </a:r>
            <a:r>
              <a:rPr dirty="0"/>
              <a:t>is</a:t>
            </a:r>
            <a:r>
              <a:rPr dirty="0" spc="-45"/>
              <a:t> </a:t>
            </a:r>
            <a:r>
              <a:rPr dirty="0"/>
              <a:t>in</a:t>
            </a:r>
            <a:r>
              <a:rPr dirty="0" spc="-45"/>
              <a:t> </a:t>
            </a:r>
            <a:r>
              <a:rPr dirty="0"/>
              <a:t>the</a:t>
            </a:r>
            <a:r>
              <a:rPr dirty="0" spc="-35"/>
              <a:t> </a:t>
            </a:r>
            <a:r>
              <a:rPr dirty="0"/>
              <a:t>last</a:t>
            </a:r>
            <a:r>
              <a:rPr dirty="0" spc="-51"/>
              <a:t> </a:t>
            </a:r>
            <a:r>
              <a:rPr dirty="0" spc="-20"/>
              <a:t>cell.</a:t>
            </a:r>
          </a:p>
        </p:txBody>
      </p:sp>
      <p:sp>
        <p:nvSpPr>
          <p:cNvPr id="3" name="object 3"/>
          <p:cNvSpPr txBox="1"/>
          <p:nvPr/>
        </p:nvSpPr>
        <p:spPr>
          <a:xfrm>
            <a:off x="2760979" y="3509569"/>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3771646" y="2878781"/>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4914647" y="2878781"/>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5881242" y="2878781"/>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770229" y="3764076"/>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391413" y="3918254"/>
          <a:ext cx="5002530" cy="2108836"/>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431292">
                <a:tc>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452247">
                <a:tc>
                  <a:txBody>
                    <a:bodyPr numCol="1"/>
                    <a:lstStyle/>
                    <a:p>
                      <a:pPr marL="278765">
                        <a:lnSpc>
                          <a:spcPts val="2925"/>
                        </a:lnSpc>
                        <a:spcBef>
                          <a:spcPts val="85"/>
                        </a:spcBef>
                      </a:pPr>
                      <a:r>
                        <a:rPr dirty="0" spc="-25" sz="2500">
                          <a:latin typeface="Cambria Math"/>
                          <a:cs typeface="Cambria Math"/>
                        </a:rPr>
                        <a:t>S,A</a:t>
                      </a:r>
                      <a:endParaRPr sz="2500">
                        <a:latin typeface="Cambria Math"/>
                        <a:cs typeface="Cambria Math"/>
                      </a:endParaRPr>
                    </a:p>
                  </a:txBody>
                  <a:tcPr marB="0" marL="0" marR="0" marT="10795">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736702" y="3889763"/>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749604" y="825500"/>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1841119" y="3293542"/>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1485392" y="3026839"/>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98369" y="34572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1</a:t>
            </a:r>
            <a:endParaRPr sz="2400">
              <a:latin typeface="Cambria Math"/>
              <a:cs typeface="Cambria Math"/>
            </a:endParaRPr>
          </a:p>
        </p:txBody>
      </p:sp>
      <p:sp>
        <p:nvSpPr>
          <p:cNvPr id="3" name="object 3"/>
          <p:cNvSpPr txBox="1"/>
          <p:nvPr/>
        </p:nvSpPr>
        <p:spPr>
          <a:xfrm>
            <a:off x="2821557" y="3457245"/>
            <a:ext cx="194311" cy="382156"/>
          </a:xfrm>
          <a:prstGeom prst="rect">
            <a:avLst/>
          </a:prstGeom>
        </p:spPr>
        <p:txBody>
          <a:bodyPr bIns="0" lIns="0" numCol="1" rIns="0" rtlCol="0" tIns="12700" vert="horz" wrap="square">
            <a:spAutoFit/>
          </a:bodyPr>
          <a:lstStyle/>
          <a:p>
            <a:pPr marL="12700">
              <a:spcBef>
                <a:spcPts val="100"/>
              </a:spcBef>
            </a:pPr>
            <a:r>
              <a:rPr dirty="0" spc="-51" sz="2400">
                <a:latin typeface="Cambria Math"/>
                <a:cs typeface="Cambria Math"/>
              </a:rPr>
              <a:t>2</a:t>
            </a:r>
            <a:endParaRPr sz="2400">
              <a:latin typeface="Cambria Math"/>
              <a:cs typeface="Cambria Math"/>
            </a:endParaRPr>
          </a:p>
        </p:txBody>
      </p:sp>
      <p:sp>
        <p:nvSpPr>
          <p:cNvPr id="4" name="object 4"/>
          <p:cNvSpPr txBox="1"/>
          <p:nvPr/>
        </p:nvSpPr>
        <p:spPr>
          <a:xfrm>
            <a:off x="3832224" y="2826457"/>
            <a:ext cx="261620"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a</a:t>
            </a:r>
            <a:endParaRPr sz="2000">
              <a:latin typeface="Palatino Linotype"/>
              <a:cs typeface="Palatino Linotype"/>
            </a:endParaRPr>
          </a:p>
          <a:p>
            <a:pPr marL="79373">
              <a:spcBef>
                <a:spcPts val="1395"/>
              </a:spcBef>
            </a:pPr>
            <a:r>
              <a:rPr dirty="0" spc="-51" sz="2400">
                <a:latin typeface="Cambria Math"/>
                <a:cs typeface="Cambria Math"/>
              </a:rPr>
              <a:t>3</a:t>
            </a:r>
            <a:endParaRPr sz="2400">
              <a:latin typeface="Cambria Math"/>
              <a:cs typeface="Cambria Math"/>
            </a:endParaRPr>
          </a:p>
        </p:txBody>
      </p:sp>
      <p:sp>
        <p:nvSpPr>
          <p:cNvPr id="5" name="object 5"/>
          <p:cNvSpPr txBox="1"/>
          <p:nvPr/>
        </p:nvSpPr>
        <p:spPr>
          <a:xfrm>
            <a:off x="4975225" y="2826457"/>
            <a:ext cx="230504" cy="1019511"/>
          </a:xfrm>
          <a:prstGeom prst="rect">
            <a:avLst/>
          </a:prstGeom>
        </p:spPr>
        <p:txBody>
          <a:bodyPr bIns="0" lIns="0" numCol="1" rIns="0" rtlCol="0" tIns="161291" vert="horz" wrap="square">
            <a:spAutoFit/>
          </a:bodyPr>
          <a:lstStyle/>
          <a:p>
            <a:pPr marL="76198">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12700">
              <a:spcBef>
                <a:spcPts val="1395"/>
              </a:spcBef>
            </a:pPr>
            <a:r>
              <a:rPr dirty="0" spc="-51" sz="2400">
                <a:latin typeface="Cambria Math"/>
                <a:cs typeface="Cambria Math"/>
              </a:rPr>
              <a:t>4</a:t>
            </a:r>
            <a:endParaRPr sz="2400">
              <a:latin typeface="Cambria Math"/>
              <a:cs typeface="Cambria Math"/>
            </a:endParaRPr>
          </a:p>
        </p:txBody>
      </p:sp>
      <p:sp>
        <p:nvSpPr>
          <p:cNvPr id="6" name="object 6"/>
          <p:cNvSpPr txBox="1"/>
          <p:nvPr/>
        </p:nvSpPr>
        <p:spPr>
          <a:xfrm>
            <a:off x="5941820" y="2826457"/>
            <a:ext cx="209551" cy="1019511"/>
          </a:xfrm>
          <a:prstGeom prst="rect">
            <a:avLst/>
          </a:prstGeom>
        </p:spPr>
        <p:txBody>
          <a:bodyPr bIns="0" lIns="0" numCol="1" rIns="0" rtlCol="0" tIns="161291" vert="horz" wrap="square">
            <a:spAutoFit/>
          </a:bodyPr>
          <a:lstStyle/>
          <a:p>
            <a:pPr marL="12700">
              <a:spcBef>
                <a:spcPts val="1271"/>
              </a:spcBef>
            </a:pPr>
            <a:r>
              <a:rPr dirty="0" spc="-51" sz="2000">
                <a:solidFill>
                  <a:srgbClr val="CC0000"/>
                </a:solidFill>
                <a:latin typeface="Palatino Linotype"/>
                <a:cs typeface="Palatino Linotype"/>
              </a:rPr>
              <a:t>b</a:t>
            </a:r>
            <a:endParaRPr sz="2000">
              <a:latin typeface="Palatino Linotype"/>
              <a:cs typeface="Palatino Linotype"/>
            </a:endParaRPr>
          </a:p>
          <a:p>
            <a:pPr marL="27939">
              <a:spcBef>
                <a:spcPts val="1395"/>
              </a:spcBef>
            </a:pPr>
            <a:r>
              <a:rPr dirty="0" spc="-51" sz="2400">
                <a:latin typeface="Cambria Math"/>
                <a:cs typeface="Cambria Math"/>
              </a:rPr>
              <a:t>5</a:t>
            </a:r>
            <a:endParaRPr sz="2400">
              <a:latin typeface="Cambria Math"/>
              <a:cs typeface="Cambria Math"/>
            </a:endParaRPr>
          </a:p>
        </p:txBody>
      </p:sp>
      <p:sp>
        <p:nvSpPr>
          <p:cNvPr id="7" name="object 7"/>
          <p:cNvSpPr txBox="1"/>
          <p:nvPr/>
        </p:nvSpPr>
        <p:spPr>
          <a:xfrm>
            <a:off x="830807" y="3711752"/>
            <a:ext cx="478155" cy="382156"/>
          </a:xfrm>
          <a:prstGeom prst="rect">
            <a:avLst/>
          </a:prstGeom>
        </p:spPr>
        <p:txBody>
          <a:bodyPr bIns="0" lIns="0" numCol="1" rIns="0" rtlCol="0" tIns="12700" vert="horz" wrap="square">
            <a:spAutoFit/>
          </a:bodyPr>
          <a:lstStyle/>
          <a:p>
            <a:pPr marL="38099">
              <a:spcBef>
                <a:spcPts val="100"/>
              </a:spcBef>
              <a:tabLst>
                <a:tab algn="l" pos="270504"/>
              </a:tabLst>
            </a:pPr>
            <a:r>
              <a:rPr b="1" dirty="0" spc="65" sz="2000">
                <a:latin typeface="Arial"/>
                <a:cs typeface="Arial"/>
              </a:rPr>
              <a:t>j</a:t>
            </a:r>
            <a:r>
              <a:rPr b="1" dirty="0" sz="2000">
                <a:latin typeface="Arial"/>
                <a:cs typeface="Arial"/>
              </a:rPr>
              <a:t>	</a:t>
            </a:r>
            <a:r>
              <a:rPr baseline="-21990" dirty="0" spc="-89" sz="3600">
                <a:latin typeface="Cambria Math"/>
                <a:cs typeface="Cambria Math"/>
              </a:rPr>
              <a:t>1</a:t>
            </a:r>
            <a:endParaRPr baseline="-21990" sz="3600">
              <a:latin typeface="Cambria Math"/>
              <a:cs typeface="Cambria Math"/>
            </a:endParaRPr>
          </a:p>
        </p:txBody>
      </p:sp>
      <p:graphicFrame>
        <p:nvGraphicFramePr>
          <p:cNvPr id="8" name="object 8"/>
          <p:cNvGraphicFramePr>
            <a:graphicFrameLocks noGrp="1"/>
          </p:cNvGraphicFramePr>
          <p:nvPr/>
        </p:nvGraphicFramePr>
        <p:xfrm>
          <a:off x="1451991" y="3865930"/>
          <a:ext cx="5002530" cy="2108836"/>
        </p:xfrm>
        <a:graphic>
          <a:graphicData uri="http://schemas.openxmlformats.org/drawingml/2006/table">
            <a:tbl>
              <a:tblPr bandRow="1" firstRow="1">
                <a:tableStyleId>{2D5ABB26-0587-4C30-8999-92F81FD0307C}</a:tableStyleId>
              </a:tblPr>
              <a:tblGrid>
                <a:gridCol w="1090931">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888364">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tblGrid>
              <a:tr h="416052">
                <a:tc>
                  <a:txBody>
                    <a:bodyPr numCol="1"/>
                    <a:lstStyle/>
                    <a:p>
                      <a:pPr marL="29972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7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4650">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40665">
                        <a:lnSpc>
                          <a:spcPts val="2710"/>
                        </a:lnSpc>
                      </a:pPr>
                      <a:r>
                        <a:rPr dirty="0" spc="-50" sz="2500">
                          <a:latin typeface="Cambria Math"/>
                          <a:cs typeface="Cambria Math"/>
                        </a:rPr>
                        <a:t>C</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extLst>
                  <a:ext uri="{0D108BD9-81ED-4DB2-BD59-A6C34878D82A}">
                    <a16:rowId xmlns:a16="http://schemas.microsoft.com/office/drawing/2014/main" val="10000"/>
                  </a:ext>
                </a:extLst>
              </a:tr>
              <a:tr h="403352">
                <a:tc>
                  <a:txBody>
                    <a:bodyPr numCol="1"/>
                    <a:lstStyle/>
                    <a:p>
                      <a:pPr marL="299720">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337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73050">
                        <a:lnSpc>
                          <a:spcPts val="2610"/>
                        </a:lnSpc>
                      </a:pPr>
                      <a:r>
                        <a:rPr dirty="0" spc="-50" sz="2400">
                          <a:latin typeface="Cambria Math"/>
                          <a:cs typeface="Cambria Math"/>
                        </a:rPr>
                        <a:t>∅</a:t>
                      </a:r>
                      <a:endParaRPr sz="24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76555">
                        <a:lnSpc>
                          <a:spcPts val="2610"/>
                        </a:lnSpc>
                      </a:pPr>
                      <a:r>
                        <a:rPr dirty="0" spc="-50" sz="2500">
                          <a:latin typeface="Cambria Math"/>
                          <a:cs typeface="Cambria Math"/>
                        </a:rPr>
                        <a:t>B</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w="12700">
                      <a:solidFill>
                        <a:srgbClr val="6B9F24"/>
                      </a:solidFill>
                      <a:prstDash val="solid"/>
                    </a:lnT>
                  </a:tcPr>
                </a:tc>
                <a:extLst>
                  <a:ext uri="{0D108BD9-81ED-4DB2-BD59-A6C34878D82A}">
                    <a16:rowId xmlns:a16="http://schemas.microsoft.com/office/drawing/2014/main" val="10001"/>
                  </a:ext>
                </a:extLst>
              </a:tr>
              <a:tr h="405893">
                <a:tc>
                  <a:txBody>
                    <a:bodyPr numCol="1"/>
                    <a:lstStyle/>
                    <a:p>
                      <a:pPr marL="278765">
                        <a:lnSpc>
                          <a:spcPts val="2610"/>
                        </a:lnSpc>
                      </a:pPr>
                      <a:r>
                        <a:rPr dirty="0" spc="-50" sz="2500">
                          <a:latin typeface="Cambria Math"/>
                          <a:cs typeface="Cambria Math"/>
                        </a:rPr>
                        <a:t>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10515">
                        <a:lnSpc>
                          <a:spcPts val="2560"/>
                        </a:lnSpc>
                        <a:spcBef>
                          <a:spcPts val="50"/>
                        </a:spcBef>
                      </a:pPr>
                      <a:r>
                        <a:rPr dirty="0" spc="-50" sz="2400">
                          <a:latin typeface="Cambria Math"/>
                          <a:cs typeface="Cambria Math"/>
                        </a:rPr>
                        <a:t>∅</a:t>
                      </a:r>
                      <a:endParaRPr sz="2400">
                        <a:latin typeface="Cambria Math"/>
                        <a:cs typeface="Cambria Math"/>
                      </a:endParaRPr>
                    </a:p>
                  </a:txBody>
                  <a:tcPr marB="0" marL="0" marR="0" marT="6351">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251460">
                        <a:lnSpc>
                          <a:spcPts val="2610"/>
                        </a:lnSpc>
                      </a:pPr>
                      <a:r>
                        <a:rPr dirty="0" spc="-25" sz="2500">
                          <a:latin typeface="Cambria Math"/>
                          <a:cs typeface="Cambria Math"/>
                        </a:rPr>
                        <a:t>S,A</a:t>
                      </a:r>
                      <a:endParaRPr sz="2500">
                        <a:latin typeface="Cambria Math"/>
                        <a:cs typeface="Cambria Math"/>
                      </a:endParaRPr>
                    </a:p>
                  </a:txBody>
                  <a:tcPr marB="0" marL="0" marR="0" marT="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2">
                  <a:txBody>
                    <a:bodyPr numCol="1"/>
                    <a:lstStyle/>
                    <a:p>
                      <a:pPr>
                        <a:lnSpc>
                          <a:spcPct val="100000"/>
                        </a:lnSpc>
                      </a:pPr>
                      <a:endParaRPr sz="21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extLst>
                  <a:ext uri="{0D108BD9-81ED-4DB2-BD59-A6C34878D82A}">
                    <a16:rowId xmlns:a16="http://schemas.microsoft.com/office/drawing/2014/main" val="10002"/>
                  </a:ext>
                </a:extLst>
              </a:tr>
              <a:tr h="431292">
                <a:tc>
                  <a:txBody>
                    <a:bodyPr numCol="1"/>
                    <a:lstStyle/>
                    <a:p>
                      <a:pPr marL="299720">
                        <a:lnSpc>
                          <a:spcPts val="2595"/>
                        </a:lnSpc>
                        <a:spcBef>
                          <a:spcPts val="220"/>
                        </a:spcBef>
                      </a:pPr>
                      <a:r>
                        <a:rPr dirty="0" spc="-50" sz="2400">
                          <a:latin typeface="Cambria Math"/>
                          <a:cs typeface="Cambria Math"/>
                        </a:rPr>
                        <a:t>∅</a:t>
                      </a:r>
                      <a:endParaRPr sz="2400">
                        <a:latin typeface="Cambria Math"/>
                        <a:cs typeface="Cambria Math"/>
                      </a:endParaRPr>
                    </a:p>
                  </a:txBody>
                  <a:tcPr marB="0" marL="0" marR="0" marT="279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a:txBody>
                    <a:bodyPr numCol="1"/>
                    <a:lstStyle/>
                    <a:p>
                      <a:pPr marL="335280">
                        <a:lnSpc>
                          <a:spcPts val="2695"/>
                        </a:lnSpc>
                        <a:spcBef>
                          <a:spcPts val="120"/>
                        </a:spcBef>
                      </a:pPr>
                      <a:r>
                        <a:rPr dirty="0" spc="-25" sz="2500">
                          <a:latin typeface="Cambria Math"/>
                          <a:cs typeface="Cambria Math"/>
                        </a:rPr>
                        <a:t>S,A</a:t>
                      </a:r>
                      <a:endParaRPr sz="2500">
                        <a:latin typeface="Cambria Math"/>
                        <a:cs typeface="Cambria Math"/>
                      </a:endParaRPr>
                    </a:p>
                  </a:txBody>
                  <a:tcPr marB="0" marL="0" marR="0" marT="15240">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3">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3"/>
                  </a:ext>
                </a:extLst>
              </a:tr>
              <a:tr h="452247">
                <a:tc>
                  <a:txBody>
                    <a:bodyPr numCol="1"/>
                    <a:lstStyle/>
                    <a:p>
                      <a:pPr marL="278765">
                        <a:lnSpc>
                          <a:spcPts val="2925"/>
                        </a:lnSpc>
                        <a:spcBef>
                          <a:spcPts val="85"/>
                        </a:spcBef>
                      </a:pPr>
                      <a:r>
                        <a:rPr dirty="0" spc="-25" sz="2500">
                          <a:latin typeface="Cambria Math"/>
                          <a:cs typeface="Cambria Math"/>
                        </a:rPr>
                        <a:t>S,A</a:t>
                      </a:r>
                      <a:endParaRPr sz="2500">
                        <a:latin typeface="Cambria Math"/>
                        <a:cs typeface="Cambria Math"/>
                      </a:endParaRPr>
                    </a:p>
                  </a:txBody>
                  <a:tcPr marB="0" marL="0" marR="0" marT="10795">
                    <a:lnL w="12700">
                      <a:solidFill>
                        <a:srgbClr val="6B9F24"/>
                      </a:solidFill>
                      <a:prstDash val="solid"/>
                    </a:lnL>
                    <a:lnR w="12700">
                      <a:solidFill>
                        <a:srgbClr val="6B9F24"/>
                      </a:solidFill>
                      <a:prstDash val="solid"/>
                    </a:lnR>
                    <a:lnT w="12700">
                      <a:solidFill>
                        <a:srgbClr val="6B9F24"/>
                      </a:solidFill>
                      <a:prstDash val="solid"/>
                    </a:lnT>
                    <a:lnB w="12700">
                      <a:solidFill>
                        <a:srgbClr val="6B9F24"/>
                      </a:solidFill>
                      <a:prstDash val="solid"/>
                    </a:lnB>
                  </a:tcPr>
                </a:tc>
                <a:tc gridSpan="4">
                  <a:txBody>
                    <a:bodyPr numCol="1"/>
                    <a:lstStyle/>
                    <a:p>
                      <a:pPr>
                        <a:lnSpc>
                          <a:spcPct val="100000"/>
                        </a:lnSpc>
                      </a:pPr>
                      <a:endParaRPr sz="2300">
                        <a:latin typeface="Times New Roman"/>
                        <a:cs typeface="Times New Roman"/>
                      </a:endParaRPr>
                    </a:p>
                  </a:txBody>
                  <a:tcPr marB="0" marL="0" marR="0" marT="0">
                    <a:lnL w="12700">
                      <a:solidFill>
                        <a:srgbClr val="6B9F24"/>
                      </a:solidFill>
                      <a:prstDash val="solid"/>
                    </a:lnL>
                    <a:lnT algn="ctr" cap="flat" cmpd="sng" w="12700">
                      <a:solidFill>
                        <a:srgbClr val="6B9F24"/>
                      </a:solidFill>
                      <a:prstDash val="solid"/>
                      <a:round/>
                      <a:headEnd len="med" type="none" w="med"/>
                      <a:tailEnd len="med" type="none" w="med"/>
                    </a:lnT>
                  </a:tcPr>
                </a:tc>
                <a:tc hMerge="1">
                  <a:txBody>
                    <a:bodyPr numCol="1"/>
                    <a:lstStyle/>
                    <a:p>
                      <a:endParaRPr/>
                    </a:p>
                  </a:txBody>
                  <a:tcPr marB="0" marL="0" marR="0" marT="0"/>
                </a:tc>
                <a:tc hMerge="1">
                  <a:txBody>
                    <a:bodyPr numCol="1"/>
                    <a:lstStyle/>
                    <a:p>
                      <a:endParaRPr/>
                    </a:p>
                  </a:txBody>
                  <a:tcPr marB="0" marL="0" marR="0" marT="0"/>
                </a:tc>
                <a:tc hMerge="1">
                  <a:txBody>
                    <a:bodyPr numCol="1"/>
                    <a:lstStyle/>
                    <a:p>
                      <a:endParaRPr/>
                    </a:p>
                  </a:txBody>
                  <a:tcPr marB="0" marL="0" marR="0" marT="0"/>
                </a:tc>
                <a:extLst>
                  <a:ext uri="{0D108BD9-81ED-4DB2-BD59-A6C34878D82A}">
                    <a16:rowId xmlns:a16="http://schemas.microsoft.com/office/drawing/2014/main" val="10004"/>
                  </a:ext>
                </a:extLst>
              </a:tr>
            </a:tbl>
          </a:graphicData>
        </a:graphic>
      </p:graphicFrame>
      <p:sp>
        <p:nvSpPr>
          <p:cNvPr id="9" name="object 9"/>
          <p:cNvSpPr txBox="1"/>
          <p:nvPr/>
        </p:nvSpPr>
        <p:spPr>
          <a:xfrm>
            <a:off x="797280" y="3837439"/>
            <a:ext cx="511809" cy="1853713"/>
          </a:xfrm>
          <a:prstGeom prst="rect">
            <a:avLst/>
          </a:prstGeom>
        </p:spPr>
        <p:txBody>
          <a:bodyPr bIns="0" lIns="0" numCol="1" rIns="0" rtlCol="0" tIns="194945" vert="horz" wrap="square">
            <a:spAutoFit/>
          </a:bodyPr>
          <a:lstStyle/>
          <a:p>
            <a:pPr marL="38099">
              <a:spcBef>
                <a:spcPts val="1535"/>
              </a:spcBef>
            </a:pPr>
            <a:r>
              <a:rPr dirty="0" sz="2000">
                <a:latin typeface="Symbol"/>
                <a:cs typeface="Symbol"/>
              </a:rPr>
              <a:t></a:t>
            </a:r>
            <a:r>
              <a:rPr dirty="0" spc="385" sz="2000">
                <a:latin typeface="Times New Roman"/>
                <a:cs typeface="Times New Roman"/>
              </a:rPr>
              <a:t> </a:t>
            </a:r>
            <a:r>
              <a:rPr baseline="-33564" dirty="0" spc="-75" sz="3600">
                <a:latin typeface="Cambria Math"/>
                <a:cs typeface="Cambria Math"/>
              </a:rPr>
              <a:t>2</a:t>
            </a:r>
            <a:endParaRPr baseline="-33564" sz="3600">
              <a:latin typeface="Cambria Math"/>
              <a:cs typeface="Cambria Math"/>
            </a:endParaRPr>
          </a:p>
          <a:p>
            <a:pPr marL="304158">
              <a:spcBef>
                <a:spcPts val="1431"/>
              </a:spcBef>
            </a:pPr>
            <a:r>
              <a:rPr dirty="0" spc="-51" sz="2400">
                <a:latin typeface="Cambria Math"/>
                <a:cs typeface="Cambria Math"/>
              </a:rPr>
              <a:t>3</a:t>
            </a:r>
            <a:endParaRPr sz="2400">
              <a:latin typeface="Cambria Math"/>
              <a:cs typeface="Cambria Math"/>
            </a:endParaRPr>
          </a:p>
          <a:p>
            <a:pPr marL="304158"/>
            <a:r>
              <a:rPr dirty="0" spc="-51" sz="2400">
                <a:latin typeface="Cambria Math"/>
                <a:cs typeface="Cambria Math"/>
              </a:rPr>
              <a:t>4</a:t>
            </a:r>
            <a:endParaRPr sz="2400">
              <a:latin typeface="Cambria Math"/>
              <a:cs typeface="Cambria Math"/>
            </a:endParaRPr>
          </a:p>
          <a:p>
            <a:pPr marL="304158"/>
            <a:r>
              <a:rPr dirty="0" spc="-51" sz="2400">
                <a:latin typeface="Cambria Math"/>
                <a:cs typeface="Cambria Math"/>
              </a:rPr>
              <a:t>5</a:t>
            </a:r>
            <a:endParaRPr sz="2400">
              <a:latin typeface="Cambria Math"/>
              <a:cs typeface="Cambria Math"/>
            </a:endParaRPr>
          </a:p>
        </p:txBody>
      </p:sp>
      <p:sp>
        <p:nvSpPr>
          <p:cNvPr id="11" name="object 11"/>
          <p:cNvSpPr txBox="1"/>
          <p:nvPr/>
        </p:nvSpPr>
        <p:spPr>
          <a:xfrm>
            <a:off x="810182" y="773176"/>
            <a:ext cx="2463165" cy="1859483"/>
          </a:xfrm>
          <a:prstGeom prst="rect">
            <a:avLst/>
          </a:prstGeom>
        </p:spPr>
        <p:txBody>
          <a:bodyPr bIns="0" lIns="0" numCol="1" rIns="0" rtlCol="0" tIns="12700" vert="horz" wrap="square">
            <a:spAutoFit/>
          </a:bodyPr>
          <a:lstStyle/>
          <a:p>
            <a:pPr marL="88898">
              <a:spcBef>
                <a:spcPts val="100"/>
              </a:spcBef>
            </a:pPr>
            <a:r>
              <a:rPr dirty="0" sz="2400">
                <a:latin typeface="Cambria Math"/>
                <a:cs typeface="Cambria Math"/>
              </a:rPr>
              <a:t>𝑆</a:t>
            </a:r>
            <a:r>
              <a:rPr dirty="0" spc="180"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𝐴𝐵</a:t>
            </a:r>
            <a:endParaRPr sz="2400">
              <a:latin typeface="Cambria Math"/>
              <a:cs typeface="Cambria Math"/>
            </a:endParaRPr>
          </a:p>
          <a:p>
            <a:pPr marL="88898">
              <a:spcBef>
                <a:spcPts val="5"/>
              </a:spcBef>
            </a:pPr>
            <a:r>
              <a:rPr dirty="0" sz="2400">
                <a:latin typeface="Cambria Math"/>
                <a:cs typeface="Cambria Math"/>
              </a:rPr>
              <a:t>𝐴</a:t>
            </a:r>
            <a:r>
              <a:rPr dirty="0" spc="151" sz="2400">
                <a:latin typeface="Cambria Math"/>
                <a:cs typeface="Cambria Math"/>
              </a:rPr>
              <a:t> </a:t>
            </a:r>
            <a:r>
              <a:rPr dirty="0" sz="2400">
                <a:latin typeface="Cambria Math"/>
                <a:cs typeface="Cambria Math"/>
              </a:rPr>
              <a:t>→</a:t>
            </a:r>
            <a:r>
              <a:rPr dirty="0" spc="115" sz="2400">
                <a:latin typeface="Cambria Math"/>
                <a:cs typeface="Cambria Math"/>
              </a:rPr>
              <a:t> </a:t>
            </a:r>
            <a:r>
              <a:rPr dirty="0" sz="2400">
                <a:latin typeface="Cambria Math"/>
                <a:cs typeface="Cambria Math"/>
              </a:rPr>
              <a:t>𝐴𝐴</a:t>
            </a:r>
            <a:r>
              <a:rPr dirty="0" spc="11" sz="2400">
                <a:latin typeface="Cambria Math"/>
                <a:cs typeface="Cambria Math"/>
              </a:rPr>
              <a:t> </a:t>
            </a:r>
            <a:r>
              <a:rPr dirty="0" sz="2400">
                <a:latin typeface="Cambria Math"/>
                <a:cs typeface="Cambria Math"/>
              </a:rPr>
              <a:t>|</a:t>
            </a:r>
            <a:r>
              <a:rPr dirty="0" spc="-20" sz="2400">
                <a:latin typeface="Cambria Math"/>
                <a:cs typeface="Cambria Math"/>
              </a:rPr>
              <a:t> </a:t>
            </a:r>
            <a:r>
              <a:rPr dirty="0" sz="2400">
                <a:latin typeface="Cambria Math"/>
                <a:cs typeface="Cambria Math"/>
              </a:rPr>
              <a:t>𝐴𝐵</a:t>
            </a:r>
            <a:r>
              <a:rPr dirty="0" spc="51" sz="2400">
                <a:latin typeface="Cambria Math"/>
                <a:cs typeface="Cambria Math"/>
              </a:rPr>
              <a:t> </a:t>
            </a:r>
            <a:r>
              <a:rPr dirty="0" sz="2400">
                <a:latin typeface="Cambria Math"/>
                <a:cs typeface="Cambria Math"/>
              </a:rPr>
              <a:t>|</a:t>
            </a:r>
            <a:r>
              <a:rPr dirty="0" spc="-20" sz="2400">
                <a:latin typeface="Cambria Math"/>
                <a:cs typeface="Cambria Math"/>
              </a:rPr>
              <a:t> </a:t>
            </a:r>
            <a:r>
              <a:rPr dirty="0" spc="-51" sz="2400">
                <a:latin typeface="Cambria Math"/>
                <a:cs typeface="Cambria Math"/>
              </a:rPr>
              <a:t>𝑎</a:t>
            </a:r>
            <a:endParaRPr sz="2400">
              <a:latin typeface="Cambria Math"/>
              <a:cs typeface="Cambria Math"/>
            </a:endParaRPr>
          </a:p>
          <a:p>
            <a:pPr marL="88898"/>
            <a:r>
              <a:rPr dirty="0" sz="2400">
                <a:latin typeface="Cambria Math"/>
                <a:cs typeface="Cambria Math"/>
              </a:rPr>
              <a:t>𝐵</a:t>
            </a:r>
            <a:r>
              <a:rPr dirty="0" spc="185" sz="2400">
                <a:latin typeface="Cambria Math"/>
                <a:cs typeface="Cambria Math"/>
              </a:rPr>
              <a:t> </a:t>
            </a:r>
            <a:r>
              <a:rPr dirty="0" sz="2400">
                <a:latin typeface="Cambria Math"/>
                <a:cs typeface="Cambria Math"/>
              </a:rPr>
              <a:t>→</a:t>
            </a:r>
            <a:r>
              <a:rPr dirty="0" spc="125" sz="2400">
                <a:latin typeface="Cambria Math"/>
                <a:cs typeface="Cambria Math"/>
              </a:rPr>
              <a:t> </a:t>
            </a:r>
            <a:r>
              <a:rPr dirty="0" spc="-25" sz="2400">
                <a:latin typeface="Cambria Math"/>
                <a:cs typeface="Cambria Math"/>
              </a:rPr>
              <a:t>𝐶𝐶</a:t>
            </a:r>
            <a:endParaRPr sz="2400">
              <a:latin typeface="Cambria Math"/>
              <a:cs typeface="Cambria Math"/>
            </a:endParaRPr>
          </a:p>
          <a:p>
            <a:pPr marL="88898"/>
            <a:r>
              <a:rPr dirty="0" sz="2400">
                <a:latin typeface="Cambria Math"/>
                <a:cs typeface="Cambria Math"/>
              </a:rPr>
              <a:t>𝐶</a:t>
            </a:r>
            <a:r>
              <a:rPr dirty="0" spc="235" sz="2400">
                <a:latin typeface="Cambria Math"/>
                <a:cs typeface="Cambria Math"/>
              </a:rPr>
              <a:t> </a:t>
            </a:r>
            <a:r>
              <a:rPr dirty="0" sz="2400">
                <a:latin typeface="Cambria Math"/>
                <a:cs typeface="Cambria Math"/>
              </a:rPr>
              <a:t>→</a:t>
            </a:r>
            <a:r>
              <a:rPr dirty="0" spc="125" sz="2400">
                <a:latin typeface="Cambria Math"/>
                <a:cs typeface="Cambria Math"/>
              </a:rPr>
              <a:t> </a:t>
            </a:r>
            <a:r>
              <a:rPr dirty="0" spc="-60" sz="2400">
                <a:latin typeface="Cambria Math"/>
                <a:cs typeface="Cambria Math"/>
              </a:rPr>
              <a:t>𝑏</a:t>
            </a:r>
            <a:endParaRPr sz="2400">
              <a:latin typeface="Cambria Math"/>
              <a:cs typeface="Cambria Math"/>
            </a:endParaRPr>
          </a:p>
          <a:p>
            <a:pPr marL="12700"/>
            <a:r>
              <a:rPr dirty="0" sz="2400">
                <a:latin typeface="Cambria Math"/>
                <a:cs typeface="Cambria Math"/>
              </a:rPr>
              <a:t>𝑥</a:t>
            </a:r>
            <a:r>
              <a:rPr dirty="0" spc="185" sz="2400">
                <a:latin typeface="Cambria Math"/>
                <a:cs typeface="Cambria Math"/>
              </a:rPr>
              <a:t> </a:t>
            </a:r>
            <a:r>
              <a:rPr dirty="0" sz="2400">
                <a:latin typeface="Cambria Math"/>
                <a:cs typeface="Cambria Math"/>
              </a:rPr>
              <a:t>=</a:t>
            </a:r>
            <a:r>
              <a:rPr dirty="0" spc="111" sz="2400">
                <a:latin typeface="Cambria Math"/>
                <a:cs typeface="Cambria Math"/>
              </a:rPr>
              <a:t> </a:t>
            </a:r>
            <a:r>
              <a:rPr dirty="0" sz="2400">
                <a:latin typeface="Cambria Math"/>
                <a:cs typeface="Cambria Math"/>
              </a:rPr>
              <a:t>𝑎𝑎𝑎𝑏𝑏</a:t>
            </a:r>
            <a:r>
              <a:rPr dirty="0" spc="131" sz="2400">
                <a:latin typeface="Cambria Math"/>
                <a:cs typeface="Cambria Math"/>
              </a:rPr>
              <a:t> </a:t>
            </a:r>
            <a:r>
              <a:rPr dirty="0" sz="2400">
                <a:latin typeface="Palatino Linotype"/>
                <a:cs typeface="Palatino Linotype"/>
              </a:rPr>
              <a:t>(</a:t>
            </a:r>
            <a:r>
              <a:rPr dirty="0" sz="2400">
                <a:latin typeface="Cambria Math"/>
                <a:cs typeface="Cambria Math"/>
              </a:rPr>
              <a:t>𝑛</a:t>
            </a:r>
            <a:r>
              <a:rPr dirty="0" spc="160" sz="2400">
                <a:latin typeface="Cambria Math"/>
                <a:cs typeface="Cambria Math"/>
              </a:rPr>
              <a:t> </a:t>
            </a:r>
            <a:r>
              <a:rPr dirty="0" sz="2400">
                <a:latin typeface="Cambria Math"/>
                <a:cs typeface="Cambria Math"/>
              </a:rPr>
              <a:t>=</a:t>
            </a:r>
            <a:r>
              <a:rPr dirty="0" spc="111" sz="2400">
                <a:latin typeface="Cambria Math"/>
                <a:cs typeface="Cambria Math"/>
              </a:rPr>
              <a:t> </a:t>
            </a:r>
            <a:r>
              <a:rPr dirty="0" spc="-25" sz="2400">
                <a:latin typeface="Cambria Math"/>
                <a:cs typeface="Cambria Math"/>
              </a:rPr>
              <a:t>5</a:t>
            </a:r>
            <a:r>
              <a:rPr dirty="0" spc="-25" sz="2400">
                <a:latin typeface="Palatino Linotype"/>
                <a:cs typeface="Palatino Linotype"/>
              </a:rPr>
              <a:t>)</a:t>
            </a:r>
            <a:endParaRPr sz="2400">
              <a:latin typeface="Palatino Linotype"/>
              <a:cs typeface="Palatino Linotype"/>
            </a:endParaRPr>
          </a:p>
        </p:txBody>
      </p:sp>
      <p:sp>
        <p:nvSpPr>
          <p:cNvPr id="12" name="object 12"/>
          <p:cNvSpPr txBox="1"/>
          <p:nvPr/>
        </p:nvSpPr>
        <p:spPr>
          <a:xfrm>
            <a:off x="1901697" y="3241218"/>
            <a:ext cx="427991" cy="320601"/>
          </a:xfrm>
          <a:prstGeom prst="rect">
            <a:avLst/>
          </a:prstGeom>
        </p:spPr>
        <p:txBody>
          <a:bodyPr bIns="0" lIns="0" numCol="1" rIns="0" rtlCol="0" tIns="12700" vert="horz" wrap="square">
            <a:spAutoFit/>
          </a:bodyPr>
          <a:lstStyle/>
          <a:p>
            <a:pPr marL="12700">
              <a:spcBef>
                <a:spcPts val="100"/>
              </a:spcBef>
            </a:pPr>
            <a:r>
              <a:rPr b="1" dirty="0" spc="115" sz="2000">
                <a:latin typeface="Arial"/>
                <a:cs typeface="Arial"/>
              </a:rPr>
              <a:t>i</a:t>
            </a:r>
            <a:r>
              <a:rPr b="1" dirty="0" spc="-60" sz="2000">
                <a:latin typeface="Arial"/>
                <a:cs typeface="Arial"/>
              </a:rPr>
              <a:t> </a:t>
            </a:r>
            <a:r>
              <a:rPr b="1" dirty="0" spc="-51" sz="2000">
                <a:latin typeface="Arial"/>
                <a:cs typeface="Arial"/>
              </a:rPr>
              <a:t>→</a:t>
            </a:r>
            <a:endParaRPr sz="2000">
              <a:latin typeface="Arial"/>
              <a:cs typeface="Arial"/>
            </a:endParaRPr>
          </a:p>
        </p:txBody>
      </p:sp>
      <p:sp>
        <p:nvSpPr>
          <p:cNvPr id="13" name="object 13"/>
          <p:cNvSpPr txBox="1"/>
          <p:nvPr/>
        </p:nvSpPr>
        <p:spPr>
          <a:xfrm>
            <a:off x="1545970" y="2974515"/>
            <a:ext cx="1296035" cy="321242"/>
          </a:xfrm>
          <a:prstGeom prst="rect">
            <a:avLst/>
          </a:prstGeom>
        </p:spPr>
        <p:txBody>
          <a:bodyPr bIns="0" lIns="0" numCol="1" rIns="0" rtlCol="0" tIns="13335" vert="horz" wrap="square">
            <a:spAutoFit/>
          </a:bodyPr>
          <a:lstStyle/>
          <a:p>
            <a:pPr marL="12700">
              <a:spcBef>
                <a:spcPts val="105"/>
              </a:spcBef>
              <a:tabLst>
                <a:tab algn="l" pos="1155671"/>
              </a:tabLst>
            </a:pPr>
            <a:r>
              <a:rPr dirty="0" spc="-51" sz="2000">
                <a:solidFill>
                  <a:srgbClr val="CC0000"/>
                </a:solidFill>
                <a:latin typeface="Palatino Linotype"/>
                <a:cs typeface="Palatino Linotype"/>
              </a:rPr>
              <a:t>a</a:t>
            </a:r>
            <a:r>
              <a:rPr dirty="0" sz="2000">
                <a:solidFill>
                  <a:srgbClr val="CC0000"/>
                </a:solidFill>
                <a:latin typeface="Palatino Linotype"/>
                <a:cs typeface="Palatino Linotype"/>
              </a:rPr>
              <a:t>	</a:t>
            </a:r>
            <a:r>
              <a:rPr dirty="0" spc="-51" sz="2000">
                <a:solidFill>
                  <a:srgbClr val="CC0000"/>
                </a:solidFill>
                <a:latin typeface="Palatino Linotype"/>
                <a:cs typeface="Palatino Linotype"/>
              </a:rPr>
              <a:t>a</a:t>
            </a:r>
            <a:endParaRPr sz="2000">
              <a:latin typeface="Palatino Linotype"/>
              <a:cs typeface="Palatino Linotype"/>
            </a:endParaRPr>
          </a:p>
        </p:txBody>
      </p:sp>
      <p:sp>
        <p:nvSpPr>
          <p:cNvPr id="14" name="object 14"/>
          <p:cNvSpPr txBox="1"/>
          <p:nvPr/>
        </p:nvSpPr>
        <p:spPr>
          <a:xfrm>
            <a:off x="4038600" y="685800"/>
            <a:ext cx="5539105" cy="1120820"/>
          </a:xfrm>
          <a:prstGeom prst="rect">
            <a:avLst/>
          </a:prstGeom>
        </p:spPr>
        <p:txBody>
          <a:bodyPr bIns="0" lIns="0" numCol="1" rIns="0" rtlCol="0" tIns="12700" vert="horz" wrap="square">
            <a:spAutoFit/>
          </a:bodyPr>
          <a:lstStyle/>
          <a:p>
            <a:pPr marL="12700" marR="5080">
              <a:spcBef>
                <a:spcPts val="100"/>
              </a:spcBef>
            </a:pPr>
            <a:r>
              <a:rPr dirty="0" sz="2400">
                <a:latin typeface="Palatino Linotype"/>
                <a:cs typeface="Palatino Linotype"/>
              </a:rPr>
              <a:t>In</a:t>
            </a:r>
            <a:r>
              <a:rPr dirty="0" spc="-35" sz="2400">
                <a:latin typeface="Palatino Linotype"/>
                <a:cs typeface="Palatino Linotype"/>
              </a:rPr>
              <a:t> </a:t>
            </a:r>
            <a:r>
              <a:rPr dirty="0" sz="2400">
                <a:latin typeface="Palatino Linotype"/>
                <a:cs typeface="Palatino Linotype"/>
              </a:rPr>
              <a:t>this</a:t>
            </a:r>
            <a:r>
              <a:rPr dirty="0" spc="-25" sz="2400">
                <a:latin typeface="Palatino Linotype"/>
                <a:cs typeface="Palatino Linotype"/>
              </a:rPr>
              <a:t> </a:t>
            </a:r>
            <a:r>
              <a:rPr dirty="0" sz="2400">
                <a:latin typeface="Palatino Linotype"/>
                <a:cs typeface="Palatino Linotype"/>
              </a:rPr>
              <a:t>case,</a:t>
            </a:r>
            <a:r>
              <a:rPr dirty="0" spc="-35" sz="2400">
                <a:latin typeface="Palatino Linotype"/>
                <a:cs typeface="Palatino Linotype"/>
              </a:rPr>
              <a:t> </a:t>
            </a:r>
            <a:r>
              <a:rPr dirty="0" sz="2400">
                <a:latin typeface="Palatino Linotype"/>
                <a:cs typeface="Palatino Linotype"/>
              </a:rPr>
              <a:t>cell</a:t>
            </a:r>
            <a:r>
              <a:rPr dirty="0" spc="-31" sz="2400">
                <a:latin typeface="Palatino Linotype"/>
                <a:cs typeface="Palatino Linotype"/>
              </a:rPr>
              <a:t> </a:t>
            </a:r>
            <a:r>
              <a:rPr dirty="0" sz="2400">
                <a:latin typeface="Palatino Linotype"/>
                <a:cs typeface="Palatino Linotype"/>
              </a:rPr>
              <a:t>1,5</a:t>
            </a:r>
            <a:r>
              <a:rPr dirty="0" spc="-35" sz="2400">
                <a:latin typeface="Palatino Linotype"/>
                <a:cs typeface="Palatino Linotype"/>
              </a:rPr>
              <a:t> </a:t>
            </a:r>
            <a:r>
              <a:rPr dirty="0" sz="2400">
                <a:latin typeface="Palatino Linotype"/>
                <a:cs typeface="Palatino Linotype"/>
              </a:rPr>
              <a:t>does</a:t>
            </a:r>
            <a:r>
              <a:rPr dirty="0" spc="-31" sz="2400">
                <a:latin typeface="Palatino Linotype"/>
                <a:cs typeface="Palatino Linotype"/>
              </a:rPr>
              <a:t> </a:t>
            </a:r>
            <a:r>
              <a:rPr dirty="0" sz="2400">
                <a:latin typeface="Palatino Linotype"/>
                <a:cs typeface="Palatino Linotype"/>
              </a:rPr>
              <a:t>contain</a:t>
            </a:r>
            <a:r>
              <a:rPr dirty="0" spc="-20" sz="2400">
                <a:latin typeface="Palatino Linotype"/>
                <a:cs typeface="Palatino Linotype"/>
              </a:rPr>
              <a:t> </a:t>
            </a:r>
            <a:r>
              <a:rPr dirty="0" sz="2400">
                <a:latin typeface="Palatino Linotype"/>
                <a:cs typeface="Palatino Linotype"/>
              </a:rPr>
              <a:t>the</a:t>
            </a:r>
            <a:r>
              <a:rPr dirty="0" spc="-15" sz="2400">
                <a:latin typeface="Palatino Linotype"/>
                <a:cs typeface="Palatino Linotype"/>
              </a:rPr>
              <a:t> </a:t>
            </a:r>
            <a:r>
              <a:rPr dirty="0" spc="-11" sz="2400">
                <a:latin typeface="Palatino Linotype"/>
                <a:cs typeface="Palatino Linotype"/>
              </a:rPr>
              <a:t>start </a:t>
            </a:r>
            <a:r>
              <a:rPr dirty="0" sz="2400">
                <a:latin typeface="Palatino Linotype"/>
                <a:cs typeface="Palatino Linotype"/>
              </a:rPr>
              <a:t>symbol</a:t>
            </a:r>
            <a:r>
              <a:rPr dirty="0" spc="-35" sz="2400">
                <a:latin typeface="Palatino Linotype"/>
                <a:cs typeface="Palatino Linotype"/>
              </a:rPr>
              <a:t> </a:t>
            </a:r>
            <a:r>
              <a:rPr dirty="0" sz="2400">
                <a:latin typeface="Cambria Math"/>
                <a:cs typeface="Cambria Math"/>
              </a:rPr>
              <a:t>𝑆</a:t>
            </a:r>
            <a:r>
              <a:rPr dirty="0" sz="2400">
                <a:latin typeface="Palatino Linotype"/>
                <a:cs typeface="Palatino Linotype"/>
              </a:rPr>
              <a:t>,</a:t>
            </a:r>
            <a:r>
              <a:rPr dirty="0" spc="-35" sz="2400">
                <a:latin typeface="Palatino Linotype"/>
                <a:cs typeface="Palatino Linotype"/>
              </a:rPr>
              <a:t> </a:t>
            </a:r>
            <a:r>
              <a:rPr dirty="0" sz="2400">
                <a:latin typeface="Palatino Linotype"/>
                <a:cs typeface="Palatino Linotype"/>
              </a:rPr>
              <a:t>so</a:t>
            </a:r>
            <a:r>
              <a:rPr dirty="0" spc="-35" sz="2400">
                <a:latin typeface="Palatino Linotype"/>
                <a:cs typeface="Palatino Linotype"/>
              </a:rPr>
              <a:t> </a:t>
            </a:r>
            <a:r>
              <a:rPr dirty="0" sz="2400">
                <a:latin typeface="Palatino Linotype"/>
                <a:cs typeface="Palatino Linotype"/>
              </a:rPr>
              <a:t>the</a:t>
            </a:r>
            <a:r>
              <a:rPr dirty="0" spc="-25" sz="2400">
                <a:latin typeface="Palatino Linotype"/>
                <a:cs typeface="Palatino Linotype"/>
              </a:rPr>
              <a:t> </a:t>
            </a:r>
            <a:r>
              <a:rPr dirty="0" sz="2400">
                <a:latin typeface="Palatino Linotype"/>
                <a:cs typeface="Palatino Linotype"/>
              </a:rPr>
              <a:t>string</a:t>
            </a:r>
            <a:r>
              <a:rPr dirty="0" spc="-31" sz="2400">
                <a:latin typeface="Palatino Linotype"/>
                <a:cs typeface="Palatino Linotype"/>
              </a:rPr>
              <a:t> </a:t>
            </a:r>
            <a:r>
              <a:rPr dirty="0" sz="2400">
                <a:latin typeface="Cambria Math"/>
                <a:cs typeface="Cambria Math"/>
              </a:rPr>
              <a:t>𝑎𝑎𝑎𝑏𝑏</a:t>
            </a:r>
            <a:r>
              <a:rPr dirty="0" spc="105" sz="2400">
                <a:latin typeface="Cambria Math"/>
                <a:cs typeface="Cambria Math"/>
              </a:rPr>
              <a:t> </a:t>
            </a:r>
            <a:r>
              <a:rPr dirty="0" sz="2400">
                <a:latin typeface="Palatino Linotype"/>
                <a:cs typeface="Palatino Linotype"/>
              </a:rPr>
              <a:t>is</a:t>
            </a:r>
            <a:r>
              <a:rPr dirty="0" spc="-45" sz="2400">
                <a:latin typeface="Palatino Linotype"/>
                <a:cs typeface="Palatino Linotype"/>
              </a:rPr>
              <a:t> </a:t>
            </a:r>
            <a:r>
              <a:rPr dirty="0" sz="2400">
                <a:latin typeface="Palatino Linotype"/>
                <a:cs typeface="Palatino Linotype"/>
              </a:rPr>
              <a:t>in</a:t>
            </a:r>
            <a:r>
              <a:rPr dirty="0" spc="-35" sz="2400">
                <a:latin typeface="Palatino Linotype"/>
                <a:cs typeface="Palatino Linotype"/>
              </a:rPr>
              <a:t> </a:t>
            </a:r>
            <a:r>
              <a:rPr dirty="0" spc="-25" sz="2400">
                <a:latin typeface="Palatino Linotype"/>
                <a:cs typeface="Palatino Linotype"/>
              </a:rPr>
              <a:t>the </a:t>
            </a:r>
            <a:r>
              <a:rPr dirty="0" sz="2400">
                <a:latin typeface="Palatino Linotype"/>
                <a:cs typeface="Palatino Linotype"/>
              </a:rPr>
              <a:t>language</a:t>
            </a:r>
            <a:r>
              <a:rPr dirty="0" spc="-25" sz="2400">
                <a:latin typeface="Palatino Linotype"/>
                <a:cs typeface="Palatino Linotype"/>
              </a:rPr>
              <a:t> </a:t>
            </a:r>
            <a:r>
              <a:rPr dirty="0" sz="2400">
                <a:latin typeface="Palatino Linotype"/>
                <a:cs typeface="Palatino Linotype"/>
              </a:rPr>
              <a:t>produced</a:t>
            </a:r>
            <a:r>
              <a:rPr dirty="0" spc="-55" sz="2400">
                <a:latin typeface="Palatino Linotype"/>
                <a:cs typeface="Palatino Linotype"/>
              </a:rPr>
              <a:t> </a:t>
            </a:r>
            <a:r>
              <a:rPr dirty="0" sz="2400">
                <a:latin typeface="Palatino Linotype"/>
                <a:cs typeface="Palatino Linotype"/>
              </a:rPr>
              <a:t>by</a:t>
            </a:r>
            <a:r>
              <a:rPr dirty="0" spc="-45" sz="2400">
                <a:latin typeface="Palatino Linotype"/>
                <a:cs typeface="Palatino Linotype"/>
              </a:rPr>
              <a:t> </a:t>
            </a:r>
            <a:r>
              <a:rPr dirty="0" sz="2400">
                <a:latin typeface="Palatino Linotype"/>
                <a:cs typeface="Palatino Linotype"/>
              </a:rPr>
              <a:t>the</a:t>
            </a:r>
            <a:r>
              <a:rPr dirty="0" spc="-35" sz="2400">
                <a:latin typeface="Palatino Linotype"/>
                <a:cs typeface="Palatino Linotype"/>
              </a:rPr>
              <a:t> </a:t>
            </a:r>
            <a:r>
              <a:rPr dirty="0" spc="-11" sz="2400">
                <a:latin typeface="Palatino Linotype"/>
                <a:cs typeface="Palatino Linotype"/>
              </a:rPr>
              <a:t>grammar.</a:t>
            </a:r>
            <a:endParaRPr sz="2400">
              <a:latin typeface="Palatino Linotype"/>
              <a:cs typeface="Palatino Linotype"/>
            </a:endParaRPr>
          </a:p>
        </p:txBody>
      </p:sp>
      <p:sp>
        <p:nvSpPr>
          <p:cNvPr id="15" name="object 15"/>
          <p:cNvSpPr/>
          <p:nvPr/>
        </p:nvSpPr>
        <p:spPr>
          <a:xfrm>
            <a:off x="1688591" y="5571004"/>
            <a:ext cx="283845" cy="317500"/>
          </a:xfrm>
          <a:custGeom>
            <a:avLst/>
            <a:gdLst/>
            <a:ahLst/>
            <a:cxnLst/>
            <a:rect b="b" l="l" r="r" t="t"/>
            <a:pathLst>
              <a:path h="317500" w="283844">
                <a:moveTo>
                  <a:pt x="0" y="316992"/>
                </a:moveTo>
                <a:lnTo>
                  <a:pt x="283463" y="316992"/>
                </a:lnTo>
                <a:lnTo>
                  <a:pt x="283463" y="0"/>
                </a:lnTo>
                <a:lnTo>
                  <a:pt x="0" y="0"/>
                </a:lnTo>
                <a:lnTo>
                  <a:pt x="0" y="316992"/>
                </a:lnTo>
                <a:close/>
              </a:path>
            </a:pathLst>
          </a:custGeom>
          <a:ln w="38100">
            <a:solidFill>
              <a:srgbClr val="226B87"/>
            </a:solidFill>
          </a:ln>
        </p:spPr>
        <p:txBody>
          <a:bodyPr bIns="0" lIns="0" numCol="1" rIns="0" rtlCol="0" tIns="0" wrap="square"/>
          <a:lstStyle/>
          <a:p>
            <a:endParaRPr/>
          </a:p>
        </p:txBody>
      </p:sp>
      <p:grpSp>
        <p:nvGrpSpPr>
          <p:cNvPr id="16" name="object 16"/>
          <p:cNvGrpSpPr/>
          <p:nvPr/>
        </p:nvGrpSpPr>
        <p:grpSpPr>
          <a:xfrm>
            <a:off x="6953630" y="4242359"/>
            <a:ext cx="5175885" cy="1560831"/>
            <a:chOff x="6359652" y="4853940"/>
            <a:chExt cx="5175885" cy="1560830"/>
          </a:xfrm>
        </p:grpSpPr>
        <p:sp>
          <p:nvSpPr>
            <p:cNvPr id="17" name="object 17"/>
            <p:cNvSpPr/>
            <p:nvPr/>
          </p:nvSpPr>
          <p:spPr>
            <a:xfrm>
              <a:off x="6369558" y="4863846"/>
              <a:ext cx="5156200" cy="1541145"/>
            </a:xfrm>
            <a:custGeom>
              <a:avLst/>
              <a:gdLst/>
              <a:ahLst/>
              <a:cxnLst/>
              <a:rect b="b" l="l" r="r" t="t"/>
              <a:pathLst>
                <a:path h="1541145" w="5156200">
                  <a:moveTo>
                    <a:pt x="4970525" y="0"/>
                  </a:moveTo>
                  <a:lnTo>
                    <a:pt x="185165" y="0"/>
                  </a:lnTo>
                  <a:lnTo>
                    <a:pt x="135951" y="6616"/>
                  </a:lnTo>
                  <a:lnTo>
                    <a:pt x="91722" y="25287"/>
                  </a:lnTo>
                  <a:lnTo>
                    <a:pt x="54244" y="54244"/>
                  </a:lnTo>
                  <a:lnTo>
                    <a:pt x="25287" y="91722"/>
                  </a:lnTo>
                  <a:lnTo>
                    <a:pt x="6616" y="135951"/>
                  </a:lnTo>
                  <a:lnTo>
                    <a:pt x="0" y="185165"/>
                  </a:lnTo>
                  <a:lnTo>
                    <a:pt x="0" y="1355636"/>
                  </a:lnTo>
                  <a:lnTo>
                    <a:pt x="6616" y="1404851"/>
                  </a:lnTo>
                  <a:lnTo>
                    <a:pt x="25287" y="1449075"/>
                  </a:lnTo>
                  <a:lnTo>
                    <a:pt x="54244" y="1486542"/>
                  </a:lnTo>
                  <a:lnTo>
                    <a:pt x="91722" y="1515489"/>
                  </a:lnTo>
                  <a:lnTo>
                    <a:pt x="135951" y="1534151"/>
                  </a:lnTo>
                  <a:lnTo>
                    <a:pt x="185165" y="1540763"/>
                  </a:lnTo>
                  <a:lnTo>
                    <a:pt x="4970525" y="1540763"/>
                  </a:lnTo>
                  <a:lnTo>
                    <a:pt x="5019740" y="1534151"/>
                  </a:lnTo>
                  <a:lnTo>
                    <a:pt x="5063969" y="1515489"/>
                  </a:lnTo>
                  <a:lnTo>
                    <a:pt x="5101447" y="1486542"/>
                  </a:lnTo>
                  <a:lnTo>
                    <a:pt x="5130404" y="1449075"/>
                  </a:lnTo>
                  <a:lnTo>
                    <a:pt x="5149075" y="1404851"/>
                  </a:lnTo>
                  <a:lnTo>
                    <a:pt x="5155692" y="1355636"/>
                  </a:lnTo>
                  <a:lnTo>
                    <a:pt x="5155692" y="185165"/>
                  </a:lnTo>
                  <a:lnTo>
                    <a:pt x="5149075" y="135951"/>
                  </a:lnTo>
                  <a:lnTo>
                    <a:pt x="5130404" y="91722"/>
                  </a:lnTo>
                  <a:lnTo>
                    <a:pt x="5101447" y="54244"/>
                  </a:lnTo>
                  <a:lnTo>
                    <a:pt x="5063969" y="25287"/>
                  </a:lnTo>
                  <a:lnTo>
                    <a:pt x="5019740" y="6616"/>
                  </a:lnTo>
                  <a:lnTo>
                    <a:pt x="4970525" y="0"/>
                  </a:lnTo>
                  <a:close/>
                </a:path>
              </a:pathLst>
            </a:custGeom>
            <a:solidFill>
              <a:srgbClr val="3493B9"/>
            </a:solidFill>
          </p:spPr>
          <p:txBody>
            <a:bodyPr bIns="0" lIns="0" numCol="1" rIns="0" rtlCol="0" tIns="0" wrap="square"/>
            <a:lstStyle/>
            <a:p>
              <a:endParaRPr/>
            </a:p>
          </p:txBody>
        </p:sp>
        <p:sp>
          <p:nvSpPr>
            <p:cNvPr id="18" name="object 18"/>
            <p:cNvSpPr/>
            <p:nvPr/>
          </p:nvSpPr>
          <p:spPr>
            <a:xfrm>
              <a:off x="6369558" y="4863846"/>
              <a:ext cx="5156200" cy="1541145"/>
            </a:xfrm>
            <a:custGeom>
              <a:avLst/>
              <a:gdLst/>
              <a:ahLst/>
              <a:cxnLst/>
              <a:rect b="b" l="l" r="r" t="t"/>
              <a:pathLst>
                <a:path h="1541145" w="5156200">
                  <a:moveTo>
                    <a:pt x="0" y="185165"/>
                  </a:moveTo>
                  <a:lnTo>
                    <a:pt x="6616" y="135951"/>
                  </a:lnTo>
                  <a:lnTo>
                    <a:pt x="25287" y="91722"/>
                  </a:lnTo>
                  <a:lnTo>
                    <a:pt x="54244" y="54244"/>
                  </a:lnTo>
                  <a:lnTo>
                    <a:pt x="91722" y="25287"/>
                  </a:lnTo>
                  <a:lnTo>
                    <a:pt x="135951" y="6616"/>
                  </a:lnTo>
                  <a:lnTo>
                    <a:pt x="185165" y="0"/>
                  </a:lnTo>
                  <a:lnTo>
                    <a:pt x="4970525" y="0"/>
                  </a:lnTo>
                  <a:lnTo>
                    <a:pt x="5019740" y="6616"/>
                  </a:lnTo>
                  <a:lnTo>
                    <a:pt x="5063969" y="25287"/>
                  </a:lnTo>
                  <a:lnTo>
                    <a:pt x="5101447" y="54244"/>
                  </a:lnTo>
                  <a:lnTo>
                    <a:pt x="5130404" y="91722"/>
                  </a:lnTo>
                  <a:lnTo>
                    <a:pt x="5149075" y="135951"/>
                  </a:lnTo>
                  <a:lnTo>
                    <a:pt x="5155692" y="185165"/>
                  </a:lnTo>
                  <a:lnTo>
                    <a:pt x="5155692" y="1355636"/>
                  </a:lnTo>
                  <a:lnTo>
                    <a:pt x="5149075" y="1404851"/>
                  </a:lnTo>
                  <a:lnTo>
                    <a:pt x="5130404" y="1449075"/>
                  </a:lnTo>
                  <a:lnTo>
                    <a:pt x="5101447" y="1486542"/>
                  </a:lnTo>
                  <a:lnTo>
                    <a:pt x="5063969" y="1515489"/>
                  </a:lnTo>
                  <a:lnTo>
                    <a:pt x="5019740" y="1534151"/>
                  </a:lnTo>
                  <a:lnTo>
                    <a:pt x="4970525" y="1540763"/>
                  </a:lnTo>
                  <a:lnTo>
                    <a:pt x="185165" y="1540763"/>
                  </a:lnTo>
                  <a:lnTo>
                    <a:pt x="135951" y="1534151"/>
                  </a:lnTo>
                  <a:lnTo>
                    <a:pt x="91722" y="1515489"/>
                  </a:lnTo>
                  <a:lnTo>
                    <a:pt x="54244" y="1486542"/>
                  </a:lnTo>
                  <a:lnTo>
                    <a:pt x="25287" y="1449075"/>
                  </a:lnTo>
                  <a:lnTo>
                    <a:pt x="6616" y="1404851"/>
                  </a:lnTo>
                  <a:lnTo>
                    <a:pt x="0" y="1355636"/>
                  </a:lnTo>
                  <a:lnTo>
                    <a:pt x="0" y="185165"/>
                  </a:lnTo>
                  <a:close/>
                </a:path>
              </a:pathLst>
            </a:custGeom>
            <a:ln w="19812">
              <a:solidFill>
                <a:srgbClr val="226B87"/>
              </a:solidFill>
            </a:ln>
          </p:spPr>
          <p:txBody>
            <a:bodyPr bIns="0" lIns="0" numCol="1" rIns="0" rtlCol="0" tIns="0" wrap="square"/>
            <a:lstStyle/>
            <a:p>
              <a:endParaRPr/>
            </a:p>
          </p:txBody>
        </p:sp>
      </p:grpSp>
      <p:sp>
        <p:nvSpPr>
          <p:cNvPr id="19" name="object 19"/>
          <p:cNvSpPr txBox="1"/>
          <p:nvPr/>
        </p:nvSpPr>
        <p:spPr>
          <a:xfrm>
            <a:off x="7211567" y="4257040"/>
            <a:ext cx="4658995" cy="1490152"/>
          </a:xfrm>
          <a:prstGeom prst="rect">
            <a:avLst/>
          </a:prstGeom>
        </p:spPr>
        <p:txBody>
          <a:bodyPr bIns="0" lIns="0" numCol="1" rIns="0" rtlCol="0" tIns="12700" vert="horz" wrap="square">
            <a:spAutoFit/>
          </a:bodyPr>
          <a:lstStyle/>
          <a:p>
            <a:pPr algn="ctr" marL="12700" marR="5080">
              <a:spcBef>
                <a:spcPts val="100"/>
              </a:spcBef>
            </a:pPr>
            <a:r>
              <a:rPr dirty="0" sz="2400">
                <a:solidFill>
                  <a:srgbClr val="FFFFFF"/>
                </a:solidFill>
                <a:latin typeface="Palatino Linotype"/>
                <a:cs typeface="Palatino Linotype"/>
              </a:rPr>
              <a:t>Recall</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that</a:t>
            </a:r>
            <a:r>
              <a:rPr dirty="0" spc="-20" sz="2400">
                <a:solidFill>
                  <a:srgbClr val="FFFFFF"/>
                </a:solidFill>
                <a:latin typeface="Palatino Linotype"/>
                <a:cs typeface="Palatino Linotype"/>
              </a:rPr>
              <a:t> </a:t>
            </a:r>
            <a:r>
              <a:rPr dirty="0" sz="2400">
                <a:solidFill>
                  <a:srgbClr val="FFFFFF"/>
                </a:solidFill>
                <a:latin typeface="Palatino Linotype"/>
                <a:cs typeface="Palatino Linotype"/>
              </a:rPr>
              <a:t>this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saying</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that</a:t>
            </a:r>
            <a:r>
              <a:rPr dirty="0" spc="-20" sz="2400">
                <a:solidFill>
                  <a:srgbClr val="FFFFFF"/>
                </a:solidFill>
                <a:latin typeface="Palatino Linotype"/>
                <a:cs typeface="Palatino Linotype"/>
              </a:rPr>
              <a:t> </a:t>
            </a:r>
            <a:r>
              <a:rPr dirty="0" spc="-25" sz="2400">
                <a:solidFill>
                  <a:srgbClr val="FFFFFF"/>
                </a:solidFill>
                <a:latin typeface="Palatino Linotype"/>
                <a:cs typeface="Palatino Linotype"/>
              </a:rPr>
              <a:t>the </a:t>
            </a:r>
            <a:r>
              <a:rPr dirty="0" sz="2400">
                <a:solidFill>
                  <a:srgbClr val="FFFFFF"/>
                </a:solidFill>
                <a:latin typeface="Palatino Linotype"/>
                <a:cs typeface="Palatino Linotype"/>
              </a:rPr>
              <a:t>start</a:t>
            </a:r>
            <a:r>
              <a:rPr dirty="0" spc="-35" sz="2400">
                <a:solidFill>
                  <a:srgbClr val="FFFFFF"/>
                </a:solidFill>
                <a:latin typeface="Palatino Linotype"/>
                <a:cs typeface="Palatino Linotype"/>
              </a:rPr>
              <a:t> </a:t>
            </a:r>
            <a:r>
              <a:rPr dirty="0" sz="2400">
                <a:solidFill>
                  <a:srgbClr val="FFFFFF"/>
                </a:solidFill>
                <a:latin typeface="Palatino Linotype"/>
                <a:cs typeface="Palatino Linotype"/>
              </a:rPr>
              <a:t>symbol</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is</a:t>
            </a:r>
            <a:r>
              <a:rPr dirty="0" spc="-40" sz="2400">
                <a:solidFill>
                  <a:srgbClr val="FFFFFF"/>
                </a:solidFill>
                <a:latin typeface="Palatino Linotype"/>
                <a:cs typeface="Palatino Linotype"/>
              </a:rPr>
              <a:t> </a:t>
            </a:r>
            <a:r>
              <a:rPr dirty="0" sz="2400">
                <a:solidFill>
                  <a:srgbClr val="FFFFFF"/>
                </a:solidFill>
                <a:latin typeface="Palatino Linotype"/>
                <a:cs typeface="Palatino Linotype"/>
              </a:rPr>
              <a:t>able</a:t>
            </a:r>
            <a:r>
              <a:rPr dirty="0" spc="-55" sz="2400">
                <a:solidFill>
                  <a:srgbClr val="FFFFFF"/>
                </a:solidFill>
                <a:latin typeface="Palatino Linotype"/>
                <a:cs typeface="Palatino Linotype"/>
              </a:rPr>
              <a:t> </a:t>
            </a:r>
            <a:r>
              <a:rPr dirty="0" sz="2400">
                <a:solidFill>
                  <a:srgbClr val="FFFFFF"/>
                </a:solidFill>
                <a:latin typeface="Palatino Linotype"/>
                <a:cs typeface="Palatino Linotype"/>
              </a:rPr>
              <a:t>to</a:t>
            </a:r>
            <a:r>
              <a:rPr dirty="0" spc="-31" sz="2400">
                <a:solidFill>
                  <a:srgbClr val="FFFFFF"/>
                </a:solidFill>
                <a:latin typeface="Palatino Linotype"/>
                <a:cs typeface="Palatino Linotype"/>
              </a:rPr>
              <a:t> </a:t>
            </a:r>
            <a:r>
              <a:rPr dirty="0" sz="2400">
                <a:solidFill>
                  <a:srgbClr val="FFFFFF"/>
                </a:solidFill>
                <a:latin typeface="Palatino Linotype"/>
                <a:cs typeface="Palatino Linotype"/>
              </a:rPr>
              <a:t>produce</a:t>
            </a:r>
            <a:r>
              <a:rPr dirty="0" spc="-40" sz="2400">
                <a:solidFill>
                  <a:srgbClr val="FFFFFF"/>
                </a:solidFill>
                <a:latin typeface="Palatino Linotype"/>
                <a:cs typeface="Palatino Linotype"/>
              </a:rPr>
              <a:t> </a:t>
            </a:r>
            <a:r>
              <a:rPr dirty="0" spc="-25" sz="2400">
                <a:solidFill>
                  <a:srgbClr val="FFFFFF"/>
                </a:solidFill>
                <a:latin typeface="Palatino Linotype"/>
                <a:cs typeface="Palatino Linotype"/>
              </a:rPr>
              <a:t>the </a:t>
            </a:r>
            <a:r>
              <a:rPr dirty="0" sz="2400">
                <a:solidFill>
                  <a:srgbClr val="FFFFFF"/>
                </a:solidFill>
                <a:latin typeface="Palatino Linotype"/>
                <a:cs typeface="Palatino Linotype"/>
              </a:rPr>
              <a:t>“substring”</a:t>
            </a:r>
            <a:r>
              <a:rPr dirty="0" spc="-55" sz="2400">
                <a:solidFill>
                  <a:srgbClr val="FFFFFF"/>
                </a:solidFill>
                <a:latin typeface="Palatino Linotype"/>
                <a:cs typeface="Palatino Linotype"/>
              </a:rPr>
              <a:t> </a:t>
            </a:r>
            <a:r>
              <a:rPr dirty="0" sz="2400">
                <a:solidFill>
                  <a:srgbClr val="FFFFFF"/>
                </a:solidFill>
                <a:latin typeface="Palatino Linotype"/>
                <a:cs typeface="Palatino Linotype"/>
              </a:rPr>
              <a:t>with</a:t>
            </a:r>
            <a:r>
              <a:rPr dirty="0" spc="-51" sz="2400">
                <a:solidFill>
                  <a:srgbClr val="FFFFFF"/>
                </a:solidFill>
                <a:latin typeface="Palatino Linotype"/>
                <a:cs typeface="Palatino Linotype"/>
              </a:rPr>
              <a:t> </a:t>
            </a:r>
            <a:r>
              <a:rPr dirty="0" sz="2400">
                <a:solidFill>
                  <a:srgbClr val="FFFFFF"/>
                </a:solidFill>
                <a:latin typeface="Palatino Linotype"/>
                <a:cs typeface="Palatino Linotype"/>
              </a:rPr>
              <a:t>a</a:t>
            </a:r>
            <a:r>
              <a:rPr dirty="0" spc="-55" sz="2400">
                <a:solidFill>
                  <a:srgbClr val="FFFFFF"/>
                </a:solidFill>
                <a:latin typeface="Palatino Linotype"/>
                <a:cs typeface="Palatino Linotype"/>
              </a:rPr>
              <a:t> </a:t>
            </a:r>
            <a:r>
              <a:rPr dirty="0" sz="2400">
                <a:solidFill>
                  <a:srgbClr val="FFFFFF"/>
                </a:solidFill>
                <a:latin typeface="Palatino Linotype"/>
                <a:cs typeface="Palatino Linotype"/>
              </a:rPr>
              <a:t>length</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of</a:t>
            </a:r>
            <a:r>
              <a:rPr dirty="0" spc="-55" sz="2400">
                <a:solidFill>
                  <a:srgbClr val="FFFFFF"/>
                </a:solidFill>
                <a:latin typeface="Palatino Linotype"/>
                <a:cs typeface="Palatino Linotype"/>
              </a:rPr>
              <a:t> </a:t>
            </a:r>
            <a:r>
              <a:rPr dirty="0" spc="-51" sz="2400">
                <a:solidFill>
                  <a:srgbClr val="FFFFFF"/>
                </a:solidFill>
                <a:latin typeface="Palatino Linotype"/>
                <a:cs typeface="Palatino Linotype"/>
              </a:rPr>
              <a:t>5 </a:t>
            </a:r>
            <a:r>
              <a:rPr dirty="0" sz="2400">
                <a:solidFill>
                  <a:srgbClr val="FFFFFF"/>
                </a:solidFill>
                <a:latin typeface="Palatino Linotype"/>
                <a:cs typeface="Palatino Linotype"/>
              </a:rPr>
              <a:t>starting</a:t>
            </a:r>
            <a:r>
              <a:rPr dirty="0" spc="-45" sz="2400">
                <a:solidFill>
                  <a:srgbClr val="FFFFFF"/>
                </a:solidFill>
                <a:latin typeface="Palatino Linotype"/>
                <a:cs typeface="Palatino Linotype"/>
              </a:rPr>
              <a:t> </a:t>
            </a:r>
            <a:r>
              <a:rPr dirty="0" sz="2400">
                <a:solidFill>
                  <a:srgbClr val="FFFFFF"/>
                </a:solidFill>
                <a:latin typeface="Palatino Linotype"/>
                <a:cs typeface="Palatino Linotype"/>
              </a:rPr>
              <a:t>at</a:t>
            </a:r>
            <a:r>
              <a:rPr dirty="0" spc="-55" sz="2400">
                <a:solidFill>
                  <a:srgbClr val="FFFFFF"/>
                </a:solidFill>
                <a:latin typeface="Palatino Linotype"/>
                <a:cs typeface="Palatino Linotype"/>
              </a:rPr>
              <a:t> </a:t>
            </a:r>
            <a:r>
              <a:rPr dirty="0" sz="2400">
                <a:solidFill>
                  <a:srgbClr val="FFFFFF"/>
                </a:solidFill>
                <a:latin typeface="Palatino Linotype"/>
                <a:cs typeface="Palatino Linotype"/>
              </a:rPr>
              <a:t>position</a:t>
            </a:r>
            <a:r>
              <a:rPr dirty="0" spc="-45" sz="2400">
                <a:solidFill>
                  <a:srgbClr val="FFFFFF"/>
                </a:solidFill>
                <a:latin typeface="Palatino Linotype"/>
                <a:cs typeface="Palatino Linotype"/>
              </a:rPr>
              <a:t> </a:t>
            </a:r>
            <a:r>
              <a:rPr dirty="0" spc="-25" sz="2400">
                <a:solidFill>
                  <a:srgbClr val="FFFFFF"/>
                </a:solidFill>
                <a:latin typeface="Palatino Linotype"/>
                <a:cs typeface="Palatino Linotype"/>
              </a:rPr>
              <a:t>1.</a:t>
            </a:r>
            <a:endParaRPr sz="2400">
              <a:latin typeface="Palatino Linotype"/>
              <a:cs typeface="Palatino Linotype"/>
            </a:endParaRPr>
          </a:p>
        </p:txBody>
      </p:sp>
      <p:sp>
        <p:nvSpPr>
          <p:cNvPr id="20" name="object 20"/>
          <p:cNvSpPr/>
          <p:nvPr/>
        </p:nvSpPr>
        <p:spPr>
          <a:xfrm>
            <a:off x="1987040" y="5062272"/>
            <a:ext cx="5010151" cy="542925"/>
          </a:xfrm>
          <a:custGeom>
            <a:avLst/>
            <a:gdLst/>
            <a:ahLst/>
            <a:cxnLst/>
            <a:rect b="b" l="l" r="r" t="t"/>
            <a:pathLst>
              <a:path h="542925" w="5010150">
                <a:moveTo>
                  <a:pt x="108330" y="429082"/>
                </a:moveTo>
                <a:lnTo>
                  <a:pt x="0" y="496874"/>
                </a:lnTo>
                <a:lnTo>
                  <a:pt x="119253" y="542861"/>
                </a:lnTo>
                <a:lnTo>
                  <a:pt x="115787" y="506755"/>
                </a:lnTo>
                <a:lnTo>
                  <a:pt x="96647" y="506755"/>
                </a:lnTo>
                <a:lnTo>
                  <a:pt x="89088" y="505971"/>
                </a:lnTo>
                <a:lnTo>
                  <a:pt x="82661" y="502483"/>
                </a:lnTo>
                <a:lnTo>
                  <a:pt x="78044" y="496874"/>
                </a:lnTo>
                <a:lnTo>
                  <a:pt x="75818" y="489610"/>
                </a:lnTo>
                <a:lnTo>
                  <a:pt x="76604" y="482084"/>
                </a:lnTo>
                <a:lnTo>
                  <a:pt x="80105" y="475668"/>
                </a:lnTo>
                <a:lnTo>
                  <a:pt x="85748" y="471029"/>
                </a:lnTo>
                <a:lnTo>
                  <a:pt x="92963" y="468833"/>
                </a:lnTo>
                <a:lnTo>
                  <a:pt x="111972" y="467013"/>
                </a:lnTo>
                <a:lnTo>
                  <a:pt x="108330" y="429082"/>
                </a:lnTo>
                <a:close/>
              </a:path>
              <a:path h="542925" w="5010150">
                <a:moveTo>
                  <a:pt x="111972" y="467013"/>
                </a:moveTo>
                <a:lnTo>
                  <a:pt x="76604" y="482084"/>
                </a:lnTo>
                <a:lnTo>
                  <a:pt x="75818" y="489610"/>
                </a:lnTo>
                <a:lnTo>
                  <a:pt x="78044" y="496874"/>
                </a:lnTo>
                <a:lnTo>
                  <a:pt x="82661" y="502483"/>
                </a:lnTo>
                <a:lnTo>
                  <a:pt x="89088" y="505971"/>
                </a:lnTo>
                <a:lnTo>
                  <a:pt x="96647" y="506755"/>
                </a:lnTo>
                <a:lnTo>
                  <a:pt x="115612" y="504939"/>
                </a:lnTo>
                <a:lnTo>
                  <a:pt x="111972" y="467013"/>
                </a:lnTo>
                <a:close/>
              </a:path>
              <a:path h="542925" w="5010150">
                <a:moveTo>
                  <a:pt x="115612" y="504939"/>
                </a:moveTo>
                <a:lnTo>
                  <a:pt x="96647" y="506755"/>
                </a:lnTo>
                <a:lnTo>
                  <a:pt x="115787" y="506755"/>
                </a:lnTo>
                <a:lnTo>
                  <a:pt x="115711" y="505971"/>
                </a:lnTo>
                <a:lnTo>
                  <a:pt x="115612" y="504939"/>
                </a:lnTo>
                <a:close/>
              </a:path>
              <a:path h="542925" w="5010150">
                <a:moveTo>
                  <a:pt x="4988941" y="0"/>
                </a:moveTo>
                <a:lnTo>
                  <a:pt x="111972" y="467013"/>
                </a:lnTo>
                <a:lnTo>
                  <a:pt x="115612" y="504939"/>
                </a:lnTo>
                <a:lnTo>
                  <a:pt x="4992624" y="37922"/>
                </a:lnTo>
                <a:lnTo>
                  <a:pt x="4999821" y="35725"/>
                </a:lnTo>
                <a:lnTo>
                  <a:pt x="5005435" y="31086"/>
                </a:lnTo>
                <a:lnTo>
                  <a:pt x="5008929" y="24670"/>
                </a:lnTo>
                <a:lnTo>
                  <a:pt x="5009769" y="17145"/>
                </a:lnTo>
                <a:lnTo>
                  <a:pt x="5007550" y="9904"/>
                </a:lnTo>
                <a:lnTo>
                  <a:pt x="5002879" y="4267"/>
                </a:lnTo>
                <a:lnTo>
                  <a:pt x="4996445" y="782"/>
                </a:lnTo>
                <a:lnTo>
                  <a:pt x="4988941" y="0"/>
                </a:lnTo>
                <a:close/>
              </a:path>
            </a:pathLst>
          </a:custGeom>
          <a:solidFill>
            <a:srgbClr val="3493B9"/>
          </a:solidFill>
        </p:spPr>
        <p:txBody>
          <a:bodyPr bIns="0" lIns="0" numCol="1" rIns="0" rtlCol="0" tIns="0" wrap="square"/>
          <a:lstStyle/>
          <a:p>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236D5-A6A1-D0CE-BCFF-96203310AA9B}"/>
              </a:ext>
            </a:extLst>
          </p:cNvPr>
          <p:cNvSpPr>
            <a:spLocks noGrp="1"/>
          </p:cNvSpPr>
          <p:nvPr>
            <p:ph type="title"/>
          </p:nvPr>
        </p:nvSpPr>
        <p:spPr/>
        <p:txBody>
          <a:bodyPr numCol="1"/>
          <a:lstStyle/>
          <a:p>
            <a:r>
              <a:rPr dirty="0" lang="en-US"/>
              <a:t>Pumping Lemma for CFG</a:t>
            </a:r>
            <a:endParaRPr altLang="en-IN" dirty="0" lang="en-IN"/>
          </a:p>
        </p:txBody>
      </p:sp>
      <p:sp>
        <p:nvSpPr>
          <p:cNvPr id="3" name="Content Placeholder 2">
            <a:extLst>
              <a:ext uri="{FF2B5EF4-FFF2-40B4-BE49-F238E27FC236}">
                <a16:creationId xmlns:a16="http://schemas.microsoft.com/office/drawing/2014/main" id="{EEFEA4CB-EA87-DA88-F9BA-9C6922E3A0A1}"/>
              </a:ext>
            </a:extLst>
          </p:cNvPr>
          <p:cNvSpPr>
            <a:spLocks noGrp="1"/>
          </p:cNvSpPr>
          <p:nvPr>
            <p:ph idx="1"/>
          </p:nvPr>
        </p:nvSpPr>
        <p:spPr/>
        <p:txBody>
          <a:bodyPr numCol="1">
            <a:normAutofit/>
          </a:bodyPr>
          <a:lstStyle/>
          <a:p>
            <a:pPr algn="just">
              <a:buFont charset="0" panose="020B0604020202020204" pitchFamily="34" typeface="Arial"/>
              <a:buChar char="•"/>
            </a:pPr>
            <a:r>
              <a:rPr altLang="en-IN" dirty="0" lang="en-IN" sz="2400"/>
              <a:t>Pumping lemma is used to prove that certain language is not context free.</a:t>
            </a:r>
          </a:p>
          <a:p>
            <a:pPr algn="just">
              <a:buFont charset="0" panose="020B0604020202020204" pitchFamily="34" typeface="Arial"/>
              <a:buChar char="•"/>
            </a:pPr>
            <a:r>
              <a:rPr altLang="en-IN" dirty="0" lang="en-IN" sz="2400"/>
              <a:t>Pumping lemma for context-free language gives a method of generating an infinite number of strings from a sufficiently long string in a context free language L.</a:t>
            </a:r>
          </a:p>
          <a:p>
            <a:pPr algn="just">
              <a:buFont charset="0" panose="020B0604020202020204" pitchFamily="34" typeface="Arial"/>
              <a:buChar char="•"/>
            </a:pPr>
            <a:r>
              <a:rPr dirty="0" lang="en-US" sz="2400"/>
              <a:t>Let L be a CFL. Then there exists a constant p&gt; 0 (pumping length) such that if z is a string in L of length at least p (|z| &gt;= p) , then we can write z = </a:t>
            </a:r>
            <a:r>
              <a:rPr dirty="0" err="1" lang="en-US" sz="2400"/>
              <a:t>uvwxy</a:t>
            </a:r>
            <a:r>
              <a:rPr dirty="0" lang="en-US" sz="2400"/>
              <a:t> such that– </a:t>
            </a:r>
          </a:p>
          <a:p>
            <a:pPr algn="just" indent="-285750" lvl="1" marL="578358">
              <a:buFont charset="0" panose="020B0604020202020204" pitchFamily="34" typeface="Arial"/>
              <a:buChar char="•"/>
            </a:pPr>
            <a:r>
              <a:rPr dirty="0" lang="en-US" sz="2000"/>
              <a:t>|</a:t>
            </a:r>
            <a:r>
              <a:rPr dirty="0" err="1" lang="en-US" sz="2000"/>
              <a:t>vwx</a:t>
            </a:r>
            <a:r>
              <a:rPr dirty="0" lang="en-US" sz="2000"/>
              <a:t>| ≤ p</a:t>
            </a:r>
          </a:p>
          <a:p>
            <a:pPr algn="just" indent="-285750" lvl="1" marL="578358">
              <a:buFont charset="0" panose="020B0604020202020204" pitchFamily="34" typeface="Arial"/>
              <a:buChar char="•"/>
            </a:pPr>
            <a:r>
              <a:rPr dirty="0" err="1" lang="en-US" sz="2000"/>
              <a:t>vx</a:t>
            </a:r>
            <a:r>
              <a:rPr dirty="0" lang="en-US" sz="2000"/>
              <a:t> </a:t>
            </a:r>
            <a:r>
              <a:rPr altLang="en-IN" b="0" dirty="0" i="0" lang="en-IN" sz="2000">
                <a:solidFill>
                  <a:srgbClr val="1F1F1F"/>
                </a:solidFill>
                <a:effectLst/>
                <a:latin typeface="Google Sans"/>
              </a:rPr>
              <a:t>≠ </a:t>
            </a:r>
            <a:r>
              <a:rPr dirty="0" lang="en-US" sz="2000"/>
              <a:t> ε,</a:t>
            </a:r>
          </a:p>
          <a:p>
            <a:pPr algn="just" indent="-285750" lvl="1" marL="578358">
              <a:buFont charset="0" panose="020B0604020202020204" pitchFamily="34" typeface="Arial"/>
              <a:buChar char="•"/>
            </a:pPr>
            <a:r>
              <a:rPr dirty="0" lang="en-US" sz="2000"/>
              <a:t>For all i ≥ 0 the string </a:t>
            </a:r>
            <a:r>
              <a:rPr dirty="0" err="1" lang="en-US" sz="2000"/>
              <a:t>uv</a:t>
            </a:r>
            <a:r>
              <a:rPr baseline="30000" dirty="0" err="1" lang="en-US" sz="2000"/>
              <a:t>i</a:t>
            </a:r>
            <a:r>
              <a:rPr dirty="0" err="1" lang="en-US" sz="2000"/>
              <a:t>wx</a:t>
            </a:r>
            <a:r>
              <a:rPr baseline="30000" dirty="0" err="1" lang="en-US" sz="2000"/>
              <a:t>i</a:t>
            </a:r>
            <a:r>
              <a:rPr dirty="0" err="1" lang="en-US" sz="2000"/>
              <a:t>y</a:t>
            </a:r>
            <a:r>
              <a:rPr dirty="0" lang="en-US" sz="2000"/>
              <a:t> ∈ L.</a:t>
            </a:r>
            <a:endParaRPr altLang="en-IN" dirty="0" lang="en-IN" sz="2000"/>
          </a:p>
        </p:txBody>
      </p:sp>
    </p:spTree>
    <p:extLst>
      <p:ext uri="{BB962C8B-B14F-4D97-AF65-F5344CB8AC3E}">
        <p14:creationId xmlns:p14="http://schemas.microsoft.com/office/powerpoint/2010/main" val="1658766506"/>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par>
                                <p:cTn fill="hold" grpId="0" id="15" nodeType="withEffect" presetClass="entr" presetID="1" presetSubtype="0">
                                  <p:stCondLst>
                                    <p:cond delay="0"/>
                                  </p:stCondLst>
                                  <p:childTnLst>
                                    <p:set>
                                      <p:cBhvr>
                                        <p:cTn dur="1" fill="hold" id="16">
                                          <p:stCondLst>
                                            <p:cond delay="0"/>
                                          </p:stCondLst>
                                        </p:cTn>
                                        <p:tgtEl>
                                          <p:spTgt spid="3">
                                            <p:txEl>
                                              <p:pRg end="3" st="3"/>
                                            </p:txEl>
                                          </p:spTgt>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3">
                                            <p:txEl>
                                              <p:pRg end="4" st="4"/>
                                            </p:txEl>
                                          </p:spTgt>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3">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097A-A672-0E74-E02D-A3EA91557C6B}"/>
              </a:ext>
            </a:extLst>
          </p:cNvPr>
          <p:cNvSpPr>
            <a:spLocks noGrp="1"/>
          </p:cNvSpPr>
          <p:nvPr>
            <p:ph type="title"/>
          </p:nvPr>
        </p:nvSpPr>
        <p:spPr/>
        <p:txBody>
          <a:bodyPr numCol="1"/>
          <a:lstStyle/>
          <a:p>
            <a:r>
              <a:rPr altLang="en-IN" dirty="0" lang="en-IN"/>
              <a:t>Applying Pumping Lemma</a:t>
            </a:r>
          </a:p>
        </p:txBody>
      </p:sp>
      <p:sp>
        <p:nvSpPr>
          <p:cNvPr id="3" name="Content Placeholder 2">
            <a:extLst>
              <a:ext uri="{FF2B5EF4-FFF2-40B4-BE49-F238E27FC236}">
                <a16:creationId xmlns:a16="http://schemas.microsoft.com/office/drawing/2014/main" id="{C142343B-1B85-5810-469E-37E45A40DE0D}"/>
              </a:ext>
            </a:extLst>
          </p:cNvPr>
          <p:cNvSpPr>
            <a:spLocks noGrp="1"/>
          </p:cNvSpPr>
          <p:nvPr>
            <p:ph idx="1"/>
          </p:nvPr>
        </p:nvSpPr>
        <p:spPr>
          <a:xfrm>
            <a:off x="1345652" y="1991837"/>
            <a:ext cx="10058400" cy="4023274"/>
          </a:xfrm>
        </p:spPr>
        <p:txBody>
          <a:bodyPr numCol="1">
            <a:normAutofit/>
          </a:bodyPr>
          <a:lstStyle/>
          <a:p>
            <a:pPr indent="-457200" marL="457200">
              <a:buFont typeface="+mj-lt"/>
              <a:buAutoNum type="arabicPeriod"/>
            </a:pPr>
            <a:r>
              <a:rPr altLang="en-IN" dirty="0" lang="en-IN" sz="2800"/>
              <a:t>Assume language L is CFL</a:t>
            </a:r>
          </a:p>
          <a:p>
            <a:pPr indent="-457200" marL="457200">
              <a:buFont typeface="+mj-lt"/>
              <a:buAutoNum type="arabicPeriod"/>
            </a:pPr>
            <a:r>
              <a:rPr dirty="0" lang="en-US" sz="2800"/>
              <a:t>Let strings z ∈ L with |z| ≥ p</a:t>
            </a:r>
          </a:p>
          <a:p>
            <a:pPr indent="-457200" marL="457200">
              <a:buFont typeface="+mj-lt"/>
              <a:buAutoNum type="arabicPeriod"/>
            </a:pPr>
            <a:r>
              <a:rPr altLang="en-IN" dirty="0" lang="en-IN" sz="2800"/>
              <a:t>for all u, v, w, x, y ∈ </a:t>
            </a:r>
            <a:r>
              <a:rPr altLang="el-GR" dirty="0" lang="el-GR" sz="2800"/>
              <a:t>Σ</a:t>
            </a:r>
            <a:r>
              <a:rPr altLang="en-IN" dirty="0" lang="en-IN" sz="2800"/>
              <a:t>*</a:t>
            </a:r>
            <a:r>
              <a:rPr altLang="el-GR" dirty="0" lang="el-GR" sz="2800"/>
              <a:t>  </a:t>
            </a:r>
            <a:r>
              <a:rPr altLang="en-IN" dirty="0" lang="en-IN" sz="2800"/>
              <a:t>with z = </a:t>
            </a:r>
            <a:r>
              <a:rPr altLang="en-IN" dirty="0" err="1" lang="en-IN" sz="2800"/>
              <a:t>uvwxy</a:t>
            </a:r>
            <a:r>
              <a:rPr altLang="en-IN" dirty="0" lang="en-IN" sz="2800"/>
              <a:t>, |</a:t>
            </a:r>
            <a:r>
              <a:rPr altLang="en-IN" dirty="0" err="1" lang="en-IN" sz="2800"/>
              <a:t>vx</a:t>
            </a:r>
            <a:r>
              <a:rPr altLang="en-IN" dirty="0" lang="en-IN" sz="2800"/>
              <a:t>| &gt; 0, |</a:t>
            </a:r>
            <a:r>
              <a:rPr altLang="en-IN" dirty="0" err="1" lang="en-IN" sz="2800"/>
              <a:t>vwx</a:t>
            </a:r>
            <a:r>
              <a:rPr altLang="en-IN" dirty="0" lang="en-IN" sz="2800"/>
              <a:t>| ≤ p we have that there exists i ≥ 0 such that </a:t>
            </a:r>
            <a:r>
              <a:rPr altLang="en-IN" dirty="0" err="1" lang="en-IN" sz="2800"/>
              <a:t>uv</a:t>
            </a:r>
            <a:r>
              <a:rPr altLang="en-IN" baseline="30000" dirty="0" err="1" lang="en-IN" sz="2800"/>
              <a:t>i</a:t>
            </a:r>
            <a:r>
              <a:rPr altLang="en-IN" dirty="0" err="1" lang="en-IN" sz="2800"/>
              <a:t>wx</a:t>
            </a:r>
            <a:r>
              <a:rPr altLang="en-IN" baseline="30000" dirty="0" err="1" lang="en-IN" sz="2800"/>
              <a:t>i</a:t>
            </a:r>
            <a:r>
              <a:rPr altLang="en-IN" dirty="0" err="1" lang="en-IN" sz="2800"/>
              <a:t>y</a:t>
            </a:r>
            <a:r>
              <a:rPr altLang="en-IN" dirty="0" lang="en-IN" sz="2800"/>
              <a:t> </a:t>
            </a:r>
            <a:r>
              <a:rPr altLang="en-IN" b="0" dirty="0" i="0" lang="en-IN" sz="2800">
                <a:solidFill>
                  <a:srgbClr val="1F1F1F"/>
                </a:solidFill>
                <a:effectLst/>
                <a:latin typeface="Google Sans"/>
              </a:rPr>
              <a:t>∉</a:t>
            </a:r>
            <a:r>
              <a:rPr altLang="en-IN" dirty="0" lang="en-IN" sz="2800"/>
              <a:t> L.</a:t>
            </a:r>
          </a:p>
          <a:p>
            <a:pPr indent="-457200" marL="457200">
              <a:buFont typeface="+mj-lt"/>
              <a:buAutoNum type="arabicPeriod"/>
            </a:pPr>
            <a:r>
              <a:rPr altLang="en-IN" dirty="0" lang="en-IN" sz="2800"/>
              <a:t>Thus </a:t>
            </a:r>
            <a:r>
              <a:rPr dirty="0" lang="en-US" sz="2800"/>
              <a:t>L ∈ Σ* is not a context-free language.</a:t>
            </a:r>
            <a:endParaRPr altLang="en-IN" dirty="0" lang="en-IN" sz="2800"/>
          </a:p>
        </p:txBody>
      </p:sp>
    </p:spTree>
    <p:extLst>
      <p:ext uri="{BB962C8B-B14F-4D97-AF65-F5344CB8AC3E}">
        <p14:creationId xmlns:p14="http://schemas.microsoft.com/office/powerpoint/2010/main" val="148191983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3">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3">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3">
                                            <p:txEl>
                                              <p:pRg end="3" st="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8FCB36-2F0F-D1B9-7EA4-0BC3BDA543D5}"/>
              </a:ext>
            </a:extLst>
          </p:cNvPr>
          <p:cNvSpPr txBox="1"/>
          <p:nvPr/>
        </p:nvSpPr>
        <p:spPr>
          <a:xfrm>
            <a:off x="488632" y="363974"/>
            <a:ext cx="11181398" cy="6042680"/>
          </a:xfrm>
          <a:prstGeom prst="rect">
            <a:avLst/>
          </a:prstGeom>
          <a:noFill/>
        </p:spPr>
        <p:txBody>
          <a:bodyPr numCol="1" wrap="square">
            <a:spAutoFit/>
          </a:bodyPr>
          <a:lstStyle/>
          <a:p>
            <a:r>
              <a:rPr altLang="en-IN" b="1" dirty="0" lang="en-IN" sz="2000">
                <a:latin charset="0" panose="02020603050405020304" pitchFamily="18" typeface="Times New Roman"/>
                <a:cs charset="0" panose="02020603050405020304" pitchFamily="18" typeface="Times New Roman"/>
              </a:rPr>
              <a:t>Example: Show that L = {aⁿbⁿcⁿ | n ≥ 0} is not Context Free Language. </a:t>
            </a:r>
          </a:p>
          <a:p>
            <a:endParaRPr altLang="en-IN" b="1" dirty="0" lang="en-IN" sz="2000">
              <a:latin charset="0" panose="02020603050405020304" pitchFamily="18" typeface="Times New Roman"/>
              <a:cs charset="0" panose="02020603050405020304" pitchFamily="18" typeface="Times New Roman"/>
            </a:endParaRPr>
          </a:p>
          <a:p>
            <a:r>
              <a:rPr altLang="en-IN" b="1" dirty="0" lang="en-IN" sz="2000">
                <a:latin charset="0" panose="02020603050405020304" pitchFamily="18" typeface="Times New Roman"/>
                <a:cs charset="0" panose="02020603050405020304" pitchFamily="18" typeface="Times New Roman"/>
              </a:rPr>
              <a:t>Solution: </a:t>
            </a:r>
            <a:r>
              <a:rPr altLang="en-IN" dirty="0" lang="en-IN" sz="2000">
                <a:latin charset="0" panose="02020603050405020304" pitchFamily="18" typeface="Times New Roman"/>
                <a:cs charset="0" panose="02020603050405020304" pitchFamily="18" typeface="Times New Roman"/>
              </a:rPr>
              <a:t>Step1: Assume L is a CFL</a:t>
            </a:r>
          </a:p>
          <a:p>
            <a:r>
              <a:rPr altLang="en-IN" dirty="0" lang="en-IN" sz="2000">
                <a:latin charset="0" panose="02020603050405020304" pitchFamily="18" typeface="Times New Roman"/>
                <a:cs charset="0" panose="02020603050405020304" pitchFamily="18" typeface="Times New Roman"/>
              </a:rPr>
              <a:t>Step 2: Let p be the pumping length</a:t>
            </a:r>
          </a:p>
          <a:p>
            <a:r>
              <a:rPr altLang="en-IN" dirty="0" lang="en-IN" sz="2000">
                <a:latin charset="0" panose="02020603050405020304" pitchFamily="18" typeface="Times New Roman"/>
                <a:cs charset="0" panose="02020603050405020304" pitchFamily="18" typeface="Times New Roman"/>
              </a:rPr>
              <a:t>Step 3: Assume a string with length at least p.  Assume z =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p</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p</a:t>
            </a:r>
            <a:r>
              <a:rPr altLang="en-IN" dirty="0" err="1" lang="en-IN" sz="2000">
                <a:latin charset="0" panose="02020603050405020304" pitchFamily="18" typeface="Times New Roman"/>
                <a:cs charset="0" panose="02020603050405020304" pitchFamily="18" typeface="Times New Roman"/>
              </a:rPr>
              <a:t>c</a:t>
            </a:r>
            <a:r>
              <a:rPr altLang="en-IN" baseline="30000" dirty="0" err="1" lang="en-IN" sz="2000">
                <a:latin charset="0" panose="02020603050405020304" pitchFamily="18" typeface="Times New Roman"/>
                <a:cs charset="0" panose="02020603050405020304" pitchFamily="18" typeface="Times New Roman"/>
              </a:rPr>
              <a:t>p</a:t>
            </a:r>
            <a:r>
              <a:rPr altLang="en-IN" dirty="0" lang="en-IN" sz="2000">
                <a:latin charset="0" panose="02020603050405020304" pitchFamily="18" typeface="Times New Roman"/>
                <a:cs charset="0" panose="02020603050405020304" pitchFamily="18" typeface="Times New Roman"/>
              </a:rPr>
              <a:t>. Then |z| = 3p &gt;p.</a:t>
            </a:r>
          </a:p>
          <a:p>
            <a:r>
              <a:rPr altLang="en-IN" dirty="0" lang="en-IN" sz="2000">
                <a:latin charset="0" panose="02020603050405020304" pitchFamily="18" typeface="Times New Roman"/>
                <a:cs charset="0" panose="02020603050405020304" pitchFamily="18" typeface="Times New Roman"/>
              </a:rPr>
              <a:t>Step 4: write z = </a:t>
            </a:r>
            <a:r>
              <a:rPr altLang="en-IN" dirty="0" err="1" lang="en-IN" sz="2000">
                <a:latin charset="0" panose="02020603050405020304" pitchFamily="18" typeface="Times New Roman"/>
                <a:cs charset="0" panose="02020603050405020304" pitchFamily="18" typeface="Times New Roman"/>
              </a:rPr>
              <a:t>uvwxy</a:t>
            </a:r>
            <a:r>
              <a:rPr altLang="en-IN" dirty="0" lang="en-IN" sz="2000">
                <a:latin charset="0" panose="02020603050405020304" pitchFamily="18" typeface="Times New Roman"/>
                <a:cs charset="0" panose="02020603050405020304" pitchFamily="18" typeface="Times New Roman"/>
              </a:rPr>
              <a:t> , where |</a:t>
            </a:r>
            <a:r>
              <a:rPr altLang="en-IN" dirty="0" err="1" lang="en-IN" sz="2000">
                <a:latin charset="0" panose="02020603050405020304" pitchFamily="18" typeface="Times New Roman"/>
                <a:cs charset="0" panose="02020603050405020304" pitchFamily="18" typeface="Times New Roman"/>
              </a:rPr>
              <a:t>vx</a:t>
            </a:r>
            <a:r>
              <a:rPr altLang="en-IN" dirty="0" lang="en-IN" sz="2000">
                <a:latin charset="0" panose="02020603050405020304" pitchFamily="18" typeface="Times New Roman"/>
                <a:cs charset="0" panose="02020603050405020304" pitchFamily="18" typeface="Times New Roman"/>
              </a:rPr>
              <a:t>| &gt;=1, </a:t>
            </a:r>
          </a:p>
          <a:p>
            <a:r>
              <a:rPr altLang="en-IN" dirty="0" lang="en-IN" sz="2000">
                <a:latin charset="0" panose="02020603050405020304" pitchFamily="18" typeface="Times New Roman"/>
                <a:cs charset="0" panose="02020603050405020304" pitchFamily="18" typeface="Times New Roman"/>
              </a:rPr>
              <a:t>Step 5: because 1&lt;=|</a:t>
            </a:r>
            <a:r>
              <a:rPr altLang="en-IN" dirty="0" err="1" lang="en-IN" sz="2000">
                <a:latin charset="0" panose="02020603050405020304" pitchFamily="18" typeface="Times New Roman"/>
                <a:cs charset="0" panose="02020603050405020304" pitchFamily="18" typeface="Times New Roman"/>
              </a:rPr>
              <a:t>vwx</a:t>
            </a:r>
            <a:r>
              <a:rPr altLang="en-IN" dirty="0" lang="en-IN" sz="2000">
                <a:latin charset="0" panose="02020603050405020304" pitchFamily="18" typeface="Times New Roman"/>
                <a:cs charset="0" panose="02020603050405020304" pitchFamily="18" typeface="Times New Roman"/>
              </a:rPr>
              <a:t>| &lt;= p  then  meaning v or x cannot contain all three symbol a, b, c</a:t>
            </a:r>
          </a:p>
          <a:p>
            <a:r>
              <a:rPr altLang="en-IN" dirty="0" lang="en-IN" sz="2000">
                <a:latin charset="0" panose="02020603050405020304" pitchFamily="18" typeface="Times New Roman"/>
                <a:cs charset="0" panose="02020603050405020304" pitchFamily="18" typeface="Times New Roman"/>
              </a:rPr>
              <a:t>So (i) v or x is of form either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j</a:t>
            </a:r>
            <a:r>
              <a:rPr altLang="en-IN" dirty="0" lang="en-IN" sz="2000">
                <a:latin charset="0" panose="02020603050405020304" pitchFamily="18" typeface="Times New Roman"/>
                <a:cs charset="0" panose="02020603050405020304" pitchFamily="18" typeface="Times New Roman"/>
              </a:rPr>
              <a:t>  or </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c</a:t>
            </a:r>
            <a:r>
              <a:rPr altLang="en-IN" baseline="30000" dirty="0" err="1" lang="en-IN" sz="2000">
                <a:latin charset="0" panose="02020603050405020304" pitchFamily="18" typeface="Times New Roman"/>
                <a:cs charset="0" panose="02020603050405020304" pitchFamily="18" typeface="Times New Roman"/>
              </a:rPr>
              <a:t>j</a:t>
            </a:r>
            <a:r>
              <a:rPr altLang="en-IN" dirty="0" lang="en-IN" sz="2000">
                <a:latin charset="0" panose="02020603050405020304" pitchFamily="18" typeface="Times New Roman"/>
                <a:cs charset="0" panose="02020603050405020304" pitchFamily="18" typeface="Times New Roman"/>
              </a:rPr>
              <a:t> for some i and j such that </a:t>
            </a:r>
            <a:r>
              <a:rPr altLang="en-IN" dirty="0" err="1" lang="en-IN" sz="2000">
                <a:latin charset="0" panose="02020603050405020304" pitchFamily="18" typeface="Times New Roman"/>
                <a:cs charset="0" panose="02020603050405020304" pitchFamily="18" typeface="Times New Roman"/>
              </a:rPr>
              <a:t>i+j</a:t>
            </a:r>
            <a:r>
              <a:rPr altLang="en-IN" dirty="0" lang="en-IN" sz="2000">
                <a:latin charset="0" panose="02020603050405020304" pitchFamily="18" typeface="Times New Roman"/>
                <a:cs charset="0" panose="02020603050405020304" pitchFamily="18" typeface="Times New Roman"/>
              </a:rPr>
              <a:t> &lt;=n</a:t>
            </a:r>
          </a:p>
          <a:p>
            <a:r>
              <a:rPr altLang="en-IN" dirty="0" lang="en-IN" sz="2000">
                <a:latin charset="0" panose="02020603050405020304" pitchFamily="18" typeface="Times New Roman"/>
                <a:cs charset="0" panose="02020603050405020304" pitchFamily="18" typeface="Times New Roman"/>
              </a:rPr>
              <a:t>(ii) v or x is a string formed by repetition of only one symbol among a, b, c.</a:t>
            </a:r>
          </a:p>
          <a:p>
            <a:endParaRPr altLang="en-IN" dirty="0" lang="en-IN" sz="2000">
              <a:latin charset="0" panose="02020603050405020304" pitchFamily="18" typeface="Times New Roman"/>
              <a:cs charset="0" panose="02020603050405020304" pitchFamily="18" typeface="Times New Roman"/>
            </a:endParaRPr>
          </a:p>
          <a:p>
            <a:r>
              <a:rPr altLang="en-IN" dirty="0" lang="en-IN" sz="2000">
                <a:latin charset="0" panose="02020603050405020304" pitchFamily="18" typeface="Times New Roman"/>
                <a:cs charset="0" panose="02020603050405020304" pitchFamily="18" typeface="Times New Roman"/>
              </a:rPr>
              <a:t>v or x is of form either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j</a:t>
            </a:r>
            <a:r>
              <a:rPr altLang="en-IN" dirty="0" lang="en-IN" sz="2000">
                <a:latin charset="0" panose="02020603050405020304" pitchFamily="18" typeface="Times New Roman"/>
                <a:cs charset="0" panose="02020603050405020304" pitchFamily="18" typeface="Times New Roman"/>
              </a:rPr>
              <a:t>  , v</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j</a:t>
            </a:r>
            <a:r>
              <a:rPr altLang="en-IN" dirty="0" lang="en-IN" sz="2000">
                <a:latin charset="0" panose="02020603050405020304" pitchFamily="18" typeface="Times New Roman"/>
                <a:cs charset="0" panose="02020603050405020304" pitchFamily="18" typeface="Times New Roman"/>
              </a:rPr>
              <a:t>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j</a:t>
            </a:r>
            <a:endParaRPr altLang="en-IN" baseline="30000" dirty="0" lang="en-IN" sz="2000">
              <a:latin charset="0" panose="02020603050405020304" pitchFamily="18" typeface="Times New Roman"/>
              <a:cs charset="0" panose="02020603050405020304" pitchFamily="18" typeface="Times New Roman"/>
            </a:endParaRPr>
          </a:p>
          <a:p>
            <a:r>
              <a:rPr altLang="en-IN" dirty="0" lang="en-IN" sz="2000">
                <a:latin charset="0" panose="02020603050405020304" pitchFamily="18" typeface="Times New Roman"/>
                <a:cs charset="0" panose="02020603050405020304" pitchFamily="18" typeface="Times New Roman"/>
              </a:rPr>
              <a:t>Then for i= 2 in </a:t>
            </a:r>
            <a:r>
              <a:rPr altLang="en-IN" dirty="0" err="1" lang="en-IN" sz="2000">
                <a:latin charset="0" panose="02020603050405020304" pitchFamily="18" typeface="Times New Roman"/>
                <a:cs charset="0" panose="02020603050405020304" pitchFamily="18" typeface="Times New Roman"/>
              </a:rPr>
              <a:t>uv</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wx</a:t>
            </a:r>
            <a:r>
              <a:rPr altLang="en-IN" baseline="30000" dirty="0" err="1" lang="en-IN" sz="2000">
                <a:latin charset="0" panose="02020603050405020304" pitchFamily="18" typeface="Times New Roman"/>
                <a:cs charset="0" panose="02020603050405020304" pitchFamily="18" typeface="Times New Roman"/>
              </a:rPr>
              <a:t>i</a:t>
            </a:r>
            <a:r>
              <a:rPr altLang="en-IN" dirty="0" err="1" lang="en-IN" sz="2000">
                <a:latin charset="0" panose="02020603050405020304" pitchFamily="18" typeface="Times New Roman"/>
                <a:cs charset="0" panose="02020603050405020304" pitchFamily="18" typeface="Times New Roman"/>
              </a:rPr>
              <a:t>y</a:t>
            </a:r>
            <a:r>
              <a:rPr altLang="en-IN" dirty="0" lang="en-IN" sz="2000">
                <a:latin charset="0" panose="02020603050405020304" pitchFamily="18" typeface="Times New Roman"/>
                <a:cs charset="0" panose="02020603050405020304" pitchFamily="18" typeface="Times New Roman"/>
              </a:rPr>
              <a:t>= uv</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wx</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y  cannot be of form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m</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m</a:t>
            </a:r>
            <a:r>
              <a:rPr altLang="en-IN" dirty="0" err="1" lang="en-IN" sz="2000">
                <a:latin charset="0" panose="02020603050405020304" pitchFamily="18" typeface="Times New Roman"/>
                <a:cs charset="0" panose="02020603050405020304" pitchFamily="18" typeface="Times New Roman"/>
              </a:rPr>
              <a:t>c</a:t>
            </a:r>
            <a:r>
              <a:rPr altLang="en-IN" baseline="30000" dirty="0" err="1" lang="en-IN" sz="2000">
                <a:latin charset="0" panose="02020603050405020304" pitchFamily="18" typeface="Times New Roman"/>
                <a:cs charset="0" panose="02020603050405020304" pitchFamily="18" typeface="Times New Roman"/>
              </a:rPr>
              <a:t>m</a:t>
            </a:r>
            <a:r>
              <a:rPr altLang="en-IN" baseline="30000" dirty="0" lang="en-IN" sz="2000">
                <a:latin charset="0" panose="02020603050405020304" pitchFamily="18" typeface="Times New Roman"/>
                <a:cs charset="0" panose="02020603050405020304" pitchFamily="18" typeface="Times New Roman"/>
              </a:rPr>
              <a:t> </a:t>
            </a:r>
            <a:r>
              <a:rPr altLang="en-IN" dirty="0" lang="en-IN" sz="2000">
                <a:latin charset="0" panose="02020603050405020304" pitchFamily="18" typeface="Times New Roman"/>
                <a:cs charset="0" panose="02020603050405020304" pitchFamily="18" typeface="Times New Roman"/>
              </a:rPr>
              <a:t>. Thus uv</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wx</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y</a:t>
            </a:r>
            <a:r>
              <a:rPr altLang="en-IN" b="0" dirty="0" i="0" lang="en-IN" sz="2000">
                <a:solidFill>
                  <a:srgbClr val="1F1F1F"/>
                </a:solidFill>
                <a:effectLst/>
                <a:latin charset="0" panose="02020603050405020304" pitchFamily="18" typeface="Times New Roman"/>
                <a:cs charset="0" panose="02020603050405020304" pitchFamily="18" typeface="Times New Roman"/>
              </a:rPr>
              <a:t> ∉</a:t>
            </a:r>
            <a:r>
              <a:rPr altLang="en-IN" dirty="0" lang="en-IN" sz="2000">
                <a:latin charset="0" panose="02020603050405020304" pitchFamily="18" typeface="Times New Roman"/>
                <a:cs charset="0" panose="02020603050405020304" pitchFamily="18" typeface="Times New Roman"/>
              </a:rPr>
              <a:t> L</a:t>
            </a:r>
            <a:endParaRPr altLang="en-IN" baseline="30000" dirty="0" lang="en-IN" sz="2000">
              <a:latin charset="0" panose="02020603050405020304" pitchFamily="18" typeface="Times New Roman"/>
              <a:cs charset="0" panose="02020603050405020304" pitchFamily="18" typeface="Times New Roman"/>
            </a:endParaRPr>
          </a:p>
          <a:p>
            <a:endParaRPr altLang="en-IN" baseline="30000" dirty="0" lang="en-IN" sz="2000">
              <a:latin charset="0" panose="02020603050405020304" pitchFamily="18" typeface="Times New Roman"/>
              <a:cs charset="0" panose="02020603050405020304" pitchFamily="18" typeface="Times New Roman"/>
            </a:endParaRPr>
          </a:p>
          <a:p>
            <a:r>
              <a:rPr altLang="en-IN" dirty="0" lang="en-IN" sz="2000">
                <a:latin charset="0" panose="02020603050405020304" pitchFamily="18" typeface="Times New Roman"/>
                <a:cs charset="0" panose="02020603050405020304" pitchFamily="18" typeface="Times New Roman"/>
              </a:rPr>
              <a:t>v or x is a string formed by repetition of only one symbol. Then also pumping that symbol will not form </a:t>
            </a:r>
            <a:r>
              <a:rPr altLang="en-IN" dirty="0" err="1" lang="en-IN" sz="2000">
                <a:latin charset="0" panose="02020603050405020304" pitchFamily="18" typeface="Times New Roman"/>
                <a:cs charset="0" panose="02020603050405020304" pitchFamily="18" typeface="Times New Roman"/>
              </a:rPr>
              <a:t>a</a:t>
            </a:r>
            <a:r>
              <a:rPr altLang="en-IN" baseline="30000" dirty="0" err="1" lang="en-IN" sz="2000">
                <a:latin charset="0" panose="02020603050405020304" pitchFamily="18" typeface="Times New Roman"/>
                <a:cs charset="0" panose="02020603050405020304" pitchFamily="18" typeface="Times New Roman"/>
              </a:rPr>
              <a:t>m</a:t>
            </a:r>
            <a:r>
              <a:rPr altLang="en-IN" dirty="0" err="1" lang="en-IN" sz="2000">
                <a:latin charset="0" panose="02020603050405020304" pitchFamily="18" typeface="Times New Roman"/>
                <a:cs charset="0" panose="02020603050405020304" pitchFamily="18" typeface="Times New Roman"/>
              </a:rPr>
              <a:t>b</a:t>
            </a:r>
            <a:r>
              <a:rPr altLang="en-IN" baseline="30000" dirty="0" err="1" lang="en-IN" sz="2000">
                <a:latin charset="0" panose="02020603050405020304" pitchFamily="18" typeface="Times New Roman"/>
                <a:cs charset="0" panose="02020603050405020304" pitchFamily="18" typeface="Times New Roman"/>
              </a:rPr>
              <a:t>m</a:t>
            </a:r>
            <a:r>
              <a:rPr altLang="en-IN" dirty="0" err="1" lang="en-IN" sz="2000">
                <a:latin charset="0" panose="02020603050405020304" pitchFamily="18" typeface="Times New Roman"/>
                <a:cs charset="0" panose="02020603050405020304" pitchFamily="18" typeface="Times New Roman"/>
              </a:rPr>
              <a:t>c</a:t>
            </a:r>
            <a:r>
              <a:rPr altLang="en-IN" baseline="30000" dirty="0" err="1" lang="en-IN" sz="2000">
                <a:latin charset="0" panose="02020603050405020304" pitchFamily="18" typeface="Times New Roman"/>
                <a:cs charset="0" panose="02020603050405020304" pitchFamily="18" typeface="Times New Roman"/>
              </a:rPr>
              <a:t>m</a:t>
            </a:r>
            <a:r>
              <a:rPr altLang="en-IN" baseline="30000" dirty="0" lang="en-IN" sz="2000">
                <a:latin charset="0" panose="02020603050405020304" pitchFamily="18" typeface="Times New Roman"/>
                <a:cs charset="0" panose="02020603050405020304" pitchFamily="18" typeface="Times New Roman"/>
              </a:rPr>
              <a:t> </a:t>
            </a:r>
            <a:r>
              <a:rPr altLang="en-IN" dirty="0" lang="en-IN" sz="2000">
                <a:latin charset="0" panose="02020603050405020304" pitchFamily="18" typeface="Times New Roman"/>
                <a:cs charset="0" panose="02020603050405020304" pitchFamily="18" typeface="Times New Roman"/>
              </a:rPr>
              <a:t>. Thus uv</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wx</a:t>
            </a:r>
            <a:r>
              <a:rPr altLang="en-IN" baseline="30000" dirty="0" lang="en-IN" sz="2000">
                <a:latin charset="0" panose="02020603050405020304" pitchFamily="18" typeface="Times New Roman"/>
                <a:cs charset="0" panose="02020603050405020304" pitchFamily="18" typeface="Times New Roman"/>
              </a:rPr>
              <a:t>2</a:t>
            </a:r>
            <a:r>
              <a:rPr altLang="en-IN" dirty="0" lang="en-IN" sz="2000">
                <a:latin charset="0" panose="02020603050405020304" pitchFamily="18" typeface="Times New Roman"/>
                <a:cs charset="0" panose="02020603050405020304" pitchFamily="18" typeface="Times New Roman"/>
              </a:rPr>
              <a:t>y</a:t>
            </a:r>
            <a:r>
              <a:rPr altLang="en-IN" b="0" dirty="0" i="0" lang="en-IN" sz="2000">
                <a:solidFill>
                  <a:srgbClr val="1F1F1F"/>
                </a:solidFill>
                <a:effectLst/>
                <a:latin charset="0" panose="02020603050405020304" pitchFamily="18" typeface="Times New Roman"/>
                <a:cs charset="0" panose="02020603050405020304" pitchFamily="18" typeface="Times New Roman"/>
              </a:rPr>
              <a:t> ∉</a:t>
            </a:r>
            <a:r>
              <a:rPr altLang="en-IN" dirty="0" lang="en-IN" sz="2000">
                <a:latin charset="0" panose="02020603050405020304" pitchFamily="18" typeface="Times New Roman"/>
                <a:cs charset="0" panose="02020603050405020304" pitchFamily="18" typeface="Times New Roman"/>
              </a:rPr>
              <a:t> L</a:t>
            </a:r>
            <a:endParaRPr altLang="en-IN" baseline="30000" dirty="0" lang="en-IN" sz="2000">
              <a:latin charset="0" panose="02020603050405020304" pitchFamily="18" typeface="Times New Roman"/>
              <a:cs charset="0" panose="02020603050405020304" pitchFamily="18" typeface="Times New Roman"/>
            </a:endParaRPr>
          </a:p>
          <a:p>
            <a:endParaRPr altLang="en-IN" dirty="0" lang="en-IN" sz="2000">
              <a:latin charset="0" panose="02020603050405020304" pitchFamily="18" typeface="Times New Roman"/>
              <a:cs charset="0" panose="02020603050405020304" pitchFamily="18" typeface="Times New Roman"/>
            </a:endParaRPr>
          </a:p>
          <a:p>
            <a:pPr algn="l">
              <a:buNone/>
            </a:pPr>
            <a:r>
              <a:rPr altLang="en-IN" dirty="0" lang="en-IN" sz="2000">
                <a:latin charset="0" panose="02020603050405020304" pitchFamily="18" typeface="Times New Roman"/>
                <a:cs charset="0" panose="02020603050405020304" pitchFamily="18" typeface="Times New Roman"/>
              </a:rPr>
              <a:t>Step 6: </a:t>
            </a:r>
            <a:r>
              <a:rPr b="0" dirty="0" i="0" lang="en-US" sz="2000">
                <a:solidFill>
                  <a:srgbClr val="000000"/>
                </a:solidFill>
                <a:effectLst/>
                <a:latin charset="0" panose="02020603050405020304" pitchFamily="18" typeface="Times New Roman"/>
                <a:cs charset="0" panose="02020603050405020304" pitchFamily="18" typeface="Times New Roman"/>
              </a:rPr>
              <a:t>Here contradiction occurs.</a:t>
            </a:r>
          </a:p>
          <a:p>
            <a:pPr algn="l"/>
            <a:r>
              <a:rPr b="0" dirty="0" i="0" lang="en-US" sz="2000">
                <a:solidFill>
                  <a:srgbClr val="000000"/>
                </a:solidFill>
                <a:effectLst/>
                <a:latin charset="0" panose="02020603050405020304" pitchFamily="18" typeface="Times New Roman"/>
                <a:cs charset="0" panose="02020603050405020304" pitchFamily="18" typeface="Times New Roman"/>
              </a:rPr>
              <a:t>Hence, </a:t>
            </a:r>
            <a:r>
              <a:rPr b="1" dirty="0" i="0" lang="en-US" sz="2000">
                <a:solidFill>
                  <a:srgbClr val="000000"/>
                </a:solidFill>
                <a:effectLst/>
                <a:latin charset="0" panose="02020603050405020304" pitchFamily="18" typeface="Times New Roman"/>
                <a:cs charset="0" panose="02020603050405020304" pitchFamily="18" typeface="Times New Roman"/>
              </a:rPr>
              <a:t>L</a:t>
            </a:r>
            <a:r>
              <a:rPr b="0" dirty="0" i="0" lang="en-US" sz="2000">
                <a:solidFill>
                  <a:srgbClr val="000000"/>
                </a:solidFill>
                <a:effectLst/>
                <a:latin charset="0" panose="02020603050405020304" pitchFamily="18" typeface="Times New Roman"/>
                <a:cs charset="0" panose="02020603050405020304" pitchFamily="18" typeface="Times New Roman"/>
              </a:rPr>
              <a:t> is not a context-free language.</a:t>
            </a:r>
          </a:p>
          <a:p>
            <a:r>
              <a:rPr altLang="en-IN" dirty="0" lang="en-IN" sz="2000">
                <a:latin charset="0" panose="02020603050405020304" pitchFamily="18" typeface="Times New Roman"/>
                <a:cs charset="0" panose="02020603050405020304" pitchFamily="18" typeface="Times New Roman"/>
              </a:rPr>
              <a:t> </a:t>
            </a:r>
          </a:p>
        </p:txBody>
      </p:sp>
    </p:spTree>
    <p:extLst>
      <p:ext uri="{BB962C8B-B14F-4D97-AF65-F5344CB8AC3E}">
        <p14:creationId xmlns:p14="http://schemas.microsoft.com/office/powerpoint/2010/main" val="96037062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3">
                                            <p:txEl>
                                              <p:pRg end="2" st="2"/>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3">
                                            <p:txEl>
                                              <p:pRg end="3" st="3"/>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3">
                                            <p:txEl>
                                              <p:pRg end="4" st="4"/>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 presetSubtype="0">
                                  <p:stCondLst>
                                    <p:cond delay="0"/>
                                  </p:stCondLst>
                                  <p:childTnLst>
                                    <p:set>
                                      <p:cBhvr>
                                        <p:cTn dur="1" fill="hold" id="16">
                                          <p:stCondLst>
                                            <p:cond delay="0"/>
                                          </p:stCondLst>
                                        </p:cTn>
                                        <p:tgtEl>
                                          <p:spTgt spid="3">
                                            <p:txEl>
                                              <p:pRg end="5" st="5"/>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3">
                                            <p:txEl>
                                              <p:pRg end="6" st="6"/>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3">
                                            <p:txEl>
                                              <p:pRg end="7" st="7"/>
                                            </p:txEl>
                                          </p:spTgt>
                                        </p:tgtEl>
                                        <p:attrNameLst>
                                          <p:attrName>style.visibility</p:attrName>
                                        </p:attrNameLst>
                                      </p:cBhvr>
                                      <p:to>
                                        <p:strVal val="visible"/>
                                      </p:to>
                                    </p:set>
                                  </p:childTnLst>
                                </p:cTn>
                              </p:par>
                            </p:childTnLst>
                          </p:cTn>
                        </p:par>
                      </p:childTnLst>
                    </p:cTn>
                  </p:par>
                  <p:par>
                    <p:cTn fill="hold" id="25">
                      <p:stCondLst>
                        <p:cond delay="indefinite"/>
                      </p:stCondLst>
                      <p:childTnLst>
                        <p:par>
                          <p:cTn fill="hold" id="26">
                            <p:stCondLst>
                              <p:cond delay="0"/>
                            </p:stCondLst>
                            <p:childTnLst>
                              <p:par>
                                <p:cTn fill="hold" id="27" nodeType="clickEffect" presetClass="entr" presetID="1" presetSubtype="0">
                                  <p:stCondLst>
                                    <p:cond delay="0"/>
                                  </p:stCondLst>
                                  <p:childTnLst>
                                    <p:set>
                                      <p:cBhvr>
                                        <p:cTn dur="1" fill="hold" id="28">
                                          <p:stCondLst>
                                            <p:cond delay="0"/>
                                          </p:stCondLst>
                                        </p:cTn>
                                        <p:tgtEl>
                                          <p:spTgt spid="3">
                                            <p:txEl>
                                              <p:pRg end="8" st="8"/>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id="31" nodeType="clickEffect" presetClass="entr" presetID="1" presetSubtype="0">
                                  <p:stCondLst>
                                    <p:cond delay="0"/>
                                  </p:stCondLst>
                                  <p:childTnLst>
                                    <p:set>
                                      <p:cBhvr>
                                        <p:cTn dur="1" fill="hold" id="32">
                                          <p:stCondLst>
                                            <p:cond delay="0"/>
                                          </p:stCondLst>
                                        </p:cTn>
                                        <p:tgtEl>
                                          <p:spTgt spid="3">
                                            <p:txEl>
                                              <p:pRg end="10" st="10"/>
                                            </p:txEl>
                                          </p:spTgt>
                                        </p:tgtEl>
                                        <p:attrNameLst>
                                          <p:attrName>style.visibility</p:attrName>
                                        </p:attrNameLst>
                                      </p:cBhvr>
                                      <p:to>
                                        <p:strVal val="visible"/>
                                      </p:to>
                                    </p:set>
                                  </p:childTnLst>
                                </p:cTn>
                              </p:par>
                              <p:par>
                                <p:cTn fill="hold" id="33" nodeType="withEffect" presetClass="entr" presetID="1" presetSubtype="0">
                                  <p:stCondLst>
                                    <p:cond delay="0"/>
                                  </p:stCondLst>
                                  <p:childTnLst>
                                    <p:set>
                                      <p:cBhvr>
                                        <p:cTn dur="1" fill="hold" id="34">
                                          <p:stCondLst>
                                            <p:cond delay="0"/>
                                          </p:stCondLst>
                                        </p:cTn>
                                        <p:tgtEl>
                                          <p:spTgt spid="3">
                                            <p:txEl>
                                              <p:pRg end="11" st="11"/>
                                            </p:txEl>
                                          </p:spTgt>
                                        </p:tgtEl>
                                        <p:attrNameLst>
                                          <p:attrName>style.visibility</p:attrName>
                                        </p:attrNameLst>
                                      </p:cBhvr>
                                      <p:to>
                                        <p:strVal val="visible"/>
                                      </p:to>
                                    </p:set>
                                  </p:childTnLst>
                                </p:cTn>
                              </p:par>
                            </p:childTnLst>
                          </p:cTn>
                        </p:par>
                      </p:childTnLst>
                    </p:cTn>
                  </p:par>
                  <p:par>
                    <p:cTn fill="hold" id="35">
                      <p:stCondLst>
                        <p:cond delay="indefinite"/>
                      </p:stCondLst>
                      <p:childTnLst>
                        <p:par>
                          <p:cTn fill="hold" id="36">
                            <p:stCondLst>
                              <p:cond delay="0"/>
                            </p:stCondLst>
                            <p:childTnLst>
                              <p:par>
                                <p:cTn fill="hold" id="37" nodeType="clickEffect" presetClass="entr" presetID="1" presetSubtype="0">
                                  <p:stCondLst>
                                    <p:cond delay="0"/>
                                  </p:stCondLst>
                                  <p:childTnLst>
                                    <p:set>
                                      <p:cBhvr>
                                        <p:cTn dur="1" fill="hold" id="38">
                                          <p:stCondLst>
                                            <p:cond delay="0"/>
                                          </p:stCondLst>
                                        </p:cTn>
                                        <p:tgtEl>
                                          <p:spTgt spid="3">
                                            <p:txEl>
                                              <p:pRg end="13" st="13"/>
                                            </p:txEl>
                                          </p:spTgt>
                                        </p:tgtEl>
                                        <p:attrNameLst>
                                          <p:attrName>style.visibility</p:attrName>
                                        </p:attrNameLst>
                                      </p:cBhvr>
                                      <p:to>
                                        <p:strVal val="visible"/>
                                      </p:to>
                                    </p:set>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1" presetSubtype="0">
                                  <p:stCondLst>
                                    <p:cond delay="0"/>
                                  </p:stCondLst>
                                  <p:childTnLst>
                                    <p:set>
                                      <p:cBhvr>
                                        <p:cTn dur="1" fill="hold" id="42">
                                          <p:stCondLst>
                                            <p:cond delay="0"/>
                                          </p:stCondLst>
                                        </p:cTn>
                                        <p:tgtEl>
                                          <p:spTgt spid="3">
                                            <p:txEl>
                                              <p:pRg end="15" st="15"/>
                                            </p:txEl>
                                          </p:spTgt>
                                        </p:tgtEl>
                                        <p:attrNameLst>
                                          <p:attrName>style.visibility</p:attrName>
                                        </p:attrNameLst>
                                      </p:cBhvr>
                                      <p:to>
                                        <p:strVal val="visible"/>
                                      </p:to>
                                    </p:set>
                                  </p:childTnLst>
                                </p:cTn>
                              </p:par>
                              <p:par>
                                <p:cTn fill="hold" id="43" nodeType="withEffect" presetClass="entr" presetID="1" presetSubtype="0">
                                  <p:stCondLst>
                                    <p:cond delay="0"/>
                                  </p:stCondLst>
                                  <p:childTnLst>
                                    <p:set>
                                      <p:cBhvr>
                                        <p:cTn dur="1" fill="hold" id="44">
                                          <p:stCondLst>
                                            <p:cond delay="0"/>
                                          </p:stCondLst>
                                        </p:cTn>
                                        <p:tgtEl>
                                          <p:spTgt spid="3">
                                            <p:txEl>
                                              <p:pRg end="16" st="1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B3621A-3820-C169-0A7D-A66C18C481B8}"/>
              </a:ext>
            </a:extLst>
          </p:cNvPr>
          <p:cNvPicPr>
            <a:picLocks noChangeAspect="1"/>
          </p:cNvPicPr>
          <p:nvPr/>
        </p:nvPicPr>
        <p:blipFill>
          <a:blip r:embed="rId2"/>
          <a:stretch>
            <a:fillRect/>
          </a:stretch>
        </p:blipFill>
        <p:spPr>
          <a:xfrm>
            <a:off x="293888" y="421586"/>
            <a:ext cx="11776192" cy="5402225"/>
          </a:xfrm>
          <a:prstGeom prst="rect">
            <a:avLst/>
          </a:prstGeom>
        </p:spPr>
      </p:pic>
    </p:spTree>
    <p:extLst>
      <p:ext uri="{BB962C8B-B14F-4D97-AF65-F5344CB8AC3E}">
        <p14:creationId xmlns:p14="http://schemas.microsoft.com/office/powerpoint/2010/main" val="325604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87CB5-0791-0C9B-6543-6150CBC94FEE}"/>
              </a:ext>
            </a:extLst>
          </p:cNvPr>
          <p:cNvSpPr>
            <a:spLocks noGrp="1"/>
          </p:cNvSpPr>
          <p:nvPr>
            <p:ph type="title"/>
          </p:nvPr>
        </p:nvSpPr>
        <p:spPr/>
        <p:txBody>
          <a:bodyPr numCol="1"/>
          <a:lstStyle/>
          <a:p>
            <a:r>
              <a:rPr altLang="en-IN" dirty="0" lang="en-IN"/>
              <a:t>Example</a:t>
            </a:r>
          </a:p>
        </p:txBody>
      </p:sp>
      <p:pic>
        <p:nvPicPr>
          <p:cNvPr id="5" name="Content Placeholder 4">
            <a:extLst>
              <a:ext uri="{FF2B5EF4-FFF2-40B4-BE49-F238E27FC236}">
                <a16:creationId xmlns:a16="http://schemas.microsoft.com/office/drawing/2014/main" id="{B0C57074-BA1C-4154-B008-914830ED05D0}"/>
              </a:ext>
            </a:extLst>
          </p:cNvPr>
          <p:cNvPicPr>
            <a:picLocks noChangeAspect="1" noGrp="1"/>
          </p:cNvPicPr>
          <p:nvPr>
            <p:ph idx="1"/>
          </p:nvPr>
        </p:nvPicPr>
        <p:blipFill>
          <a:blip r:embed="rId2"/>
          <a:stretch>
            <a:fillRect/>
          </a:stretch>
        </p:blipFill>
        <p:spPr>
          <a:xfrm>
            <a:off x="1097280" y="1844330"/>
            <a:ext cx="8807952" cy="3510699"/>
          </a:xfrm>
        </p:spPr>
      </p:pic>
    </p:spTree>
    <p:extLst>
      <p:ext uri="{BB962C8B-B14F-4D97-AF65-F5344CB8AC3E}">
        <p14:creationId xmlns:p14="http://schemas.microsoft.com/office/powerpoint/2010/main" val="19999098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F00D-8BB7-3AC3-9811-F1F4A3774266}"/>
              </a:ext>
            </a:extLst>
          </p:cNvPr>
          <p:cNvSpPr>
            <a:spLocks noGrp="1"/>
          </p:cNvSpPr>
          <p:nvPr>
            <p:ph type="title"/>
          </p:nvPr>
        </p:nvSpPr>
        <p:spPr/>
        <p:txBody>
          <a:bodyPr numCol="1"/>
          <a:lstStyle/>
          <a:p>
            <a:r>
              <a:rPr altLang="en-IN" dirty="0" lang="en-IN"/>
              <a:t>Decision Properties in CFG</a:t>
            </a:r>
          </a:p>
        </p:txBody>
      </p:sp>
      <p:sp>
        <p:nvSpPr>
          <p:cNvPr id="3" name="Content Placeholder 2">
            <a:extLst>
              <a:ext uri="{FF2B5EF4-FFF2-40B4-BE49-F238E27FC236}">
                <a16:creationId xmlns:a16="http://schemas.microsoft.com/office/drawing/2014/main" id="{8D5C5BBB-D2AB-BEC7-9C73-2E0DFE6D5524}"/>
              </a:ext>
            </a:extLst>
          </p:cNvPr>
          <p:cNvSpPr>
            <a:spLocks noGrp="1"/>
          </p:cNvSpPr>
          <p:nvPr>
            <p:ph idx="1"/>
          </p:nvPr>
        </p:nvSpPr>
        <p:spPr/>
        <p:txBody>
          <a:bodyPr numCol="1"/>
          <a:lstStyle/>
          <a:p>
            <a:r>
              <a:rPr dirty="0" lang="en-US"/>
              <a:t>Emptiness: We can decide if a CFL is empty (i.e., it has no strings).</a:t>
            </a:r>
          </a:p>
          <a:p>
            <a:r>
              <a:rPr dirty="0" lang="en-US"/>
              <a:t>Finiteness: We can decide if a CFL has only a finite number of strings.</a:t>
            </a:r>
          </a:p>
          <a:p>
            <a:r>
              <a:rPr dirty="0" lang="en-US"/>
              <a:t>Membership: We can decide if a string belongs to a CFL (using parsing techniques like CYK algorithm).</a:t>
            </a:r>
          </a:p>
          <a:p>
            <a:r>
              <a:rPr dirty="0" lang="en-US"/>
              <a:t>Equivalence: Undecidable. We cannot always determine if two CFLs are exactly the same.</a:t>
            </a:r>
          </a:p>
          <a:p>
            <a:r>
              <a:rPr dirty="0" lang="en-US"/>
              <a:t>Universality (L = Σ*) : Undecidable.</a:t>
            </a:r>
          </a:p>
          <a:p>
            <a:r>
              <a:rPr dirty="0" lang="en-US"/>
              <a:t>Inclusion (L₁ ⊆ L₂) : Undecidable.</a:t>
            </a:r>
            <a:endParaRPr altLang="en-IN" dirty="0" lang="en-IN"/>
          </a:p>
        </p:txBody>
      </p:sp>
    </p:spTree>
    <p:extLst>
      <p:ext uri="{BB962C8B-B14F-4D97-AF65-F5344CB8AC3E}">
        <p14:creationId xmlns:p14="http://schemas.microsoft.com/office/powerpoint/2010/main" val="685209204"/>
      </p:ext>
    </p:extLst>
  </p:cSld>
  <p:clrMapOvr>
    <a:masterClrMapping/>
  </p:clrMapOvr>
</p:sld>
</file>

<file path=ppt/theme/theme1.xml><?xml version="1.0" encoding="utf-8"?>
<a:theme xmlns:a="http://schemas.openxmlformats.org/drawingml/2006/main" name="Retrospect">
  <a:themeElements>
    <a:clrScheme name="Blue Green">
      <a:dk1>
        <a:sysClr lastClr="000000" val="windowText"/>
      </a:dk1>
      <a:lt1>
        <a:sysClr lastClr="FFFFFF" val="window"/>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panose="020F0302020204030204"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panose="020F0502020204030204"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b="100000" l="100000" r="100000" t="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b="100000" l="100000" r="100000" t="100000"/>
          </a:path>
        </a:gradFill>
      </a:fillStyleLst>
      <a:lnStyleLst>
        <a:ln algn="ctr" cap="flat" cmpd="sng" w="12700">
          <a:solidFill>
            <a:schemeClr val="phClr"/>
          </a:solidFill>
          <a:prstDash val="solid"/>
        </a:ln>
        <a:ln algn="ctr" cap="flat" cmpd="sng" w="15875">
          <a:solidFill>
            <a:schemeClr val="phClr"/>
          </a:solidFill>
          <a:prstDash val="solid"/>
        </a:ln>
        <a:ln algn="ctr" cap="flat" cmpd="sng" w="25400">
          <a:solidFill>
            <a:schemeClr val="phClr"/>
          </a:solidFill>
          <a:prstDash val="solid"/>
        </a:ln>
      </a:lnStyleLst>
      <a:effectStyleLst>
        <a:effectStyle>
          <a:effectLst/>
        </a:effectStyle>
        <a:effectStyle>
          <a:effectLst>
            <a:outerShdw algn="br" blurRad="38100" dir="2700000" dist="25400" rotWithShape="0">
              <a:srgbClr val="000000">
                <a:alpha val="60000"/>
              </a:srgbClr>
            </a:outerShdw>
          </a:effectLst>
        </a:effectStyle>
        <a:effectStyle>
          <a:effectLst>
            <a:outerShdw algn="br" blurRad="44450" dir="2700000" dist="25400" rotWithShape="0">
              <a:srgbClr val="000000">
                <a:alpha val="60000"/>
              </a:srgbClr>
            </a:outerShdw>
          </a:effectLst>
          <a:scene3d>
            <a:camera prst="orthographicFront">
              <a:rot lat="0" lon="0" rev="0"/>
            </a:camera>
            <a:lightRig dir="t" rig="threePt">
              <a:rot lat="0" lon="0" rev="19800000"/>
            </a:lightRig>
          </a:scene3d>
          <a:sp3d prstMaterial="flat">
            <a:bevelT h="31750" w="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id="{5F128B03-DCCA-4EEB-AB3B-CF2899314A46}" name="Retrospect" vid="{3F1AAB62-24C6-49D2-8E01-B56FAC9A3DCD}"/>
    </a:ext>
  </a:extLst>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panose="020F0302020204030204"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panose="020F0502020204030204"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algn="ctr" cap="flat" cmpd="sng" w="6350">
          <a:solidFill>
            <a:schemeClr val="phClr"/>
          </a:solidFill>
          <a:prstDash val="solid"/>
          <a:miter lim="800000"/>
        </a:ln>
        <a:ln algn="ctr" cap="flat" cmpd="sng" w="12700">
          <a:solidFill>
            <a:schemeClr val="phClr"/>
          </a:solidFill>
          <a:prstDash val="solid"/>
          <a:miter lim="800000"/>
        </a:ln>
        <a:ln algn="ctr" cap="flat" cmpd="sng" w="19050">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id="{62F939B6-93AF-4DB8-9C6B-D6C7DFDC589F}" name="Office Theme"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Company/>
  <Words>10743</Words>
  <Paragraphs>1903</Paragraphs>
  <Slides>110</Slides>
  <Notes>1</Notes>
  <TotalTime>13308</TotalTime>
  <HiddenSlides>0</HiddenSlides>
  <MMClips>0</MMClips>
  <ScaleCrop>false</ScaleCrop>
  <HeadingPairs>
    <vt:vector baseType="variant" size="6">
      <vt:variant>
        <vt:lpstr>Fonts Used</vt:lpstr>
      </vt:variant>
      <vt:variant>
        <vt:i4>11</vt:i4>
      </vt:variant>
      <vt:variant>
        <vt:lpstr>Theme</vt:lpstr>
      </vt:variant>
      <vt:variant>
        <vt:i4>1</vt:i4>
      </vt:variant>
      <vt:variant>
        <vt:lpstr>Slide Titles</vt:lpstr>
      </vt:variant>
      <vt:variant>
        <vt:i4>110</vt:i4>
      </vt:variant>
    </vt:vector>
  </HeadingPairs>
  <TitlesOfParts>
    <vt:vector baseType="lpstr" size="122">
      <vt:lpstr>Arial</vt:lpstr>
      <vt:lpstr>Calibri</vt:lpstr>
      <vt:lpstr>Calibri Light</vt:lpstr>
      <vt:lpstr>Cambria Math</vt:lpstr>
      <vt:lpstr>Google Sans</vt:lpstr>
      <vt:lpstr>Inter-Regular</vt:lpstr>
      <vt:lpstr>Palatino Linotype</vt:lpstr>
      <vt:lpstr>Symbol</vt:lpstr>
      <vt:lpstr>Times New Roman</vt:lpstr>
      <vt:lpstr>Verdana</vt:lpstr>
      <vt:lpstr>Wingdings</vt:lpstr>
      <vt:lpstr>Retrospect</vt:lpstr>
      <vt:lpstr>Context Free Grammar</vt:lpstr>
      <vt:lpstr>Formal Definition of Context Free Grammars (CFG)</vt:lpstr>
      <vt:lpstr>Context Free Language</vt:lpstr>
      <vt:lpstr>PowerPoint Presentation</vt:lpstr>
      <vt:lpstr>PowerPoint Presentation</vt:lpstr>
      <vt:lpstr>PowerPoint Presentation</vt:lpstr>
      <vt:lpstr>PowerPoint Presentation</vt:lpstr>
      <vt:lpstr>PowerPoint Presentation</vt:lpstr>
      <vt:lpstr>Derivation Tree or Parse Tree</vt:lpstr>
      <vt:lpstr>Derivation or Yield of a Tree</vt:lpstr>
      <vt:lpstr>PowerPoint Presentation</vt:lpstr>
      <vt:lpstr>PowerPoint Presentation</vt:lpstr>
      <vt:lpstr>PowerPoint Presentation</vt:lpstr>
      <vt:lpstr>Type of Derivation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Removing ambiguity by precedence &amp; associativity rules</vt:lpstr>
      <vt:lpstr>PowerPoint Presentation</vt:lpstr>
      <vt:lpstr>PowerPoint Presentation</vt:lpstr>
      <vt:lpstr>PowerPoint Presentation</vt:lpstr>
      <vt:lpstr>Inherently ambiguous language</vt:lpstr>
      <vt:lpstr>PowerPoint Presentation</vt:lpstr>
      <vt:lpstr>PowerPoint Presentation</vt:lpstr>
      <vt:lpstr>Removal of Null/Empty (ε) Production</vt:lpstr>
      <vt:lpstr>PowerPoint Presentation</vt:lpstr>
      <vt:lpstr>PowerPoint Presentation</vt:lpstr>
      <vt:lpstr>Removing Unit Productions</vt:lpstr>
      <vt:lpstr>PowerPoint Presentation</vt:lpstr>
      <vt:lpstr>PowerPoint Presentation</vt:lpstr>
      <vt:lpstr>Elimination of Useless Symbols or Productions</vt:lpstr>
      <vt:lpstr>PowerPoint Presentation</vt:lpstr>
      <vt:lpstr>PowerPoint Presentation</vt:lpstr>
      <vt:lpstr>Order of Elimination</vt:lpstr>
      <vt:lpstr>PowerPoint Presentation</vt:lpstr>
      <vt:lpstr>PowerPoint Presentation</vt:lpstr>
      <vt:lpstr>Removal of Left Recursion</vt:lpstr>
      <vt:lpstr>Elimination of Left Recursion</vt:lpstr>
      <vt:lpstr>PowerPoint Presentation</vt:lpstr>
      <vt:lpstr>Removal of Left Factoring</vt:lpstr>
      <vt:lpstr>Normal Forms</vt:lpstr>
      <vt:lpstr>Chomsky Normal Form (CNF)</vt:lpstr>
      <vt:lpstr>Steps for converting CFG into CNF</vt:lpstr>
      <vt:lpstr>PowerPoint Presentation</vt:lpstr>
      <vt:lpstr>PowerPoint Presentation</vt:lpstr>
      <vt:lpstr>PowerPoint Presentation</vt:lpstr>
      <vt:lpstr>PowerPoint Presentation</vt:lpstr>
      <vt:lpstr>Greibach Normal Form (GNF)</vt:lpstr>
      <vt:lpstr>PowerPoint Presentation</vt:lpstr>
      <vt:lpstr>Steps for converting CFG into GNF</vt:lpstr>
      <vt:lpstr>PowerPoint Presentation</vt:lpstr>
      <vt:lpstr>PowerPoint Presentation</vt:lpstr>
      <vt:lpstr>PowerPoint Presentation</vt:lpstr>
      <vt:lpstr>Closure Properties of CFG</vt:lpstr>
      <vt:lpstr>PowerPoint Presentation</vt:lpstr>
      <vt:lpstr>PowerPoint Presentation</vt:lpstr>
      <vt:lpstr>PowerPoint Presentation</vt:lpstr>
      <vt:lpstr>PowerPoint Presentation</vt:lpstr>
      <vt:lpstr>PowerPoint Presentation</vt:lpstr>
      <vt:lpstr>PowerPoint Presentation</vt:lpstr>
      <vt:lpstr>Important closure and non-closure properties</vt:lpstr>
      <vt:lpstr>CYK algorithm</vt:lpstr>
      <vt:lpstr>CYK Algorithm</vt:lpstr>
      <vt:lpstr>Recursive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Pumping Lemma for CFG</vt:lpstr>
      <vt:lpstr>Applying Pumping Lemma</vt:lpstr>
      <vt:lpstr>PowerPoint Presentation</vt:lpstr>
      <vt:lpstr>PowerPoint Presentation</vt:lpstr>
      <vt:lpstr>Example</vt:lpstr>
      <vt:lpstr>Decision Properties in CFG</vt:lpstr>
    </vt:vector>
  </TitlesOfParts>
  <LinksUpToDate>false</LinksUpToDate>
  <SharedDoc>false</SharedDoc>
  <HyperlinksChanged>false</HyperlinksChanged>
  <Application>Microsoft Office PowerPoint</Application>
  <AppVersion>16.0000</AppVersion>
  <PresentationFormat>Widescreen</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2025-04-08T05:02:09Z</dcterms:created>
  <dc:creator>vibha jain</dc:creator>
  <cp:lastModifiedBy>vibha jain</cp:lastModifiedBy>
  <dcterms:modified xsi:type="dcterms:W3CDTF">2026-04-19T12:30:18Z</dcterms:modified>
  <cp:revision>199</cp:revision>
  <dc:title/>
</cp:coreProperties>
</file>