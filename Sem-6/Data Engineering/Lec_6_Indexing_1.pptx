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p:scale>
          <a:sx n="75" d="100"/>
          <a:sy n="75" d="100"/>
        </p:scale>
        <p:origin x="-1666" y="-23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numCol="1"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numCol="1" rtlCol="0"/>
          <a:lstStyle>
            <a:lvl1pPr algn="r">
              <a:defRPr sz="1200"/>
            </a:lvl1pPr>
          </a:lstStyle>
          <a:p>
            <a:fld id="{39450642-8D12-4640-9170-D6C66D49857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numCol="1"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numCol="1"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numCol="1"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numCol="1" rtlCol="0" anchor="b"/>
          <a:lstStyle>
            <a:lvl1pPr algn="r">
              <a:defRPr sz="1200"/>
            </a:lvl1pPr>
          </a:lstStyle>
          <a:p>
            <a:fld id="{FD677EDA-1B90-43CC-BCBF-E66EDF97A44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numCol="1">
            <a:normAutofit/>
          </a:bodyPr>
          <a:lstStyle/>
          <a:p>
            <a:pPr marL="0" marR="0" indent="0" algn="l" defTabSz="914400" rtl="0" eaLnBrk="1" latinLnBrk="0" hangingPunct="1">
              <a:lnSpc>
                <a:spcPct val="100000"/>
              </a:lnSpc>
              <a:spcBef>
                <a:spcPts val="0"/>
              </a:spcBef>
              <a:spcAft>
                <a:spcPts val="0"/>
              </a:spcAft>
              <a:buClrTx/>
              <a:buSzTx/>
              <a:buFontTx/>
              <a:buNone/>
              <a:defRPr/>
            </a:pPr>
            <a:r>
              <a:rPr lang="en-US" sz="1200" dirty="0" smtClean="0"/>
              <a:t>In addition, </a:t>
            </a:r>
            <a:r>
              <a:rPr lang="en-US" sz="1200" dirty="0" err="1" smtClean="0"/>
              <a:t>MongoDB</a:t>
            </a:r>
            <a:r>
              <a:rPr lang="en-US" sz="1200" dirty="0" smtClean="0"/>
              <a:t> can return sorted results using the ordering in the index.</a:t>
            </a:r>
            <a:endParaRPr lang="en-US" sz="1200" dirty="0" smtClean="0"/>
          </a:p>
          <a:p>
            <a:endParaRPr lang="en-US" dirty="0"/>
          </a:p>
        </p:txBody>
      </p:sp>
      <p:sp>
        <p:nvSpPr>
          <p:cNvPr id="4" name="Slide Number Placeholder 3"/>
          <p:cNvSpPr>
            <a:spLocks noGrp="1"/>
          </p:cNvSpPr>
          <p:nvPr>
            <p:ph type="sldNum" sz="quarter" idx="10"/>
          </p:nvPr>
        </p:nvSpPr>
        <p:spPr/>
        <p:txBody>
          <a:bodyPr numCol="1"/>
          <a:lstStyle/>
          <a:p>
            <a:fld id="{FD677EDA-1B90-43CC-BCBF-E66EDF97A44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numCol="1"/>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numCol="1"/>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numCol="1"/>
          <a:lstStyle/>
          <a:p>
            <a:fld id="{F76306DD-33F5-415F-B1EF-10D50451FFCE}" type="datetimeFigureOut">
              <a:rPr lang="en-US" smtClean="0"/>
            </a:fld>
            <a:endParaRPr lang="en-US"/>
          </a:p>
        </p:txBody>
      </p:sp>
      <p:sp>
        <p:nvSpPr>
          <p:cNvPr id="5" name="Footer Placeholder 4"/>
          <p:cNvSpPr>
            <a:spLocks noGrp="1"/>
          </p:cNvSpPr>
          <p:nvPr>
            <p:ph type="ftr" sz="quarter" idx="11"/>
          </p:nvPr>
        </p:nvSpPr>
        <p:spPr/>
        <p:txBody>
          <a:bodyPr numCol="1"/>
          <a:lstStyle/>
          <a:p>
            <a:endParaRPr lang="en-US"/>
          </a:p>
        </p:txBody>
      </p:sp>
      <p:sp>
        <p:nvSpPr>
          <p:cNvPr id="6" name="Slide Number Placeholder 5"/>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p:nvPr>
        </p:nvSpPr>
        <p:spPr/>
        <p:txBody>
          <a:bodyPr numCol="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numCol="1"/>
          <a:lstStyle/>
          <a:p>
            <a:fld id="{F76306DD-33F5-415F-B1EF-10D50451FFCE}" type="datetimeFigureOut">
              <a:rPr lang="en-US" smtClean="0"/>
            </a:fld>
            <a:endParaRPr lang="en-US"/>
          </a:p>
        </p:txBody>
      </p:sp>
      <p:sp>
        <p:nvSpPr>
          <p:cNvPr id="5" name="Footer Placeholder 4"/>
          <p:cNvSpPr>
            <a:spLocks noGrp="1"/>
          </p:cNvSpPr>
          <p:nvPr>
            <p:ph type="ftr" sz="quarter" idx="11"/>
          </p:nvPr>
        </p:nvSpPr>
        <p:spPr/>
        <p:txBody>
          <a:bodyPr numCol="1"/>
          <a:lstStyle/>
          <a:p>
            <a:endParaRPr lang="en-US"/>
          </a:p>
        </p:txBody>
      </p:sp>
      <p:sp>
        <p:nvSpPr>
          <p:cNvPr id="6" name="Slide Number Placeholder 5"/>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numCol="1"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numCol="1"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numCol="1"/>
          <a:lstStyle/>
          <a:p>
            <a:fld id="{F76306DD-33F5-415F-B1EF-10D50451FFCE}" type="datetimeFigureOut">
              <a:rPr lang="en-US" smtClean="0"/>
            </a:fld>
            <a:endParaRPr lang="en-US"/>
          </a:p>
        </p:txBody>
      </p:sp>
      <p:sp>
        <p:nvSpPr>
          <p:cNvPr id="5" name="Footer Placeholder 4"/>
          <p:cNvSpPr>
            <a:spLocks noGrp="1"/>
          </p:cNvSpPr>
          <p:nvPr>
            <p:ph type="ftr" sz="quarter" idx="11"/>
          </p:nvPr>
        </p:nvSpPr>
        <p:spPr/>
        <p:txBody>
          <a:bodyPr numCol="1"/>
          <a:lstStyle/>
          <a:p>
            <a:endParaRPr lang="en-US"/>
          </a:p>
        </p:txBody>
      </p:sp>
      <p:sp>
        <p:nvSpPr>
          <p:cNvPr id="6" name="Slide Number Placeholder 5"/>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numCol="1"/>
          <a:lstStyle/>
          <a:p>
            <a:fld id="{F76306DD-33F5-415F-B1EF-10D50451FFCE}" type="datetimeFigureOut">
              <a:rPr lang="en-US" smtClean="0"/>
            </a:fld>
            <a:endParaRPr lang="en-US"/>
          </a:p>
        </p:txBody>
      </p:sp>
      <p:sp>
        <p:nvSpPr>
          <p:cNvPr id="6" name="Footer Placeholder 5"/>
          <p:cNvSpPr>
            <a:spLocks noGrp="1"/>
          </p:cNvSpPr>
          <p:nvPr>
            <p:ph type="ftr" sz="quarter" idx="11"/>
          </p:nvPr>
        </p:nvSpPr>
        <p:spPr/>
        <p:txBody>
          <a:bodyPr numCol="1"/>
          <a:lstStyle/>
          <a:p>
            <a:endParaRPr lang="en-US"/>
          </a:p>
        </p:txBody>
      </p:sp>
      <p:sp>
        <p:nvSpPr>
          <p:cNvPr id="7" name="Slide Number Placeholder 6"/>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numCol="1"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numCol="1"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numCol="1"/>
          <a:lstStyle/>
          <a:p>
            <a:fld id="{F76306DD-33F5-415F-B1EF-10D50451FFCE}" type="datetimeFigureOut">
              <a:rPr lang="en-US" smtClean="0"/>
            </a:fld>
            <a:endParaRPr lang="en-US"/>
          </a:p>
        </p:txBody>
      </p:sp>
      <p:sp>
        <p:nvSpPr>
          <p:cNvPr id="8" name="Footer Placeholder 7"/>
          <p:cNvSpPr>
            <a:spLocks noGrp="1"/>
          </p:cNvSpPr>
          <p:nvPr>
            <p:ph type="ftr" sz="quarter" idx="11"/>
          </p:nvPr>
        </p:nvSpPr>
        <p:spPr/>
        <p:txBody>
          <a:bodyPr numCol="1"/>
          <a:lstStyle/>
          <a:p>
            <a:endParaRPr lang="en-US"/>
          </a:p>
        </p:txBody>
      </p:sp>
      <p:sp>
        <p:nvSpPr>
          <p:cNvPr id="9" name="Slide Number Placeholder 8"/>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Date Placeholder 2"/>
          <p:cNvSpPr>
            <a:spLocks noGrp="1"/>
          </p:cNvSpPr>
          <p:nvPr>
            <p:ph type="dt" sz="half" idx="10"/>
          </p:nvPr>
        </p:nvSpPr>
        <p:spPr/>
        <p:txBody>
          <a:bodyPr numCol="1"/>
          <a:lstStyle/>
          <a:p>
            <a:fld id="{F76306DD-33F5-415F-B1EF-10D50451FFCE}" type="datetimeFigureOut">
              <a:rPr lang="en-US" smtClean="0"/>
            </a:fld>
            <a:endParaRPr lang="en-US"/>
          </a:p>
        </p:txBody>
      </p:sp>
      <p:sp>
        <p:nvSpPr>
          <p:cNvPr id="4" name="Footer Placeholder 3"/>
          <p:cNvSpPr>
            <a:spLocks noGrp="1"/>
          </p:cNvSpPr>
          <p:nvPr>
            <p:ph type="ftr" sz="quarter" idx="11"/>
          </p:nvPr>
        </p:nvSpPr>
        <p:spPr/>
        <p:txBody>
          <a:bodyPr numCol="1"/>
          <a:lstStyle/>
          <a:p>
            <a:endParaRPr lang="en-US"/>
          </a:p>
        </p:txBody>
      </p:sp>
      <p:sp>
        <p:nvSpPr>
          <p:cNvPr id="5" name="Slide Number Placeholder 4"/>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numCol="1"/>
          <a:lstStyle/>
          <a:p>
            <a:fld id="{F76306DD-33F5-415F-B1EF-10D50451FFCE}" type="datetimeFigureOut">
              <a:rPr lang="en-US" smtClean="0"/>
            </a:fld>
            <a:endParaRPr lang="en-US"/>
          </a:p>
        </p:txBody>
      </p:sp>
      <p:sp>
        <p:nvSpPr>
          <p:cNvPr id="3" name="Footer Placeholder 2"/>
          <p:cNvSpPr>
            <a:spLocks noGrp="1"/>
          </p:cNvSpPr>
          <p:nvPr>
            <p:ph type="ftr" sz="quarter" idx="11"/>
          </p:nvPr>
        </p:nvSpPr>
        <p:spPr/>
        <p:txBody>
          <a:bodyPr numCol="1"/>
          <a:lstStyle/>
          <a:p>
            <a:endParaRPr lang="en-US"/>
          </a:p>
        </p:txBody>
      </p:sp>
      <p:sp>
        <p:nvSpPr>
          <p:cNvPr id="4" name="Slide Number Placeholder 3"/>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numCol="1"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numCol="1"/>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numCol="1"/>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numCol="1"/>
          <a:lstStyle/>
          <a:p>
            <a:fld id="{F76306DD-33F5-415F-B1EF-10D50451FFCE}" type="datetimeFigureOut">
              <a:rPr lang="en-US" smtClean="0"/>
            </a:fld>
            <a:endParaRPr lang="en-US"/>
          </a:p>
        </p:txBody>
      </p:sp>
      <p:sp>
        <p:nvSpPr>
          <p:cNvPr id="6" name="Footer Placeholder 5"/>
          <p:cNvSpPr>
            <a:spLocks noGrp="1"/>
          </p:cNvSpPr>
          <p:nvPr>
            <p:ph type="ftr" sz="quarter" idx="11"/>
          </p:nvPr>
        </p:nvSpPr>
        <p:spPr/>
        <p:txBody>
          <a:bodyPr numCol="1"/>
          <a:lstStyle/>
          <a:p>
            <a:endParaRPr lang="en-US"/>
          </a:p>
        </p:txBody>
      </p:sp>
      <p:sp>
        <p:nvSpPr>
          <p:cNvPr id="7" name="Slide Number Placeholder 6"/>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numCol="1"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numCol="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numCol="1"/>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numCol="1"/>
          <a:lstStyle/>
          <a:p>
            <a:fld id="{F76306DD-33F5-415F-B1EF-10D50451FFCE}" type="datetimeFigureOut">
              <a:rPr lang="en-US" smtClean="0"/>
            </a:fld>
            <a:endParaRPr lang="en-US"/>
          </a:p>
        </p:txBody>
      </p:sp>
      <p:sp>
        <p:nvSpPr>
          <p:cNvPr id="6" name="Footer Placeholder 5"/>
          <p:cNvSpPr>
            <a:spLocks noGrp="1"/>
          </p:cNvSpPr>
          <p:nvPr>
            <p:ph type="ftr" sz="quarter" idx="11"/>
          </p:nvPr>
        </p:nvSpPr>
        <p:spPr/>
        <p:txBody>
          <a:bodyPr numCol="1"/>
          <a:lstStyle/>
          <a:p>
            <a:endParaRPr lang="en-US"/>
          </a:p>
        </p:txBody>
      </p:sp>
      <p:sp>
        <p:nvSpPr>
          <p:cNvPr id="7" name="Slide Number Placeholder 6"/>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numCol="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numCol="1"/>
          <a:lstStyle/>
          <a:p>
            <a:fld id="{F76306DD-33F5-415F-B1EF-10D50451FFCE}" type="datetimeFigureOut">
              <a:rPr lang="en-US" smtClean="0"/>
            </a:fld>
            <a:endParaRPr lang="en-US"/>
          </a:p>
        </p:txBody>
      </p:sp>
      <p:sp>
        <p:nvSpPr>
          <p:cNvPr id="5" name="Footer Placeholder 4"/>
          <p:cNvSpPr>
            <a:spLocks noGrp="1"/>
          </p:cNvSpPr>
          <p:nvPr>
            <p:ph type="ftr" sz="quarter" idx="11"/>
          </p:nvPr>
        </p:nvSpPr>
        <p:spPr/>
        <p:txBody>
          <a:bodyPr numCol="1"/>
          <a:lstStyle/>
          <a:p>
            <a:endParaRPr lang="en-US"/>
          </a:p>
        </p:txBody>
      </p:sp>
      <p:sp>
        <p:nvSpPr>
          <p:cNvPr id="6" name="Slide Number Placeholder 5"/>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numCol="1"/>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numCol="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numCol="1"/>
          <a:lstStyle/>
          <a:p>
            <a:fld id="{F76306DD-33F5-415F-B1EF-10D50451FFCE}" type="datetimeFigureOut">
              <a:rPr lang="en-US" smtClean="0"/>
            </a:fld>
            <a:endParaRPr lang="en-US"/>
          </a:p>
        </p:txBody>
      </p:sp>
      <p:sp>
        <p:nvSpPr>
          <p:cNvPr id="5" name="Footer Placeholder 4"/>
          <p:cNvSpPr>
            <a:spLocks noGrp="1"/>
          </p:cNvSpPr>
          <p:nvPr>
            <p:ph type="ftr" sz="quarter" idx="11"/>
          </p:nvPr>
        </p:nvSpPr>
        <p:spPr/>
        <p:txBody>
          <a:bodyPr numCol="1"/>
          <a:lstStyle/>
          <a:p>
            <a:endParaRPr lang="en-US"/>
          </a:p>
        </p:txBody>
      </p:sp>
      <p:sp>
        <p:nvSpPr>
          <p:cNvPr id="6" name="Slide Number Placeholder 5"/>
          <p:cNvSpPr>
            <a:spLocks noGrp="1"/>
          </p:cNvSpPr>
          <p:nvPr>
            <p:ph type="sldNum" sz="quarter" idx="12"/>
          </p:nvPr>
        </p:nvSpPr>
        <p:spPr/>
        <p:txBody>
          <a:bodyPr numCol="1"/>
          <a:lstStyle/>
          <a:p>
            <a:fld id="{7A8749B4-BF41-48EC-9F7F-BFFB37F9DEA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numCol="1"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numCol="1"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F76306DD-33F5-415F-B1EF-10D50451FFCE}"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7A8749B4-BF41-48EC-9F7F-BFFB37F9DEA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numCol="1">
            <a:normAutofit/>
          </a:bodyPr>
          <a:lstStyle/>
          <a:p>
            <a:r>
              <a:rPr lang="en-US" sz="6000" b="1" dirty="0" smtClean="0"/>
              <a:t>Indexing</a:t>
            </a:r>
            <a:endParaRPr lang="en-US" sz="6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533400"/>
          </a:xfrm>
        </p:spPr>
        <p:txBody>
          <a:bodyPr numCol="1">
            <a:normAutofit fontScale="90000"/>
          </a:bodyPr>
          <a:lstStyle/>
          <a:p>
            <a:r>
              <a:rPr lang="en-US" dirty="0" smtClean="0"/>
              <a:t>Indexes</a:t>
            </a:r>
            <a:endParaRPr lang="en-US" dirty="0"/>
          </a:p>
        </p:txBody>
      </p:sp>
      <p:sp>
        <p:nvSpPr>
          <p:cNvPr id="3" name="Content Placeholder 2"/>
          <p:cNvSpPr>
            <a:spLocks noGrp="1"/>
          </p:cNvSpPr>
          <p:nvPr>
            <p:ph idx="1"/>
          </p:nvPr>
        </p:nvSpPr>
        <p:spPr>
          <a:xfrm>
            <a:off x="228600" y="838200"/>
            <a:ext cx="8686800" cy="5867400"/>
          </a:xfrm>
        </p:spPr>
        <p:txBody>
          <a:bodyPr numCol="1">
            <a:normAutofit/>
          </a:bodyPr>
          <a:lstStyle/>
          <a:p>
            <a:pPr algn="just"/>
            <a:r>
              <a:rPr lang="en-US" sz="2400" dirty="0" smtClean="0"/>
              <a:t>In </a:t>
            </a:r>
            <a:r>
              <a:rPr lang="en-US" sz="2400" dirty="0" err="1" smtClean="0"/>
              <a:t>MongoDB</a:t>
            </a:r>
            <a:r>
              <a:rPr lang="en-US" sz="2400" dirty="0" smtClean="0"/>
              <a:t>, an index is a data structure that captures a subset of a collection’s data in an easy to traverse form. </a:t>
            </a:r>
            <a:r>
              <a:rPr lang="en-US" sz="2400" dirty="0" err="1" smtClean="0"/>
              <a:t>MongoDB</a:t>
            </a:r>
            <a:r>
              <a:rPr lang="en-US" sz="2400" dirty="0" smtClean="0"/>
              <a:t> indexes use a B-tree data structure.</a:t>
            </a:r>
            <a:endParaRPr lang="en-US" sz="2400" dirty="0" smtClean="0"/>
          </a:p>
          <a:p>
            <a:pPr algn="just"/>
            <a:r>
              <a:rPr lang="en-US" sz="2400" dirty="0" smtClean="0"/>
              <a:t>Indexes store the value of a specific field or fields, and attach a reference to the original document to each index entry. </a:t>
            </a:r>
            <a:endParaRPr lang="en-US" sz="2400" dirty="0" smtClean="0"/>
          </a:p>
          <a:p>
            <a:pPr algn="just"/>
            <a:r>
              <a:rPr lang="en-US" sz="2400" dirty="0" smtClean="0"/>
              <a:t>Indexes </a:t>
            </a:r>
            <a:r>
              <a:rPr lang="en-US" sz="2400" dirty="0"/>
              <a:t>support efficient execution of queries in </a:t>
            </a:r>
            <a:r>
              <a:rPr lang="en-US" sz="2400" dirty="0" err="1"/>
              <a:t>MongoDB</a:t>
            </a:r>
            <a:r>
              <a:rPr lang="en-US" sz="2400" dirty="0"/>
              <a:t>. </a:t>
            </a:r>
            <a:endParaRPr lang="en-US" sz="2400" dirty="0" smtClean="0"/>
          </a:p>
          <a:p>
            <a:pPr algn="just"/>
            <a:r>
              <a:rPr lang="en-US" sz="2400" dirty="0" smtClean="0"/>
              <a:t>Without </a:t>
            </a:r>
            <a:r>
              <a:rPr lang="en-US" sz="2400" dirty="0"/>
              <a:t>indexes, </a:t>
            </a:r>
            <a:r>
              <a:rPr lang="en-US" sz="2400" dirty="0" err="1"/>
              <a:t>MongoDB</a:t>
            </a:r>
            <a:r>
              <a:rPr lang="en-US" sz="2400" dirty="0"/>
              <a:t> must scan every document in a collection to </a:t>
            </a:r>
            <a:r>
              <a:rPr lang="en-US" sz="2400" dirty="0" smtClean="0"/>
              <a:t>select those documents that match query statement.</a:t>
            </a:r>
            <a:endParaRPr lang="en-US" sz="2400" dirty="0" smtClean="0"/>
          </a:p>
          <a:p>
            <a:pPr algn="just"/>
            <a:r>
              <a:rPr lang="en-US" sz="2400" dirty="0" smtClean="0"/>
              <a:t>If </a:t>
            </a:r>
            <a:r>
              <a:rPr lang="en-US" sz="2400" dirty="0"/>
              <a:t>an appropriate index exists for a query, </a:t>
            </a:r>
            <a:r>
              <a:rPr lang="en-US" sz="2400" dirty="0" err="1"/>
              <a:t>MongoDB</a:t>
            </a:r>
            <a:r>
              <a:rPr lang="en-US" sz="2400" dirty="0"/>
              <a:t> uses the index to limit the number of documents it must scan.</a:t>
            </a:r>
            <a:endParaRPr lang="en-US" sz="2400" dirty="0"/>
          </a:p>
          <a:p>
            <a:pPr algn="just"/>
            <a:r>
              <a:rPr lang="en-US" sz="2400" dirty="0" smtClean="0"/>
              <a:t>The index stores the value of a specific field or set of fields, ordered by the value of the field. </a:t>
            </a:r>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533400"/>
          </a:xfrm>
        </p:spPr>
        <p:txBody>
          <a:bodyPr numCol="1">
            <a:noAutofit/>
          </a:bodyPr>
          <a:lstStyle/>
          <a:p>
            <a:r>
              <a:rPr lang="en-US" sz="3600" dirty="0" smtClean="0"/>
              <a:t>Use Cases</a:t>
            </a:r>
            <a:endParaRPr lang="en-US" sz="3600" dirty="0"/>
          </a:p>
        </p:txBody>
      </p:sp>
      <p:sp>
        <p:nvSpPr>
          <p:cNvPr id="3" name="Content Placeholder 2"/>
          <p:cNvSpPr>
            <a:spLocks noGrp="1"/>
          </p:cNvSpPr>
          <p:nvPr>
            <p:ph idx="1"/>
          </p:nvPr>
        </p:nvSpPr>
        <p:spPr>
          <a:xfrm>
            <a:off x="252095" y="188595"/>
            <a:ext cx="8686800" cy="6172200"/>
          </a:xfrm>
        </p:spPr>
        <p:txBody>
          <a:bodyPr numCol="1">
            <a:normAutofit/>
          </a:bodyPr>
          <a:lstStyle/>
          <a:p>
            <a:pPr algn="just"/>
            <a:r>
              <a:rPr lang="en-US" sz="2400" dirty="0" smtClean="0"/>
              <a:t>If </a:t>
            </a:r>
            <a:r>
              <a:rPr lang="en-US" sz="2400" dirty="0"/>
              <a:t>your application is repeatedly running queries on the same fields, you can create an index on those fields to improve performance</a:t>
            </a:r>
            <a:r>
              <a:rPr lang="en-US" sz="2400" dirty="0" smtClean="0"/>
              <a:t>.</a:t>
            </a:r>
            <a:endParaRPr lang="en-US" sz="2400" dirty="0" smtClean="0"/>
          </a:p>
          <a:p>
            <a:pPr algn="just"/>
            <a:r>
              <a:rPr lang="en-US" sz="2400" dirty="0" smtClean="0"/>
              <a:t>For example: </a:t>
            </a:r>
            <a:endParaRPr lang="en-US" sz="2400" dirty="0" smtClean="0"/>
          </a:p>
          <a:p>
            <a:pPr algn="just">
              <a:buNone/>
            </a:pPr>
            <a:r>
              <a:rPr lang="en-US" sz="2400" dirty="0"/>
              <a:t> </a:t>
            </a:r>
            <a:r>
              <a:rPr lang="en-US" sz="2400" dirty="0" smtClean="0"/>
              <a:t>   </a:t>
            </a:r>
            <a:r>
              <a:rPr lang="en-US" sz="2400" b="1" dirty="0" smtClean="0"/>
              <a:t>Scenario1: </a:t>
            </a:r>
            <a:r>
              <a:rPr lang="en-US" sz="2400" dirty="0" smtClean="0"/>
              <a:t>A </a:t>
            </a:r>
            <a:r>
              <a:rPr lang="en-US" sz="2400" dirty="0"/>
              <a:t>human resources department often needs to look up employees by employee ID. You can create an index on the employee ID field to improve query </a:t>
            </a:r>
            <a:r>
              <a:rPr lang="en-US" sz="2400" dirty="0" smtClean="0"/>
              <a:t>performance………………Single </a:t>
            </a:r>
            <a:r>
              <a:rPr lang="en-US" sz="2400" dirty="0"/>
              <a:t>Field Index</a:t>
            </a:r>
            <a:endParaRPr lang="en-US" sz="2400" dirty="0"/>
          </a:p>
          <a:p>
            <a:pPr algn="just"/>
            <a:r>
              <a:rPr lang="en-US" sz="2400" b="1" dirty="0" smtClean="0"/>
              <a:t>Scenario2: </a:t>
            </a:r>
            <a:r>
              <a:rPr lang="en-US" sz="2400" dirty="0" smtClean="0"/>
              <a:t>A </a:t>
            </a:r>
            <a:r>
              <a:rPr lang="en-US" sz="2400" dirty="0"/>
              <a:t>salesperson often needs to look up client information by location. Location is stored in an embedded object with fields like </a:t>
            </a:r>
            <a:r>
              <a:rPr lang="en-US" sz="2400" dirty="0" smtClean="0"/>
              <a:t>state</a:t>
            </a:r>
            <a:r>
              <a:rPr lang="en-US" sz="2400" dirty="0"/>
              <a:t>, </a:t>
            </a:r>
            <a:r>
              <a:rPr lang="en-US" sz="2400" dirty="0" smtClean="0"/>
              <a:t>city</a:t>
            </a:r>
            <a:r>
              <a:rPr lang="en-US" sz="2400" dirty="0"/>
              <a:t>, and </a:t>
            </a:r>
            <a:r>
              <a:rPr lang="en-US" sz="2400" dirty="0" err="1" smtClean="0"/>
              <a:t>zipcode</a:t>
            </a:r>
            <a:r>
              <a:rPr lang="en-US" sz="2400" dirty="0"/>
              <a:t>. You can create an index on the </a:t>
            </a:r>
            <a:r>
              <a:rPr lang="en-US" sz="2400" dirty="0" smtClean="0"/>
              <a:t>location</a:t>
            </a:r>
            <a:r>
              <a:rPr lang="en-US" sz="2400" dirty="0"/>
              <a:t> object to improve performance for queries on that </a:t>
            </a:r>
            <a:r>
              <a:rPr lang="en-US" sz="2400" dirty="0" smtClean="0"/>
              <a:t>object…………………Single </a:t>
            </a:r>
            <a:r>
              <a:rPr lang="en-US" sz="2400" dirty="0"/>
              <a:t>Field Index on an embedded </a:t>
            </a:r>
            <a:r>
              <a:rPr lang="en-US" sz="2400" dirty="0" smtClean="0"/>
              <a:t>document</a:t>
            </a:r>
            <a:endParaRPr lang="en-US" sz="2400" dirty="0" smtClean="0"/>
          </a:p>
          <a:p>
            <a:pPr algn="just">
              <a:buFont typeface="Wingdings" panose="05000000000000000000" pitchFamily="2" charset="2"/>
              <a:buChar char="v"/>
            </a:pPr>
            <a:r>
              <a:rPr lang="en-US" sz="1900" dirty="0"/>
              <a:t>When you create an index on an embedded document, only queries that specify the entire embedded document use the index. Queries on a specific field within the document do not use the index.</a:t>
            </a:r>
            <a:endParaRPr lang="en-US" sz="1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10600" cy="6553200"/>
          </a:xfrm>
        </p:spPr>
        <p:txBody>
          <a:bodyPr numCol="1">
            <a:normAutofit/>
          </a:bodyPr>
          <a:lstStyle/>
          <a:p>
            <a:pPr algn="just"/>
            <a:r>
              <a:rPr lang="en-US" sz="2400" b="1" dirty="0" smtClean="0"/>
              <a:t>Scenario3: </a:t>
            </a:r>
            <a:r>
              <a:rPr lang="en-US" sz="2400" dirty="0" smtClean="0"/>
              <a:t>A </a:t>
            </a:r>
            <a:r>
              <a:rPr lang="en-US" sz="2400" dirty="0"/>
              <a:t>grocery store manager often needs to look up inventory items by name and quantity to determine which items are low stock. You can create a single index on both the </a:t>
            </a:r>
            <a:r>
              <a:rPr lang="en-US" sz="2400" dirty="0" smtClean="0"/>
              <a:t>item</a:t>
            </a:r>
            <a:r>
              <a:rPr lang="en-US" sz="2400" dirty="0"/>
              <a:t> and </a:t>
            </a:r>
            <a:r>
              <a:rPr lang="en-US" sz="2400" dirty="0" smtClean="0"/>
              <a:t>quantity</a:t>
            </a:r>
            <a:r>
              <a:rPr lang="en-US" sz="2400" dirty="0"/>
              <a:t> fields to improve query </a:t>
            </a:r>
            <a:r>
              <a:rPr lang="en-US" sz="2400" dirty="0" smtClean="0"/>
              <a:t>performance………………….. </a:t>
            </a:r>
            <a:r>
              <a:rPr lang="en-US" sz="2400" dirty="0"/>
              <a:t>Compound </a:t>
            </a:r>
            <a:r>
              <a:rPr lang="en-US" sz="2400" dirty="0" smtClean="0"/>
              <a:t>Index</a:t>
            </a:r>
            <a:endParaRPr lang="en-US" sz="2400" dirty="0"/>
          </a:p>
          <a:p>
            <a:pPr algn="just">
              <a:buNone/>
            </a:pPr>
            <a:r>
              <a:rPr lang="en-US" sz="2400" b="1" dirty="0" smtClean="0"/>
              <a:t>    </a:t>
            </a:r>
            <a:endParaRPr lang="en-US" sz="2400" b="1" dirty="0" smtClean="0"/>
          </a:p>
          <a:p>
            <a:pPr algn="just">
              <a:buNone/>
            </a:pPr>
            <a:r>
              <a:rPr lang="en-US" sz="2400" b="1" dirty="0"/>
              <a:t> </a:t>
            </a:r>
            <a:r>
              <a:rPr lang="en-US" sz="2400" b="1" dirty="0" smtClean="0"/>
              <a:t>    Default Index: </a:t>
            </a:r>
            <a:endParaRPr lang="en-US" sz="2400" b="1" dirty="0" smtClean="0"/>
          </a:p>
          <a:p>
            <a:pPr algn="just"/>
            <a:r>
              <a:rPr lang="en-US" sz="2400" dirty="0" err="1" smtClean="0"/>
              <a:t>MongoDB</a:t>
            </a:r>
            <a:r>
              <a:rPr lang="en-US" sz="2400" dirty="0" smtClean="0"/>
              <a:t> </a:t>
            </a:r>
            <a:r>
              <a:rPr lang="en-US" sz="2400" dirty="0"/>
              <a:t>creates a unique index on the _id field during the creation of a collection. </a:t>
            </a:r>
            <a:endParaRPr lang="en-US" sz="2400" dirty="0" smtClean="0"/>
          </a:p>
          <a:p>
            <a:pPr algn="just"/>
            <a:r>
              <a:rPr lang="en-US" sz="2400" dirty="0" smtClean="0"/>
              <a:t>The</a:t>
            </a:r>
            <a:r>
              <a:rPr lang="en-US" sz="2400" dirty="0"/>
              <a:t> _id index prevents clients from inserting two documents with the same value for the _id field. </a:t>
            </a:r>
            <a:r>
              <a:rPr lang="en-US" sz="2400" dirty="0" smtClean="0"/>
              <a:t>We cannot </a:t>
            </a:r>
            <a:r>
              <a:rPr lang="en-US" sz="2400" dirty="0"/>
              <a:t>drop this index.</a:t>
            </a:r>
            <a:endParaRPr lang="en-US" sz="2400" dirty="0"/>
          </a:p>
          <a:p>
            <a:pPr algn="just"/>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numCol="1">
            <a:normAutofit fontScale="90000"/>
          </a:bodyPr>
          <a:lstStyle/>
          <a:p>
            <a:r>
              <a:rPr lang="en-US" dirty="0"/>
              <a:t>Create an </a:t>
            </a:r>
            <a:r>
              <a:rPr lang="en-US" dirty="0" smtClean="0"/>
              <a:t>Index</a:t>
            </a:r>
            <a:endParaRPr lang="en-US" dirty="0"/>
          </a:p>
        </p:txBody>
      </p:sp>
      <p:sp>
        <p:nvSpPr>
          <p:cNvPr id="3" name="Content Placeholder 2"/>
          <p:cNvSpPr>
            <a:spLocks noGrp="1"/>
          </p:cNvSpPr>
          <p:nvPr>
            <p:ph idx="1"/>
          </p:nvPr>
        </p:nvSpPr>
        <p:spPr>
          <a:xfrm>
            <a:off x="152400" y="762000"/>
            <a:ext cx="8839200" cy="5943600"/>
          </a:xfrm>
        </p:spPr>
        <p:txBody>
          <a:bodyPr numCol="1">
            <a:normAutofit/>
          </a:bodyPr>
          <a:lstStyle/>
          <a:p>
            <a:pPr algn="just"/>
            <a:endParaRPr lang="en-US" sz="2600" dirty="0" smtClean="0"/>
          </a:p>
          <a:p>
            <a:pPr algn="just"/>
            <a:r>
              <a:rPr lang="en-US" sz="2400" dirty="0" smtClean="0"/>
              <a:t>A </a:t>
            </a:r>
            <a:r>
              <a:rPr lang="en-US" sz="2400" dirty="0"/>
              <a:t>document that contains the field and value pairs where the field is the index key and the value describes the type of index for that field.</a:t>
            </a:r>
            <a:endParaRPr lang="en-US" sz="2400" dirty="0"/>
          </a:p>
          <a:p>
            <a:pPr algn="just"/>
            <a:r>
              <a:rPr lang="en-US" sz="2400" dirty="0"/>
              <a:t>For an ascending index on a field, specify a value of 1. For descending index, specify a value of -1</a:t>
            </a:r>
            <a:r>
              <a:rPr lang="en-US" sz="2400" dirty="0" smtClean="0"/>
              <a:t>.</a:t>
            </a:r>
            <a:endParaRPr lang="en-US" sz="2400" dirty="0" smtClean="0"/>
          </a:p>
          <a:p>
            <a:pPr algn="just"/>
            <a:endParaRPr lang="en-US" sz="2400" dirty="0" smtClean="0"/>
          </a:p>
          <a:p>
            <a:pPr algn="just">
              <a:buNone/>
            </a:pPr>
            <a:endParaRPr lang="en-US" sz="2400" dirty="0" smtClean="0"/>
          </a:p>
          <a:p>
            <a:pPr algn="just">
              <a:buNone/>
            </a:pPr>
            <a:r>
              <a:rPr lang="en-US" sz="2400" dirty="0" smtClean="0"/>
              <a:t>To </a:t>
            </a:r>
            <a:r>
              <a:rPr lang="en-US" sz="2400" dirty="0"/>
              <a:t>confirm that the index was </a:t>
            </a:r>
            <a:r>
              <a:rPr lang="en-US" sz="2400" dirty="0" smtClean="0"/>
              <a:t>created:</a:t>
            </a:r>
            <a:endParaRPr lang="en-US" sz="2400" dirty="0" smtClean="0"/>
          </a:p>
          <a:p>
            <a:pPr algn="just"/>
            <a:r>
              <a:rPr lang="en-US" sz="2400" b="1" dirty="0"/>
              <a:t>db.collection.getIndexes()</a:t>
            </a:r>
            <a:endParaRPr lang="en-US" sz="2400" b="1" dirty="0"/>
          </a:p>
          <a:p>
            <a:endParaRPr lang="en-US" dirty="0"/>
          </a:p>
          <a:p>
            <a:endParaRPr lang="en-US" dirty="0"/>
          </a:p>
        </p:txBody>
      </p:sp>
      <p:pic>
        <p:nvPicPr>
          <p:cNvPr id="1026" name="Picture 2"/>
          <p:cNvPicPr>
            <a:picLocks noChangeAspect="1" noChangeArrowheads="1"/>
          </p:cNvPicPr>
          <p:nvPr/>
        </p:nvPicPr>
        <p:blipFill>
          <a:blip r:embed="rId1" cstate="print"/>
          <a:srcRect/>
          <a:stretch>
            <a:fillRect/>
          </a:stretch>
        </p:blipFill>
        <p:spPr>
          <a:xfrm>
            <a:off x="533400" y="762000"/>
            <a:ext cx="8229600" cy="476250"/>
          </a:xfrm>
          <a:prstGeom prst="rect">
            <a:avLst/>
          </a:prstGeom>
          <a:noFill/>
          <a:ln w="9525">
            <a:noFill/>
            <a:miter lim="800000"/>
            <a:headEnd/>
            <a:tailEnd/>
          </a:ln>
        </p:spPr>
      </p:pic>
      <p:pic>
        <p:nvPicPr>
          <p:cNvPr id="1027" name="Picture 3"/>
          <p:cNvPicPr>
            <a:picLocks noChangeAspect="1" noChangeArrowheads="1"/>
          </p:cNvPicPr>
          <p:nvPr/>
        </p:nvPicPr>
        <p:blipFill>
          <a:blip r:embed="rId2" cstate="print"/>
          <a:srcRect/>
          <a:stretch>
            <a:fillRect/>
          </a:stretch>
        </p:blipFill>
        <p:spPr>
          <a:xfrm>
            <a:off x="1371600" y="3276600"/>
            <a:ext cx="7162800" cy="47752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a:xfrm>
            <a:off x="2133600" y="5105400"/>
            <a:ext cx="5133975" cy="125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533400"/>
          </a:xfrm>
        </p:spPr>
        <p:txBody>
          <a:bodyPr numCol="1">
            <a:noAutofit/>
          </a:bodyPr>
          <a:lstStyle/>
          <a:p>
            <a:r>
              <a:rPr lang="en-US" sz="3200" dirty="0" smtClean="0"/>
              <a:t>Specify an Index Name</a:t>
            </a:r>
            <a:endParaRPr lang="en-US" sz="3200" dirty="0"/>
          </a:p>
        </p:txBody>
      </p:sp>
      <p:sp>
        <p:nvSpPr>
          <p:cNvPr id="3" name="Content Placeholder 2"/>
          <p:cNvSpPr>
            <a:spLocks noGrp="1"/>
          </p:cNvSpPr>
          <p:nvPr>
            <p:ph idx="1"/>
          </p:nvPr>
        </p:nvSpPr>
        <p:spPr>
          <a:xfrm>
            <a:off x="152400" y="609600"/>
            <a:ext cx="8839200" cy="6096000"/>
          </a:xfrm>
        </p:spPr>
        <p:txBody>
          <a:bodyPr numCol="1">
            <a:normAutofit fontScale="92500" lnSpcReduction="10000"/>
          </a:bodyPr>
          <a:lstStyle/>
          <a:p>
            <a:pPr algn="just"/>
            <a:r>
              <a:rPr lang="en-US" sz="2400" dirty="0" smtClean="0"/>
              <a:t>When you create an index, you can give the index a custom name. </a:t>
            </a:r>
            <a:endParaRPr lang="en-US" sz="2400" dirty="0" smtClean="0"/>
          </a:p>
          <a:p>
            <a:pPr algn="just"/>
            <a:r>
              <a:rPr lang="en-US" sz="2400" dirty="0" smtClean="0"/>
              <a:t>Giving your index a name helps distinguish different indexes on your collection. </a:t>
            </a:r>
            <a:endParaRPr lang="en-US" sz="2400" dirty="0" smtClean="0"/>
          </a:p>
          <a:p>
            <a:pPr algn="just"/>
            <a:r>
              <a:rPr lang="en-US" sz="2400" dirty="0" smtClean="0"/>
              <a:t>For example, you can more easily identify the indexes used by a query in the query plan's </a:t>
            </a:r>
            <a:r>
              <a:rPr lang="en-US" sz="2400" b="1" i="1" dirty="0" smtClean="0"/>
              <a:t>explain</a:t>
            </a:r>
            <a:r>
              <a:rPr lang="en-US" sz="2400" dirty="0" smtClean="0"/>
              <a:t> results if your indexes have distinct names</a:t>
            </a:r>
            <a:r>
              <a:rPr lang="en-US" sz="2400" dirty="0" smtClean="0"/>
              <a:t>.</a:t>
            </a:r>
            <a:endParaRPr lang="en-US" sz="2400" dirty="0" smtClean="0"/>
          </a:p>
          <a:p>
            <a:pPr lvl="1" algn="just">
              <a:buNone/>
            </a:pPr>
            <a:r>
              <a:rPr lang="en-IN" altLang="en-IN" sz="2000" dirty="0" smtClean="0"/>
              <a:t>	</a:t>
            </a:r>
            <a:r>
              <a:rPr lang="en-IN" altLang="en-IN" sz="2000" dirty="0" smtClean="0"/>
              <a:t>		</a:t>
            </a:r>
            <a:r>
              <a:rPr lang="en-IN" altLang="en-IN" sz="2000" b="1" dirty="0" err="1" smtClean="0"/>
              <a:t>db.collection.find</a:t>
            </a:r>
            <a:r>
              <a:rPr lang="en-IN" altLang="en-IN" sz="2000" b="1" dirty="0" smtClean="0"/>
              <a:t>(&lt;</a:t>
            </a:r>
            <a:r>
              <a:rPr lang="en-IN" altLang="en-IN" sz="2000" b="1" dirty="0" err="1" smtClean="0"/>
              <a:t>queryFilter</a:t>
            </a:r>
            <a:r>
              <a:rPr lang="en-IN" altLang="en-IN" sz="2000" b="1" dirty="0" smtClean="0"/>
              <a:t>&gt;).explain(“</a:t>
            </a:r>
            <a:r>
              <a:rPr lang="en-IN" altLang="en-IN" sz="2000" b="1" dirty="0" err="1" smtClean="0"/>
              <a:t>executionStats</a:t>
            </a:r>
            <a:r>
              <a:rPr lang="en-IN" altLang="en-IN" sz="2000" b="1" dirty="0" smtClean="0"/>
              <a:t>”)</a:t>
            </a:r>
            <a:endParaRPr lang="en-US" sz="2000" b="1" dirty="0" smtClean="0"/>
          </a:p>
          <a:p>
            <a:pPr algn="just"/>
            <a:r>
              <a:rPr lang="en-US" sz="2400" dirty="0" smtClean="0"/>
              <a:t>To specify the index name, include the name option when you create the index:</a:t>
            </a:r>
            <a:endParaRPr lang="en-US" sz="2400" dirty="0" smtClean="0"/>
          </a:p>
          <a:p>
            <a:pPr algn="just"/>
            <a:endParaRPr lang="en-US" sz="2400" dirty="0" smtClean="0"/>
          </a:p>
          <a:p>
            <a:pPr algn="just"/>
            <a:endParaRPr lang="en-US" sz="2400" dirty="0" smtClean="0"/>
          </a:p>
          <a:p>
            <a:pPr algn="just"/>
            <a:endParaRPr lang="en-US" sz="2400" dirty="0" smtClean="0"/>
          </a:p>
          <a:p>
            <a:pPr algn="just">
              <a:buNone/>
            </a:pPr>
            <a:r>
              <a:rPr lang="en-US" sz="2400" b="1" dirty="0" smtClean="0"/>
              <a:t>Important points:</a:t>
            </a:r>
            <a:endParaRPr lang="en-US" sz="2400" b="1" dirty="0" smtClean="0"/>
          </a:p>
          <a:p>
            <a:pPr algn="just"/>
            <a:r>
              <a:rPr lang="en-US" sz="2400" dirty="0" smtClean="0"/>
              <a:t>Index names must be unique. </a:t>
            </a:r>
            <a:endParaRPr lang="en-US" sz="2400" dirty="0" smtClean="0"/>
          </a:p>
          <a:p>
            <a:pPr algn="just"/>
            <a:r>
              <a:rPr lang="en-US" sz="2400" dirty="0" smtClean="0"/>
              <a:t>Creating an index with the name of an existing index returns an error.</a:t>
            </a:r>
            <a:endParaRPr lang="en-US" sz="2400" dirty="0" smtClean="0"/>
          </a:p>
          <a:p>
            <a:pPr algn="just"/>
            <a:r>
              <a:rPr lang="en-US" sz="2400" dirty="0" smtClean="0"/>
              <a:t>You can't rename an existing index. Instead, you must drop and recreate the index with a new name.</a:t>
            </a:r>
            <a:endParaRPr lang="en-US" sz="2400" dirty="0" smtClean="0"/>
          </a:p>
          <a:p>
            <a:pPr algn="just"/>
            <a:endParaRPr lang="en-US" sz="2400" dirty="0"/>
          </a:p>
        </p:txBody>
      </p:sp>
      <p:pic>
        <p:nvPicPr>
          <p:cNvPr id="1026" name="Picture 2"/>
          <p:cNvPicPr>
            <a:picLocks noChangeAspect="1" noChangeArrowheads="1"/>
          </p:cNvPicPr>
          <p:nvPr/>
        </p:nvPicPr>
        <p:blipFill>
          <a:blip r:embed="rId1" cstate="print"/>
          <a:srcRect/>
          <a:stretch>
            <a:fillRect/>
          </a:stretch>
        </p:blipFill>
        <p:spPr>
          <a:xfrm>
            <a:off x="2895600" y="3505200"/>
            <a:ext cx="3200400" cy="1152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srcRect/>
          <a:stretch>
            <a:fillRect/>
          </a:stretch>
        </p:blipFill>
        <p:spPr>
          <a:xfrm>
            <a:off x="714348" y="357166"/>
            <a:ext cx="7429552" cy="568008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numCol="1"/>
          <a:lstStyle/>
          <a:p>
            <a:pPr>
              <a:buNone/>
            </a:pPr>
            <a:r>
              <a:rPr lang="en-US" sz="2400" b="1" dirty="0" smtClean="0"/>
              <a:t>Default Index Names</a:t>
            </a:r>
            <a:endParaRPr lang="en-US" sz="2400" b="1" dirty="0" smtClean="0"/>
          </a:p>
          <a:p>
            <a:pPr algn="just"/>
            <a:r>
              <a:rPr lang="en-US" sz="2400" dirty="0" smtClean="0"/>
              <a:t>If you don't specify a name during index creation, the system generates the name by concatenating each index key field and value with underscores. For example:</a:t>
            </a:r>
            <a:endParaRPr lang="en-US" sz="2400" dirty="0" smtClean="0"/>
          </a:p>
          <a:p>
            <a:endParaRPr lang="en-US" dirty="0"/>
          </a:p>
        </p:txBody>
      </p:sp>
      <p:pic>
        <p:nvPicPr>
          <p:cNvPr id="2050" name="Picture 2"/>
          <p:cNvPicPr>
            <a:picLocks noChangeAspect="1" noChangeArrowheads="1"/>
          </p:cNvPicPr>
          <p:nvPr/>
        </p:nvPicPr>
        <p:blipFill>
          <a:blip r:embed="rId1" cstate="print"/>
          <a:srcRect/>
          <a:stretch>
            <a:fillRect/>
          </a:stretch>
        </p:blipFill>
        <p:spPr>
          <a:xfrm>
            <a:off x="304800" y="2362200"/>
            <a:ext cx="8625447" cy="2200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609600"/>
          </a:xfrm>
        </p:spPr>
        <p:txBody>
          <a:bodyPr numCol="1">
            <a:normAutofit fontScale="90000"/>
          </a:bodyPr>
          <a:lstStyle/>
          <a:p>
            <a:r>
              <a:rPr lang="en-US" dirty="0" smtClean="0"/>
              <a:t>Drop an Index</a:t>
            </a:r>
            <a:endParaRPr lang="en-US" dirty="0"/>
          </a:p>
        </p:txBody>
      </p:sp>
      <p:sp>
        <p:nvSpPr>
          <p:cNvPr id="3" name="Content Placeholder 2"/>
          <p:cNvSpPr>
            <a:spLocks noGrp="1"/>
          </p:cNvSpPr>
          <p:nvPr>
            <p:ph idx="1"/>
          </p:nvPr>
        </p:nvSpPr>
        <p:spPr>
          <a:xfrm>
            <a:off x="152400" y="609600"/>
            <a:ext cx="8839200" cy="6096000"/>
          </a:xfrm>
        </p:spPr>
        <p:txBody>
          <a:bodyPr numCol="1">
            <a:normAutofit lnSpcReduction="10000"/>
          </a:bodyPr>
          <a:lstStyle/>
          <a:p>
            <a:pPr algn="just"/>
            <a:r>
              <a:rPr lang="en-US" sz="2400" dirty="0" smtClean="0"/>
              <a:t>You can remove a specific index from a collection.</a:t>
            </a:r>
            <a:endParaRPr lang="en-US" sz="2400" dirty="0" smtClean="0"/>
          </a:p>
          <a:p>
            <a:pPr algn="just"/>
            <a:r>
              <a:rPr lang="en-US" sz="2400" dirty="0" smtClean="0"/>
              <a:t> You may need to drop an index if you see a negative performance impact, want to replace it with a new index, or no longer need the index.</a:t>
            </a:r>
            <a:endParaRPr lang="en-US" sz="2400" dirty="0" smtClean="0"/>
          </a:p>
          <a:p>
            <a:pPr algn="just"/>
            <a:r>
              <a:rPr lang="en-US" sz="2400" dirty="0" smtClean="0"/>
              <a:t>To drop an index, use one of the following shell methods:</a:t>
            </a:r>
            <a:endParaRPr lang="en-US" sz="2400" dirty="0" smtClean="0"/>
          </a:p>
          <a:p>
            <a:pPr algn="just"/>
            <a:endParaRPr lang="en-US" sz="2400" dirty="0" smtClean="0"/>
          </a:p>
          <a:p>
            <a:pPr algn="just"/>
            <a:endParaRPr lang="en-US" sz="2400" dirty="0" smtClean="0"/>
          </a:p>
          <a:p>
            <a:pPr algn="just"/>
            <a:endParaRPr lang="en-US" sz="2400" dirty="0" smtClean="0"/>
          </a:p>
          <a:p>
            <a:pPr algn="just"/>
            <a:r>
              <a:rPr lang="en-US" sz="2400" dirty="0" smtClean="0"/>
              <a:t>You can drop any index except the default index on the _id field. To drop the _id index, you must drop the entire collection.</a:t>
            </a:r>
            <a:endParaRPr lang="en-US" sz="2400" dirty="0" smtClean="0"/>
          </a:p>
          <a:p>
            <a:pPr algn="just"/>
            <a:r>
              <a:rPr lang="en-US" sz="2400" dirty="0" smtClean="0"/>
              <a:t>If you drop an index that's actively used in production, you may experience performance degradation. Before you drop an index, consider </a:t>
            </a:r>
            <a:r>
              <a:rPr lang="en-US" sz="2400" b="1" dirty="0" smtClean="0"/>
              <a:t>hiding the index</a:t>
            </a:r>
            <a:r>
              <a:rPr lang="en-US" sz="2400" dirty="0" smtClean="0"/>
              <a:t> to evaluate the potential impact of the drop.</a:t>
            </a:r>
            <a:endParaRPr lang="en-US" sz="2400" dirty="0" smtClean="0"/>
          </a:p>
          <a:p>
            <a:pPr algn="ctr">
              <a:buNone/>
            </a:pPr>
            <a:r>
              <a:rPr lang="en-US" sz="2400" dirty="0" err="1" smtClean="0"/>
              <a:t>db.collection.hideIndex</a:t>
            </a:r>
            <a:r>
              <a:rPr lang="en-US" sz="2400" dirty="0" smtClean="0"/>
              <a:t>({age:1})</a:t>
            </a:r>
            <a:endParaRPr lang="en-US" sz="2400" dirty="0" smtClean="0"/>
          </a:p>
          <a:p>
            <a:pPr algn="ctr">
              <a:buNone/>
            </a:pPr>
            <a:r>
              <a:rPr lang="en-US" sz="2400" dirty="0" smtClean="0"/>
              <a:t>     </a:t>
            </a:r>
            <a:r>
              <a:rPr lang="en-US" sz="2400" dirty="0" err="1" smtClean="0"/>
              <a:t>db.collection.unhideIndex</a:t>
            </a:r>
            <a:r>
              <a:rPr lang="en-US" sz="2400" dirty="0" smtClean="0"/>
              <a:t>({age:1})</a:t>
            </a:r>
            <a:endParaRPr lang="en-US" sz="2400" dirty="0" smtClean="0"/>
          </a:p>
          <a:p>
            <a:pPr algn="just"/>
            <a:endParaRPr lang="en-US" sz="2400" dirty="0" smtClean="0"/>
          </a:p>
          <a:p>
            <a:endParaRPr lang="en-US" dirty="0"/>
          </a:p>
        </p:txBody>
      </p:sp>
      <p:pic>
        <p:nvPicPr>
          <p:cNvPr id="22530" name="Picture 2"/>
          <p:cNvPicPr>
            <a:picLocks noChangeAspect="1" noChangeArrowheads="1"/>
          </p:cNvPicPr>
          <p:nvPr/>
        </p:nvPicPr>
        <p:blipFill>
          <a:blip r:embed="rId1" cstate="print"/>
          <a:srcRect/>
          <a:stretch>
            <a:fillRect/>
          </a:stretch>
        </p:blipFill>
        <p:spPr>
          <a:xfrm>
            <a:off x="228600" y="2667000"/>
            <a:ext cx="8915400" cy="137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6629400"/>
          </a:xfrm>
        </p:spPr>
        <p:txBody>
          <a:bodyPr numCol="1">
            <a:normAutofit/>
          </a:bodyPr>
          <a:lstStyle/>
          <a:p>
            <a:pPr algn="just">
              <a:buNone/>
            </a:pPr>
            <a:r>
              <a:rPr lang="en-US" sz="2000" b="1" dirty="0" smtClean="0"/>
              <a:t>Procedure: </a:t>
            </a:r>
            <a:endParaRPr lang="en-US" sz="2000" b="1" dirty="0" smtClean="0"/>
          </a:p>
          <a:p>
            <a:pPr algn="just"/>
            <a:r>
              <a:rPr lang="en-US" sz="2000" dirty="0" smtClean="0"/>
              <a:t>To drop an index, you need its name. To get all index names for a collection, run the getIndexes() method:</a:t>
            </a:r>
            <a:endParaRPr lang="en-US" sz="2000" dirty="0" smtClean="0"/>
          </a:p>
          <a:p>
            <a:pPr algn="just"/>
            <a:r>
              <a:rPr lang="en-US" sz="2000" dirty="0" smtClean="0"/>
              <a:t>After you identify which indexes to drop, use one of the following drop methods for the specified collection:</a:t>
            </a:r>
            <a:endParaRPr lang="en-US" sz="2000" dirty="0" smtClean="0"/>
          </a:p>
          <a:p>
            <a:pPr algn="just">
              <a:buFont typeface="Wingdings" panose="05000000000000000000" pitchFamily="2" charset="2"/>
              <a:buChar char="ü"/>
            </a:pPr>
            <a:r>
              <a:rPr lang="en-US" sz="2000" b="1" dirty="0" smtClean="0"/>
              <a:t>Drop a Single Index: </a:t>
            </a:r>
            <a:r>
              <a:rPr lang="en-US" sz="2000" dirty="0" smtClean="0"/>
              <a:t>use the dropIndex() method and specify the index name:</a:t>
            </a:r>
            <a:endParaRPr lang="en-US" sz="2000" dirty="0" smtClean="0"/>
          </a:p>
          <a:p>
            <a:pPr algn="just">
              <a:buFont typeface="Wingdings" panose="05000000000000000000" pitchFamily="2" charset="2"/>
              <a:buChar char="ü"/>
            </a:pPr>
            <a:endParaRPr lang="en-US" sz="2000" dirty="0" smtClean="0"/>
          </a:p>
          <a:p>
            <a:pPr>
              <a:buFont typeface="Wingdings" panose="05000000000000000000" pitchFamily="2" charset="2"/>
              <a:buChar char="ü"/>
            </a:pPr>
            <a:r>
              <a:rPr lang="en-US" sz="2000" b="1" dirty="0" smtClean="0"/>
              <a:t>Drop Multiple Indexes: </a:t>
            </a:r>
            <a:r>
              <a:rPr lang="en-US" sz="2000" dirty="0" smtClean="0"/>
              <a:t>use the dropIndexes() method and specify an array of index names:</a:t>
            </a:r>
            <a:endParaRPr lang="en-US" sz="2000" dirty="0" smtClean="0"/>
          </a:p>
          <a:p>
            <a:pPr>
              <a:buFont typeface="Wingdings" panose="05000000000000000000" pitchFamily="2" charset="2"/>
              <a:buChar char="ü"/>
            </a:pPr>
            <a:r>
              <a:rPr lang="en-US" sz="2000" b="1" dirty="0" smtClean="0"/>
              <a:t>Drop All Indexes Except the _id Index: </a:t>
            </a:r>
            <a:endParaRPr lang="en-US" sz="2000" b="1" dirty="0" smtClean="0"/>
          </a:p>
          <a:p>
            <a:pPr>
              <a:buNone/>
            </a:pPr>
            <a:endParaRPr lang="en-US" sz="2000" b="1" dirty="0" smtClean="0"/>
          </a:p>
          <a:p>
            <a:pPr>
              <a:buNone/>
            </a:pPr>
            <a:r>
              <a:rPr lang="en-US" sz="2000" b="1" dirty="0" smtClean="0"/>
              <a:t>Results: </a:t>
            </a:r>
            <a:r>
              <a:rPr lang="en-US" sz="2000" dirty="0" smtClean="0"/>
              <a:t>After you drop an index, the system returns information about the status of the operation.</a:t>
            </a:r>
            <a:endParaRPr lang="en-US" sz="2000" dirty="0" smtClean="0"/>
          </a:p>
          <a:p>
            <a:pPr>
              <a:buNone/>
            </a:pPr>
            <a:endParaRPr lang="en-US" sz="2000" dirty="0" smtClean="0"/>
          </a:p>
          <a:p>
            <a:pPr algn="just"/>
            <a:r>
              <a:rPr lang="en-US" sz="2000" dirty="0" smtClean="0"/>
              <a:t>The value of </a:t>
            </a:r>
            <a:r>
              <a:rPr lang="en-US" sz="2000" dirty="0" err="1" smtClean="0"/>
              <a:t>nIndexesWas</a:t>
            </a:r>
            <a:r>
              <a:rPr lang="en-US" sz="2000" dirty="0" smtClean="0"/>
              <a:t> reflects the number of indexes before removing an index.  </a:t>
            </a:r>
            <a:endParaRPr lang="en-US" sz="2000" dirty="0" smtClean="0"/>
          </a:p>
          <a:p>
            <a:pPr algn="just"/>
            <a:r>
              <a:rPr lang="en-US" sz="2000" dirty="0" smtClean="0"/>
              <a:t>To confirm that the index was dropped, </a:t>
            </a:r>
            <a:r>
              <a:rPr lang="en-US" sz="2000" dirty="0" err="1" smtClean="0"/>
              <a:t>run:db.collection.getIndexes</a:t>
            </a:r>
            <a:r>
              <a:rPr lang="en-US" sz="2000" dirty="0" smtClean="0"/>
              <a:t>() method. </a:t>
            </a:r>
            <a:endParaRPr lang="en-US" sz="2000" dirty="0" smtClean="0"/>
          </a:p>
          <a:p>
            <a:pPr algn="just"/>
            <a:r>
              <a:rPr lang="en-US" sz="2000" dirty="0" smtClean="0"/>
              <a:t>The dropped index no longer appears in the getIndexes() output.</a:t>
            </a:r>
            <a:endParaRPr lang="en-US" sz="2000" dirty="0" smtClean="0"/>
          </a:p>
          <a:p>
            <a:pPr>
              <a:buNone/>
            </a:pPr>
            <a:endParaRPr lang="en-US" sz="2400" dirty="0" smtClean="0"/>
          </a:p>
          <a:p>
            <a:pPr>
              <a:buNone/>
            </a:pPr>
            <a:endParaRPr lang="en-US" sz="2400" dirty="0" smtClean="0"/>
          </a:p>
          <a:p>
            <a:pPr>
              <a:buNone/>
            </a:pPr>
            <a:endParaRPr lang="en-US" sz="2400" dirty="0" smtClean="0"/>
          </a:p>
          <a:p>
            <a:pPr algn="just">
              <a:buNone/>
            </a:pPr>
            <a:endParaRPr lang="en-US" sz="2400" dirty="0" smtClean="0"/>
          </a:p>
          <a:p>
            <a:pPr algn="just"/>
            <a:endParaRPr lang="en-US" sz="2400" dirty="0"/>
          </a:p>
        </p:txBody>
      </p:sp>
      <p:pic>
        <p:nvPicPr>
          <p:cNvPr id="23554" name="Picture 2"/>
          <p:cNvPicPr>
            <a:picLocks noChangeAspect="1" noChangeArrowheads="1"/>
          </p:cNvPicPr>
          <p:nvPr/>
        </p:nvPicPr>
        <p:blipFill>
          <a:blip r:embed="rId1" cstate="print"/>
          <a:srcRect/>
          <a:stretch>
            <a:fillRect/>
          </a:stretch>
        </p:blipFill>
        <p:spPr>
          <a:xfrm>
            <a:off x="4419600" y="838200"/>
            <a:ext cx="3114675" cy="352425"/>
          </a:xfrm>
          <a:prstGeom prst="rect">
            <a:avLst/>
          </a:prstGeom>
          <a:noFill/>
          <a:ln w="9525">
            <a:noFill/>
            <a:miter lim="800000"/>
            <a:headEnd/>
            <a:tailEnd/>
          </a:ln>
        </p:spPr>
      </p:pic>
      <p:pic>
        <p:nvPicPr>
          <p:cNvPr id="23555" name="Picture 3"/>
          <p:cNvPicPr>
            <a:picLocks noChangeAspect="1" noChangeArrowheads="1"/>
          </p:cNvPicPr>
          <p:nvPr/>
        </p:nvPicPr>
        <p:blipFill>
          <a:blip r:embed="rId2" cstate="print"/>
          <a:srcRect/>
          <a:stretch>
            <a:fillRect/>
          </a:stretch>
        </p:blipFill>
        <p:spPr>
          <a:xfrm>
            <a:off x="2514600" y="2209800"/>
            <a:ext cx="4400550" cy="333375"/>
          </a:xfrm>
          <a:prstGeom prst="rect">
            <a:avLst/>
          </a:prstGeom>
          <a:noFill/>
          <a:ln w="9525">
            <a:noFill/>
            <a:miter lim="800000"/>
            <a:headEnd/>
            <a:tailEnd/>
          </a:ln>
        </p:spPr>
      </p:pic>
      <p:pic>
        <p:nvPicPr>
          <p:cNvPr id="23556" name="Picture 4"/>
          <p:cNvPicPr>
            <a:picLocks noChangeAspect="1" noChangeArrowheads="1"/>
          </p:cNvPicPr>
          <p:nvPr/>
        </p:nvPicPr>
        <p:blipFill>
          <a:blip r:embed="rId3" cstate="print"/>
          <a:srcRect/>
          <a:stretch>
            <a:fillRect/>
          </a:stretch>
        </p:blipFill>
        <p:spPr>
          <a:xfrm>
            <a:off x="2286000" y="2895600"/>
            <a:ext cx="5943600" cy="285750"/>
          </a:xfrm>
          <a:prstGeom prst="rect">
            <a:avLst/>
          </a:prstGeom>
          <a:noFill/>
          <a:ln w="9525">
            <a:noFill/>
            <a:miter lim="800000"/>
            <a:headEnd/>
            <a:tailEnd/>
          </a:ln>
        </p:spPr>
      </p:pic>
      <p:pic>
        <p:nvPicPr>
          <p:cNvPr id="23557" name="Picture 5"/>
          <p:cNvPicPr>
            <a:picLocks noChangeAspect="1" noChangeArrowheads="1"/>
          </p:cNvPicPr>
          <p:nvPr/>
        </p:nvPicPr>
        <p:blipFill>
          <a:blip r:embed="rId4" cstate="print"/>
          <a:srcRect/>
          <a:stretch>
            <a:fillRect/>
          </a:stretch>
        </p:blipFill>
        <p:spPr>
          <a:xfrm>
            <a:off x="5508625" y="3886200"/>
            <a:ext cx="3143250" cy="304800"/>
          </a:xfrm>
          <a:prstGeom prst="rect">
            <a:avLst/>
          </a:prstGeom>
          <a:noFill/>
          <a:ln w="9525">
            <a:noFill/>
            <a:miter lim="800000"/>
            <a:headEnd/>
            <a:tailEnd/>
          </a:ln>
        </p:spPr>
      </p:pic>
      <p:pic>
        <p:nvPicPr>
          <p:cNvPr id="23558" name="Picture 6"/>
          <p:cNvPicPr>
            <a:picLocks noChangeAspect="1" noChangeArrowheads="1"/>
          </p:cNvPicPr>
          <p:nvPr/>
        </p:nvPicPr>
        <p:blipFill>
          <a:blip r:embed="rId5" cstate="print"/>
          <a:srcRect/>
          <a:stretch>
            <a:fillRect/>
          </a:stretch>
        </p:blipFill>
        <p:spPr>
          <a:xfrm>
            <a:off x="3708400" y="4580890"/>
            <a:ext cx="2895600" cy="71024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915400" cy="609600"/>
          </a:xfrm>
        </p:spPr>
        <p:txBody>
          <a:bodyPr numCol="1">
            <a:normAutofit fontScale="90000"/>
          </a:bodyPr>
          <a:lstStyle/>
          <a:p>
            <a:r>
              <a:rPr lang="en-US" dirty="0" smtClean="0"/>
              <a:t>Index Types</a:t>
            </a:r>
            <a:endParaRPr lang="en-US" dirty="0"/>
          </a:p>
        </p:txBody>
      </p:sp>
      <p:sp>
        <p:nvSpPr>
          <p:cNvPr id="3" name="Content Placeholder 2"/>
          <p:cNvSpPr>
            <a:spLocks noGrp="1"/>
          </p:cNvSpPr>
          <p:nvPr>
            <p:ph idx="1"/>
          </p:nvPr>
        </p:nvSpPr>
        <p:spPr>
          <a:xfrm>
            <a:off x="152400" y="609600"/>
            <a:ext cx="8839200" cy="6096000"/>
          </a:xfrm>
        </p:spPr>
        <p:txBody>
          <a:bodyPr numCol="1">
            <a:normAutofit/>
          </a:bodyPr>
          <a:lstStyle/>
          <a:p>
            <a:pPr marL="457200" indent="-457200" algn="just">
              <a:buAutoNum type="arabicPeriod"/>
            </a:pPr>
            <a:r>
              <a:rPr lang="en-US" sz="2000" b="1" dirty="0" smtClean="0"/>
              <a:t>Single Field Indexes: </a:t>
            </a:r>
            <a:r>
              <a:rPr lang="en-US" sz="2000" dirty="0" smtClean="0"/>
              <a:t>Single field indexes collect, sort and store data from a single field in each document in a collection.</a:t>
            </a:r>
            <a:endParaRPr lang="en-US" sz="2000" dirty="0" smtClean="0"/>
          </a:p>
          <a:p>
            <a:pPr algn="just"/>
            <a:r>
              <a:rPr lang="en-US" sz="2000" dirty="0" smtClean="0"/>
              <a:t>By default, all collections have an index on the _id field. You can add additional indexes to speed up important queries and operations.</a:t>
            </a:r>
            <a:endParaRPr lang="en-US" sz="2000" dirty="0" smtClean="0"/>
          </a:p>
          <a:p>
            <a:pPr algn="just"/>
            <a:r>
              <a:rPr lang="en-US" sz="2000" dirty="0" smtClean="0"/>
              <a:t>You can create a single-field index on any field in a document, including:  </a:t>
            </a:r>
            <a:endParaRPr lang="en-US" sz="2000" dirty="0" smtClean="0"/>
          </a:p>
          <a:p>
            <a:pPr algn="just">
              <a:buFont typeface="Wingdings" panose="05000000000000000000" pitchFamily="2" charset="2"/>
              <a:buChar char="ü"/>
            </a:pPr>
            <a:r>
              <a:rPr lang="en-US" sz="2000" dirty="0" smtClean="0"/>
              <a:t>Top-level document fields</a:t>
            </a:r>
            <a:endParaRPr lang="en-US" sz="2000" dirty="0" smtClean="0"/>
          </a:p>
          <a:p>
            <a:pPr algn="just">
              <a:buFont typeface="Wingdings" panose="05000000000000000000" pitchFamily="2" charset="2"/>
              <a:buChar char="ü"/>
            </a:pPr>
            <a:r>
              <a:rPr lang="en-US" sz="2000" dirty="0" smtClean="0"/>
              <a:t>Embedded documents</a:t>
            </a:r>
            <a:endParaRPr lang="en-US" sz="2000" dirty="0" smtClean="0"/>
          </a:p>
          <a:p>
            <a:pPr algn="just">
              <a:buFont typeface="Wingdings" panose="05000000000000000000" pitchFamily="2" charset="2"/>
              <a:buChar char="ü"/>
            </a:pPr>
            <a:r>
              <a:rPr lang="en-US" sz="2000" dirty="0" smtClean="0"/>
              <a:t>Fields within embedded documents</a:t>
            </a:r>
            <a:endParaRPr lang="en-US" sz="2000" dirty="0" smtClean="0"/>
          </a:p>
          <a:p>
            <a:pPr algn="just"/>
            <a:r>
              <a:rPr lang="en-US" sz="2000" dirty="0" smtClean="0"/>
              <a:t>To create a single-field index, use the following prototype:</a:t>
            </a:r>
            <a:endParaRPr lang="en-US" sz="2000" dirty="0" smtClean="0"/>
          </a:p>
          <a:p>
            <a:pPr algn="just"/>
            <a:endParaRPr lang="en-US" sz="2000" dirty="0" smtClean="0"/>
          </a:p>
          <a:p>
            <a:pPr algn="just"/>
            <a:r>
              <a:rPr lang="en-US" sz="2000" dirty="0" smtClean="0"/>
              <a:t>This image shows an ascending index on a single field, score:</a:t>
            </a:r>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marL="457200" indent="-457200" algn="just">
              <a:buAutoNum type="arabicPeriod"/>
            </a:pPr>
            <a:endParaRPr lang="en-US" sz="2400" dirty="0" smtClean="0"/>
          </a:p>
          <a:p>
            <a:pPr>
              <a:buNone/>
            </a:pPr>
            <a:endParaRPr lang="en-US" dirty="0" smtClean="0"/>
          </a:p>
          <a:p>
            <a:endParaRPr lang="en-US" dirty="0"/>
          </a:p>
        </p:txBody>
      </p:sp>
      <p:pic>
        <p:nvPicPr>
          <p:cNvPr id="24578" name="Picture 2"/>
          <p:cNvPicPr>
            <a:picLocks noChangeAspect="1" noChangeArrowheads="1"/>
          </p:cNvPicPr>
          <p:nvPr/>
        </p:nvPicPr>
        <p:blipFill>
          <a:blip r:embed="rId1" cstate="print"/>
          <a:srcRect/>
          <a:stretch>
            <a:fillRect/>
          </a:stretch>
        </p:blipFill>
        <p:spPr>
          <a:xfrm>
            <a:off x="1524000" y="3810000"/>
            <a:ext cx="6000750" cy="314325"/>
          </a:xfrm>
          <a:prstGeom prst="rect">
            <a:avLst/>
          </a:prstGeom>
          <a:noFill/>
          <a:ln w="9525">
            <a:noFill/>
            <a:miter lim="800000"/>
            <a:headEnd/>
            <a:tailEnd/>
          </a:ln>
        </p:spPr>
      </p:pic>
      <p:pic>
        <p:nvPicPr>
          <p:cNvPr id="24579" name="Picture 3"/>
          <p:cNvPicPr>
            <a:picLocks noChangeAspect="1" noChangeArrowheads="1"/>
          </p:cNvPicPr>
          <p:nvPr/>
        </p:nvPicPr>
        <p:blipFill>
          <a:blip r:embed="rId2" cstate="print"/>
          <a:srcRect/>
          <a:stretch>
            <a:fillRect/>
          </a:stretch>
        </p:blipFill>
        <p:spPr>
          <a:xfrm>
            <a:off x="228600" y="4495800"/>
            <a:ext cx="5948363" cy="2072812"/>
          </a:xfrm>
          <a:prstGeom prst="rect">
            <a:avLst/>
          </a:prstGeom>
          <a:noFill/>
          <a:ln w="9525">
            <a:noFill/>
            <a:miter lim="800000"/>
            <a:headEnd/>
            <a:tailEnd/>
          </a:ln>
        </p:spPr>
      </p:pic>
      <p:sp>
        <p:nvSpPr>
          <p:cNvPr id="24580" name="Rectangle 4"/>
          <p:cNvSpPr>
            <a:spLocks noChangeArrowheads="1"/>
          </p:cNvSpPr>
          <p:nvPr/>
        </p:nvSpPr>
        <p:spPr>
          <a:xfrm>
            <a:off x="6400800" y="4611231"/>
            <a:ext cx="2514600" cy="2246769"/>
          </a:xfrm>
          <a:prstGeom prst="rect">
            <a:avLst/>
          </a:prstGeom>
          <a:solidFill>
            <a:srgbClr val="F9FBFA"/>
          </a:solid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1E2B"/>
                </a:solidFill>
                <a:effectLst/>
                <a:latin typeface="+mj-lt"/>
                <a:cs typeface="Arial" panose="020B0604020202090204" pitchFamily="34" charset="0"/>
              </a:rPr>
              <a:t>In this example, each document in the collection that has a value for the </a:t>
            </a:r>
            <a:r>
              <a:rPr kumimoji="0" lang="en-US" sz="2000" b="0" i="0" u="none" strike="noStrike" cap="none" normalizeH="0" baseline="0" dirty="0" smtClean="0">
                <a:ln>
                  <a:noFill/>
                </a:ln>
                <a:solidFill>
                  <a:srgbClr val="1C2D38"/>
                </a:solidFill>
                <a:effectLst/>
                <a:latin typeface="+mj-lt"/>
                <a:cs typeface="Arial" panose="020B0604020202090204" pitchFamily="34" charset="0"/>
              </a:rPr>
              <a:t>score</a:t>
            </a:r>
            <a:r>
              <a:rPr kumimoji="0" lang="en-US" sz="2000" b="0" i="0" u="none" strike="noStrike" cap="none" normalizeH="0" baseline="0" dirty="0" smtClean="0">
                <a:ln>
                  <a:noFill/>
                </a:ln>
                <a:solidFill>
                  <a:srgbClr val="001E2B"/>
                </a:solidFill>
                <a:effectLst/>
                <a:latin typeface="+mj-lt"/>
                <a:cs typeface="Arial" panose="020B0604020202090204" pitchFamily="34" charset="0"/>
              </a:rPr>
              <a:t> field is added to the index in ascending order.</a:t>
            </a:r>
            <a:r>
              <a:rPr kumimoji="0" lang="en-US" sz="2000" b="0" i="0" u="none" strike="noStrike" cap="none" normalizeH="0" baseline="0" dirty="0" smtClean="0">
                <a:ln>
                  <a:noFill/>
                </a:ln>
                <a:solidFill>
                  <a:schemeClr val="tx1"/>
                </a:solidFill>
                <a:effectLst/>
                <a:latin typeface="+mj-lt"/>
                <a:cs typeface="Arial" panose="020B0604020202090204" pitchFamily="34" charset="0"/>
              </a:rPr>
              <a:t> </a:t>
            </a:r>
            <a:endParaRPr kumimoji="0" lang="en-US" sz="2000" b="0" i="0" u="none" strike="noStrike" cap="none" normalizeH="0" baseline="0" dirty="0" smtClean="0">
              <a:ln>
                <a:noFill/>
              </a:ln>
              <a:solidFill>
                <a:schemeClr val="tx1"/>
              </a:solidFill>
              <a:effectLst/>
              <a:latin typeface="+mj-lt"/>
              <a:cs typeface="Arial" panose="020B060402020209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numCol="1">
            <a:normAutofit/>
          </a:bodyPr>
          <a:lstStyle/>
          <a:p>
            <a:pPr algn="just">
              <a:buNone/>
            </a:pPr>
            <a:r>
              <a:rPr lang="en-US" b="1" dirty="0" smtClean="0"/>
              <a:t>Use Case:</a:t>
            </a:r>
            <a:endParaRPr lang="en-US" b="1" dirty="0" smtClean="0"/>
          </a:p>
          <a:p>
            <a:pPr algn="just">
              <a:buNone/>
            </a:pPr>
            <a:r>
              <a:rPr lang="en-US" sz="2400" dirty="0" smtClean="0"/>
              <a:t>    If your application repeatedly runs queries on the same field, you can create an index on that field to improve performance. For example, your human resources department often needs to look up employees by employee ID. You can create an index on the employee ID field to improve the performance of that query.</a:t>
            </a:r>
            <a:endParaRPr lang="en-US" sz="2400" dirty="0" smtClean="0"/>
          </a:p>
          <a:p>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705600"/>
          </a:xfrm>
        </p:spPr>
        <p:txBody>
          <a:bodyPr numCol="1">
            <a:normAutofit fontScale="85000" lnSpcReduction="20000"/>
          </a:bodyPr>
          <a:lstStyle/>
          <a:p>
            <a:pPr algn="just">
              <a:buNone/>
            </a:pPr>
            <a:r>
              <a:rPr lang="en-US" sz="2400" b="1" dirty="0" smtClean="0"/>
              <a:t>     </a:t>
            </a:r>
            <a:r>
              <a:rPr lang="en-US" sz="2200" b="1" dirty="0" smtClean="0"/>
              <a:t>Index Sort Order: </a:t>
            </a:r>
            <a:r>
              <a:rPr lang="en-US" sz="2200" dirty="0" smtClean="0"/>
              <a:t>For a single-field index, the sort order (ascending or descending) of the index key does not matter because </a:t>
            </a:r>
            <a:r>
              <a:rPr lang="en-US" sz="2200" dirty="0" err="1" smtClean="0"/>
              <a:t>MongoDB</a:t>
            </a:r>
            <a:r>
              <a:rPr lang="en-US" sz="2200" dirty="0" smtClean="0"/>
              <a:t> can traverse the index in either direction.</a:t>
            </a:r>
            <a:endParaRPr lang="en-US" sz="2200" dirty="0" smtClean="0"/>
          </a:p>
          <a:p>
            <a:pPr algn="just">
              <a:buNone/>
            </a:pPr>
            <a:r>
              <a:rPr lang="en-US" sz="2200" b="1" dirty="0" smtClean="0"/>
              <a:t>     Example: </a:t>
            </a:r>
            <a:r>
              <a:rPr lang="en-US" sz="2200" dirty="0" smtClean="0"/>
              <a:t>Create a </a:t>
            </a:r>
            <a:r>
              <a:rPr lang="en-US" sz="2200" i="1" dirty="0" smtClean="0"/>
              <a:t>students</a:t>
            </a:r>
            <a:r>
              <a:rPr lang="en-US" sz="2200" dirty="0" smtClean="0"/>
              <a:t> collection that contains the following documents:</a:t>
            </a:r>
            <a:endParaRPr lang="en-US" sz="2200" dirty="0" smtClean="0"/>
          </a:p>
          <a:p>
            <a:pPr algn="just">
              <a:buNone/>
            </a:pPr>
            <a:endParaRPr lang="en-US" sz="2200" dirty="0" smtClean="0"/>
          </a:p>
          <a:p>
            <a:pPr algn="just">
              <a:buNone/>
            </a:pPr>
            <a:endParaRPr lang="en-US" sz="2200" dirty="0" smtClean="0"/>
          </a:p>
          <a:p>
            <a:pPr algn="just">
              <a:buNone/>
            </a:pPr>
            <a:endParaRPr lang="en-US" sz="2200" dirty="0" smtClean="0"/>
          </a:p>
          <a:p>
            <a:pPr algn="just">
              <a:buNone/>
            </a:pPr>
            <a:endParaRPr lang="en-US" sz="2200" dirty="0" smtClean="0"/>
          </a:p>
          <a:p>
            <a:pPr algn="just">
              <a:buNone/>
            </a:pPr>
            <a:endParaRPr lang="en-US" sz="2200" dirty="0" smtClean="0"/>
          </a:p>
          <a:p>
            <a:pPr>
              <a:buNone/>
            </a:pPr>
            <a:r>
              <a:rPr lang="en-US" sz="2200" b="1" dirty="0" smtClean="0"/>
              <a:t>     </a:t>
            </a:r>
            <a:endParaRPr lang="en-US" sz="2200" b="1" dirty="0" smtClean="0"/>
          </a:p>
          <a:p>
            <a:pPr>
              <a:buNone/>
            </a:pPr>
            <a:endParaRPr lang="en-US" sz="2200" b="1" dirty="0" smtClean="0"/>
          </a:p>
          <a:p>
            <a:pPr algn="just">
              <a:buNone/>
            </a:pPr>
            <a:r>
              <a:rPr lang="en-US" sz="2200" b="1" dirty="0" smtClean="0"/>
              <a:t>     </a:t>
            </a:r>
            <a:endParaRPr lang="en-US" sz="2200" b="1" dirty="0" smtClean="0"/>
          </a:p>
          <a:p>
            <a:pPr algn="just">
              <a:buNone/>
            </a:pPr>
            <a:endParaRPr lang="en-US" sz="2200" b="1" dirty="0" smtClean="0"/>
          </a:p>
          <a:p>
            <a:pPr algn="just">
              <a:lnSpc>
                <a:spcPct val="120000"/>
              </a:lnSpc>
              <a:buNone/>
            </a:pPr>
            <a:r>
              <a:rPr lang="en-US" sz="2200" b="1" dirty="0" smtClean="0"/>
              <a:t>Create an Index on a Single Field: </a:t>
            </a:r>
            <a:r>
              <a:rPr lang="en-US" sz="2200" dirty="0" smtClean="0"/>
              <a:t>Consider a school administrator who frequently looks up students by their GPA. You can create an index on the </a:t>
            </a:r>
            <a:r>
              <a:rPr lang="en-US" sz="2200" dirty="0" err="1" smtClean="0"/>
              <a:t>gpa</a:t>
            </a:r>
            <a:r>
              <a:rPr lang="en-US" sz="2200" dirty="0" smtClean="0"/>
              <a:t> field to improve performance for those queries:</a:t>
            </a:r>
            <a:endParaRPr lang="en-US" sz="2200" dirty="0" smtClean="0"/>
          </a:p>
          <a:p>
            <a:pPr algn="just">
              <a:buNone/>
            </a:pPr>
            <a:r>
              <a:rPr lang="en-US" sz="2200" dirty="0" smtClean="0"/>
              <a:t>      </a:t>
            </a:r>
            <a:endParaRPr lang="en-US" sz="2200" dirty="0" smtClean="0"/>
          </a:p>
          <a:p>
            <a:pPr algn="just">
              <a:buNone/>
            </a:pPr>
            <a:r>
              <a:rPr lang="en-US" sz="2200" b="1" dirty="0" smtClean="0"/>
              <a:t>Results: </a:t>
            </a:r>
            <a:r>
              <a:rPr lang="en-US" sz="2200" dirty="0" smtClean="0"/>
              <a:t>The index supports queries that select on the field </a:t>
            </a:r>
            <a:r>
              <a:rPr lang="en-US" sz="2200" dirty="0" err="1" smtClean="0"/>
              <a:t>gpa</a:t>
            </a:r>
            <a:r>
              <a:rPr lang="en-US" sz="2200" dirty="0" smtClean="0"/>
              <a:t>, such as the following:</a:t>
            </a:r>
            <a:endParaRPr lang="en-US" sz="2200" dirty="0" smtClean="0"/>
          </a:p>
          <a:p>
            <a:pPr algn="just">
              <a:buNone/>
            </a:pPr>
            <a:endParaRPr lang="en-US" sz="2000" dirty="0" smtClean="0"/>
          </a:p>
          <a:p>
            <a:pPr algn="just">
              <a:buNone/>
            </a:pPr>
            <a:endParaRPr lang="en-US" sz="2400" dirty="0" smtClean="0"/>
          </a:p>
          <a:p>
            <a:pPr>
              <a:buNone/>
            </a:pPr>
            <a:r>
              <a:rPr lang="en-US" dirty="0" smtClean="0"/>
              <a:t>	</a:t>
            </a:r>
            <a:endParaRPr lang="en-US" dirty="0"/>
          </a:p>
        </p:txBody>
      </p:sp>
      <p:pic>
        <p:nvPicPr>
          <p:cNvPr id="1027" name="Picture 3"/>
          <p:cNvPicPr>
            <a:picLocks noChangeAspect="1" noChangeArrowheads="1"/>
          </p:cNvPicPr>
          <p:nvPr/>
        </p:nvPicPr>
        <p:blipFill>
          <a:blip r:embed="rId1" cstate="print"/>
          <a:srcRect/>
          <a:stretch>
            <a:fillRect/>
          </a:stretch>
        </p:blipFill>
        <p:spPr>
          <a:xfrm>
            <a:off x="2362200" y="1295400"/>
            <a:ext cx="5029200" cy="2582951"/>
          </a:xfrm>
          <a:prstGeom prst="rect">
            <a:avLst/>
          </a:prstGeom>
          <a:noFill/>
          <a:ln w="9525">
            <a:noFill/>
            <a:miter lim="800000"/>
            <a:headEnd/>
            <a:tailEnd/>
          </a:ln>
        </p:spPr>
      </p:pic>
      <p:pic>
        <p:nvPicPr>
          <p:cNvPr id="7" name="Picture 3"/>
          <p:cNvPicPr>
            <a:picLocks noChangeAspect="1" noChangeArrowheads="1"/>
          </p:cNvPicPr>
          <p:nvPr/>
        </p:nvPicPr>
        <p:blipFill>
          <a:blip r:embed="rId2" cstate="print"/>
          <a:srcRect/>
          <a:stretch>
            <a:fillRect/>
          </a:stretch>
        </p:blipFill>
        <p:spPr>
          <a:xfrm>
            <a:off x="3657600" y="4572000"/>
            <a:ext cx="4114800" cy="34290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a:xfrm>
            <a:off x="1981200" y="5791200"/>
            <a:ext cx="4524375" cy="904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553200"/>
          </a:xfrm>
        </p:spPr>
        <p:txBody>
          <a:bodyPr numCol="1"/>
          <a:lstStyle/>
          <a:p>
            <a:pPr algn="just">
              <a:buNone/>
            </a:pPr>
            <a:r>
              <a:rPr lang="en-US" sz="2000" b="1" dirty="0" smtClean="0"/>
              <a:t>     Create an Index on an Embedded Field: </a:t>
            </a:r>
            <a:r>
              <a:rPr lang="en-US" sz="2000" dirty="0" smtClean="0"/>
              <a:t>You can create indexes on fields within embedded documents. Indexes on embedded fields can fulfill queries that use dot notation.</a:t>
            </a:r>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r>
              <a:rPr lang="en-US" sz="2000" dirty="0" smtClean="0"/>
              <a:t>The location field is an embedded document that contains the embedded fields city and state. Create an index on the </a:t>
            </a:r>
            <a:r>
              <a:rPr lang="en-US" sz="2000" dirty="0" err="1" smtClean="0"/>
              <a:t>location.state</a:t>
            </a:r>
            <a:r>
              <a:rPr lang="en-US" sz="2000" dirty="0" smtClean="0"/>
              <a:t> field:</a:t>
            </a:r>
            <a:endParaRPr lang="en-US" sz="2000" dirty="0" smtClean="0"/>
          </a:p>
          <a:p>
            <a:pPr algn="just"/>
            <a:endParaRPr lang="en-US" sz="2000" dirty="0" smtClean="0"/>
          </a:p>
          <a:p>
            <a:pPr algn="just">
              <a:buNone/>
            </a:pPr>
            <a:r>
              <a:rPr lang="en-US" sz="2000" dirty="0" smtClean="0"/>
              <a:t>      </a:t>
            </a:r>
            <a:r>
              <a:rPr lang="en-US" sz="2000" b="1" dirty="0" smtClean="0"/>
              <a:t>Results: </a:t>
            </a:r>
            <a:r>
              <a:rPr lang="en-US" sz="2000" dirty="0" smtClean="0"/>
              <a:t>The index supports queries on the field </a:t>
            </a:r>
            <a:r>
              <a:rPr lang="en-US" sz="2000" dirty="0" err="1" smtClean="0"/>
              <a:t>location.state</a:t>
            </a:r>
            <a:r>
              <a:rPr lang="en-US" sz="2000" dirty="0" smtClean="0"/>
              <a:t>, such as the following:</a:t>
            </a:r>
            <a:endParaRPr lang="en-US" sz="2000" dirty="0" smtClean="0"/>
          </a:p>
          <a:p>
            <a:endParaRPr lang="en-US" sz="2000" dirty="0" smtClean="0"/>
          </a:p>
          <a:p>
            <a:pPr>
              <a:buNone/>
            </a:pPr>
            <a:endParaRPr lang="en-US" dirty="0"/>
          </a:p>
        </p:txBody>
      </p:sp>
      <p:pic>
        <p:nvPicPr>
          <p:cNvPr id="2052" name="Picture 4"/>
          <p:cNvPicPr>
            <a:picLocks noChangeAspect="1" noChangeArrowheads="1"/>
          </p:cNvPicPr>
          <p:nvPr/>
        </p:nvPicPr>
        <p:blipFill>
          <a:blip r:embed="rId1" cstate="print"/>
          <a:srcRect/>
          <a:stretch>
            <a:fillRect/>
          </a:stretch>
        </p:blipFill>
        <p:spPr>
          <a:xfrm>
            <a:off x="1752600" y="4724400"/>
            <a:ext cx="5600700" cy="333375"/>
          </a:xfrm>
          <a:prstGeom prst="rect">
            <a:avLst/>
          </a:prstGeom>
          <a:noFill/>
          <a:ln w="9525">
            <a:noFill/>
            <a:miter lim="800000"/>
            <a:headEnd/>
            <a:tailEnd/>
          </a:ln>
        </p:spPr>
      </p:pic>
      <p:pic>
        <p:nvPicPr>
          <p:cNvPr id="2053" name="Picture 5"/>
          <p:cNvPicPr>
            <a:picLocks noChangeAspect="1" noChangeArrowheads="1"/>
          </p:cNvPicPr>
          <p:nvPr/>
        </p:nvPicPr>
        <p:blipFill>
          <a:blip r:embed="rId2" cstate="print"/>
          <a:srcRect/>
          <a:stretch>
            <a:fillRect/>
          </a:stretch>
        </p:blipFill>
        <p:spPr>
          <a:xfrm>
            <a:off x="590550" y="5857875"/>
            <a:ext cx="8553450" cy="1000125"/>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a:stretch>
            <a:fillRect/>
          </a:stretch>
        </p:blipFill>
        <p:spPr>
          <a:xfrm>
            <a:off x="2362200" y="1219200"/>
            <a:ext cx="5029200" cy="258295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381000"/>
          </a:xfrm>
        </p:spPr>
        <p:txBody>
          <a:bodyPr numCol="1">
            <a:normAutofit fontScale="90000"/>
          </a:bodyPr>
          <a:lstStyle/>
          <a:p>
            <a:r>
              <a:rPr lang="en-US" sz="3600" dirty="0" smtClean="0"/>
              <a:t>Create an Index on an Embedded Document</a:t>
            </a:r>
            <a:endParaRPr lang="en-US" dirty="0"/>
          </a:p>
        </p:txBody>
      </p:sp>
      <p:sp>
        <p:nvSpPr>
          <p:cNvPr id="3" name="Content Placeholder 2"/>
          <p:cNvSpPr>
            <a:spLocks noGrp="1"/>
          </p:cNvSpPr>
          <p:nvPr>
            <p:ph idx="1"/>
          </p:nvPr>
        </p:nvSpPr>
        <p:spPr>
          <a:xfrm>
            <a:off x="152400" y="685800"/>
            <a:ext cx="8839200" cy="5943600"/>
          </a:xfrm>
        </p:spPr>
        <p:txBody>
          <a:bodyPr numCol="1">
            <a:normAutofit/>
          </a:bodyPr>
          <a:lstStyle/>
          <a:p>
            <a:pPr algn="just"/>
            <a:r>
              <a:rPr lang="en-US" sz="2600" dirty="0" smtClean="0"/>
              <a:t>You can create indexes on embedded documents as a whole.</a:t>
            </a:r>
            <a:endParaRPr lang="en-US" sz="2600" dirty="0" smtClean="0"/>
          </a:p>
          <a:p>
            <a:pPr algn="just"/>
            <a:r>
              <a:rPr lang="en-US" sz="2600" dirty="0" smtClean="0"/>
              <a:t> However, only queries that specify the </a:t>
            </a:r>
            <a:r>
              <a:rPr lang="en-US" sz="2600" b="1" dirty="0" smtClean="0"/>
              <a:t>entire</a:t>
            </a:r>
            <a:r>
              <a:rPr lang="en-US" sz="2600" dirty="0" smtClean="0"/>
              <a:t> embedded document use the index. </a:t>
            </a:r>
            <a:endParaRPr lang="en-US" sz="2600" dirty="0" smtClean="0"/>
          </a:p>
          <a:p>
            <a:pPr algn="just"/>
            <a:r>
              <a:rPr lang="en-US" sz="2600" dirty="0" smtClean="0"/>
              <a:t>Queries on a specific field within the document do not use the index.</a:t>
            </a:r>
            <a:endParaRPr lang="en-US" sz="2600" dirty="0" smtClean="0"/>
          </a:p>
          <a:p>
            <a:pPr algn="just"/>
            <a:r>
              <a:rPr lang="en-US" sz="2600" dirty="0" smtClean="0"/>
              <a:t>To utilize an index on an embedded document, your query must specify the entire embedded document. This can lead to unexpected behaviors if your schema model changes and you add or remove fields from your indexed document.</a:t>
            </a:r>
            <a:endParaRPr lang="en-US" sz="2600" dirty="0" smtClean="0"/>
          </a:p>
          <a:p>
            <a:pPr algn="just"/>
            <a:r>
              <a:rPr lang="en-US" sz="2600" dirty="0" smtClean="0"/>
              <a:t>When you query embedded documents, the order that you specify fields in the query matters. The embedded documents in your query and returned document must match exactly. </a:t>
            </a:r>
            <a:endParaRPr lang="en-US" sz="26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lnSpcReduction="10000"/>
          </a:bodyPr>
          <a:lstStyle/>
          <a:p>
            <a:pPr algn="just">
              <a:buNone/>
            </a:pPr>
            <a:r>
              <a:rPr lang="en-US" sz="2000" b="1" dirty="0" smtClean="0"/>
              <a:t>Example:</a:t>
            </a: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None/>
            </a:pPr>
            <a:r>
              <a:rPr lang="en-US" sz="2000" dirty="0" smtClean="0"/>
              <a:t>Create an index on the location field:</a:t>
            </a:r>
            <a:endParaRPr lang="en-US" sz="2000" dirty="0" smtClean="0"/>
          </a:p>
          <a:p>
            <a:pPr algn="just">
              <a:buNone/>
            </a:pPr>
            <a:r>
              <a:rPr lang="en-US" sz="2000" b="1" dirty="0" smtClean="0"/>
              <a:t>Results: </a:t>
            </a:r>
            <a:r>
              <a:rPr lang="en-US" sz="2000" dirty="0" smtClean="0"/>
              <a:t>The following query uses the index on the location field:</a:t>
            </a:r>
            <a:endParaRPr lang="en-US" sz="2000" dirty="0" smtClean="0"/>
          </a:p>
          <a:p>
            <a:pPr algn="just"/>
            <a:endParaRPr lang="en-US" sz="2000" dirty="0" smtClean="0"/>
          </a:p>
          <a:p>
            <a:pPr algn="just">
              <a:buNone/>
            </a:pPr>
            <a:r>
              <a:rPr lang="en-US" sz="2000" dirty="0" smtClean="0"/>
              <a:t>The following queries </a:t>
            </a:r>
            <a:r>
              <a:rPr lang="en-US" sz="2000" i="1" dirty="0" smtClean="0"/>
              <a:t>do not</a:t>
            </a:r>
            <a:r>
              <a:rPr lang="en-US" sz="2000" dirty="0" smtClean="0"/>
              <a:t> use the index on the location field because they query on specific fields within the embedded document:</a:t>
            </a:r>
            <a:endParaRPr lang="en-US" sz="2000" dirty="0" smtClean="0"/>
          </a:p>
          <a:p>
            <a:pPr algn="just">
              <a:buNone/>
            </a:pPr>
            <a:endParaRPr lang="en-US" sz="2000" dirty="0" smtClean="0"/>
          </a:p>
          <a:p>
            <a:pPr algn="just">
              <a:buNone/>
            </a:pPr>
            <a:endParaRPr lang="en-US" sz="2000" dirty="0" smtClean="0"/>
          </a:p>
          <a:p>
            <a:pPr algn="just"/>
            <a:r>
              <a:rPr lang="en-US" sz="2000" dirty="0" smtClean="0"/>
              <a:t>In order for a dot notation query to use an index, you must create an index on the specific embedded field you are querying, not the entire embedded object. </a:t>
            </a:r>
            <a:endParaRPr lang="en-US" sz="2000" dirty="0" smtClean="0"/>
          </a:p>
          <a:p>
            <a:pPr algn="just"/>
            <a:r>
              <a:rPr lang="en-US" sz="2000" dirty="0" smtClean="0"/>
              <a:t>Following query returns no results because the embedded fields in the query predicate are specified in a different order than they appear in the document:</a:t>
            </a:r>
            <a:endParaRPr lang="en-US" sz="2000" dirty="0" smtClean="0"/>
          </a:p>
          <a:p>
            <a:pPr algn="just">
              <a:buNone/>
            </a:pPr>
            <a:endParaRPr lang="en-US" sz="2000" dirty="0" smtClean="0"/>
          </a:p>
          <a:p>
            <a:pPr algn="just">
              <a:buNone/>
            </a:pPr>
            <a:endParaRPr lang="en-US" sz="2400" dirty="0"/>
          </a:p>
        </p:txBody>
      </p:sp>
      <p:pic>
        <p:nvPicPr>
          <p:cNvPr id="3074" name="Picture 2"/>
          <p:cNvPicPr>
            <a:picLocks noChangeAspect="1" noChangeArrowheads="1"/>
          </p:cNvPicPr>
          <p:nvPr/>
        </p:nvPicPr>
        <p:blipFill>
          <a:blip r:embed="rId1" cstate="print"/>
          <a:srcRect/>
          <a:stretch>
            <a:fillRect/>
          </a:stretch>
        </p:blipFill>
        <p:spPr>
          <a:xfrm>
            <a:off x="1371600" y="152400"/>
            <a:ext cx="5105400" cy="2577902"/>
          </a:xfrm>
          <a:prstGeom prst="rect">
            <a:avLst/>
          </a:prstGeom>
          <a:noFill/>
          <a:ln w="9525">
            <a:noFill/>
            <a:miter lim="800000"/>
            <a:headEnd/>
            <a:tailEnd/>
          </a:ln>
        </p:spPr>
      </p:pic>
      <p:pic>
        <p:nvPicPr>
          <p:cNvPr id="3075" name="Picture 3"/>
          <p:cNvPicPr>
            <a:picLocks noChangeAspect="1" noChangeArrowheads="1"/>
          </p:cNvPicPr>
          <p:nvPr/>
        </p:nvPicPr>
        <p:blipFill>
          <a:blip r:embed="rId2" cstate="print"/>
          <a:srcRect/>
          <a:stretch>
            <a:fillRect/>
          </a:stretch>
        </p:blipFill>
        <p:spPr>
          <a:xfrm>
            <a:off x="4191000" y="2819400"/>
            <a:ext cx="4743450" cy="333375"/>
          </a:xfrm>
          <a:prstGeom prst="rect">
            <a:avLst/>
          </a:prstGeom>
          <a:noFill/>
          <a:ln w="9525">
            <a:noFill/>
            <a:miter lim="800000"/>
            <a:headEnd/>
            <a:tailEnd/>
          </a:ln>
        </p:spPr>
      </p:pic>
      <p:pic>
        <p:nvPicPr>
          <p:cNvPr id="3077" name="Picture 5"/>
          <p:cNvPicPr>
            <a:picLocks noChangeAspect="1" noChangeArrowheads="1"/>
          </p:cNvPicPr>
          <p:nvPr/>
        </p:nvPicPr>
        <p:blipFill>
          <a:blip r:embed="rId3" cstate="print"/>
          <a:srcRect/>
          <a:stretch>
            <a:fillRect/>
          </a:stretch>
        </p:blipFill>
        <p:spPr>
          <a:xfrm>
            <a:off x="381000" y="3581400"/>
            <a:ext cx="8343900" cy="323850"/>
          </a:xfrm>
          <a:prstGeom prst="rect">
            <a:avLst/>
          </a:prstGeom>
          <a:noFill/>
          <a:ln w="9525">
            <a:noFill/>
            <a:miter lim="800000"/>
            <a:headEnd/>
            <a:tailEnd/>
          </a:ln>
        </p:spPr>
      </p:pic>
      <p:pic>
        <p:nvPicPr>
          <p:cNvPr id="3079" name="Picture 7"/>
          <p:cNvPicPr>
            <a:picLocks noChangeAspect="1" noChangeArrowheads="1"/>
          </p:cNvPicPr>
          <p:nvPr/>
        </p:nvPicPr>
        <p:blipFill>
          <a:blip r:embed="rId4" cstate="print"/>
          <a:srcRect/>
          <a:stretch>
            <a:fillRect/>
          </a:stretch>
        </p:blipFill>
        <p:spPr>
          <a:xfrm>
            <a:off x="1371600" y="4419600"/>
            <a:ext cx="5762625" cy="285750"/>
          </a:xfrm>
          <a:prstGeom prst="rect">
            <a:avLst/>
          </a:prstGeom>
          <a:noFill/>
          <a:ln w="9525">
            <a:noFill/>
            <a:miter lim="800000"/>
            <a:headEnd/>
            <a:tailEnd/>
          </a:ln>
        </p:spPr>
      </p:pic>
      <p:pic>
        <p:nvPicPr>
          <p:cNvPr id="3080" name="Picture 8"/>
          <p:cNvPicPr>
            <a:picLocks noChangeAspect="1" noChangeArrowheads="1"/>
          </p:cNvPicPr>
          <p:nvPr/>
        </p:nvPicPr>
        <p:blipFill>
          <a:blip r:embed="rId5" cstate="print"/>
          <a:srcRect/>
          <a:stretch>
            <a:fillRect/>
          </a:stretch>
        </p:blipFill>
        <p:spPr>
          <a:xfrm>
            <a:off x="1447800" y="4800600"/>
            <a:ext cx="5619750" cy="314325"/>
          </a:xfrm>
          <a:prstGeom prst="rect">
            <a:avLst/>
          </a:prstGeom>
          <a:noFill/>
          <a:ln w="9525">
            <a:noFill/>
            <a:miter lim="800000"/>
            <a:headEnd/>
            <a:tailEnd/>
          </a:ln>
        </p:spPr>
      </p:pic>
      <p:pic>
        <p:nvPicPr>
          <p:cNvPr id="3081" name="Picture 9"/>
          <p:cNvPicPr>
            <a:picLocks noChangeAspect="1" noChangeArrowheads="1"/>
          </p:cNvPicPr>
          <p:nvPr/>
        </p:nvPicPr>
        <p:blipFill>
          <a:blip r:embed="rId6" cstate="print"/>
          <a:srcRect/>
          <a:stretch>
            <a:fillRect/>
          </a:stretch>
        </p:blipFill>
        <p:spPr>
          <a:xfrm>
            <a:off x="771525" y="6324600"/>
            <a:ext cx="8372475" cy="371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numCol="1">
            <a:noAutofit/>
          </a:bodyPr>
          <a:lstStyle/>
          <a:p>
            <a:r>
              <a:rPr lang="en-US" sz="3200" dirty="0" smtClean="0"/>
              <a:t>2. Compound Indexes</a:t>
            </a:r>
            <a:endParaRPr lang="en-US" sz="3200" dirty="0"/>
          </a:p>
        </p:txBody>
      </p:sp>
      <p:sp>
        <p:nvSpPr>
          <p:cNvPr id="3" name="Content Placeholder 2"/>
          <p:cNvSpPr>
            <a:spLocks noGrp="1"/>
          </p:cNvSpPr>
          <p:nvPr>
            <p:ph idx="1"/>
          </p:nvPr>
        </p:nvSpPr>
        <p:spPr>
          <a:xfrm>
            <a:off x="228600" y="762000"/>
            <a:ext cx="8763000" cy="5943600"/>
          </a:xfrm>
        </p:spPr>
        <p:txBody>
          <a:bodyPr numCol="1"/>
          <a:lstStyle/>
          <a:p>
            <a:pPr algn="just"/>
            <a:r>
              <a:rPr lang="en-US" sz="2000" dirty="0" smtClean="0"/>
              <a:t>Compound indexes collect and sort data from two or more fields in each document in a collection. </a:t>
            </a:r>
            <a:endParaRPr lang="en-US" sz="2000" dirty="0" smtClean="0"/>
          </a:p>
          <a:p>
            <a:pPr algn="just"/>
            <a:r>
              <a:rPr lang="en-US" sz="2000" dirty="0" smtClean="0"/>
              <a:t>Data is grouped by the first field in the index and then by each subsequent field.</a:t>
            </a:r>
            <a:endParaRPr lang="en-US" sz="2000" dirty="0" smtClean="0"/>
          </a:p>
          <a:p>
            <a:pPr algn="just"/>
            <a:r>
              <a:rPr lang="en-US" sz="2000" dirty="0" smtClean="0"/>
              <a:t>For example, the following image shows a compound index where documents are first grouped by </a:t>
            </a:r>
            <a:r>
              <a:rPr lang="en-US" sz="2000" dirty="0" err="1" smtClean="0"/>
              <a:t>userid</a:t>
            </a:r>
            <a:r>
              <a:rPr lang="en-US" sz="2000" dirty="0" smtClean="0"/>
              <a:t> in ascending order (alphabetically). Then, the scores for each </a:t>
            </a:r>
            <a:r>
              <a:rPr lang="en-US" sz="2000" dirty="0" err="1" smtClean="0"/>
              <a:t>userid</a:t>
            </a:r>
            <a:r>
              <a:rPr lang="en-US" sz="2000" dirty="0" smtClean="0"/>
              <a:t> are sorted in descending order:</a:t>
            </a:r>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endParaRPr lang="en-US" sz="2000" dirty="0" smtClean="0"/>
          </a:p>
          <a:p>
            <a:r>
              <a:rPr lang="en-US" sz="2000" dirty="0" smtClean="0"/>
              <a:t>Restriction: You can specify up to 32 fields in a single compound index.</a:t>
            </a:r>
            <a:endParaRPr lang="en-US" sz="2000" dirty="0" smtClean="0"/>
          </a:p>
          <a:p>
            <a:pPr algn="just"/>
            <a:endParaRPr lang="en-US" sz="2000" dirty="0" smtClean="0"/>
          </a:p>
          <a:p>
            <a:endParaRPr lang="en-US" dirty="0"/>
          </a:p>
        </p:txBody>
      </p:sp>
      <p:pic>
        <p:nvPicPr>
          <p:cNvPr id="29698" name="Picture 2"/>
          <p:cNvPicPr>
            <a:picLocks noChangeAspect="1" noChangeArrowheads="1"/>
          </p:cNvPicPr>
          <p:nvPr/>
        </p:nvPicPr>
        <p:blipFill>
          <a:blip r:embed="rId1" cstate="print"/>
          <a:srcRect/>
          <a:stretch>
            <a:fillRect/>
          </a:stretch>
        </p:blipFill>
        <p:spPr>
          <a:xfrm>
            <a:off x="1066800" y="3429000"/>
            <a:ext cx="7386638" cy="22431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r>
              <a:rPr lang="en-US" sz="2000" dirty="0" smtClean="0"/>
              <a:t>To create a compound index, use the following prototype:</a:t>
            </a:r>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pPr>
              <a:buNone/>
            </a:pPr>
            <a:r>
              <a:rPr lang="en-US" sz="2000" b="1" dirty="0" smtClean="0"/>
              <a:t>Use Case:</a:t>
            </a:r>
            <a:endParaRPr lang="en-US" sz="2000" b="1" dirty="0" smtClean="0"/>
          </a:p>
          <a:p>
            <a:pPr algn="just"/>
            <a:r>
              <a:rPr lang="en-US" sz="2000" dirty="0" smtClean="0"/>
              <a:t>If your application repeatedly runs a query that contains multiple fields, you can create a compound index to improve performance for that query. For example, a grocery store manager often needs to look up inventory items by name and quantity to determine which items are low stock. You can create a compound index on both the item and quantity fields to improve query performance.</a:t>
            </a:r>
            <a:endParaRPr lang="en-US" sz="2000" dirty="0" smtClean="0"/>
          </a:p>
          <a:p>
            <a:pPr algn="just"/>
            <a:r>
              <a:rPr lang="en-US" sz="2000" u="sng" dirty="0" smtClean="0"/>
              <a:t>A compound index on commonly queried fields increases the chances of </a:t>
            </a:r>
            <a:r>
              <a:rPr lang="en-US" sz="2000" b="1" i="1" u="sng" dirty="0" smtClean="0"/>
              <a:t>covering </a:t>
            </a:r>
            <a:r>
              <a:rPr lang="en-US" sz="2000" u="sng" dirty="0" smtClean="0"/>
              <a:t>those queries. </a:t>
            </a:r>
            <a:r>
              <a:rPr lang="en-US" sz="2000" b="1" i="1" u="sng" dirty="0" smtClean="0"/>
              <a:t>Covered queries </a:t>
            </a:r>
            <a:r>
              <a:rPr lang="en-US" sz="2000" u="sng" dirty="0" smtClean="0"/>
              <a:t>are queries that can be satisfied entirely using an index, without examining any documents. This optimizes query performance.</a:t>
            </a:r>
            <a:endParaRPr lang="en-US" sz="2000" u="sng" dirty="0" smtClean="0"/>
          </a:p>
          <a:p>
            <a:endParaRPr lang="en-US" sz="2000" dirty="0"/>
          </a:p>
        </p:txBody>
      </p:sp>
      <p:pic>
        <p:nvPicPr>
          <p:cNvPr id="30722" name="Picture 2"/>
          <p:cNvPicPr>
            <a:picLocks noChangeAspect="1" noChangeArrowheads="1"/>
          </p:cNvPicPr>
          <p:nvPr/>
        </p:nvPicPr>
        <p:blipFill>
          <a:blip r:embed="rId1" cstate="print"/>
          <a:srcRect/>
          <a:stretch>
            <a:fillRect/>
          </a:stretch>
        </p:blipFill>
        <p:spPr>
          <a:xfrm>
            <a:off x="2743200" y="609600"/>
            <a:ext cx="3390900" cy="1743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705600"/>
          </a:xfrm>
        </p:spPr>
        <p:txBody>
          <a:bodyPr numCol="1">
            <a:normAutofit/>
          </a:bodyPr>
          <a:lstStyle/>
          <a:p>
            <a:pPr>
              <a:buNone/>
            </a:pPr>
            <a:r>
              <a:rPr lang="en-US" sz="2000" dirty="0" smtClean="0"/>
              <a:t>Example: Create a students collection that contains these documents:</a:t>
            </a: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b="1" dirty="0" smtClean="0"/>
          </a:p>
          <a:p>
            <a:pPr>
              <a:buNone/>
            </a:pPr>
            <a:endParaRPr lang="en-US" sz="2000" b="1" dirty="0" smtClean="0"/>
          </a:p>
          <a:p>
            <a:pPr>
              <a:buNone/>
            </a:pPr>
            <a:r>
              <a:rPr lang="en-US" sz="2000" b="1" dirty="0" smtClean="0"/>
              <a:t>Results: </a:t>
            </a:r>
            <a:r>
              <a:rPr lang="en-US" sz="2000" dirty="0" smtClean="0"/>
              <a:t>The created index supports queries that select on:</a:t>
            </a:r>
            <a:endParaRPr lang="en-US" sz="2000" dirty="0" smtClean="0"/>
          </a:p>
          <a:p>
            <a:r>
              <a:rPr lang="en-US" sz="2000" dirty="0" smtClean="0"/>
              <a:t>Both name and </a:t>
            </a:r>
            <a:r>
              <a:rPr lang="en-US" sz="2000" dirty="0" err="1" smtClean="0"/>
              <a:t>gpa</a:t>
            </a:r>
            <a:r>
              <a:rPr lang="en-US" sz="2000" dirty="0" smtClean="0"/>
              <a:t> fields.</a:t>
            </a:r>
            <a:endParaRPr lang="en-US" sz="2000" dirty="0" smtClean="0"/>
          </a:p>
          <a:p>
            <a:r>
              <a:rPr lang="en-US" sz="2000" dirty="0" smtClean="0"/>
              <a:t>Only the name field, because name is a prefix of the compound index.</a:t>
            </a:r>
            <a:endParaRPr lang="en-US" sz="2000" dirty="0" smtClean="0"/>
          </a:p>
          <a:p>
            <a:pPr>
              <a:buNone/>
            </a:pPr>
            <a:r>
              <a:rPr lang="en-US" sz="2000" dirty="0" smtClean="0"/>
              <a:t>For example, the index supports these queries:</a:t>
            </a:r>
            <a:endParaRPr lang="en-US" sz="2000" dirty="0" smtClean="0"/>
          </a:p>
          <a:p>
            <a:pPr>
              <a:buNone/>
            </a:pPr>
            <a:endParaRPr lang="en-US" sz="2000" dirty="0" smtClean="0"/>
          </a:p>
          <a:p>
            <a:pPr>
              <a:buNone/>
            </a:pPr>
            <a:endParaRPr lang="en-US" sz="2000" dirty="0" smtClean="0"/>
          </a:p>
          <a:p>
            <a:pPr>
              <a:buNone/>
            </a:pPr>
            <a:r>
              <a:rPr lang="en-US" sz="2000" dirty="0" smtClean="0"/>
              <a:t>      The index </a:t>
            </a:r>
            <a:r>
              <a:rPr lang="en-US" sz="2000" b="1" dirty="0" smtClean="0"/>
              <a:t>does not</a:t>
            </a:r>
            <a:r>
              <a:rPr lang="en-US" sz="2000" dirty="0" smtClean="0"/>
              <a:t> support queries on only the </a:t>
            </a:r>
            <a:r>
              <a:rPr lang="en-US" sz="2000" dirty="0" err="1" smtClean="0"/>
              <a:t>gpa</a:t>
            </a:r>
            <a:r>
              <a:rPr lang="en-US" sz="2000" dirty="0" smtClean="0"/>
              <a:t> field, because </a:t>
            </a:r>
            <a:r>
              <a:rPr lang="en-US" sz="2000" dirty="0" err="1" smtClean="0"/>
              <a:t>gpa</a:t>
            </a:r>
            <a:r>
              <a:rPr lang="en-US" sz="2000" dirty="0" smtClean="0"/>
              <a:t> is not part of the index prefix. For example, the index does not support this query:</a:t>
            </a:r>
            <a:endParaRPr lang="en-US" sz="2000" dirty="0" smtClean="0"/>
          </a:p>
          <a:p>
            <a:pPr>
              <a:buNone/>
            </a:pPr>
            <a:endParaRPr lang="en-US" sz="2400" dirty="0"/>
          </a:p>
        </p:txBody>
      </p:sp>
      <p:pic>
        <p:nvPicPr>
          <p:cNvPr id="31746" name="Picture 2"/>
          <p:cNvPicPr>
            <a:picLocks noChangeAspect="1" noChangeArrowheads="1"/>
          </p:cNvPicPr>
          <p:nvPr/>
        </p:nvPicPr>
        <p:blipFill>
          <a:blip r:embed="rId1" cstate="print"/>
          <a:srcRect/>
          <a:stretch>
            <a:fillRect/>
          </a:stretch>
        </p:blipFill>
        <p:spPr>
          <a:xfrm>
            <a:off x="152400" y="381000"/>
            <a:ext cx="4886325" cy="2522868"/>
          </a:xfrm>
          <a:prstGeom prst="rect">
            <a:avLst/>
          </a:prstGeom>
          <a:noFill/>
          <a:ln w="9525">
            <a:noFill/>
            <a:miter lim="800000"/>
            <a:headEnd/>
            <a:tailEnd/>
          </a:ln>
        </p:spPr>
      </p:pic>
      <p:sp>
        <p:nvSpPr>
          <p:cNvPr id="31747" name="Rectangle 3"/>
          <p:cNvSpPr>
            <a:spLocks noChangeArrowheads="1"/>
          </p:cNvSpPr>
          <p:nvPr/>
        </p:nvSpPr>
        <p:spPr>
          <a:xfrm>
            <a:off x="5181600" y="381000"/>
            <a:ext cx="3962400" cy="923330"/>
          </a:xfrm>
          <a:prstGeom prst="rect">
            <a:avLst/>
          </a:prstGeom>
          <a:solidFill>
            <a:srgbClr val="F9FBFA"/>
          </a:solid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b="0" i="0" u="none" strike="noStrike" cap="none" normalizeH="0" baseline="0" dirty="0" smtClean="0">
                <a:ln>
                  <a:noFill/>
                </a:ln>
                <a:solidFill>
                  <a:srgbClr val="001E2B"/>
                </a:solidFill>
                <a:effectLst/>
                <a:latin typeface="+mj-lt"/>
                <a:cs typeface="Arial" panose="020B0604020202090204" pitchFamily="34" charset="0"/>
              </a:rPr>
              <a:t>The following operation creates a compound index containing</a:t>
            </a:r>
            <a:r>
              <a:rPr lang="en-US" dirty="0" smtClean="0">
                <a:solidFill>
                  <a:srgbClr val="001E2B"/>
                </a:solidFill>
                <a:latin typeface="+mj-lt"/>
                <a:cs typeface="Arial" panose="020B0604020202090204" pitchFamily="34" charset="0"/>
              </a:rPr>
              <a:t> the </a:t>
            </a:r>
            <a:r>
              <a:rPr kumimoji="0" lang="en-US" b="0" i="0" u="none" strike="noStrike" cap="none" normalizeH="0" baseline="0" dirty="0" smtClean="0">
                <a:ln>
                  <a:noFill/>
                </a:ln>
                <a:solidFill>
                  <a:srgbClr val="1C2D38"/>
                </a:solidFill>
                <a:effectLst/>
                <a:latin typeface="+mj-lt"/>
                <a:cs typeface="Arial" panose="020B0604020202090204" pitchFamily="34" charset="0"/>
              </a:rPr>
              <a:t>name</a:t>
            </a:r>
            <a:r>
              <a:rPr kumimoji="0" lang="en-US" b="0" i="0" u="none" strike="noStrike" cap="none" normalizeH="0" baseline="0" dirty="0" smtClean="0">
                <a:ln>
                  <a:noFill/>
                </a:ln>
                <a:solidFill>
                  <a:srgbClr val="001E2B"/>
                </a:solidFill>
                <a:effectLst/>
                <a:latin typeface="+mj-lt"/>
                <a:cs typeface="Arial" panose="020B0604020202090204" pitchFamily="34" charset="0"/>
              </a:rPr>
              <a:t> and </a:t>
            </a:r>
            <a:r>
              <a:rPr kumimoji="0" lang="en-US" b="0" i="0" u="none" strike="noStrike" cap="none" normalizeH="0" baseline="0" dirty="0" err="1" smtClean="0">
                <a:ln>
                  <a:noFill/>
                </a:ln>
                <a:solidFill>
                  <a:srgbClr val="1C2D38"/>
                </a:solidFill>
                <a:effectLst/>
                <a:latin typeface="+mj-lt"/>
                <a:cs typeface="Arial" panose="020B0604020202090204" pitchFamily="34" charset="0"/>
              </a:rPr>
              <a:t>gpa</a:t>
            </a:r>
            <a:r>
              <a:rPr kumimoji="0" lang="en-US" b="0" i="0" u="none" strike="noStrike" cap="none" normalizeH="0" baseline="0" dirty="0" smtClean="0">
                <a:ln>
                  <a:noFill/>
                </a:ln>
                <a:solidFill>
                  <a:srgbClr val="001E2B"/>
                </a:solidFill>
                <a:effectLst/>
                <a:latin typeface="+mj-lt"/>
                <a:cs typeface="Arial" panose="020B0604020202090204" pitchFamily="34" charset="0"/>
              </a:rPr>
              <a:t> fields:</a:t>
            </a:r>
            <a:r>
              <a:rPr kumimoji="0" lang="en-US" b="0" i="0" u="none" strike="noStrike" cap="none" normalizeH="0" baseline="0" dirty="0" smtClean="0">
                <a:ln>
                  <a:noFill/>
                </a:ln>
                <a:solidFill>
                  <a:schemeClr val="tx1"/>
                </a:solidFill>
                <a:effectLst/>
                <a:latin typeface="+mj-lt"/>
                <a:cs typeface="Arial" panose="020B0604020202090204" pitchFamily="34" charset="0"/>
              </a:rPr>
              <a:t> </a:t>
            </a:r>
            <a:endParaRPr kumimoji="0" lang="en-US" b="0" i="0" u="none" strike="noStrike" cap="none" normalizeH="0" baseline="0" dirty="0" smtClean="0">
              <a:ln>
                <a:noFill/>
              </a:ln>
              <a:solidFill>
                <a:schemeClr val="tx1"/>
              </a:solidFill>
              <a:effectLst/>
              <a:latin typeface="+mj-lt"/>
              <a:cs typeface="Arial" panose="020B0604020202090204" pitchFamily="34" charset="0"/>
            </a:endParaRPr>
          </a:p>
        </p:txBody>
      </p:sp>
      <p:pic>
        <p:nvPicPr>
          <p:cNvPr id="31748" name="Picture 4"/>
          <p:cNvPicPr>
            <a:picLocks noChangeAspect="1" noChangeArrowheads="1"/>
          </p:cNvPicPr>
          <p:nvPr/>
        </p:nvPicPr>
        <p:blipFill>
          <a:blip r:embed="rId2" cstate="print"/>
          <a:srcRect/>
          <a:stretch>
            <a:fillRect/>
          </a:stretch>
        </p:blipFill>
        <p:spPr>
          <a:xfrm>
            <a:off x="6019800" y="1371600"/>
            <a:ext cx="2276475" cy="886548"/>
          </a:xfrm>
          <a:prstGeom prst="rect">
            <a:avLst/>
          </a:prstGeom>
          <a:noFill/>
          <a:ln w="9525">
            <a:noFill/>
            <a:miter lim="800000"/>
            <a:headEnd/>
            <a:tailEnd/>
          </a:ln>
        </p:spPr>
      </p:pic>
      <p:pic>
        <p:nvPicPr>
          <p:cNvPr id="31749" name="Picture 5"/>
          <p:cNvPicPr>
            <a:picLocks noChangeAspect="1" noChangeArrowheads="1"/>
          </p:cNvPicPr>
          <p:nvPr/>
        </p:nvPicPr>
        <p:blipFill>
          <a:blip r:embed="rId3" cstate="print"/>
          <a:srcRect/>
          <a:stretch>
            <a:fillRect/>
          </a:stretch>
        </p:blipFill>
        <p:spPr>
          <a:xfrm>
            <a:off x="1600200" y="4800600"/>
            <a:ext cx="5172075" cy="333375"/>
          </a:xfrm>
          <a:prstGeom prst="rect">
            <a:avLst/>
          </a:prstGeom>
          <a:noFill/>
          <a:ln w="9525">
            <a:noFill/>
            <a:miter lim="800000"/>
            <a:headEnd/>
            <a:tailEnd/>
          </a:ln>
        </p:spPr>
      </p:pic>
      <p:pic>
        <p:nvPicPr>
          <p:cNvPr id="31750" name="Picture 6"/>
          <p:cNvPicPr>
            <a:picLocks noChangeAspect="1" noChangeArrowheads="1"/>
          </p:cNvPicPr>
          <p:nvPr/>
        </p:nvPicPr>
        <p:blipFill>
          <a:blip r:embed="rId4" cstate="print"/>
          <a:srcRect/>
          <a:stretch>
            <a:fillRect/>
          </a:stretch>
        </p:blipFill>
        <p:spPr>
          <a:xfrm>
            <a:off x="2133600" y="5257800"/>
            <a:ext cx="3848100" cy="323850"/>
          </a:xfrm>
          <a:prstGeom prst="rect">
            <a:avLst/>
          </a:prstGeom>
          <a:noFill/>
          <a:ln w="9525">
            <a:noFill/>
            <a:miter lim="800000"/>
            <a:headEnd/>
            <a:tailEnd/>
          </a:ln>
        </p:spPr>
      </p:pic>
      <p:pic>
        <p:nvPicPr>
          <p:cNvPr id="31751" name="Picture 7"/>
          <p:cNvPicPr>
            <a:picLocks noChangeAspect="1" noChangeArrowheads="1"/>
          </p:cNvPicPr>
          <p:nvPr/>
        </p:nvPicPr>
        <p:blipFill>
          <a:blip r:embed="rId5" cstate="print"/>
          <a:srcRect/>
          <a:stretch>
            <a:fillRect/>
          </a:stretch>
        </p:blipFill>
        <p:spPr>
          <a:xfrm>
            <a:off x="2209800" y="6248400"/>
            <a:ext cx="4619625" cy="314325"/>
          </a:xfrm>
          <a:prstGeom prst="rect">
            <a:avLst/>
          </a:prstGeom>
          <a:noFill/>
          <a:ln w="9525">
            <a:noFill/>
            <a:miter lim="800000"/>
            <a:headEnd/>
            <a:tailEnd/>
          </a:ln>
        </p:spPr>
      </p:pic>
      <p:sp>
        <p:nvSpPr>
          <p:cNvPr id="31752" name="Rectangle 8"/>
          <p:cNvSpPr>
            <a:spLocks noChangeArrowheads="1"/>
          </p:cNvSpPr>
          <p:nvPr/>
        </p:nvSpPr>
        <p:spPr>
          <a:xfrm>
            <a:off x="5334000" y="2286000"/>
            <a:ext cx="3657600" cy="895097"/>
          </a:xfrm>
          <a:prstGeom prst="rect">
            <a:avLst/>
          </a:prstGeom>
          <a:solidFill>
            <a:srgbClr val="F9FBFA"/>
          </a:solidFill>
          <a:ln w="9525">
            <a:noFill/>
            <a:miter lim="800000"/>
          </a:ln>
          <a:effectLst/>
        </p:spPr>
        <p:txBody>
          <a:bodyPr vert="horz" wrap="square" lIns="91440" tIns="0" rIns="91440" bIns="6348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b="0" i="0" u="none" strike="noStrike" cap="none" normalizeH="0" baseline="0" dirty="0" smtClean="0">
                <a:ln>
                  <a:noFill/>
                </a:ln>
                <a:solidFill>
                  <a:srgbClr val="001E2B"/>
                </a:solidFill>
                <a:effectLst/>
                <a:latin typeface="+mj-lt"/>
                <a:cs typeface="Arial" panose="020B0604020202090204" pitchFamily="34" charset="0"/>
              </a:rPr>
              <a:t>In this example:</a:t>
            </a:r>
            <a:endParaRPr kumimoji="0" lang="en-US" b="0" i="0" u="none" strike="noStrike" cap="none" normalizeH="0" baseline="0" dirty="0" smtClean="0">
              <a:ln>
                <a:noFill/>
              </a:ln>
              <a:solidFill>
                <a:schemeClr val="tx1"/>
              </a:solidFill>
              <a:effectLst/>
              <a:latin typeface="+mj-lt"/>
              <a:cs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b="0" i="0" u="none" strike="noStrike" cap="none" normalizeH="0" baseline="0" dirty="0" smtClean="0">
                <a:ln>
                  <a:noFill/>
                </a:ln>
                <a:solidFill>
                  <a:srgbClr val="001E2B"/>
                </a:solidFill>
                <a:effectLst/>
                <a:latin typeface="+mj-lt"/>
                <a:cs typeface="Arial" panose="020B0604020202090204" pitchFamily="34" charset="0"/>
              </a:rPr>
              <a:t>The index on </a:t>
            </a:r>
            <a:r>
              <a:rPr kumimoji="0" lang="en-US" b="0" i="0" u="none" strike="noStrike" cap="none" normalizeH="0" baseline="0" dirty="0" smtClean="0">
                <a:ln>
                  <a:noFill/>
                </a:ln>
                <a:solidFill>
                  <a:srgbClr val="1C2D38"/>
                </a:solidFill>
                <a:effectLst/>
                <a:latin typeface="+mj-lt"/>
                <a:cs typeface="Arial" panose="020B0604020202090204" pitchFamily="34" charset="0"/>
              </a:rPr>
              <a:t>name</a:t>
            </a:r>
            <a:r>
              <a:rPr kumimoji="0" lang="en-US" b="0" i="0" u="none" strike="noStrike" cap="none" normalizeH="0" baseline="0" dirty="0" smtClean="0">
                <a:ln>
                  <a:noFill/>
                </a:ln>
                <a:solidFill>
                  <a:srgbClr val="001E2B"/>
                </a:solidFill>
                <a:effectLst/>
                <a:latin typeface="+mj-lt"/>
                <a:cs typeface="Arial" panose="020B0604020202090204" pitchFamily="34" charset="0"/>
              </a:rPr>
              <a:t> is ascending (</a:t>
            </a:r>
            <a:r>
              <a:rPr kumimoji="0" lang="en-US" b="0" i="0" u="none" strike="noStrike" cap="none" normalizeH="0" baseline="0" dirty="0" smtClean="0">
                <a:ln>
                  <a:noFill/>
                </a:ln>
                <a:solidFill>
                  <a:srgbClr val="1C2D38"/>
                </a:solidFill>
                <a:effectLst/>
                <a:latin typeface="+mj-lt"/>
                <a:cs typeface="Arial" panose="020B0604020202090204" pitchFamily="34" charset="0"/>
              </a:rPr>
              <a:t>1</a:t>
            </a:r>
            <a:r>
              <a:rPr kumimoji="0" lang="en-US" b="0" i="0" u="none" strike="noStrike" cap="none" normalizeH="0" baseline="0" dirty="0" smtClean="0">
                <a:ln>
                  <a:noFill/>
                </a:ln>
                <a:solidFill>
                  <a:srgbClr val="001E2B"/>
                </a:solidFill>
                <a:effectLst/>
                <a:latin typeface="+mj-lt"/>
                <a:cs typeface="Arial" panose="020B0604020202090204" pitchFamily="34" charset="0"/>
              </a:rPr>
              <a:t>).</a:t>
            </a:r>
            <a:endParaRPr kumimoji="0" lang="en-US" b="0" i="0" u="none" strike="noStrike" cap="none" normalizeH="0" baseline="0" dirty="0" smtClean="0">
              <a:ln>
                <a:noFill/>
              </a:ln>
              <a:solidFill>
                <a:srgbClr val="21313C"/>
              </a:solidFill>
              <a:effectLst/>
              <a:latin typeface="+mj-lt"/>
              <a:cs typeface="Arial" panose="020B060402020209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b="0" i="0" u="none" strike="noStrike" cap="none" normalizeH="0" baseline="0" dirty="0" smtClean="0">
                <a:ln>
                  <a:noFill/>
                </a:ln>
                <a:solidFill>
                  <a:srgbClr val="001E2B"/>
                </a:solidFill>
                <a:effectLst/>
                <a:latin typeface="+mj-lt"/>
                <a:cs typeface="Arial" panose="020B0604020202090204" pitchFamily="34" charset="0"/>
              </a:rPr>
              <a:t>The index on </a:t>
            </a:r>
            <a:r>
              <a:rPr kumimoji="0" lang="en-US" b="0" i="0" u="none" strike="noStrike" cap="none" normalizeH="0" baseline="0" dirty="0" err="1" smtClean="0">
                <a:ln>
                  <a:noFill/>
                </a:ln>
                <a:solidFill>
                  <a:srgbClr val="1C2D38"/>
                </a:solidFill>
                <a:effectLst/>
                <a:latin typeface="+mj-lt"/>
                <a:cs typeface="Arial" panose="020B0604020202090204" pitchFamily="34" charset="0"/>
              </a:rPr>
              <a:t>gpa</a:t>
            </a:r>
            <a:r>
              <a:rPr kumimoji="0" lang="en-US" b="0" i="0" u="none" strike="noStrike" cap="none" normalizeH="0" baseline="0" dirty="0" smtClean="0">
                <a:ln>
                  <a:noFill/>
                </a:ln>
                <a:solidFill>
                  <a:srgbClr val="001E2B"/>
                </a:solidFill>
                <a:effectLst/>
                <a:latin typeface="+mj-lt"/>
                <a:cs typeface="Arial" panose="020B0604020202090204" pitchFamily="34" charset="0"/>
              </a:rPr>
              <a:t> is descending (</a:t>
            </a:r>
            <a:r>
              <a:rPr kumimoji="0" lang="en-US" b="0" i="0" u="none" strike="noStrike" cap="none" normalizeH="0" baseline="0" dirty="0" smtClean="0">
                <a:ln>
                  <a:noFill/>
                </a:ln>
                <a:solidFill>
                  <a:srgbClr val="1C2D38"/>
                </a:solidFill>
                <a:effectLst/>
                <a:latin typeface="+mj-lt"/>
                <a:cs typeface="Arial" panose="020B0604020202090204" pitchFamily="34" charset="0"/>
              </a:rPr>
              <a:t>-1</a:t>
            </a:r>
            <a:r>
              <a:rPr kumimoji="0" lang="en-US" b="0" i="0" u="none" strike="noStrike" cap="none" normalizeH="0" baseline="0" dirty="0" smtClean="0">
                <a:ln>
                  <a:noFill/>
                </a:ln>
                <a:solidFill>
                  <a:srgbClr val="001E2B"/>
                </a:solidFill>
                <a:effectLst/>
                <a:latin typeface="+mj-lt"/>
                <a:cs typeface="Arial" panose="020B0604020202090204" pitchFamily="34" charset="0"/>
              </a:rPr>
              <a:t>).</a:t>
            </a:r>
            <a:endParaRPr kumimoji="0" lang="en-US" sz="1800" b="0" i="0" u="none" strike="noStrike" cap="none" normalizeH="0" baseline="0" dirty="0" smtClean="0">
              <a:ln>
                <a:noFill/>
              </a:ln>
              <a:solidFill>
                <a:schemeClr val="tx1"/>
              </a:solidFill>
              <a:effectLst/>
              <a:latin typeface="Arial" panose="020B0604020202090204" pitchFamily="34" charset="0"/>
              <a:cs typeface="Arial" panose="020B060402020209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839200" cy="457200"/>
          </a:xfrm>
        </p:spPr>
        <p:txBody>
          <a:bodyPr numCol="1">
            <a:noAutofit/>
          </a:bodyPr>
          <a:lstStyle/>
          <a:p>
            <a:r>
              <a:rPr lang="en-US" sz="3200" dirty="0" smtClean="0"/>
              <a:t>3. Multikey Indexes</a:t>
            </a:r>
            <a:endParaRPr lang="en-US" sz="3200" dirty="0"/>
          </a:p>
        </p:txBody>
      </p:sp>
      <p:sp>
        <p:nvSpPr>
          <p:cNvPr id="3" name="Content Placeholder 2"/>
          <p:cNvSpPr>
            <a:spLocks noGrp="1"/>
          </p:cNvSpPr>
          <p:nvPr>
            <p:ph idx="1"/>
          </p:nvPr>
        </p:nvSpPr>
        <p:spPr>
          <a:xfrm>
            <a:off x="152400" y="533400"/>
            <a:ext cx="8915400" cy="6172200"/>
          </a:xfrm>
        </p:spPr>
        <p:txBody>
          <a:bodyPr numCol="1">
            <a:normAutofit/>
          </a:bodyPr>
          <a:lstStyle/>
          <a:p>
            <a:pPr algn="just"/>
            <a:r>
              <a:rPr lang="en-US" sz="2400" dirty="0" smtClean="0"/>
              <a:t>Multikey indexes collect and sort data from fields containing array values. Improve performance for queries on array fields.</a:t>
            </a:r>
            <a:endParaRPr lang="en-US" sz="2400" dirty="0" smtClean="0"/>
          </a:p>
          <a:p>
            <a:pPr algn="just"/>
            <a:r>
              <a:rPr lang="en-US" sz="2400" dirty="0" smtClean="0"/>
              <a:t>You do not need to explicitly specify the </a:t>
            </a:r>
            <a:r>
              <a:rPr lang="en-US" sz="2400" dirty="0" err="1" smtClean="0"/>
              <a:t>multikey</a:t>
            </a:r>
            <a:r>
              <a:rPr lang="en-US" sz="2400" dirty="0" smtClean="0"/>
              <a:t> type. When you create an index on a field that contains an array value, </a:t>
            </a:r>
            <a:r>
              <a:rPr lang="en-US" sz="2400" dirty="0" err="1" smtClean="0"/>
              <a:t>MongoDB</a:t>
            </a:r>
            <a:r>
              <a:rPr lang="en-US" sz="2400" dirty="0" smtClean="0"/>
              <a:t> automatically sets that index to be a </a:t>
            </a:r>
            <a:r>
              <a:rPr lang="en-US" sz="2400" dirty="0" err="1" smtClean="0"/>
              <a:t>multikey</a:t>
            </a:r>
            <a:r>
              <a:rPr lang="en-US" sz="2400" dirty="0" smtClean="0"/>
              <a:t> index.</a:t>
            </a:r>
            <a:endParaRPr lang="en-US" sz="2400" dirty="0" smtClean="0"/>
          </a:p>
          <a:p>
            <a:pPr algn="just"/>
            <a:r>
              <a:rPr lang="en-US" sz="2400" dirty="0" err="1" smtClean="0"/>
              <a:t>MongoDB</a:t>
            </a:r>
            <a:r>
              <a:rPr lang="en-US" sz="2400" dirty="0" smtClean="0"/>
              <a:t> can create </a:t>
            </a:r>
            <a:r>
              <a:rPr lang="en-US" sz="2400" dirty="0" err="1" smtClean="0"/>
              <a:t>multikey</a:t>
            </a:r>
            <a:r>
              <a:rPr lang="en-US" sz="2400" dirty="0" smtClean="0"/>
              <a:t> indexes over arrays that hold both scalar values (for example, strings and numbers) and embedded documents. If an array contains multiple instances of the same value, the index only includes one entry for the value.</a:t>
            </a:r>
            <a:endParaRPr lang="en-US" sz="2400" dirty="0" smtClean="0"/>
          </a:p>
          <a:p>
            <a:pPr algn="just"/>
            <a:endParaRPr lang="en-US" sz="2400" dirty="0" smtClean="0"/>
          </a:p>
          <a:p>
            <a:r>
              <a:rPr lang="en-US" sz="2400" dirty="0" smtClean="0"/>
              <a:t>This image shows a </a:t>
            </a:r>
            <a:r>
              <a:rPr lang="en-US" sz="2400" dirty="0" err="1" smtClean="0"/>
              <a:t>multikey</a:t>
            </a:r>
            <a:r>
              <a:rPr lang="en-US" sz="2400" dirty="0" smtClean="0"/>
              <a:t> index on the addr.zip field:</a:t>
            </a:r>
            <a:endParaRPr lang="en-US" sz="2400" dirty="0" smtClean="0"/>
          </a:p>
          <a:p>
            <a:pPr>
              <a:buNone/>
            </a:pPr>
            <a:endParaRPr lang="en-US" sz="2400" dirty="0"/>
          </a:p>
        </p:txBody>
      </p:sp>
      <p:pic>
        <p:nvPicPr>
          <p:cNvPr id="1026" name="Picture 2"/>
          <p:cNvPicPr>
            <a:picLocks noChangeAspect="1" noChangeArrowheads="1"/>
          </p:cNvPicPr>
          <p:nvPr/>
        </p:nvPicPr>
        <p:blipFill>
          <a:blip r:embed="rId1" cstate="print"/>
          <a:srcRect/>
          <a:stretch>
            <a:fillRect/>
          </a:stretch>
        </p:blipFill>
        <p:spPr>
          <a:xfrm>
            <a:off x="683895" y="4797425"/>
            <a:ext cx="6562725" cy="361950"/>
          </a:xfrm>
          <a:prstGeom prst="rect">
            <a:avLst/>
          </a:prstGeom>
          <a:noFill/>
          <a:ln w="9525">
            <a:noFill/>
            <a:miter lim="800000"/>
            <a:headEnd/>
            <a:tailEnd/>
          </a:ln>
        </p:spPr>
      </p:pic>
      <p:pic>
        <p:nvPicPr>
          <p:cNvPr id="1028" name="Picture 4"/>
          <p:cNvPicPr>
            <a:picLocks noChangeAspect="1" noChangeArrowheads="1"/>
          </p:cNvPicPr>
          <p:nvPr/>
        </p:nvPicPr>
        <p:blipFill>
          <a:blip r:embed="rId2" cstate="print"/>
          <a:srcRect/>
          <a:stretch>
            <a:fillRect/>
          </a:stretch>
        </p:blipFill>
        <p:spPr>
          <a:xfrm>
            <a:off x="457200" y="5867400"/>
            <a:ext cx="8267700" cy="495300"/>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a:xfrm>
            <a:off x="2895600" y="6448425"/>
            <a:ext cx="3067050" cy="409575"/>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a:xfrm>
            <a:off x="7467600" y="4419600"/>
            <a:ext cx="1176374" cy="14862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numCol="1">
            <a:normAutofit fontScale="92500" lnSpcReduction="10000"/>
          </a:bodyPr>
          <a:lstStyle/>
          <a:p>
            <a:pPr>
              <a:buNone/>
            </a:pPr>
            <a:r>
              <a:rPr lang="en-US" b="1" dirty="0" smtClean="0"/>
              <a:t>Use Cases:</a:t>
            </a:r>
            <a:endParaRPr lang="en-US" b="1" dirty="0" smtClean="0"/>
          </a:p>
          <a:p>
            <a:pPr algn="just"/>
            <a:r>
              <a:rPr lang="en-US" sz="2800" dirty="0" smtClean="0"/>
              <a:t>If your application frequently queries a field that contains an array value, a </a:t>
            </a:r>
            <a:r>
              <a:rPr lang="en-US" sz="2800" dirty="0" err="1" smtClean="0"/>
              <a:t>multikey</a:t>
            </a:r>
            <a:r>
              <a:rPr lang="en-US" sz="2800" dirty="0" smtClean="0"/>
              <a:t> index improves performance for those queries.</a:t>
            </a:r>
            <a:endParaRPr lang="en-US" sz="2800" dirty="0" smtClean="0"/>
          </a:p>
          <a:p>
            <a:pPr algn="just"/>
            <a:r>
              <a:rPr lang="en-US" sz="2800" dirty="0" smtClean="0"/>
              <a:t>Indexing commonly queried fields increases the chances of </a:t>
            </a:r>
            <a:r>
              <a:rPr lang="en-US" sz="2800" b="1" i="1" dirty="0" smtClean="0"/>
              <a:t>covering</a:t>
            </a:r>
            <a:r>
              <a:rPr lang="en-US" sz="2800" dirty="0" smtClean="0"/>
              <a:t> those queries. Covered queries are queries that can be satisfied entirely using an index, without examining any documents. This optimizes query performance.</a:t>
            </a:r>
            <a:endParaRPr lang="en-US" sz="2800" dirty="0" smtClean="0"/>
          </a:p>
          <a:p>
            <a:pPr algn="just"/>
            <a:r>
              <a:rPr lang="en-US" sz="2800" dirty="0" smtClean="0"/>
              <a:t>For example, documents in a students collection contain a </a:t>
            </a:r>
            <a:r>
              <a:rPr lang="en-US" sz="2800" dirty="0" err="1" smtClean="0"/>
              <a:t>test_scores</a:t>
            </a:r>
            <a:r>
              <a:rPr lang="en-US" sz="2800" dirty="0" smtClean="0"/>
              <a:t> field: an array of test scores a student received throughout the semester. You regularly update a list of top students: students who have at least five </a:t>
            </a:r>
            <a:r>
              <a:rPr lang="en-US" sz="2800" dirty="0" err="1" smtClean="0"/>
              <a:t>test_scores</a:t>
            </a:r>
            <a:r>
              <a:rPr lang="en-US" sz="2800" dirty="0" smtClean="0"/>
              <a:t> greater than 90.</a:t>
            </a:r>
            <a:endParaRPr lang="en-US" sz="2800" dirty="0" smtClean="0"/>
          </a:p>
          <a:p>
            <a:pPr algn="just"/>
            <a:r>
              <a:rPr lang="en-US" sz="2800" dirty="0" smtClean="0"/>
              <a:t>You can create an index on the </a:t>
            </a:r>
            <a:r>
              <a:rPr lang="en-US" sz="2800" dirty="0" err="1" smtClean="0"/>
              <a:t>test_scores</a:t>
            </a:r>
            <a:r>
              <a:rPr lang="en-US" sz="2800" dirty="0" smtClean="0"/>
              <a:t> field to improve performance for this query. Because </a:t>
            </a:r>
            <a:r>
              <a:rPr lang="en-US" sz="2800" dirty="0" err="1" smtClean="0"/>
              <a:t>test_scores</a:t>
            </a:r>
            <a:r>
              <a:rPr lang="en-US" sz="2800" dirty="0" smtClean="0"/>
              <a:t> contains an array value, </a:t>
            </a:r>
            <a:r>
              <a:rPr lang="en-US" sz="2800" dirty="0" err="1" smtClean="0"/>
              <a:t>MongoDB</a:t>
            </a:r>
            <a:r>
              <a:rPr lang="en-US" sz="2800" dirty="0" smtClean="0"/>
              <a:t> stores the index as a </a:t>
            </a:r>
            <a:r>
              <a:rPr lang="en-US" sz="2800" dirty="0" err="1" smtClean="0"/>
              <a:t>multikey</a:t>
            </a:r>
            <a:r>
              <a:rPr lang="en-US" sz="2800" dirty="0" smtClean="0"/>
              <a:t> index.</a:t>
            </a:r>
            <a:endParaRPr lang="en-US" sz="2800" dirty="0" smtClean="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lstStyle/>
          <a:p>
            <a:pPr>
              <a:buNone/>
            </a:pPr>
            <a:r>
              <a:rPr lang="en-US" sz="2400" b="1" dirty="0" smtClean="0"/>
              <a:t>Create an Index on an Array Field:</a:t>
            </a:r>
            <a:endParaRPr lang="en-US" sz="2400" b="1" dirty="0" smtClean="0"/>
          </a:p>
          <a:p>
            <a:pPr algn="just"/>
            <a:r>
              <a:rPr lang="en-US" sz="2000" dirty="0" smtClean="0"/>
              <a:t>You can create an index on a field containing an array value to improve performance for queries on that field. When you create an index on a field containing an array value, </a:t>
            </a:r>
            <a:r>
              <a:rPr lang="en-US" sz="2000" dirty="0" err="1" smtClean="0"/>
              <a:t>MongoDB</a:t>
            </a:r>
            <a:r>
              <a:rPr lang="en-US" sz="2000" dirty="0" smtClean="0"/>
              <a:t> stores that index as a </a:t>
            </a:r>
            <a:r>
              <a:rPr lang="en-US" sz="2000" dirty="0" err="1" smtClean="0"/>
              <a:t>multikey</a:t>
            </a:r>
            <a:r>
              <a:rPr lang="en-US" sz="2000" dirty="0" smtClean="0"/>
              <a:t> index.</a:t>
            </a:r>
            <a:endParaRPr lang="en-US" sz="2000" dirty="0"/>
          </a:p>
        </p:txBody>
      </p:sp>
      <p:pic>
        <p:nvPicPr>
          <p:cNvPr id="2050" name="Picture 2"/>
          <p:cNvPicPr>
            <a:picLocks noChangeAspect="1" noChangeArrowheads="1"/>
          </p:cNvPicPr>
          <p:nvPr/>
        </p:nvPicPr>
        <p:blipFill>
          <a:blip r:embed="rId1" cstate="print"/>
          <a:srcRect/>
          <a:stretch>
            <a:fillRect/>
          </a:stretch>
        </p:blipFill>
        <p:spPr>
          <a:xfrm>
            <a:off x="1143000" y="1600200"/>
            <a:ext cx="7453313" cy="381000"/>
          </a:xfrm>
          <a:prstGeom prst="rect">
            <a:avLst/>
          </a:prstGeom>
          <a:noFill/>
          <a:ln w="9525">
            <a:noFill/>
            <a:miter lim="800000"/>
            <a:headEnd/>
            <a:tailEnd/>
          </a:ln>
        </p:spPr>
      </p:pic>
      <p:pic>
        <p:nvPicPr>
          <p:cNvPr id="2051" name="Picture 3"/>
          <p:cNvPicPr>
            <a:picLocks noChangeAspect="1" noChangeArrowheads="1"/>
          </p:cNvPicPr>
          <p:nvPr/>
        </p:nvPicPr>
        <p:blipFill>
          <a:blip r:embed="rId2" cstate="print"/>
          <a:srcRect/>
          <a:stretch>
            <a:fillRect/>
          </a:stretch>
        </p:blipFill>
        <p:spPr>
          <a:xfrm>
            <a:off x="457200" y="2133600"/>
            <a:ext cx="3629025" cy="4019550"/>
          </a:xfrm>
          <a:prstGeom prst="rect">
            <a:avLst/>
          </a:prstGeom>
          <a:noFill/>
          <a:ln w="9525">
            <a:noFill/>
            <a:miter lim="800000"/>
            <a:headEnd/>
            <a:tailEnd/>
          </a:ln>
        </p:spPr>
      </p:pic>
      <p:sp>
        <p:nvSpPr>
          <p:cNvPr id="2052" name="Rectangle 4"/>
          <p:cNvSpPr>
            <a:spLocks noChangeArrowheads="1"/>
          </p:cNvSpPr>
          <p:nvPr/>
        </p:nvSpPr>
        <p:spPr>
          <a:xfrm rot="10800000" flipV="1">
            <a:off x="4343400" y="2133600"/>
            <a:ext cx="4800600" cy="1631216"/>
          </a:xfrm>
          <a:prstGeom prst="rect">
            <a:avLst/>
          </a:prstGeom>
          <a:solidFill>
            <a:srgbClr val="F9FBFA"/>
          </a:solid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1E2B"/>
                </a:solidFill>
                <a:effectLst/>
                <a:cs typeface="Arial" panose="020B0604020202090204" pitchFamily="34" charset="0"/>
              </a:rPr>
              <a:t>You regularly run a query that returns students with at least one </a:t>
            </a:r>
            <a:r>
              <a:rPr kumimoji="0" lang="en-US" sz="2000" b="0" i="0" u="none" strike="noStrike" cap="none" normalizeH="0" baseline="0" dirty="0" err="1" smtClean="0">
                <a:ln>
                  <a:noFill/>
                </a:ln>
                <a:solidFill>
                  <a:srgbClr val="1C2D38"/>
                </a:solidFill>
                <a:effectLst/>
                <a:cs typeface="Arial" panose="020B0604020202090204" pitchFamily="34" charset="0"/>
              </a:rPr>
              <a:t>test_score</a:t>
            </a:r>
            <a:r>
              <a:rPr kumimoji="0" lang="en-US" sz="2000" b="0" i="0" u="none" strike="noStrike" cap="none" normalizeH="0" baseline="0" dirty="0" smtClean="0">
                <a:ln>
                  <a:noFill/>
                </a:ln>
                <a:solidFill>
                  <a:srgbClr val="001E2B"/>
                </a:solidFill>
                <a:effectLst/>
                <a:cs typeface="Arial" panose="020B0604020202090204" pitchFamily="34" charset="0"/>
              </a:rPr>
              <a:t> greater than </a:t>
            </a:r>
            <a:r>
              <a:rPr kumimoji="0" lang="en-US" sz="2000" b="0" i="0" u="none" strike="noStrike" cap="none" normalizeH="0" baseline="0" dirty="0" smtClean="0">
                <a:ln>
                  <a:noFill/>
                </a:ln>
                <a:solidFill>
                  <a:srgbClr val="1C2D38"/>
                </a:solidFill>
                <a:effectLst/>
                <a:cs typeface="Arial" panose="020B0604020202090204" pitchFamily="34" charset="0"/>
              </a:rPr>
              <a:t>90</a:t>
            </a:r>
            <a:r>
              <a:rPr kumimoji="0" lang="en-US" sz="2000" b="0" i="0" u="none" strike="noStrike" cap="none" normalizeH="0" baseline="0" dirty="0" smtClean="0">
                <a:ln>
                  <a:noFill/>
                </a:ln>
                <a:solidFill>
                  <a:srgbClr val="001E2B"/>
                </a:solidFill>
                <a:effectLst/>
                <a:cs typeface="Arial" panose="020B0604020202090204" pitchFamily="34" charset="0"/>
              </a:rPr>
              <a:t>. You can create an index on the </a:t>
            </a:r>
            <a:r>
              <a:rPr kumimoji="0" lang="en-US" sz="2000" b="0" i="0" u="none" strike="noStrike" cap="none" normalizeH="0" baseline="0" dirty="0" err="1" smtClean="0">
                <a:ln>
                  <a:noFill/>
                </a:ln>
                <a:solidFill>
                  <a:srgbClr val="1C2D38"/>
                </a:solidFill>
                <a:effectLst/>
                <a:cs typeface="Arial" panose="020B0604020202090204" pitchFamily="34" charset="0"/>
              </a:rPr>
              <a:t>test_scores</a:t>
            </a:r>
            <a:r>
              <a:rPr kumimoji="0" lang="en-US" sz="2000" b="0" i="0" u="none" strike="noStrike" cap="none" normalizeH="0" baseline="0" dirty="0" smtClean="0">
                <a:ln>
                  <a:noFill/>
                </a:ln>
                <a:solidFill>
                  <a:srgbClr val="001E2B"/>
                </a:solidFill>
                <a:effectLst/>
                <a:cs typeface="Arial" panose="020B0604020202090204" pitchFamily="34" charset="0"/>
              </a:rPr>
              <a:t> field to improve performance for this query.</a:t>
            </a:r>
            <a:r>
              <a:rPr kumimoji="0" lang="en-US" sz="2000" b="0" i="0" u="none" strike="noStrike" cap="none" normalizeH="0" baseline="0" dirty="0" smtClean="0">
                <a:ln>
                  <a:noFill/>
                </a:ln>
                <a:solidFill>
                  <a:schemeClr val="tx1"/>
                </a:solidFill>
                <a:effectLst/>
                <a:cs typeface="Arial" panose="020B0604020202090204" pitchFamily="34" charset="0"/>
              </a:rPr>
              <a:t> </a:t>
            </a:r>
            <a:endParaRPr kumimoji="0" lang="en-US" sz="2000" b="0" i="0" u="none" strike="noStrike" cap="none" normalizeH="0" baseline="0" dirty="0" smtClean="0">
              <a:ln>
                <a:noFill/>
              </a:ln>
              <a:solidFill>
                <a:schemeClr val="tx1"/>
              </a:solidFill>
              <a:effectLst/>
              <a:cs typeface="Arial" panose="020B0604020202090204" pitchFamily="34" charset="0"/>
            </a:endParaRPr>
          </a:p>
        </p:txBody>
      </p:sp>
      <p:pic>
        <p:nvPicPr>
          <p:cNvPr id="2053" name="Picture 5"/>
          <p:cNvPicPr>
            <a:picLocks noChangeAspect="1" noChangeArrowheads="1"/>
          </p:cNvPicPr>
          <p:nvPr/>
        </p:nvPicPr>
        <p:blipFill>
          <a:blip r:embed="rId3" cstate="print"/>
          <a:srcRect/>
          <a:stretch>
            <a:fillRect/>
          </a:stretch>
        </p:blipFill>
        <p:spPr>
          <a:xfrm>
            <a:off x="4267200" y="3886200"/>
            <a:ext cx="4876800" cy="342900"/>
          </a:xfrm>
          <a:prstGeom prst="rect">
            <a:avLst/>
          </a:prstGeom>
          <a:noFill/>
          <a:ln w="9525">
            <a:noFill/>
            <a:miter lim="800000"/>
            <a:headEnd/>
            <a:tailEnd/>
          </a:ln>
        </p:spPr>
      </p:pic>
      <p:sp>
        <p:nvSpPr>
          <p:cNvPr id="2054" name="Rectangle 6"/>
          <p:cNvSpPr>
            <a:spLocks noChangeArrowheads="1"/>
          </p:cNvSpPr>
          <p:nvPr/>
        </p:nvSpPr>
        <p:spPr>
          <a:xfrm>
            <a:off x="4191000" y="4189512"/>
            <a:ext cx="4953000" cy="1938992"/>
          </a:xfrm>
          <a:prstGeom prst="rect">
            <a:avLst/>
          </a:prstGeom>
          <a:solidFill>
            <a:srgbClr val="F9FBFA"/>
          </a:solidFill>
          <a:ln w="9525">
            <a:noFill/>
            <a:miter lim="800000"/>
          </a:ln>
          <a:effectLst/>
        </p:spPr>
        <p:txBody>
          <a:bodyPr vert="horz" wrap="square" lIns="91440" tIns="45720" rIns="91440" bIns="45720" numCol="1" anchor="ctr" anchorCtr="0" compatLnSpc="1">
            <a:spAutoFit/>
          </a:bodyPr>
          <a:lstStyle/>
          <a:p>
            <a:pPr lvl="0" algn="just" fontAlgn="base">
              <a:spcBef>
                <a:spcPct val="0"/>
              </a:spcBef>
              <a:spcAft>
                <a:spcPct val="0"/>
              </a:spcAft>
            </a:pPr>
            <a:r>
              <a:rPr kumimoji="0" lang="en-US" sz="2000" b="0" i="0" u="none" strike="noStrike" cap="none" normalizeH="0" baseline="0" dirty="0" smtClean="0">
                <a:ln>
                  <a:noFill/>
                </a:ln>
                <a:solidFill>
                  <a:srgbClr val="001E2B"/>
                </a:solidFill>
                <a:effectLst/>
                <a:cs typeface="Arial" panose="020B0604020202090204" pitchFamily="34" charset="0"/>
              </a:rPr>
              <a:t>This operation creates an ascending </a:t>
            </a:r>
            <a:r>
              <a:rPr kumimoji="0" lang="en-US" sz="2000" b="0" i="0" u="none" strike="noStrike" cap="none" normalizeH="0" baseline="0" dirty="0" err="1" smtClean="0">
                <a:ln>
                  <a:noFill/>
                </a:ln>
                <a:solidFill>
                  <a:srgbClr val="001E2B"/>
                </a:solidFill>
                <a:effectLst/>
                <a:cs typeface="Arial" panose="020B0604020202090204" pitchFamily="34" charset="0"/>
              </a:rPr>
              <a:t>multikey</a:t>
            </a:r>
            <a:r>
              <a:rPr kumimoji="0" lang="en-US" sz="2000" b="0" i="0" u="none" strike="noStrike" cap="none" normalizeH="0" baseline="0" dirty="0" smtClean="0">
                <a:ln>
                  <a:noFill/>
                </a:ln>
                <a:solidFill>
                  <a:srgbClr val="001E2B"/>
                </a:solidFill>
                <a:effectLst/>
                <a:cs typeface="Arial" panose="020B0604020202090204" pitchFamily="34" charset="0"/>
              </a:rPr>
              <a:t> index on the </a:t>
            </a:r>
            <a:r>
              <a:rPr kumimoji="0" lang="en-US" sz="2000" b="0" i="0" u="none" strike="noStrike" cap="none" normalizeH="0" baseline="0" dirty="0" err="1" smtClean="0">
                <a:ln>
                  <a:noFill/>
                </a:ln>
                <a:solidFill>
                  <a:srgbClr val="1C2D38"/>
                </a:solidFill>
                <a:effectLst/>
                <a:cs typeface="Arial" panose="020B0604020202090204" pitchFamily="34" charset="0"/>
              </a:rPr>
              <a:t>test_scores</a:t>
            </a:r>
            <a:r>
              <a:rPr kumimoji="0" lang="en-US" sz="2000" b="0" i="0" u="none" strike="noStrike" cap="none" normalizeH="0" baseline="0" dirty="0" smtClean="0">
                <a:ln>
                  <a:noFill/>
                </a:ln>
                <a:solidFill>
                  <a:srgbClr val="001E2B"/>
                </a:solidFill>
                <a:effectLst/>
                <a:cs typeface="Arial" panose="020B0604020202090204" pitchFamily="34" charset="0"/>
              </a:rPr>
              <a:t> field of the </a:t>
            </a:r>
            <a:r>
              <a:rPr kumimoji="0" lang="en-US" sz="2000" b="0" i="0" u="none" strike="noStrike" cap="none" normalizeH="0" baseline="0" dirty="0" smtClean="0">
                <a:ln>
                  <a:noFill/>
                </a:ln>
                <a:solidFill>
                  <a:srgbClr val="1C2D38"/>
                </a:solidFill>
                <a:effectLst/>
                <a:cs typeface="Arial" panose="020B0604020202090204" pitchFamily="34" charset="0"/>
              </a:rPr>
              <a:t>students</a:t>
            </a:r>
            <a:r>
              <a:rPr kumimoji="0" lang="en-US" sz="2000" b="0" i="0" u="none" strike="noStrike" cap="none" normalizeH="0" baseline="0" dirty="0" smtClean="0">
                <a:ln>
                  <a:noFill/>
                </a:ln>
                <a:solidFill>
                  <a:srgbClr val="001E2B"/>
                </a:solidFill>
                <a:effectLst/>
                <a:cs typeface="Arial" panose="020B0604020202090204" pitchFamily="34" charset="0"/>
              </a:rPr>
              <a:t> collection.</a:t>
            </a:r>
            <a:endParaRPr kumimoji="0" lang="en-US" sz="2000" b="0" i="0" u="none" strike="noStrike" cap="none" normalizeH="0" baseline="0" dirty="0" smtClean="0">
              <a:ln>
                <a:noFill/>
              </a:ln>
              <a:solidFill>
                <a:srgbClr val="001E2B"/>
              </a:solidFill>
              <a:effectLst/>
              <a:cs typeface="Arial" panose="020B0604020202090204" pitchFamily="34" charset="0"/>
            </a:endParaRPr>
          </a:p>
          <a:p>
            <a:pPr lvl="0" algn="just" fontAlgn="base">
              <a:spcBef>
                <a:spcPct val="0"/>
              </a:spcBef>
              <a:spcAft>
                <a:spcPct val="0"/>
              </a:spcAft>
            </a:pPr>
            <a:r>
              <a:rPr lang="en-US" sz="2000" dirty="0" smtClean="0"/>
              <a:t>Because </a:t>
            </a:r>
            <a:r>
              <a:rPr lang="en-US" sz="2000" dirty="0" err="1" smtClean="0"/>
              <a:t>test_scores</a:t>
            </a:r>
            <a:r>
              <a:rPr lang="en-US" sz="2000" dirty="0" smtClean="0"/>
              <a:t> contains an array value, </a:t>
            </a:r>
            <a:r>
              <a:rPr lang="en-US" sz="2000" dirty="0" err="1" smtClean="0"/>
              <a:t>MongoDB</a:t>
            </a:r>
            <a:r>
              <a:rPr lang="en-US" sz="2000" dirty="0" smtClean="0"/>
              <a:t> stores this index as a </a:t>
            </a:r>
            <a:r>
              <a:rPr lang="en-US" sz="2000" dirty="0" err="1" smtClean="0"/>
              <a:t>multikey</a:t>
            </a:r>
            <a:r>
              <a:rPr lang="en-US" sz="2000" dirty="0" smtClean="0"/>
              <a:t> index.</a:t>
            </a:r>
            <a:endParaRPr kumimoji="0" lang="en-US" sz="2000" b="0" i="0" u="none" strike="noStrike" cap="none" normalizeH="0" baseline="0" dirty="0" smtClean="0">
              <a:ln>
                <a:noFill/>
              </a:ln>
              <a:solidFill>
                <a:schemeClr val="tx1"/>
              </a:solidFill>
              <a:effectLst/>
              <a:cs typeface="Arial" panose="020B060402020209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lstStyle/>
          <a:p>
            <a:pPr>
              <a:buNone/>
            </a:pPr>
            <a:r>
              <a:rPr lang="en-US" sz="2000" b="1" dirty="0" smtClean="0"/>
              <a:t>Results:</a:t>
            </a:r>
            <a:endParaRPr lang="en-US" sz="2000" b="1" dirty="0" smtClean="0"/>
          </a:p>
          <a:p>
            <a:pPr algn="just"/>
            <a:r>
              <a:rPr lang="en-US" sz="2000" dirty="0" smtClean="0"/>
              <a:t>The index contains a key for each individual value that appears in the </a:t>
            </a:r>
            <a:r>
              <a:rPr lang="en-US" sz="2000" dirty="0" err="1" smtClean="0"/>
              <a:t>test_scores</a:t>
            </a:r>
            <a:r>
              <a:rPr lang="en-US" sz="2000" dirty="0" smtClean="0"/>
              <a:t> field. The index is ascending, meaning the keys are stored in this order: [ 62, 73, 88, 89, 92, 97 ].</a:t>
            </a:r>
            <a:endParaRPr lang="en-US" sz="2000" dirty="0" smtClean="0"/>
          </a:p>
          <a:p>
            <a:pPr algn="just"/>
            <a:r>
              <a:rPr lang="en-US" sz="2000" dirty="0" smtClean="0"/>
              <a:t>The index supports queries that select on the </a:t>
            </a:r>
            <a:r>
              <a:rPr lang="en-US" sz="2000" dirty="0" err="1" smtClean="0"/>
              <a:t>test_scores</a:t>
            </a:r>
            <a:r>
              <a:rPr lang="en-US" sz="2000" dirty="0" smtClean="0"/>
              <a:t> field. For example, the following query returns documents where at least one element in the </a:t>
            </a:r>
            <a:r>
              <a:rPr lang="en-US" sz="2000" dirty="0" err="1" smtClean="0"/>
              <a:t>test_scores</a:t>
            </a:r>
            <a:r>
              <a:rPr lang="en-US" sz="2000" dirty="0" smtClean="0"/>
              <a:t> array is greater than 90:</a:t>
            </a:r>
            <a:endParaRPr lang="en-US" sz="2000" dirty="0" smtClean="0"/>
          </a:p>
          <a:p>
            <a:endParaRPr lang="en-US" dirty="0"/>
          </a:p>
        </p:txBody>
      </p:sp>
      <p:pic>
        <p:nvPicPr>
          <p:cNvPr id="36866" name="Picture 2"/>
          <p:cNvPicPr>
            <a:picLocks noChangeAspect="1" noChangeArrowheads="1"/>
          </p:cNvPicPr>
          <p:nvPr/>
        </p:nvPicPr>
        <p:blipFill>
          <a:blip r:embed="rId1" cstate="print"/>
          <a:srcRect/>
          <a:stretch>
            <a:fillRect/>
          </a:stretch>
        </p:blipFill>
        <p:spPr>
          <a:xfrm>
            <a:off x="609600" y="2667000"/>
            <a:ext cx="5133975" cy="1409700"/>
          </a:xfrm>
          <a:prstGeom prst="rect">
            <a:avLst/>
          </a:prstGeom>
          <a:noFill/>
          <a:ln w="9525">
            <a:noFill/>
            <a:miter lim="800000"/>
            <a:headEnd/>
            <a:tailEnd/>
          </a:ln>
        </p:spPr>
      </p:pic>
      <p:pic>
        <p:nvPicPr>
          <p:cNvPr id="36867" name="Picture 3"/>
          <p:cNvPicPr>
            <a:picLocks noChangeAspect="1" noChangeArrowheads="1"/>
          </p:cNvPicPr>
          <p:nvPr/>
        </p:nvPicPr>
        <p:blipFill>
          <a:blip r:embed="rId2" cstate="print"/>
          <a:srcRect/>
          <a:stretch>
            <a:fillRect/>
          </a:stretch>
        </p:blipFill>
        <p:spPr>
          <a:xfrm>
            <a:off x="4114800" y="3733800"/>
            <a:ext cx="4619625" cy="2943225"/>
          </a:xfrm>
          <a:prstGeom prst="rect">
            <a:avLst/>
          </a:prstGeom>
          <a:noFill/>
          <a:ln w="9525">
            <a:noFill/>
            <a:miter lim="800000"/>
            <a:headEnd/>
            <a:tailEnd/>
          </a:ln>
        </p:spPr>
      </p:pic>
      <p:sp>
        <p:nvSpPr>
          <p:cNvPr id="6" name="Rectangle 5"/>
          <p:cNvSpPr/>
          <p:nvPr/>
        </p:nvSpPr>
        <p:spPr>
          <a:xfrm>
            <a:off x="6705600" y="3276600"/>
            <a:ext cx="856325" cy="369332"/>
          </a:xfrm>
          <a:prstGeom prst="rect">
            <a:avLst/>
          </a:prstGeom>
        </p:spPr>
        <p:txBody>
          <a:bodyPr wrap="none" numCol="1">
            <a:spAutoFit/>
          </a:bodyPr>
          <a:lstStyle/>
          <a:p>
            <a:r>
              <a:rPr lang="en-US" dirty="0" smtClean="0"/>
              <a:t>Output</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fontScale="92500" lnSpcReduction="10000"/>
          </a:bodyPr>
          <a:lstStyle/>
          <a:p>
            <a:pPr algn="just">
              <a:buNone/>
            </a:pPr>
            <a:r>
              <a:rPr lang="en-US" sz="2200" b="1" dirty="0" smtClean="0"/>
              <a:t>Compound Multikey Indexes:</a:t>
            </a:r>
            <a:endParaRPr lang="en-US" sz="2200" b="1" dirty="0" smtClean="0"/>
          </a:p>
          <a:p>
            <a:pPr algn="just"/>
            <a:r>
              <a:rPr lang="en-US" sz="2200" dirty="0" smtClean="0"/>
              <a:t>In a compound </a:t>
            </a:r>
            <a:r>
              <a:rPr lang="en-US" sz="2200" dirty="0" err="1" smtClean="0"/>
              <a:t>multikey</a:t>
            </a:r>
            <a:r>
              <a:rPr lang="en-US" sz="2200" dirty="0" smtClean="0"/>
              <a:t> index, each indexed document can have </a:t>
            </a:r>
            <a:r>
              <a:rPr lang="en-US" sz="2200" b="1" i="1" dirty="0" smtClean="0">
                <a:solidFill>
                  <a:srgbClr val="FF0000"/>
                </a:solidFill>
              </a:rPr>
              <a:t>at most</a:t>
            </a:r>
            <a:r>
              <a:rPr lang="en-US" sz="2200" b="1" dirty="0" smtClean="0">
                <a:solidFill>
                  <a:srgbClr val="FF0000"/>
                </a:solidFill>
              </a:rPr>
              <a:t> one </a:t>
            </a:r>
            <a:r>
              <a:rPr lang="en-US" sz="2200" dirty="0" smtClean="0"/>
              <a:t>indexed field whose value is an array.</a:t>
            </a:r>
            <a:endParaRPr lang="en-US" sz="2200" dirty="0" smtClean="0"/>
          </a:p>
          <a:p>
            <a:pPr algn="just"/>
            <a:r>
              <a:rPr lang="en-US" sz="2200" dirty="0" smtClean="0"/>
              <a:t>Specifically: You cannot create a compound </a:t>
            </a:r>
            <a:r>
              <a:rPr lang="en-US" sz="2200" dirty="0" err="1" smtClean="0"/>
              <a:t>multikey</a:t>
            </a:r>
            <a:r>
              <a:rPr lang="en-US" sz="2200" dirty="0" smtClean="0"/>
              <a:t> index if more than one field in the index specification is an array. For example, consider a collection that contains this document:</a:t>
            </a:r>
            <a:endParaRPr lang="en-US" sz="2200" dirty="0" smtClean="0"/>
          </a:p>
          <a:p>
            <a:pPr algn="just"/>
            <a:endParaRPr lang="en-US" sz="2200" dirty="0" smtClean="0"/>
          </a:p>
          <a:p>
            <a:pPr algn="just"/>
            <a:r>
              <a:rPr lang="en-US" sz="2200" dirty="0" smtClean="0"/>
              <a:t>You can't create the compound </a:t>
            </a:r>
            <a:r>
              <a:rPr lang="en-US" sz="2200" dirty="0" err="1" smtClean="0"/>
              <a:t>multikey</a:t>
            </a:r>
            <a:r>
              <a:rPr lang="en-US" sz="2200" dirty="0" smtClean="0"/>
              <a:t> index { </a:t>
            </a:r>
            <a:r>
              <a:rPr lang="en-US" sz="2200" dirty="0" err="1" smtClean="0"/>
              <a:t>scores_spring</a:t>
            </a:r>
            <a:r>
              <a:rPr lang="en-US" sz="2200" dirty="0" smtClean="0"/>
              <a:t>: 1, </a:t>
            </a:r>
            <a:r>
              <a:rPr lang="en-US" sz="2200" dirty="0" err="1" smtClean="0"/>
              <a:t>scores_fall</a:t>
            </a:r>
            <a:r>
              <a:rPr lang="en-US" sz="2200" dirty="0" smtClean="0"/>
              <a:t>: 1 } because both fields in the index are arrays.</a:t>
            </a:r>
            <a:endParaRPr lang="en-US" sz="2200" dirty="0" smtClean="0"/>
          </a:p>
          <a:p>
            <a:pPr algn="just"/>
            <a:r>
              <a:rPr lang="en-US" sz="2200" dirty="0" smtClean="0"/>
              <a:t>If a compound </a:t>
            </a:r>
            <a:r>
              <a:rPr lang="en-US" sz="2200" dirty="0" err="1" smtClean="0"/>
              <a:t>multikey</a:t>
            </a:r>
            <a:r>
              <a:rPr lang="en-US" sz="2200" dirty="0" smtClean="0"/>
              <a:t> index already exists, you cannot insert a document that would violate this restriction. Consider a collection that contains these documents:</a:t>
            </a:r>
            <a:endParaRPr lang="en-US" sz="2200" dirty="0" smtClean="0"/>
          </a:p>
          <a:p>
            <a:pPr algn="just"/>
            <a:endParaRPr lang="en-US" sz="2200" dirty="0" smtClean="0"/>
          </a:p>
          <a:p>
            <a:pPr algn="just"/>
            <a:r>
              <a:rPr lang="en-US" sz="2200" dirty="0" smtClean="0"/>
              <a:t>You can create a compound </a:t>
            </a:r>
            <a:r>
              <a:rPr lang="en-US" sz="2200" dirty="0" err="1" smtClean="0"/>
              <a:t>multikey</a:t>
            </a:r>
            <a:r>
              <a:rPr lang="en-US" sz="2200" dirty="0" smtClean="0"/>
              <a:t> index { </a:t>
            </a:r>
            <a:r>
              <a:rPr lang="en-US" sz="2200" dirty="0" err="1" smtClean="0"/>
              <a:t>scores_spring</a:t>
            </a:r>
            <a:r>
              <a:rPr lang="en-US" sz="2200" dirty="0" smtClean="0"/>
              <a:t>: 1, </a:t>
            </a:r>
            <a:r>
              <a:rPr lang="en-US" sz="2200" dirty="0" err="1" smtClean="0"/>
              <a:t>scores_fall</a:t>
            </a:r>
            <a:r>
              <a:rPr lang="en-US" sz="2200" dirty="0" smtClean="0"/>
              <a:t>: 1 } because for each document, only one field indexed by the compound </a:t>
            </a:r>
            <a:r>
              <a:rPr lang="en-US" sz="2200" dirty="0" err="1" smtClean="0"/>
              <a:t>multikey</a:t>
            </a:r>
            <a:r>
              <a:rPr lang="en-US" sz="2200" dirty="0" smtClean="0"/>
              <a:t> index is an array. No document contains array values for both </a:t>
            </a:r>
            <a:r>
              <a:rPr lang="en-US" sz="2200" dirty="0" err="1" smtClean="0"/>
              <a:t>scores_spring</a:t>
            </a:r>
            <a:r>
              <a:rPr lang="en-US" sz="2200" dirty="0" smtClean="0"/>
              <a:t> and </a:t>
            </a:r>
            <a:r>
              <a:rPr lang="en-US" sz="2200" dirty="0" err="1" smtClean="0"/>
              <a:t>scores_fall</a:t>
            </a:r>
            <a:r>
              <a:rPr lang="en-US" sz="2200" dirty="0" smtClean="0"/>
              <a:t> fields.</a:t>
            </a:r>
            <a:endParaRPr lang="en-US" sz="2200" dirty="0" smtClean="0"/>
          </a:p>
          <a:p>
            <a:pPr algn="just"/>
            <a:r>
              <a:rPr lang="en-US" sz="2200" dirty="0" smtClean="0"/>
              <a:t>However, after you create the compound </a:t>
            </a:r>
            <a:r>
              <a:rPr lang="en-US" sz="2200" dirty="0" err="1" smtClean="0"/>
              <a:t>multikey</a:t>
            </a:r>
            <a:r>
              <a:rPr lang="en-US" sz="2200" dirty="0" smtClean="0"/>
              <a:t> index, if you attempt to insert a document where both </a:t>
            </a:r>
            <a:r>
              <a:rPr lang="en-US" sz="2200" dirty="0" err="1" smtClean="0"/>
              <a:t>scores_spring</a:t>
            </a:r>
            <a:r>
              <a:rPr lang="en-US" sz="2200" dirty="0" smtClean="0"/>
              <a:t> and </a:t>
            </a:r>
            <a:r>
              <a:rPr lang="en-US" sz="2200" dirty="0" err="1" smtClean="0"/>
              <a:t>scores_fall</a:t>
            </a:r>
            <a:r>
              <a:rPr lang="en-US" sz="2200" dirty="0" smtClean="0"/>
              <a:t> fields are arrays, the insert fails.</a:t>
            </a:r>
            <a:endParaRPr lang="en-US" sz="2200" dirty="0" smtClean="0"/>
          </a:p>
          <a:p>
            <a:endParaRPr lang="en-US" sz="2400" dirty="0" smtClean="0"/>
          </a:p>
          <a:p>
            <a:pPr algn="just"/>
            <a:endParaRPr lang="en-US" sz="2400" dirty="0" smtClean="0"/>
          </a:p>
          <a:p>
            <a:endParaRPr lang="en-US" dirty="0"/>
          </a:p>
        </p:txBody>
      </p:sp>
      <p:pic>
        <p:nvPicPr>
          <p:cNvPr id="39938" name="Picture 2"/>
          <p:cNvPicPr>
            <a:picLocks noChangeAspect="1" noChangeArrowheads="1"/>
          </p:cNvPicPr>
          <p:nvPr/>
        </p:nvPicPr>
        <p:blipFill>
          <a:blip r:embed="rId1" cstate="print"/>
          <a:srcRect/>
          <a:stretch>
            <a:fillRect/>
          </a:stretch>
        </p:blipFill>
        <p:spPr>
          <a:xfrm>
            <a:off x="1447800" y="1981200"/>
            <a:ext cx="6286500" cy="342900"/>
          </a:xfrm>
          <a:prstGeom prst="rect">
            <a:avLst/>
          </a:prstGeom>
          <a:noFill/>
          <a:ln w="9525">
            <a:noFill/>
            <a:miter lim="800000"/>
            <a:headEnd/>
            <a:tailEnd/>
          </a:ln>
        </p:spPr>
      </p:pic>
      <p:pic>
        <p:nvPicPr>
          <p:cNvPr id="39939" name="Picture 3"/>
          <p:cNvPicPr>
            <a:picLocks noChangeAspect="1" noChangeArrowheads="1"/>
          </p:cNvPicPr>
          <p:nvPr/>
        </p:nvPicPr>
        <p:blipFill>
          <a:blip r:embed="rId2" cstate="print"/>
          <a:srcRect/>
          <a:stretch>
            <a:fillRect/>
          </a:stretch>
        </p:blipFill>
        <p:spPr>
          <a:xfrm>
            <a:off x="1981200" y="3581400"/>
            <a:ext cx="5295900" cy="581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781800"/>
          </a:xfrm>
        </p:spPr>
        <p:txBody>
          <a:bodyPr numCol="1"/>
          <a:lstStyle/>
          <a:p>
            <a:pPr>
              <a:buNone/>
            </a:pPr>
            <a:r>
              <a:rPr lang="en-US" sz="2400" b="1" dirty="0" smtClean="0"/>
              <a:t>Create an Index on an Embedded Field in an Array</a:t>
            </a:r>
            <a:r>
              <a:rPr lang="en-US" dirty="0" smtClean="0"/>
              <a:t>:</a:t>
            </a:r>
            <a:endParaRPr lang="en-US" dirty="0" smtClean="0"/>
          </a:p>
          <a:p>
            <a:endParaRPr lang="en-US" dirty="0"/>
          </a:p>
        </p:txBody>
      </p:sp>
      <p:pic>
        <p:nvPicPr>
          <p:cNvPr id="37890" name="Picture 2"/>
          <p:cNvPicPr>
            <a:picLocks noChangeAspect="1" noChangeArrowheads="1"/>
          </p:cNvPicPr>
          <p:nvPr/>
        </p:nvPicPr>
        <p:blipFill>
          <a:blip r:embed="rId1" cstate="print"/>
          <a:srcRect/>
          <a:stretch>
            <a:fillRect/>
          </a:stretch>
        </p:blipFill>
        <p:spPr>
          <a:xfrm>
            <a:off x="152400" y="533400"/>
            <a:ext cx="2438400" cy="3096618"/>
          </a:xfrm>
          <a:prstGeom prst="rect">
            <a:avLst/>
          </a:prstGeom>
          <a:noFill/>
          <a:ln w="9525">
            <a:noFill/>
            <a:miter lim="800000"/>
            <a:headEnd/>
            <a:tailEnd/>
          </a:ln>
        </p:spPr>
      </p:pic>
      <p:pic>
        <p:nvPicPr>
          <p:cNvPr id="37891" name="Picture 3"/>
          <p:cNvPicPr>
            <a:picLocks noChangeAspect="1" noChangeArrowheads="1"/>
          </p:cNvPicPr>
          <p:nvPr/>
        </p:nvPicPr>
        <p:blipFill>
          <a:blip r:embed="rId2" cstate="print"/>
          <a:srcRect/>
          <a:stretch>
            <a:fillRect/>
          </a:stretch>
        </p:blipFill>
        <p:spPr>
          <a:xfrm>
            <a:off x="2743200" y="533400"/>
            <a:ext cx="2285999" cy="3053271"/>
          </a:xfrm>
          <a:prstGeom prst="rect">
            <a:avLst/>
          </a:prstGeom>
          <a:noFill/>
          <a:ln w="9525">
            <a:noFill/>
            <a:miter lim="800000"/>
            <a:headEnd/>
            <a:tailEnd/>
          </a:ln>
        </p:spPr>
      </p:pic>
      <p:pic>
        <p:nvPicPr>
          <p:cNvPr id="37892" name="Picture 4"/>
          <p:cNvPicPr>
            <a:picLocks noChangeAspect="1" noChangeArrowheads="1"/>
          </p:cNvPicPr>
          <p:nvPr/>
        </p:nvPicPr>
        <p:blipFill>
          <a:blip r:embed="rId3" cstate="print"/>
          <a:srcRect/>
          <a:stretch>
            <a:fillRect/>
          </a:stretch>
        </p:blipFill>
        <p:spPr>
          <a:xfrm>
            <a:off x="5257800" y="533400"/>
            <a:ext cx="2358571" cy="3048000"/>
          </a:xfrm>
          <a:prstGeom prst="rect">
            <a:avLst/>
          </a:prstGeom>
          <a:noFill/>
          <a:ln w="9525">
            <a:noFill/>
            <a:miter lim="800000"/>
            <a:headEnd/>
            <a:tailEnd/>
          </a:ln>
        </p:spPr>
      </p:pic>
      <p:sp>
        <p:nvSpPr>
          <p:cNvPr id="37893" name="Rectangle 5"/>
          <p:cNvSpPr>
            <a:spLocks noChangeArrowheads="1"/>
          </p:cNvSpPr>
          <p:nvPr/>
        </p:nvSpPr>
        <p:spPr>
          <a:xfrm rot="10800000" flipV="1">
            <a:off x="228600" y="3733800"/>
            <a:ext cx="8763000" cy="1200329"/>
          </a:xfrm>
          <a:prstGeom prst="rect">
            <a:avLst/>
          </a:prstGeom>
          <a:solidFill>
            <a:srgbClr val="F9FBFA"/>
          </a:solid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b="0" i="0" u="none" strike="noStrike" cap="none" normalizeH="0" baseline="0" dirty="0" smtClean="0">
                <a:ln>
                  <a:noFill/>
                </a:ln>
                <a:solidFill>
                  <a:srgbClr val="001E2B"/>
                </a:solidFill>
                <a:effectLst/>
                <a:cs typeface="Arial" panose="020B0604020202090204" pitchFamily="34" charset="0"/>
              </a:rPr>
              <a:t>You need to order more inventory any time you have less than five of an item in stock. To find which items to reorder, you query for documents where an element in the </a:t>
            </a:r>
            <a:r>
              <a:rPr kumimoji="0" lang="en-US" b="0" i="0" u="none" strike="noStrike" cap="none" normalizeH="0" baseline="0" dirty="0" smtClean="0">
                <a:ln>
                  <a:noFill/>
                </a:ln>
                <a:solidFill>
                  <a:srgbClr val="1C2D38"/>
                </a:solidFill>
                <a:effectLst/>
                <a:cs typeface="Arial" panose="020B0604020202090204" pitchFamily="34" charset="0"/>
              </a:rPr>
              <a:t>stock</a:t>
            </a:r>
            <a:r>
              <a:rPr kumimoji="0" lang="en-US" b="0" i="0" u="none" strike="noStrike" cap="none" normalizeH="0" baseline="0" dirty="0" smtClean="0">
                <a:ln>
                  <a:noFill/>
                </a:ln>
                <a:solidFill>
                  <a:srgbClr val="001E2B"/>
                </a:solidFill>
                <a:effectLst/>
                <a:cs typeface="Arial" panose="020B0604020202090204" pitchFamily="34" charset="0"/>
              </a:rPr>
              <a:t> array has a </a:t>
            </a:r>
            <a:r>
              <a:rPr kumimoji="0" lang="en-US" b="0" i="0" u="none" strike="noStrike" cap="none" normalizeH="0" baseline="0" dirty="0" smtClean="0">
                <a:ln>
                  <a:noFill/>
                </a:ln>
                <a:solidFill>
                  <a:srgbClr val="1C2D38"/>
                </a:solidFill>
                <a:effectLst/>
                <a:cs typeface="Arial" panose="020B0604020202090204" pitchFamily="34" charset="0"/>
              </a:rPr>
              <a:t>quantity</a:t>
            </a:r>
            <a:r>
              <a:rPr kumimoji="0" lang="en-US" b="0" i="0" u="none" strike="noStrike" cap="none" normalizeH="0" baseline="0" dirty="0" smtClean="0">
                <a:ln>
                  <a:noFill/>
                </a:ln>
                <a:solidFill>
                  <a:srgbClr val="001E2B"/>
                </a:solidFill>
                <a:effectLst/>
                <a:cs typeface="Arial" panose="020B0604020202090204" pitchFamily="34" charset="0"/>
              </a:rPr>
              <a:t> less than </a:t>
            </a:r>
            <a:r>
              <a:rPr kumimoji="0" lang="en-US" b="0" i="0" u="none" strike="noStrike" cap="none" normalizeH="0" baseline="0" dirty="0" smtClean="0">
                <a:ln>
                  <a:noFill/>
                </a:ln>
                <a:solidFill>
                  <a:srgbClr val="1C2D38"/>
                </a:solidFill>
                <a:effectLst/>
                <a:cs typeface="Arial" panose="020B0604020202090204" pitchFamily="34" charset="0"/>
              </a:rPr>
              <a:t>5</a:t>
            </a:r>
            <a:r>
              <a:rPr kumimoji="0" lang="en-US" b="0" i="0" u="none" strike="noStrike" cap="none" normalizeH="0" baseline="0" dirty="0" smtClean="0">
                <a:ln>
                  <a:noFill/>
                </a:ln>
                <a:solidFill>
                  <a:srgbClr val="001E2B"/>
                </a:solidFill>
                <a:effectLst/>
                <a:cs typeface="Arial" panose="020B0604020202090204" pitchFamily="34" charset="0"/>
              </a:rPr>
              <a:t>. To improve performance for this query, you can create an index on the </a:t>
            </a:r>
            <a:r>
              <a:rPr kumimoji="0" lang="en-US" b="0" i="0" u="none" strike="noStrike" cap="none" normalizeH="0" baseline="0" dirty="0" err="1" smtClean="0">
                <a:ln>
                  <a:noFill/>
                </a:ln>
                <a:solidFill>
                  <a:srgbClr val="1C2D38"/>
                </a:solidFill>
                <a:effectLst/>
                <a:cs typeface="Arial" panose="020B0604020202090204" pitchFamily="34" charset="0"/>
              </a:rPr>
              <a:t>stock.quantity</a:t>
            </a:r>
            <a:r>
              <a:rPr kumimoji="0" lang="en-US" b="0" i="0" u="none" strike="noStrike" cap="none" normalizeH="0" baseline="0" dirty="0" smtClean="0">
                <a:ln>
                  <a:noFill/>
                </a:ln>
                <a:solidFill>
                  <a:srgbClr val="001E2B"/>
                </a:solidFill>
                <a:effectLst/>
                <a:cs typeface="Arial" panose="020B0604020202090204" pitchFamily="34" charset="0"/>
              </a:rPr>
              <a:t> field.</a:t>
            </a:r>
            <a:r>
              <a:rPr kumimoji="0" lang="en-US" b="0" i="0" u="none" strike="noStrike" cap="none" normalizeH="0" baseline="0" dirty="0" smtClean="0">
                <a:ln>
                  <a:noFill/>
                </a:ln>
                <a:solidFill>
                  <a:schemeClr val="tx1"/>
                </a:solidFill>
                <a:effectLst/>
                <a:cs typeface="Arial" panose="020B0604020202090204" pitchFamily="34" charset="0"/>
              </a:rPr>
              <a:t> </a:t>
            </a:r>
            <a:endParaRPr kumimoji="0" lang="en-US" b="0" i="0" u="none" strike="noStrike" cap="none" normalizeH="0" baseline="0" dirty="0" smtClean="0">
              <a:ln>
                <a:noFill/>
              </a:ln>
              <a:solidFill>
                <a:schemeClr val="tx1"/>
              </a:solidFill>
              <a:effectLst/>
              <a:cs typeface="Arial" panose="020B0604020202090204" pitchFamily="34" charset="0"/>
            </a:endParaRPr>
          </a:p>
        </p:txBody>
      </p:sp>
      <p:sp>
        <p:nvSpPr>
          <p:cNvPr id="8" name="Rectangle 7"/>
          <p:cNvSpPr/>
          <p:nvPr/>
        </p:nvSpPr>
        <p:spPr>
          <a:xfrm>
            <a:off x="228600" y="4953000"/>
            <a:ext cx="8763000" cy="1477328"/>
          </a:xfrm>
          <a:prstGeom prst="rect">
            <a:avLst/>
          </a:prstGeom>
        </p:spPr>
        <p:txBody>
          <a:bodyPr wrap="square" numCol="1">
            <a:spAutoFit/>
          </a:bodyPr>
          <a:lstStyle/>
          <a:p>
            <a:pPr algn="just"/>
            <a:r>
              <a:rPr lang="en-US" b="1" dirty="0" smtClean="0"/>
              <a:t>Procedure: </a:t>
            </a:r>
            <a:r>
              <a:rPr lang="en-US" dirty="0" smtClean="0"/>
              <a:t>The following operation creates an ascending </a:t>
            </a:r>
            <a:r>
              <a:rPr lang="en-US" dirty="0" err="1" smtClean="0"/>
              <a:t>multikey</a:t>
            </a:r>
            <a:r>
              <a:rPr lang="en-US" dirty="0" smtClean="0"/>
              <a:t> index on the </a:t>
            </a:r>
            <a:r>
              <a:rPr lang="en-US" dirty="0" err="1" smtClean="0"/>
              <a:t>stock.quantity</a:t>
            </a:r>
            <a:r>
              <a:rPr lang="en-US" dirty="0" smtClean="0"/>
              <a:t> field of the inventory collection:</a:t>
            </a:r>
            <a:endParaRPr lang="en-US" dirty="0" smtClean="0"/>
          </a:p>
          <a:p>
            <a:pPr algn="just"/>
            <a:endParaRPr lang="en-US" dirty="0" smtClean="0"/>
          </a:p>
          <a:p>
            <a:pPr algn="just"/>
            <a:endParaRPr lang="en-US" dirty="0" smtClean="0"/>
          </a:p>
          <a:p>
            <a:pPr algn="just"/>
            <a:r>
              <a:rPr lang="en-US" dirty="0" smtClean="0"/>
              <a:t>Because stock contains an array value, </a:t>
            </a:r>
            <a:r>
              <a:rPr lang="en-US" dirty="0" err="1" smtClean="0"/>
              <a:t>MongoDB</a:t>
            </a:r>
            <a:r>
              <a:rPr lang="en-US" dirty="0" smtClean="0"/>
              <a:t> stores this index as a </a:t>
            </a:r>
            <a:r>
              <a:rPr lang="en-US" dirty="0" err="1" smtClean="0"/>
              <a:t>multikey</a:t>
            </a:r>
            <a:r>
              <a:rPr lang="en-US" dirty="0" smtClean="0"/>
              <a:t> index.</a:t>
            </a:r>
            <a:endParaRPr lang="en-US" dirty="0" smtClean="0"/>
          </a:p>
        </p:txBody>
      </p:sp>
      <p:pic>
        <p:nvPicPr>
          <p:cNvPr id="37894" name="Picture 6"/>
          <p:cNvPicPr>
            <a:picLocks noChangeAspect="1" noChangeArrowheads="1"/>
          </p:cNvPicPr>
          <p:nvPr/>
        </p:nvPicPr>
        <p:blipFill>
          <a:blip r:embed="rId4" cstate="print"/>
          <a:srcRect/>
          <a:stretch>
            <a:fillRect/>
          </a:stretch>
        </p:blipFill>
        <p:spPr>
          <a:xfrm>
            <a:off x="1600200" y="5638800"/>
            <a:ext cx="5534025" cy="314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pPr algn="just">
              <a:buNone/>
            </a:pPr>
            <a:r>
              <a:rPr lang="en-US" sz="2400" b="1" dirty="0" smtClean="0"/>
              <a:t>Results: </a:t>
            </a:r>
            <a:endParaRPr lang="en-US" sz="2400" b="1" dirty="0" smtClean="0"/>
          </a:p>
          <a:p>
            <a:pPr algn="just"/>
            <a:r>
              <a:rPr lang="en-US" sz="2400" dirty="0" smtClean="0"/>
              <a:t>The index contains a key for each individual value that appears in the </a:t>
            </a:r>
            <a:r>
              <a:rPr lang="en-US" sz="2400" dirty="0" err="1" smtClean="0"/>
              <a:t>stock.quantity</a:t>
            </a:r>
            <a:r>
              <a:rPr lang="en-US" sz="2400" dirty="0" smtClean="0"/>
              <a:t> field. The index is ascending, meaning the keys are stored in this order: [ 1, 4, 6, 7, 8, 10 ].</a:t>
            </a:r>
            <a:endParaRPr lang="en-US" sz="2400" dirty="0" smtClean="0"/>
          </a:p>
          <a:p>
            <a:pPr algn="just"/>
            <a:r>
              <a:rPr lang="en-US" sz="2400" dirty="0" smtClean="0"/>
              <a:t>The index supports queries that select on the </a:t>
            </a:r>
            <a:r>
              <a:rPr lang="en-US" sz="2400" dirty="0" err="1" smtClean="0"/>
              <a:t>stock.quantity</a:t>
            </a:r>
            <a:r>
              <a:rPr lang="en-US" sz="2400" dirty="0" smtClean="0"/>
              <a:t> field. For example, the following query returns documents where at least one element in the stock array has a quantity less than 5:</a:t>
            </a:r>
            <a:endParaRPr lang="en-US" sz="2400" dirty="0" smtClean="0"/>
          </a:p>
          <a:p>
            <a:endParaRPr lang="en-US" dirty="0"/>
          </a:p>
        </p:txBody>
      </p:sp>
      <p:pic>
        <p:nvPicPr>
          <p:cNvPr id="38914" name="Picture 2"/>
          <p:cNvPicPr>
            <a:picLocks noChangeAspect="1" noChangeArrowheads="1"/>
          </p:cNvPicPr>
          <p:nvPr/>
        </p:nvPicPr>
        <p:blipFill>
          <a:blip r:embed="rId1" cstate="print"/>
          <a:srcRect/>
          <a:stretch>
            <a:fillRect/>
          </a:stretch>
        </p:blipFill>
        <p:spPr>
          <a:xfrm>
            <a:off x="609600" y="2895600"/>
            <a:ext cx="3338513" cy="1269812"/>
          </a:xfrm>
          <a:prstGeom prst="rect">
            <a:avLst/>
          </a:prstGeom>
          <a:noFill/>
          <a:ln w="9525">
            <a:noFill/>
            <a:miter lim="800000"/>
            <a:headEnd/>
            <a:tailEnd/>
          </a:ln>
        </p:spPr>
      </p:pic>
      <p:pic>
        <p:nvPicPr>
          <p:cNvPr id="38915" name="Picture 3"/>
          <p:cNvPicPr>
            <a:picLocks noChangeAspect="1" noChangeArrowheads="1"/>
          </p:cNvPicPr>
          <p:nvPr/>
        </p:nvPicPr>
        <p:blipFill>
          <a:blip r:embed="rId2" cstate="print"/>
          <a:srcRect/>
          <a:stretch>
            <a:fillRect/>
          </a:stretch>
        </p:blipFill>
        <p:spPr>
          <a:xfrm>
            <a:off x="2181225" y="3966012"/>
            <a:ext cx="6962775" cy="2891988"/>
          </a:xfrm>
          <a:prstGeom prst="rect">
            <a:avLst/>
          </a:prstGeom>
          <a:noFill/>
          <a:ln w="9525">
            <a:noFill/>
            <a:miter lim="800000"/>
            <a:headEnd/>
            <a:tailEnd/>
          </a:ln>
        </p:spPr>
      </p:pic>
      <p:sp>
        <p:nvSpPr>
          <p:cNvPr id="6" name="Rectangle 5"/>
          <p:cNvSpPr/>
          <p:nvPr/>
        </p:nvSpPr>
        <p:spPr>
          <a:xfrm>
            <a:off x="5791200" y="3505200"/>
            <a:ext cx="856325" cy="369332"/>
          </a:xfrm>
          <a:prstGeom prst="rect">
            <a:avLst/>
          </a:prstGeom>
        </p:spPr>
        <p:txBody>
          <a:bodyPr wrap="none" numCol="1">
            <a:spAutoFit/>
          </a:bodyPr>
          <a:lstStyle/>
          <a:p>
            <a:r>
              <a:rPr lang="en-US" dirty="0" smtClean="0"/>
              <a:t>Output</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13902</Words>
  <Application>WPS Presentation</Application>
  <PresentationFormat>On-screen Show (4:3)</PresentationFormat>
  <Paragraphs>290</Paragraphs>
  <Slides>26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Arial</vt:lpstr>
      <vt:lpstr>SimSun</vt:lpstr>
      <vt:lpstr>Wingdings</vt:lpstr>
      <vt:lpstr>Calibri</vt:lpstr>
      <vt:lpstr>Helvetica Neue</vt:lpstr>
      <vt:lpstr>Microsoft YaHei</vt:lpstr>
      <vt:lpstr>汉仪旗黑</vt:lpstr>
      <vt:lpstr>Arial Unicode MS</vt:lpstr>
      <vt:lpstr>宋体-简</vt:lpstr>
      <vt:lpstr>Office Theme</vt:lpstr>
      <vt:lpstr>Indexing</vt:lpstr>
      <vt:lpstr>Indexes</vt:lpstr>
      <vt:lpstr>Use Cases</vt:lpstr>
      <vt:lpstr>PowerPoint 演示文稿</vt:lpstr>
      <vt:lpstr>Create an Index</vt:lpstr>
      <vt:lpstr>Specify an Index Name</vt:lpstr>
      <vt:lpstr>PowerPoint 演示文稿</vt:lpstr>
      <vt:lpstr>PowerPoint 演示文稿</vt:lpstr>
      <vt:lpstr>Drop an Index</vt:lpstr>
      <vt:lpstr>PowerPoint 演示文稿</vt:lpstr>
      <vt:lpstr>Index Types</vt:lpstr>
      <vt:lpstr>PowerPoint 演示文稿</vt:lpstr>
      <vt:lpstr>PowerPoint 演示文稿</vt:lpstr>
      <vt:lpstr>PowerPoint 演示文稿</vt:lpstr>
      <vt:lpstr>Create an Index on an Embedded Document</vt:lpstr>
      <vt:lpstr>PowerPoint 演示文稿</vt:lpstr>
      <vt:lpstr>2. Compound Indexes</vt:lpstr>
      <vt:lpstr>PowerPoint 演示文稿</vt:lpstr>
      <vt:lpstr>PowerPoint 演示文稿</vt:lpstr>
      <vt:lpstr>3. Multikey Indexes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Indexing</dc:title>
  <dc:creator>mandeep kaur</dc:creator>
  <cp:lastModifiedBy>mehulgupta</cp:lastModifiedBy>
  <cp:revision>318</cp:revision>
  <dcterms:created xsi:type="dcterms:W3CDTF">2026-03-13T06:04:28Z</dcterms:created>
  <dcterms:modified xsi:type="dcterms:W3CDTF">2026-03-13T06:04:28Z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00B5A803C7E55AEF16A3B36996AE3EF5_42</vt:lpwstr>
  </property>
  <property fmtid="{D5CDD505-2E9C-101B-9397-08002B2CF9AE}" pid="3" name="KSOProductBuildVer">
    <vt:lpwstr>1033-12.1.23155.23155</vt:lpwstr>
  </property>
</Properties>
</file>