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9144000" cy="6858000" type="screen4x3"/>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autoAdjust="0" sz="93688"/>
  </p:normalViewPr>
  <p:slideViewPr>
    <p:cSldViewPr>
      <p:cViewPr varScale="1">
        <p:scale>
          <a:sx d="100" n="63"/>
          <a:sy d="100" n="63"/>
        </p:scale>
        <p:origin x="1596" y="78"/>
      </p:cViewPr>
      <p:guideLst>
        <p:guide orient="horz" pos="2160"/>
        <p:guide pos="2880"/>
      </p:guideLst>
    </p:cSldViewPr>
  </p:slideViewPr>
  <p:notesTextViewPr>
    <p:cViewPr>
      <p:scale>
        <a:sx d="100" n="100"/>
        <a:sy d="100" n="100"/>
      </p:scale>
      <p:origin x="0" y="0"/>
    </p:cViewPr>
  </p:notesTextViewPr>
  <p:gridSpacing cx="72008" cy="72008"/>
</p:viewPr>
</file>

<file path=ppt/_rels/presentation.xml.rels><?xml version="1.0" encoding="UTF-8" standalone="yes"?><Relationships xmlns="http://schemas.openxmlformats.org/package/2006/relationships"><Relationship Id="rId39" Target="slides/slide33.xml" Type="http://schemas.openxmlformats.org/officeDocument/2006/relationships/slide"/><Relationship Id="rId38" Target="slides/slide32.xml" Type="http://schemas.openxmlformats.org/officeDocument/2006/relationships/slide"/><Relationship Id="rId37" Target="slides/slide31.xml" Type="http://schemas.openxmlformats.org/officeDocument/2006/relationships/slide"/><Relationship Id="rId36" Target="slides/slide30.xml" Type="http://schemas.openxmlformats.org/officeDocument/2006/relationships/slide"/><Relationship Id="rId35" Target="slides/slide29.xml" Type="http://schemas.openxmlformats.org/officeDocument/2006/relationships/slide"/><Relationship Id="rId34" Target="slides/slide28.xml" Type="http://schemas.openxmlformats.org/officeDocument/2006/relationships/slide"/><Relationship Id="rId33" Target="slides/slide27.xml" Type="http://schemas.openxmlformats.org/officeDocument/2006/relationships/slide"/><Relationship Id="rId32" Target="slides/slide26.xml" Type="http://schemas.openxmlformats.org/officeDocument/2006/relationships/slide"/><Relationship Id="rId31" Target="slides/slide25.xml" Type="http://schemas.openxmlformats.org/officeDocument/2006/relationships/slide"/><Relationship Id="rId30" Target="slides/slide24.xml" Type="http://schemas.openxmlformats.org/officeDocument/2006/relationships/slide"/><Relationship Id="rId27" Target="slides/slide21.xml" Type="http://schemas.openxmlformats.org/officeDocument/2006/relationships/slide"/><Relationship Id="rId26" Target="slides/slide20.xml" Type="http://schemas.openxmlformats.org/officeDocument/2006/relationships/slide"/><Relationship Id="rId25" Target="slides/slide19.xml" Type="http://schemas.openxmlformats.org/officeDocument/2006/relationships/slide"/><Relationship Id="rId24" Target="slides/slide18.xml" Type="http://schemas.openxmlformats.org/officeDocument/2006/relationships/slide"/><Relationship Id="rId21" Target="slides/slide15.xml" Type="http://schemas.openxmlformats.org/officeDocument/2006/relationships/slide"/><Relationship Id="rId19" Target="slides/slide13.xml" Type="http://schemas.openxmlformats.org/officeDocument/2006/relationships/slide"/><Relationship Id="rId20" Target="slides/slide14.xml" Type="http://schemas.openxmlformats.org/officeDocument/2006/relationships/slide"/><Relationship Id="rId18" Target="slides/slide12.xml" Type="http://schemas.openxmlformats.org/officeDocument/2006/relationships/slide"/><Relationship Id="rId17" Target="slides/slide11.xml" Type="http://schemas.openxmlformats.org/officeDocument/2006/relationships/slide"/><Relationship Id="rId16" Target="slides/slide10.xml" Type="http://schemas.openxmlformats.org/officeDocument/2006/relationships/slide"/><Relationship Id="rId15" Target="slides/slide9.xml" Type="http://schemas.openxmlformats.org/officeDocument/2006/relationships/slide"/><Relationship Id="rId14" Target="slides/slide8.xml" Type="http://schemas.openxmlformats.org/officeDocument/2006/relationships/slide"/><Relationship Id="rId13" Target="slides/slide7.xml" Type="http://schemas.openxmlformats.org/officeDocument/2006/relationships/slide"/><Relationship Id="rId12" Target="slides/slide6.xml" Type="http://schemas.openxmlformats.org/officeDocument/2006/relationships/slide"/><Relationship Id="rId11" Target="slides/slide5.xml" Type="http://schemas.openxmlformats.org/officeDocument/2006/relationships/slide"/><Relationship Id="rId41" Target="slides/slide35.xml" Type="http://schemas.openxmlformats.org/officeDocument/2006/relationships/slide"/><Relationship Id="rId10" Target="slides/slide4.xml" Type="http://schemas.openxmlformats.org/officeDocument/2006/relationships/slide"/><Relationship Id="rId9" Target="slides/slide3.xml" Type="http://schemas.openxmlformats.org/officeDocument/2006/relationships/slide"/><Relationship Id="rId40" Target="slides/slide34.xml" Type="http://schemas.openxmlformats.org/officeDocument/2006/relationships/slide"/><Relationship Id="rId8" Target="slides/slide2.xml" Type="http://schemas.openxmlformats.org/officeDocument/2006/relationships/slide"/><Relationship Id="rId7" Target="slides/slide1.xml" Type="http://schemas.openxmlformats.org/officeDocument/2006/relationships/slide"/><Relationship Id="rId6" Target="notesMasters/notesMaster1.xml" Type="http://schemas.openxmlformats.org/officeDocument/2006/relationships/notesMaster"/><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3" Target="slides/slide17.xml" Type="http://schemas.openxmlformats.org/officeDocument/2006/relationships/slide"/><Relationship Id="rId29" Target="slides/slide23.xml" Type="http://schemas.openxmlformats.org/officeDocument/2006/relationships/slide"/><Relationship Id="rId2" Target="viewProps.xml" Type="http://schemas.openxmlformats.org/officeDocument/2006/relationships/viewProps"/><Relationship Id="rId22" Target="slides/slide16.xml" Type="http://schemas.openxmlformats.org/officeDocument/2006/relationships/slide"/><Relationship Id="rId28" Target="slides/slide22.xml" Type="http://schemas.openxmlformats.org/officeDocument/2006/relationships/slide"/><Relationship Id="rId1" Target="theme/theme1.xml" Type="http://schemas.openxmlformats.org/officeDocument/2006/relationships/theme"/></Relationships>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7200"/>
          </a:xfrm>
          <a:prstGeom prst="rect">
            <a:avLst/>
          </a:prstGeom>
        </p:spPr>
        <p:txBody>
          <a:bodyPr bIns="45720" lIns="91440" numCol="1"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7200"/>
          </a:xfrm>
          <a:prstGeom prst="rect">
            <a:avLst/>
          </a:prstGeom>
        </p:spPr>
        <p:txBody>
          <a:bodyPr bIns="45720" lIns="91440" numCol="1" rIns="91440" rtlCol="0" tIns="45720" vert="horz"/>
          <a:lstStyle>
            <a:lvl1pPr algn="r">
              <a:defRPr sz="1200"/>
            </a:lvl1pPr>
          </a:lstStyle>
          <a:p>
            <a:fld id="{C5B28EE7-B58F-403F-A003-4AB3802B1384}" type="datetimeFigureOut">
              <a:rPr lang="en-US" smtClean="0"/>
              <a:pPr/>
              <a:t>4/15/2026</a:t>
            </a:fld>
            <a:endParaRPr lang="en-US"/>
          </a:p>
        </p:txBody>
      </p:sp>
      <p:sp>
        <p:nvSpPr>
          <p:cNvPr id="4" name="Slide Image Placeholder 3"/>
          <p:cNvSpPr>
            <a:spLocks noChangeAspect="1" noGrp="1" noRot="1"/>
          </p:cNvSpPr>
          <p:nvPr>
            <p:ph idx="2" type="sldImg"/>
          </p:nvPr>
        </p:nvSpPr>
        <p:spPr>
          <a:xfrm>
            <a:off x="1143000" y="685800"/>
            <a:ext cx="4572000" cy="3429000"/>
          </a:xfrm>
          <a:prstGeom prst="rect">
            <a:avLst/>
          </a:prstGeom>
          <a:noFill/>
          <a:ln w="12700">
            <a:solidFill>
              <a:prstClr val="black"/>
            </a:solidFill>
          </a:ln>
        </p:spPr>
        <p:txBody>
          <a:bodyPr anchor="ctr" bIns="45720" lIns="91440" numCol="1" rIns="91440" rtlCol="0" tIns="45720" vert="horz"/>
          <a:lstStyle/>
          <a:p>
            <a:endParaRPr lang="en-US"/>
          </a:p>
        </p:txBody>
      </p:sp>
      <p:sp>
        <p:nvSpPr>
          <p:cNvPr id="5" name="Notes Placeholder 4"/>
          <p:cNvSpPr>
            <a:spLocks noGrp="1"/>
          </p:cNvSpPr>
          <p:nvPr>
            <p:ph idx="3" sz="quarter" type="body"/>
          </p:nvPr>
        </p:nvSpPr>
        <p:spPr>
          <a:xfrm>
            <a:off x="685800" y="4343400"/>
            <a:ext cx="5486400" cy="4114800"/>
          </a:xfrm>
          <a:prstGeom prst="rect">
            <a:avLst/>
          </a:prstGeom>
        </p:spPr>
        <p:txBody>
          <a:bodyPr bIns="45720" lIns="91440" numCol="1"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7200"/>
          </a:xfrm>
          <a:prstGeom prst="rect">
            <a:avLst/>
          </a:prstGeom>
        </p:spPr>
        <p:txBody>
          <a:bodyPr anchor="b" bIns="45720" lIns="91440" numCol="1"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7200"/>
          </a:xfrm>
          <a:prstGeom prst="rect">
            <a:avLst/>
          </a:prstGeom>
        </p:spPr>
        <p:txBody>
          <a:bodyPr anchor="b" bIns="45720" lIns="91440" numCol="1" rIns="91440" rtlCol="0" tIns="45720" vert="horz"/>
          <a:lstStyle>
            <a:lvl1pPr algn="r">
              <a:defRPr sz="1200"/>
            </a:lvl1pPr>
          </a:lstStyle>
          <a:p>
            <a:fld id="{AC95D1F0-9AFA-460E-B113-597C616689EA}" type="slidenum">
              <a:rPr lang="en-US" smtClean="0"/>
              <a:pPr/>
              <a:t>‹#›</a:t>
            </a:fld>
            <a:endParaRPr lang="en-US"/>
          </a:p>
        </p:txBody>
      </p:sp>
    </p:spTree>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arget="../slides/slide3.xml" Type="http://schemas.openxmlformats.org/officeDocument/2006/relationships/slide"/><Relationship Id="rId1" Target="../notesMasters/notesMaster1.xml" Type="http://schemas.openxmlformats.org/officeDocument/2006/relationships/notesMaster"/></Relationships>
</file>

<file path=ppt/notesSlides/_rels/notesSlide2.xml.rels><?xml version="1.0" encoding="UTF-8" standalone="yes"?><Relationships xmlns="http://schemas.openxmlformats.org/package/2006/relationships"><Relationship Id="rId2" Target="../slides/slide8.xml" Type="http://schemas.openxmlformats.org/officeDocument/2006/relationships/slide"/><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normAutofit/>
          </a:bodyPr>
          <a:lstStyle/>
          <a:p>
            <a:endParaRPr dirty="0" lang="en-US"/>
          </a:p>
        </p:txBody>
      </p:sp>
      <p:sp>
        <p:nvSpPr>
          <p:cNvPr id="4" name="Slide Number Placeholder 3"/>
          <p:cNvSpPr>
            <a:spLocks noGrp="1"/>
          </p:cNvSpPr>
          <p:nvPr>
            <p:ph idx="10" sz="quarter" type="sldNum"/>
          </p:nvPr>
        </p:nvSpPr>
        <p:spPr/>
        <p:txBody>
          <a:bodyPr numCol="1"/>
          <a:lstStyle/>
          <a:p>
            <a:fld id="{AC95D1F0-9AFA-460E-B113-597C616689EA}"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idx="1" type="body"/>
          </p:nvPr>
        </p:nvSpPr>
        <p:spPr/>
        <p:txBody>
          <a:bodyPr numCol="1">
            <a:normAutofit/>
          </a:bodyPr>
          <a:lstStyle/>
          <a:p>
            <a:r>
              <a:rPr b="1" dirty="0" lang="en-US" smtClean="0"/>
              <a:t>Data resiliency</a:t>
            </a:r>
            <a:r>
              <a:rPr dirty="0" lang="en-US" smtClean="0"/>
              <a:t> is the ability of a system to </a:t>
            </a:r>
            <a:r>
              <a:rPr b="1" dirty="0" lang="en-US" smtClean="0"/>
              <a:t>protect data and keep it available</a:t>
            </a:r>
            <a:r>
              <a:rPr dirty="0" lang="en-US" smtClean="0"/>
              <a:t> even in case of failures, errors, or disasters.</a:t>
            </a:r>
            <a:endParaRPr dirty="0" lang="en-US"/>
          </a:p>
        </p:txBody>
      </p:sp>
      <p:sp>
        <p:nvSpPr>
          <p:cNvPr id="4" name="Slide Number Placeholder 3"/>
          <p:cNvSpPr>
            <a:spLocks noGrp="1"/>
          </p:cNvSpPr>
          <p:nvPr>
            <p:ph idx="10" sz="quarter" type="sldNum"/>
          </p:nvPr>
        </p:nvSpPr>
        <p:spPr/>
        <p:txBody>
          <a:bodyPr numCol="1"/>
          <a:lstStyle/>
          <a:p>
            <a:fld id="{AC95D1F0-9AFA-460E-B113-597C616689EA}"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numCol="1"/>
          <a:lstStyle/>
          <a:p>
            <a:r>
              <a:rPr lang="en-US" smtClean="0"/>
              <a:t>Click to edit Master title style</a:t>
            </a:r>
            <a:endParaRPr lang="en-US"/>
          </a:p>
        </p:txBody>
      </p:sp>
      <p:sp>
        <p:nvSpPr>
          <p:cNvPr id="3" name="Subtitle 2"/>
          <p:cNvSpPr>
            <a:spLocks noGrp="1"/>
          </p:cNvSpPr>
          <p:nvPr>
            <p:ph idx="1" type="subTitle"/>
          </p:nvPr>
        </p:nvSpPr>
        <p:spPr>
          <a:xfrm>
            <a:off x="1371600" y="3886200"/>
            <a:ext cx="6400800" cy="1752600"/>
          </a:xfrm>
        </p:spPr>
        <p:txBody>
          <a:bodyPr numCol="1"/>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p:nvPr>
        </p:nvSpPr>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numCol="1"/>
          <a:lstStyle>
            <a:lvl1pPr algn="l">
              <a:defRPr b="1" cap="all" sz="4000"/>
            </a:lvl1pPr>
          </a:lstStyle>
          <a:p>
            <a:r>
              <a:rPr lang="en-US" smtClean="0"/>
              <a:t>Click to edit Master title style</a:t>
            </a:r>
            <a:endParaRPr lang="en-US"/>
          </a:p>
        </p:txBody>
      </p:sp>
      <p:sp>
        <p:nvSpPr>
          <p:cNvPr id="3" name="Text Placeholder 2"/>
          <p:cNvSpPr>
            <a:spLocks noGrp="1"/>
          </p:cNvSpPr>
          <p:nvPr>
            <p:ph idx="1" type="body"/>
          </p:nvPr>
        </p:nvSpPr>
        <p:spPr>
          <a:xfrm>
            <a:off x="722313" y="2906713"/>
            <a:ext cx="7772400" cy="1500187"/>
          </a:xfrm>
        </p:spPr>
        <p:txBody>
          <a:bodyPr anchor="b" numCol="1"/>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sz="half"/>
          </p:nvPr>
        </p:nvSpPr>
        <p:spPr>
          <a:xfrm>
            <a:off x="457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idx="2" sz="half"/>
          </p:nvPr>
        </p:nvSpPr>
        <p:spPr>
          <a:xfrm>
            <a:off x="4648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lvl1pPr>
          </a:lstStyle>
          <a:p>
            <a:r>
              <a:rPr lang="en-US" smtClean="0"/>
              <a:t>Click to edit Master title style</a:t>
            </a:r>
            <a:endParaRPr lang="en-US"/>
          </a:p>
        </p:txBody>
      </p:sp>
      <p:sp>
        <p:nvSpPr>
          <p:cNvPr id="3" name="Text Placeholder 2"/>
          <p:cNvSpPr>
            <a:spLocks noGrp="1"/>
          </p:cNvSpPr>
          <p:nvPr>
            <p:ph idx="1" type="body"/>
          </p:nvPr>
        </p:nvSpPr>
        <p:spPr>
          <a:xfrm>
            <a:off x="457200" y="1535113"/>
            <a:ext cx="4040188" cy="63976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4" name="Content Placeholder 3"/>
          <p:cNvSpPr>
            <a:spLocks noGrp="1"/>
          </p:cNvSpPr>
          <p:nvPr>
            <p:ph idx="2" sz="half"/>
          </p:nvPr>
        </p:nvSpPr>
        <p:spPr>
          <a:xfrm>
            <a:off x="457200" y="2174875"/>
            <a:ext cx="4040188"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idx="3" sz="quarter" type="body"/>
          </p:nvPr>
        </p:nvSpPr>
        <p:spPr>
          <a:xfrm>
            <a:off x="4645025" y="1535113"/>
            <a:ext cx="4041775" cy="63976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6" name="Content Placeholder 5"/>
          <p:cNvSpPr>
            <a:spLocks noGrp="1"/>
          </p:cNvSpPr>
          <p:nvPr>
            <p:ph idx="4" sz="quarter"/>
          </p:nvPr>
        </p:nvSpPr>
        <p:spPr>
          <a:xfrm>
            <a:off x="4645025" y="2174875"/>
            <a:ext cx="4041775"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8" name="Footer Placeholder 7"/>
          <p:cNvSpPr>
            <a:spLocks noGrp="1"/>
          </p:cNvSpPr>
          <p:nvPr>
            <p:ph idx="11" sz="quarter" type="ftr"/>
          </p:nvPr>
        </p:nvSpPr>
        <p:spPr/>
        <p:txBody>
          <a:bodyPr numCol="1"/>
          <a:lstStyle/>
          <a:p>
            <a:endParaRPr lang="en-US"/>
          </a:p>
        </p:txBody>
      </p:sp>
      <p:sp>
        <p:nvSpPr>
          <p:cNvPr id="9" name="Slide Number Placeholder 8"/>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Date Placeholder 2"/>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4" name="Footer Placeholder 3"/>
          <p:cNvSpPr>
            <a:spLocks noGrp="1"/>
          </p:cNvSpPr>
          <p:nvPr>
            <p:ph idx="11" sz="quarter" type="ftr"/>
          </p:nvPr>
        </p:nvSpPr>
        <p:spPr/>
        <p:txBody>
          <a:bodyPr numCol="1"/>
          <a:lstStyle/>
          <a:p>
            <a:endParaRPr lang="en-US"/>
          </a:p>
        </p:txBody>
      </p:sp>
      <p:sp>
        <p:nvSpPr>
          <p:cNvPr id="5" name="Slide Number Placeholder 4"/>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 name=""/>
        <p:cNvGrpSpPr/>
        <p:nvPr/>
      </p:nvGrpSpPr>
      <p:grpSpPr>
        <a:xfrm>
          <a:off x="0" y="0"/>
          <a:ext cx="0" cy="0"/>
          <a:chOff x="0" y="0"/>
          <a:chExt cx="0" cy="0"/>
        </a:xfrm>
      </p:grpSpPr>
      <p:sp>
        <p:nvSpPr>
          <p:cNvPr id="2" name="Date Placeholder 1"/>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3" name="Footer Placeholder 2"/>
          <p:cNvSpPr>
            <a:spLocks noGrp="1"/>
          </p:cNvSpPr>
          <p:nvPr>
            <p:ph idx="11" sz="quarter" type="ftr"/>
          </p:nvPr>
        </p:nvSpPr>
        <p:spPr/>
        <p:txBody>
          <a:bodyPr numCol="1"/>
          <a:lstStyle/>
          <a:p>
            <a:endParaRPr lang="en-US"/>
          </a:p>
        </p:txBody>
      </p:sp>
      <p:sp>
        <p:nvSpPr>
          <p:cNvPr id="4" name="Slide Number Placeholder 3"/>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numCol="1"/>
          <a:lstStyle>
            <a:lvl1pPr algn="l">
              <a:defRPr b="1" sz="2000"/>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numCol="1"/>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idx="2" sz="half" type="body"/>
          </p:nvPr>
        </p:nvSpPr>
        <p:spPr>
          <a:xfrm>
            <a:off x="457200" y="1435100"/>
            <a:ext cx="3008313" cy="4691063"/>
          </a:xfrm>
        </p:spPr>
        <p:txBody>
          <a:bodyPr numCol="1"/>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numCol="1"/>
          <a:lstStyle>
            <a:lvl1pPr algn="l">
              <a:defRPr b="1" sz="2000"/>
            </a:lvl1pPr>
          </a:lstStyle>
          <a:p>
            <a:r>
              <a:rPr lang="en-US" smtClean="0"/>
              <a:t>Click to edit Master title style</a:t>
            </a:r>
            <a:endParaRPr lang="en-US"/>
          </a:p>
        </p:txBody>
      </p:sp>
      <p:sp>
        <p:nvSpPr>
          <p:cNvPr id="3" name="Picture Placeholder 2"/>
          <p:cNvSpPr>
            <a:spLocks noGrp="1"/>
          </p:cNvSpPr>
          <p:nvPr>
            <p:ph idx="1" type="pic"/>
          </p:nvPr>
        </p:nvSpPr>
        <p:spPr>
          <a:xfrm>
            <a:off x="1792288" y="612775"/>
            <a:ext cx="5486400" cy="4114800"/>
          </a:xfrm>
        </p:spPr>
        <p:txBody>
          <a:bodyPr numCol="1"/>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4" name="Text Placeholder 3"/>
          <p:cNvSpPr>
            <a:spLocks noGrp="1"/>
          </p:cNvSpPr>
          <p:nvPr>
            <p:ph idx="2" sz="half" type="body"/>
          </p:nvPr>
        </p:nvSpPr>
        <p:spPr>
          <a:xfrm>
            <a:off x="1792288" y="5367338"/>
            <a:ext cx="5486400" cy="804862"/>
          </a:xfrm>
        </p:spPr>
        <p:txBody>
          <a:bodyPr numCol="1"/>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Vertical Text Placeholder 2"/>
          <p:cNvSpPr>
            <a:spLocks noGrp="1"/>
          </p:cNvSpPr>
          <p:nvPr>
            <p:ph idx="1" orient="vert" type="body"/>
          </p:nvPr>
        </p:nvSpPr>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orient="vert" type="title"/>
          </p:nvPr>
        </p:nvSpPr>
        <p:spPr>
          <a:xfrm>
            <a:off x="6629400" y="274638"/>
            <a:ext cx="2057400" cy="5851525"/>
          </a:xfrm>
        </p:spPr>
        <p:txBody>
          <a:bodyPr numCol="1" vert="eaVert"/>
          <a:lstStyle/>
          <a:p>
            <a:r>
              <a:rPr lang="en-US" smtClean="0"/>
              <a:t>Click to edit Master title style</a:t>
            </a:r>
            <a:endParaRPr lang="en-US"/>
          </a:p>
        </p:txBody>
      </p:sp>
      <p:sp>
        <p:nvSpPr>
          <p:cNvPr id="3" name="Vertical Text Placeholder 2"/>
          <p:cNvSpPr>
            <a:spLocks noGrp="1"/>
          </p:cNvSpPr>
          <p:nvPr>
            <p:ph idx="1" orient="vert" type="body"/>
          </p:nvPr>
        </p:nvSpPr>
        <p:spPr>
          <a:xfrm>
            <a:off x="457200" y="274638"/>
            <a:ext cx="6019800" cy="5851525"/>
          </a:xfrm>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EDFAAE49-CC3A-43D7-A76A-54C9C86B53CB}" type="datetimeFigureOut">
              <a:rPr lang="en-US" smtClean="0"/>
              <a:pPr/>
              <a:t>4/15/2026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148A2E7A-6588-44EA-BA74-88965EE34C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anchor="ctr" bIns="45720" lIns="91440" numCol="1" rIns="91440" rtlCol="0" tIns="45720" vert="horz">
            <a:normAutofit/>
          </a:bodyPr>
          <a:lstStyle/>
          <a:p>
            <a:r>
              <a:rPr lang="en-US" smtClean="0"/>
              <a:t>Click to edit Master title style</a:t>
            </a:r>
            <a:endParaRPr lang="en-US"/>
          </a:p>
        </p:txBody>
      </p:sp>
      <p:sp>
        <p:nvSpPr>
          <p:cNvPr id="3" name="Text Placeholder 2"/>
          <p:cNvSpPr>
            <a:spLocks noGrp="1"/>
          </p:cNvSpPr>
          <p:nvPr>
            <p:ph idx="1" type="body"/>
          </p:nvPr>
        </p:nvSpPr>
        <p:spPr>
          <a:xfrm>
            <a:off x="457200" y="1600200"/>
            <a:ext cx="8229600" cy="4525963"/>
          </a:xfrm>
          <a:prstGeom prst="rect">
            <a:avLst/>
          </a:prstGeom>
        </p:spPr>
        <p:txBody>
          <a:bodyPr bIns="45720" lIns="91440" numCol="1"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2" sz="half" type="dt"/>
          </p:nvPr>
        </p:nvSpPr>
        <p:spPr>
          <a:xfrm>
            <a:off x="457200" y="6356350"/>
            <a:ext cx="2133600" cy="365125"/>
          </a:xfrm>
          <a:prstGeom prst="rect">
            <a:avLst/>
          </a:prstGeom>
        </p:spPr>
        <p:txBody>
          <a:bodyPr anchor="ctr" bIns="45720" lIns="91440" numCol="1" rIns="91440" rtlCol="0" tIns="45720" vert="horz"/>
          <a:lstStyle>
            <a:lvl1pPr algn="l">
              <a:defRPr sz="1200">
                <a:solidFill>
                  <a:schemeClr val="tx1">
                    <a:tint val="75000"/>
                  </a:schemeClr>
                </a:solidFill>
              </a:defRPr>
            </a:lvl1pPr>
          </a:lstStyle>
          <a:p>
            <a:fld id="{EDFAAE49-CC3A-43D7-A76A-54C9C86B53CB}" type="datetimeFigureOut">
              <a:rPr lang="en-US" smtClean="0"/>
              <a:pPr/>
              <a:t>4/15/2026</a:t>
            </a:fld>
            <a:endParaRPr lang="en-US"/>
          </a:p>
        </p:txBody>
      </p:sp>
      <p:sp>
        <p:nvSpPr>
          <p:cNvPr id="5" name="Footer Placeholder 4"/>
          <p:cNvSpPr>
            <a:spLocks noGrp="1"/>
          </p:cNvSpPr>
          <p:nvPr>
            <p:ph idx="3" sz="quarter" type="ftr"/>
          </p:nvPr>
        </p:nvSpPr>
        <p:spPr>
          <a:xfrm>
            <a:off x="3124200" y="6356350"/>
            <a:ext cx="2895600" cy="365125"/>
          </a:xfrm>
          <a:prstGeom prst="rect">
            <a:avLst/>
          </a:prstGeom>
        </p:spPr>
        <p:txBody>
          <a:bodyPr anchor="ctr" bIns="45720" lIns="91440" numCol="1" rIns="91440" rtlCol="0" tIns="45720" vert="horz"/>
          <a:lstStyle>
            <a:lvl1pPr algn="ctr">
              <a:defRPr sz="12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6356350"/>
            <a:ext cx="2133600" cy="365125"/>
          </a:xfrm>
          <a:prstGeom prst="rect">
            <a:avLst/>
          </a:prstGeom>
        </p:spPr>
        <p:txBody>
          <a:bodyPr anchor="ctr" bIns="45720" lIns="91440" numCol="1" rIns="91440" rtlCol="0" tIns="45720" vert="horz"/>
          <a:lstStyle>
            <a:lvl1pPr algn="r">
              <a:defRPr sz="1200">
                <a:solidFill>
                  <a:schemeClr val="tx1">
                    <a:tint val="75000"/>
                  </a:schemeClr>
                </a:solidFill>
              </a:defRPr>
            </a:lvl1pPr>
          </a:lstStyle>
          <a:p>
            <a:fld id="{148A2E7A-6588-44EA-BA74-88965EE34CA7}" type="slidenum">
              <a:rPr lang="en-US" smtClean="0"/>
              <a:pPr/>
              <a:t>‹#›</a:t>
            </a:fld>
            <a:endParaRPr lang="en-US"/>
          </a:p>
        </p:txBody>
      </p:sp>
    </p:spTree>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algn="ctr" defTabSz="914400" eaLnBrk="1" hangingPunct="1" latinLnBrk="0" rtl="0">
        <a:spcBef>
          <a:spcPct val="0"/>
        </a:spcBef>
        <a:buNone/>
        <a:defRPr kern="1200" sz="4400">
          <a:solidFill>
            <a:schemeClr val="tx1"/>
          </a:solidFill>
          <a:latin typeface="+mj-lt"/>
          <a:ea typeface="+mj-ea"/>
          <a:cs typeface="+mj-cs"/>
        </a:defRPr>
      </a:lvl1pPr>
    </p:titleStyle>
    <p:bodyStyle>
      <a:lvl1pPr algn="l" defTabSz="914400" eaLnBrk="1" hangingPunct="1" indent="-342900" latinLnBrk="0" marL="342900" rtl="0">
        <a:spcBef>
          <a:spcPct val="20000"/>
        </a:spcBef>
        <a:buFont charset="0" pitchFamily="34" typeface="Arial"/>
        <a:buChar char="•"/>
        <a:defRPr kern="1200" sz="3200">
          <a:solidFill>
            <a:schemeClr val="tx1"/>
          </a:solidFill>
          <a:latin typeface="+mn-lt"/>
          <a:ea typeface="+mn-ea"/>
          <a:cs typeface="+mn-cs"/>
        </a:defRPr>
      </a:lvl1pPr>
      <a:lvl2pPr algn="l" defTabSz="914400" eaLnBrk="1" hangingPunct="1" indent="-285750" latinLnBrk="0" marL="742950" rtl="0">
        <a:spcBef>
          <a:spcPct val="20000"/>
        </a:spcBef>
        <a:buFont charset="0" pitchFamily="34" typeface="Arial"/>
        <a:buChar char="–"/>
        <a:defRPr kern="1200" sz="2800">
          <a:solidFill>
            <a:schemeClr val="tx1"/>
          </a:solidFill>
          <a:latin typeface="+mn-lt"/>
          <a:ea typeface="+mn-ea"/>
          <a:cs typeface="+mn-cs"/>
        </a:defRPr>
      </a:lvl2pPr>
      <a:lvl3pPr algn="l" defTabSz="914400" eaLnBrk="1" hangingPunct="1" indent="-228600" latinLnBrk="0" marL="1143000" rtl="0">
        <a:spcBef>
          <a:spcPct val="20000"/>
        </a:spcBef>
        <a:buFont charset="0" pitchFamily="34" typeface="Arial"/>
        <a:buChar char="•"/>
        <a:defRPr kern="1200" sz="2400">
          <a:solidFill>
            <a:schemeClr val="tx1"/>
          </a:solidFill>
          <a:latin typeface="+mn-lt"/>
          <a:ea typeface="+mn-ea"/>
          <a:cs typeface="+mn-cs"/>
        </a:defRPr>
      </a:lvl3pPr>
      <a:lvl4pPr algn="l" defTabSz="914400" eaLnBrk="1" hangingPunct="1" indent="-228600" latinLnBrk="0" marL="1600200" rtl="0">
        <a:spcBef>
          <a:spcPct val="20000"/>
        </a:spcBef>
        <a:buFont charset="0" pitchFamily="34" typeface="Arial"/>
        <a:buChar char="–"/>
        <a:defRPr kern="1200" sz="2000">
          <a:solidFill>
            <a:schemeClr val="tx1"/>
          </a:solidFill>
          <a:latin typeface="+mn-lt"/>
          <a:ea typeface="+mn-ea"/>
          <a:cs typeface="+mn-cs"/>
        </a:defRPr>
      </a:lvl4pPr>
      <a:lvl5pPr algn="l" defTabSz="914400" eaLnBrk="1" hangingPunct="1" indent="-228600" latinLnBrk="0" marL="2057400" rtl="0">
        <a:spcBef>
          <a:spcPct val="20000"/>
        </a:spcBef>
        <a:buFont charset="0" pitchFamily="34" typeface="Arial"/>
        <a:buChar char="»"/>
        <a:defRPr kern="1200" sz="2000">
          <a:solidFill>
            <a:schemeClr val="tx1"/>
          </a:solidFill>
          <a:latin typeface="+mn-lt"/>
          <a:ea typeface="+mn-ea"/>
          <a:cs typeface="+mn-cs"/>
        </a:defRPr>
      </a:lvl5pPr>
      <a:lvl6pPr algn="l" defTabSz="914400" eaLnBrk="1" hangingPunct="1" indent="-228600" latinLnBrk="0" marL="2514600" rtl="0">
        <a:spcBef>
          <a:spcPct val="20000"/>
        </a:spcBef>
        <a:buFont charset="0"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itchFamily="34" typeface="Arial"/>
        <a:buChar char="•"/>
        <a:defRPr kern="1200" sz="20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3" Target="../media/image2.png" Type="http://schemas.openxmlformats.org/officeDocument/2006/relationships/image"/><Relationship Id="rId2" Target="../media/image1.png" Type="http://schemas.openxmlformats.org/officeDocument/2006/relationships/image"/><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4" Target="../media/image4.png" Type="http://schemas.openxmlformats.org/officeDocument/2006/relationships/image"/><Relationship Id="rId3" Target="../media/image3.png" Type="http://schemas.openxmlformats.org/officeDocument/2006/relationships/image"/><Relationship Id="rId2" Target="../notesSlides/notesSlide1.xml" Type="http://schemas.openxmlformats.org/officeDocument/2006/relationships/notesSlide"/><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5.png" Type="http://schemas.openxmlformats.org/officeDocument/2006/relationships/image"/><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6.pn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2" Target="../media/image7.png" Type="http://schemas.openxmlformats.org/officeDocument/2006/relationships/image"/><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3" Target="../media/image8.png" Type="http://schemas.openxmlformats.org/officeDocument/2006/relationships/image"/><Relationship Id="rId2" Target="../notesSlides/notesSlide2.xml" Type="http://schemas.openxmlformats.org/officeDocument/2006/relationships/notesSlide"/><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9.png" Type="http://schemas.openxmlformats.org/officeDocument/2006/relationships/image"/><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2" Target="../media/image10.png" Type="http://schemas.openxmlformats.org/officeDocument/2006/relationships/image"/><Relationship Id="rId1" Target="../slideLayouts/slideLayout7.xml" Type="http://schemas.openxmlformats.org/officeDocument/2006/relationships/slideLayout"/></Relationships>
</file>

<file path=ppt/slides/_rels/slide11.xml.rels><?xml version="1.0" encoding="UTF-8" standalone="yes"?><Relationships xmlns="http://schemas.openxmlformats.org/package/2006/relationships"><Relationship Id="rId2" Target="../media/image11.png" Type="http://schemas.openxmlformats.org/officeDocument/2006/relationships/image"/><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3" Target="../media/image13.png" Type="http://schemas.openxmlformats.org/officeDocument/2006/relationships/image"/><Relationship Id="rId2" Target="../media/image12.png" Type="http://schemas.openxmlformats.org/officeDocument/2006/relationships/image"/><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2" Target="../media/image14.png" Type="http://schemas.openxmlformats.org/officeDocument/2006/relationships/image"/><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2" Target="../media/image15.png" Type="http://schemas.openxmlformats.org/officeDocument/2006/relationships/image"/><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2" Target="../media/image16.png" Type="http://schemas.openxmlformats.org/officeDocument/2006/relationships/image"/><Relationship Id="rId1" Target="../slideLayouts/slideLayout2.xml" Type="http://schemas.openxmlformats.org/officeDocument/2006/relationships/slideLayout"/></Relationships>
</file>

<file path=ppt/slides/_rels/slide16.xml.rels><?xml version="1.0" encoding="UTF-8" standalone="yes"?><Relationships xmlns="http://schemas.openxmlformats.org/package/2006/relationships"><Relationship Id="rId3" Target="../media/image18.png" Type="http://schemas.openxmlformats.org/officeDocument/2006/relationships/image"/><Relationship Id="rId2" Target="../media/image17.png" Type="http://schemas.openxmlformats.org/officeDocument/2006/relationships/image"/><Relationship Id="rId1" Target="../slideLayouts/slideLayout7.xml" Type="http://schemas.openxmlformats.org/officeDocument/2006/relationships/slideLayout"/></Relationships>
</file>

<file path=ppt/slides/_rels/slide17.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<Relationships xmlns="http://schemas.openxmlformats.org/package/2006/relationships"><Relationship Id="rId2" Target="../media/image19.png" Type="http://schemas.openxmlformats.org/officeDocument/2006/relationships/image"/><Relationship Id="rId1" Target="../slideLayouts/slideLayout2.xml" Type="http://schemas.openxmlformats.org/officeDocument/2006/relationships/slideLayout"/></Relationships>
</file>

<file path=ppt/slides/_rels/slide20.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<Relationships xmlns="http://schemas.openxmlformats.org/package/2006/relationships"><Relationship Id="rId2" Target="../media/image20.png" Type="http://schemas.openxmlformats.org/officeDocument/2006/relationships/image"/><Relationship Id="rId1" Target="../slideLayouts/slideLayout2.xml" Type="http://schemas.openxmlformats.org/officeDocument/2006/relationships/slideLayout"/></Relationships>
</file>

<file path=ppt/slides/_rels/slide24.xml.rels><?xml version="1.0" encoding="UTF-8" standalone="yes"?><Relationships xmlns="http://schemas.openxmlformats.org/package/2006/relationships"><Relationship Id="rId3" Target="../media/image22.png" Type="http://schemas.openxmlformats.org/officeDocument/2006/relationships/image"/><Relationship Id="rId2" Target="../media/image21.png" Type="http://schemas.openxmlformats.org/officeDocument/2006/relationships/image"/><Relationship Id="rId1" Target="../slideLayouts/slideLayout7.xml" Type="http://schemas.openxmlformats.org/officeDocument/2006/relationships/slideLayout"/></Relationships>
</file>

<file path=ppt/slides/_rels/slide25.xml.rels><?xml version="1.0" encoding="UTF-8" standalone="yes"?><Relationships xmlns="http://schemas.openxmlformats.org/package/2006/relationships"><Relationship Id="rId2" Target="../media/image23.png" Type="http://schemas.openxmlformats.org/officeDocument/2006/relationships/image"/><Relationship Id="rId1" Target="../slideLayouts/slideLayout2.xml" Type="http://schemas.openxmlformats.org/officeDocument/2006/relationships/slideLayout"/></Relationships>
</file>

<file path=ppt/slides/_rels/slide26.xml.rels><?xml version="1.0" encoding="UTF-8" standalone="yes"?><Relationships xmlns="http://schemas.openxmlformats.org/package/2006/relationships"><Relationship Id="rId4" Target="../media/image26.png" Type="http://schemas.openxmlformats.org/officeDocument/2006/relationships/image"/><Relationship Id="rId3" Target="../media/image25.png" Type="http://schemas.openxmlformats.org/officeDocument/2006/relationships/image"/><Relationship Id="rId2" Target="../media/image24.png" Type="http://schemas.openxmlformats.org/officeDocument/2006/relationships/image"/><Relationship Id="rId1" Target="../slideLayouts/slideLayout7.xml" Type="http://schemas.openxmlformats.org/officeDocument/2006/relationships/slideLayout"/></Relationships>
</file>

<file path=ppt/slides/_rels/slide27.xml.rels><?xml version="1.0" encoding="UTF-8" standalone="yes"?><Relationships xmlns="http://schemas.openxmlformats.org/package/2006/relationships"><Relationship Id="rId2" Target="../media/image27.png" Type="http://schemas.openxmlformats.org/officeDocument/2006/relationships/image"/><Relationship Id="rId1" Target="../slideLayouts/slideLayout2.xml" Type="http://schemas.openxmlformats.org/officeDocument/2006/relationships/slideLayout"/></Relationships>
</file>

<file path=ppt/slides/_rels/slide28.xml.rels><?xml version="1.0" encoding="UTF-8" standalone="yes"?><Relationships xmlns="http://schemas.openxmlformats.org/package/2006/relationships"><Relationship Id="rId3" Target="../media/image29.png" Type="http://schemas.openxmlformats.org/officeDocument/2006/relationships/image"/><Relationship Id="rId2" Target="../media/image28.png" Type="http://schemas.openxmlformats.org/officeDocument/2006/relationships/image"/><Relationship Id="rId1" Target="../slideLayouts/slideLayout7.xml" Type="http://schemas.openxmlformats.org/officeDocument/2006/relationships/slideLayout"/></Relationships>
</file>

<file path=ppt/slides/_rels/slide29.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2.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<Relationships xmlns="http://schemas.openxmlformats.org/package/2006/relationships"><Relationship Id="rId3" Target="../media/image31.png" Type="http://schemas.openxmlformats.org/officeDocument/2006/relationships/image"/><Relationship Id="rId2" Target="../media/image30.png" Type="http://schemas.openxmlformats.org/officeDocument/2006/relationships/image"/><Relationship Id="rId1" Target="../slideLayouts/slideLayout2.xml" Type="http://schemas.openxmlformats.org/officeDocument/2006/relationships/slideLayout"/></Relationships>
</file>

<file path=ppt/slides/_rels/slide3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numCol="1">
            <a:normAutofit fontScale="90000"/>
          </a:bodyPr>
          <a:lstStyle/>
          <a:p>
            <a:r>
              <a:rPr b="1" dirty="0" lang="en-US" smtClean="0" sz="4800"/>
              <a:t>Database Scaling:</a:t>
            </a:r>
            <a:br>
              <a:rPr b="1" dirty="0" lang="en-US" smtClean="0" sz="4800"/>
            </a:br>
            <a:r>
              <a:rPr b="1" dirty="0" lang="en-US" smtClean="0" sz="4800"/>
              <a:t>Replication and </a:t>
            </a:r>
            <a:r>
              <a:rPr b="1" dirty="0" lang="en-US" sz="4800"/>
              <a:t>S</a:t>
            </a:r>
            <a:r>
              <a:rPr b="1" dirty="0" lang="en-US" smtClean="0" sz="4800"/>
              <a:t>harding</a:t>
            </a:r>
            <a:endParaRPr b="1" dirty="0" lang="en-US" sz="4800"/>
          </a:p>
        </p:txBody>
      </p:sp>
    </p:spTree>
  </p:cSld>
  <p:clrMapOvr>
    <a:masterClrMapping/>
  </p:clrMapOvr>
  <p:timing>
    <p:tnLst>
      <p:par>
        <p:cTn dur="indefinite" id="1" nodeType="tmRoot" restart="never"/>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numCol="1">
            <a:normAutofit fontScale="90000"/>
          </a:bodyPr>
          <a:lstStyle/>
          <a:p>
            <a:r>
              <a:rPr dirty="0" lang="en-US" smtClean="0"/>
              <a:t>Managing database for availability and performance</a:t>
            </a:r>
            <a:endParaRPr dirty="0" lang="en-US"/>
          </a:p>
        </p:txBody>
      </p:sp>
      <p:pic>
        <p:nvPicPr>
          <p:cNvPr id="1026" name="Picture 2"/>
          <p:cNvPicPr>
            <a:picLocks noChangeArrowheads="1" noChangeAspect="1"/>
          </p:cNvPicPr>
          <p:nvPr/>
        </p:nvPicPr>
        <p:blipFill>
          <a:blip cstate="print" r:embed="rId2"/>
          <a:srcRect/>
          <a:stretch>
            <a:fillRect/>
          </a:stretch>
        </p:blipFill>
        <p:spPr>
          <a:xfrm>
            <a:off x="500033" y="1603442"/>
            <a:ext cx="8358247" cy="1673157"/>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152400" y="3733800"/>
            <a:ext cx="8546592" cy="9144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Database Scaling</a:t>
            </a:r>
            <a:endParaRPr b="1" dirty="0" lang="en-US" sz="3200"/>
          </a:p>
        </p:txBody>
      </p:sp>
      <p:pic>
        <p:nvPicPr>
          <p:cNvPr id="7170" name="Picture 2"/>
          <p:cNvPicPr>
            <a:picLocks noChangeArrowheads="1" noChangeAspect="1"/>
          </p:cNvPicPr>
          <p:nvPr/>
        </p:nvPicPr>
        <p:blipFill>
          <a:blip cstate="print" r:embed="rId3"/>
          <a:srcRect/>
          <a:stretch>
            <a:fillRect/>
          </a:stretch>
        </p:blipFill>
        <p:spPr>
          <a:xfrm>
            <a:off x="0" y="533400"/>
            <a:ext cx="4267200" cy="3117030"/>
          </a:xfrm>
          <a:prstGeom prst="rect">
            <a:avLst/>
          </a:prstGeom>
          <a:noFill/>
          <a:ln w="9525">
            <a:noFill/>
            <a:miter lim="800000"/>
            <a:headEnd/>
            <a:tailEnd/>
          </a:ln>
        </p:spPr>
      </p:pic>
      <p:pic>
        <p:nvPicPr>
          <p:cNvPr id="7171" name="Picture 3"/>
          <p:cNvPicPr>
            <a:picLocks noChangeArrowheads="1" noChangeAspect="1"/>
          </p:cNvPicPr>
          <p:nvPr/>
        </p:nvPicPr>
        <p:blipFill>
          <a:blip cstate="print" r:embed="rId4"/>
          <a:srcRect/>
          <a:stretch>
            <a:fillRect/>
          </a:stretch>
        </p:blipFill>
        <p:spPr>
          <a:xfrm>
            <a:off x="4549071" y="533400"/>
            <a:ext cx="4594929" cy="3252788"/>
          </a:xfrm>
          <a:prstGeom prst="rect">
            <a:avLst/>
          </a:prstGeom>
          <a:noFill/>
          <a:ln w="9525">
            <a:noFill/>
            <a:miter lim="800000"/>
            <a:headEnd/>
            <a:tailEnd/>
          </a:ln>
        </p:spPr>
      </p:pic>
      <p:sp>
        <p:nvSpPr>
          <p:cNvPr id="6" name="Rectangle 5"/>
          <p:cNvSpPr/>
          <p:nvPr/>
        </p:nvSpPr>
        <p:spPr>
          <a:xfrm>
            <a:off x="0" y="3733800"/>
            <a:ext cx="9144000" cy="3170099"/>
          </a:xfrm>
          <a:prstGeom prst="rect">
            <a:avLst/>
          </a:prstGeom>
        </p:spPr>
        <p:txBody>
          <a:bodyPr numCol="1" wrap="square">
            <a:spAutoFit/>
          </a:bodyPr>
          <a:lstStyle/>
          <a:p>
            <a:pPr algn="just"/>
            <a:r>
              <a:rPr b="1" dirty="0" lang="en-US" smtClean="0" sz="2000"/>
              <a:t>Scaling-up/Vertical scaling: </a:t>
            </a:r>
            <a:r>
              <a:rPr dirty="0" lang="en-US" smtClean="0" sz="2000"/>
              <a:t>means </a:t>
            </a:r>
            <a:r>
              <a:rPr b="1" dirty="0" lang="en-US" smtClean="0" sz="2000">
                <a:solidFill>
                  <a:srgbClr val="FF0000"/>
                </a:solidFill>
              </a:rPr>
              <a:t>upgrading a server</a:t>
            </a:r>
            <a:r>
              <a:rPr dirty="0" lang="en-US" smtClean="0" sz="2000"/>
              <a:t>, by means of adding more memory, faster processor,  or larger storage devices. Adding more hardware can help increase the amount of traffic a server can support and the amount of data it can process in a reasonable period of time.</a:t>
            </a:r>
          </a:p>
          <a:p>
            <a:pPr algn="just"/>
            <a:r>
              <a:rPr b="1" dirty="0" lang="en-US" smtClean="0" sz="2000"/>
              <a:t>Scaling-out/Horizontal scaling: </a:t>
            </a:r>
            <a:r>
              <a:rPr dirty="0" lang="en-US" smtClean="0" sz="2000"/>
              <a:t>means </a:t>
            </a:r>
            <a:r>
              <a:rPr b="1" dirty="0" lang="en-US" smtClean="0" sz="2000">
                <a:solidFill>
                  <a:srgbClr val="FF0000"/>
                </a:solidFill>
              </a:rPr>
              <a:t>adding more servers to the task</a:t>
            </a:r>
            <a:r>
              <a:rPr dirty="0" lang="en-US" smtClean="0" sz="2000"/>
              <a:t>. Though, this is complex process, this helps in increasing the capacity to a great extent. In one way, the </a:t>
            </a:r>
            <a:r>
              <a:rPr b="1" dirty="0" lang="en-US" smtClean="0" sz="2000">
                <a:solidFill>
                  <a:srgbClr val="FF0000"/>
                </a:solidFill>
              </a:rPr>
              <a:t>additional servers act as backup devices </a:t>
            </a:r>
            <a:r>
              <a:rPr dirty="0" lang="en-US" smtClean="0" sz="2000"/>
              <a:t>and play their role when the main server fails. In other ways, </a:t>
            </a:r>
            <a:r>
              <a:rPr b="1" dirty="0" lang="en-US" smtClean="0" sz="2000">
                <a:solidFill>
                  <a:srgbClr val="FF0000"/>
                </a:solidFill>
              </a:rPr>
              <a:t>work and network traffic can be shared between all the servers</a:t>
            </a:r>
            <a:r>
              <a:rPr dirty="0" lang="en-US" smtClean="0" sz="2000"/>
              <a:t>. When many servers are added to the task, the group of machines assigned to a particular task is called as </a:t>
            </a:r>
            <a:r>
              <a:rPr b="1" dirty="0" lang="en-US" smtClean="0" sz="2000">
                <a:solidFill>
                  <a:srgbClr val="FF0000"/>
                </a:solidFill>
              </a:rPr>
              <a:t>cluster.</a:t>
            </a:r>
            <a:endParaRPr b="1" dirty="0" lang="en-US" sz="2000">
              <a:solidFill>
                <a:srgbClr val="FF0000"/>
              </a:solidFill>
            </a:endParaRPr>
          </a:p>
        </p:txBody>
      </p:sp>
    </p:spTree>
  </p:cSld>
  <p:clrMapOvr>
    <a:masterClrMapping/>
  </p:clrMapOvr>
  <p:timing>
    <p:tnLst>
      <p:par>
        <p:cTn dur="indefinite" id="1" nodeType="tmRoot" restart="never"/>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numCol="1">
            <a:normAutofit/>
          </a:bodyPr>
          <a:lstStyle/>
          <a:p>
            <a:r>
              <a:rPr b="1" dirty="0" lang="en-US" smtClean="0" sz="3200"/>
              <a:t>Database </a:t>
            </a:r>
            <a:r>
              <a:rPr b="1" dirty="0" lang="en-US" sz="3200"/>
              <a:t>D</a:t>
            </a:r>
            <a:r>
              <a:rPr b="1" dirty="0" lang="en-US" smtClean="0" sz="3200"/>
              <a:t>istribution </a:t>
            </a:r>
            <a:r>
              <a:rPr b="1" dirty="0" lang="en-US" sz="3200"/>
              <a:t>M</a:t>
            </a:r>
            <a:r>
              <a:rPr b="1" dirty="0" lang="en-US" smtClean="0" sz="3200"/>
              <a:t>odels</a:t>
            </a:r>
            <a:endParaRPr b="1" dirty="0" lang="en-US" sz="3200"/>
          </a:p>
        </p:txBody>
      </p:sp>
      <p:sp>
        <p:nvSpPr>
          <p:cNvPr id="3" name="Content Placeholder 2"/>
          <p:cNvSpPr>
            <a:spLocks noGrp="1"/>
          </p:cNvSpPr>
          <p:nvPr>
            <p:ph idx="1"/>
          </p:nvPr>
        </p:nvSpPr>
        <p:spPr>
          <a:xfrm>
            <a:off x="76200" y="762000"/>
            <a:ext cx="9067800" cy="6096000"/>
          </a:xfrm>
        </p:spPr>
        <p:txBody>
          <a:bodyPr numCol="1"/>
          <a:lstStyle/>
          <a:p>
            <a:endParaRPr dirty="0" lang="en-US" smtClean="0"/>
          </a:p>
          <a:p>
            <a:endParaRPr dirty="0" lang="en-US"/>
          </a:p>
          <a:p>
            <a:endParaRPr dirty="0" lang="en-US" smtClean="0"/>
          </a:p>
          <a:p>
            <a:endParaRPr dirty="0" lang="en-US"/>
          </a:p>
          <a:p>
            <a:endParaRPr dirty="0" lang="en-US" smtClean="0"/>
          </a:p>
          <a:p>
            <a:endParaRPr dirty="0" lang="en-US"/>
          </a:p>
          <a:p>
            <a:endParaRPr dirty="0" lang="en-US" smtClean="0"/>
          </a:p>
          <a:p>
            <a:endParaRPr dirty="0" lang="en-US"/>
          </a:p>
          <a:p>
            <a:pPr algn="just">
              <a:buNone/>
            </a:pPr>
            <a:r>
              <a:rPr b="1" dirty="0" lang="en-US" smtClean="0" sz="2400"/>
              <a:t>Replication: </a:t>
            </a:r>
            <a:r>
              <a:rPr dirty="0" lang="en-US" sz="2400"/>
              <a:t>S</a:t>
            </a:r>
            <a:r>
              <a:rPr dirty="0" lang="en-US" smtClean="0" sz="2400"/>
              <a:t>ame data is copied on multiple servers.</a:t>
            </a:r>
          </a:p>
          <a:p>
            <a:pPr algn="just">
              <a:buNone/>
            </a:pPr>
            <a:r>
              <a:rPr b="1" dirty="0" lang="en-US" smtClean="0" sz="2400"/>
              <a:t>Sharding: </a:t>
            </a:r>
            <a:r>
              <a:rPr dirty="0" lang="en-US" smtClean="0" sz="2400"/>
              <a:t>Data is put on multiple nodes.</a:t>
            </a:r>
            <a:endParaRPr dirty="0" lang="en-US" sz="2400"/>
          </a:p>
        </p:txBody>
      </p:sp>
      <p:pic>
        <p:nvPicPr>
          <p:cNvPr id="1026" name="Picture 2"/>
          <p:cNvPicPr>
            <a:picLocks noChangeArrowheads="1" noChangeAspect="1"/>
          </p:cNvPicPr>
          <p:nvPr/>
        </p:nvPicPr>
        <p:blipFill>
          <a:blip cstate="print" r:embed="rId2"/>
          <a:srcRect/>
          <a:stretch>
            <a:fillRect/>
          </a:stretch>
        </p:blipFill>
        <p:spPr>
          <a:xfrm>
            <a:off x="2209800" y="685800"/>
            <a:ext cx="4810125" cy="466413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numCol="1">
            <a:normAutofit/>
          </a:bodyPr>
          <a:lstStyle/>
          <a:p>
            <a:r>
              <a:rPr b="1" dirty="0" lang="en-US" smtClean="0" sz="3200"/>
              <a:t>Data Replication</a:t>
            </a:r>
            <a:endParaRPr b="1" dirty="0" lang="en-US" sz="3200"/>
          </a:p>
        </p:txBody>
      </p:sp>
      <p:sp>
        <p:nvSpPr>
          <p:cNvPr id="3" name="Content Placeholder 2"/>
          <p:cNvSpPr>
            <a:spLocks noGrp="1"/>
          </p:cNvSpPr>
          <p:nvPr>
            <p:ph idx="1"/>
          </p:nvPr>
        </p:nvSpPr>
        <p:spPr>
          <a:xfrm>
            <a:off x="152400" y="609600"/>
            <a:ext cx="8839200" cy="6172200"/>
          </a:xfrm>
        </p:spPr>
        <p:txBody>
          <a:bodyPr numCol="1">
            <a:normAutofit/>
          </a:bodyPr>
          <a:lstStyle/>
          <a:p>
            <a:pPr algn="just"/>
            <a:r>
              <a:rPr dirty="0" lang="en-US" smtClean="0" sz="2400"/>
              <a:t>Process of keeping the data synced.</a:t>
            </a:r>
          </a:p>
          <a:p>
            <a:pPr algn="just"/>
            <a:r>
              <a:rPr dirty="0" lang="en-US" smtClean="0" sz="2400"/>
              <a:t>Complete copy of database on a different server.</a:t>
            </a:r>
          </a:p>
          <a:p>
            <a:pPr algn="just"/>
            <a:r>
              <a:rPr dirty="0" lang="en-US" smtClean="0" sz="2400"/>
              <a:t>When the primary server fails, the backup server will come online and take the responsibility. </a:t>
            </a:r>
          </a:p>
          <a:p>
            <a:pPr algn="just"/>
            <a:r>
              <a:rPr dirty="0" lang="en-US" smtClean="0" sz="2400"/>
              <a:t>Reduced downtime compared to fixing failures manually</a:t>
            </a:r>
          </a:p>
          <a:p>
            <a:pPr algn="just"/>
            <a:r>
              <a:rPr dirty="0" lang="en-US" smtClean="0" sz="2400"/>
              <a:t>System automatically detects failures and activate backup machines. </a:t>
            </a:r>
            <a:endParaRPr dirty="0" lang="en-US" sz="2400"/>
          </a:p>
        </p:txBody>
      </p:sp>
      <p:pic>
        <p:nvPicPr>
          <p:cNvPr id="2050" name="Picture 2"/>
          <p:cNvPicPr>
            <a:picLocks noChangeArrowheads="1" noChangeAspect="1"/>
          </p:cNvPicPr>
          <p:nvPr/>
        </p:nvPicPr>
        <p:blipFill>
          <a:blip cstate="print" r:embed="rId2"/>
          <a:srcRect/>
          <a:stretch>
            <a:fillRect/>
          </a:stretch>
        </p:blipFill>
        <p:spPr>
          <a:xfrm>
            <a:off x="533400" y="3657600"/>
            <a:ext cx="8240573" cy="3033713"/>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numCol="1">
            <a:normAutofit fontScale="90000"/>
          </a:bodyPr>
          <a:lstStyle/>
          <a:p>
            <a:r>
              <a:rPr dirty="0" lang="en-US" smtClean="0"/>
              <a:t>Types of database replication</a:t>
            </a:r>
            <a:endParaRPr dirty="0" lang="en-US"/>
          </a:p>
        </p:txBody>
      </p:sp>
      <p:sp>
        <p:nvSpPr>
          <p:cNvPr id="3" name="Content Placeholder 2"/>
          <p:cNvSpPr>
            <a:spLocks noGrp="1"/>
          </p:cNvSpPr>
          <p:nvPr>
            <p:ph idx="1"/>
          </p:nvPr>
        </p:nvSpPr>
        <p:spPr>
          <a:xfrm>
            <a:off x="152400" y="609600"/>
            <a:ext cx="8839200" cy="6019800"/>
          </a:xfrm>
        </p:spPr>
        <p:txBody>
          <a:bodyPr numCol="1">
            <a:normAutofit/>
          </a:bodyPr>
          <a:lstStyle/>
          <a:p>
            <a:pPr>
              <a:buNone/>
            </a:pPr>
            <a:r>
              <a:rPr b="1" dirty="0" lang="en-US" smtClean="0" sz="2400"/>
              <a:t>1. Master-slave replication (Passive Replication): </a:t>
            </a:r>
            <a:endParaRPr b="1" dirty="0" lang="en-US" sz="2400"/>
          </a:p>
        </p:txBody>
      </p:sp>
      <p:pic>
        <p:nvPicPr>
          <p:cNvPr id="3075" name="Picture 3"/>
          <p:cNvPicPr>
            <a:picLocks noChangeArrowheads="1" noChangeAspect="1"/>
          </p:cNvPicPr>
          <p:nvPr/>
        </p:nvPicPr>
        <p:blipFill>
          <a:blip cstate="print" r:embed="rId2"/>
          <a:srcRect/>
          <a:stretch>
            <a:fillRect/>
          </a:stretch>
        </p:blipFill>
        <p:spPr>
          <a:xfrm>
            <a:off x="3905350" y="1143000"/>
            <a:ext cx="5238650" cy="4005263"/>
          </a:xfrm>
          <a:prstGeom prst="rect">
            <a:avLst/>
          </a:prstGeom>
          <a:noFill/>
          <a:ln w="9525">
            <a:noFill/>
            <a:miter lim="800000"/>
            <a:headEnd/>
            <a:tailEnd/>
          </a:ln>
        </p:spPr>
      </p:pic>
      <p:sp>
        <p:nvSpPr>
          <p:cNvPr id="6" name="Rectangle 5"/>
          <p:cNvSpPr/>
          <p:nvPr/>
        </p:nvSpPr>
        <p:spPr>
          <a:xfrm>
            <a:off x="152401" y="914400"/>
            <a:ext cx="3733800" cy="6154043"/>
          </a:xfrm>
          <a:prstGeom prst="rect">
            <a:avLst/>
          </a:prstGeom>
        </p:spPr>
        <p:txBody>
          <a:bodyPr numCol="1" wrap="square">
            <a:spAutoFit/>
          </a:bodyPr>
          <a:lstStyle/>
          <a:p>
            <a:pPr algn="just">
              <a:buFont charset="0" pitchFamily="34" typeface="Arial"/>
              <a:buChar char="•"/>
            </a:pPr>
            <a:r>
              <a:rPr dirty="0" lang="en-US" smtClean="0" sz="2400"/>
              <a:t> One master or primary node and others are slaves.</a:t>
            </a:r>
          </a:p>
          <a:p>
            <a:pPr algn="just">
              <a:buFont charset="0" pitchFamily="34" typeface="Arial"/>
              <a:buChar char="•"/>
            </a:pPr>
            <a:endParaRPr dirty="0" lang="en-US" smtClean="0" sz="2400"/>
          </a:p>
          <a:p>
            <a:pPr algn="just">
              <a:buFont charset="0" pitchFamily="34" typeface="Arial"/>
              <a:buChar char="•"/>
            </a:pPr>
            <a:r>
              <a:rPr dirty="0" lang="en-US" sz="2400"/>
              <a:t> </a:t>
            </a:r>
            <a:r>
              <a:rPr dirty="0" lang="en-US" smtClean="0" sz="2400"/>
              <a:t>Master is the primary source of data and designed to process updates and send to slaves.</a:t>
            </a:r>
          </a:p>
          <a:p>
            <a:pPr algn="just">
              <a:buFont charset="0" pitchFamily="34" typeface="Arial"/>
              <a:buChar char="•"/>
            </a:pPr>
            <a:endParaRPr dirty="0" lang="en-US" smtClean="0" sz="2400"/>
          </a:p>
          <a:p>
            <a:pPr algn="just">
              <a:buFont charset="0" pitchFamily="34" typeface="Arial"/>
              <a:buChar char="•"/>
            </a:pPr>
            <a:r>
              <a:rPr dirty="0" lang="en-US" sz="2400"/>
              <a:t> </a:t>
            </a:r>
            <a:r>
              <a:rPr dirty="0" lang="en-US" smtClean="0" sz="2400"/>
              <a:t>Slaves are used for read operation.</a:t>
            </a:r>
          </a:p>
          <a:p>
            <a:pPr algn="just">
              <a:buFont charset="0" pitchFamily="34" typeface="Arial"/>
              <a:buChar char="•"/>
            </a:pPr>
            <a:endParaRPr dirty="0" lang="en-US" smtClean="0" sz="2400"/>
          </a:p>
          <a:p>
            <a:pPr algn="just">
              <a:buFont charset="0" pitchFamily="34" typeface="Arial"/>
              <a:buChar char="•"/>
            </a:pPr>
            <a:r>
              <a:rPr dirty="0" lang="en-US" sz="2400"/>
              <a:t> </a:t>
            </a:r>
            <a:r>
              <a:rPr dirty="0" lang="en-US" smtClean="0" sz="2400"/>
              <a:t>Used for read-intensive datasets.</a:t>
            </a:r>
          </a:p>
          <a:p>
            <a:pPr algn="just">
              <a:buFont charset="0" pitchFamily="34" typeface="Arial"/>
              <a:buChar char="•"/>
            </a:pPr>
            <a:endParaRPr dirty="0" lang="en-US" smtClean="0" sz="2400"/>
          </a:p>
          <a:p>
            <a:pPr algn="just">
              <a:buFont charset="0" pitchFamily="34" typeface="Arial"/>
              <a:buChar char="•"/>
            </a:pPr>
            <a:r>
              <a:rPr dirty="0" lang="en-US" smtClean="0" sz="2400"/>
              <a:t> Horizontal scaling possible  by adding more slaves.</a:t>
            </a:r>
            <a:endParaRPr dirty="0" lang="en-US" sz="2400"/>
          </a:p>
        </p:txBody>
      </p:sp>
      <p:sp>
        <p:nvSpPr>
          <p:cNvPr id="7" name="Rectangle 6"/>
          <p:cNvSpPr/>
          <p:nvPr/>
        </p:nvSpPr>
        <p:spPr>
          <a:xfrm>
            <a:off x="4876800" y="5791200"/>
            <a:ext cx="3733800" cy="830997"/>
          </a:xfrm>
          <a:prstGeom prst="rect">
            <a:avLst/>
          </a:prstGeom>
        </p:spPr>
        <p:txBody>
          <a:bodyPr numCol="1" wrap="square">
            <a:spAutoFit/>
          </a:bodyPr>
          <a:lstStyle/>
          <a:p>
            <a:pPr algn="just">
              <a:buFont charset="0" pitchFamily="34" typeface="Arial"/>
              <a:buChar char="•"/>
            </a:pPr>
            <a:r>
              <a:rPr dirty="0" lang="en-US" smtClean="0" sz="2000"/>
              <a:t> </a:t>
            </a:r>
            <a:r>
              <a:rPr dirty="0" lang="en-US" smtClean="0" sz="2400"/>
              <a:t>Masters can be appointed manually and automatically. </a:t>
            </a:r>
            <a:endParaRPr dirty="0" lang="en-US" sz="2400"/>
          </a:p>
        </p:txBody>
      </p:sp>
    </p:spTree>
  </p:cSld>
  <p:clrMapOvr>
    <a:masterClrMapping/>
  </p:clrMapOvr>
  <p:timing>
    <p:tnLst>
      <p:par>
        <p:cTn dur="indefinite" id="1" nodeType="tmRoot" restart="never"/>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numCol="1">
            <a:normAutofit fontScale="90000"/>
          </a:bodyPr>
          <a:lstStyle/>
          <a:p>
            <a:r>
              <a:rPr dirty="0" lang="en-US" smtClean="0"/>
              <a:t>Master Slave Replication</a:t>
            </a:r>
            <a:endParaRPr dirty="0" lang="en-US"/>
          </a:p>
        </p:txBody>
      </p:sp>
      <p:sp>
        <p:nvSpPr>
          <p:cNvPr id="3" name="Content Placeholder 2"/>
          <p:cNvSpPr>
            <a:spLocks noGrp="1"/>
          </p:cNvSpPr>
          <p:nvPr>
            <p:ph idx="1"/>
          </p:nvPr>
        </p:nvSpPr>
        <p:spPr>
          <a:xfrm>
            <a:off x="152400" y="609600"/>
            <a:ext cx="8839200" cy="6019800"/>
          </a:xfrm>
        </p:spPr>
        <p:txBody>
          <a:bodyPr numCol="1">
            <a:normAutofit/>
          </a:bodyPr>
          <a:lstStyle/>
          <a:p>
            <a:pPr>
              <a:buNone/>
            </a:pPr>
            <a:r>
              <a:rPr b="1" dirty="0" lang="en-US" smtClean="0" sz="2400"/>
              <a:t> </a:t>
            </a:r>
            <a:endParaRPr b="1" dirty="0" lang="en-US" sz="2400"/>
          </a:p>
        </p:txBody>
      </p:sp>
      <p:sp>
        <p:nvSpPr>
          <p:cNvPr id="6" name="Rectangle 5"/>
          <p:cNvSpPr/>
          <p:nvPr/>
        </p:nvSpPr>
        <p:spPr>
          <a:xfrm>
            <a:off x="214282" y="1142984"/>
            <a:ext cx="8277252" cy="3970318"/>
          </a:xfrm>
          <a:prstGeom prst="rect">
            <a:avLst/>
          </a:prstGeom>
        </p:spPr>
        <p:txBody>
          <a:bodyPr numCol="1" wrap="square">
            <a:spAutoFit/>
          </a:bodyPr>
          <a:lstStyle/>
          <a:p>
            <a:pPr algn="just">
              <a:buFont charset="0" pitchFamily="34" typeface="Arial"/>
              <a:buChar char="•"/>
            </a:pPr>
            <a:r>
              <a:rPr dirty="0" lang="en-US" smtClean="0" sz="2400"/>
              <a:t>  </a:t>
            </a:r>
            <a:r>
              <a:rPr dirty="0" lang="en-US" smtClean="0" sz="2800"/>
              <a:t>Master-Slave Replication can be </a:t>
            </a:r>
            <a:r>
              <a:rPr b="1" dirty="0" lang="en-US" smtClean="0" sz="2800"/>
              <a:t>synchronous or asynchronous</a:t>
            </a:r>
            <a:r>
              <a:rPr dirty="0" lang="en-US" smtClean="0" sz="2800"/>
              <a:t>. The difference is simply the timing of propagation of changes.</a:t>
            </a:r>
          </a:p>
          <a:p>
            <a:pPr algn="just">
              <a:buFont charset="0" pitchFamily="34" typeface="Arial"/>
              <a:buChar char="•"/>
            </a:pPr>
            <a:endParaRPr dirty="0" lang="en-US" smtClean="0" sz="2800"/>
          </a:p>
          <a:p>
            <a:pPr algn="just">
              <a:buFont charset="0" pitchFamily="34" typeface="Arial"/>
              <a:buChar char="•"/>
            </a:pPr>
            <a:r>
              <a:rPr altLang="en-IN" dirty="0" lang="en-IN" smtClean="0" sz="2800"/>
              <a:t> If the changes are made to the master and slave at the same time, it is synchronous.</a:t>
            </a:r>
          </a:p>
          <a:p>
            <a:pPr algn="just">
              <a:buFont charset="0" pitchFamily="34" typeface="Arial"/>
              <a:buChar char="•"/>
            </a:pPr>
            <a:endParaRPr altLang="en-IN" dirty="0" lang="en-IN" smtClean="0" sz="2800"/>
          </a:p>
          <a:p>
            <a:pPr algn="just">
              <a:buFont charset="0" pitchFamily="34" typeface="Arial"/>
              <a:buChar char="•"/>
            </a:pPr>
            <a:r>
              <a:rPr altLang="en-IN" dirty="0" lang="en-IN" smtClean="0" sz="2800"/>
              <a:t> If the changes are queued up and written later, it is asynchronous.</a:t>
            </a:r>
            <a:endParaRPr dirty="0" lang="en-US" sz="2800"/>
          </a:p>
        </p:txBody>
      </p:sp>
    </p:spTree>
  </p:cSld>
  <p:clrMapOvr>
    <a:masterClrMapping/>
  </p:clrMapOvr>
  <p:timing>
    <p:tnLst>
      <p:par>
        <p:cTn dur="indefinite" id="1" nodeType="tmRoot" restart="never"/>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rrowheads="1" noChangeAspect="1"/>
          </p:cNvPicPr>
          <p:nvPr/>
        </p:nvPicPr>
        <p:blipFill>
          <a:blip cstate="print" r:embed="rId3"/>
          <a:srcRect/>
          <a:stretch>
            <a:fillRect/>
          </a:stretch>
        </p:blipFill>
        <p:spPr>
          <a:xfrm>
            <a:off x="0" y="642918"/>
            <a:ext cx="9083283" cy="55626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numCol="1">
            <a:normAutofit/>
          </a:bodyPr>
          <a:lstStyle/>
          <a:p>
            <a:pPr>
              <a:buNone/>
            </a:pPr>
            <a:r>
              <a:rPr b="1" dirty="0" lang="en-US" smtClean="0" sz="2400"/>
              <a:t>2. Peer-to-Peer Replication (Active Replication):</a:t>
            </a:r>
          </a:p>
          <a:p>
            <a:pPr>
              <a:buNone/>
            </a:pPr>
            <a:endParaRPr b="1" dirty="0" lang="en-US" sz="2400"/>
          </a:p>
        </p:txBody>
      </p:sp>
      <p:pic>
        <p:nvPicPr>
          <p:cNvPr id="5122" name="Picture 2"/>
          <p:cNvPicPr>
            <a:picLocks noChangeArrowheads="1" noChangeAspect="1"/>
          </p:cNvPicPr>
          <p:nvPr/>
        </p:nvPicPr>
        <p:blipFill>
          <a:blip cstate="print" r:embed="rId2"/>
          <a:srcRect/>
          <a:stretch>
            <a:fillRect/>
          </a:stretch>
        </p:blipFill>
        <p:spPr>
          <a:xfrm>
            <a:off x="4039111" y="1214422"/>
            <a:ext cx="5104889" cy="4133850"/>
          </a:xfrm>
          <a:prstGeom prst="rect">
            <a:avLst/>
          </a:prstGeom>
          <a:noFill/>
          <a:ln w="9525">
            <a:noFill/>
            <a:miter lim="800000"/>
            <a:headEnd/>
            <a:tailEnd/>
          </a:ln>
        </p:spPr>
      </p:pic>
      <p:sp>
        <p:nvSpPr>
          <p:cNvPr id="6" name="Rectangle 5"/>
          <p:cNvSpPr/>
          <p:nvPr/>
        </p:nvSpPr>
        <p:spPr>
          <a:xfrm>
            <a:off x="152401" y="685800"/>
            <a:ext cx="3581400" cy="5632311"/>
          </a:xfrm>
          <a:prstGeom prst="rect">
            <a:avLst/>
          </a:prstGeom>
        </p:spPr>
        <p:txBody>
          <a:bodyPr numCol="1" wrap="square">
            <a:spAutoFit/>
          </a:bodyPr>
          <a:lstStyle/>
          <a:p>
            <a:pPr algn="just">
              <a:buFont charset="0" pitchFamily="34" typeface="Arial"/>
              <a:buChar char="•"/>
            </a:pPr>
            <a:r>
              <a:rPr dirty="0" lang="en-US" smtClean="0" sz="2400"/>
              <a:t> Very useful for improving the ‘write’ scalability that is not offered by master-slave replication.</a:t>
            </a:r>
          </a:p>
          <a:p>
            <a:pPr algn="just">
              <a:buFont charset="0" pitchFamily="34" typeface="Arial"/>
              <a:buChar char="•"/>
            </a:pPr>
            <a:endParaRPr dirty="0" lang="en-US" smtClean="0" sz="2400"/>
          </a:p>
          <a:p>
            <a:pPr algn="just">
              <a:buFont charset="0" pitchFamily="34" typeface="Arial"/>
              <a:buChar char="•"/>
            </a:pPr>
            <a:r>
              <a:rPr dirty="0" lang="en-US" smtClean="0" sz="2400"/>
              <a:t>There is no master and no single point of failure.</a:t>
            </a:r>
          </a:p>
          <a:p>
            <a:pPr algn="just">
              <a:buFont charset="0" pitchFamily="34" typeface="Arial"/>
              <a:buChar char="•"/>
            </a:pPr>
            <a:endParaRPr dirty="0" lang="en-US" smtClean="0" sz="2400"/>
          </a:p>
          <a:p>
            <a:pPr algn="just">
              <a:buFont charset="0" pitchFamily="34" typeface="Arial"/>
              <a:buChar char="•"/>
            </a:pPr>
            <a:r>
              <a:rPr dirty="0" lang="en-US" smtClean="0" sz="2400"/>
              <a:t> All the replicas are equal and accept the writes and reads.</a:t>
            </a:r>
          </a:p>
          <a:p>
            <a:pPr algn="just">
              <a:buFont charset="0" pitchFamily="34" typeface="Arial"/>
              <a:buChar char="•"/>
            </a:pPr>
            <a:endParaRPr dirty="0" lang="en-US" smtClean="0" sz="2400"/>
          </a:p>
          <a:p>
            <a:pPr algn="just">
              <a:buFont charset="0" pitchFamily="34" typeface="Arial"/>
              <a:buChar char="•"/>
            </a:pPr>
            <a:r>
              <a:rPr dirty="0" lang="en-US" sz="2400"/>
              <a:t> M</a:t>
            </a:r>
            <a:r>
              <a:rPr dirty="0" lang="en-US" smtClean="0" sz="2400"/>
              <a:t>ore nodes can be added for performance improvement. </a:t>
            </a:r>
            <a:endParaRPr dirty="0" lang="en-US" sz="2400"/>
          </a:p>
        </p:txBody>
      </p:sp>
    </p:spTree>
  </p:cSld>
  <p:clrMapOvr>
    <a:masterClrMapping/>
  </p:clrMapOvr>
  <p:timing>
    <p:tnLst>
      <p:par>
        <p:cTn dur="indefinite" id="1" nodeType="tmRoot" restart="never"/>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rrowheads="1" noChangeAspect="1"/>
          </p:cNvPicPr>
          <p:nvPr/>
        </p:nvPicPr>
        <p:blipFill>
          <a:blip cstate="print" r:embed="rId2"/>
          <a:srcRect/>
          <a:stretch>
            <a:fillRect/>
          </a:stretch>
        </p:blipFill>
        <p:spPr>
          <a:xfrm>
            <a:off x="304800" y="838200"/>
            <a:ext cx="8740980" cy="49530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609600"/>
          </a:xfrm>
        </p:spPr>
        <p:txBody>
          <a:bodyPr numCol="1">
            <a:normAutofit/>
          </a:bodyPr>
          <a:lstStyle/>
          <a:p>
            <a:r>
              <a:rPr b="1" dirty="0" lang="en-US" smtClean="0" sz="3200"/>
              <a:t>Introduction to Sharding</a:t>
            </a:r>
            <a:endParaRPr b="1" dirty="0" lang="en-US" sz="3200"/>
          </a:p>
        </p:txBody>
      </p:sp>
      <p:pic>
        <p:nvPicPr>
          <p:cNvPr id="8194" name="Picture 2"/>
          <p:cNvPicPr>
            <a:picLocks noChangeArrowheads="1" noChangeAspect="1"/>
          </p:cNvPicPr>
          <p:nvPr/>
        </p:nvPicPr>
        <p:blipFill>
          <a:blip cstate="print" r:embed="rId2"/>
          <a:srcRect/>
          <a:stretch>
            <a:fillRect/>
          </a:stretch>
        </p:blipFill>
        <p:spPr>
          <a:xfrm>
            <a:off x="4096603" y="609600"/>
            <a:ext cx="5047397" cy="4329113"/>
          </a:xfrm>
          <a:prstGeom prst="rect">
            <a:avLst/>
          </a:prstGeom>
          <a:noFill/>
          <a:ln w="9525">
            <a:noFill/>
            <a:miter lim="800000"/>
            <a:headEnd/>
            <a:tailEnd/>
          </a:ln>
        </p:spPr>
      </p:pic>
      <p:sp>
        <p:nvSpPr>
          <p:cNvPr id="5" name="Rectangle 4"/>
          <p:cNvSpPr/>
          <p:nvPr/>
        </p:nvSpPr>
        <p:spPr>
          <a:xfrm>
            <a:off x="152400" y="685800"/>
            <a:ext cx="3810000" cy="6555641"/>
          </a:xfrm>
          <a:prstGeom prst="rect">
            <a:avLst/>
          </a:prstGeom>
        </p:spPr>
        <p:txBody>
          <a:bodyPr numCol="1" wrap="square">
            <a:spAutoFit/>
          </a:bodyPr>
          <a:lstStyle/>
          <a:p>
            <a:pPr algn="just">
              <a:buFont charset="0" pitchFamily="34" typeface="Arial"/>
              <a:buChar char="•"/>
            </a:pPr>
            <a:r>
              <a:rPr dirty="0" lang="en-US" smtClean="0" sz="2000"/>
              <a:t> Sharding is a method for distributing data across multiple machines. </a:t>
            </a:r>
          </a:p>
          <a:p>
            <a:pPr algn="just">
              <a:buFont charset="0" pitchFamily="34" typeface="Arial"/>
              <a:buChar char="•"/>
            </a:pPr>
            <a:endParaRPr dirty="0" lang="en-US" smtClean="0" sz="2000"/>
          </a:p>
          <a:p>
            <a:pPr algn="just">
              <a:buFont charset="0" pitchFamily="34" typeface="Arial"/>
              <a:buChar char="•"/>
            </a:pPr>
            <a:r>
              <a:rPr dirty="0" lang="en-US" smtClean="0" sz="2000"/>
              <a:t> Defined as “shared-nothing” partitioning schema for large databases across a number of servers.</a:t>
            </a:r>
          </a:p>
          <a:p>
            <a:pPr algn="just">
              <a:buFont charset="0" pitchFamily="34" typeface="Arial"/>
              <a:buChar char="•"/>
            </a:pPr>
            <a:endParaRPr dirty="0" lang="en-US" smtClean="0" sz="2000"/>
          </a:p>
          <a:p>
            <a:pPr algn="just">
              <a:buFont charset="0" pitchFamily="34" typeface="Arial"/>
              <a:buChar char="•"/>
            </a:pPr>
            <a:r>
              <a:rPr dirty="0" lang="en-US" smtClean="0" sz="2000"/>
              <a:t> Method of splitting and storing a single logical dataset in multiple databases.</a:t>
            </a:r>
          </a:p>
          <a:p>
            <a:pPr algn="just">
              <a:buFont charset="0" pitchFamily="34" typeface="Arial"/>
              <a:buChar char="•"/>
            </a:pPr>
            <a:endParaRPr dirty="0" lang="en-US" smtClean="0" sz="2000"/>
          </a:p>
          <a:p>
            <a:pPr algn="just">
              <a:buFont charset="0" pitchFamily="34" typeface="Arial"/>
              <a:buChar char="•"/>
            </a:pPr>
            <a:r>
              <a:rPr dirty="0" lang="en-US" smtClean="0" sz="2000"/>
              <a:t> </a:t>
            </a:r>
            <a:r>
              <a:rPr dirty="0" err="1" lang="en-US" smtClean="0" sz="2000"/>
              <a:t>MongoDB</a:t>
            </a:r>
            <a:r>
              <a:rPr dirty="0" lang="en-US" smtClean="0" sz="2000"/>
              <a:t> uses sharding to support deployments with very large data sets and high throughput operations.</a:t>
            </a:r>
          </a:p>
          <a:p>
            <a:pPr algn="just">
              <a:buFont charset="0" pitchFamily="34" typeface="Arial"/>
              <a:buChar char="•"/>
            </a:pPr>
            <a:endParaRPr dirty="0" lang="en-US" smtClean="0" sz="2000"/>
          </a:p>
          <a:p>
            <a:pPr algn="just">
              <a:buFont charset="0" pitchFamily="34" typeface="Arial"/>
              <a:buChar char="•"/>
            </a:pPr>
            <a:r>
              <a:rPr dirty="0" lang="en-US" smtClean="0" sz="2000"/>
              <a:t>Optimization technique to achieve horizontal scaling in DB.</a:t>
            </a:r>
          </a:p>
          <a:p>
            <a:pPr algn="just"/>
            <a:endParaRPr dirty="0" lang="en-US" sz="2000"/>
          </a:p>
        </p:txBody>
      </p:sp>
      <p:sp>
        <p:nvSpPr>
          <p:cNvPr id="6" name="Rectangle 5"/>
          <p:cNvSpPr/>
          <p:nvPr/>
        </p:nvSpPr>
        <p:spPr>
          <a:xfrm>
            <a:off x="4419600" y="5410200"/>
            <a:ext cx="4572000" cy="1015663"/>
          </a:xfrm>
          <a:prstGeom prst="rect">
            <a:avLst/>
          </a:prstGeom>
        </p:spPr>
        <p:txBody>
          <a:bodyPr numCol="1">
            <a:spAutoFit/>
          </a:bodyPr>
          <a:lstStyle/>
          <a:p>
            <a:pPr algn="just">
              <a:buFont charset="0" pitchFamily="34" typeface="Arial"/>
              <a:buChar char="•"/>
            </a:pPr>
            <a:r>
              <a:rPr dirty="0" lang="en-US" smtClean="0" sz="2000"/>
              <a:t> Database systems with large data sets or high throughput applications can challenge the capacity of a single server. </a:t>
            </a:r>
          </a:p>
        </p:txBody>
      </p:sp>
    </p:spTree>
  </p:cSld>
  <p:clrMapOvr>
    <a:masterClrMapping/>
  </p:clrMapOvr>
  <p:timing>
    <p:tnLst>
      <p:par>
        <p:cTn dur="indefinite" id="1" nodeType="tmRoot" restart="never"/>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rmAutofit fontScale="90000"/>
          </a:bodyPr>
          <a:lstStyle/>
          <a:p>
            <a:r>
              <a:rPr b="1" dirty="0" lang="en-US" smtClean="0" sz="3200"/>
              <a:t>Why Sharding?</a:t>
            </a:r>
            <a:endParaRPr b="1" dirty="0" lang="en-US" sz="3200"/>
          </a:p>
        </p:txBody>
      </p:sp>
      <p:pic>
        <p:nvPicPr>
          <p:cNvPr id="1026" name="Picture 2"/>
          <p:cNvPicPr>
            <a:picLocks noChangeArrowheads="1" noChangeAspect="1"/>
          </p:cNvPicPr>
          <p:nvPr/>
        </p:nvPicPr>
        <p:blipFill>
          <a:blip cstate="print" r:embed="rId2"/>
          <a:srcRect/>
          <a:stretch>
            <a:fillRect/>
          </a:stretch>
        </p:blipFill>
        <p:spPr>
          <a:xfrm>
            <a:off x="1600200" y="533400"/>
            <a:ext cx="6705600" cy="4351585"/>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533400" y="5143512"/>
            <a:ext cx="8044562" cy="162400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900"/>
            <a:ext cx="8229600" cy="685800"/>
          </a:xfrm>
        </p:spPr>
        <p:txBody>
          <a:bodyPr numCol="1">
            <a:normAutofit/>
          </a:bodyPr>
          <a:lstStyle/>
          <a:p>
            <a:r>
              <a:rPr b="1" dirty="0" err="1" lang="en-US" smtClean="0" sz="3200"/>
              <a:t>Sharding</a:t>
            </a:r>
            <a:r>
              <a:rPr b="1" dirty="0" lang="en-US" smtClean="0" sz="3200"/>
              <a:t> components</a:t>
            </a:r>
            <a:endParaRPr b="1" dirty="0" lang="en-US" sz="3200"/>
          </a:p>
        </p:txBody>
      </p:sp>
      <p:sp>
        <p:nvSpPr>
          <p:cNvPr id="5" name="Rectangle 4"/>
          <p:cNvSpPr/>
          <p:nvPr/>
        </p:nvSpPr>
        <p:spPr>
          <a:xfrm>
            <a:off x="0" y="428604"/>
            <a:ext cx="4643438" cy="5632311"/>
          </a:xfrm>
          <a:prstGeom prst="rect">
            <a:avLst/>
          </a:prstGeom>
        </p:spPr>
        <p:txBody>
          <a:bodyPr numCol="1" wrap="square">
            <a:spAutoFit/>
          </a:bodyPr>
          <a:lstStyle/>
          <a:p>
            <a:pPr algn="just" fontAlgn="base">
              <a:buFont charset="0" pitchFamily="34" typeface="Arial"/>
              <a:buChar char="•"/>
            </a:pPr>
            <a:r>
              <a:rPr b="1" dirty="0" lang="en-US" smtClean="0" sz="2000"/>
              <a:t> Shard: </a:t>
            </a:r>
            <a:r>
              <a:rPr dirty="0" lang="en-US" smtClean="0" sz="2000"/>
              <a:t>A shard is a single </a:t>
            </a:r>
            <a:r>
              <a:rPr dirty="0" err="1" lang="en-US" smtClean="0" sz="2000"/>
              <a:t>MongoDB</a:t>
            </a:r>
            <a:r>
              <a:rPr dirty="0" lang="en-US" smtClean="0" sz="2000"/>
              <a:t> instance that holds a subset of the </a:t>
            </a:r>
            <a:r>
              <a:rPr dirty="0" err="1" lang="en-US" smtClean="0" sz="2000"/>
              <a:t>sharded</a:t>
            </a:r>
            <a:r>
              <a:rPr dirty="0" lang="en-US" smtClean="0" sz="2000"/>
              <a:t> data. Shards can be deployed as replica sets to increase availability and provide redundancy. The combination of multiple shards creates a complete data set. For example, a 2 TB data set can be broken down into four shards, each containing 500 GB of data from the original data set.</a:t>
            </a:r>
          </a:p>
          <a:p>
            <a:pPr algn="just" fontAlgn="base"/>
            <a:endParaRPr b="1" dirty="0" lang="en-US" smtClean="0" sz="2000"/>
          </a:p>
          <a:p>
            <a:pPr algn="just" fontAlgn="base">
              <a:buFont charset="0" pitchFamily="34" typeface="Arial"/>
              <a:buChar char="•"/>
            </a:pPr>
            <a:r>
              <a:rPr b="1" dirty="0" lang="en-US" smtClean="0" sz="2000"/>
              <a:t> </a:t>
            </a:r>
            <a:r>
              <a:rPr b="1" dirty="0" err="1" lang="en-US" smtClean="0" sz="2000"/>
              <a:t>Mongos</a:t>
            </a:r>
            <a:r>
              <a:rPr b="1" dirty="0" lang="en-US" smtClean="0" sz="2000"/>
              <a:t>: </a:t>
            </a:r>
            <a:r>
              <a:rPr dirty="0" err="1" lang="en-US" smtClean="0" sz="2000"/>
              <a:t>Mongos</a:t>
            </a:r>
            <a:r>
              <a:rPr dirty="0" lang="en-US" smtClean="0" sz="2000"/>
              <a:t> act as the query router providing a stable interface between the application and the </a:t>
            </a:r>
            <a:r>
              <a:rPr dirty="0" err="1" lang="en-US" smtClean="0" sz="2000"/>
              <a:t>sharded</a:t>
            </a:r>
            <a:r>
              <a:rPr dirty="0" lang="en-US" smtClean="0" sz="2000"/>
              <a:t> cluster. This </a:t>
            </a:r>
            <a:r>
              <a:rPr dirty="0" err="1" lang="en-US" smtClean="0" sz="2000"/>
              <a:t>MongoDB</a:t>
            </a:r>
            <a:r>
              <a:rPr dirty="0" lang="en-US" smtClean="0" sz="2000"/>
              <a:t> instance is responsible for routing the client requests to the correct shard. Consumes minimal system resources so can be used on existing application servers.</a:t>
            </a:r>
          </a:p>
        </p:txBody>
      </p:sp>
      <p:pic>
        <p:nvPicPr>
          <p:cNvPr descr="https://s7280.pcdn.co/wp-content/uploads/2017/10/shard-cluster-full.png" id="7" name="Picture 2"/>
          <p:cNvPicPr>
            <a:picLocks noChangeArrowheads="1" noChangeAspect="1"/>
          </p:cNvPicPr>
          <p:nvPr/>
        </p:nvPicPr>
        <p:blipFill>
          <a:blip cstate="print" r:embed="rId2"/>
          <a:srcRect/>
          <a:stretch>
            <a:fillRect/>
          </a:stretch>
        </p:blipFill>
        <p:spPr>
          <a:xfrm>
            <a:off x="4800600" y="609600"/>
            <a:ext cx="4080162" cy="3605218"/>
          </a:xfrm>
          <a:prstGeom prst="rect">
            <a:avLst/>
          </a:prstGeom>
          <a:noFill/>
        </p:spPr>
      </p:pic>
      <p:sp>
        <p:nvSpPr>
          <p:cNvPr id="8" name="Rectangle 7"/>
          <p:cNvSpPr/>
          <p:nvPr/>
        </p:nvSpPr>
        <p:spPr>
          <a:xfrm>
            <a:off x="4786314" y="4786322"/>
            <a:ext cx="4143404" cy="1323439"/>
          </a:xfrm>
          <a:prstGeom prst="rect">
            <a:avLst/>
          </a:prstGeom>
        </p:spPr>
        <p:txBody>
          <a:bodyPr numCol="1" wrap="square">
            <a:spAutoFit/>
          </a:bodyPr>
          <a:lstStyle/>
          <a:p>
            <a:pPr algn="just" fontAlgn="base">
              <a:buFont charset="0" pitchFamily="34" typeface="Arial"/>
              <a:buChar char="•"/>
            </a:pPr>
            <a:r>
              <a:rPr b="1" dirty="0" lang="en-US" smtClean="0" sz="2000"/>
              <a:t> </a:t>
            </a:r>
            <a:r>
              <a:rPr b="1" dirty="0" err="1" lang="en-US" smtClean="0" sz="2000"/>
              <a:t>Config</a:t>
            </a:r>
            <a:r>
              <a:rPr b="1" dirty="0" lang="en-US" smtClean="0" sz="2000"/>
              <a:t> Servers: </a:t>
            </a:r>
            <a:r>
              <a:rPr dirty="0" lang="en-US" smtClean="0" sz="2000"/>
              <a:t>Configuration servers store the metadata and the configuration settings for the whole cluster.</a:t>
            </a:r>
            <a:endParaRPr dirty="0" lang="en-US" sz="2000"/>
          </a:p>
        </p:txBody>
      </p:sp>
    </p:spTree>
  </p:cSld>
  <p:clrMapOvr>
    <a:masterClrMapping/>
  </p:clrMapOvr>
  <p:timing>
    <p:tnLst>
      <p:par>
        <p:cTn dur="indefinite" id="1" nodeType="tmRoot" restart="never"/>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85794"/>
          </a:xfrm>
        </p:spPr>
        <p:txBody>
          <a:bodyPr numCol="1"/>
          <a:lstStyle/>
          <a:p>
            <a:r>
              <a:rPr altLang="en-IN" dirty="0" lang="en-IN" smtClean="0"/>
              <a:t>How </a:t>
            </a:r>
            <a:r>
              <a:rPr altLang="en-IN" dirty="0" err="1" lang="en-IN" smtClean="0"/>
              <a:t>Sharding</a:t>
            </a:r>
            <a:r>
              <a:rPr altLang="en-IN" dirty="0" lang="en-IN" smtClean="0"/>
              <a:t> Works?</a:t>
            </a:r>
            <a:endParaRPr dirty="0" lang="en-US"/>
          </a:p>
        </p:txBody>
      </p:sp>
      <p:sp>
        <p:nvSpPr>
          <p:cNvPr id="3" name="Content Placeholder 2"/>
          <p:cNvSpPr>
            <a:spLocks noGrp="1"/>
          </p:cNvSpPr>
          <p:nvPr>
            <p:ph idx="1"/>
          </p:nvPr>
        </p:nvSpPr>
        <p:spPr>
          <a:xfrm>
            <a:off x="457200" y="1600200"/>
            <a:ext cx="8229600" cy="4972072"/>
          </a:xfrm>
        </p:spPr>
        <p:txBody>
          <a:bodyPr numCol="1">
            <a:normAutofit fontScale="85000" lnSpcReduction="20000"/>
          </a:bodyPr>
          <a:lstStyle/>
          <a:p>
            <a:endParaRPr altLang="en-IN" dirty="0" lang="en-IN" smtClean="0"/>
          </a:p>
          <a:p>
            <a:endParaRPr altLang="en-IN" dirty="0" lang="en-IN" smtClean="0"/>
          </a:p>
          <a:p>
            <a:endParaRPr altLang="en-IN" dirty="0" lang="en-IN" smtClean="0"/>
          </a:p>
          <a:p>
            <a:endParaRPr altLang="en-IN" dirty="0" lang="en-IN" smtClean="0"/>
          </a:p>
          <a:p>
            <a:endParaRPr altLang="en-IN" dirty="0" lang="en-IN" smtClean="0"/>
          </a:p>
          <a:p>
            <a:pPr algn="just" fontAlgn="base" indent="-457200" marL="457200">
              <a:buAutoNum type="arabicPeriod"/>
            </a:pPr>
            <a:endParaRPr dirty="0" lang="en-US" smtClean="0"/>
          </a:p>
          <a:p>
            <a:pPr algn="just" fontAlgn="base" indent="-457200" marL="457200">
              <a:buAutoNum type="arabicPeriod"/>
            </a:pPr>
            <a:r>
              <a:rPr dirty="0" lang="en-US" smtClean="0" sz="3100"/>
              <a:t>The application communicates with the routers (</a:t>
            </a:r>
            <a:r>
              <a:rPr dirty="0" err="1" lang="en-US" smtClean="0" sz="3100"/>
              <a:t>mongos</a:t>
            </a:r>
            <a:r>
              <a:rPr dirty="0" lang="en-US" smtClean="0" sz="3100"/>
              <a:t>) about the query to be executed.</a:t>
            </a:r>
          </a:p>
          <a:p>
            <a:pPr algn="just" fontAlgn="base" indent="-457200" marL="457200">
              <a:buAutoNum type="arabicPeriod"/>
            </a:pPr>
            <a:r>
              <a:rPr dirty="0" lang="en-US" smtClean="0" sz="3100"/>
              <a:t>The </a:t>
            </a:r>
            <a:r>
              <a:rPr dirty="0" err="1" lang="en-US" smtClean="0" sz="3100"/>
              <a:t>mongos</a:t>
            </a:r>
            <a:r>
              <a:rPr dirty="0" lang="en-US" smtClean="0" sz="3100"/>
              <a:t> instance consults the </a:t>
            </a:r>
            <a:r>
              <a:rPr dirty="0" err="1" lang="en-US" smtClean="0" sz="3100"/>
              <a:t>config</a:t>
            </a:r>
            <a:r>
              <a:rPr dirty="0" lang="en-US" smtClean="0" sz="3100"/>
              <a:t> servers to check which shard contains the required data set to send the query to that shard.</a:t>
            </a:r>
          </a:p>
          <a:p>
            <a:pPr algn="just" fontAlgn="base" indent="-457200" marL="457200">
              <a:buAutoNum type="arabicPeriod"/>
            </a:pPr>
            <a:r>
              <a:rPr dirty="0" lang="en-US" smtClean="0" sz="3100"/>
              <a:t>Finally, the result of the query will be returned to the application.</a:t>
            </a:r>
          </a:p>
        </p:txBody>
      </p:sp>
      <p:pic>
        <p:nvPicPr>
          <p:cNvPr id="1026" name="Picture 2"/>
          <p:cNvPicPr>
            <a:picLocks noChangeArrowheads="1" noChangeAspect="1"/>
          </p:cNvPicPr>
          <p:nvPr/>
        </p:nvPicPr>
        <p:blipFill>
          <a:blip r:embed="rId2"/>
          <a:srcRect l="33051" t="10204"/>
          <a:stretch>
            <a:fillRect/>
          </a:stretch>
        </p:blipFill>
        <p:spPr>
          <a:xfrm>
            <a:off x="1714480" y="785794"/>
            <a:ext cx="5643603" cy="3143272"/>
          </a:xfrm>
          <a:prstGeom prst="rect">
            <a:avLst/>
          </a:prstGeom>
          <a:noFill/>
          <a:ln w="9525">
            <a:noFill/>
            <a:miter lim="800000"/>
            <a:headEnd/>
            <a:tailEnd/>
          </a:ln>
          <a:effectLst/>
        </p:spPr>
      </p:pic>
    </p:spTree>
  </p:cSld>
  <p:clrMapOvr>
    <a:masterClrMapping/>
  </p:clrMapOvr>
  <p:timing>
    <p:tnLst>
      <p:par>
        <p:cTn dur="indefinite" id="1" nodeType="tmRoot" restart="never"/>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numCol="1">
            <a:normAutofit/>
          </a:bodyPr>
          <a:lstStyle/>
          <a:p>
            <a:r>
              <a:rPr b="1" dirty="0" lang="en-US" smtClean="0" sz="3200"/>
              <a:t>How Sharding works? </a:t>
            </a:r>
            <a:endParaRPr dirty="0" lang="en-US" sz="3200"/>
          </a:p>
        </p:txBody>
      </p:sp>
      <p:pic>
        <p:nvPicPr>
          <p:cNvPr id="2050" name="Picture 2"/>
          <p:cNvPicPr>
            <a:picLocks noChangeArrowheads="1" noChangeAspect="1"/>
          </p:cNvPicPr>
          <p:nvPr/>
        </p:nvPicPr>
        <p:blipFill>
          <a:blip cstate="print" r:embed="rId2"/>
          <a:srcRect/>
          <a:stretch>
            <a:fillRect/>
          </a:stretch>
        </p:blipFill>
        <p:spPr>
          <a:xfrm>
            <a:off x="285720" y="1714488"/>
            <a:ext cx="8649992" cy="1143000"/>
          </a:xfrm>
          <a:prstGeom prst="rect">
            <a:avLst/>
          </a:prstGeom>
          <a:noFill/>
          <a:ln w="9525">
            <a:noFill/>
            <a:miter lim="800000"/>
            <a:headEnd/>
            <a:tailEnd/>
          </a:ln>
        </p:spPr>
      </p:pic>
      <p:sp>
        <p:nvSpPr>
          <p:cNvPr id="5" name="Rectangle 4"/>
          <p:cNvSpPr/>
          <p:nvPr/>
        </p:nvSpPr>
        <p:spPr>
          <a:xfrm>
            <a:off x="214282" y="2928934"/>
            <a:ext cx="8786874" cy="3785652"/>
          </a:xfrm>
          <a:prstGeom prst="rect">
            <a:avLst/>
          </a:prstGeom>
        </p:spPr>
        <p:txBody>
          <a:bodyPr numCol="1" wrap="square">
            <a:spAutoFit/>
          </a:bodyPr>
          <a:lstStyle/>
          <a:p>
            <a:pPr algn="just"/>
            <a:r>
              <a:rPr b="1" dirty="0" lang="en-US" smtClean="0" sz="2400"/>
              <a:t>Shard or partition Key: </a:t>
            </a:r>
            <a:r>
              <a:rPr dirty="0" err="1" lang="en-US" smtClean="0" sz="2400"/>
              <a:t>MongoDB</a:t>
            </a:r>
            <a:r>
              <a:rPr dirty="0" lang="en-US" smtClean="0" sz="2400"/>
              <a:t> uses the shard key to distribute the collection's documents across shards. </a:t>
            </a:r>
          </a:p>
          <a:p>
            <a:pPr algn="just">
              <a:buFont charset="0" pitchFamily="34" typeface="Arial"/>
              <a:buChar char="•"/>
            </a:pPr>
            <a:r>
              <a:rPr dirty="0" lang="en-US" smtClean="0" sz="2400"/>
              <a:t> The shard key consists of a field or multiple fields in the documents.</a:t>
            </a:r>
          </a:p>
          <a:p>
            <a:pPr algn="just">
              <a:buFont charset="0" pitchFamily="34" typeface="Arial"/>
              <a:buChar char="•"/>
            </a:pPr>
            <a:r>
              <a:rPr dirty="0" lang="en-US" smtClean="0" sz="2400"/>
              <a:t> The shard key is either a single indexed field or multiple fields covered by a compound index that determines the distribution of the collection's documents among the cluster's shards.</a:t>
            </a:r>
            <a:endParaRPr b="1" dirty="0" lang="en-US" smtClean="0" sz="2400"/>
          </a:p>
          <a:p>
            <a:pPr algn="just"/>
            <a:r>
              <a:rPr b="1" dirty="0" lang="en-US" smtClean="0" sz="2400"/>
              <a:t>Logical Shard: </a:t>
            </a:r>
            <a:r>
              <a:rPr dirty="0" lang="en-US" smtClean="0" sz="2400"/>
              <a:t>is</a:t>
            </a:r>
            <a:r>
              <a:rPr dirty="0" lang="en-US" smtClean="0" sz="2400"/>
              <a:t> </a:t>
            </a:r>
            <a:r>
              <a:rPr dirty="0" lang="en-US" sz="2400"/>
              <a:t>how data is divided based on the shard key</a:t>
            </a:r>
            <a:r>
              <a:rPr dirty="0" lang="en-US" smtClean="0" sz="2400"/>
              <a:t>. (plan/logic). </a:t>
            </a:r>
            <a:endParaRPr dirty="0" lang="en-US" smtClean="0" sz="2400"/>
          </a:p>
          <a:p>
            <a:pPr algn="just"/>
            <a:r>
              <a:rPr b="1" dirty="0" lang="en-US" smtClean="0" sz="2400"/>
              <a:t>Physical Shard: </a:t>
            </a:r>
            <a:r>
              <a:rPr dirty="0" lang="en-US" smtClean="0" sz="2400"/>
              <a:t>also referred to, a database node, </a:t>
            </a:r>
            <a:r>
              <a:rPr dirty="0" lang="en-US" sz="2400"/>
              <a:t>is the actual server or machine where data is stored</a:t>
            </a:r>
            <a:r>
              <a:rPr dirty="0" lang="en-US" smtClean="0" sz="2400"/>
              <a:t>. </a:t>
            </a:r>
            <a:endParaRPr dirty="0" lang="en-US" sz="2400"/>
          </a:p>
        </p:txBody>
      </p:sp>
      <p:sp>
        <p:nvSpPr>
          <p:cNvPr id="6" name="Rectangle 5"/>
          <p:cNvSpPr/>
          <p:nvPr/>
        </p:nvSpPr>
        <p:spPr>
          <a:xfrm>
            <a:off x="228600" y="609600"/>
            <a:ext cx="8458200" cy="1200329"/>
          </a:xfrm>
          <a:prstGeom prst="rect">
            <a:avLst/>
          </a:prstGeom>
        </p:spPr>
        <p:txBody>
          <a:bodyPr numCol="1" wrap="square">
            <a:spAutoFit/>
          </a:bodyPr>
          <a:lstStyle/>
          <a:p>
            <a:pPr algn="just"/>
            <a:r>
              <a:rPr b="1" dirty="0" lang="en-US" smtClean="0" sz="2400"/>
              <a:t>How will the data be distributed across shards? </a:t>
            </a:r>
            <a:r>
              <a:rPr dirty="0" lang="en-US" smtClean="0" sz="2400"/>
              <a:t>A data store is divided into horizontal partitions or shards. A shard is a data store in its own way, running on a server, acting as a storage node.</a:t>
            </a:r>
          </a:p>
        </p:txBody>
      </p:sp>
    </p:spTree>
  </p:cSld>
  <p:clrMapOvr>
    <a:masterClrMapping/>
  </p:clrMapOvr>
  <p:timing>
    <p:tnLst>
      <p:par>
        <p:cTn dur="indefinite" id="1" nodeType="tmRoot" restart="never"/>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rrowheads="1" noChangeAspect="1"/>
          </p:cNvPicPr>
          <p:nvPr/>
        </p:nvPicPr>
        <p:blipFill>
          <a:blip cstate="print" r:embed="rId2"/>
          <a:srcRect/>
          <a:stretch>
            <a:fillRect/>
          </a:stretch>
        </p:blipFill>
        <p:spPr>
          <a:xfrm>
            <a:off x="214282" y="304800"/>
            <a:ext cx="8752151" cy="2133600"/>
          </a:xfrm>
          <a:prstGeom prst="rect">
            <a:avLst/>
          </a:prstGeom>
          <a:noFill/>
          <a:ln w="9525">
            <a:noFill/>
            <a:miter lim="800000"/>
            <a:headEnd/>
            <a:tailEnd/>
          </a:ln>
        </p:spPr>
      </p:pic>
      <p:pic>
        <p:nvPicPr>
          <p:cNvPr id="4098" name="Picture 2"/>
          <p:cNvPicPr>
            <a:picLocks noChangeArrowheads="1" noChangeAspect="1"/>
          </p:cNvPicPr>
          <p:nvPr/>
        </p:nvPicPr>
        <p:blipFill>
          <a:blip cstate="print" r:embed="rId3"/>
          <a:srcRect/>
          <a:stretch>
            <a:fillRect/>
          </a:stretch>
        </p:blipFill>
        <p:spPr>
          <a:xfrm>
            <a:off x="152400" y="2500306"/>
            <a:ext cx="8991600" cy="1111321"/>
          </a:xfrm>
          <a:prstGeom prst="rect">
            <a:avLst/>
          </a:prstGeom>
          <a:noFill/>
          <a:ln w="9525">
            <a:noFill/>
            <a:miter lim="800000"/>
            <a:headEnd/>
            <a:tailEnd/>
          </a:ln>
        </p:spPr>
      </p:pic>
      <p:sp>
        <p:nvSpPr>
          <p:cNvPr id="4" name="Rectangle 3"/>
          <p:cNvSpPr/>
          <p:nvPr/>
        </p:nvSpPr>
        <p:spPr>
          <a:xfrm>
            <a:off x="357158" y="3643314"/>
            <a:ext cx="8215370" cy="2739211"/>
          </a:xfrm>
          <a:prstGeom prst="rect">
            <a:avLst/>
          </a:prstGeom>
        </p:spPr>
        <p:txBody>
          <a:bodyPr numCol="1" wrap="square">
            <a:spAutoFit/>
          </a:bodyPr>
          <a:lstStyle/>
          <a:p>
            <a:r>
              <a:rPr b="1" dirty="0" lang="en-US" smtClean="0" sz="2000"/>
              <a:t>Steps to shard a collection using a shard key:</a:t>
            </a:r>
          </a:p>
          <a:p>
            <a:pPr lvl="1">
              <a:buFont charset="0" pitchFamily="34" typeface="Arial"/>
              <a:buChar char="•"/>
            </a:pPr>
            <a:r>
              <a:rPr altLang="en-IN" b="1" dirty="0" lang="en-IN" smtClean="0" sz="2000"/>
              <a:t> </a:t>
            </a:r>
            <a:r>
              <a:rPr dirty="0" lang="en-US" smtClean="0" sz="2000"/>
              <a:t>use </a:t>
            </a:r>
            <a:r>
              <a:rPr dirty="0" err="1" lang="en-US" smtClean="0" sz="2000"/>
              <a:t>myDatabase</a:t>
            </a:r>
            <a:endParaRPr dirty="0" lang="en-US" smtClean="0" sz="2000"/>
          </a:p>
          <a:p>
            <a:pPr lvl="1">
              <a:buFont charset="0" pitchFamily="34" typeface="Arial"/>
              <a:buChar char="•"/>
            </a:pPr>
            <a:r>
              <a:rPr dirty="0" lang="en-US" smtClean="0" sz="2000"/>
              <a:t> </a:t>
            </a:r>
            <a:r>
              <a:rPr dirty="0" err="1" lang="en-US" smtClean="0" sz="2000"/>
              <a:t>sh.enableSharding</a:t>
            </a:r>
            <a:r>
              <a:rPr dirty="0" lang="en-US" smtClean="0" sz="2000"/>
              <a:t>("</a:t>
            </a:r>
            <a:r>
              <a:rPr dirty="0" err="1" lang="en-US" smtClean="0" sz="2000"/>
              <a:t>myDatabase</a:t>
            </a:r>
            <a:r>
              <a:rPr dirty="0" lang="en-US" smtClean="0" sz="2000"/>
              <a:t>")</a:t>
            </a:r>
          </a:p>
          <a:p>
            <a:pPr lvl="1">
              <a:buFont charset="0" pitchFamily="34" typeface="Arial"/>
              <a:buChar char="•"/>
            </a:pPr>
            <a:r>
              <a:rPr dirty="0" lang="en-US" smtClean="0" sz="2000"/>
              <a:t> </a:t>
            </a:r>
            <a:r>
              <a:rPr dirty="0" err="1" lang="en-US" smtClean="0" sz="2000"/>
              <a:t>db.myCollection.createIndex</a:t>
            </a:r>
            <a:r>
              <a:rPr dirty="0" lang="en-US" smtClean="0" sz="2000"/>
              <a:t>({ </a:t>
            </a:r>
            <a:r>
              <a:rPr dirty="0" err="1" lang="en-US" smtClean="0" sz="2000"/>
              <a:t>userId</a:t>
            </a:r>
            <a:r>
              <a:rPr dirty="0" lang="en-US" smtClean="0" sz="2000"/>
              <a:t>: 1 })	</a:t>
            </a:r>
            <a:r>
              <a:rPr b="1" dirty="0" lang="en-US" smtClean="0" sz="1600">
                <a:solidFill>
                  <a:srgbClr val="FF0000"/>
                </a:solidFill>
              </a:rPr>
              <a:t>//Shard key must be indexed</a:t>
            </a:r>
            <a:endParaRPr b="1" dirty="0" lang="en-US" smtClean="0" sz="2000">
              <a:solidFill>
                <a:srgbClr val="FF0000"/>
              </a:solidFill>
            </a:endParaRPr>
          </a:p>
          <a:p>
            <a:pPr lvl="1">
              <a:buFont charset="0" pitchFamily="34" typeface="Arial"/>
              <a:buChar char="•"/>
            </a:pPr>
            <a:r>
              <a:rPr dirty="0" lang="en-US" smtClean="0" sz="2000"/>
              <a:t> </a:t>
            </a:r>
            <a:r>
              <a:rPr dirty="0" err="1" lang="en-US" smtClean="0" sz="2000"/>
              <a:t>sh.shardCollection</a:t>
            </a:r>
            <a:r>
              <a:rPr dirty="0" lang="en-US" smtClean="0" sz="2000"/>
              <a:t>("</a:t>
            </a:r>
            <a:r>
              <a:rPr dirty="0" err="1" lang="en-US" smtClean="0" sz="2000"/>
              <a:t>myDatabase.myCollection</a:t>
            </a:r>
            <a:r>
              <a:rPr dirty="0" lang="en-US" smtClean="0" sz="2000"/>
              <a:t>", { </a:t>
            </a:r>
            <a:r>
              <a:rPr dirty="0" err="1" lang="en-US" smtClean="0" sz="2000"/>
              <a:t>userId</a:t>
            </a:r>
            <a:r>
              <a:rPr dirty="0" lang="en-US" smtClean="0" sz="2000"/>
              <a:t>: 1 })</a:t>
            </a:r>
            <a:endParaRPr altLang="en-IN" dirty="0" lang="en-IN" smtClean="0"/>
          </a:p>
          <a:p>
            <a:endParaRPr dirty="0" lang="en-US" smtClean="0"/>
          </a:p>
          <a:p>
            <a:r>
              <a:rPr dirty="0" lang="en-US" smtClean="0"/>
              <a:t>	{ </a:t>
            </a:r>
            <a:r>
              <a:rPr dirty="0" err="1" lang="en-US" smtClean="0"/>
              <a:t>userId</a:t>
            </a:r>
            <a:r>
              <a:rPr dirty="0" lang="en-US" smtClean="0"/>
              <a:t>: 1 } → shard key </a:t>
            </a:r>
          </a:p>
          <a:p>
            <a:r>
              <a:rPr dirty="0" lang="en-US" smtClean="0"/>
              <a:t>	1 = ascending index</a:t>
            </a:r>
          </a:p>
          <a:p>
            <a:endParaRPr dirty="0" lang="en-US"/>
          </a:p>
        </p:txBody>
      </p:sp>
    </p:spTree>
  </p:cSld>
  <p:clrMapOvr>
    <a:masterClrMapping/>
  </p:clrMapOvr>
  <p:transition/>
  <p:timing>
    <p:tnLst>
      <p:par>
        <p:cTn dur="indefinite" id="1" nodeType="tmRoot" restart="never"/>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Shard key</a:t>
            </a:r>
            <a:endParaRPr b="1" dirty="0" lang="en-US" sz="3200"/>
          </a:p>
        </p:txBody>
      </p:sp>
      <p:sp>
        <p:nvSpPr>
          <p:cNvPr id="3" name="Content Placeholder 2"/>
          <p:cNvSpPr>
            <a:spLocks noGrp="1"/>
          </p:cNvSpPr>
          <p:nvPr>
            <p:ph idx="1"/>
          </p:nvPr>
        </p:nvSpPr>
        <p:spPr>
          <a:xfrm>
            <a:off x="0" y="533400"/>
            <a:ext cx="8991600" cy="6324600"/>
          </a:xfrm>
        </p:spPr>
        <p:txBody>
          <a:bodyPr numCol="1">
            <a:normAutofit fontScale="70000" lnSpcReduction="20000"/>
          </a:bodyPr>
          <a:lstStyle/>
          <a:p>
            <a:pPr algn="just" fontAlgn="base"/>
            <a:r>
              <a:rPr dirty="0" lang="en-US" smtClean="0"/>
              <a:t>When </a:t>
            </a:r>
            <a:r>
              <a:rPr dirty="0" err="1" lang="en-US" smtClean="0"/>
              <a:t>sharding</a:t>
            </a:r>
            <a:r>
              <a:rPr dirty="0" lang="en-US" smtClean="0"/>
              <a:t> a </a:t>
            </a:r>
            <a:r>
              <a:rPr dirty="0" err="1" lang="en-US" smtClean="0"/>
              <a:t>MongoDB</a:t>
            </a:r>
            <a:r>
              <a:rPr dirty="0" lang="en-US" smtClean="0"/>
              <a:t> collection, a shard key gets created as one of the initial steps. </a:t>
            </a:r>
          </a:p>
          <a:p>
            <a:pPr algn="just" fontAlgn="base"/>
            <a:endParaRPr dirty="0" lang="en-US" smtClean="0"/>
          </a:p>
          <a:p>
            <a:pPr algn="just" fontAlgn="base"/>
            <a:r>
              <a:rPr dirty="0" lang="en-US" smtClean="0"/>
              <a:t>The “shard key” is used to distribute the </a:t>
            </a:r>
            <a:r>
              <a:rPr dirty="0" err="1" lang="en-US" smtClean="0"/>
              <a:t>MongoDB</a:t>
            </a:r>
            <a:r>
              <a:rPr dirty="0" lang="en-US" smtClean="0"/>
              <a:t> collection’s documents across all the shards. </a:t>
            </a:r>
          </a:p>
          <a:p>
            <a:pPr algn="just" fontAlgn="base"/>
            <a:endParaRPr dirty="0" lang="en-US" smtClean="0"/>
          </a:p>
          <a:p>
            <a:pPr algn="just" fontAlgn="base"/>
            <a:r>
              <a:rPr dirty="0" lang="en-US" smtClean="0"/>
              <a:t>The key consists of a single field or multiple fields in every document. </a:t>
            </a:r>
          </a:p>
          <a:p>
            <a:pPr algn="just" fontAlgn="base"/>
            <a:endParaRPr dirty="0" lang="en-US" smtClean="0"/>
          </a:p>
          <a:p>
            <a:pPr algn="just" fontAlgn="base"/>
            <a:r>
              <a:rPr b="1" dirty="0" lang="en-US" smtClean="0">
                <a:solidFill>
                  <a:srgbClr val="FF0000"/>
                </a:solidFill>
              </a:rPr>
              <a:t>The </a:t>
            </a:r>
            <a:r>
              <a:rPr b="1" dirty="0" err="1" lang="en-US" smtClean="0">
                <a:solidFill>
                  <a:srgbClr val="FF0000"/>
                </a:solidFill>
              </a:rPr>
              <a:t>sharded</a:t>
            </a:r>
            <a:r>
              <a:rPr b="1" dirty="0" lang="en-US" smtClean="0">
                <a:solidFill>
                  <a:srgbClr val="FF0000"/>
                </a:solidFill>
              </a:rPr>
              <a:t> key is immutable and cannot be changed after </a:t>
            </a:r>
            <a:r>
              <a:rPr b="1" dirty="0" err="1" lang="en-US" smtClean="0">
                <a:solidFill>
                  <a:srgbClr val="FF0000"/>
                </a:solidFill>
              </a:rPr>
              <a:t>sharding</a:t>
            </a:r>
            <a:r>
              <a:rPr b="1" dirty="0" lang="en-US" smtClean="0">
                <a:solidFill>
                  <a:srgbClr val="FF0000"/>
                </a:solidFill>
              </a:rPr>
              <a:t> </a:t>
            </a:r>
            <a:r>
              <a:rPr dirty="0" lang="en-US" smtClean="0"/>
              <a:t>because data is already distributed across shards using the original key  and changing it would require re-</a:t>
            </a:r>
            <a:r>
              <a:rPr dirty="0" err="1" lang="en-US" smtClean="0"/>
              <a:t>sharding</a:t>
            </a:r>
            <a:r>
              <a:rPr dirty="0" lang="en-US" smtClean="0"/>
              <a:t> the entire dataset.</a:t>
            </a:r>
          </a:p>
          <a:p>
            <a:pPr algn="just" fontAlgn="base"/>
            <a:r>
              <a:rPr b="1" dirty="0" lang="en-US" smtClean="0">
                <a:solidFill>
                  <a:srgbClr val="FF0000"/>
                </a:solidFill>
              </a:rPr>
              <a:t>A </a:t>
            </a:r>
            <a:r>
              <a:rPr b="1" dirty="0" err="1" lang="en-US" smtClean="0">
                <a:solidFill>
                  <a:srgbClr val="FF0000"/>
                </a:solidFill>
              </a:rPr>
              <a:t>sharded</a:t>
            </a:r>
            <a:r>
              <a:rPr b="1" dirty="0" lang="en-US" smtClean="0">
                <a:solidFill>
                  <a:srgbClr val="FF0000"/>
                </a:solidFill>
              </a:rPr>
              <a:t> collection only contains a single shard key.</a:t>
            </a:r>
          </a:p>
          <a:p>
            <a:pPr algn="just" fontAlgn="base" lvl="1"/>
            <a:r>
              <a:rPr dirty="0" lang="en-US" smtClean="0"/>
              <a:t>For example,</a:t>
            </a:r>
          </a:p>
          <a:p>
            <a:pPr algn="just" fontAlgn="base" lvl="1">
              <a:buNone/>
            </a:pPr>
            <a:r>
              <a:rPr dirty="0" lang="en-US" smtClean="0"/>
              <a:t>			</a:t>
            </a:r>
            <a:r>
              <a:rPr dirty="0" err="1" lang="en-US" smtClean="0"/>
              <a:t>sh.shardCollection</a:t>
            </a:r>
            <a:r>
              <a:rPr dirty="0" lang="en-US" smtClean="0"/>
              <a:t>("</a:t>
            </a:r>
            <a:r>
              <a:rPr dirty="0" err="1" lang="en-US" smtClean="0"/>
              <a:t>ecommerce.orders</a:t>
            </a:r>
            <a:r>
              <a:rPr dirty="0" lang="en-US" smtClean="0"/>
              <a:t>", { </a:t>
            </a:r>
            <a:r>
              <a:rPr dirty="0" err="1" lang="en-US" smtClean="0"/>
              <a:t>userId</a:t>
            </a:r>
            <a:r>
              <a:rPr dirty="0" lang="en-US" smtClean="0"/>
              <a:t>: 1 })</a:t>
            </a:r>
          </a:p>
          <a:p>
            <a:pPr lvl="1"/>
            <a:r>
              <a:rPr dirty="0" lang="en-US" smtClean="0"/>
              <a:t>Now, every document in orders is placed based on </a:t>
            </a:r>
            <a:r>
              <a:rPr dirty="0" err="1" lang="en-US" smtClean="0"/>
              <a:t>userId</a:t>
            </a:r>
            <a:r>
              <a:rPr dirty="0" lang="en-US" smtClean="0"/>
              <a:t> . </a:t>
            </a:r>
            <a:r>
              <a:rPr dirty="0" err="1" lang="en-US" smtClean="0"/>
              <a:t>MongoDB</a:t>
            </a:r>
            <a:r>
              <a:rPr dirty="0" lang="en-US" smtClean="0"/>
              <a:t> will </a:t>
            </a:r>
            <a:r>
              <a:rPr b="1" dirty="0" lang="en-US" smtClean="0"/>
              <a:t>always use this same key</a:t>
            </a:r>
            <a:r>
              <a:rPr dirty="0" lang="en-US" smtClean="0"/>
              <a:t> </a:t>
            </a:r>
          </a:p>
          <a:p>
            <a:pPr lvl="1"/>
            <a:r>
              <a:rPr dirty="0" lang="en-US" smtClean="0"/>
              <a:t>You cannot later say: “Use </a:t>
            </a:r>
            <a:r>
              <a:rPr dirty="0" err="1" lang="en-US" smtClean="0"/>
              <a:t>productId</a:t>
            </a:r>
            <a:r>
              <a:rPr dirty="0" lang="en-US" smtClean="0"/>
              <a:t> for some documents”  and “Use date for others”</a:t>
            </a:r>
          </a:p>
          <a:p>
            <a:pPr algn="just" fontAlgn="base" lvl="1">
              <a:buNone/>
            </a:pPr>
            <a:endParaRPr b="1" dirty="0" lang="en-US" smtClean="0">
              <a:solidFill>
                <a:srgbClr val="FF0000"/>
              </a:solidFill>
            </a:endParaRPr>
          </a:p>
          <a:p>
            <a:pPr algn="just" fontAlgn="base"/>
            <a:endParaRPr dirty="0" lang="en-US" smtClean="0"/>
          </a:p>
          <a:p>
            <a:endParaRPr dirty="0" lang="en-US"/>
          </a:p>
        </p:txBody>
      </p:sp>
    </p:spTree>
  </p:cSld>
  <p:clrMapOvr>
    <a:masterClrMapping/>
  </p:clrMapOvr>
  <p:timing>
    <p:tnLst>
      <p:par>
        <p:cTn dur="indefinite" id="1" nodeType="tmRoot" restart="never"/>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8229600" cy="533400"/>
          </a:xfrm>
        </p:spPr>
        <p:txBody>
          <a:bodyPr numCol="1">
            <a:noAutofit/>
          </a:bodyPr>
          <a:lstStyle/>
          <a:p>
            <a:r>
              <a:rPr b="1" dirty="0" lang="en-US" smtClean="0" sz="3200"/>
              <a:t>Shard key</a:t>
            </a:r>
            <a:endParaRPr b="1" dirty="0" lang="en-US" sz="3200"/>
          </a:p>
        </p:txBody>
      </p:sp>
      <p:sp>
        <p:nvSpPr>
          <p:cNvPr id="3" name="Content Placeholder 2"/>
          <p:cNvSpPr>
            <a:spLocks noGrp="1"/>
          </p:cNvSpPr>
          <p:nvPr>
            <p:ph idx="1"/>
          </p:nvPr>
        </p:nvSpPr>
        <p:spPr>
          <a:xfrm>
            <a:off x="0" y="533400"/>
            <a:ext cx="8991600" cy="6324600"/>
          </a:xfrm>
        </p:spPr>
        <p:txBody>
          <a:bodyPr numCol="1">
            <a:normAutofit/>
          </a:bodyPr>
          <a:lstStyle/>
          <a:p>
            <a:pPr algn="just" fontAlgn="base">
              <a:buNone/>
            </a:pPr>
            <a:endParaRPr dirty="0" lang="en-US" smtClean="0" sz="2800"/>
          </a:p>
          <a:p>
            <a:pPr algn="just" fontAlgn="base"/>
            <a:r>
              <a:rPr dirty="0" lang="en-US" smtClean="0" sz="2800"/>
              <a:t>The shard key can directly have an impact on the performance of the cluster. Hence can lead to bottlenecks in applications associated with the cluster. </a:t>
            </a:r>
          </a:p>
          <a:p>
            <a:pPr algn="just" fontAlgn="base"/>
            <a:endParaRPr dirty="0" lang="en-US" smtClean="0" sz="2800"/>
          </a:p>
          <a:p>
            <a:pPr algn="just" fontAlgn="base"/>
            <a:r>
              <a:rPr dirty="0" lang="en-US" smtClean="0" sz="2800"/>
              <a:t>To mitigate this, before </a:t>
            </a:r>
            <a:r>
              <a:rPr dirty="0" err="1" lang="en-US" smtClean="0" sz="2800"/>
              <a:t>sharding</a:t>
            </a:r>
            <a:r>
              <a:rPr dirty="0" lang="en-US" smtClean="0" sz="2800"/>
              <a:t> the collection, the shard key must be created based on:</a:t>
            </a:r>
          </a:p>
          <a:p>
            <a:pPr algn="just" fontAlgn="base" lvl="1">
              <a:buFont charset="2" pitchFamily="2" typeface="Wingdings"/>
              <a:buChar char="Ø"/>
            </a:pPr>
            <a:r>
              <a:rPr dirty="0" lang="en-US" smtClean="0" sz="2400"/>
              <a:t>The schema of the data set</a:t>
            </a:r>
          </a:p>
          <a:p>
            <a:pPr algn="just" fontAlgn="base" lvl="1">
              <a:buFont charset="2" pitchFamily="2" typeface="Wingdings"/>
              <a:buChar char="Ø"/>
            </a:pPr>
            <a:r>
              <a:rPr dirty="0" lang="en-US" smtClean="0" sz="2400"/>
              <a:t>How the data set is queried</a:t>
            </a:r>
          </a:p>
          <a:p>
            <a:endParaRPr dirty="0" lang="en-US"/>
          </a:p>
        </p:txBody>
      </p:sp>
    </p:spTree>
  </p:cSld>
  <p:clrMapOvr>
    <a:masterClrMapping/>
  </p:clrMapOvr>
  <p:timing>
    <p:tnLst>
      <p:par>
        <p:cTn dur="indefinite" id="1" nodeType="tmRoot" restart="never"/>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629400"/>
          </a:xfrm>
        </p:spPr>
        <p:txBody>
          <a:bodyPr numCol="1"/>
          <a:lstStyle/>
          <a:p>
            <a:pPr algn="just" fontAlgn="base">
              <a:buNone/>
            </a:pPr>
            <a:r>
              <a:rPr b="1" dirty="0" lang="en-US" smtClean="0" sz="2400"/>
              <a:t>Chunks: </a:t>
            </a:r>
            <a:r>
              <a:rPr dirty="0" lang="en-US" smtClean="0" sz="2400"/>
              <a:t>Chunks are subsets of shared data. </a:t>
            </a:r>
            <a:r>
              <a:rPr dirty="0" err="1" lang="en-US" smtClean="0" sz="2400"/>
              <a:t>MongoDB</a:t>
            </a:r>
            <a:r>
              <a:rPr dirty="0" lang="en-US" smtClean="0" sz="2400"/>
              <a:t> separates </a:t>
            </a:r>
            <a:r>
              <a:rPr dirty="0" err="1" lang="en-US" smtClean="0" sz="2400"/>
              <a:t>sharded</a:t>
            </a:r>
            <a:r>
              <a:rPr dirty="0" lang="en-US" smtClean="0" sz="2400"/>
              <a:t> data into chunks that are distributed across the shards in the shared cluster. Each chunk has an inclusive lower and exclusive upper range based on the shard key. A </a:t>
            </a:r>
            <a:r>
              <a:rPr b="1" dirty="0" lang="en-US" smtClean="0" sz="2400">
                <a:solidFill>
                  <a:srgbClr val="FF0000"/>
                </a:solidFill>
              </a:rPr>
              <a:t>balancer</a:t>
            </a:r>
            <a:r>
              <a:rPr dirty="0" lang="en-US" smtClean="0" sz="2400"/>
              <a:t> specific for each cluster handles the chunk distribution.</a:t>
            </a:r>
          </a:p>
          <a:p>
            <a:pPr algn="just" fontAlgn="base"/>
            <a:r>
              <a:rPr dirty="0" lang="en-US" smtClean="0" sz="2400"/>
              <a:t>The balancer runs as a background job and distributes the chunks as needed to achieve an even balance of chunks across all shards. This process is called </a:t>
            </a:r>
            <a:r>
              <a:rPr b="1" dirty="0" lang="en-US" smtClean="0" sz="2400">
                <a:solidFill>
                  <a:srgbClr val="FF0000"/>
                </a:solidFill>
              </a:rPr>
              <a:t>even chuck distribution.</a:t>
            </a:r>
          </a:p>
          <a:p>
            <a:endParaRPr dirty="0" lang="en-US"/>
          </a:p>
        </p:txBody>
      </p:sp>
      <p:pic>
        <p:nvPicPr>
          <p:cNvPr id="44034" name="Picture 2"/>
          <p:cNvPicPr>
            <a:picLocks noChangeArrowheads="1" noChangeAspect="1"/>
          </p:cNvPicPr>
          <p:nvPr/>
        </p:nvPicPr>
        <p:blipFill>
          <a:blip cstate="print" r:embed="rId2"/>
          <a:srcRect/>
          <a:stretch>
            <a:fillRect/>
          </a:stretch>
        </p:blipFill>
        <p:spPr>
          <a:xfrm>
            <a:off x="1619672" y="3284984"/>
            <a:ext cx="6222082" cy="2045020"/>
          </a:xfrm>
          <a:prstGeom prst="rect">
            <a:avLst/>
          </a:prstGeom>
          <a:noFill/>
          <a:ln w="9525">
            <a:noFill/>
            <a:miter lim="800000"/>
            <a:headEnd/>
            <a:tailEnd/>
          </a:ln>
        </p:spPr>
      </p:pic>
      <p:sp>
        <p:nvSpPr>
          <p:cNvPr id="2" name="Rectangle 1"/>
          <p:cNvSpPr/>
          <p:nvPr/>
        </p:nvSpPr>
        <p:spPr>
          <a:xfrm>
            <a:off x="899592" y="5363540"/>
            <a:ext cx="7560840" cy="1200329"/>
          </a:xfrm>
          <a:prstGeom prst="rect">
            <a:avLst/>
          </a:prstGeom>
        </p:spPr>
        <p:txBody>
          <a:bodyPr numCol="1" wrap="square">
            <a:spAutoFit/>
          </a:bodyPr>
          <a:lstStyle/>
          <a:p>
            <a:r>
              <a:rPr altLang="en-IN" dirty="0" err="1" lang="en-IN"/>
              <a:t>sh.splitAt</a:t>
            </a:r>
            <a:r>
              <a:rPr altLang="en-IN" dirty="0" lang="en-IN"/>
              <a:t>("</a:t>
            </a:r>
            <a:r>
              <a:rPr altLang="en-IN" dirty="0" err="1" lang="en-IN"/>
              <a:t>myDatabase.myCollection</a:t>
            </a:r>
            <a:r>
              <a:rPr altLang="en-IN" dirty="0" lang="en-IN"/>
              <a:t>", { </a:t>
            </a:r>
            <a:r>
              <a:rPr altLang="en-IN" dirty="0" err="1" lang="en-IN"/>
              <a:t>userId</a:t>
            </a:r>
            <a:r>
              <a:rPr altLang="en-IN" dirty="0" lang="en-IN"/>
              <a:t>: 100 })</a:t>
            </a:r>
            <a:br>
              <a:rPr altLang="en-IN" dirty="0" lang="en-IN"/>
            </a:br>
            <a:r>
              <a:rPr altLang="en-IN" dirty="0" err="1" lang="en-IN"/>
              <a:t>sh.splitAt</a:t>
            </a:r>
            <a:r>
              <a:rPr altLang="en-IN" dirty="0" lang="en-IN"/>
              <a:t>("</a:t>
            </a:r>
            <a:r>
              <a:rPr altLang="en-IN" dirty="0" err="1" lang="en-IN"/>
              <a:t>myDatabase.myCollection</a:t>
            </a:r>
            <a:r>
              <a:rPr altLang="en-IN" dirty="0" lang="en-IN"/>
              <a:t>", { </a:t>
            </a:r>
            <a:r>
              <a:rPr altLang="en-IN" dirty="0" err="1" lang="en-IN"/>
              <a:t>userId</a:t>
            </a:r>
            <a:r>
              <a:rPr altLang="en-IN" dirty="0" lang="en-IN"/>
              <a:t>: 200 </a:t>
            </a:r>
            <a:r>
              <a:rPr altLang="en-IN" dirty="0" lang="en-IN" smtClean="0"/>
              <a:t>})</a:t>
            </a:r>
          </a:p>
          <a:p>
            <a:r>
              <a:rPr altLang="en-IN" dirty="0" err="1" lang="en-IN"/>
              <a:t>sh.moveChunk</a:t>
            </a:r>
            <a:r>
              <a:rPr altLang="en-IN" dirty="0" lang="en-IN"/>
              <a:t>("</a:t>
            </a:r>
            <a:r>
              <a:rPr altLang="en-IN" dirty="0" err="1" lang="en-IN"/>
              <a:t>myDatabase.myCollection</a:t>
            </a:r>
            <a:r>
              <a:rPr altLang="en-IN" dirty="0" lang="en-IN"/>
              <a:t>", { </a:t>
            </a:r>
            <a:r>
              <a:rPr altLang="en-IN" dirty="0" err="1" lang="en-IN"/>
              <a:t>userId</a:t>
            </a:r>
            <a:r>
              <a:rPr altLang="en-IN" dirty="0" lang="en-IN"/>
              <a:t>: 150 }, "shard0001</a:t>
            </a:r>
            <a:r>
              <a:rPr altLang="en-IN" dirty="0" lang="en-IN" smtClean="0"/>
              <a:t>")</a:t>
            </a:r>
          </a:p>
          <a:p>
            <a:r>
              <a:rPr altLang="en-IN" dirty="0" err="1" lang="en-IN"/>
              <a:t>sh.shardCollection</a:t>
            </a:r>
            <a:r>
              <a:rPr altLang="en-IN" dirty="0" lang="en-IN"/>
              <a:t>("</a:t>
            </a:r>
            <a:r>
              <a:rPr altLang="en-IN" dirty="0" err="1" lang="en-IN"/>
              <a:t>myDatabase.myCollection</a:t>
            </a:r>
            <a:r>
              <a:rPr altLang="en-IN" dirty="0" lang="en-IN"/>
              <a:t>", { </a:t>
            </a:r>
            <a:r>
              <a:rPr altLang="en-IN" dirty="0" err="1" lang="en-IN"/>
              <a:t>userId</a:t>
            </a:r>
            <a:r>
              <a:rPr altLang="en-IN" dirty="0" lang="en-IN"/>
              <a:t>: "hashed" })</a:t>
            </a:r>
          </a:p>
        </p:txBody>
      </p:sp>
    </p:spTree>
  </p:cSld>
  <p:clrMapOvr>
    <a:masterClrMapping/>
  </p:clrMapOvr>
  <p:timing>
    <p:tnLst>
      <p:par>
        <p:cTn dur="indefinite" id="1" nodeType="tmRoot" restart="never"/>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numCol="1">
            <a:normAutofit fontScale="90000"/>
          </a:bodyPr>
          <a:lstStyle/>
          <a:p>
            <a:r>
              <a:rPr dirty="0" lang="en-US" smtClean="0"/>
              <a:t>Choose a Shard Key</a:t>
            </a:r>
            <a:endParaRPr dirty="0" lang="en-US"/>
          </a:p>
        </p:txBody>
      </p:sp>
      <p:sp>
        <p:nvSpPr>
          <p:cNvPr id="3" name="Content Placeholder 2"/>
          <p:cNvSpPr>
            <a:spLocks noGrp="1"/>
          </p:cNvSpPr>
          <p:nvPr>
            <p:ph idx="1"/>
          </p:nvPr>
        </p:nvSpPr>
        <p:spPr>
          <a:xfrm>
            <a:off x="152400" y="533400"/>
            <a:ext cx="8839200" cy="6324600"/>
          </a:xfrm>
        </p:spPr>
        <p:txBody>
          <a:bodyPr numCol="1">
            <a:normAutofit/>
          </a:bodyPr>
          <a:lstStyle/>
          <a:p>
            <a:pPr algn="just"/>
            <a:r>
              <a:rPr dirty="0" lang="en-US" smtClean="0" sz="2000"/>
              <a:t>The choice of shard key affects the creation and distribution of chunks across the available shards. The distribution of data affects the efficiency and performance of operations within the </a:t>
            </a:r>
            <a:r>
              <a:rPr dirty="0" err="1" lang="en-US" smtClean="0" sz="2000"/>
              <a:t>sharded</a:t>
            </a:r>
            <a:r>
              <a:rPr dirty="0" lang="en-US" smtClean="0" sz="2000"/>
              <a:t> cluster.</a:t>
            </a:r>
          </a:p>
          <a:p>
            <a:pPr algn="just"/>
            <a:r>
              <a:rPr dirty="0" lang="en-US" smtClean="0" sz="2000"/>
              <a:t>The ideal shard key allows </a:t>
            </a:r>
            <a:r>
              <a:rPr dirty="0" err="1" lang="en-US" smtClean="0" sz="2000"/>
              <a:t>MongoDB</a:t>
            </a:r>
            <a:r>
              <a:rPr dirty="0" lang="en-US" smtClean="0" sz="2000"/>
              <a:t> to distribute documents evenly throughout the cluster while also facilitating common query patterns.</a:t>
            </a:r>
          </a:p>
          <a:p>
            <a:pPr algn="just"/>
            <a:r>
              <a:rPr dirty="0" lang="en-US" smtClean="0" sz="2000"/>
              <a:t>When you choose your shard key, consider:</a:t>
            </a:r>
          </a:p>
          <a:p>
            <a:pPr algn="just">
              <a:buFont charset="2" pitchFamily="2" typeface="Wingdings"/>
              <a:buChar char="Ø"/>
            </a:pPr>
            <a:r>
              <a:rPr b="1" dirty="0" lang="en-US" smtClean="0" sz="2000"/>
              <a:t>The cardinality of the shard key:</a:t>
            </a:r>
            <a:r>
              <a:rPr dirty="0" lang="en-US" smtClean="0" sz="2000"/>
              <a:t> The cardinality of a shard key determines the maximum number of chunks the balancer can create. Where possible, choose a shard key with high cardinality. A shard key with low cardinality reduces the effectiveness of horizontal scaling in the cluster. A unique shard key value can exist on a single chunk.</a:t>
            </a:r>
          </a:p>
          <a:p>
            <a:pPr algn="just">
              <a:buFont charset="2" pitchFamily="2" typeface="Wingdings"/>
              <a:buChar char="Ø"/>
            </a:pPr>
            <a:r>
              <a:rPr b="1" dirty="0" lang="en-US" smtClean="0" sz="2000"/>
              <a:t>The frequency with which shard key values occur: </a:t>
            </a:r>
            <a:r>
              <a:rPr dirty="0" lang="en-US" smtClean="0" sz="2000"/>
              <a:t>The frequency of the shard key represents how often a given shard key value occurs in the data. If the majority of documents contain only a subset of the possible shard key values, then the chunks storing the documents with those values can become a bottleneck within the cluster.</a:t>
            </a:r>
          </a:p>
          <a:p>
            <a:pPr algn="just">
              <a:buFont charset="2" pitchFamily="2" typeface="Wingdings"/>
              <a:buChar char="Ø"/>
            </a:pPr>
            <a:r>
              <a:rPr b="1" dirty="0" err="1" lang="en-US" smtClean="0" sz="2000"/>
              <a:t>Sharding</a:t>
            </a:r>
            <a:r>
              <a:rPr b="1" dirty="0" lang="en-US" smtClean="0" sz="2000"/>
              <a:t> Query Patterns: </a:t>
            </a:r>
            <a:r>
              <a:rPr dirty="0" lang="en-US" smtClean="0" sz="2000"/>
              <a:t> consider your most common query patterns and whether a given shard key covers them.</a:t>
            </a:r>
          </a:p>
          <a:p>
            <a:pPr algn="just">
              <a:buFont charset="2" pitchFamily="2" typeface="Wingdings"/>
              <a:buChar char="Ø"/>
            </a:pPr>
            <a:r>
              <a:rPr dirty="0" lang="en-US" smtClean="0" sz="2000"/>
              <a:t>You should not choose a key which frequently changes.</a:t>
            </a:r>
            <a:endParaRPr dirty="0" lang="en-US" sz="2000"/>
          </a:p>
        </p:txBody>
      </p:sp>
    </p:spTree>
  </p:cSld>
  <p:clrMapOvr>
    <a:masterClrMapping/>
  </p:clrMapOvr>
  <p:timing>
    <p:tnLst>
      <p:par>
        <p:cTn dur="indefinite" id="1" nodeType="tmRoot" restart="never"/>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numCol="1">
            <a:normAutofit fontScale="90000"/>
          </a:bodyPr>
          <a:lstStyle/>
          <a:p>
            <a:r>
              <a:rPr dirty="0" lang="en-US" smtClean="0"/>
              <a:t>Cardinality of the shard key</a:t>
            </a:r>
            <a:endParaRPr dirty="0" lang="en-US"/>
          </a:p>
        </p:txBody>
      </p:sp>
      <p:sp>
        <p:nvSpPr>
          <p:cNvPr id="3" name="Content Placeholder 2"/>
          <p:cNvSpPr>
            <a:spLocks noGrp="1"/>
          </p:cNvSpPr>
          <p:nvPr>
            <p:ph idx="1"/>
          </p:nvPr>
        </p:nvSpPr>
        <p:spPr>
          <a:xfrm>
            <a:off x="152400" y="533400"/>
            <a:ext cx="8839200" cy="6324600"/>
          </a:xfrm>
        </p:spPr>
        <p:txBody>
          <a:bodyPr numCol="1">
            <a:normAutofit/>
          </a:bodyPr>
          <a:lstStyle/>
          <a:p>
            <a:pPr algn="just"/>
            <a:r>
              <a:rPr b="1" dirty="0" lang="en-US" smtClean="0" sz="2000"/>
              <a:t>Cardinality</a:t>
            </a:r>
            <a:r>
              <a:rPr dirty="0" lang="en-US" smtClean="0" sz="2000"/>
              <a:t> refers to the number of unique values in a potential shard key i.e. the number of distinct values for a field used to distribute data across shards. </a:t>
            </a:r>
          </a:p>
          <a:p>
            <a:pPr algn="just"/>
            <a:r>
              <a:rPr dirty="0" lang="en-US" smtClean="0" sz="2000"/>
              <a:t>It is a critical factor in determining how effectively a database can scale horizontally.</a:t>
            </a:r>
          </a:p>
          <a:p>
            <a:r>
              <a:rPr b="1" dirty="0" lang="en-US" smtClean="0" sz="2000"/>
              <a:t>High Cardinality:</a:t>
            </a:r>
            <a:r>
              <a:rPr dirty="0" lang="en-US" smtClean="0" sz="2000"/>
              <a:t> A shard key with many unique values </a:t>
            </a:r>
            <a:r>
              <a:rPr dirty="0" i="1" lang="en-US" smtClean="0" sz="2000"/>
              <a:t>(e.g., </a:t>
            </a:r>
            <a:r>
              <a:rPr dirty="0" err="1" i="1" lang="en-US" smtClean="0" sz="2000"/>
              <a:t>user_id</a:t>
            </a:r>
            <a:r>
              <a:rPr dirty="0" i="1" lang="en-US" smtClean="0" sz="2000"/>
              <a:t>, email) </a:t>
            </a:r>
            <a:r>
              <a:rPr dirty="0" lang="en-US" smtClean="0" sz="2000"/>
              <a:t>allows for fine-grained data distribution and supports a large number of shards.</a:t>
            </a:r>
          </a:p>
          <a:p>
            <a:r>
              <a:rPr b="1" dirty="0" lang="en-US" smtClean="0" sz="2000"/>
              <a:t>Low Cardinality:</a:t>
            </a:r>
            <a:r>
              <a:rPr dirty="0" lang="en-US" smtClean="0" sz="2000"/>
              <a:t> A key with very few unique </a:t>
            </a:r>
            <a:r>
              <a:rPr dirty="0" i="1" lang="en-US" smtClean="0" sz="2000"/>
              <a:t>values (e.g., </a:t>
            </a:r>
            <a:r>
              <a:rPr dirty="0" err="1" i="1" lang="en-US" smtClean="0" sz="2000"/>
              <a:t>is_premium</a:t>
            </a:r>
            <a:r>
              <a:rPr dirty="0" i="1" lang="en-US" smtClean="0" sz="2000"/>
              <a:t> </a:t>
            </a:r>
            <a:r>
              <a:rPr dirty="0" err="1" i="1" lang="en-US" smtClean="0" sz="2000"/>
              <a:t>boolean</a:t>
            </a:r>
            <a:r>
              <a:rPr dirty="0" i="1" lang="en-US" smtClean="0" sz="2000"/>
              <a:t> or continent with only 7 values) </a:t>
            </a:r>
            <a:r>
              <a:rPr dirty="0" lang="en-US" smtClean="0" sz="2000"/>
              <a:t>limits the total number of shards you can effectively have. For instance, a </a:t>
            </a:r>
            <a:r>
              <a:rPr dirty="0" err="1" lang="en-US" smtClean="0" sz="2000"/>
              <a:t>boolean</a:t>
            </a:r>
            <a:r>
              <a:rPr dirty="0" lang="en-US" smtClean="0" sz="2000"/>
              <a:t> key limits you to just two shards.</a:t>
            </a:r>
          </a:p>
          <a:p>
            <a:r>
              <a:rPr b="1" dirty="0" lang="en-US" smtClean="0" sz="2000"/>
              <a:t>Select High-Cardinality Keys:</a:t>
            </a:r>
            <a:r>
              <a:rPr dirty="0" lang="en-US" smtClean="0" sz="2000"/>
              <a:t> Choose unique identifiers like </a:t>
            </a:r>
            <a:r>
              <a:rPr dirty="0" err="1" lang="en-US" smtClean="0" sz="2000"/>
              <a:t>user_id</a:t>
            </a:r>
            <a:r>
              <a:rPr dirty="0" lang="en-US" smtClean="0" sz="2000"/>
              <a:t> or </a:t>
            </a:r>
            <a:r>
              <a:rPr dirty="0" err="1" lang="en-US" smtClean="0" sz="2000"/>
              <a:t>order_id</a:t>
            </a:r>
            <a:r>
              <a:rPr dirty="0" lang="en-US" smtClean="0" sz="2000"/>
              <a:t> to ensure data can be split into many small, manageable pieces.</a:t>
            </a:r>
          </a:p>
          <a:p>
            <a:r>
              <a:rPr b="1" dirty="0" lang="en-US" smtClean="0" sz="2000"/>
              <a:t>Compound Shard Keys:</a:t>
            </a:r>
            <a:r>
              <a:rPr dirty="0" lang="en-US" smtClean="0" sz="2000"/>
              <a:t> If your primary field has low cardinality, combine it with another field (creating a "compound shard key") to increase total uniqueness.</a:t>
            </a:r>
          </a:p>
          <a:p>
            <a:r>
              <a:rPr b="1" dirty="0" lang="en-US" smtClean="0" sz="2000"/>
              <a:t>Avoid Monotonic Keys:</a:t>
            </a:r>
            <a:r>
              <a:rPr dirty="0" lang="en-US" smtClean="0" sz="2000"/>
              <a:t> Even with high cardinality, avoid keys like timestamps that increase sequentially, as all new writes will hit the same shard, creating a bottleneck.</a:t>
            </a:r>
          </a:p>
          <a:p>
            <a:pPr algn="just"/>
            <a:endParaRPr dirty="0" lang="en-US" sz="2000"/>
          </a:p>
        </p:txBody>
      </p:sp>
    </p:spTree>
  </p:cSld>
  <p:clrMapOvr>
    <a:masterClrMapping/>
  </p:clrMapOvr>
  <p:timing>
    <p:tnLst>
      <p:par>
        <p:cTn dur="indefinite" id="1" nodeType="tmRoot" restart="never"/>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numCol="1">
            <a:normAutofit fontScale="90000"/>
          </a:bodyPr>
          <a:lstStyle/>
          <a:p>
            <a:r>
              <a:rPr dirty="0" lang="en-US" smtClean="0"/>
              <a:t>Frequency of the shard key</a:t>
            </a:r>
            <a:endParaRPr dirty="0" lang="en-US"/>
          </a:p>
        </p:txBody>
      </p:sp>
      <p:sp>
        <p:nvSpPr>
          <p:cNvPr id="3" name="Content Placeholder 2"/>
          <p:cNvSpPr>
            <a:spLocks noGrp="1"/>
          </p:cNvSpPr>
          <p:nvPr>
            <p:ph idx="1"/>
          </p:nvPr>
        </p:nvSpPr>
        <p:spPr>
          <a:xfrm>
            <a:off x="152400" y="533400"/>
            <a:ext cx="8705880" cy="6324600"/>
          </a:xfrm>
        </p:spPr>
        <p:txBody>
          <a:bodyPr numCol="1">
            <a:normAutofit lnSpcReduction="10000"/>
          </a:bodyPr>
          <a:lstStyle/>
          <a:p>
            <a:pPr algn="just"/>
            <a:r>
              <a:rPr b="1" dirty="0" lang="en-US" smtClean="0" sz="2000"/>
              <a:t>Frequency</a:t>
            </a:r>
            <a:r>
              <a:rPr dirty="0" lang="en-US" smtClean="0" sz="2000"/>
              <a:t> refers to how often a specific shard key value occurs within the dataset. </a:t>
            </a:r>
          </a:p>
          <a:p>
            <a:pPr algn="just"/>
            <a:r>
              <a:rPr dirty="0" lang="en-US" smtClean="0" sz="2000"/>
              <a:t>High frequency of a particular key means that a large portion of data shares that same key value, which can lead to data imbalance and performance bottlenecks. </a:t>
            </a:r>
          </a:p>
          <a:p>
            <a:pPr algn="just"/>
            <a:r>
              <a:rPr b="1" dirty="0" lang="en-US" smtClean="0" sz="2000"/>
              <a:t>Data Distribution:</a:t>
            </a:r>
            <a:r>
              <a:rPr dirty="0" lang="en-US" smtClean="0" sz="2000"/>
              <a:t> Frequency measures the distribution of data across possible values. A good shard key should have low frequency—meaning no single value dominates the dataset—to ensure that no single shard becomes overwhelmed.</a:t>
            </a:r>
          </a:p>
          <a:p>
            <a:pPr algn="just"/>
            <a:r>
              <a:rPr b="1" dirty="0" lang="en-US" smtClean="0" sz="2000"/>
              <a:t>Database Hotspots:</a:t>
            </a:r>
            <a:r>
              <a:rPr dirty="0" lang="en-US" smtClean="0" sz="2000"/>
              <a:t> If a shard key has high frequency (e.g., </a:t>
            </a:r>
            <a:r>
              <a:rPr dirty="0" err="1" lang="en-US" smtClean="0" sz="2000"/>
              <a:t>sharding</a:t>
            </a:r>
            <a:r>
              <a:rPr dirty="0" lang="en-US" smtClean="0" sz="2000"/>
              <a:t> a global application by "Country" where 90% of users are in one country), the shard holding that high-frequency key becomes a "hotspot". This shard will handle most of the reads/writes, causing performance degradation.</a:t>
            </a:r>
          </a:p>
          <a:p>
            <a:pPr algn="just"/>
            <a:r>
              <a:rPr b="1" dirty="0" lang="en-US" smtClean="0" sz="2000"/>
              <a:t>Impact on Scalability:</a:t>
            </a:r>
            <a:r>
              <a:rPr dirty="0" lang="en-US" smtClean="0" sz="2000"/>
              <a:t> High-frequency keys, even if they have high cardinality (many unique values), can result in unevenly sized shards. For instance, in a fitness app, a shard for "ages 30–45" might have much higher frequency (more data) than "ages 80+".</a:t>
            </a:r>
          </a:p>
          <a:p>
            <a:pPr algn="just"/>
            <a:r>
              <a:rPr b="1" dirty="0" lang="en-US" smtClean="0" sz="2000"/>
              <a:t>Frequency vs. Cardinality</a:t>
            </a:r>
            <a:endParaRPr dirty="0" lang="en-US" smtClean="0" sz="2000"/>
          </a:p>
          <a:p>
            <a:pPr algn="just" lvl="1"/>
            <a:r>
              <a:rPr b="1" dirty="0" lang="en-US" smtClean="0" sz="1800"/>
              <a:t>Cardinality:</a:t>
            </a:r>
            <a:r>
              <a:rPr dirty="0" lang="en-US" smtClean="0" sz="1800"/>
              <a:t> The </a:t>
            </a:r>
            <a:r>
              <a:rPr dirty="0" i="1" lang="en-US" smtClean="0" sz="1800"/>
              <a:t>number</a:t>
            </a:r>
            <a:r>
              <a:rPr dirty="0" lang="en-US" smtClean="0" sz="1800"/>
              <a:t> of unique values a shard key has (e.g., </a:t>
            </a:r>
            <a:r>
              <a:rPr dirty="0" err="1" lang="en-US" smtClean="0" sz="1800"/>
              <a:t>user_id</a:t>
            </a:r>
            <a:r>
              <a:rPr dirty="0" lang="en-US" smtClean="0" sz="1800"/>
              <a:t> has high cardinality; gender has low cardinality).</a:t>
            </a:r>
          </a:p>
          <a:p>
            <a:pPr algn="just" lvl="1"/>
            <a:r>
              <a:rPr b="1" dirty="0" lang="en-US" smtClean="0" sz="1800"/>
              <a:t>Frequency:</a:t>
            </a:r>
            <a:r>
              <a:rPr dirty="0" lang="en-US" smtClean="0" sz="1800"/>
              <a:t> </a:t>
            </a:r>
            <a:r>
              <a:rPr dirty="0" i="1" lang="en-US" smtClean="0" sz="1800"/>
              <a:t>How often</a:t>
            </a:r>
            <a:r>
              <a:rPr dirty="0" lang="en-US" smtClean="0" sz="1800"/>
              <a:t> each of those unique values appears in the dataset</a:t>
            </a:r>
            <a:endParaRPr b="1" dirty="0" lang="en-US" smtClean="0" sz="2000"/>
          </a:p>
          <a:p>
            <a:pPr algn="just"/>
            <a:r>
              <a:rPr b="1" dirty="0" lang="en-US" smtClean="0" sz="2000">
                <a:solidFill>
                  <a:srgbClr val="FF0000"/>
                </a:solidFill>
              </a:rPr>
              <a:t>Ideal Scenario:</a:t>
            </a:r>
            <a:r>
              <a:rPr dirty="0" lang="en-US" smtClean="0" sz="2000">
                <a:solidFill>
                  <a:srgbClr val="FF0000"/>
                </a:solidFill>
              </a:rPr>
              <a:t> High Cardinality + Low Frequency.</a:t>
            </a:r>
            <a:endParaRPr dirty="0" lang="en-US" sz="2000">
              <a:solidFill>
                <a:srgbClr val="FF0000"/>
              </a:solidFill>
            </a:endParaRPr>
          </a:p>
        </p:txBody>
      </p:sp>
    </p:spTree>
  </p:cSld>
  <p:clrMapOvr>
    <a:masterClrMapping/>
  </p:clrMapOvr>
  <p:timing>
    <p:tnLst>
      <p:par>
        <p:cTn dur="indefinite" id="1" nodeType="tmRoot" restart="never"/>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numCol="1">
            <a:normAutofit fontScale="90000"/>
          </a:bodyPr>
          <a:lstStyle/>
          <a:p>
            <a:r>
              <a:rPr dirty="0" lang="en-US" smtClean="0"/>
              <a:t>Sharding strategies   </a:t>
            </a:r>
            <a:endParaRPr dirty="0" lang="en-US"/>
          </a:p>
        </p:txBody>
      </p:sp>
      <p:sp>
        <p:nvSpPr>
          <p:cNvPr id="3" name="Content Placeholder 2"/>
          <p:cNvSpPr>
            <a:spLocks noGrp="1"/>
          </p:cNvSpPr>
          <p:nvPr>
            <p:ph idx="1"/>
          </p:nvPr>
        </p:nvSpPr>
        <p:spPr>
          <a:xfrm>
            <a:off x="152400" y="609600"/>
            <a:ext cx="8991600" cy="6172200"/>
          </a:xfrm>
        </p:spPr>
        <p:txBody>
          <a:bodyPr numCol="1">
            <a:normAutofit/>
          </a:bodyPr>
          <a:lstStyle/>
          <a:p>
            <a:pPr algn="just"/>
            <a:r>
              <a:rPr dirty="0" lang="en-US" smtClean="0" sz="2400"/>
              <a:t>There are three major strategies commonly used when selecting the shard key and distributing the data across shards.</a:t>
            </a:r>
            <a:endParaRPr dirty="0" lang="en-US" sz="2400"/>
          </a:p>
        </p:txBody>
      </p:sp>
      <p:pic>
        <p:nvPicPr>
          <p:cNvPr id="5122" name="Picture 2"/>
          <p:cNvPicPr>
            <a:picLocks noChangeArrowheads="1" noChangeAspect="1"/>
          </p:cNvPicPr>
          <p:nvPr/>
        </p:nvPicPr>
        <p:blipFill>
          <a:blip cstate="print" r:embed="rId2"/>
          <a:srcRect/>
          <a:stretch>
            <a:fillRect/>
          </a:stretch>
        </p:blipFill>
        <p:spPr>
          <a:xfrm>
            <a:off x="1981200" y="1524000"/>
            <a:ext cx="5781675" cy="5056953"/>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rrowheads="1" noChangeAspect="1"/>
          </p:cNvPicPr>
          <p:nvPr/>
        </p:nvPicPr>
        <p:blipFill>
          <a:blip cstate="print" r:embed="rId2"/>
          <a:srcRect/>
          <a:stretch>
            <a:fillRect/>
          </a:stretch>
        </p:blipFill>
        <p:spPr>
          <a:xfrm>
            <a:off x="228600" y="228600"/>
            <a:ext cx="8794750" cy="4813300"/>
          </a:xfrm>
          <a:prstGeom prst="rect">
            <a:avLst/>
          </a:prstGeom>
          <a:noFill/>
          <a:ln w="9525">
            <a:noFill/>
            <a:miter lim="800000"/>
            <a:headEnd/>
            <a:tailEnd/>
          </a:ln>
        </p:spPr>
      </p:pic>
      <p:pic>
        <p:nvPicPr>
          <p:cNvPr id="6147" name="Picture 3"/>
          <p:cNvPicPr>
            <a:picLocks noChangeArrowheads="1" noChangeAspect="1"/>
          </p:cNvPicPr>
          <p:nvPr/>
        </p:nvPicPr>
        <p:blipFill>
          <a:blip cstate="print" r:embed="rId3"/>
          <a:srcRect/>
          <a:stretch>
            <a:fillRect/>
          </a:stretch>
        </p:blipFill>
        <p:spPr>
          <a:xfrm>
            <a:off x="228600" y="5210175"/>
            <a:ext cx="8534400" cy="16478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381000"/>
          </a:xfrm>
        </p:spPr>
        <p:txBody>
          <a:bodyPr numCol="1">
            <a:normAutofit fontScale="90000"/>
          </a:bodyPr>
          <a:lstStyle/>
          <a:p>
            <a:r>
              <a:rPr dirty="0" lang="en-US" smtClean="0"/>
              <a:t>Look-up </a:t>
            </a:r>
            <a:r>
              <a:rPr dirty="0" err="1" lang="en-US" smtClean="0"/>
              <a:t>Stratergy</a:t>
            </a:r>
            <a:endParaRPr dirty="0" lang="en-US"/>
          </a:p>
        </p:txBody>
      </p:sp>
      <p:sp>
        <p:nvSpPr>
          <p:cNvPr id="3" name="Content Placeholder 2"/>
          <p:cNvSpPr>
            <a:spLocks noGrp="1"/>
          </p:cNvSpPr>
          <p:nvPr>
            <p:ph idx="1"/>
          </p:nvPr>
        </p:nvSpPr>
        <p:spPr>
          <a:xfrm>
            <a:off x="152400" y="714356"/>
            <a:ext cx="8705880" cy="6143644"/>
          </a:xfrm>
        </p:spPr>
        <p:txBody>
          <a:bodyPr numCol="1">
            <a:normAutofit/>
          </a:bodyPr>
          <a:lstStyle/>
          <a:p>
            <a:pPr algn="just"/>
            <a:r>
              <a:rPr b="1" dirty="0" lang="en-US" smtClean="0" sz="2000"/>
              <a:t>Lookup-based</a:t>
            </a:r>
            <a:r>
              <a:rPr dirty="0" lang="en-US" smtClean="0" sz="2000"/>
              <a:t> </a:t>
            </a:r>
            <a:r>
              <a:rPr dirty="0" err="1" lang="en-US" smtClean="0" sz="2000"/>
              <a:t>sharding</a:t>
            </a:r>
            <a:r>
              <a:rPr dirty="0" lang="en-US" smtClean="0" sz="2000"/>
              <a:t> (or </a:t>
            </a:r>
            <a:r>
              <a:rPr b="1" dirty="0" lang="en-US" smtClean="0" sz="2000"/>
              <a:t>directory-based</a:t>
            </a:r>
            <a:r>
              <a:rPr dirty="0" lang="en-US" smtClean="0" sz="2000"/>
              <a:t> </a:t>
            </a:r>
            <a:r>
              <a:rPr dirty="0" err="1" lang="en-US" smtClean="0" sz="2000"/>
              <a:t>sharding</a:t>
            </a:r>
            <a:r>
              <a:rPr dirty="0" lang="en-US" smtClean="0" sz="2000"/>
              <a:t>) uses a centralized lookup table or service to map specific data keys (like user IDs) directly to a specific physical shard. </a:t>
            </a:r>
          </a:p>
          <a:p>
            <a:pPr algn="just"/>
            <a:r>
              <a:rPr dirty="0" lang="en-US" smtClean="0" sz="2000"/>
              <a:t>This strategy offers maximum flexibility, allowing for custom data placement and easy rebalancing by updating the map, but it requires an extra lookup step for every request.</a:t>
            </a:r>
          </a:p>
          <a:p>
            <a:r>
              <a:rPr dirty="0" lang="en-US" smtClean="0" sz="2000"/>
              <a:t>Maintains a mapping (lookup table) where Key -&gt; Shard ID. </a:t>
            </a:r>
          </a:p>
          <a:p>
            <a:r>
              <a:rPr b="1" dirty="0" lang="en-US" smtClean="0" sz="2000"/>
              <a:t>Advantages:</a:t>
            </a:r>
            <a:r>
              <a:rPr dirty="0" lang="en-US" smtClean="0" sz="2000"/>
              <a:t> Highly flexible; allows for custom distribution (e.g., placing all European customers on one shard) and easy rebalancing.</a:t>
            </a:r>
          </a:p>
          <a:p>
            <a:r>
              <a:rPr b="1" dirty="0" lang="en-US" smtClean="0" sz="2000"/>
              <a:t>Disadvantages:</a:t>
            </a:r>
            <a:r>
              <a:rPr dirty="0" lang="en-US" smtClean="0" sz="2000"/>
              <a:t> Introduces a single point of failure and bottleneck (the lookup table). Increased latency for queries due to the lookup step.</a:t>
            </a:r>
          </a:p>
          <a:p>
            <a:r>
              <a:rPr b="1" dirty="0" lang="en-US" smtClean="0" sz="2000"/>
              <a:t>Use Cases:</a:t>
            </a:r>
            <a:r>
              <a:rPr dirty="0" lang="en-US" smtClean="0" sz="2000"/>
              <a:t> Ideal for scenarios requiring flexible, </a:t>
            </a:r>
          </a:p>
          <a:p>
            <a:pPr>
              <a:buNone/>
            </a:pPr>
            <a:r>
              <a:rPr dirty="0" lang="en-US" smtClean="0" sz="2000"/>
              <a:t>	non-algorithmic data placement, such as mapping </a:t>
            </a:r>
          </a:p>
          <a:p>
            <a:pPr>
              <a:buNone/>
            </a:pPr>
            <a:r>
              <a:rPr dirty="0" lang="en-US" smtClean="0" sz="2000"/>
              <a:t>	users to specific geographic shards (</a:t>
            </a:r>
            <a:r>
              <a:rPr dirty="0" err="1" lang="en-US" smtClean="0" sz="2000"/>
              <a:t>geosharding</a:t>
            </a:r>
            <a:r>
              <a:rPr dirty="0" lang="en-US" smtClean="0" sz="2000"/>
              <a:t>). </a:t>
            </a:r>
          </a:p>
          <a:p>
            <a:pPr>
              <a:buNone/>
            </a:pPr>
            <a:endParaRPr dirty="0" lang="en-US" sz="2000"/>
          </a:p>
        </p:txBody>
      </p:sp>
      <p:pic>
        <p:nvPicPr>
          <p:cNvPr id="46082" name="Picture 2"/>
          <p:cNvPicPr>
            <a:picLocks noChangeArrowheads="1" noChangeAspect="1"/>
          </p:cNvPicPr>
          <p:nvPr/>
        </p:nvPicPr>
        <p:blipFill>
          <a:blip r:embed="rId2"/>
          <a:srcRect/>
          <a:stretch>
            <a:fillRect/>
          </a:stretch>
        </p:blipFill>
        <p:spPr>
          <a:xfrm>
            <a:off x="5927725" y="4357694"/>
            <a:ext cx="3216275" cy="2339975"/>
          </a:xfrm>
          <a:prstGeom prst="rect">
            <a:avLst/>
          </a:prstGeom>
          <a:noFill/>
          <a:ln w="9525">
            <a:noFill/>
            <a:miter lim="800000"/>
            <a:headEnd/>
            <a:tailEnd/>
          </a:ln>
          <a:effectLst/>
        </p:spPr>
      </p:pic>
    </p:spTree>
  </p:cSld>
  <p:clrMapOvr>
    <a:masterClrMapping/>
  </p:clrMapOvr>
  <p:timing>
    <p:tnLst>
      <p:par>
        <p:cTn dur="indefinite" id="1" nodeType="tmRoot" restart="never"/>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rrowheads="1" noChangeAspect="1"/>
          </p:cNvPicPr>
          <p:nvPr/>
        </p:nvPicPr>
        <p:blipFill>
          <a:blip cstate="print" r:embed="rId2"/>
          <a:srcRect/>
          <a:stretch>
            <a:fillRect/>
          </a:stretch>
        </p:blipFill>
        <p:spPr>
          <a:xfrm>
            <a:off x="152400" y="0"/>
            <a:ext cx="8763000" cy="4902238"/>
          </a:xfrm>
          <a:prstGeom prst="rect">
            <a:avLst/>
          </a:prstGeom>
          <a:noFill/>
          <a:ln w="9525">
            <a:noFill/>
            <a:miter lim="800000"/>
            <a:headEnd/>
            <a:tailEnd/>
          </a:ln>
        </p:spPr>
      </p:pic>
      <p:pic>
        <p:nvPicPr>
          <p:cNvPr id="7171" name="Picture 3"/>
          <p:cNvPicPr>
            <a:picLocks noChangeArrowheads="1" noChangeAspect="1"/>
          </p:cNvPicPr>
          <p:nvPr/>
        </p:nvPicPr>
        <p:blipFill>
          <a:blip cstate="print" r:embed="rId3"/>
          <a:srcRect/>
          <a:stretch>
            <a:fillRect/>
          </a:stretch>
        </p:blipFill>
        <p:spPr>
          <a:xfrm>
            <a:off x="381000" y="4953000"/>
            <a:ext cx="8448675" cy="561975"/>
          </a:xfrm>
          <a:prstGeom prst="rect">
            <a:avLst/>
          </a:prstGeom>
          <a:noFill/>
          <a:ln w="9525">
            <a:noFill/>
            <a:miter lim="800000"/>
            <a:headEnd/>
            <a:tailEnd/>
          </a:ln>
        </p:spPr>
      </p:pic>
      <p:pic>
        <p:nvPicPr>
          <p:cNvPr id="7172" name="Picture 4"/>
          <p:cNvPicPr>
            <a:picLocks noChangeArrowheads="1" noChangeAspect="1"/>
          </p:cNvPicPr>
          <p:nvPr/>
        </p:nvPicPr>
        <p:blipFill>
          <a:blip cstate="print" r:embed="rId4"/>
          <a:srcRect/>
          <a:stretch>
            <a:fillRect/>
          </a:stretch>
        </p:blipFill>
        <p:spPr>
          <a:xfrm>
            <a:off x="381000" y="5486400"/>
            <a:ext cx="8382000" cy="5334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553200"/>
          </a:xfrm>
        </p:spPr>
        <p:txBody>
          <a:bodyPr numCol="1">
            <a:normAutofit/>
          </a:bodyPr>
          <a:lstStyle/>
          <a:p>
            <a:pPr algn="just"/>
            <a:r>
              <a:rPr dirty="0" lang="en-US" smtClean="0" sz="2000"/>
              <a:t>Ranged sharding, or dynamic sharding, takes a field on the record as an input and, based on a predefined range, allocates that record to the appropriate shard. Ranged sharding requires there to be a lookup table or service available for all queries or writes. For example, consider a set of data with IDs that range from 0-50. A simple lookup table might look like the following:</a:t>
            </a:r>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endParaRPr dirty="0" lang="en-US" smtClean="0" sz="2000"/>
          </a:p>
          <a:p>
            <a:pPr algn="just"/>
            <a:r>
              <a:rPr b="1" dirty="0" lang="en-US" smtClean="0" sz="2000">
                <a:solidFill>
                  <a:srgbClr val="FF0000"/>
                </a:solidFill>
              </a:rPr>
              <a:t>The field on which the range is based is also known as the shard key. </a:t>
            </a:r>
            <a:r>
              <a:rPr dirty="0" lang="en-US" smtClean="0" sz="2000"/>
              <a:t>Naturally, the choice of shard key, as well as the ranges, are critical in making range-based sharding effective. A poor choice of shard key will lead to unbalanced shards, which leads to decreased performance. An effective shard key will allow for queries to be targeted to a minimum number of shards. In our example above, if we query for all records with IDs 10-30, then only shards A and B will need to be queried.</a:t>
            </a:r>
            <a:endParaRPr dirty="0" lang="en-US" sz="2000"/>
          </a:p>
        </p:txBody>
      </p:sp>
      <p:pic>
        <p:nvPicPr>
          <p:cNvPr id="1026" name="Picture 2"/>
          <p:cNvPicPr>
            <a:picLocks noChangeArrowheads="1" noChangeAspect="1"/>
          </p:cNvPicPr>
          <p:nvPr/>
        </p:nvPicPr>
        <p:blipFill>
          <a:blip cstate="print" r:embed="rId2"/>
          <a:srcRect/>
          <a:stretch>
            <a:fillRect/>
          </a:stretch>
        </p:blipFill>
        <p:spPr>
          <a:xfrm>
            <a:off x="609600" y="1828800"/>
            <a:ext cx="7924800" cy="245745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rrowheads="1" noChangeAspect="1"/>
          </p:cNvPicPr>
          <p:nvPr/>
        </p:nvPicPr>
        <p:blipFill>
          <a:blip cstate="print" r:embed="rId2"/>
          <a:srcRect/>
          <a:stretch>
            <a:fillRect/>
          </a:stretch>
        </p:blipFill>
        <p:spPr>
          <a:xfrm>
            <a:off x="0" y="0"/>
            <a:ext cx="9067089" cy="4648200"/>
          </a:xfrm>
          <a:prstGeom prst="rect">
            <a:avLst/>
          </a:prstGeom>
          <a:noFill/>
          <a:ln w="9525">
            <a:noFill/>
            <a:miter lim="800000"/>
            <a:headEnd/>
            <a:tailEnd/>
          </a:ln>
        </p:spPr>
      </p:pic>
      <p:pic>
        <p:nvPicPr>
          <p:cNvPr id="8195" name="Picture 3"/>
          <p:cNvPicPr>
            <a:picLocks noChangeArrowheads="1" noChangeAspect="1"/>
          </p:cNvPicPr>
          <p:nvPr/>
        </p:nvPicPr>
        <p:blipFill>
          <a:blip cstate="print" r:embed="rId3"/>
          <a:srcRect/>
          <a:stretch>
            <a:fillRect/>
          </a:stretch>
        </p:blipFill>
        <p:spPr>
          <a:xfrm>
            <a:off x="152400" y="4800600"/>
            <a:ext cx="8800158" cy="180975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629400"/>
          </a:xfrm>
        </p:spPr>
        <p:txBody>
          <a:bodyPr numCol="1">
            <a:normAutofit fontScale="55000" lnSpcReduction="20000"/>
          </a:bodyPr>
          <a:lstStyle/>
          <a:p>
            <a:pPr algn="just"/>
            <a:r>
              <a:rPr dirty="0" lang="en-US" smtClean="0" sz="3800"/>
              <a:t>Algorithmic sharding or hashed sharding, takes a record as an input and applies a hash function or algorithm to it which generates an output or hash value. This output is then used to allocate each record to the appropriate shard.</a:t>
            </a:r>
          </a:p>
          <a:p>
            <a:pPr algn="just"/>
            <a:r>
              <a:rPr dirty="0" lang="en-US" smtClean="0" sz="3800"/>
              <a:t>The function can take any subset of values on the record as inputs. Perhaps the simplest example of a hash function is to use the modulus operator with the number of shards, as follows:</a:t>
            </a:r>
          </a:p>
          <a:p>
            <a:pPr algn="just">
              <a:buNone/>
            </a:pPr>
            <a:r>
              <a:rPr dirty="0" i="1" lang="en-US" smtClean="0" sz="3800"/>
              <a:t>                                Hash Value=ID % Number of Shards</a:t>
            </a:r>
            <a:endParaRPr dirty="0" lang="en-US" smtClean="0" sz="3800"/>
          </a:p>
          <a:p>
            <a:pPr algn="just"/>
            <a:r>
              <a:rPr dirty="0" lang="en-US" smtClean="0" sz="3800"/>
              <a:t>This is similar to range-based sharding — a set of fields determines the allocation of the record to a given shard. Hashing the inputs allows more even distribution across shards even when there is not a suitable shard key, and no lookup table needs to be maintained. However, there are a few drawbacks.</a:t>
            </a:r>
          </a:p>
          <a:p>
            <a:pPr algn="just"/>
            <a:r>
              <a:rPr dirty="0" lang="en-US" smtClean="0" sz="3800"/>
              <a:t>First, query operations for multiple records are more likely to get distributed across multiple shards. Whereas ranged sharding reflects the natural structure of the data across shards, hashed sharding typically disregards the meaning of the data. This is reflected in increased broadcast operation occurrence.</a:t>
            </a:r>
          </a:p>
          <a:p>
            <a:pPr algn="just"/>
            <a:r>
              <a:rPr dirty="0" lang="en-US" smtClean="0" sz="3800"/>
              <a:t>Second, </a:t>
            </a:r>
            <a:r>
              <a:rPr dirty="0" err="1" lang="en-US" smtClean="0" sz="3800"/>
              <a:t>resharding</a:t>
            </a:r>
            <a:r>
              <a:rPr dirty="0" lang="en-US" smtClean="0" sz="3800"/>
              <a:t> can be expensive. Any update to the number of shards likely requires rebalancing all shards to moving around records. It will be difficult to do this while avoiding a system outage.</a:t>
            </a:r>
          </a:p>
          <a:p>
            <a:endParaRPr dirty="0" lang="en-US"/>
          </a:p>
        </p:txBody>
      </p:sp>
    </p:spTree>
  </p:cSld>
  <p:clrMapOvr>
    <a:masterClrMapping/>
  </p:clrMapOvr>
  <p:timing>
    <p:tnLst>
      <p:par>
        <p:cTn dur="indefinite" id="1" nodeType="tmRoot" restart="never"/>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381000"/>
          </a:xfrm>
        </p:spPr>
        <p:txBody>
          <a:bodyPr numCol="1">
            <a:normAutofit fontScale="90000"/>
          </a:bodyPr>
          <a:lstStyle/>
          <a:p>
            <a:r>
              <a:rPr dirty="0" lang="en-US" smtClean="0"/>
              <a:t>Hashed </a:t>
            </a:r>
            <a:r>
              <a:rPr dirty="0" err="1" lang="en-US" smtClean="0"/>
              <a:t>Sharding</a:t>
            </a:r>
            <a:endParaRPr dirty="0" lang="en-US"/>
          </a:p>
        </p:txBody>
      </p:sp>
      <p:sp>
        <p:nvSpPr>
          <p:cNvPr id="3" name="Content Placeholder 2"/>
          <p:cNvSpPr>
            <a:spLocks noGrp="1"/>
          </p:cNvSpPr>
          <p:nvPr>
            <p:ph idx="1"/>
          </p:nvPr>
        </p:nvSpPr>
        <p:spPr>
          <a:xfrm>
            <a:off x="152400" y="714356"/>
            <a:ext cx="8705880" cy="6143644"/>
          </a:xfrm>
        </p:spPr>
        <p:txBody>
          <a:bodyPr numCol="1">
            <a:normAutofit/>
          </a:bodyPr>
          <a:lstStyle/>
          <a:p>
            <a:r>
              <a:rPr b="1" dirty="0" lang="en-US" smtClean="0" sz="2000"/>
              <a:t>Even Data Distribution:</a:t>
            </a:r>
            <a:r>
              <a:rPr dirty="0" lang="en-US" smtClean="0" sz="2000"/>
              <a:t> Because input keys are hashed, data is evenly spread, preventing any single shard from becoming a performance bottleneck.</a:t>
            </a:r>
          </a:p>
          <a:p>
            <a:r>
              <a:rPr b="1" dirty="0" lang="en-US" smtClean="0" sz="2000"/>
              <a:t>Preventing Hotspots:</a:t>
            </a:r>
            <a:r>
              <a:rPr dirty="0" lang="en-US" smtClean="0" sz="2000"/>
              <a:t> It is highly effective for write-heavy applications where sequential data (like timestamps) would otherwise overwhelm a single server.</a:t>
            </a:r>
          </a:p>
          <a:p>
            <a:r>
              <a:rPr b="1" dirty="0" lang="en-US" smtClean="0" sz="2000"/>
              <a:t>Fixed Shard Count Constraint:</a:t>
            </a:r>
            <a:r>
              <a:rPr dirty="0" lang="en-US" smtClean="0" sz="2000"/>
              <a:t> A major disadvantage is that adding or removing servers often requires significant data redistribution (re-</a:t>
            </a:r>
            <a:r>
              <a:rPr dirty="0" err="1" lang="en-US" smtClean="0" sz="2000"/>
              <a:t>sharding</a:t>
            </a:r>
            <a:r>
              <a:rPr dirty="0" lang="en-US" smtClean="0" sz="2000"/>
              <a:t>) because the hash(key) % n formula changes.</a:t>
            </a:r>
          </a:p>
          <a:p>
            <a:r>
              <a:rPr b="1" dirty="0" lang="en-US" smtClean="0" sz="2000"/>
              <a:t>Reduced Range Queries:</a:t>
            </a:r>
            <a:r>
              <a:rPr dirty="0" lang="en-US" smtClean="0" sz="2000"/>
              <a:t> Since related data is scattered across shards, range queries (e.g., "get all users registered today") are inefficient, unlike in range-based </a:t>
            </a:r>
            <a:r>
              <a:rPr dirty="0" err="1" lang="en-US" smtClean="0" sz="2000"/>
              <a:t>sharding</a:t>
            </a:r>
            <a:r>
              <a:rPr dirty="0" lang="en-US" smtClean="0" sz="2000"/>
              <a:t>.</a:t>
            </a:r>
          </a:p>
          <a:p>
            <a:r>
              <a:rPr b="1" dirty="0" lang="en-US" smtClean="0" sz="2000"/>
              <a:t>Use Cases:</a:t>
            </a:r>
            <a:r>
              <a:rPr dirty="0" lang="en-US" smtClean="0" sz="2000"/>
              <a:t> Best for systems needing high write throughput (e.g., </a:t>
            </a:r>
            <a:r>
              <a:rPr dirty="0" err="1" lang="en-US" smtClean="0" sz="2000"/>
              <a:t>IoT</a:t>
            </a:r>
            <a:r>
              <a:rPr dirty="0" lang="en-US" smtClean="0" sz="2000"/>
              <a:t>, logging) where data is accessed by a specific ID (e.g., </a:t>
            </a:r>
            <a:r>
              <a:rPr dirty="0" err="1" lang="en-US" smtClean="0" sz="2000"/>
              <a:t>user_id</a:t>
            </a:r>
            <a:r>
              <a:rPr dirty="0" lang="en-US" smtClean="0" sz="2000"/>
              <a:t>).</a:t>
            </a:r>
          </a:p>
          <a:p>
            <a:r>
              <a:rPr b="1" dirty="0" lang="en-US" smtClean="0" sz="2000"/>
              <a:t>Hash </a:t>
            </a:r>
            <a:r>
              <a:rPr b="1" dirty="0" err="1" lang="en-US" smtClean="0" sz="2000"/>
              <a:t>Sharding</a:t>
            </a:r>
            <a:r>
              <a:rPr b="1" dirty="0" lang="en-US" smtClean="0" sz="2000"/>
              <a:t> Process:</a:t>
            </a:r>
            <a:endParaRPr dirty="0" lang="en-US" smtClean="0" sz="2000"/>
          </a:p>
          <a:p>
            <a:pPr lvl="1"/>
            <a:r>
              <a:rPr b="1" dirty="0" lang="en-US" smtClean="0" sz="1600"/>
              <a:t>Select Shard Key:</a:t>
            </a:r>
            <a:r>
              <a:rPr dirty="0" lang="en-US" smtClean="0" sz="1600"/>
              <a:t> Choose a high-cardinality field (e.g., </a:t>
            </a:r>
            <a:r>
              <a:rPr dirty="0" err="1" lang="en-US" smtClean="0" sz="1600"/>
              <a:t>user_id</a:t>
            </a:r>
            <a:r>
              <a:rPr dirty="0" lang="en-US" smtClean="0" sz="1600"/>
              <a:t> or </a:t>
            </a:r>
            <a:r>
              <a:rPr dirty="0" err="1" lang="en-US" smtClean="0" sz="1600"/>
              <a:t>uuid</a:t>
            </a:r>
            <a:r>
              <a:rPr dirty="0" lang="en-US" smtClean="0" sz="1600"/>
              <a:t>).</a:t>
            </a:r>
          </a:p>
          <a:p>
            <a:pPr lvl="1"/>
            <a:r>
              <a:rPr b="1" dirty="0" lang="en-US" smtClean="0" sz="1600"/>
              <a:t>Apply Hash Function:</a:t>
            </a:r>
            <a:r>
              <a:rPr dirty="0" lang="en-US" smtClean="0" sz="1600"/>
              <a:t> The system computes hash(key).</a:t>
            </a:r>
          </a:p>
          <a:p>
            <a:pPr lvl="1"/>
            <a:r>
              <a:rPr b="1" dirty="0" lang="en-US" smtClean="0" sz="1600"/>
              <a:t>Determine Shard ID:</a:t>
            </a:r>
            <a:r>
              <a:rPr dirty="0" lang="en-US" smtClean="0" sz="1600"/>
              <a:t> The hash result is mapped to a specific shard, often using modulo (e.g., hash(key) % n). </a:t>
            </a:r>
          </a:p>
          <a:p>
            <a:pPr algn="just"/>
            <a:endParaRPr dirty="0" 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Advantages of Sharding</a:t>
            </a:r>
            <a:endParaRPr b="1" dirty="0" lang="en-US" sz="3200"/>
          </a:p>
        </p:txBody>
      </p:sp>
      <p:sp>
        <p:nvSpPr>
          <p:cNvPr id="3" name="Content Placeholder 2"/>
          <p:cNvSpPr>
            <a:spLocks noGrp="1"/>
          </p:cNvSpPr>
          <p:nvPr>
            <p:ph idx="1"/>
          </p:nvPr>
        </p:nvSpPr>
        <p:spPr>
          <a:xfrm>
            <a:off x="152400" y="762000"/>
            <a:ext cx="8839200" cy="5943600"/>
          </a:xfrm>
        </p:spPr>
        <p:txBody>
          <a:bodyPr numCol="1">
            <a:normAutofit fontScale="85000" lnSpcReduction="20000"/>
          </a:bodyPr>
          <a:lstStyle/>
          <a:p>
            <a:pPr algn="just"/>
            <a:r>
              <a:rPr b="1" dirty="0" lang="en-US" smtClean="0" sz="2800"/>
              <a:t>Reads / Writes: </a:t>
            </a:r>
            <a:r>
              <a:rPr dirty="0" err="1" lang="en-US" smtClean="0" sz="2800"/>
              <a:t>MongoDB</a:t>
            </a:r>
            <a:r>
              <a:rPr dirty="0" lang="en-US" smtClean="0" sz="2800"/>
              <a:t> distributes the read and write workload across the shards in the </a:t>
            </a:r>
            <a:r>
              <a:rPr dirty="0" err="1" lang="en-US" smtClean="0" sz="2800"/>
              <a:t>sharded</a:t>
            </a:r>
            <a:r>
              <a:rPr dirty="0" lang="en-US" smtClean="0" sz="2800"/>
              <a:t> cluster, allowing each shard to process a subset of cluster operations. </a:t>
            </a:r>
          </a:p>
          <a:p>
            <a:pPr algn="just"/>
            <a:r>
              <a:rPr dirty="0" lang="en-US" smtClean="0" sz="2800"/>
              <a:t>Both read and write workloads can be scaled horizontally across the cluster by adding more shards.</a:t>
            </a:r>
          </a:p>
          <a:p>
            <a:pPr algn="just"/>
            <a:endParaRPr dirty="0" lang="en-US" smtClean="0" sz="2800"/>
          </a:p>
          <a:p>
            <a:pPr algn="just"/>
            <a:r>
              <a:rPr b="1" dirty="0" lang="en-US" smtClean="0" sz="2800"/>
              <a:t>Storage Capacity: </a:t>
            </a:r>
            <a:r>
              <a:rPr dirty="0" lang="en-US" smtClean="0" sz="2800"/>
              <a:t>Sharding distributes data across the shards in the cluster, allowing each shard to contain a subset of the total cluster data. </a:t>
            </a:r>
          </a:p>
          <a:p>
            <a:pPr algn="just"/>
            <a:r>
              <a:rPr dirty="0" lang="en-US" smtClean="0" sz="2800"/>
              <a:t>As the data set grows, additional shards increase the storage capacity of the cluster.</a:t>
            </a:r>
          </a:p>
          <a:p>
            <a:pPr algn="just"/>
            <a:endParaRPr dirty="0" lang="en-US" smtClean="0" sz="2800"/>
          </a:p>
          <a:p>
            <a:pPr algn="just"/>
            <a:r>
              <a:rPr b="1" dirty="0" lang="en-US" smtClean="0" sz="2800"/>
              <a:t>High Availability: </a:t>
            </a:r>
            <a:r>
              <a:rPr dirty="0" lang="en-US" smtClean="0" sz="2800"/>
              <a:t>If one or more shard replica sets become completely unavailable, the </a:t>
            </a:r>
            <a:r>
              <a:rPr dirty="0" err="1" lang="en-US" smtClean="0" sz="2800"/>
              <a:t>sharded</a:t>
            </a:r>
            <a:r>
              <a:rPr dirty="0" lang="en-US" smtClean="0" sz="2800"/>
              <a:t> cluster can continue to perform partial reads and writes. </a:t>
            </a:r>
          </a:p>
          <a:p>
            <a:pPr algn="just"/>
            <a:r>
              <a:rPr dirty="0" lang="en-US" smtClean="0" sz="2800"/>
              <a:t>That is, while data on the unavailable shard(s) cannot be accessed, reads or writes directed at the available shards can still succeed.</a:t>
            </a:r>
          </a:p>
          <a:p>
            <a:endParaRPr b="1" dirty="0" lang="en-US" smtClean="0"/>
          </a:p>
          <a:p>
            <a:endParaRPr b="1" dirty="0" lang="en-US" smtClean="0"/>
          </a:p>
          <a:p>
            <a:endParaRPr b="1" dirty="0" lang="en-US" smtClean="0"/>
          </a:p>
          <a:p>
            <a:endParaRPr dirty="0"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numCol="1">
            <a:normAutofit/>
          </a:bodyPr>
          <a:lstStyle/>
          <a:p>
            <a:r>
              <a:rPr b="1" dirty="0" lang="en-US" smtClean="0" sz="3200"/>
              <a:t>Disadvantages of sharding</a:t>
            </a:r>
            <a:endParaRPr b="1" dirty="0" lang="en-US" sz="3200"/>
          </a:p>
        </p:txBody>
      </p:sp>
      <p:sp>
        <p:nvSpPr>
          <p:cNvPr id="3" name="Content Placeholder 2"/>
          <p:cNvSpPr>
            <a:spLocks noGrp="1"/>
          </p:cNvSpPr>
          <p:nvPr>
            <p:ph idx="1"/>
          </p:nvPr>
        </p:nvSpPr>
        <p:spPr>
          <a:xfrm>
            <a:off x="228600" y="642918"/>
            <a:ext cx="8701118" cy="5943600"/>
          </a:xfrm>
        </p:spPr>
        <p:txBody>
          <a:bodyPr numCol="1">
            <a:normAutofit fontScale="62500" lnSpcReduction="20000"/>
          </a:bodyPr>
          <a:lstStyle/>
          <a:p>
            <a:pPr algn="just"/>
            <a:r>
              <a:rPr b="1" dirty="0" lang="en-US" smtClean="0"/>
              <a:t>Query overhead</a:t>
            </a:r>
            <a:r>
              <a:rPr dirty="0" lang="en-US" smtClean="0"/>
              <a:t>: Each </a:t>
            </a:r>
            <a:r>
              <a:rPr dirty="0" err="1" lang="en-US" smtClean="0"/>
              <a:t>sharded</a:t>
            </a:r>
            <a:r>
              <a:rPr dirty="0" lang="en-US" smtClean="0"/>
              <a:t> database must have a separate machine or service which understands how to route a querying operation to the appropriate shard. This introduces additional latency on every operation. </a:t>
            </a:r>
          </a:p>
          <a:p>
            <a:pPr algn="just"/>
            <a:endParaRPr dirty="0" lang="en-US" smtClean="0"/>
          </a:p>
          <a:p>
            <a:pPr algn="just"/>
            <a:r>
              <a:rPr dirty="0" lang="en-US" smtClean="0"/>
              <a:t>Furthermore, if the data required for the query is horizontally partitioned across multiple shards, the router must then query each shard and merge the result together. This can make an otherwise simple operation quite expensive and slow down response times.</a:t>
            </a:r>
          </a:p>
          <a:p>
            <a:pPr algn="just"/>
            <a:endParaRPr dirty="0" lang="en-US" smtClean="0"/>
          </a:p>
          <a:p>
            <a:pPr algn="just"/>
            <a:r>
              <a:rPr b="1" dirty="0" lang="en-US" smtClean="0"/>
              <a:t>Complexity of administration</a:t>
            </a:r>
            <a:r>
              <a:rPr dirty="0" lang="en-US" smtClean="0"/>
              <a:t>: With a single </a:t>
            </a:r>
            <a:r>
              <a:rPr dirty="0" err="1" lang="en-US" smtClean="0"/>
              <a:t>unsharded</a:t>
            </a:r>
            <a:r>
              <a:rPr dirty="0" lang="en-US" smtClean="0"/>
              <a:t> database, only the database server itself requires upkeep and maintenance. With every </a:t>
            </a:r>
            <a:r>
              <a:rPr dirty="0" err="1" lang="en-US" smtClean="0"/>
              <a:t>sharded</a:t>
            </a:r>
            <a:r>
              <a:rPr dirty="0" lang="en-US" smtClean="0"/>
              <a:t> database, on top of managing the shards themselves, there are additional service nodes to maintain. </a:t>
            </a:r>
          </a:p>
          <a:p>
            <a:pPr algn="just"/>
            <a:endParaRPr dirty="0" lang="en-US" smtClean="0"/>
          </a:p>
          <a:p>
            <a:pPr algn="just"/>
            <a:r>
              <a:rPr b="1" dirty="0" lang="en-US" smtClean="0"/>
              <a:t>Increased infrastructure costs</a:t>
            </a:r>
            <a:r>
              <a:rPr dirty="0" lang="en-US" smtClean="0"/>
              <a:t>: </a:t>
            </a:r>
            <a:r>
              <a:rPr dirty="0" err="1" lang="en-US" smtClean="0"/>
              <a:t>Sharding</a:t>
            </a:r>
            <a:r>
              <a:rPr dirty="0" lang="en-US" smtClean="0"/>
              <a:t> by its nature requires additional machines and compute power over a single database server. </a:t>
            </a:r>
          </a:p>
          <a:p>
            <a:pPr algn="just"/>
            <a:endParaRPr dirty="0" lang="en-US" smtClean="0"/>
          </a:p>
          <a:p>
            <a:pPr algn="just"/>
            <a:r>
              <a:rPr dirty="0" lang="en-US" smtClean="0"/>
              <a:t>While this allows your database to grow beyond the limits of a single machine, each additional shard comes with higher costs. </a:t>
            </a:r>
          </a:p>
          <a:p>
            <a:pPr algn="just"/>
            <a:r>
              <a:rPr dirty="0" lang="en-US" smtClean="0"/>
              <a:t>The cost of a distributed database system, especially if it is missing the proper optimization, can be significant.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0"/>
            <a:ext cx="9001156" cy="533400"/>
          </a:xfrm>
        </p:spPr>
        <p:txBody>
          <a:bodyPr numCol="1">
            <a:normAutofit fontScale="90000"/>
          </a:bodyPr>
          <a:lstStyle/>
          <a:p>
            <a:r>
              <a:rPr b="1" dirty="0" lang="en-US" smtClean="0" sz="3200"/>
              <a:t>Combining Replication and </a:t>
            </a:r>
            <a:r>
              <a:rPr b="1" dirty="0" err="1" lang="en-US" smtClean="0" sz="3200"/>
              <a:t>Sharding</a:t>
            </a:r>
            <a:r>
              <a:rPr b="1" dirty="0" lang="en-US" smtClean="0" sz="3200"/>
              <a:t> (</a:t>
            </a:r>
            <a:r>
              <a:rPr b="1" dirty="0" err="1" lang="en-US" smtClean="0" sz="2800"/>
              <a:t>Sharded</a:t>
            </a:r>
            <a:r>
              <a:rPr b="1" dirty="0" lang="en-US" smtClean="0" sz="2800"/>
              <a:t> Replica Set</a:t>
            </a:r>
            <a:r>
              <a:rPr b="1" dirty="0" lang="en-US" smtClean="0" sz="3200"/>
              <a:t>)</a:t>
            </a:r>
            <a:endParaRPr b="1" dirty="0" lang="en-US" sz="3200"/>
          </a:p>
        </p:txBody>
      </p:sp>
      <p:pic>
        <p:nvPicPr>
          <p:cNvPr id="3075" name="Picture 3"/>
          <p:cNvPicPr>
            <a:picLocks noChangeArrowheads="1" noChangeAspect="1"/>
          </p:cNvPicPr>
          <p:nvPr/>
        </p:nvPicPr>
        <p:blipFill>
          <a:blip cstate="print" r:embed="rId2"/>
          <a:srcRect/>
          <a:stretch>
            <a:fillRect/>
          </a:stretch>
        </p:blipFill>
        <p:spPr>
          <a:xfrm>
            <a:off x="0" y="457200"/>
            <a:ext cx="4800600" cy="3744097"/>
          </a:xfrm>
          <a:prstGeom prst="rect">
            <a:avLst/>
          </a:prstGeom>
          <a:noFill/>
          <a:ln w="9525">
            <a:noFill/>
            <a:miter lim="800000"/>
            <a:headEnd/>
            <a:tailEnd/>
          </a:ln>
        </p:spPr>
      </p:pic>
      <p:pic>
        <p:nvPicPr>
          <p:cNvPr id="3076" name="Picture 4"/>
          <p:cNvPicPr>
            <a:picLocks noChangeArrowheads="1" noChangeAspect="1"/>
          </p:cNvPicPr>
          <p:nvPr/>
        </p:nvPicPr>
        <p:blipFill>
          <a:blip cstate="print" r:embed="rId3"/>
          <a:srcRect/>
          <a:stretch>
            <a:fillRect/>
          </a:stretch>
        </p:blipFill>
        <p:spPr>
          <a:xfrm>
            <a:off x="4564113" y="533400"/>
            <a:ext cx="4579887" cy="3581400"/>
          </a:xfrm>
          <a:prstGeom prst="rect">
            <a:avLst/>
          </a:prstGeom>
          <a:noFill/>
          <a:ln w="9525">
            <a:noFill/>
            <a:miter lim="800000"/>
            <a:headEnd/>
            <a:tailEnd/>
          </a:ln>
        </p:spPr>
      </p:pic>
      <p:sp>
        <p:nvSpPr>
          <p:cNvPr id="5" name="Rectangle 4"/>
          <p:cNvSpPr/>
          <p:nvPr/>
        </p:nvSpPr>
        <p:spPr>
          <a:xfrm>
            <a:off x="152400" y="4419600"/>
            <a:ext cx="8915400" cy="1938992"/>
          </a:xfrm>
          <a:prstGeom prst="rect">
            <a:avLst/>
          </a:prstGeom>
        </p:spPr>
        <p:txBody>
          <a:bodyPr numCol="1" wrap="square">
            <a:spAutoFit/>
          </a:bodyPr>
          <a:lstStyle/>
          <a:p>
            <a:pPr algn="just">
              <a:buFont charset="0" pitchFamily="34" typeface="Arial"/>
              <a:buChar char="•"/>
            </a:pPr>
            <a:r>
              <a:rPr dirty="0" lang="en-US" smtClean="0" sz="2000"/>
              <a:t> With a combination of Master-slave replication and </a:t>
            </a:r>
            <a:r>
              <a:rPr dirty="0" err="1" lang="en-US" smtClean="0" sz="2000"/>
              <a:t>sharding</a:t>
            </a:r>
            <a:r>
              <a:rPr dirty="0" lang="en-US" smtClean="0" sz="2000"/>
              <a:t>, we can have multiple masters, but each data item can have only one master. Based on the configuration, we can choose a node to be the master for some data and slaves for others.</a:t>
            </a:r>
          </a:p>
          <a:p>
            <a:pPr algn="just">
              <a:buFont charset="0" pitchFamily="34" typeface="Arial"/>
              <a:buChar char="•"/>
            </a:pPr>
            <a:endParaRPr dirty="0" lang="en-US" smtClean="0" sz="2000"/>
          </a:p>
          <a:p>
            <a:pPr algn="just">
              <a:buFont charset="0" pitchFamily="34" typeface="Arial"/>
              <a:buChar char="•"/>
            </a:pPr>
            <a:r>
              <a:rPr dirty="0" lang="en-US" smtClean="0" sz="2000"/>
              <a:t> Using peer-to-peer replication and </a:t>
            </a:r>
            <a:r>
              <a:rPr dirty="0" err="1" lang="en-US" smtClean="0" sz="2000"/>
              <a:t>sharding</a:t>
            </a:r>
            <a:r>
              <a:rPr dirty="0" lang="en-US" smtClean="0" sz="2000"/>
              <a:t>, there will be tens or hundreds of nodes in a  cluster with data shared over them. </a:t>
            </a:r>
            <a:endParaRPr dirty="0" 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rmAutofit fontScale="90000"/>
          </a:bodyPr>
          <a:lstStyle/>
          <a:p>
            <a:r>
              <a:rPr b="1" dirty="0" lang="en-US" smtClean="0" sz="3200"/>
              <a:t>Master-slave Replication with </a:t>
            </a:r>
            <a:r>
              <a:rPr b="1" dirty="0" err="1" lang="en-US" smtClean="0" sz="3200"/>
              <a:t>Sharding</a:t>
            </a:r>
            <a:endParaRPr b="1" dirty="0" lang="en-US" sz="3200"/>
          </a:p>
        </p:txBody>
      </p:sp>
      <p:sp>
        <p:nvSpPr>
          <p:cNvPr id="5" name="Rectangle 4"/>
          <p:cNvSpPr/>
          <p:nvPr/>
        </p:nvSpPr>
        <p:spPr>
          <a:xfrm>
            <a:off x="152400" y="857232"/>
            <a:ext cx="8915400" cy="5632311"/>
          </a:xfrm>
          <a:prstGeom prst="rect">
            <a:avLst/>
          </a:prstGeom>
        </p:spPr>
        <p:txBody>
          <a:bodyPr numCol="1" wrap="square">
            <a:spAutoFit/>
          </a:bodyPr>
          <a:lstStyle/>
          <a:p>
            <a:pPr>
              <a:buFont charset="0" pitchFamily="34" typeface="Arial"/>
              <a:buChar char="•"/>
            </a:pPr>
            <a:r>
              <a:rPr dirty="0" lang="en-US" smtClean="0" sz="2000"/>
              <a:t> </a:t>
            </a:r>
            <a:r>
              <a:rPr b="1" dirty="0" lang="en-US" smtClean="0" sz="2000"/>
              <a:t>Master (Primary) for a Shard:</a:t>
            </a:r>
            <a:r>
              <a:rPr dirty="0" lang="en-US" smtClean="0" sz="2000"/>
              <a:t> The node within a specific shard responsible for all </a:t>
            </a:r>
            <a:r>
              <a:rPr b="1" dirty="0" lang="en-US" smtClean="0" sz="2000"/>
              <a:t>write operations</a:t>
            </a:r>
            <a:r>
              <a:rPr dirty="0" lang="en-US" smtClean="0" sz="2000"/>
              <a:t> (and usually reads) for its subset of data.</a:t>
            </a:r>
          </a:p>
          <a:p>
            <a:pPr>
              <a:buFont charset="0" pitchFamily="34" typeface="Arial"/>
              <a:buChar char="•"/>
            </a:pPr>
            <a:r>
              <a:rPr b="1" dirty="0" lang="en-US" smtClean="0" sz="2000"/>
              <a:t> Slave (Secondary) for a Shard:</a:t>
            </a:r>
            <a:r>
              <a:rPr dirty="0" lang="en-US" smtClean="0" sz="2000"/>
              <a:t> One or more nodes that sync with the master to maintain a copy of the shard's data, used for </a:t>
            </a:r>
            <a:r>
              <a:rPr b="1" dirty="0" lang="en-US" smtClean="0" sz="2000"/>
              <a:t>read scaling</a:t>
            </a:r>
            <a:r>
              <a:rPr dirty="0" lang="en-US" smtClean="0" sz="2000"/>
              <a:t> and </a:t>
            </a:r>
            <a:r>
              <a:rPr b="1" dirty="0" lang="en-US" smtClean="0" sz="2000"/>
              <a:t>failover.</a:t>
            </a:r>
          </a:p>
          <a:p>
            <a:endParaRPr b="1" dirty="0" lang="en-US" smtClean="0" sz="2000"/>
          </a:p>
          <a:p>
            <a:pPr>
              <a:buFont charset="0" pitchFamily="34" typeface="Arial"/>
              <a:buChar char="•"/>
            </a:pPr>
            <a:r>
              <a:rPr b="1" dirty="0" lang="en-US" smtClean="0" sz="2000"/>
              <a:t> Architecture Example</a:t>
            </a:r>
          </a:p>
          <a:p>
            <a:pPr lvl="1">
              <a:buFont charset="0" pitchFamily="34" typeface="Arial"/>
              <a:buChar char="•"/>
            </a:pPr>
            <a:r>
              <a:rPr b="1" dirty="0" lang="en-US" smtClean="0" sz="2000"/>
              <a:t> Whole Database</a:t>
            </a:r>
            <a:r>
              <a:rPr dirty="0" lang="en-US" smtClean="0" sz="2000"/>
              <a:t> = Shard 1 + Shard 2 + Shard 3</a:t>
            </a:r>
          </a:p>
          <a:p>
            <a:pPr lvl="1">
              <a:buFont charset="0" pitchFamily="34" typeface="Arial"/>
              <a:buChar char="•"/>
            </a:pPr>
            <a:r>
              <a:rPr b="1" dirty="0" lang="en-US" smtClean="0" sz="2000"/>
              <a:t> Shard 1</a:t>
            </a:r>
            <a:r>
              <a:rPr dirty="0" lang="en-US" smtClean="0" sz="2000"/>
              <a:t> = {Master A, Slave A1, Slave A2}</a:t>
            </a:r>
          </a:p>
          <a:p>
            <a:pPr lvl="1">
              <a:buFont charset="0" pitchFamily="34" typeface="Arial"/>
              <a:buChar char="•"/>
            </a:pPr>
            <a:r>
              <a:rPr b="1" dirty="0" lang="en-US" smtClean="0" sz="2000"/>
              <a:t> Shard 2</a:t>
            </a:r>
            <a:r>
              <a:rPr dirty="0" lang="en-US" smtClean="0" sz="2000"/>
              <a:t> = {Master B, Slave B1, Slave B2}</a:t>
            </a:r>
          </a:p>
          <a:p>
            <a:pPr lvl="1">
              <a:buFont charset="0" pitchFamily="34" typeface="Arial"/>
              <a:buChar char="•"/>
            </a:pPr>
            <a:r>
              <a:rPr b="1" dirty="0" lang="en-US" smtClean="0" sz="2000"/>
              <a:t> Shard 3</a:t>
            </a:r>
            <a:r>
              <a:rPr dirty="0" lang="en-US" smtClean="0" sz="2000"/>
              <a:t> = {Master C, Slave C1, Slave C2}</a:t>
            </a:r>
          </a:p>
          <a:p>
            <a:r>
              <a:rPr dirty="0" lang="en-US" smtClean="0" sz="2000"/>
              <a:t>If "Master A" goes down, "Slave A1" or "A2" is elected as the new primary for Shard 1, allowing the application to continue functioning</a:t>
            </a:r>
          </a:p>
          <a:p>
            <a:pPr>
              <a:buFont charset="0" pitchFamily="34" typeface="Arial"/>
              <a:buChar char="•"/>
            </a:pPr>
            <a:endParaRPr altLang="en-IN" dirty="0" lang="en-IN" smtClean="0" sz="2000"/>
          </a:p>
          <a:p>
            <a:pPr>
              <a:buFont charset="0" pitchFamily="34" typeface="Arial"/>
              <a:buChar char="•"/>
            </a:pPr>
            <a:r>
              <a:rPr b="1" dirty="0" lang="en-US" smtClean="0" sz="2000"/>
              <a:t> Advantages</a:t>
            </a:r>
          </a:p>
          <a:p>
            <a:pPr lvl="1">
              <a:buFont charset="0" pitchFamily="34" typeface="Arial"/>
              <a:buChar char="•"/>
            </a:pPr>
            <a:r>
              <a:rPr b="1" dirty="0" lang="en-US" smtClean="0" sz="2000"/>
              <a:t> Horizontal Scaling:</a:t>
            </a:r>
            <a:r>
              <a:rPr dirty="0" lang="en-US" smtClean="0" sz="2000"/>
              <a:t> Increases write throughput by adding more shards.</a:t>
            </a:r>
          </a:p>
          <a:p>
            <a:pPr lvl="1">
              <a:buFont charset="0" pitchFamily="34" typeface="Arial"/>
              <a:buChar char="•"/>
            </a:pPr>
            <a:r>
              <a:rPr b="1" dirty="0" lang="en-US" smtClean="0" sz="2000"/>
              <a:t> Read Throughput:</a:t>
            </a:r>
            <a:r>
              <a:rPr dirty="0" lang="en-US" smtClean="0" sz="2000"/>
              <a:t> Increased by adding more slave nodes per shard.</a:t>
            </a:r>
          </a:p>
          <a:p>
            <a:pPr lvl="1">
              <a:buFont charset="0" pitchFamily="34" typeface="Arial"/>
              <a:buChar char="•"/>
            </a:pPr>
            <a:r>
              <a:rPr b="1" dirty="0" lang="en-US" smtClean="0" sz="2000"/>
              <a:t> Fault Tolerance:</a:t>
            </a:r>
            <a:r>
              <a:rPr dirty="0" lang="en-US" smtClean="0" sz="2000"/>
              <a:t> Data is not lost if a server fails, as replicas (slaves) exist.</a:t>
            </a:r>
          </a:p>
          <a:p>
            <a:pPr>
              <a:buFont charset="0" pitchFamily="34" typeface="Arial"/>
              <a:buChar char="•"/>
            </a:pPr>
            <a:endParaRPr dirty="0" lang="en-US" sz="2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533400"/>
          </a:xfrm>
        </p:spPr>
        <p:txBody>
          <a:bodyPr numCol="1">
            <a:normAutofit fontScale="90000"/>
          </a:bodyPr>
          <a:lstStyle/>
          <a:p>
            <a:r>
              <a:rPr b="1" dirty="0" lang="en-US" smtClean="0" sz="3200"/>
              <a:t>Peer-to-Peer Replication with </a:t>
            </a:r>
            <a:r>
              <a:rPr b="1" dirty="0" err="1" lang="en-US" smtClean="0" sz="3200"/>
              <a:t>Sharding</a:t>
            </a:r>
            <a:endParaRPr b="1" dirty="0" lang="en-US" sz="3200"/>
          </a:p>
        </p:txBody>
      </p:sp>
      <p:sp>
        <p:nvSpPr>
          <p:cNvPr id="5" name="Rectangle 4"/>
          <p:cNvSpPr/>
          <p:nvPr/>
        </p:nvSpPr>
        <p:spPr>
          <a:xfrm>
            <a:off x="228600" y="1071546"/>
            <a:ext cx="8915400" cy="2862322"/>
          </a:xfrm>
          <a:prstGeom prst="rect">
            <a:avLst/>
          </a:prstGeom>
        </p:spPr>
        <p:txBody>
          <a:bodyPr numCol="1" wrap="square">
            <a:spAutoFit/>
          </a:bodyPr>
          <a:lstStyle/>
          <a:p>
            <a:pPr>
              <a:buFont charset="0" pitchFamily="34" typeface="Arial"/>
              <a:buChar char="•"/>
            </a:pPr>
            <a:r>
              <a:rPr dirty="0" lang="en-US" smtClean="0" sz="2000"/>
              <a:t> The database is divided into shards (</a:t>
            </a:r>
            <a:r>
              <a:rPr dirty="0" err="1" lang="en-US" smtClean="0" sz="2000"/>
              <a:t>sharding</a:t>
            </a:r>
            <a:r>
              <a:rPr dirty="0" lang="en-US" smtClean="0" sz="2000"/>
              <a:t>). Each shard is not just one node, but a set of replicas working in a P2P fashion (multi-master).</a:t>
            </a:r>
          </a:p>
          <a:p>
            <a:pPr>
              <a:buFont charset="0" pitchFamily="34" typeface="Arial"/>
              <a:buChar char="•"/>
            </a:pPr>
            <a:endParaRPr b="1" dirty="0" lang="en-US" smtClean="0" sz="2000"/>
          </a:p>
          <a:p>
            <a:pPr>
              <a:buFont charset="0" pitchFamily="34" typeface="Arial"/>
              <a:buChar char="•"/>
            </a:pPr>
            <a:r>
              <a:rPr b="1" dirty="0" lang="en-US" smtClean="0" sz="2000"/>
              <a:t> Data Distribution:</a:t>
            </a:r>
            <a:r>
              <a:rPr dirty="0" lang="en-US" smtClean="0" sz="2000"/>
              <a:t> Data is partitioned across different sets of servers, so each server acts as a node for a subset of the total data.</a:t>
            </a:r>
          </a:p>
          <a:p>
            <a:pPr>
              <a:buFont charset="0" pitchFamily="34" typeface="Arial"/>
              <a:buChar char="•"/>
            </a:pPr>
            <a:endParaRPr b="1" dirty="0" lang="en-US" smtClean="0" sz="2000"/>
          </a:p>
          <a:p>
            <a:pPr>
              <a:buFont charset="0" pitchFamily="34" typeface="Arial"/>
              <a:buChar char="•"/>
            </a:pPr>
            <a:r>
              <a:rPr b="1" dirty="0" lang="en-US" smtClean="0" sz="2000"/>
              <a:t> Consistency:</a:t>
            </a:r>
            <a:r>
              <a:rPr dirty="0" lang="en-US" smtClean="0" sz="2000"/>
              <a:t> P2P offers high availability but may result in "eventual consistency." If two nodes receive conflicting writes, complex conflict resolution is required.</a:t>
            </a:r>
          </a:p>
          <a:p>
            <a:pPr>
              <a:buFont charset="0" pitchFamily="34" typeface="Arial"/>
              <a:buChar char="•"/>
            </a:pPr>
            <a:endParaRPr dirty="0" lang="en-US" sz="200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Words>1267</Words>
  <Paragraphs>229</Paragraphs>
  <Slides>35</Slides>
  <Notes>2</Notes>
  <TotalTime>1200</TotalTime>
  <HiddenSlides>0</HiddenSlides>
  <MMClips>0</MMClips>
  <ScaleCrop>false</ScaleCrop>
  <HeadingPairs>
    <vt:vector baseType="variant" size="6">
      <vt:variant>
        <vt:lpstr>Fonts Used</vt:lpstr>
      </vt:variant>
      <vt:variant>
        <vt:i4>3</vt:i4>
      </vt:variant>
      <vt:variant>
        <vt:lpstr>Theme</vt:lpstr>
      </vt:variant>
      <vt:variant>
        <vt:i4>1</vt:i4>
      </vt:variant>
      <vt:variant>
        <vt:lpstr>Slide Titles</vt:lpstr>
      </vt:variant>
      <vt:variant>
        <vt:i4>35</vt:i4>
      </vt:variant>
    </vt:vector>
  </HeadingPairs>
  <TitlesOfParts>
    <vt:vector baseType="lpstr" size="39">
      <vt:lpstr>Arial</vt:lpstr>
      <vt:lpstr>Calibri</vt:lpstr>
      <vt:lpstr>Wingdings</vt:lpstr>
      <vt:lpstr>Office Theme</vt:lpstr>
      <vt:lpstr>Database Scaling: Replication and Sharding</vt:lpstr>
      <vt:lpstr>Managing database for availability and performance</vt:lpstr>
      <vt:lpstr>Database Scaling</vt:lpstr>
      <vt:lpstr>Database Distribution Models</vt:lpstr>
      <vt:lpstr>Data Replication</vt:lpstr>
      <vt:lpstr>Types of database replication</vt:lpstr>
      <vt:lpstr>Master Slave Replication</vt:lpstr>
      <vt:lpstr>PowerPoint Presentation</vt:lpstr>
      <vt:lpstr>PowerPoint Presentation</vt:lpstr>
      <vt:lpstr>PowerPoint Presentation</vt:lpstr>
      <vt:lpstr>Introduction to Sharding</vt:lpstr>
      <vt:lpstr>Why Sharding?</vt:lpstr>
      <vt:lpstr>Sharding components</vt:lpstr>
      <vt:lpstr>How Sharding Works?</vt:lpstr>
      <vt:lpstr>How Sharding works?</vt:lpstr>
      <vt:lpstr>PowerPoint Presentation</vt:lpstr>
      <vt:lpstr>Shard key</vt:lpstr>
      <vt:lpstr>Shard key</vt:lpstr>
      <vt:lpstr>PowerPoint Presentation</vt:lpstr>
      <vt:lpstr>Choose a Shard Key</vt:lpstr>
      <vt:lpstr>Cardinality of the shard key</vt:lpstr>
      <vt:lpstr>Frequency of the shard key</vt:lpstr>
      <vt:lpstr>Sharding strategies</vt:lpstr>
      <vt:lpstr>PowerPoint Presentation</vt:lpstr>
      <vt:lpstr>Look-up Stratergy</vt:lpstr>
      <vt:lpstr>PowerPoint Presentation</vt:lpstr>
      <vt:lpstr>PowerPoint Presentation</vt:lpstr>
      <vt:lpstr>PowerPoint Presentation</vt:lpstr>
      <vt:lpstr>PowerPoint Presentation</vt:lpstr>
      <vt:lpstr>Hashed Sharding</vt:lpstr>
      <vt:lpstr>Advantages of Sharding</vt:lpstr>
      <vt:lpstr>Disadvantages of sharding</vt:lpstr>
      <vt:lpstr>Combining Replication and Sharding (Sharded Replica Set)</vt:lpstr>
      <vt:lpstr>Master-slave Replication with Sharding</vt:lpstr>
      <vt:lpstr>Peer-to-Peer Replication with Sharding</vt:lpstr>
    </vt:vector>
  </TitlesOfParts>
  <LinksUpToDate>false</LinksUpToDate>
  <SharedDoc>false</SharedDoc>
  <HyperlinksChanged>false</HyperlinksChanged>
  <Application>Microsoft Office PowerPoint</Application>
  <AppVersion>16.0000</AppVersion>
  <PresentationFormat>On-screen Show (4:3)</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2024-04-25T06:54:28Z</dcterms:created>
  <dc:creator>mandeep kaur</dc:creator>
  <cp:lastModifiedBy>acer</cp:lastModifiedBy>
  <dcterms:modified xsi:type="dcterms:W3CDTF">2026-04-15T16:38:46Z</dcterms:modified>
  <cp:revision>169</cp:revision>
  <dc:title>Sharding</dc:title>
</cp:coreProperties>
</file>