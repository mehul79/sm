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officedocument.presentationml.presProps+xml" PartName="/ppt/presProps.xml"/>
  <Override ContentType="application/vnd.openxmlformats-officedocument.presentationml.presentation.main+xml" PartName="/ppt/presentation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package.core-properties+xml" PartName="/docProps/core.xml"/>
</Types>
</file>

<file path=_rels/.rels><?xml version="1.0" encoding="UTF-8" standalone="yes"?><Relationships xmlns="http://schemas.openxmlformats.org/package/2006/relationships"><Relationship Id="rId4" Target="ppt/presentation.xml" Type="http://schemas.openxmlformats.org/officeDocument/2006/relationships/officeDocument"/><Relationship Id="rId3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1" Target="docProps/thumbnail.jpeg" Type="http://schemas.openxmlformats.org/package/2006/relationships/metadata/thumbnai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9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cmpd="sng" w="12700">
              <a:solidFill>
                <a:schemeClr val="lt1"/>
              </a:solidFill>
            </a:ln>
          </a:left>
          <a:right>
            <a:ln cmpd="sng" w="12700">
              <a:solidFill>
                <a:schemeClr val="lt1"/>
              </a:solidFill>
            </a:ln>
          </a:right>
          <a:top>
            <a:ln cmpd="sng" w="12700">
              <a:solidFill>
                <a:schemeClr val="lt1"/>
              </a:solidFill>
            </a:ln>
          </a:top>
          <a:bottom>
            <a:ln cmpd="sng" w="12700">
              <a:solidFill>
                <a:schemeClr val="lt1"/>
              </a:solidFill>
            </a:ln>
          </a:bottom>
          <a:insideH>
            <a:ln cmpd="sng" w="12700">
              <a:solidFill>
                <a:schemeClr val="lt1"/>
              </a:solidFill>
            </a:ln>
          </a:insideH>
          <a:insideV>
            <a:ln cmpd="sng"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cmpd="sng"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cmpd="sng"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d="100" n="63"/>
          <a:sy d="100" n="63"/>
        </p:scale>
        <p:origin x="1596" y="9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<Relationships xmlns="http://schemas.openxmlformats.org/package/2006/relationships"><Relationship Id="rId53" Target="slides/slide48.xml" Type="http://schemas.openxmlformats.org/officeDocument/2006/relationships/slide"/><Relationship Id="rId52" Target="slides/slide47.xml" Type="http://schemas.openxmlformats.org/officeDocument/2006/relationships/slide"/><Relationship Id="rId51" Target="slides/slide46.xml" Type="http://schemas.openxmlformats.org/officeDocument/2006/relationships/slide"/><Relationship Id="rId50" Target="slides/slide45.xml" Type="http://schemas.openxmlformats.org/officeDocument/2006/relationships/slide"/><Relationship Id="rId5" Target="slideMasters/slideMaster1.xml" Type="http://schemas.openxmlformats.org/officeDocument/2006/relationships/slideMaster"/><Relationship Id="rId39" Target="slides/slide34.xml" Type="http://schemas.openxmlformats.org/officeDocument/2006/relationships/slide"/><Relationship Id="rId4" Target="tableStyles.xml" Type="http://schemas.openxmlformats.org/officeDocument/2006/relationships/tableStyles"/><Relationship Id="rId38" Target="slides/slide33.xml" Type="http://schemas.openxmlformats.org/officeDocument/2006/relationships/slide"/><Relationship Id="rId3" Target="presProps.xml" Type="http://schemas.openxmlformats.org/officeDocument/2006/relationships/presProps"/><Relationship Id="rId37" Target="slides/slide32.xml" Type="http://schemas.openxmlformats.org/officeDocument/2006/relationships/slide"/><Relationship Id="rId2" Target="viewProps.xml" Type="http://schemas.openxmlformats.org/officeDocument/2006/relationships/viewProps"/><Relationship Id="rId36" Target="slides/slide31.xml" Type="http://schemas.openxmlformats.org/officeDocument/2006/relationships/slide"/><Relationship Id="rId1" Target="theme/theme1.xml" Type="http://schemas.openxmlformats.org/officeDocument/2006/relationships/theme"/><Relationship Id="rId35" Target="slides/slide30.xml" Type="http://schemas.openxmlformats.org/officeDocument/2006/relationships/slide"/><Relationship Id="rId34" Target="slides/slide29.xml" Type="http://schemas.openxmlformats.org/officeDocument/2006/relationships/slide"/><Relationship Id="rId33" Target="slides/slide28.xml" Type="http://schemas.openxmlformats.org/officeDocument/2006/relationships/slide"/><Relationship Id="rId32" Target="slides/slide27.xml" Type="http://schemas.openxmlformats.org/officeDocument/2006/relationships/slide"/><Relationship Id="rId31" Target="slides/slide26.xml" Type="http://schemas.openxmlformats.org/officeDocument/2006/relationships/slide"/><Relationship Id="rId30" Target="slides/slide25.xml" Type="http://schemas.openxmlformats.org/officeDocument/2006/relationships/slide"/><Relationship Id="rId27" Target="slides/slide22.xml" Type="http://schemas.openxmlformats.org/officeDocument/2006/relationships/slide"/><Relationship Id="rId26" Target="slides/slide21.xml" Type="http://schemas.openxmlformats.org/officeDocument/2006/relationships/slide"/><Relationship Id="rId25" Target="slides/slide20.xml" Type="http://schemas.openxmlformats.org/officeDocument/2006/relationships/slide"/><Relationship Id="rId24" Target="slides/slide19.xml" Type="http://schemas.openxmlformats.org/officeDocument/2006/relationships/slide"/><Relationship Id="rId55" Target="slides/slide50.xml" Type="http://schemas.openxmlformats.org/officeDocument/2006/relationships/slide"/><Relationship Id="rId21" Target="slides/slide16.xml" Type="http://schemas.openxmlformats.org/officeDocument/2006/relationships/slide"/><Relationship Id="rId19" Target="slides/slide14.xml" Type="http://schemas.openxmlformats.org/officeDocument/2006/relationships/slide"/><Relationship Id="rId54" Target="slides/slide49.xml" Type="http://schemas.openxmlformats.org/officeDocument/2006/relationships/slide"/><Relationship Id="rId20" Target="slides/slide15.xml" Type="http://schemas.openxmlformats.org/officeDocument/2006/relationships/slide"/><Relationship Id="rId18" Target="slides/slide13.xml" Type="http://schemas.openxmlformats.org/officeDocument/2006/relationships/slide"/><Relationship Id="rId17" Target="slides/slide12.xml" Type="http://schemas.openxmlformats.org/officeDocument/2006/relationships/slide"/><Relationship Id="rId13" Target="slides/slide8.xml" Type="http://schemas.openxmlformats.org/officeDocument/2006/relationships/slide"/><Relationship Id="rId47" Target="slides/slide42.xml" Type="http://schemas.openxmlformats.org/officeDocument/2006/relationships/slide"/><Relationship Id="rId16" Target="slides/slide11.xml" Type="http://schemas.openxmlformats.org/officeDocument/2006/relationships/slide"/><Relationship Id="rId12" Target="slides/slide7.xml" Type="http://schemas.openxmlformats.org/officeDocument/2006/relationships/slide"/><Relationship Id="rId46" Target="slides/slide41.xml" Type="http://schemas.openxmlformats.org/officeDocument/2006/relationships/slide"/><Relationship Id="rId49" Target="slides/slide44.xml" Type="http://schemas.openxmlformats.org/officeDocument/2006/relationships/slide"/><Relationship Id="rId15" Target="slides/slide10.xml" Type="http://schemas.openxmlformats.org/officeDocument/2006/relationships/slide"/><Relationship Id="rId11" Target="slides/slide6.xml" Type="http://schemas.openxmlformats.org/officeDocument/2006/relationships/slide"/><Relationship Id="rId45" Target="slides/slide40.xml" Type="http://schemas.openxmlformats.org/officeDocument/2006/relationships/slide"/><Relationship Id="rId48" Target="slides/slide43.xml" Type="http://schemas.openxmlformats.org/officeDocument/2006/relationships/slide"/><Relationship Id="rId14" Target="slides/slide9.xml" Type="http://schemas.openxmlformats.org/officeDocument/2006/relationships/slide"/><Relationship Id="rId10" Target="slides/slide5.xml" Type="http://schemas.openxmlformats.org/officeDocument/2006/relationships/slide"/><Relationship Id="rId44" Target="slides/slide39.xml" Type="http://schemas.openxmlformats.org/officeDocument/2006/relationships/slide"/><Relationship Id="rId43" Target="slides/slide38.xml" Type="http://schemas.openxmlformats.org/officeDocument/2006/relationships/slide"/><Relationship Id="rId42" Target="slides/slide37.xml" Type="http://schemas.openxmlformats.org/officeDocument/2006/relationships/slide"/><Relationship Id="rId41" Target="slides/slide36.xml" Type="http://schemas.openxmlformats.org/officeDocument/2006/relationships/slide"/><Relationship Id="rId9" Target="slides/slide4.xml" Type="http://schemas.openxmlformats.org/officeDocument/2006/relationships/slide"/><Relationship Id="rId40" Target="slides/slide35.xml" Type="http://schemas.openxmlformats.org/officeDocument/2006/relationships/slide"/><Relationship Id="rId8" Target="slides/slide3.xml" Type="http://schemas.openxmlformats.org/officeDocument/2006/relationships/slide"/><Relationship Id="rId7" Target="slides/slide2.xml" Type="http://schemas.openxmlformats.org/officeDocument/2006/relationships/slide"/><Relationship Id="rId6" Target="slides/slide1.xml" Type="http://schemas.openxmlformats.org/officeDocument/2006/relationships/slide"/><Relationship Id="rId57" Target="slides/slide52.xml" Type="http://schemas.openxmlformats.org/officeDocument/2006/relationships/slide"/><Relationship Id="rId23" Target="slides/slide18.xml" Type="http://schemas.openxmlformats.org/officeDocument/2006/relationships/slide"/><Relationship Id="rId29" Target="slides/slide24.xml" Type="http://schemas.openxmlformats.org/officeDocument/2006/relationships/slide"/><Relationship Id="rId56" Target="slides/slide51.xml" Type="http://schemas.openxmlformats.org/officeDocument/2006/relationships/slide"/><Relationship Id="rId22" Target="slides/slide17.xml" Type="http://schemas.openxmlformats.org/officeDocument/2006/relationships/slide"/><Relationship Id="rId28" Target="slides/slide23.xml" Type="http://schemas.openxmlformats.org/officeDocument/2006/relationships/slide"/></Relationships>
</file>

<file path=ppt/slideLayouts/_rels/slideLayout1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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 numCol="1"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1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 numCol="1"/>
          <a:lstStyle>
            <a:lvl1pPr algn="l">
              <a:defRPr b="1" cap="all"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22313" y="2906713"/>
            <a:ext cx="7772400" cy="1500187"/>
          </a:xfrm>
        </p:spPr>
        <p:txBody>
          <a:bodyPr anchor="b" numCol="1"/>
          <a:lstStyle>
            <a:lvl1pPr indent="0" marL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indent="0" marL="45720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indent="0" marL="9144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indent="0" marL="13716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indent="0" marL="18288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indent="0" marL="22860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indent="0" marL="27432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indent="0" marL="32004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indent="0" marL="36576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600200"/>
            <a:ext cx="4038600" cy="4525963"/>
          </a:xfrm>
        </p:spPr>
        <p:txBody>
          <a:bodyPr numCol="1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8200" y="1600200"/>
            <a:ext cx="4038600" cy="4525963"/>
          </a:xfrm>
        </p:spPr>
        <p:txBody>
          <a:bodyPr numCol="1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535113"/>
            <a:ext cx="4040188" cy="639762"/>
          </a:xfrm>
        </p:spPr>
        <p:txBody>
          <a:bodyPr anchor="b" numCol="1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57200" y="2174875"/>
            <a:ext cx="4040188" cy="3951288"/>
          </a:xfrm>
        </p:spPr>
        <p:txBody>
          <a:bodyPr numCol="1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>
          <a:xfrm>
            <a:off x="4645025" y="1535113"/>
            <a:ext cx="4041775" cy="639762"/>
          </a:xfrm>
        </p:spPr>
        <p:txBody>
          <a:bodyPr anchor="b" numCol="1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>
          <a:xfrm>
            <a:off x="4645025" y="2174875"/>
            <a:ext cx="4041775" cy="3951288"/>
          </a:xfrm>
        </p:spPr>
        <p:txBody>
          <a:bodyPr numCol="1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 numCol="1"/>
          <a:lstStyle>
            <a:lvl1pPr algn="l">
              <a:defRPr b="1" sz="2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 numCol="1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0" y="1435100"/>
            <a:ext cx="3008313" cy="4691063"/>
          </a:xfrm>
        </p:spPr>
        <p:txBody>
          <a:bodyPr numCol="1"/>
          <a:lstStyle>
            <a:lvl1pPr indent="0" marL="0">
              <a:buNone/>
              <a:defRPr sz="1400"/>
            </a:lvl1pPr>
            <a:lvl2pPr indent="0" marL="457200">
              <a:buNone/>
              <a:defRPr sz="1200"/>
            </a:lvl2pPr>
            <a:lvl3pPr indent="0" marL="914400">
              <a:buNone/>
              <a:defRPr sz="1000"/>
            </a:lvl3pPr>
            <a:lvl4pPr indent="0" marL="1371600">
              <a:buNone/>
              <a:defRPr sz="900"/>
            </a:lvl4pPr>
            <a:lvl5pPr indent="0" marL="1828800">
              <a:buNone/>
              <a:defRPr sz="900"/>
            </a:lvl5pPr>
            <a:lvl6pPr indent="0" marL="2286000">
              <a:buNone/>
              <a:defRPr sz="900"/>
            </a:lvl6pPr>
            <a:lvl7pPr indent="0" marL="2743200">
              <a:buNone/>
              <a:defRPr sz="900"/>
            </a:lvl7pPr>
            <a:lvl8pPr indent="0" marL="3200400">
              <a:buNone/>
              <a:defRPr sz="900"/>
            </a:lvl8pPr>
            <a:lvl9pPr indent="0" marL="365760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 numCol="1"/>
          <a:lstStyle>
            <a:lvl1pPr algn="l">
              <a:defRPr b="1" sz="2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idx="1" type="pic"/>
          </p:nvPr>
        </p:nvSpPr>
        <p:spPr>
          <a:xfrm>
            <a:off x="1792288" y="612775"/>
            <a:ext cx="5486400" cy="4114800"/>
          </a:xfrm>
        </p:spPr>
        <p:txBody>
          <a:bodyPr numCol="1"/>
          <a:lstStyle>
            <a:lvl1pPr indent="0" marL="0">
              <a:buNone/>
              <a:defRPr sz="3200"/>
            </a:lvl1pPr>
            <a:lvl2pPr indent="0" marL="457200">
              <a:buNone/>
              <a:defRPr sz="2800"/>
            </a:lvl2pPr>
            <a:lvl3pPr indent="0" marL="914400">
              <a:buNone/>
              <a:defRPr sz="2400"/>
            </a:lvl3pPr>
            <a:lvl4pPr indent="0" marL="1371600">
              <a:buNone/>
              <a:defRPr sz="2000"/>
            </a:lvl4pPr>
            <a:lvl5pPr indent="0" marL="1828800">
              <a:buNone/>
              <a:defRPr sz="2000"/>
            </a:lvl5pPr>
            <a:lvl6pPr indent="0" marL="2286000">
              <a:buNone/>
              <a:defRPr sz="2000"/>
            </a:lvl6pPr>
            <a:lvl7pPr indent="0" marL="2743200">
              <a:buNone/>
              <a:defRPr sz="2000"/>
            </a:lvl7pPr>
            <a:lvl8pPr indent="0" marL="3200400">
              <a:buNone/>
              <a:defRPr sz="2000"/>
            </a:lvl8pPr>
            <a:lvl9pPr indent="0" marL="365760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1792288" y="5367338"/>
            <a:ext cx="5486400" cy="804862"/>
          </a:xfrm>
        </p:spPr>
        <p:txBody>
          <a:bodyPr numCol="1"/>
          <a:lstStyle>
            <a:lvl1pPr indent="0" marL="0">
              <a:buNone/>
              <a:defRPr sz="1400"/>
            </a:lvl1pPr>
            <a:lvl2pPr indent="0" marL="457200">
              <a:buNone/>
              <a:defRPr sz="1200"/>
            </a:lvl2pPr>
            <a:lvl3pPr indent="0" marL="914400">
              <a:buNone/>
              <a:defRPr sz="1000"/>
            </a:lvl3pPr>
            <a:lvl4pPr indent="0" marL="1371600">
              <a:buNone/>
              <a:defRPr sz="900"/>
            </a:lvl4pPr>
            <a:lvl5pPr indent="0" marL="1828800">
              <a:buNone/>
              <a:defRPr sz="900"/>
            </a:lvl5pPr>
            <a:lvl6pPr indent="0" marL="2286000">
              <a:buNone/>
              <a:defRPr sz="900"/>
            </a:lvl6pPr>
            <a:lvl7pPr indent="0" marL="2743200">
              <a:buNone/>
              <a:defRPr sz="900"/>
            </a:lvl7pPr>
            <a:lvl8pPr indent="0" marL="3200400">
              <a:buNone/>
              <a:defRPr sz="900"/>
            </a:lvl8pPr>
            <a:lvl9pPr indent="0" marL="365760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numCol="1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idx="1" orient="vert" type="body"/>
          </p:nvPr>
        </p:nvSpPr>
        <p:spPr/>
        <p:txBody>
          <a:bodyPr numCol="1"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orient="vert" type="title"/>
          </p:nvPr>
        </p:nvSpPr>
        <p:spPr>
          <a:xfrm>
            <a:off x="6629400" y="274638"/>
            <a:ext cx="2057400" cy="5851525"/>
          </a:xfrm>
        </p:spPr>
        <p:txBody>
          <a:bodyPr numCol="1"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idx="1" orient="vert" type="body"/>
          </p:nvPr>
        </p:nvSpPr>
        <p:spPr>
          <a:xfrm>
            <a:off x="457200" y="274638"/>
            <a:ext cx="6019800" cy="5851525"/>
          </a:xfrm>
        </p:spPr>
        <p:txBody>
          <a:bodyPr numCol="1"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 numCol="1"/>
          <a:lstStyle/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 numCol="1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 numCol="1"/>
          <a:lstStyle/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2" Target="../slideLayouts/slideLayout11.xml" Type="http://schemas.openxmlformats.org/officeDocument/2006/relationships/slideLayout"/><Relationship Id="rId11" Target="../slideLayouts/slideLayout10.xml" Type="http://schemas.openxmlformats.org/officeDocument/2006/relationships/slideLayout"/><Relationship Id="rId9" Target="../slideLayouts/slideLayout8.xml" Type="http://schemas.openxmlformats.org/officeDocument/2006/relationships/slideLayout"/><Relationship Id="rId10" Target="../slideLayouts/slideLayout9.xml" Type="http://schemas.openxmlformats.org/officeDocument/2006/relationships/slideLayout"/><Relationship Id="rId8" Target="../slideLayouts/slideLayout7.xml" Type="http://schemas.openxmlformats.org/officeDocument/2006/relationships/slideLayout"/><Relationship Id="rId7" Target="../slideLayouts/slideLayout6.xml" Type="http://schemas.openxmlformats.org/officeDocument/2006/relationships/slideLayout"/><Relationship Id="rId6" Target="../slideLayouts/slideLayout5.xml" Type="http://schemas.openxmlformats.org/officeDocument/2006/relationships/slideLayout"/><Relationship Id="rId5" Target="../slideLayouts/slideLayout4.xml" Type="http://schemas.openxmlformats.org/officeDocument/2006/relationships/slideLayout"/><Relationship Id="rId4" Target="../slideLayouts/slideLayout3.xml" Type="http://schemas.openxmlformats.org/officeDocument/2006/relationships/slideLayout"/><Relationship Id="rId3" Target="../slideLayouts/slideLayout2.xml" Type="http://schemas.openxmlformats.org/officeDocument/2006/relationships/slideLayout"/><Relationship Id="rId2" Target="../slideLayouts/slideLayout1.xml" Type="http://schemas.openxmlformats.org/officeDocument/2006/relationships/slideLayout"/><Relationship Id="rId1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numCol="1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numCol="1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numCol="1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9AABE9-8AF3-483A-84C7-E66E293A94D6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numCol="1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numCol="1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7B1672-6842-46F5-AED4-84D0B3088491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2.xml.rels><?xml version="1.0" encoding="UTF-8" standalone="yes"?><Relationships xmlns="http://schemas.openxmlformats.org/package/2006/relationships"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.xml.rels><?xml version="1.0" encoding="UTF-8" standalone="yes"?><Relationships xmlns="http://schemas.openxmlformats.org/package/2006/relationships"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.xml.rels><?xml version="1.0" encoding="UTF-8" standalone="yes"?><Relationships xmlns="http://schemas.openxmlformats.org/package/2006/relationships"><Relationship Id="rId3" Target="../media/image3.png" Type="http://schemas.openxmlformats.org/officeDocument/2006/relationships/image"/><Relationship Id="rId2" Target="../media/image2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5.xml.rels><?xml version="1.0" encoding="UTF-8" standalone="yes"?><Relationships xmlns="http://schemas.openxmlformats.org/package/2006/relationships"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6.xml.rels><?xml version="1.0" encoding="UTF-8" standalone="yes"?><Relationships xmlns="http://schemas.openxmlformats.org/package/2006/relationships"><Relationship Id="rId4" Target="../media/image6.png" Type="http://schemas.openxmlformats.org/officeDocument/2006/relationships/image"/><Relationship Id="rId3" Target="../media/image5.png" Type="http://schemas.openxmlformats.org/officeDocument/2006/relationships/image"/><Relationship Id="rId2" Target="../media/image4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7.xml.rels><?xml version="1.0" encoding="UTF-8" standalone="yes"?><Relationships xmlns="http://schemas.openxmlformats.org/package/2006/relationships"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8.xml.rels><?xml version="1.0" encoding="UTF-8" standalone="yes"?><Relationships xmlns="http://schemas.openxmlformats.org/package/2006/relationships"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9.xml.rels><?xml version="1.0" encoding="UTF-8" standalone="yes"?><Relationships xmlns="http://schemas.openxmlformats.org/package/2006/relationships"><Relationship Id="rId3" Target="../media/image7.png" Type="http://schemas.openxmlformats.org/officeDocument/2006/relationships/image"/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0.xml.rels><?xml version="1.0" encoding="UTF-8" standalone="yes"?><Relationships xmlns="http://schemas.openxmlformats.org/package/2006/relationships"><Relationship Id="rId2" Target="../media/image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1.xml.rels><?xml version="1.0" encoding="UTF-8" standalone="yes"?><Relationships xmlns="http://schemas.openxmlformats.org/package/2006/relationships"><Relationship Id="rId3" Target="../media/image9.png" Type="http://schemas.openxmlformats.org/officeDocument/2006/relationships/image"/><Relationship Id="rId2" Target="../media/image8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2.xml.rels><?xml version="1.0" encoding="UTF-8" standalone="yes"?><Relationships xmlns="http://schemas.openxmlformats.org/package/2006/relationships"><Relationship Id="rId2" Target="../media/image1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3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14.xml.rels><?xml version="1.0" encoding="UTF-8" standalone="yes"?><Relationships xmlns="http://schemas.openxmlformats.org/package/2006/relationships"><Relationship Id="rId7" Target="../media/image16.png" Type="http://schemas.openxmlformats.org/officeDocument/2006/relationships/image"/><Relationship Id="rId6" Target="../media/image15.png" Type="http://schemas.openxmlformats.org/officeDocument/2006/relationships/image"/><Relationship Id="rId5" Target="../media/image14.png" Type="http://schemas.openxmlformats.org/officeDocument/2006/relationships/image"/><Relationship Id="rId4" Target="../media/image13.png" Type="http://schemas.openxmlformats.org/officeDocument/2006/relationships/image"/><Relationship Id="rId3" Target="../media/image12.png" Type="http://schemas.openxmlformats.org/officeDocument/2006/relationships/image"/><Relationship Id="rId2" Target="../media/image1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5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16.xml.rels><?xml version="1.0" encoding="UTF-8" standalone="yes"?><Relationships xmlns="http://schemas.openxmlformats.org/package/2006/relationships"><Relationship Id="rId4" Target="../media/image19.png" Type="http://schemas.openxmlformats.org/officeDocument/2006/relationships/image"/><Relationship Id="rId3" Target="../media/image18.png" Type="http://schemas.openxmlformats.org/officeDocument/2006/relationships/image"/><Relationship Id="rId2" Target="../media/image17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7.xml.rels><?xml version="1.0" encoding="UTF-8" standalone="yes"?><Relationships xmlns="http://schemas.openxmlformats.org/package/2006/relationships"><Relationship Id="rId7" Target="../media/image25.png" Type="http://schemas.openxmlformats.org/officeDocument/2006/relationships/image"/><Relationship Id="rId6" Target="../media/image24.png" Type="http://schemas.openxmlformats.org/officeDocument/2006/relationships/image"/><Relationship Id="rId5" Target="../media/image23.png" Type="http://schemas.openxmlformats.org/officeDocument/2006/relationships/image"/><Relationship Id="rId4" Target="../media/image22.png" Type="http://schemas.openxmlformats.org/officeDocument/2006/relationships/image"/><Relationship Id="rId3" Target="../media/image21.png" Type="http://schemas.openxmlformats.org/officeDocument/2006/relationships/image"/><Relationship Id="rId2" Target="../media/image2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8.xml.rels><?xml version="1.0" encoding="UTF-8" standalone="yes"?><Relationships xmlns="http://schemas.openxmlformats.org/package/2006/relationships"><Relationship Id="rId5" Target="../media/image25.png" Type="http://schemas.openxmlformats.org/officeDocument/2006/relationships/image"/><Relationship Id="rId4" Target="../media/image24.png" Type="http://schemas.openxmlformats.org/officeDocument/2006/relationships/image"/><Relationship Id="rId3" Target="../media/image23.png" Type="http://schemas.openxmlformats.org/officeDocument/2006/relationships/image"/><Relationship Id="rId2" Target="../media/image26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19.xml.rels><?xml version="1.0" encoding="UTF-8" standalone="yes"?><Relationships xmlns="http://schemas.openxmlformats.org/package/2006/relationships"><Relationship Id="rId4" Target="../media/image29.png" Type="http://schemas.openxmlformats.org/officeDocument/2006/relationships/image"/><Relationship Id="rId3" Target="../media/image28.png" Type="http://schemas.openxmlformats.org/officeDocument/2006/relationships/image"/><Relationship Id="rId2" Target="../media/image27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0.xml.rels><?xml version="1.0" encoding="UTF-8" standalone="yes"?><Relationships xmlns="http://schemas.openxmlformats.org/package/2006/relationships"><Relationship Id="rId2" Target="../media/image3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1.xml.rels><?xml version="1.0" encoding="UTF-8" standalone="yes"?><Relationships xmlns="http://schemas.openxmlformats.org/package/2006/relationships"><Relationship Id="rId4" Target="../media/image33.png" Type="http://schemas.openxmlformats.org/officeDocument/2006/relationships/image"/><Relationship Id="rId3" Target="../media/image32.png" Type="http://schemas.openxmlformats.org/officeDocument/2006/relationships/image"/><Relationship Id="rId2" Target="../media/image3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2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23.xml.rels><?xml version="1.0" encoding="UTF-8" standalone="yes"?><Relationships xmlns="http://schemas.openxmlformats.org/package/2006/relationships"><Relationship Id="rId4" Target="../media/image36.png" Type="http://schemas.openxmlformats.org/officeDocument/2006/relationships/image"/><Relationship Id="rId3" Target="../media/image35.png" Type="http://schemas.openxmlformats.org/officeDocument/2006/relationships/image"/><Relationship Id="rId2" Target="../media/image34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4.xml.rels><?xml version="1.0" encoding="UTF-8" standalone="yes"?><Relationships xmlns="http://schemas.openxmlformats.org/package/2006/relationships"><Relationship Id="rId5" Target="../media/image40.png" Type="http://schemas.openxmlformats.org/officeDocument/2006/relationships/image"/><Relationship Id="rId4" Target="../media/image39.png" Type="http://schemas.openxmlformats.org/officeDocument/2006/relationships/image"/><Relationship Id="rId3" Target="../media/image38.png" Type="http://schemas.openxmlformats.org/officeDocument/2006/relationships/image"/><Relationship Id="rId2" Target="../media/image37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5.xml.rels><?xml version="1.0" encoding="UTF-8" standalone="yes"?><Relationships xmlns="http://schemas.openxmlformats.org/package/2006/relationships"><Relationship Id="rId2" Target="../media/image41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6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27.xml.rels><?xml version="1.0" encoding="UTF-8" standalone="yes"?><Relationships xmlns="http://schemas.openxmlformats.org/package/2006/relationships"><Relationship Id="rId3" Target="../media/image43.png" Type="http://schemas.openxmlformats.org/officeDocument/2006/relationships/image"/><Relationship Id="rId2" Target="../media/image42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8.xml.rels><?xml version="1.0" encoding="UTF-8" standalone="yes"?><Relationships xmlns="http://schemas.openxmlformats.org/package/2006/relationships"><Relationship Id="rId4" Target="../media/image46.png" Type="http://schemas.openxmlformats.org/officeDocument/2006/relationships/image"/><Relationship Id="rId3" Target="../media/image45.png" Type="http://schemas.openxmlformats.org/officeDocument/2006/relationships/image"/><Relationship Id="rId2" Target="../media/image44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29.xml.rels><?xml version="1.0" encoding="UTF-8" standalone="yes"?><Relationships xmlns="http://schemas.openxmlformats.org/package/2006/relationships"><Relationship Id="rId4" Target="../media/image49.png" Type="http://schemas.openxmlformats.org/officeDocument/2006/relationships/image"/><Relationship Id="rId3" Target="../media/image48.png" Type="http://schemas.openxmlformats.org/officeDocument/2006/relationships/image"/><Relationship Id="rId2" Target="../media/image47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0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31.xml.rels><?xml version="1.0" encoding="UTF-8" standalone="yes"?><Relationships xmlns="http://schemas.openxmlformats.org/package/2006/relationships"><Relationship Id="rId4" Target="../media/image52.png" Type="http://schemas.openxmlformats.org/officeDocument/2006/relationships/image"/><Relationship Id="rId3" Target="../media/image51.png" Type="http://schemas.openxmlformats.org/officeDocument/2006/relationships/image"/><Relationship Id="rId2" Target="../media/image5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2.xml.rels><?xml version="1.0" encoding="UTF-8" standalone="yes"?><Relationships xmlns="http://schemas.openxmlformats.org/package/2006/relationships"><Relationship Id="rId4" Target="../media/image55.png" Type="http://schemas.openxmlformats.org/officeDocument/2006/relationships/image"/><Relationship Id="rId3" Target="../media/image54.png" Type="http://schemas.openxmlformats.org/officeDocument/2006/relationships/image"/><Relationship Id="rId2" Target="../media/image53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3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34.xml.rels><?xml version="1.0" encoding="UTF-8" standalone="yes"?><Relationships xmlns="http://schemas.openxmlformats.org/package/2006/relationships"><Relationship Id="rId2" Target="../media/image56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5.xml.rels><?xml version="1.0" encoding="UTF-8" standalone="yes"?><Relationships xmlns="http://schemas.openxmlformats.org/package/2006/relationships"><Relationship Id="rId4" Target="../media/image59.png" Type="http://schemas.openxmlformats.org/officeDocument/2006/relationships/image"/><Relationship Id="rId3" Target="../media/image58.png" Type="http://schemas.openxmlformats.org/officeDocument/2006/relationships/image"/><Relationship Id="rId2" Target="../media/image57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6.xml.rels><?xml version="1.0" encoding="UTF-8" standalone="yes"?><Relationships xmlns="http://schemas.openxmlformats.org/package/2006/relationships"><Relationship Id="rId4" Target="../media/image62.png" Type="http://schemas.openxmlformats.org/officeDocument/2006/relationships/image"/><Relationship Id="rId3" Target="../media/image61.png" Type="http://schemas.openxmlformats.org/officeDocument/2006/relationships/image"/><Relationship Id="rId2" Target="../media/image6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7.xml.rels><?xml version="1.0" encoding="UTF-8" standalone="yes"?><Relationships xmlns="http://schemas.openxmlformats.org/package/2006/relationships"><Relationship Id="rId4" Target="../media/image65.png" Type="http://schemas.openxmlformats.org/officeDocument/2006/relationships/image"/><Relationship Id="rId3" Target="../media/image64.png" Type="http://schemas.openxmlformats.org/officeDocument/2006/relationships/image"/><Relationship Id="rId2" Target="../media/image63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8.xml.rels><?xml version="1.0" encoding="UTF-8" standalone="yes"?><Relationships xmlns="http://schemas.openxmlformats.org/package/2006/relationships"><Relationship Id="rId3" Target="../media/image67.png" Type="http://schemas.openxmlformats.org/officeDocument/2006/relationships/image"/><Relationship Id="rId2" Target="../media/image66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39.xml.rels><?xml version="1.0" encoding="UTF-8" standalone="yes"?><Relationships xmlns="http://schemas.openxmlformats.org/package/2006/relationships"><Relationship Id="rId2" Target="../media/image68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0.xml.rels><?xml version="1.0" encoding="UTF-8" standalone="yes"?><Relationships xmlns="http://schemas.openxmlformats.org/package/2006/relationships"><Relationship Id="rId2" Target="../media/image69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1.xml.rels><?xml version="1.0" encoding="UTF-8" standalone="yes"?><Relationships xmlns="http://schemas.openxmlformats.org/package/2006/relationships"><Relationship Id="rId4" Target="../media/image72.png" Type="http://schemas.openxmlformats.org/officeDocument/2006/relationships/image"/><Relationship Id="rId3" Target="../media/image71.png" Type="http://schemas.openxmlformats.org/officeDocument/2006/relationships/image"/><Relationship Id="rId2" Target="../media/image7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2.xml.rels><?xml version="1.0" encoding="UTF-8" standalone="yes"?><Relationships xmlns="http://schemas.openxmlformats.org/package/2006/relationships"><Relationship Id="rId4" Target="../media/image75.png" Type="http://schemas.openxmlformats.org/officeDocument/2006/relationships/image"/><Relationship Id="rId3" Target="../media/image74.png" Type="http://schemas.openxmlformats.org/officeDocument/2006/relationships/image"/><Relationship Id="rId2" Target="../media/image73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3.xml.rels><?xml version="1.0" encoding="UTF-8" standalone="yes"?><Relationships xmlns="http://schemas.openxmlformats.org/package/2006/relationships"><Relationship Id="rId4" Target="../media/image78.png" Type="http://schemas.openxmlformats.org/officeDocument/2006/relationships/image"/><Relationship Id="rId3" Target="../media/image77.png" Type="http://schemas.openxmlformats.org/officeDocument/2006/relationships/image"/><Relationship Id="rId2" Target="../media/image76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4.xml.rels><?xml version="1.0" encoding="UTF-8" standalone="yes"?><Relationships xmlns="http://schemas.openxmlformats.org/package/2006/relationships"><Relationship Id="rId2" Target="../media/image79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5.xml.rels><?xml version="1.0" encoding="UTF-8" standalone="yes"?><Relationships xmlns="http://schemas.openxmlformats.org/package/2006/relationships"><Relationship Id="rId3" Target="../media/image81.png" Type="http://schemas.openxmlformats.org/officeDocument/2006/relationships/image"/><Relationship Id="rId2" Target="../media/image80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6.xml.rels><?xml version="1.0" encoding="UTF-8" standalone="yes"?><Relationships xmlns="http://schemas.openxmlformats.org/package/2006/relationships"><Relationship Id="rId2" Target="../media/image82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7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_rels/slide48.xml.rels><?xml version="1.0" encoding="UTF-8" standalone="yes"?><Relationships xmlns="http://schemas.openxmlformats.org/package/2006/relationships"><Relationship Id="rId4" Target="../media/image85.png" Type="http://schemas.openxmlformats.org/officeDocument/2006/relationships/image"/><Relationship Id="rId3" Target="../media/image84.png" Type="http://schemas.openxmlformats.org/officeDocument/2006/relationships/image"/><Relationship Id="rId2" Target="../media/image83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49.xml.rels><?xml version="1.0" encoding="UTF-8" standalone="yes"?><Relationships xmlns="http://schemas.openxmlformats.org/package/2006/relationships"><Relationship Id="rId4" Target="../media/image88.png" Type="http://schemas.openxmlformats.org/officeDocument/2006/relationships/image"/><Relationship Id="rId3" Target="../media/image87.png" Type="http://schemas.openxmlformats.org/officeDocument/2006/relationships/image"/><Relationship Id="rId2" Target="../media/image86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50.xml.rels><?xml version="1.0" encoding="UTF-8" standalone="yes"?><Relationships xmlns="http://schemas.openxmlformats.org/package/2006/relationships"><Relationship Id="rId4" Target="../media/image91.png" Type="http://schemas.openxmlformats.org/officeDocument/2006/relationships/image"/><Relationship Id="rId3" Target="../media/image90.png" Type="http://schemas.openxmlformats.org/officeDocument/2006/relationships/image"/><Relationship Id="rId2" Target="../media/image89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51.xml.rels><?xml version="1.0" encoding="UTF-8" standalone="yes"?><Relationships xmlns="http://schemas.openxmlformats.org/package/2006/relationships"><Relationship Id="rId4" Target="../media/image94.png" Type="http://schemas.openxmlformats.org/officeDocument/2006/relationships/image"/><Relationship Id="rId3" Target="../media/image93.png" Type="http://schemas.openxmlformats.org/officeDocument/2006/relationships/image"/><Relationship Id="rId2" Target="../media/image92.png" Type="http://schemas.openxmlformats.org/officeDocument/2006/relationships/image"/><Relationship Id="rId1" Target="../slideLayouts/slideLayout2.xml" Type="http://schemas.openxmlformats.org/officeDocument/2006/relationships/slideLayout"/></Relationships>
</file>

<file path=ppt/slides/_rels/slide52.xml.rels><?xml version="1.0" encoding="UTF-8" standalone="yes"?>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numCol="1"/>
          <a:lstStyle/>
          <a:p>
            <a:r>
              <a:rPr dirty="0" lang="en-US" smtClean="0"/>
              <a:t>Array in </a:t>
            </a:r>
            <a:r>
              <a:rPr dirty="0" err="1" lang="en-US" smtClean="0"/>
              <a:t>MongoDB</a:t>
            </a:r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62000"/>
          </a:xfrm>
        </p:spPr>
        <p:txBody>
          <a:bodyPr numCol="1">
            <a:normAutofit/>
          </a:bodyPr>
          <a:lstStyle/>
          <a:p>
            <a:r>
              <a:rPr dirty="0" lang="en-US" smtClean="0"/>
              <a:t>Array in </a:t>
            </a:r>
            <a:r>
              <a:rPr dirty="0" err="1" lang="en-US" smtClean="0"/>
              <a:t>MongoDB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762000"/>
            <a:ext cx="9144000" cy="5867400"/>
          </a:xfrm>
        </p:spPr>
        <p:txBody>
          <a:bodyPr numCol="1"/>
          <a:lstStyle/>
          <a:p>
            <a:r>
              <a:rPr dirty="0" lang="en-US" smtClean="0"/>
              <a:t>Array is a list of values that can take many different forms.</a:t>
            </a:r>
          </a:p>
          <a:p>
            <a:r>
              <a:rPr dirty="0" lang="en-US" smtClean="0"/>
              <a:t>Create a document: </a:t>
            </a:r>
          </a:p>
          <a:p>
            <a:pPr>
              <a:buNone/>
            </a:pPr>
            <a:r>
              <a:rPr dirty="0" err="1" lang="en-US" smtClean="0"/>
              <a:t>db.Collection_name.operation</a:t>
            </a:r>
            <a:r>
              <a:rPr dirty="0" lang="en-US" smtClean="0"/>
              <a:t>({field: [“Val1”,“Val2”]}) </a:t>
            </a:r>
            <a:endParaRPr dirty="0" lang="en-US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28600" y="3429000"/>
            <a:ext cx="8739929" cy="2990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62000"/>
          </a:xfrm>
        </p:spPr>
        <p:txBody>
          <a:bodyPr numCol="1">
            <a:normAutofit/>
          </a:bodyPr>
          <a:lstStyle/>
          <a:p>
            <a:r>
              <a:rPr dirty="0" lang="en-US" smtClean="0"/>
              <a:t>Querying on Array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85800"/>
            <a:ext cx="8839200" cy="2514600"/>
          </a:xfrm>
        </p:spPr>
        <p:txBody>
          <a:bodyPr numCol="1">
            <a:normAutofit fontScale="62500" lnSpcReduction="20000"/>
          </a:bodyPr>
          <a:lstStyle/>
          <a:p>
            <a:pPr indent="-514350" marL="514350"/>
            <a:r>
              <a:rPr dirty="0" lang="en-US" smtClean="0" sz="3800"/>
              <a:t>The find method can be used to return arrays inside a document.</a:t>
            </a:r>
          </a:p>
          <a:p>
            <a:pPr indent="-514350" marL="514350">
              <a:buNone/>
            </a:pPr>
            <a:r>
              <a:rPr b="1" dirty="0" lang="en-US" smtClean="0" sz="3800" u="sng"/>
              <a:t>Match an Array:</a:t>
            </a:r>
          </a:p>
          <a:p>
            <a:pPr algn="just" indent="-514350" marL="514350"/>
            <a:r>
              <a:rPr dirty="0" lang="en-US" smtClean="0" sz="3800"/>
              <a:t>To specify equality condition on an array, use the query document { &lt;field&gt;: &lt;value&gt; } .</a:t>
            </a:r>
          </a:p>
          <a:p>
            <a:pPr algn="just" indent="-514350" marL="514350">
              <a:buNone/>
            </a:pPr>
            <a:r>
              <a:rPr dirty="0" lang="en-US" smtClean="0" sz="3800"/>
              <a:t>     where &lt;value&gt; is the exact array to match, including the order of the elements.</a:t>
            </a:r>
          </a:p>
          <a:p>
            <a:pPr>
              <a:buNone/>
            </a:pPr>
            <a:r>
              <a:rPr b="1" dirty="0" lang="en-US" smtClean="0" sz="3800"/>
              <a:t>Example: </a:t>
            </a:r>
          </a:p>
          <a:p>
            <a:endParaRPr b="1" dirty="0" lang="en-US" smtClean="0"/>
          </a:p>
          <a:p>
            <a:endParaRPr b="1" dirty="0" lang="en-US" smtClean="0"/>
          </a:p>
          <a:p>
            <a:pPr algn="just" indent="-514350" marL="514350">
              <a:buNone/>
            </a:pPr>
            <a:endParaRPr b="1" dirty="0" lang="en-US" smtClean="0"/>
          </a:p>
        </p:txBody>
      </p:sp>
      <p:sp>
        <p:nvSpPr>
          <p:cNvPr id="7" name="Rectangle 6"/>
          <p:cNvSpPr/>
          <p:nvPr/>
        </p:nvSpPr>
        <p:spPr>
          <a:xfrm>
            <a:off x="381000" y="5486400"/>
            <a:ext cx="6655092" cy="369332"/>
          </a:xfrm>
          <a:prstGeom prst="rect">
            <a:avLst/>
          </a:prstGeom>
        </p:spPr>
        <p:txBody>
          <a:bodyPr numCol="1" wrap="none">
            <a:spAutoFit/>
          </a:bodyPr>
          <a:lstStyle/>
          <a:p>
            <a:r>
              <a:rPr dirty="0" lang="en-US" smtClean="0"/>
              <a:t>Query 1:                  </a:t>
            </a:r>
            <a:r>
              <a:rPr dirty="0" err="1" lang="en-US" smtClean="0"/>
              <a:t>db.CourseRepository.find</a:t>
            </a:r>
            <a:r>
              <a:rPr dirty="0" lang="en-US" smtClean="0"/>
              <a:t>( { tags: [“blue", “red"] } )</a:t>
            </a:r>
            <a:endParaRPr dirty="0" lang="en-US"/>
          </a:p>
        </p:txBody>
      </p:sp>
      <p:sp>
        <p:nvSpPr>
          <p:cNvPr id="8" name="Rectangle 7"/>
          <p:cNvSpPr/>
          <p:nvPr/>
        </p:nvSpPr>
        <p:spPr>
          <a:xfrm>
            <a:off x="381000" y="6248400"/>
            <a:ext cx="9144000" cy="369332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/>
              <a:t>Query 2:                 </a:t>
            </a:r>
            <a:r>
              <a:rPr dirty="0" err="1" lang="en-US" smtClean="0"/>
              <a:t>db.CourseRepository.find</a:t>
            </a:r>
            <a:r>
              <a:rPr dirty="0" lang="en-US" smtClean="0"/>
              <a:t>( { tags: { $all: [“blue", “red"] } } )</a:t>
            </a:r>
            <a:endParaRPr dirty="0" lang="en-US"/>
          </a:p>
        </p:txBody>
      </p:sp>
      <p:pic>
        <p:nvPicPr>
          <p:cNvPr id="9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838200" y="3048000"/>
            <a:ext cx="7977929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228600"/>
            <a:ext cx="8763000" cy="6400800"/>
          </a:xfrm>
        </p:spPr>
        <p:txBody>
          <a:bodyPr numCol="1"/>
          <a:lstStyle/>
          <a:p>
            <a:pPr algn="just"/>
            <a:r>
              <a:rPr dirty="0" lang="en-US" smtClean="0"/>
              <a:t>This query would return the document having tags “blue" and ”red", in the specified order.</a:t>
            </a:r>
          </a:p>
          <a:p>
            <a:pPr algn="just"/>
            <a:endParaRPr dirty="0" lang="en-US" smtClean="0"/>
          </a:p>
          <a:p>
            <a:pPr algn="just"/>
            <a:endParaRPr dirty="0" lang="en-US" smtClean="0"/>
          </a:p>
          <a:p>
            <a:pPr algn="just"/>
            <a:r>
              <a:rPr dirty="0" lang="en-US" smtClean="0"/>
              <a:t>To find an array that contains both the elements “blue" and ”red", without regard to order or other elements in the array, use the $all operator:</a:t>
            </a:r>
          </a:p>
          <a:p>
            <a:endParaRPr dirty="0" lang="en-US"/>
          </a:p>
        </p:txBody>
      </p:sp>
      <p:pic>
        <p:nvPicPr>
          <p:cNvPr id="307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914400" y="1371600"/>
            <a:ext cx="7572375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5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81000" y="4724400"/>
            <a:ext cx="8404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rrowheads="1" noChangeAspect="1" noGrp="1"/>
          </p:cNvPicPr>
          <p:nvPr>
            <p:ph idx="1"/>
          </p:nvPr>
        </p:nvPicPr>
        <p:blipFill>
          <a:blip cstate="print" r:embed="rId2"/>
          <a:srcRect/>
          <a:stretch>
            <a:fillRect/>
          </a:stretch>
        </p:blipFill>
        <p:spPr>
          <a:xfrm>
            <a:off x="533400" y="152400"/>
            <a:ext cx="8238917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457200" y="3352800"/>
            <a:ext cx="7848600" cy="40011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 sz="2000"/>
              <a:t>Query 1:                  </a:t>
            </a:r>
            <a:r>
              <a:rPr dirty="0" err="1" lang="en-US" smtClean="0" sz="2000"/>
              <a:t>db.CourseRepository.find</a:t>
            </a:r>
            <a:r>
              <a:rPr dirty="0" lang="en-US" smtClean="0" sz="2000"/>
              <a:t>( { tags: [“red", “blue"] } )</a:t>
            </a:r>
            <a:endParaRPr dirty="0" lang="en-US" sz="2000"/>
          </a:p>
        </p:txBody>
      </p:sp>
      <p:sp>
        <p:nvSpPr>
          <p:cNvPr id="6" name="Rectangle 5"/>
          <p:cNvSpPr/>
          <p:nvPr/>
        </p:nvSpPr>
        <p:spPr>
          <a:xfrm>
            <a:off x="457200" y="3886200"/>
            <a:ext cx="8001000" cy="40011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 sz="2000"/>
              <a:t>Query 2:                 </a:t>
            </a:r>
            <a:r>
              <a:rPr dirty="0" err="1" lang="en-US" smtClean="0" sz="2000"/>
              <a:t>db.CourseRepository.find</a:t>
            </a:r>
            <a:r>
              <a:rPr dirty="0" lang="en-US" smtClean="0" sz="2000"/>
              <a:t>( { tags: { $all: [“red", “blue"] } } )</a:t>
            </a:r>
            <a:endParaRPr dirty="0" lang="en-US" sz="2000"/>
          </a:p>
        </p:txBody>
      </p:sp>
      <p:sp>
        <p:nvSpPr>
          <p:cNvPr id="7" name="Rectangle 6"/>
          <p:cNvSpPr/>
          <p:nvPr/>
        </p:nvSpPr>
        <p:spPr>
          <a:xfrm>
            <a:off x="457200" y="4419600"/>
            <a:ext cx="6934200" cy="40011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 sz="2000"/>
              <a:t>Query 3:                  </a:t>
            </a:r>
            <a:r>
              <a:rPr dirty="0" err="1" lang="en-US" smtClean="0" sz="2000"/>
              <a:t>db.CourseRepository.find</a:t>
            </a:r>
            <a:r>
              <a:rPr dirty="0" lang="en-US" smtClean="0" sz="2000"/>
              <a:t>( { tags: [“red"] } )</a:t>
            </a:r>
            <a:endParaRPr dirty="0" lang="en-US" sz="2000"/>
          </a:p>
        </p:txBody>
      </p:sp>
      <p:sp>
        <p:nvSpPr>
          <p:cNvPr id="8" name="Rectangle 7"/>
          <p:cNvSpPr/>
          <p:nvPr/>
        </p:nvSpPr>
        <p:spPr>
          <a:xfrm>
            <a:off x="457200" y="4953000"/>
            <a:ext cx="7620000" cy="40011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 sz="2000"/>
              <a:t>Query 4:                  </a:t>
            </a:r>
            <a:r>
              <a:rPr dirty="0" err="1" lang="en-US" smtClean="0" sz="2000"/>
              <a:t>db.CourseRepository.find</a:t>
            </a:r>
            <a:r>
              <a:rPr dirty="0" lang="en-US" smtClean="0" sz="2000"/>
              <a:t>( { tags: {$all: [“red"] }} )</a:t>
            </a:r>
            <a:endParaRPr dirty="0" lang="en-US" sz="2000"/>
          </a:p>
        </p:txBody>
      </p:sp>
      <p:sp>
        <p:nvSpPr>
          <p:cNvPr id="10" name="Rectangle 9"/>
          <p:cNvSpPr/>
          <p:nvPr/>
        </p:nvSpPr>
        <p:spPr>
          <a:xfrm>
            <a:off x="457200" y="6019800"/>
            <a:ext cx="8382000" cy="40011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 sz="2000"/>
              <a:t>Query 6:                 </a:t>
            </a:r>
            <a:r>
              <a:rPr dirty="0" err="1" lang="en-US" smtClean="0" sz="2000"/>
              <a:t>db.CourseRepository.find</a:t>
            </a:r>
            <a:r>
              <a:rPr dirty="0" lang="en-US" smtClean="0" sz="2000"/>
              <a:t>( { tags: { $all: [“red", “white"] } } )</a:t>
            </a:r>
            <a:endParaRPr dirty="0" lang="en-US" sz="2000"/>
          </a:p>
        </p:txBody>
      </p:sp>
      <p:sp>
        <p:nvSpPr>
          <p:cNvPr id="11" name="Rectangle 10"/>
          <p:cNvSpPr/>
          <p:nvPr/>
        </p:nvSpPr>
        <p:spPr>
          <a:xfrm>
            <a:off x="457200" y="5486400"/>
            <a:ext cx="7924800" cy="40011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 sz="2000"/>
              <a:t>Query 5:                  </a:t>
            </a:r>
            <a:r>
              <a:rPr dirty="0" err="1" lang="en-US" smtClean="0" sz="2000"/>
              <a:t>db.CourseRepository.find</a:t>
            </a:r>
            <a:r>
              <a:rPr dirty="0" lang="en-US" smtClean="0" sz="2000"/>
              <a:t>( { tags: [“red", “white"] } )</a:t>
            </a:r>
            <a:endParaRPr dirty="0" lang="en-US" sz="2000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8600" y="76200"/>
            <a:ext cx="5791200" cy="92333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/>
              <a:t>Query 2:           </a:t>
            </a:r>
          </a:p>
          <a:p>
            <a:r>
              <a:rPr dirty="0" err="1" lang="en-US" smtClean="0"/>
              <a:t>db.CourseRepository.find</a:t>
            </a:r>
            <a:endParaRPr dirty="0" lang="en-US" smtClean="0"/>
          </a:p>
          <a:p>
            <a:r>
              <a:rPr dirty="0" lang="en-US" smtClean="0"/>
              <a:t>( { tags: { $all: [“red", “blue"] } } )</a:t>
            </a:r>
            <a:endParaRPr dirty="0" lang="en-US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4114800" y="76200"/>
            <a:ext cx="3810000" cy="2816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81000" y="3048000"/>
            <a:ext cx="3352800" cy="35446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228600" y="1981200"/>
            <a:ext cx="4876800" cy="92333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/>
              <a:t>Query 4:    </a:t>
            </a:r>
          </a:p>
          <a:p>
            <a:r>
              <a:rPr dirty="0" err="1" lang="en-US" smtClean="0"/>
              <a:t>db.CourseRepository.find</a:t>
            </a:r>
            <a:endParaRPr dirty="0" lang="en-US" smtClean="0"/>
          </a:p>
          <a:p>
            <a:r>
              <a:rPr dirty="0" lang="en-US" smtClean="0"/>
              <a:t>( { tags: {$all: [“red"] }} )</a:t>
            </a:r>
            <a:endParaRPr dirty="0" lang="en-US"/>
          </a:p>
        </p:txBody>
      </p:sp>
      <p:pic>
        <p:nvPicPr>
          <p:cNvPr id="102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4953000" y="4648200"/>
            <a:ext cx="4086225" cy="1762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4800600" y="3505200"/>
            <a:ext cx="5105400" cy="923330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r>
              <a:rPr dirty="0" lang="en-US" smtClean="0"/>
              <a:t>Query 6:                </a:t>
            </a:r>
          </a:p>
          <a:p>
            <a:r>
              <a:rPr dirty="0" lang="en-US" smtClean="0"/>
              <a:t> </a:t>
            </a:r>
            <a:r>
              <a:rPr dirty="0" err="1" lang="en-US" smtClean="0"/>
              <a:t>db.CourseRepository.find</a:t>
            </a:r>
            <a:endParaRPr dirty="0" lang="en-US" smtClean="0"/>
          </a:p>
          <a:p>
            <a:r>
              <a:rPr dirty="0" lang="en-US" smtClean="0"/>
              <a:t>( { tags: { $all: [“red", “white"] } } )                                                               </a:t>
            </a:r>
            <a:endParaRPr dirty="0" lang="en-US"/>
          </a:p>
        </p:txBody>
      </p:sp>
      <p:sp>
        <p:nvSpPr>
          <p:cNvPr id="10" name="Down Arrow 9"/>
          <p:cNvSpPr/>
          <p:nvPr/>
        </p:nvSpPr>
        <p:spPr>
          <a:xfrm>
            <a:off x="8305800" y="3733800"/>
            <a:ext cx="228600" cy="6096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numCol="1" rtlCol="0"/>
          <a:lstStyle/>
          <a:p>
            <a:pPr algn="ctr"/>
            <a:endParaRPr lang="en-US"/>
          </a:p>
        </p:txBody>
      </p:sp>
      <p:sp>
        <p:nvSpPr>
          <p:cNvPr id="11" name="Down Arrow 10"/>
          <p:cNvSpPr/>
          <p:nvPr/>
        </p:nvSpPr>
        <p:spPr>
          <a:xfrm>
            <a:off x="2971800" y="2209800"/>
            <a:ext cx="228600" cy="6096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numCol="1" rtlCol="0"/>
          <a:lstStyle/>
          <a:p>
            <a:pPr algn="ctr"/>
            <a:endParaRPr lang="en-US"/>
          </a:p>
        </p:txBody>
      </p:sp>
      <p:sp>
        <p:nvSpPr>
          <p:cNvPr id="12" name="Right Arrow 11"/>
          <p:cNvSpPr/>
          <p:nvPr/>
        </p:nvSpPr>
        <p:spPr>
          <a:xfrm>
            <a:off x="2971800" y="228600"/>
            <a:ext cx="685800" cy="228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numCol="1" rtlCol="0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9144000" cy="6705600"/>
          </a:xfrm>
        </p:spPr>
        <p:txBody>
          <a:bodyPr numCol="1">
            <a:normAutofit/>
          </a:bodyPr>
          <a:lstStyle/>
          <a:p>
            <a:pPr>
              <a:buNone/>
            </a:pPr>
            <a:r>
              <a:rPr b="1" dirty="0" lang="en-US" smtClean="0" sz="2400" u="sng"/>
              <a:t>Query an Array for an Element:</a:t>
            </a:r>
          </a:p>
          <a:p>
            <a:pPr algn="just"/>
            <a:r>
              <a:rPr dirty="0" lang="en-US" smtClean="0" sz="2400"/>
              <a:t>To query if the array field contains at least </a:t>
            </a:r>
            <a:r>
              <a:rPr dirty="0" i="1" lang="en-US" smtClean="0" sz="2400"/>
              <a:t>one</a:t>
            </a:r>
            <a:r>
              <a:rPr dirty="0" lang="en-US" smtClean="0" sz="2400"/>
              <a:t> element with the specified value, use the filter { &lt;field&gt;: &lt;value&gt; } .</a:t>
            </a:r>
          </a:p>
          <a:p>
            <a:pPr algn="just">
              <a:buNone/>
            </a:pPr>
            <a:r>
              <a:rPr dirty="0" lang="en-US" smtClean="0" sz="2400"/>
              <a:t>         Example: </a:t>
            </a:r>
            <a:r>
              <a:rPr dirty="0" err="1" lang="en-US" smtClean="0" sz="2400"/>
              <a:t>db.CourseRepository.find</a:t>
            </a:r>
            <a:r>
              <a:rPr dirty="0" lang="en-US" smtClean="0" sz="2400"/>
              <a:t>( { tags: "red" } )</a:t>
            </a:r>
          </a:p>
          <a:p>
            <a:pPr algn="just"/>
            <a:r>
              <a:rPr dirty="0" lang="en-US" smtClean="0" sz="2400"/>
              <a:t>To specify conditions on the elements in the array field, use query operators in the query filter document:</a:t>
            </a:r>
          </a:p>
          <a:p>
            <a:pPr algn="just">
              <a:buNone/>
            </a:pPr>
            <a:r>
              <a:rPr dirty="0" lang="en-US" smtClean="0" sz="2400"/>
              <a:t>          Syntax: { &lt;array field&gt;: { &lt;operator1&gt;: &lt;value1&gt;, ... } }</a:t>
            </a:r>
          </a:p>
          <a:p>
            <a:pPr algn="just">
              <a:buNone/>
            </a:pPr>
            <a:r>
              <a:rPr dirty="0" lang="en-US" smtClean="0" sz="2400"/>
              <a:t>       Example: </a:t>
            </a:r>
            <a:r>
              <a:rPr dirty="0" err="1" lang="en-US" smtClean="0" sz="2400"/>
              <a:t>db.CourseRepository.find</a:t>
            </a:r>
            <a:r>
              <a:rPr dirty="0" lang="en-US" smtClean="0" sz="2400"/>
              <a:t>( { </a:t>
            </a:r>
            <a:r>
              <a:rPr dirty="0" err="1" lang="en-US" smtClean="0" sz="2400"/>
              <a:t>dim_cm</a:t>
            </a:r>
            <a:r>
              <a:rPr dirty="0" lang="en-US" smtClean="0" sz="2400"/>
              <a:t>: { $gt: 25 } } )</a:t>
            </a:r>
          </a:p>
          <a:p>
            <a:pPr algn="just"/>
            <a:r>
              <a:rPr dirty="0" lang="en-US" smtClean="0" sz="2400"/>
              <a:t>This operation queries for all documents where the array </a:t>
            </a:r>
            <a:r>
              <a:rPr dirty="0" err="1" lang="en-US" smtClean="0" sz="2400"/>
              <a:t>dim_cm</a:t>
            </a:r>
            <a:r>
              <a:rPr dirty="0" lang="en-US" smtClean="0" sz="2400"/>
              <a:t> contains at least one element whose value is greater than 25.</a:t>
            </a:r>
          </a:p>
          <a:p>
            <a:pPr algn="just"/>
            <a:endParaRPr dirty="0" lang="en-US" smtClean="0" sz="2400"/>
          </a:p>
          <a:p>
            <a:pPr>
              <a:buNone/>
            </a:pPr>
            <a:endParaRPr dirty="0" lang="en-US" smtClean="0"/>
          </a:p>
          <a:p>
            <a:endParaRPr dirty="0" lang="en-US"/>
          </a:p>
        </p:txBody>
      </p:sp>
      <p:pic>
        <p:nvPicPr>
          <p:cNvPr id="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609600" y="4572000"/>
            <a:ext cx="7977929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57200"/>
            <a:ext cx="8991600" cy="6172200"/>
          </a:xfrm>
        </p:spPr>
        <p:txBody>
          <a:bodyPr numCol="1">
            <a:normAutofit/>
          </a:bodyPr>
          <a:lstStyle/>
          <a:p>
            <a:pPr algn="just">
              <a:lnSpc>
                <a:spcPct val="110000"/>
              </a:lnSpc>
            </a:pPr>
            <a:r>
              <a:rPr dirty="0" lang="en-US" smtClean="0" sz="2400"/>
              <a:t>When specifying </a:t>
            </a:r>
            <a:r>
              <a:rPr b="1" dirty="0" lang="en-US" smtClean="0" sz="2400"/>
              <a:t>compound conditions </a:t>
            </a:r>
            <a:r>
              <a:rPr dirty="0" lang="en-US" smtClean="0" sz="2400"/>
              <a:t>on array elements, the query can be specified such that either a </a:t>
            </a:r>
            <a:r>
              <a:rPr b="1" dirty="0" lang="en-US" smtClean="0" sz="2400"/>
              <a:t>single array element meets these condition or any combination of array elements </a:t>
            </a:r>
            <a:r>
              <a:rPr dirty="0" lang="en-US" smtClean="0" sz="2400"/>
              <a:t>meets the conditions.</a:t>
            </a:r>
          </a:p>
          <a:p>
            <a:pPr algn="just">
              <a:lnSpc>
                <a:spcPct val="110000"/>
              </a:lnSpc>
              <a:buFont charset="2" pitchFamily="2" typeface="Wingdings"/>
              <a:buChar char="q"/>
            </a:pPr>
            <a:r>
              <a:rPr b="1" dirty="0" lang="en-US" smtClean="0" sz="2400"/>
              <a:t>Query an Array with Compound Filter Conditions on the Array Elements: </a:t>
            </a:r>
            <a:r>
              <a:rPr dirty="0" err="1" lang="en-US" smtClean="0" sz="2400"/>
              <a:t>db.CourseRepository.find</a:t>
            </a:r>
            <a:r>
              <a:rPr dirty="0" lang="en-US" smtClean="0" sz="2400"/>
              <a:t>( { </a:t>
            </a:r>
            <a:r>
              <a:rPr dirty="0" err="1" lang="en-US" smtClean="0" sz="2400"/>
              <a:t>dim_cm</a:t>
            </a:r>
            <a:r>
              <a:rPr dirty="0" lang="en-US" smtClean="0" sz="2400"/>
              <a:t>: { $</a:t>
            </a:r>
            <a:r>
              <a:rPr dirty="0" err="1" lang="en-US" smtClean="0" sz="2400"/>
              <a:t>gt</a:t>
            </a:r>
            <a:r>
              <a:rPr dirty="0" lang="en-US" smtClean="0" sz="2400"/>
              <a:t>: 15, $</a:t>
            </a:r>
            <a:r>
              <a:rPr dirty="0" err="1" lang="en-US" smtClean="0" sz="2400"/>
              <a:t>lt</a:t>
            </a:r>
            <a:r>
              <a:rPr dirty="0" lang="en-US" smtClean="0" sz="2400"/>
              <a:t>: 20 } } )</a:t>
            </a:r>
          </a:p>
          <a:p>
            <a:pPr algn="just"/>
            <a:r>
              <a:rPr dirty="0" lang="en-US" smtClean="0" sz="2400"/>
              <a:t>This example queries for documents where the </a:t>
            </a:r>
            <a:r>
              <a:rPr dirty="0" err="1" i="1" lang="en-US" smtClean="0" sz="2400"/>
              <a:t>dim_cm</a:t>
            </a:r>
            <a:r>
              <a:rPr dirty="0" lang="en-US" smtClean="0" sz="2400"/>
              <a:t> array contains elements that in some combination satisfy the query conditions; e.g., one element can satisfy the greater than 15 condition and another element can satisfy the less than 20 condition, or a single element can satisfy both.</a:t>
            </a:r>
          </a:p>
          <a:p>
            <a:pPr>
              <a:buNone/>
            </a:pPr>
            <a:r>
              <a:rPr dirty="0" lang="en-US" smtClean="0" sz="3000"/>
              <a:t>    </a:t>
            </a:r>
          </a:p>
          <a:p>
            <a:pPr algn="just"/>
            <a:endParaRPr dirty="0" lang="en-US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4000" cy="584775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pPr algn="ctr">
              <a:buNone/>
            </a:pPr>
            <a:r>
              <a:rPr b="1" dirty="0" lang="en-US" smtClean="0" sz="3200"/>
              <a:t>Specify Multiple Conditions for Array Elements</a:t>
            </a:r>
          </a:p>
        </p:txBody>
      </p:sp>
      <p:pic>
        <p:nvPicPr>
          <p:cNvPr id="5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524000" y="5023912"/>
            <a:ext cx="6400800" cy="1834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/>
          <a:lstStyle/>
          <a:p>
            <a:endParaRPr dirty="0" lang="en-US" smtClean="0"/>
          </a:p>
          <a:p>
            <a:endParaRPr dirty="0" lang="en-US" smtClean="0"/>
          </a:p>
          <a:p>
            <a:endParaRPr dirty="0" lang="en-US" smtClean="0"/>
          </a:p>
          <a:p>
            <a:endParaRPr dirty="0" lang="en-US" smtClean="0"/>
          </a:p>
          <a:p>
            <a:r>
              <a:rPr dirty="0" err="1" lang="en-US" smtClean="0" sz="2800"/>
              <a:t>db.CourseRepository.find</a:t>
            </a:r>
            <a:r>
              <a:rPr dirty="0" lang="en-US" smtClean="0" sz="2800"/>
              <a:t>( { </a:t>
            </a:r>
            <a:r>
              <a:rPr dirty="0" err="1" lang="en-US" smtClean="0" sz="2800"/>
              <a:t>dim_cm</a:t>
            </a:r>
            <a:r>
              <a:rPr dirty="0" lang="en-US" smtClean="0" sz="2800"/>
              <a:t>: { $</a:t>
            </a:r>
            <a:r>
              <a:rPr dirty="0" err="1" lang="en-US" smtClean="0" sz="2800"/>
              <a:t>gt</a:t>
            </a:r>
            <a:r>
              <a:rPr dirty="0" lang="en-US" smtClean="0" sz="2800"/>
              <a:t>: 15, $</a:t>
            </a:r>
            <a:r>
              <a:rPr dirty="0" err="1" lang="en-US" smtClean="0" sz="2800"/>
              <a:t>lt</a:t>
            </a:r>
            <a:r>
              <a:rPr dirty="0" lang="en-US" smtClean="0" sz="2800"/>
              <a:t>: 20 } } )</a:t>
            </a:r>
            <a:endParaRPr dirty="0" lang="en-US" sz="2800"/>
          </a:p>
        </p:txBody>
      </p:sp>
      <p:pic>
        <p:nvPicPr>
          <p:cNvPr id="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914400" y="228600"/>
            <a:ext cx="7180139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1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133600" y="3131174"/>
            <a:ext cx="4419600" cy="33172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" y="0"/>
            <a:ext cx="9067800" cy="7162800"/>
          </a:xfrm>
        </p:spPr>
        <p:txBody>
          <a:bodyPr numCol="1">
            <a:normAutofit fontScale="70000" lnSpcReduction="20000"/>
          </a:bodyPr>
          <a:lstStyle/>
          <a:p>
            <a:pPr algn="just">
              <a:lnSpc>
                <a:spcPct val="120000"/>
              </a:lnSpc>
              <a:buFont charset="2" pitchFamily="2" typeface="Wingdings"/>
              <a:buChar char="q"/>
            </a:pPr>
            <a:r>
              <a:rPr b="1" dirty="0" lang="en-US" smtClean="0"/>
              <a:t> Query for an Array Element that Meets Multiple Criteria: </a:t>
            </a:r>
          </a:p>
          <a:p>
            <a:pPr algn="just">
              <a:lnSpc>
                <a:spcPct val="120000"/>
              </a:lnSpc>
            </a:pPr>
            <a:r>
              <a:rPr dirty="0" lang="en-US" smtClean="0"/>
              <a:t>Use $elemMatch operator to specify multiple criteria on the elements of an array such that at least one array element satisfies all the specified criteria.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  </a:t>
            </a:r>
            <a:r>
              <a:rPr dirty="0" err="1" lang="en-US" smtClean="0"/>
              <a:t>db.CourseRepository.find</a:t>
            </a:r>
            <a:r>
              <a:rPr dirty="0" lang="en-US" smtClean="0"/>
              <a:t>( { </a:t>
            </a:r>
            <a:r>
              <a:rPr dirty="0" err="1" lang="en-US" smtClean="0"/>
              <a:t>dim_cm</a:t>
            </a:r>
            <a:r>
              <a:rPr dirty="0" lang="en-US" smtClean="0"/>
              <a:t>: { $elemMatch: { $</a:t>
            </a:r>
            <a:r>
              <a:rPr dirty="0" err="1" lang="en-US" smtClean="0"/>
              <a:t>gt</a:t>
            </a:r>
            <a:r>
              <a:rPr dirty="0" lang="en-US" smtClean="0"/>
              <a:t>: 22, $</a:t>
            </a:r>
            <a:r>
              <a:rPr dirty="0" err="1" lang="en-US" smtClean="0"/>
              <a:t>lt</a:t>
            </a:r>
            <a:r>
              <a:rPr dirty="0" lang="en-US" smtClean="0"/>
              <a:t>: 30 } } } )</a:t>
            </a:r>
          </a:p>
          <a:p>
            <a:pPr algn="just">
              <a:lnSpc>
                <a:spcPct val="120000"/>
              </a:lnSpc>
            </a:pPr>
            <a:r>
              <a:rPr dirty="0" lang="en-US" smtClean="0"/>
              <a:t>This example queries for documents where the </a:t>
            </a:r>
            <a:r>
              <a:rPr dirty="0" err="1" lang="en-US" smtClean="0"/>
              <a:t>dim_cm</a:t>
            </a:r>
            <a:r>
              <a:rPr dirty="0" lang="en-US" smtClean="0"/>
              <a:t> array contains at least one element that is both greater than ($gt) 22 and less than ($</a:t>
            </a:r>
            <a:r>
              <a:rPr dirty="0" err="1" lang="en-US" smtClean="0"/>
              <a:t>lt</a:t>
            </a:r>
            <a:r>
              <a:rPr dirty="0" lang="en-US" smtClean="0"/>
              <a:t>) 30: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  </a:t>
            </a:r>
          </a:p>
          <a:p>
            <a:pPr algn="just">
              <a:lnSpc>
                <a:spcPct val="120000"/>
              </a:lnSpc>
              <a:buNone/>
            </a:pPr>
            <a:endParaRPr dirty="0" lang="en-US" smtClean="0"/>
          </a:p>
          <a:p>
            <a:pPr algn="just">
              <a:lnSpc>
                <a:spcPct val="120000"/>
              </a:lnSpc>
              <a:buNone/>
            </a:pPr>
            <a:endParaRPr dirty="0" lang="en-US" smtClean="0"/>
          </a:p>
          <a:p>
            <a:pPr algn="just">
              <a:lnSpc>
                <a:spcPct val="120000"/>
              </a:lnSpc>
              <a:buNone/>
            </a:pPr>
            <a:endParaRPr dirty="0" lang="en-US" smtClean="0"/>
          </a:p>
          <a:p>
            <a:pPr algn="just">
              <a:lnSpc>
                <a:spcPct val="120000"/>
              </a:lnSpc>
              <a:buFont charset="2" pitchFamily="2" typeface="Wingdings"/>
              <a:buChar char="q"/>
            </a:pPr>
            <a:r>
              <a:rPr b="1" dirty="0" lang="en-US" smtClean="0"/>
              <a:t>Query for an Element by the Array Index Position</a:t>
            </a:r>
          </a:p>
          <a:p>
            <a:pPr algn="just">
              <a:lnSpc>
                <a:spcPct val="120000"/>
              </a:lnSpc>
            </a:pPr>
            <a:r>
              <a:rPr dirty="0" lang="en-US" smtClean="0"/>
              <a:t>Using the dot notation, you can specify query conditions for an element at a particular index or position of the array. The array uses zero-based indexing.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           db. </a:t>
            </a:r>
            <a:r>
              <a:rPr dirty="0" err="1" lang="en-US" smtClean="0"/>
              <a:t>CourseRepository.find</a:t>
            </a:r>
            <a:r>
              <a:rPr dirty="0" lang="en-US" smtClean="0"/>
              <a:t>( { "dim_cm.1": { $</a:t>
            </a:r>
            <a:r>
              <a:rPr dirty="0" err="1" lang="en-US" smtClean="0"/>
              <a:t>gt</a:t>
            </a:r>
            <a:r>
              <a:rPr dirty="0" lang="en-US" smtClean="0"/>
              <a:t>: 25 } } )</a:t>
            </a:r>
          </a:p>
          <a:p>
            <a:pPr algn="just">
              <a:lnSpc>
                <a:spcPct val="120000"/>
              </a:lnSpc>
            </a:pPr>
            <a:r>
              <a:rPr dirty="0" lang="en-US" smtClean="0"/>
              <a:t>This example queries for all documents where the second element in the array </a:t>
            </a:r>
            <a:r>
              <a:rPr dirty="0" err="1" lang="en-US" smtClean="0"/>
              <a:t>dim_cm</a:t>
            </a:r>
            <a:r>
              <a:rPr dirty="0" lang="en-US" smtClean="0"/>
              <a:t> is greater than 25.               </a:t>
            </a:r>
          </a:p>
          <a:p>
            <a:pPr algn="just">
              <a:buNone/>
            </a:pPr>
            <a:endParaRPr b="1" dirty="0" lang="en-US" smtClean="0"/>
          </a:p>
          <a:p>
            <a:pPr algn="just">
              <a:buNone/>
            </a:pPr>
            <a:endParaRPr dirty="0" lang="en-US" smtClean="0"/>
          </a:p>
          <a:p>
            <a:pPr>
              <a:buNone/>
            </a:pPr>
            <a:endParaRPr b="1" dirty="0" lang="en-US" smtClean="0" u="sng"/>
          </a:p>
          <a:p>
            <a:endParaRPr dirty="0" lang="en-US"/>
          </a:p>
        </p:txBody>
      </p:sp>
      <p:pic>
        <p:nvPicPr>
          <p:cNvPr id="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676400" y="2590800"/>
            <a:ext cx="6134868" cy="1757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"/>
            <a:ext cx="8763000" cy="6553200"/>
          </a:xfrm>
        </p:spPr>
        <p:txBody>
          <a:bodyPr numCol="1"/>
          <a:lstStyle/>
          <a:p>
            <a:pPr algn="just">
              <a:buNone/>
            </a:pPr>
            <a:r>
              <a:rPr b="1" dirty="0" lang="en-US" smtClean="0" sz="2400"/>
              <a:t>Query an Array by Array Length</a:t>
            </a:r>
          </a:p>
          <a:p>
            <a:pPr algn="just"/>
            <a:r>
              <a:rPr dirty="0" lang="en-US" smtClean="0" sz="2400"/>
              <a:t>Use the $size operator to query for arrays by number of elements.       </a:t>
            </a:r>
          </a:p>
          <a:p>
            <a:pPr algn="just">
              <a:buNone/>
            </a:pPr>
            <a:r>
              <a:rPr dirty="0" lang="en-US" smtClean="0" sz="2400"/>
              <a:t>                </a:t>
            </a:r>
            <a:r>
              <a:rPr dirty="0" err="1" lang="en-US" smtClean="0" sz="2400"/>
              <a:t>db.CourseRepository.find</a:t>
            </a:r>
            <a:r>
              <a:rPr dirty="0" lang="en-US" smtClean="0" sz="2400"/>
              <a:t>( { "tags": { $size: 3 } } ) </a:t>
            </a:r>
          </a:p>
          <a:p>
            <a:pPr algn="just"/>
            <a:r>
              <a:rPr dirty="0" lang="en-US" smtClean="0" sz="2400"/>
              <a:t>This query selects documents where array tags has 3 elements.</a:t>
            </a:r>
          </a:p>
          <a:p>
            <a:pPr algn="just">
              <a:buFont charset="2" pitchFamily="2" typeface="Wingdings"/>
              <a:buChar char="v"/>
            </a:pPr>
            <a:r>
              <a:rPr b="1" dirty="0" lang="en-US" smtClean="0" sz="2400" u="sng"/>
              <a:t>Nested array in </a:t>
            </a:r>
            <a:r>
              <a:rPr b="1" dirty="0" err="1" lang="en-US" smtClean="0" sz="2400" u="sng"/>
              <a:t>MongoDB</a:t>
            </a:r>
            <a:endParaRPr b="1" dirty="0" lang="en-US" smtClean="0" sz="2400" u="sng"/>
          </a:p>
          <a:p>
            <a:pPr algn="just">
              <a:buNone/>
            </a:pPr>
            <a:r>
              <a:rPr dirty="0" lang="en-US" smtClean="0" sz="2400"/>
              <a:t>      when a set of field values is bundled inside a particular field in the form of an array, it is said to be “embedded” as a nested Array document. </a:t>
            </a:r>
          </a:p>
          <a:p>
            <a:endParaRPr dirty="0" lang="en-US"/>
          </a:p>
        </p:txBody>
      </p:sp>
      <p:pic>
        <p:nvPicPr>
          <p:cNvPr id="4098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643328" y="3429000"/>
            <a:ext cx="8500672" cy="7113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9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838200" y="4191000"/>
            <a:ext cx="7509376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Array Update Operators</a:t>
            </a:r>
            <a:endParaRPr dirty="0" lang="en-US"/>
          </a:p>
        </p:txBody>
      </p:sp>
      <p:pic>
        <p:nvPicPr>
          <p:cNvPr id="5122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475452" y="1066800"/>
            <a:ext cx="8101382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096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Array operator: $pop 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09600"/>
            <a:ext cx="8839200" cy="6096000"/>
          </a:xfrm>
        </p:spPr>
        <p:txBody>
          <a:bodyPr numCol="1"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dirty="0" lang="en-US" smtClean="0"/>
              <a:t>The $pop operator removes the first or last element of an array. 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Pass $pop a value of -1 to remove the first element of an array and 1 to remove the last element in an array.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The $pop operator has the form: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               { $pop: { &lt;field&gt;: &lt;-1 | 1&gt;, ... } }</a:t>
            </a:r>
          </a:p>
          <a:p>
            <a:pPr algn="just">
              <a:lnSpc>
                <a:spcPct val="120000"/>
              </a:lnSpc>
              <a:buFont charset="2" pitchFamily="2" typeface="Wingdings"/>
              <a:buChar char="v"/>
            </a:pPr>
            <a:endParaRPr dirty="0" lang="en-US" smtClean="0" sz="2200"/>
          </a:p>
          <a:p>
            <a:pPr algn="just">
              <a:lnSpc>
                <a:spcPct val="120000"/>
              </a:lnSpc>
            </a:pPr>
            <a:r>
              <a:rPr dirty="0" lang="en-US" smtClean="0"/>
              <a:t>The $pop operation fails if the &lt;field&gt; is not an array.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If the $pop operator removes the last item in the &lt;field&gt;, the &lt;field&gt; will then hold an empty array.</a:t>
            </a:r>
          </a:p>
          <a:p>
            <a:pPr algn="just"/>
            <a:endParaRPr dirty="0" lang="en-US" smtClean="0"/>
          </a:p>
          <a:p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62000"/>
          </a:xfrm>
        </p:spPr>
        <p:txBody>
          <a:bodyPr numCol="1">
            <a:normAutofit/>
          </a:bodyPr>
          <a:lstStyle/>
          <a:p>
            <a:r>
              <a:rPr dirty="0" lang="en-US" smtClean="0"/>
              <a:t>Examples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762000"/>
            <a:ext cx="8763000" cy="59436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400"/>
              <a:t>Remove the First Item of an Array:</a:t>
            </a:r>
          </a:p>
          <a:p>
            <a:pPr algn="just">
              <a:buNone/>
            </a:pPr>
            <a:r>
              <a:rPr dirty="0" lang="en-US" smtClean="0" sz="2400"/>
              <a:t>Create the students collection:</a:t>
            </a:r>
          </a:p>
          <a:p>
            <a:pPr>
              <a:buNone/>
            </a:pPr>
            <a:endParaRPr dirty="0" lang="en-US" smtClean="0" sz="2400"/>
          </a:p>
          <a:p>
            <a:pPr algn="just">
              <a:buNone/>
            </a:pPr>
            <a:r>
              <a:rPr dirty="0" lang="en-US" smtClean="0" sz="2400"/>
              <a:t>Query: Remove </a:t>
            </a:r>
            <a:r>
              <a:rPr dirty="0" i="1" lang="en-US" smtClean="0" sz="2400"/>
              <a:t>first</a:t>
            </a:r>
            <a:r>
              <a:rPr dirty="0" lang="en-US" smtClean="0" sz="2400"/>
              <a:t> element, 8, from the scores array:</a:t>
            </a:r>
          </a:p>
          <a:p>
            <a:pPr>
              <a:buNone/>
            </a:pPr>
            <a:endParaRPr dirty="0" lang="en-US" smtClean="0" sz="2400"/>
          </a:p>
          <a:p>
            <a:pPr algn="just">
              <a:buNone/>
            </a:pPr>
            <a:r>
              <a:rPr dirty="0" lang="en-US" smtClean="0" sz="2400"/>
              <a:t>Output: The first element, 8, has been removed from  the scores array:</a:t>
            </a:r>
          </a:p>
          <a:p>
            <a:pPr algn="ctr">
              <a:buNone/>
            </a:pPr>
            <a:r>
              <a:rPr b="1" dirty="0" lang="en-US" smtClean="0" sz="2400"/>
              <a:t>Remove the Last Item of an Array</a:t>
            </a:r>
          </a:p>
          <a:p>
            <a:pPr algn="ctr">
              <a:buNone/>
            </a:pPr>
            <a:endParaRPr dirty="0" lang="en-US" smtClean="0" sz="2400"/>
          </a:p>
          <a:p>
            <a:pPr algn="just">
              <a:buNone/>
            </a:pPr>
            <a:r>
              <a:rPr dirty="0" lang="en-US" smtClean="0" sz="2400"/>
              <a:t>Remove the </a:t>
            </a:r>
            <a:r>
              <a:rPr dirty="0" i="1" lang="en-US" smtClean="0" sz="2400"/>
              <a:t>last</a:t>
            </a:r>
            <a:r>
              <a:rPr dirty="0" lang="en-US" smtClean="0" sz="2400"/>
              <a:t> element, 10, from the scores array by specifying 1:</a:t>
            </a:r>
          </a:p>
          <a:p>
            <a:pPr algn="just">
              <a:buNone/>
            </a:pPr>
            <a:endParaRPr b="1" dirty="0" lang="en-US" smtClean="0" sz="2400"/>
          </a:p>
          <a:p>
            <a:pPr algn="just">
              <a:buNone/>
            </a:pPr>
            <a:r>
              <a:rPr dirty="0" lang="en-US" smtClean="0" sz="2400"/>
              <a:t>The last element, 10, has been removed from the scores array:</a:t>
            </a:r>
            <a:endParaRPr b="1" dirty="0" lang="en-US" smtClean="0" sz="2400"/>
          </a:p>
          <a:p>
            <a:pPr algn="just">
              <a:buNone/>
            </a:pPr>
            <a:endParaRPr dirty="0" lang="en-US" sz="2400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304800" y="1676400"/>
            <a:ext cx="624840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81000" y="2667000"/>
            <a:ext cx="6715125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2819400" y="3429000"/>
            <a:ext cx="3419475" cy="42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rrowheads="1" noChangeAspect="1"/>
          </p:cNvPicPr>
          <p:nvPr/>
        </p:nvPicPr>
        <p:blipFill>
          <a:blip cstate="print" r:embed="rId5"/>
          <a:srcRect/>
          <a:stretch>
            <a:fillRect/>
          </a:stretch>
        </p:blipFill>
        <p:spPr>
          <a:xfrm>
            <a:off x="1143000" y="4191000"/>
            <a:ext cx="5972175" cy="352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1" name="Picture 7"/>
          <p:cNvPicPr>
            <a:picLocks noChangeArrowheads="1" noChangeAspect="1"/>
          </p:cNvPicPr>
          <p:nvPr/>
        </p:nvPicPr>
        <p:blipFill>
          <a:blip cstate="print" r:embed="rId6"/>
          <a:srcRect/>
          <a:stretch>
            <a:fillRect/>
          </a:stretch>
        </p:blipFill>
        <p:spPr>
          <a:xfrm>
            <a:off x="990600" y="5105400"/>
            <a:ext cx="6715125" cy="36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2" name="Picture 8"/>
          <p:cNvPicPr>
            <a:picLocks noChangeArrowheads="1" noChangeAspect="1"/>
          </p:cNvPicPr>
          <p:nvPr/>
        </p:nvPicPr>
        <p:blipFill>
          <a:blip cstate="print" r:embed="rId7"/>
          <a:srcRect/>
          <a:stretch>
            <a:fillRect/>
          </a:stretch>
        </p:blipFill>
        <p:spPr>
          <a:xfrm>
            <a:off x="2209800" y="6096000"/>
            <a:ext cx="3009900" cy="36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457200"/>
          </a:xfrm>
        </p:spPr>
        <p:txBody>
          <a:bodyPr numCol="1">
            <a:noAutofit/>
          </a:bodyPr>
          <a:lstStyle/>
          <a:p>
            <a:r>
              <a:rPr dirty="0" lang="en-US" smtClean="0" sz="3600"/>
              <a:t>Array operator: $pull</a:t>
            </a:r>
            <a:endParaRPr dirty="0" lang="en-US" sz="36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" y="457200"/>
            <a:ext cx="8915400" cy="6553200"/>
          </a:xfrm>
        </p:spPr>
        <p:txBody>
          <a:bodyPr numCol="1">
            <a:normAutofit fontScale="70000" lnSpcReduction="20000"/>
          </a:bodyPr>
          <a:lstStyle/>
          <a:p>
            <a:pPr algn="just">
              <a:lnSpc>
                <a:spcPct val="120000"/>
              </a:lnSpc>
            </a:pPr>
            <a:r>
              <a:rPr dirty="0" lang="en-US" smtClean="0"/>
              <a:t>The $pull operator removes from an existing array all instances of a value or values that match a specified condition.</a:t>
            </a:r>
          </a:p>
          <a:p>
            <a:pPr algn="just">
              <a:lnSpc>
                <a:spcPct val="120000"/>
              </a:lnSpc>
              <a:buNone/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Syntax: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{ $pull: { &lt;field1&gt;: &lt;</a:t>
            </a:r>
            <a:r>
              <a:rPr dirty="0" err="1" lang="en-US" smtClean="0"/>
              <a:t>value|condition</a:t>
            </a:r>
            <a:r>
              <a:rPr dirty="0" lang="en-US" smtClean="0"/>
              <a:t>&gt;, &lt;field2&gt;: &lt;</a:t>
            </a:r>
            <a:r>
              <a:rPr dirty="0" err="1" lang="en-US" smtClean="0"/>
              <a:t>value|condition</a:t>
            </a:r>
            <a:r>
              <a:rPr dirty="0" lang="en-US" smtClean="0"/>
              <a:t>&gt;, ... } }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To specify a &lt;field&gt; in an embedded document or in an array, use dot notation.</a:t>
            </a:r>
          </a:p>
          <a:p>
            <a:pPr algn="just">
              <a:lnSpc>
                <a:spcPct val="120000"/>
              </a:lnSpc>
              <a:buNone/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If you specify a &lt;condition&gt; and the array elements are embedded documents, $pull operator applies the &lt;condition&gt; as if each array element were a document in a collection. </a:t>
            </a:r>
          </a:p>
          <a:p>
            <a:pPr algn="just">
              <a:lnSpc>
                <a:spcPct val="120000"/>
              </a:lnSpc>
              <a:buNone/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If the specified &lt;value&gt; to remove is a document, $pull removes only the elements in the array that have the exact same fields and values. The ordering of the fields can differ.</a:t>
            </a:r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33400"/>
          </a:xfrm>
        </p:spPr>
        <p:txBody>
          <a:bodyPr numCol="1">
            <a:normAutofit fontScale="90000"/>
          </a:bodyPr>
          <a:lstStyle/>
          <a:p>
            <a:r>
              <a:rPr dirty="0" lang="en-US" smtClean="0" sz="3200"/>
              <a:t>Array operator: $pull Examples</a:t>
            </a:r>
            <a:endParaRPr dirty="0" lang="en-US" sz="32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533400"/>
            <a:ext cx="8839200" cy="6324600"/>
          </a:xfrm>
        </p:spPr>
        <p:txBody>
          <a:bodyPr numCol="1">
            <a:normAutofit/>
          </a:bodyPr>
          <a:lstStyle/>
          <a:p>
            <a:pPr>
              <a:buNone/>
            </a:pPr>
            <a:r>
              <a:rPr b="1" dirty="0" lang="en-US" smtClean="0"/>
              <a:t> </a:t>
            </a:r>
            <a:r>
              <a:rPr b="1" dirty="0" lang="en-US" smtClean="0" sz="2400" u="sng"/>
              <a:t>Remove All Items That Equal a Specified Value</a:t>
            </a:r>
          </a:p>
          <a:p>
            <a:pPr indent="-457200" marL="457200">
              <a:buAutoNum type="arabicParenR"/>
            </a:pPr>
            <a:r>
              <a:rPr dirty="0" lang="en-US" smtClean="0" sz="2400"/>
              <a:t>Create the stores collection:                                        3) Output:</a:t>
            </a:r>
          </a:p>
          <a:p>
            <a:pPr indent="-457200" marL="457200">
              <a:buAutoNum type="arabicParenR"/>
            </a:pPr>
            <a:endParaRPr dirty="0" lang="en-US" smtClean="0" sz="2400"/>
          </a:p>
          <a:p>
            <a:pPr indent="-457200" marL="457200">
              <a:buAutoNum type="arabicParenR"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r>
              <a:rPr dirty="0" lang="en-US" smtClean="0" sz="2400"/>
              <a:t>2) Query:</a:t>
            </a:r>
            <a:r>
              <a:rPr dirty="0" lang="en-US" smtClean="0"/>
              <a:t/>
            </a:r>
            <a:br>
              <a:rPr dirty="0" lang="en-US" smtClean="0"/>
            </a:br>
            <a:endParaRPr dirty="0" lang="en-US" smtClean="0"/>
          </a:p>
          <a:p>
            <a:pPr>
              <a:buNone/>
            </a:pPr>
            <a:r>
              <a:rPr dirty="0" lang="en-US" smtClean="0"/>
              <a:t/>
            </a:r>
            <a:br>
              <a:rPr dirty="0" lang="en-US" smtClean="0"/>
            </a:br>
            <a:endParaRPr dirty="0" lang="en-US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304800" y="1676400"/>
            <a:ext cx="4647563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990600" y="4343400"/>
            <a:ext cx="7681912" cy="1021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5085977" y="1676400"/>
            <a:ext cx="4058023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914400" y="5410200"/>
            <a:ext cx="6858000" cy="1015663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pPr algn="just"/>
            <a:r>
              <a:rPr dirty="0" lang="en-US" smtClean="0" sz="2000"/>
              <a:t>This operation removes</a:t>
            </a:r>
          </a:p>
          <a:p>
            <a:pPr algn="just"/>
            <a:r>
              <a:rPr dirty="0" lang="en-US" smtClean="0" sz="2000"/>
              <a:t>(</a:t>
            </a:r>
            <a:r>
              <a:rPr dirty="0" err="1" lang="en-US" smtClean="0" sz="2000"/>
              <a:t>i</a:t>
            </a:r>
            <a:r>
              <a:rPr dirty="0" lang="en-US" smtClean="0" sz="2000"/>
              <a:t>) "apples" and "oranges" from the fruits array</a:t>
            </a:r>
          </a:p>
          <a:p>
            <a:pPr algn="just"/>
            <a:r>
              <a:rPr dirty="0" lang="en-US" smtClean="0" sz="2000"/>
              <a:t>(ii) "carrots" from the vegetables array</a:t>
            </a:r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/>
          <a:lstStyle/>
          <a:p>
            <a:pPr>
              <a:buNone/>
            </a:pPr>
            <a:r>
              <a:rPr b="1" dirty="0" lang="en-US" smtClean="0" sz="2000" u="sng"/>
              <a:t>Remove All Items That Match a Specified $pull Condition</a:t>
            </a:r>
          </a:p>
          <a:p>
            <a:pPr>
              <a:buNone/>
            </a:pPr>
            <a:r>
              <a:rPr dirty="0" lang="en-US" smtClean="0" sz="2000"/>
              <a:t>Create the </a:t>
            </a:r>
            <a:r>
              <a:rPr dirty="0" i="1" lang="en-US" smtClean="0" sz="2000"/>
              <a:t>profiles</a:t>
            </a:r>
            <a:r>
              <a:rPr dirty="0" lang="en-US" smtClean="0" sz="2000"/>
              <a:t> collection:</a:t>
            </a:r>
          </a:p>
          <a:p>
            <a:pPr>
              <a:buNone/>
            </a:pPr>
            <a:endParaRPr dirty="0" lang="en-US" smtClean="0" sz="2000"/>
          </a:p>
          <a:p>
            <a:pPr>
              <a:buNone/>
            </a:pPr>
            <a:r>
              <a:rPr dirty="0" lang="en-US" smtClean="0" sz="2000"/>
              <a:t>Remove all items from the votes array that are greater than or equal to ( $gte ) 6:</a:t>
            </a:r>
          </a:p>
          <a:p>
            <a:pPr>
              <a:buNone/>
            </a:pPr>
            <a:endParaRPr dirty="0" lang="en-US" smtClean="0" sz="2000"/>
          </a:p>
          <a:p>
            <a:pPr>
              <a:buNone/>
            </a:pPr>
            <a:r>
              <a:rPr dirty="0" lang="en-US" smtClean="0" sz="2000"/>
              <a:t>After the update operation, the document only has values less than 6:</a:t>
            </a:r>
          </a:p>
          <a:p>
            <a:pPr>
              <a:buNone/>
            </a:pPr>
            <a:endParaRPr dirty="0" lang="en-US" smtClean="0" sz="2000" u="sng"/>
          </a:p>
          <a:p>
            <a:pPr>
              <a:buNone/>
            </a:pPr>
            <a:r>
              <a:rPr b="1" dirty="0" lang="en-US" smtClean="0" sz="2000" u="sng"/>
              <a:t>Remove Items from an Array of Documents</a:t>
            </a:r>
          </a:p>
          <a:p>
            <a:pPr>
              <a:buNone/>
            </a:pPr>
            <a:r>
              <a:rPr dirty="0" lang="en-US" smtClean="0" sz="2000"/>
              <a:t>Create the survey collection:</a:t>
            </a:r>
          </a:p>
          <a:p>
            <a:pPr>
              <a:buNone/>
            </a:pPr>
            <a:endParaRPr dirty="0" lang="en-US" smtClean="0" sz="2000"/>
          </a:p>
          <a:p>
            <a:pPr>
              <a:buNone/>
            </a:pPr>
            <a:endParaRPr dirty="0" lang="en-US" smtClean="0" sz="2000"/>
          </a:p>
          <a:p>
            <a:pPr>
              <a:buNone/>
            </a:pPr>
            <a:endParaRPr dirty="0" lang="en-US" smtClean="0" sz="2000"/>
          </a:p>
          <a:p>
            <a:pPr>
              <a:buNone/>
            </a:pPr>
            <a:endParaRPr dirty="0" lang="en-US" smtClean="0" sz="2000"/>
          </a:p>
          <a:p>
            <a:pPr algn="just">
              <a:buNone/>
            </a:pPr>
            <a:r>
              <a:rPr dirty="0" lang="en-US" smtClean="0" sz="2000"/>
              <a:t>Removes all elements from the results array that contain both a score field equal to 8 and an item field equal to "B":</a:t>
            </a:r>
            <a:endParaRPr dirty="0" lang="en-US" sz="2000"/>
          </a:p>
        </p:txBody>
      </p:sp>
      <p:pic>
        <p:nvPicPr>
          <p:cNvPr id="2050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28600" y="914400"/>
            <a:ext cx="7038975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1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28600" y="1676400"/>
            <a:ext cx="76104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228600" y="2362200"/>
            <a:ext cx="3324225" cy="36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5" name="Picture 3"/>
          <p:cNvPicPr>
            <a:picLocks noChangeArrowheads="1" noChangeAspect="1"/>
          </p:cNvPicPr>
          <p:nvPr/>
        </p:nvPicPr>
        <p:blipFill>
          <a:blip cstate="print" r:embed="rId5"/>
          <a:srcRect/>
          <a:stretch>
            <a:fillRect/>
          </a:stretch>
        </p:blipFill>
        <p:spPr>
          <a:xfrm>
            <a:off x="3276599" y="3200400"/>
            <a:ext cx="2664155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6" name="Picture 4"/>
          <p:cNvPicPr>
            <a:picLocks noChangeArrowheads="1" noChangeAspect="1"/>
          </p:cNvPicPr>
          <p:nvPr/>
        </p:nvPicPr>
        <p:blipFill>
          <a:blip cstate="print" r:embed="rId6"/>
          <a:srcRect/>
          <a:stretch>
            <a:fillRect/>
          </a:stretch>
        </p:blipFill>
        <p:spPr>
          <a:xfrm>
            <a:off x="6172200" y="3200400"/>
            <a:ext cx="2716194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7" name="Picture 5"/>
          <p:cNvPicPr>
            <a:picLocks noChangeArrowheads="1" noChangeAspect="1"/>
          </p:cNvPicPr>
          <p:nvPr/>
        </p:nvPicPr>
        <p:blipFill>
          <a:blip cstate="print" r:embed="rId7"/>
          <a:srcRect/>
          <a:stretch>
            <a:fillRect/>
          </a:stretch>
        </p:blipFill>
        <p:spPr>
          <a:xfrm>
            <a:off x="2667000" y="5562600"/>
            <a:ext cx="4638675" cy="985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>
            <a:normAutofit/>
          </a:bodyPr>
          <a:lstStyle/>
          <a:p>
            <a:pPr algn="just"/>
            <a:r>
              <a:rPr dirty="0" lang="en-US" smtClean="0" sz="2400"/>
              <a:t>The $pull expression applies the condition to each element of the results array as though it were a top-level document.</a:t>
            </a:r>
          </a:p>
          <a:p>
            <a:pPr algn="just"/>
            <a:r>
              <a:rPr dirty="0" lang="en-US" smtClean="0" sz="2400"/>
              <a:t>After the operation, the results array contains no documents that contain both a score field equal to 8 and an item field equal to "B".</a:t>
            </a:r>
          </a:p>
          <a:p>
            <a:pPr algn="just"/>
            <a:r>
              <a:rPr dirty="0" lang="en-US" smtClean="0" sz="2400"/>
              <a:t>Create the survey collection: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000"/>
              <a:t>Removes all elements from the results array that contain both a score field equal to 8 and an item field equal to "B":</a:t>
            </a:r>
          </a:p>
          <a:p>
            <a:pPr algn="just"/>
            <a:r>
              <a:rPr dirty="0" lang="en-US" smtClean="0" sz="2400"/>
              <a:t>Query: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Result: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endParaRPr dirty="0" lang="en-US" smtClean="0"/>
          </a:p>
          <a:p>
            <a:endParaRPr dirty="0" lang="en-US"/>
          </a:p>
        </p:txBody>
      </p:sp>
      <p:pic>
        <p:nvPicPr>
          <p:cNvPr id="4098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676400" y="5702542"/>
            <a:ext cx="5334000" cy="1155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1600200" y="2209800"/>
            <a:ext cx="2664155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4648200" y="2209800"/>
            <a:ext cx="2716194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5"/>
          <p:cNvPicPr>
            <a:picLocks noChangeArrowheads="1" noChangeAspect="1"/>
          </p:cNvPicPr>
          <p:nvPr/>
        </p:nvPicPr>
        <p:blipFill>
          <a:blip cstate="print" r:embed="rId5"/>
          <a:srcRect/>
          <a:stretch>
            <a:fillRect/>
          </a:stretch>
        </p:blipFill>
        <p:spPr>
          <a:xfrm>
            <a:off x="2514600" y="4648200"/>
            <a:ext cx="4638675" cy="985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629400"/>
          </a:xfrm>
        </p:spPr>
        <p:txBody>
          <a:bodyPr numCol="1"/>
          <a:lstStyle/>
          <a:p>
            <a:pPr>
              <a:buNone/>
            </a:pPr>
            <a:r>
              <a:rPr b="1" dirty="0" lang="en-US" smtClean="0" sz="2000" u="sng"/>
              <a:t>Remove Documents from Nested Arrays</a:t>
            </a:r>
          </a:p>
          <a:p>
            <a:pPr>
              <a:buNone/>
            </a:pPr>
            <a:r>
              <a:rPr dirty="0" lang="en-US" smtClean="0" sz="1800"/>
              <a:t>Create a new survey collection with documents that are embedded in nested arrays.</a:t>
            </a:r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endParaRPr dirty="0" lang="en-US" smtClean="0" sz="1800"/>
          </a:p>
          <a:p>
            <a:pPr>
              <a:buNone/>
            </a:pPr>
            <a:r>
              <a:rPr dirty="0" lang="en-US" smtClean="0" sz="1800"/>
              <a:t>Specify multiple conditions on the elements of the answers array with $elemMatch:</a:t>
            </a:r>
            <a:endParaRPr dirty="0" lang="en-US" sz="1800"/>
          </a:p>
        </p:txBody>
      </p:sp>
      <p:pic>
        <p:nvPicPr>
          <p:cNvPr id="5122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28600" y="914400"/>
            <a:ext cx="3276600" cy="25443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123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733801" y="914401"/>
            <a:ext cx="3352799" cy="25438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125" name="Picture 5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990600" y="3886200"/>
            <a:ext cx="5791200" cy="26961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898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752600" y="304800"/>
            <a:ext cx="5506788" cy="563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Array operator: $</a:t>
            </a:r>
            <a:r>
              <a:rPr dirty="0" err="1" lang="en-US" smtClean="0"/>
              <a:t>pullall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85800"/>
            <a:ext cx="8839200" cy="6019800"/>
          </a:xfrm>
        </p:spPr>
        <p:txBody>
          <a:bodyPr numCol="1">
            <a:normAutofit/>
          </a:bodyPr>
          <a:lstStyle/>
          <a:p>
            <a:pPr algn="just"/>
            <a:r>
              <a:rPr dirty="0" lang="en-US" smtClean="0" sz="2000"/>
              <a:t>The </a:t>
            </a:r>
            <a:r>
              <a:rPr dirty="0" i="1" lang="en-US" smtClean="0" sz="2000"/>
              <a:t>$pullAll</a:t>
            </a:r>
            <a:r>
              <a:rPr dirty="0" lang="en-US" smtClean="0" sz="2000"/>
              <a:t> operator removes all instances of the specified values from an existing array. </a:t>
            </a:r>
          </a:p>
          <a:p>
            <a:pPr algn="just"/>
            <a:endParaRPr dirty="0" lang="en-US" smtClean="0" sz="2000"/>
          </a:p>
          <a:p>
            <a:pPr algn="just"/>
            <a:r>
              <a:rPr dirty="0" lang="en-US" smtClean="0" sz="2000"/>
              <a:t>Unlike the $pull operator that removes elements by specifying a query, </a:t>
            </a:r>
            <a:r>
              <a:rPr dirty="0" i="1" lang="en-US" smtClean="0" sz="2000"/>
              <a:t>$pullAll </a:t>
            </a:r>
            <a:r>
              <a:rPr dirty="0" lang="en-US" smtClean="0" sz="2000"/>
              <a:t>removes elements that match the listed values.</a:t>
            </a:r>
          </a:p>
          <a:p>
            <a:pPr algn="just"/>
            <a:endParaRPr dirty="0" lang="en-US" smtClean="0" sz="2000"/>
          </a:p>
          <a:p>
            <a:pPr algn="just"/>
            <a:r>
              <a:rPr dirty="0" lang="en-US" smtClean="0" sz="2000"/>
              <a:t>Syntax: { $pullAll: { &lt;field1&gt;: [ &lt;value1&gt;, &lt;value2&gt; ... ], .. } }</a:t>
            </a:r>
          </a:p>
          <a:p>
            <a:pPr algn="just">
              <a:buFont charset="2" pitchFamily="2" typeface="Wingdings"/>
              <a:buChar char="v"/>
            </a:pPr>
            <a:r>
              <a:rPr dirty="0" lang="en-US" smtClean="0" sz="1800"/>
              <a:t>To specify a &lt;field&gt; in an embedded document or in an array, use dot notation.</a:t>
            </a:r>
          </a:p>
          <a:p>
            <a:pPr algn="just">
              <a:buFont charset="2" pitchFamily="2" typeface="Wingdings"/>
              <a:buChar char="v"/>
            </a:pPr>
            <a:endParaRPr dirty="0" lang="en-US" smtClean="0" sz="1800"/>
          </a:p>
          <a:p>
            <a:pPr algn="just">
              <a:buNone/>
            </a:pPr>
            <a:r>
              <a:rPr dirty="0" lang="en-US" smtClean="0" sz="2000"/>
              <a:t>Example: Create the survey collection: </a:t>
            </a:r>
          </a:p>
          <a:p>
            <a:pPr algn="just">
              <a:buNone/>
            </a:pPr>
            <a:endParaRPr dirty="0" lang="en-US" smtClean="0" sz="2000"/>
          </a:p>
          <a:p>
            <a:pPr algn="just">
              <a:buNone/>
            </a:pPr>
            <a:r>
              <a:rPr dirty="0" lang="en-US" smtClean="0" sz="2000"/>
              <a:t>Remove all instances of the values "0" and "5" from the scores array:</a:t>
            </a:r>
          </a:p>
          <a:p>
            <a:pPr algn="just">
              <a:buNone/>
            </a:pPr>
            <a:endParaRPr dirty="0" lang="en-US" smtClean="0" sz="2000"/>
          </a:p>
          <a:p>
            <a:pPr algn="just">
              <a:buNone/>
            </a:pPr>
            <a:r>
              <a:rPr dirty="0" lang="en-US" smtClean="0" sz="2000"/>
              <a:t>Output:</a:t>
            </a:r>
            <a:endParaRPr dirty="0" lang="en-US" sz="2000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533400" y="4114800"/>
            <a:ext cx="8313320" cy="43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609600" y="5029200"/>
            <a:ext cx="83820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676400" y="5791200"/>
            <a:ext cx="4848726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6096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Array Update Operator: $push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066800"/>
            <a:ext cx="8763000" cy="5943600"/>
          </a:xfrm>
        </p:spPr>
        <p:txBody>
          <a:bodyPr numCol="1">
            <a:normAutofit fontScale="77500" lnSpcReduction="20000"/>
          </a:bodyPr>
          <a:lstStyle/>
          <a:p>
            <a:pPr algn="just">
              <a:lnSpc>
                <a:spcPct val="120000"/>
              </a:lnSpc>
            </a:pPr>
            <a:r>
              <a:rPr dirty="0" lang="en-US" smtClean="0"/>
              <a:t>The $push operator appends a specified value to an array.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           Syntax: { $push: { &lt;field1&gt;: &lt;value1&gt;, ... } }</a:t>
            </a:r>
          </a:p>
          <a:p>
            <a:pPr algn="just">
              <a:lnSpc>
                <a:spcPct val="120000"/>
              </a:lnSpc>
              <a:buFont charset="2" pitchFamily="2" typeface="Wingdings"/>
              <a:buChar char="v"/>
            </a:pPr>
            <a:r>
              <a:rPr dirty="0" lang="en-US" smtClean="0" sz="2100"/>
              <a:t>To specify a &lt;field&gt; in an embedded document or in an array, use dot notation.</a:t>
            </a:r>
          </a:p>
          <a:p>
            <a:pPr algn="just">
              <a:lnSpc>
                <a:spcPct val="120000"/>
              </a:lnSpc>
              <a:buFont charset="2" pitchFamily="2" typeface="Wingdings"/>
              <a:buChar char="v"/>
            </a:pPr>
            <a:endParaRPr dirty="0" lang="en-US" smtClean="0" sz="2100"/>
          </a:p>
          <a:p>
            <a:pPr algn="just">
              <a:lnSpc>
                <a:spcPct val="120000"/>
              </a:lnSpc>
            </a:pPr>
            <a:r>
              <a:rPr dirty="0" lang="en-US" smtClean="0"/>
              <a:t>If the field is absent in the document to update, $push adds the array field with the value as its element.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If the field is </a:t>
            </a:r>
            <a:r>
              <a:rPr b="1" dirty="0" lang="en-US" smtClean="0"/>
              <a:t>not</a:t>
            </a:r>
            <a:r>
              <a:rPr dirty="0" lang="en-US" smtClean="0"/>
              <a:t> an array, the operation will fail.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If the value is an array, $push appends the whole array as a </a:t>
            </a:r>
            <a:r>
              <a:rPr dirty="0" i="1" lang="en-US" smtClean="0"/>
              <a:t>single</a:t>
            </a:r>
            <a:r>
              <a:rPr dirty="0" lang="en-US" smtClean="0"/>
              <a:t> element. To add each element of the value separately, use the $each modifier with $push.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</a:t>
            </a:r>
            <a:br>
              <a:rPr dirty="0" lang="en-US" smtClean="0"/>
            </a:br>
            <a:endParaRPr dirty="0" lang="en-US" smtClean="0"/>
          </a:p>
          <a:p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219200"/>
            <a:ext cx="8763000" cy="5486400"/>
          </a:xfrm>
        </p:spPr>
        <p:txBody>
          <a:bodyPr numCol="1"/>
          <a:lstStyle/>
          <a:p>
            <a:pPr>
              <a:buNone/>
            </a:pPr>
            <a:r>
              <a:rPr dirty="0" lang="en-US" smtClean="0" sz="2400"/>
              <a:t>Create the students collection:</a:t>
            </a:r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r>
              <a:rPr dirty="0" lang="en-US" smtClean="0" sz="2400"/>
              <a:t>The following example appends 89 to the scores array:</a:t>
            </a:r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r>
              <a:rPr dirty="0" lang="en-US" smtClean="0" sz="2400"/>
              <a:t>Output:</a:t>
            </a:r>
          </a:p>
          <a:p>
            <a:endParaRPr dirty="0" lang="en-US"/>
          </a:p>
        </p:txBody>
      </p:sp>
      <p:pic>
        <p:nvPicPr>
          <p:cNvPr id="614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295400" y="1905000"/>
            <a:ext cx="6905625" cy="41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362200" y="3124200"/>
            <a:ext cx="3352800" cy="1162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2209800" y="4419600"/>
            <a:ext cx="4610100" cy="352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52400" y="76200"/>
            <a:ext cx="8839200" cy="11430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$push operator: Append a Value to an Array </a:t>
            </a:r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152400"/>
            <a:ext cx="8839200" cy="914400"/>
          </a:xfrm>
        </p:spPr>
        <p:txBody>
          <a:bodyPr numCol="1">
            <a:normAutofit fontScale="90000"/>
          </a:bodyPr>
          <a:lstStyle/>
          <a:p>
            <a:r>
              <a:rPr dirty="0" lang="en-US" smtClean="0" sz="4000"/>
              <a:t/>
            </a:r>
            <a:br>
              <a:rPr dirty="0" lang="en-US" smtClean="0" sz="4000"/>
            </a:br>
            <a:r>
              <a:rPr dirty="0" lang="en-US" smtClean="0" sz="3600"/>
              <a:t>$push operator: Append a Value to Arrays in Multiple Documents</a:t>
            </a:r>
            <a:r>
              <a:rPr b="1" dirty="0" lang="en-US" smtClean="0"/>
              <a:t/>
            </a:r>
            <a:br>
              <a:rPr b="1" dirty="0" lang="en-US" smtClean="0"/>
            </a:b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66800"/>
            <a:ext cx="8991600" cy="5562600"/>
          </a:xfrm>
        </p:spPr>
        <p:txBody>
          <a:bodyPr numCol="1">
            <a:normAutofit/>
          </a:bodyPr>
          <a:lstStyle/>
          <a:p>
            <a:pPr algn="just"/>
            <a:r>
              <a:rPr dirty="0" lang="en-US" smtClean="0" sz="2400"/>
              <a:t>Add the following documents to the students collection: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/>
            <a:r>
              <a:rPr dirty="0" lang="en-US" smtClean="0" sz="2400"/>
              <a:t>The following $push operation appends 95 to the scores array in each document: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To confirm that each scores array includes 95, run the following operation:</a:t>
            </a:r>
          </a:p>
          <a:p>
            <a:r>
              <a:rPr dirty="0" lang="en-US" smtClean="0" sz="2400"/>
              <a:t>Output</a:t>
            </a:r>
          </a:p>
          <a:p>
            <a:pPr>
              <a:buNone/>
            </a:pPr>
            <a:r>
              <a:rPr dirty="0" lang="en-US" smtClean="0" sz="2400"/>
              <a:t/>
            </a:r>
            <a:br>
              <a:rPr dirty="0" lang="en-US" smtClean="0" sz="2400"/>
            </a:br>
            <a:endParaRPr dirty="0" lang="en-US" sz="2400"/>
          </a:p>
        </p:txBody>
      </p:sp>
      <p:pic>
        <p:nvPicPr>
          <p:cNvPr id="7170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209800" y="1524000"/>
            <a:ext cx="4712793" cy="13081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1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590800" y="3429000"/>
            <a:ext cx="2676525" cy="9925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2209800" y="4953000"/>
            <a:ext cx="2095500" cy="40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3" name="Picture 5"/>
          <p:cNvPicPr>
            <a:picLocks noChangeArrowheads="1" noChangeAspect="1"/>
          </p:cNvPicPr>
          <p:nvPr/>
        </p:nvPicPr>
        <p:blipFill>
          <a:blip cstate="print" r:embed="rId5"/>
          <a:srcRect/>
          <a:stretch>
            <a:fillRect/>
          </a:stretch>
        </p:blipFill>
        <p:spPr>
          <a:xfrm>
            <a:off x="1828799" y="5410200"/>
            <a:ext cx="5350799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304800"/>
            <a:ext cx="8839200" cy="990600"/>
          </a:xfrm>
        </p:spPr>
        <p:txBody>
          <a:bodyPr numCol="1">
            <a:normAutofit fontScale="90000"/>
          </a:bodyPr>
          <a:lstStyle/>
          <a:p>
            <a:r>
              <a:rPr b="1" dirty="0" lang="en-US" smtClean="0" sz="3100"/>
              <a:t>$push operator: Append Multiple Values to an Array</a:t>
            </a:r>
            <a:r>
              <a:rPr b="1" dirty="0" lang="en-US" smtClean="0"/>
              <a:t/>
            </a:r>
            <a:br>
              <a:rPr b="1" dirty="0" lang="en-US" smtClean="0"/>
            </a:b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762000"/>
            <a:ext cx="8763000" cy="5791200"/>
          </a:xfrm>
        </p:spPr>
        <p:txBody>
          <a:bodyPr numCol="1"/>
          <a:lstStyle/>
          <a:p>
            <a:pPr algn="just"/>
            <a:r>
              <a:rPr dirty="0" lang="en-US" smtClean="0" sz="2400"/>
              <a:t>Use $push with the $each modifier to append multiple values to the array field.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 following example appends each element of  [ 90, 92, 85 ] to the scores array for the document where the name field equals </a:t>
            </a:r>
            <a:r>
              <a:rPr dirty="0" err="1" lang="en-US" smtClean="0" sz="2400"/>
              <a:t>joe</a:t>
            </a:r>
            <a:r>
              <a:rPr dirty="0" lang="en-US" smtClean="0" sz="2400"/>
              <a:t>:</a:t>
            </a:r>
          </a:p>
          <a:p>
            <a:endParaRPr dirty="0" lang="en-US"/>
          </a:p>
        </p:txBody>
      </p:sp>
      <p:pic>
        <p:nvPicPr>
          <p:cNvPr id="819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981200" y="3352800"/>
            <a:ext cx="5753100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09600"/>
          </a:xfrm>
        </p:spPr>
        <p:txBody>
          <a:bodyPr numCol="1">
            <a:normAutofit/>
          </a:bodyPr>
          <a:lstStyle/>
          <a:p>
            <a:r>
              <a:rPr b="1" dirty="0" lang="en-US" smtClean="0" sz="3200"/>
              <a:t>Array operator: $addToSet</a:t>
            </a:r>
            <a:endParaRPr b="1" dirty="0" lang="en-US" sz="32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533400"/>
            <a:ext cx="8839200" cy="6096000"/>
          </a:xfrm>
        </p:spPr>
        <p:txBody>
          <a:bodyPr numCol="1">
            <a:normAutofit fontScale="77500" lnSpcReduction="20000"/>
          </a:bodyPr>
          <a:lstStyle/>
          <a:p>
            <a:pPr algn="just">
              <a:lnSpc>
                <a:spcPct val="120000"/>
              </a:lnSpc>
            </a:pPr>
            <a:r>
              <a:rPr dirty="0" lang="en-US" smtClean="0"/>
              <a:t>The $addToSet operator adds a value to an array unless the value is already present, in which case $addToSet does nothing to that array.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lang="en-US" smtClean="0"/>
              <a:t>Syntax:</a:t>
            </a:r>
          </a:p>
          <a:p>
            <a:pPr algn="just">
              <a:lnSpc>
                <a:spcPct val="120000"/>
              </a:lnSpc>
              <a:buNone/>
            </a:pPr>
            <a:r>
              <a:rPr dirty="0" lang="en-US" smtClean="0"/>
              <a:t>              { $addToSet: { &lt;field1&gt;: &lt;value1&gt;, ... } }</a:t>
            </a:r>
          </a:p>
          <a:p>
            <a:pPr algn="just">
              <a:lnSpc>
                <a:spcPct val="120000"/>
              </a:lnSpc>
            </a:pPr>
            <a:r>
              <a:rPr dirty="0" lang="en-US" smtClean="0"/>
              <a:t>To specify a &lt;field&gt; in an embedded document or in an array, use dot notation.</a:t>
            </a:r>
          </a:p>
          <a:p>
            <a:pPr algn="just">
              <a:lnSpc>
                <a:spcPct val="120000"/>
              </a:lnSpc>
            </a:pPr>
            <a:endParaRPr dirty="0" lang="en-US" smtClean="0"/>
          </a:p>
          <a:p>
            <a:pPr algn="just">
              <a:lnSpc>
                <a:spcPct val="120000"/>
              </a:lnSpc>
            </a:pPr>
            <a:r>
              <a:rPr dirty="0" i="1" lang="en-US" smtClean="0"/>
              <a:t>$addToSet</a:t>
            </a:r>
            <a:r>
              <a:rPr dirty="0" lang="en-US" smtClean="0"/>
              <a:t> only ensures that there are no duplicate items </a:t>
            </a:r>
            <a:r>
              <a:rPr dirty="0" i="1" lang="en-US" smtClean="0"/>
              <a:t>added</a:t>
            </a:r>
            <a:r>
              <a:rPr dirty="0" lang="en-US" smtClean="0"/>
              <a:t> to the set and does not affect existing duplicate elements. </a:t>
            </a:r>
          </a:p>
          <a:p>
            <a:pPr algn="just">
              <a:lnSpc>
                <a:spcPct val="120000"/>
              </a:lnSpc>
            </a:pPr>
            <a:r>
              <a:rPr dirty="0" i="1" lang="en-US" smtClean="0"/>
              <a:t>$addToSet</a:t>
            </a:r>
            <a:r>
              <a:rPr dirty="0" lang="en-US" smtClean="0"/>
              <a:t> does not guarantee a particular ordering of elements in the modified set.</a:t>
            </a:r>
          </a:p>
          <a:p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"/>
            <a:ext cx="8763000" cy="6553200"/>
          </a:xfrm>
        </p:spPr>
        <p:txBody>
          <a:bodyPr numCol="1"/>
          <a:lstStyle/>
          <a:p>
            <a:pPr algn="just">
              <a:buNone/>
            </a:pPr>
            <a:r>
              <a:rPr b="1" dirty="0" lang="en-US" smtClean="0" sz="2800" u="sng"/>
              <a:t>Missing Field:</a:t>
            </a:r>
          </a:p>
          <a:p>
            <a:pPr algn="just"/>
            <a:r>
              <a:rPr dirty="0" lang="en-US" smtClean="0" sz="2800"/>
              <a:t>If $addToSet used on a field that is absent from the document to update, $addToSet creates the array field with the specified value as its element.</a:t>
            </a:r>
          </a:p>
          <a:p>
            <a:pPr algn="just">
              <a:buNone/>
            </a:pPr>
            <a:r>
              <a:rPr b="1" dirty="0" lang="en-US" smtClean="0" sz="2800" u="sng"/>
              <a:t>Field is Not an Array:</a:t>
            </a:r>
          </a:p>
          <a:p>
            <a:pPr algn="just"/>
            <a:r>
              <a:rPr dirty="0" lang="en-US" smtClean="0" sz="2800"/>
              <a:t>If you use $addToSet on a field that is </a:t>
            </a:r>
            <a:r>
              <a:rPr b="1" dirty="0" lang="en-US" smtClean="0" sz="2800"/>
              <a:t>not</a:t>
            </a:r>
            <a:r>
              <a:rPr dirty="0" lang="en-US" smtClean="0" sz="2800"/>
              <a:t> an array, the operation will fail.</a:t>
            </a:r>
          </a:p>
          <a:p>
            <a:pPr algn="just"/>
            <a:r>
              <a:rPr dirty="0" lang="en-US" smtClean="0" sz="2800"/>
              <a:t>For example, create the pigments collection:</a:t>
            </a:r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800"/>
              <a:t>The colors field is not an array. The following $addToSet operation fails:</a:t>
            </a:r>
          </a:p>
          <a:p>
            <a:pPr>
              <a:buNone/>
            </a:pPr>
            <a:endParaRPr b="1" dirty="0" lang="en-US" smtClean="0" sz="2800" u="sng"/>
          </a:p>
          <a:p>
            <a:endParaRPr dirty="0" lang="en-US"/>
          </a:p>
        </p:txBody>
      </p:sp>
      <p:pic>
        <p:nvPicPr>
          <p:cNvPr id="12290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990600" y="4038600"/>
            <a:ext cx="6943725" cy="43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1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743200" y="5486400"/>
            <a:ext cx="4191000" cy="117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"/>
            <a:ext cx="8686800" cy="6477000"/>
          </a:xfrm>
        </p:spPr>
        <p:txBody>
          <a:bodyPr numCol="1">
            <a:normAutofit fontScale="92500" lnSpcReduction="20000"/>
          </a:bodyPr>
          <a:lstStyle/>
          <a:p>
            <a:pPr>
              <a:buNone/>
            </a:pPr>
            <a:endParaRPr b="1" dirty="0" lang="en-US" smtClean="0" sz="2600" u="sng"/>
          </a:p>
          <a:p>
            <a:pPr>
              <a:buNone/>
            </a:pPr>
            <a:endParaRPr b="1" dirty="0" lang="en-US" smtClean="0" sz="2600" u="sng"/>
          </a:p>
          <a:p>
            <a:pPr algn="just"/>
            <a:r>
              <a:rPr dirty="0" lang="en-US" smtClean="0" sz="2800"/>
              <a:t>If the value is an array, $addToSet appends the whole array as a </a:t>
            </a:r>
            <a:r>
              <a:rPr dirty="0" i="1" lang="en-US" smtClean="0" sz="2800"/>
              <a:t>single</a:t>
            </a:r>
            <a:r>
              <a:rPr dirty="0" lang="en-US" smtClean="0" sz="2800"/>
              <a:t> element.</a:t>
            </a:r>
          </a:p>
          <a:p>
            <a:pPr algn="just"/>
            <a:endParaRPr dirty="0" lang="en-US" smtClean="0" sz="2800"/>
          </a:p>
          <a:p>
            <a:pPr algn="just">
              <a:buNone/>
            </a:pPr>
            <a:r>
              <a:rPr dirty="0" lang="en-US" smtClean="0" sz="2800"/>
              <a:t>Create the </a:t>
            </a:r>
            <a:r>
              <a:rPr dirty="0" i="1" lang="en-US" smtClean="0" sz="2800"/>
              <a:t>alphabet</a:t>
            </a:r>
            <a:r>
              <a:rPr dirty="0" lang="en-US" smtClean="0" sz="2800"/>
              <a:t> collection:</a:t>
            </a:r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800"/>
              <a:t>The following operation appends the array [ "c", "d" ] to the letters field:</a:t>
            </a:r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800"/>
              <a:t>The array [ "c", "d" ] is added as a single element:</a:t>
            </a:r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600"/>
              <a:t>To add each element of the value </a:t>
            </a:r>
            <a:r>
              <a:rPr b="1" dirty="0" lang="en-US" smtClean="0" sz="2600"/>
              <a:t>separately</a:t>
            </a:r>
            <a:r>
              <a:rPr dirty="0" lang="en-US" smtClean="0" sz="2600"/>
              <a:t>, use the $each modifier with $</a:t>
            </a:r>
            <a:r>
              <a:rPr dirty="0" err="1" lang="en-US" smtClean="0" sz="2600"/>
              <a:t>addToSet</a:t>
            </a:r>
            <a:r>
              <a:rPr dirty="0" lang="en-US" smtClean="0" sz="2600"/>
              <a:t>.</a:t>
            </a:r>
            <a:r>
              <a:rPr dirty="0" lang="en-US" smtClean="0"/>
              <a:t/>
            </a:r>
            <a:br>
              <a:rPr dirty="0" lang="en-US" smtClean="0"/>
            </a:br>
            <a:endParaRPr b="1" dirty="0" lang="en-US" smtClean="0" u="sng"/>
          </a:p>
          <a:p>
            <a:endParaRPr dirty="0" lang="en-US"/>
          </a:p>
        </p:txBody>
      </p:sp>
      <p:pic>
        <p:nvPicPr>
          <p:cNvPr id="1331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447800" y="2438400"/>
            <a:ext cx="6143625" cy="323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315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209800" y="3429000"/>
            <a:ext cx="4781550" cy="120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316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676400" y="5105400"/>
            <a:ext cx="5314950" cy="37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457200"/>
          </a:xfrm>
        </p:spPr>
        <p:txBody>
          <a:bodyPr numCol="1">
            <a:normAutofit fontScale="90000"/>
          </a:bodyPr>
          <a:lstStyle/>
          <a:p>
            <a:r>
              <a:rPr b="1" dirty="0" lang="en-US" smtClean="0" sz="3200"/>
              <a:t>$addToSet: Value to Add is An Array</a:t>
            </a:r>
            <a:endParaRPr b="1" dirty="0" lang="en-US" sz="3200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0"/>
            <a:ext cx="8763000" cy="533400"/>
          </a:xfrm>
        </p:spPr>
        <p:txBody>
          <a:bodyPr numCol="1">
            <a:normAutofit fontScale="90000"/>
          </a:bodyPr>
          <a:lstStyle/>
          <a:p>
            <a:r>
              <a:rPr b="1" dirty="0" lang="en-US" smtClean="0" sz="3200"/>
              <a:t>$addToSet: Value to Add is a Document</a:t>
            </a:r>
            <a:endParaRPr b="1" dirty="0" lang="en-US" sz="32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533400"/>
            <a:ext cx="8915400" cy="6172200"/>
          </a:xfrm>
        </p:spPr>
        <p:txBody>
          <a:bodyPr numCol="1">
            <a:normAutofit/>
          </a:bodyPr>
          <a:lstStyle/>
          <a:p>
            <a:pPr algn="just"/>
            <a:r>
              <a:rPr dirty="0" lang="en-US" smtClean="0" sz="2400"/>
              <a:t>If the value is a document, </a:t>
            </a:r>
            <a:r>
              <a:rPr dirty="0" err="1" lang="en-US" smtClean="0" sz="2400"/>
              <a:t>MongoDB</a:t>
            </a:r>
            <a:r>
              <a:rPr dirty="0" lang="en-US" smtClean="0" sz="2400"/>
              <a:t> determines that the document is a duplicate if an existing document in the array matches the to-be-added document exactly; i.e. the existing document has the exact same fields and values </a:t>
            </a:r>
            <a:r>
              <a:rPr dirty="0" i="1" lang="en-US" smtClean="0" sz="2400"/>
              <a:t>and</a:t>
            </a:r>
            <a:r>
              <a:rPr dirty="0" lang="en-US" smtClean="0" sz="2400"/>
              <a:t> the fields are in the same order. 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b="1" dirty="0" lang="en-US" smtClean="0" sz="2400"/>
              <a:t>Add to Array: </a:t>
            </a:r>
            <a:r>
              <a:rPr dirty="0" lang="en-US" smtClean="0" sz="2400"/>
              <a:t>Add the element "accessories" to the tags array since "accessories" does not exist in the array.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b="1" dirty="0" lang="en-US" smtClean="0" sz="2400"/>
              <a:t>Value Already Exists: </a:t>
            </a:r>
            <a:r>
              <a:rPr dirty="0" lang="en-US" smtClean="0" sz="2400"/>
              <a:t>$</a:t>
            </a:r>
            <a:r>
              <a:rPr dirty="0" err="1" lang="en-US" smtClean="0" sz="2400"/>
              <a:t>addToSet</a:t>
            </a:r>
            <a:r>
              <a:rPr dirty="0" lang="en-US" smtClean="0" sz="2400"/>
              <a:t> operation has no effect because "camera" is already an element of the tags array:</a:t>
            </a:r>
          </a:p>
          <a:p>
            <a:pPr algn="just">
              <a:buNone/>
            </a:pPr>
            <a:endParaRPr dirty="0" lang="en-US" smtClean="0" sz="2800"/>
          </a:p>
        </p:txBody>
      </p:sp>
      <p:pic>
        <p:nvPicPr>
          <p:cNvPr id="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219200" y="2438400"/>
            <a:ext cx="74676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819400" y="4114800"/>
            <a:ext cx="3876675" cy="954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2743200" y="5855223"/>
            <a:ext cx="3571875" cy="1002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8229600" cy="6858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Modifiers</a:t>
            </a:r>
            <a:endParaRPr dirty="0" lang="en-US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28600" y="1447800"/>
          <a:ext cx="8763000" cy="480060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9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 numCol="1"/>
                    <a:lstStyle/>
                    <a:p>
                      <a:pPr algn="just" fontAlgn="base"/>
                      <a:r>
                        <a:rPr b="1" dirty="0" lang="en-US" sz="2400">
                          <a:solidFill>
                            <a:srgbClr val="1C2D38"/>
                          </a:solidFill>
                        </a:rPr>
                        <a:t>Modifier</a:t>
                      </a:r>
                      <a:endParaRPr b="1" dirty="0" lang="en-US" sz="2400"/>
                    </a:p>
                  </a:txBody>
                  <a:tcPr anchor="ctr" marB="0" marL="0" marR="0" marT="0"/>
                </a:tc>
                <a:tc>
                  <a:txBody>
                    <a:bodyPr numCol="1"/>
                    <a:lstStyle/>
                    <a:p>
                      <a:pPr algn="just" fontAlgn="base"/>
                      <a:r>
                        <a:rPr b="1" dirty="0" lang="en-US" smtClean="0" sz="2400">
                          <a:solidFill>
                            <a:srgbClr val="1C2D38"/>
                          </a:solidFill>
                        </a:rPr>
                        <a:t>    Description</a:t>
                      </a:r>
                      <a:endParaRPr b="1" dirty="0" lang="en-US" sz="2400"/>
                    </a:p>
                  </a:txBody>
                  <a:tcPr anchor="ctr" marB="0" marL="0" marR="0" marT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 numCol="1"/>
                    <a:lstStyle/>
                    <a:p>
                      <a:pPr algn="just" fontAlgn="t"/>
                      <a:r>
                        <a:rPr b="1" dirty="0" lang="en-US" strike="noStrike" sz="2400" u="none">
                          <a:solidFill>
                            <a:schemeClr val="tx1"/>
                          </a:solidFill>
                        </a:rPr>
                        <a:t>$each</a:t>
                      </a:r>
                      <a:endParaRPr b="1" dirty="0" lang="en-US" sz="2400">
                        <a:solidFill>
                          <a:schemeClr val="tx1"/>
                        </a:solidFill>
                      </a:endParaRPr>
                    </a:p>
                  </a:txBody>
                  <a:tcPr marB="0" marL="60960" marR="0" marT="0"/>
                </a:tc>
                <a:tc>
                  <a:txBody>
                    <a:bodyPr numCol="1"/>
                    <a:lstStyle/>
                    <a:p>
                      <a:pPr algn="just" fontAlgn="t"/>
                      <a:r>
                        <a:rPr dirty="0" lang="en-US" smtClean="0" sz="2400"/>
                        <a:t> Appends </a:t>
                      </a:r>
                      <a:r>
                        <a:rPr dirty="0" lang="en-US" sz="2400"/>
                        <a:t>multiple values to the array field.</a:t>
                      </a:r>
                    </a:p>
                  </a:txBody>
                  <a:tcPr marB="0" marL="0" marR="0" marT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0600">
                <a:tc>
                  <a:txBody>
                    <a:bodyPr numCol="1"/>
                    <a:lstStyle/>
                    <a:p>
                      <a:pPr algn="just" fontAlgn="t"/>
                      <a:r>
                        <a:rPr b="1" dirty="0" lang="en-US" strike="noStrike" sz="2400" u="none">
                          <a:solidFill>
                            <a:schemeClr val="tx1"/>
                          </a:solidFill>
                        </a:rPr>
                        <a:t>$slice</a:t>
                      </a:r>
                      <a:endParaRPr b="1" dirty="0" lang="en-US" sz="2400">
                        <a:solidFill>
                          <a:schemeClr val="tx1"/>
                        </a:solidFill>
                      </a:endParaRPr>
                    </a:p>
                  </a:txBody>
                  <a:tcPr marB="0" marL="60960" marR="0" marT="0"/>
                </a:tc>
                <a:tc>
                  <a:txBody>
                    <a:bodyPr numCol="1"/>
                    <a:lstStyle/>
                    <a:p>
                      <a:pPr algn="just" fontAlgn="t"/>
                      <a:r>
                        <a:rPr dirty="0" lang="en-US" smtClean="0" sz="2400"/>
                        <a:t>Limits </a:t>
                      </a:r>
                      <a:r>
                        <a:rPr dirty="0" lang="en-US" sz="2400"/>
                        <a:t>the number of array elements. Requires the use of the </a:t>
                      </a:r>
                      <a:r>
                        <a:rPr dirty="0" i="1" lang="en-US" strike="noStrike" sz="2400" u="none">
                          <a:solidFill>
                            <a:schemeClr val="tx1"/>
                          </a:solidFill>
                        </a:rPr>
                        <a:t>$each</a:t>
                      </a:r>
                      <a:r>
                        <a:rPr dirty="0" i="1" lang="en-US" sz="2400">
                          <a:solidFill>
                            <a:schemeClr val="tx1"/>
                          </a:solidFill>
                        </a:rPr>
                        <a:t> </a:t>
                      </a:r>
                      <a:r>
                        <a:rPr dirty="0" lang="en-US" sz="2400"/>
                        <a:t>modifier.</a:t>
                      </a:r>
                    </a:p>
                  </a:txBody>
                  <a:tcPr marB="0" marL="0" marR="0" marT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0600">
                <a:tc>
                  <a:txBody>
                    <a:bodyPr numCol="1"/>
                    <a:lstStyle/>
                    <a:p>
                      <a:pPr algn="just" fontAlgn="t"/>
                      <a:r>
                        <a:rPr b="1" dirty="0" lang="en-US" strike="noStrike" sz="2400" u="none">
                          <a:solidFill>
                            <a:schemeClr val="tx1"/>
                          </a:solidFill>
                        </a:rPr>
                        <a:t>$sort</a:t>
                      </a:r>
                      <a:endParaRPr b="1" dirty="0" lang="en-US" sz="2400">
                        <a:solidFill>
                          <a:schemeClr val="tx1"/>
                        </a:solidFill>
                      </a:endParaRPr>
                    </a:p>
                  </a:txBody>
                  <a:tcPr marB="0" marL="60960" marR="0" marT="0"/>
                </a:tc>
                <a:tc>
                  <a:txBody>
                    <a:bodyPr numCol="1"/>
                    <a:lstStyle/>
                    <a:p>
                      <a:pPr algn="just" fontAlgn="t"/>
                      <a:r>
                        <a:rPr dirty="0" lang="en-US" smtClean="0" sz="2400"/>
                        <a:t>Orders </a:t>
                      </a:r>
                      <a:r>
                        <a:rPr dirty="0" lang="en-US" sz="2400"/>
                        <a:t>elements of the array. Requires the use of the </a:t>
                      </a:r>
                      <a:r>
                        <a:rPr dirty="0" i="1" lang="en-US" strike="noStrike" sz="2400" u="none">
                          <a:solidFill>
                            <a:schemeClr val="tx1"/>
                          </a:solidFill>
                        </a:rPr>
                        <a:t>$each</a:t>
                      </a:r>
                      <a:r>
                        <a:rPr dirty="0" lang="en-US" sz="2400"/>
                        <a:t> modifier.</a:t>
                      </a:r>
                    </a:p>
                  </a:txBody>
                  <a:tcPr marB="0" marL="0" marR="0" marT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200">
                <a:tc>
                  <a:txBody>
                    <a:bodyPr numCol="1"/>
                    <a:lstStyle/>
                    <a:p>
                      <a:pPr algn="just" fontAlgn="t"/>
                      <a:r>
                        <a:rPr b="1" dirty="0" lang="en-US" strike="noStrike" sz="2400" u="none">
                          <a:solidFill>
                            <a:schemeClr val="tx1"/>
                          </a:solidFill>
                        </a:rPr>
                        <a:t>$position</a:t>
                      </a:r>
                      <a:endParaRPr b="1" dirty="0" lang="en-US" sz="2400">
                        <a:solidFill>
                          <a:schemeClr val="tx1"/>
                        </a:solidFill>
                      </a:endParaRPr>
                    </a:p>
                  </a:txBody>
                  <a:tcPr marB="0" marL="60960" marR="0" marT="0"/>
                </a:tc>
                <a:tc>
                  <a:txBody>
                    <a:bodyPr numCol="1"/>
                    <a:lstStyle/>
                    <a:p>
                      <a:pPr algn="just" fontAlgn="t"/>
                      <a:r>
                        <a:rPr dirty="0" lang="en-US" smtClean="0" sz="2400"/>
                        <a:t> Specifies </a:t>
                      </a:r>
                      <a:r>
                        <a:rPr dirty="0" lang="en-US" sz="2400"/>
                        <a:t>the location in the array at which to insert the new </a:t>
                      </a:r>
                      <a:r>
                        <a:rPr dirty="0" lang="en-US" smtClean="0" sz="2400"/>
                        <a:t>elements.</a:t>
                      </a:r>
                      <a:r>
                        <a:rPr baseline="0" dirty="0" lang="en-US" smtClean="0" sz="2400"/>
                        <a:t> </a:t>
                      </a:r>
                      <a:r>
                        <a:rPr dirty="0" lang="en-US" smtClean="0" sz="2400"/>
                        <a:t>Requires </a:t>
                      </a:r>
                      <a:r>
                        <a:rPr dirty="0" lang="en-US" sz="2400"/>
                        <a:t>the use of the </a:t>
                      </a:r>
                      <a:r>
                        <a:rPr dirty="0" i="1" lang="en-US" strike="noStrike" sz="2400" u="none">
                          <a:solidFill>
                            <a:schemeClr val="tx1"/>
                          </a:solidFill>
                        </a:rPr>
                        <a:t>$each</a:t>
                      </a:r>
                      <a:r>
                        <a:rPr dirty="0" lang="en-US" sz="2400"/>
                        <a:t> modifier. Without the </a:t>
                      </a:r>
                      <a:r>
                        <a:rPr dirty="0" i="1" lang="en-US" strike="noStrike" sz="2400" u="none">
                          <a:solidFill>
                            <a:schemeClr val="tx1"/>
                          </a:solidFill>
                        </a:rPr>
                        <a:t>$position</a:t>
                      </a:r>
                      <a:r>
                        <a:rPr dirty="0" lang="en-US" sz="2400"/>
                        <a:t> modifier, the </a:t>
                      </a:r>
                      <a:r>
                        <a:rPr b="0" dirty="0" i="1" lang="en-US" strike="noStrike" sz="2400" u="none">
                          <a:solidFill>
                            <a:schemeClr val="tx1"/>
                          </a:solidFill>
                          <a:latin typeface="Euclid Circular A"/>
                        </a:rPr>
                        <a:t>$push</a:t>
                      </a:r>
                      <a:r>
                        <a:rPr dirty="0" lang="en-US" sz="2400"/>
                        <a:t> appends the elements to the end of the array.</a:t>
                      </a:r>
                    </a:p>
                  </a:txBody>
                  <a:tcPr marB="0" marL="0" marR="0" marT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6096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$each modifier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09600"/>
            <a:ext cx="8763000" cy="5181600"/>
          </a:xfrm>
        </p:spPr>
        <p:txBody>
          <a:bodyPr numCol="1">
            <a:normAutofit fontScale="85000" lnSpcReduction="20000"/>
          </a:bodyPr>
          <a:lstStyle/>
          <a:p>
            <a:pPr algn="just"/>
            <a:r>
              <a:rPr dirty="0" lang="en-US" smtClean="0" sz="2800"/>
              <a:t>The </a:t>
            </a:r>
            <a:r>
              <a:rPr dirty="0" i="1" lang="en-US" smtClean="0" sz="2800"/>
              <a:t>$each</a:t>
            </a:r>
            <a:r>
              <a:rPr dirty="0" lang="en-US" smtClean="0" sz="2800"/>
              <a:t> modifier is available for use with the </a:t>
            </a:r>
            <a:r>
              <a:rPr dirty="0" i="1" lang="en-US" smtClean="0" sz="2800"/>
              <a:t>$addToSet</a:t>
            </a:r>
            <a:r>
              <a:rPr dirty="0" lang="en-US" smtClean="0" sz="2800"/>
              <a:t> operator and the </a:t>
            </a:r>
            <a:r>
              <a:rPr dirty="0" i="1" lang="en-US" smtClean="0" sz="2800"/>
              <a:t>$push</a:t>
            </a:r>
            <a:r>
              <a:rPr dirty="0" lang="en-US" smtClean="0" sz="2800"/>
              <a:t> operator.</a:t>
            </a:r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800"/>
              <a:t>Use with the </a:t>
            </a:r>
            <a:r>
              <a:rPr dirty="0" i="1" lang="en-US" smtClean="0" sz="2800"/>
              <a:t>$addToSet</a:t>
            </a:r>
            <a:r>
              <a:rPr dirty="0" lang="en-US" smtClean="0" sz="2800"/>
              <a:t> operator to add multiple values to an array &lt;field&gt; if the values do not exist in the &lt;field&gt;.</a:t>
            </a:r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800"/>
              <a:t>Use with the $push operator to append multiple values to an array &lt;field&gt;.</a:t>
            </a:r>
          </a:p>
          <a:p>
            <a:pPr algn="just"/>
            <a:endParaRPr dirty="0" lang="en-US" smtClean="0" sz="2800"/>
          </a:p>
          <a:p>
            <a:pPr algn="just"/>
            <a:r>
              <a:rPr dirty="0" lang="en-US" smtClean="0" sz="2800"/>
              <a:t>The $push operator can use $each modifier with other modifiers.</a:t>
            </a:r>
          </a:p>
          <a:p>
            <a:pPr>
              <a:buNone/>
            </a:pPr>
            <a:endParaRPr b="1" dirty="0" lang="en-US" smtClean="0" sz="2800"/>
          </a:p>
          <a:p>
            <a:pPr>
              <a:buNone/>
            </a:pPr>
            <a:r>
              <a:rPr b="1" dirty="0" lang="en-US" smtClean="0" sz="2800"/>
              <a:t>Use $each with $push Operator</a:t>
            </a:r>
          </a:p>
          <a:p>
            <a:pPr algn="just"/>
            <a:r>
              <a:rPr dirty="0" lang="en-US" smtClean="0" sz="2800"/>
              <a:t>The following example appends each element of [ 90, 92, 85 ] to the scores array for the document where the name field equals </a:t>
            </a:r>
            <a:r>
              <a:rPr dirty="0" err="1" lang="en-US" smtClean="0" sz="2800"/>
              <a:t>joe</a:t>
            </a:r>
            <a:r>
              <a:rPr dirty="0" lang="en-US" smtClean="0" sz="2800"/>
              <a:t>:</a:t>
            </a:r>
          </a:p>
          <a:p>
            <a:pPr algn="just"/>
            <a:endParaRPr dirty="0" lang="en-US"/>
          </a:p>
        </p:txBody>
      </p:sp>
      <p:pic>
        <p:nvPicPr>
          <p:cNvPr id="1126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838200" y="2286000"/>
            <a:ext cx="7115175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1371600" y="3352800"/>
            <a:ext cx="6705600" cy="37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2286000" y="5486400"/>
            <a:ext cx="5667375" cy="1162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76200"/>
            <a:ext cx="8839200" cy="6553200"/>
          </a:xfrm>
        </p:spPr>
        <p:txBody>
          <a:bodyPr numCol="1">
            <a:normAutofit/>
          </a:bodyPr>
          <a:lstStyle/>
          <a:p>
            <a:pPr algn="just">
              <a:buNone/>
            </a:pPr>
            <a:r>
              <a:rPr b="1" dirty="0" lang="en-US" smtClean="0" sz="2400" u="sng"/>
              <a:t>$each Modifier</a:t>
            </a:r>
          </a:p>
          <a:p>
            <a:pPr algn="just"/>
            <a:r>
              <a:rPr dirty="0" lang="en-US" smtClean="0" sz="2400"/>
              <a:t>You can use the $addToSet operator with the $each modifier. The $each modifier allows the $addToSet operator to add multiple values to the array field.</a:t>
            </a:r>
          </a:p>
          <a:p>
            <a:pPr algn="just"/>
            <a:r>
              <a:rPr dirty="0" lang="en-US" smtClean="0" sz="2400"/>
              <a:t>A collection inventory has the following document: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Then the following operation uses the $addToSet operator with the $each modifier to add multiple elements to the tags array: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 operation only adds "camera" and "accessories" to the tags array. "electronics" was already in the array:</a:t>
            </a:r>
          </a:p>
          <a:p>
            <a:pPr>
              <a:buNone/>
            </a:pPr>
            <a:r>
              <a:rPr dirty="0" lang="en-US" smtClean="0" sz="2400"/>
              <a:t/>
            </a:r>
            <a:br>
              <a:rPr dirty="0" lang="en-US" smtClean="0" sz="2400"/>
            </a:br>
            <a:endParaRPr dirty="0" lang="en-US" smtClean="0" sz="2400"/>
          </a:p>
          <a:p>
            <a:endParaRPr dirty="0" lang="en-US"/>
          </a:p>
        </p:txBody>
      </p:sp>
      <p:pic>
        <p:nvPicPr>
          <p:cNvPr id="15363" name="Picture 3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295400" y="2133600"/>
            <a:ext cx="68389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4" name="Picture 4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04800" y="3429000"/>
            <a:ext cx="8715375" cy="1162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365" name="Picture 5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447800" y="5560252"/>
            <a:ext cx="6096000" cy="12977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5334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$sort modifier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533400"/>
            <a:ext cx="8839200" cy="6096000"/>
          </a:xfrm>
        </p:spPr>
        <p:txBody>
          <a:bodyPr numCol="1">
            <a:normAutofit fontScale="92500" lnSpcReduction="10000"/>
          </a:bodyPr>
          <a:lstStyle/>
          <a:p>
            <a:pPr algn="just"/>
            <a:r>
              <a:rPr dirty="0" lang="en-US" smtClean="0" sz="2800"/>
              <a:t>The $sort modifier orders the elements of an array during a $push operation.</a:t>
            </a:r>
          </a:p>
          <a:p>
            <a:pPr algn="just"/>
            <a:r>
              <a:rPr dirty="0" lang="en-US" smtClean="0" sz="2800"/>
              <a:t>To use the $sort modifier, it </a:t>
            </a:r>
            <a:r>
              <a:rPr b="1" dirty="0" lang="en-US" smtClean="0" sz="2800"/>
              <a:t>must</a:t>
            </a:r>
            <a:r>
              <a:rPr dirty="0" lang="en-US" smtClean="0" sz="2800"/>
              <a:t> appear with the $each modifier. </a:t>
            </a:r>
          </a:p>
          <a:p>
            <a:pPr algn="just"/>
            <a:r>
              <a:rPr dirty="0" lang="en-US" smtClean="0" sz="2800"/>
              <a:t>An empty array [] can pass to the $each modifier such that only the $sort modifier has an effect.</a:t>
            </a:r>
          </a:p>
          <a:p>
            <a:pPr algn="just"/>
            <a:r>
              <a:rPr dirty="0" lang="en-US" smtClean="0" sz="2800"/>
              <a:t>The $sort modifier can sort array elements that are not documents. </a:t>
            </a:r>
          </a:p>
          <a:p>
            <a:pPr algn="just"/>
            <a:r>
              <a:rPr dirty="0" lang="en-US" smtClean="0" sz="2800"/>
              <a:t>If the array elements are documents, the modifier can sort by either the whole document or by a specific field in the documents. </a:t>
            </a:r>
          </a:p>
          <a:p>
            <a:pPr algn="just"/>
            <a:r>
              <a:rPr dirty="0" lang="en-US" smtClean="0" sz="2800"/>
              <a:t>Trying to use the $sort modifier without the $each modifier results in an error.</a:t>
            </a:r>
          </a:p>
          <a:p>
            <a:pPr algn="just"/>
            <a:r>
              <a:rPr dirty="0" lang="en-US" smtClean="0" sz="2800"/>
              <a:t> The $sort no longer requires the $slice modifier.</a:t>
            </a:r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  <a:p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>
            <a:normAutofit/>
          </a:bodyPr>
          <a:lstStyle/>
          <a:p>
            <a:pPr algn="just"/>
            <a:endParaRPr dirty="0" lang="en-US" smtClean="0"/>
          </a:p>
          <a:p>
            <a:pPr algn="just"/>
            <a:endParaRPr dirty="0" lang="en-US" smtClean="0"/>
          </a:p>
          <a:p>
            <a:pPr algn="just"/>
            <a:endParaRPr dirty="0" lang="en-US" smtClean="0"/>
          </a:p>
          <a:p>
            <a:pPr algn="just">
              <a:buNone/>
            </a:pPr>
            <a:endParaRPr dirty="0" lang="en-US" smtClean="0"/>
          </a:p>
          <a:p>
            <a:pPr algn="just">
              <a:buNone/>
            </a:pPr>
            <a:r>
              <a:rPr dirty="0" lang="en-US" smtClean="0" sz="2400"/>
              <a:t>For &lt;sort specification&gt;:</a:t>
            </a:r>
          </a:p>
          <a:p>
            <a:pPr algn="just"/>
            <a:r>
              <a:rPr dirty="0" lang="en-US" smtClean="0" sz="2400"/>
              <a:t>To sort array elements that are not documents, or if the array elements are documents, to sort by the whole documents, specify 1 for ascending or -1 for descending.</a:t>
            </a:r>
          </a:p>
          <a:p>
            <a:pPr algn="just"/>
            <a:r>
              <a:rPr dirty="0" lang="en-US" smtClean="0" sz="2400"/>
              <a:t>If the array elements are documents, to sort by a field in the documents, specify a sort document with the field and the direction, i.e. { field: 1 } or { field: -1 }. Do </a:t>
            </a:r>
            <a:r>
              <a:rPr b="1" dirty="0" lang="en-US" smtClean="0" sz="2400"/>
              <a:t>not</a:t>
            </a:r>
            <a:r>
              <a:rPr dirty="0" lang="en-US" smtClean="0" sz="2400"/>
              <a:t> reference the containing array field in the sort specification.                             (e.g. { "</a:t>
            </a:r>
            <a:r>
              <a:rPr dirty="0" err="1" lang="en-US" smtClean="0" sz="2400"/>
              <a:t>arrayField.field</a:t>
            </a:r>
            <a:r>
              <a:rPr dirty="0" lang="en-US" smtClean="0" sz="2400"/>
              <a:t>": 1 } is incorrect).</a:t>
            </a:r>
          </a:p>
          <a:p>
            <a:pPr algn="just"/>
            <a:endParaRPr dirty="0" lang="en-US" smtClean="0"/>
          </a:p>
          <a:p>
            <a:endParaRPr dirty="0" lang="en-US"/>
          </a:p>
        </p:txBody>
      </p:sp>
      <p:pic>
        <p:nvPicPr>
          <p:cNvPr id="4" name="Picture 1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514600" y="457200"/>
            <a:ext cx="4211052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0"/>
            <a:ext cx="8839200" cy="6858000"/>
          </a:xfrm>
        </p:spPr>
        <p:txBody>
          <a:bodyPr numCol="1">
            <a:normAutofit lnSpcReduction="10000"/>
          </a:bodyPr>
          <a:lstStyle/>
          <a:p>
            <a:pPr algn="ctr">
              <a:buNone/>
            </a:pPr>
            <a:r>
              <a:rPr b="1" dirty="0" lang="en-US" smtClean="0" sz="2400"/>
              <a:t>Sort Array of Documents by a Field in the Documents</a:t>
            </a:r>
          </a:p>
          <a:p>
            <a:r>
              <a:rPr dirty="0" lang="en-US" smtClean="0" sz="2000"/>
              <a:t>1. Create the students collection:                     3. Output:</a:t>
            </a:r>
          </a:p>
          <a:p>
            <a:endParaRPr dirty="0" lang="en-US" smtClean="0" sz="2400"/>
          </a:p>
          <a:p>
            <a:endParaRPr dirty="0" lang="en-US" smtClean="0" sz="2400"/>
          </a:p>
          <a:p>
            <a:endParaRPr dirty="0" lang="en-US" smtClean="0" sz="2400"/>
          </a:p>
          <a:p>
            <a:endParaRPr dirty="0" lang="en-US" smtClean="0" sz="2400"/>
          </a:p>
          <a:p>
            <a:endParaRPr dirty="0" lang="en-US" smtClean="0" sz="2400"/>
          </a:p>
          <a:p>
            <a:pPr algn="just"/>
            <a:r>
              <a:rPr dirty="0" lang="en-US" smtClean="0" sz="2000"/>
              <a:t>2. Query: Append additional documents to the quizzes array and then sorts all the elements of the array by the ascending score field.</a:t>
            </a:r>
          </a:p>
          <a:p>
            <a:pPr algn="just"/>
            <a:endParaRPr dirty="0" lang="en-US" smtClean="0" sz="2000"/>
          </a:p>
          <a:p>
            <a:pPr algn="just"/>
            <a:endParaRPr dirty="0" lang="en-US" smtClean="0" sz="2000"/>
          </a:p>
          <a:p>
            <a:pPr algn="just"/>
            <a:endParaRPr dirty="0" lang="en-US" smtClean="0" sz="2000"/>
          </a:p>
          <a:p>
            <a:pPr algn="just"/>
            <a:endParaRPr dirty="0" lang="en-US" smtClean="0" sz="2000"/>
          </a:p>
          <a:p>
            <a:pPr algn="just"/>
            <a:endParaRPr dirty="0" lang="en-US" smtClean="0" sz="2000"/>
          </a:p>
          <a:p>
            <a:pPr algn="just"/>
            <a:endParaRPr dirty="0" lang="en-US" smtClean="0" sz="2000"/>
          </a:p>
          <a:p>
            <a:pPr algn="just"/>
            <a:endParaRPr dirty="0" lang="en-US" smtClean="0" sz="2000"/>
          </a:p>
          <a:p>
            <a:pPr algn="just"/>
            <a:r>
              <a:rPr dirty="0" lang="en-US" smtClean="0" sz="2000"/>
              <a:t>The sort document refers directly to the field in the documents and does not reference the containing array field quizzes; i.e. { score: 1 } and </a:t>
            </a:r>
            <a:r>
              <a:rPr b="1" dirty="0" lang="en-US" smtClean="0" sz="2000"/>
              <a:t>not</a:t>
            </a:r>
            <a:r>
              <a:rPr dirty="0" lang="en-US" smtClean="0" sz="2000"/>
              <a:t> { "</a:t>
            </a:r>
            <a:r>
              <a:rPr dirty="0" err="1" lang="en-US" smtClean="0" sz="2000"/>
              <a:t>quizzes.score</a:t>
            </a:r>
            <a:r>
              <a:rPr dirty="0" lang="en-US" smtClean="0" sz="2000"/>
              <a:t>": 1}</a:t>
            </a:r>
            <a:endParaRPr dirty="0" lang="en-US" sz="2000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759412" y="685800"/>
            <a:ext cx="2938157" cy="1981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1676400" y="3352800"/>
            <a:ext cx="6324600" cy="22626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6096000" y="685800"/>
            <a:ext cx="2505259" cy="20573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400"/>
              <a:t>Sort Array Elements That Are Not Documents</a:t>
            </a:r>
          </a:p>
          <a:p>
            <a:pPr algn="just"/>
            <a:r>
              <a:rPr dirty="0" lang="en-US" smtClean="0" sz="2400"/>
              <a:t>Add the following document to the students collection: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Query:  Add two more elements to the tests array and sorts the elements.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 updated document has the elements of the tests array in ascending order:</a:t>
            </a:r>
          </a:p>
          <a:p>
            <a:endParaRPr dirty="0" lang="en-US"/>
          </a:p>
        </p:txBody>
      </p:sp>
      <p:pic>
        <p:nvPicPr>
          <p:cNvPr id="2050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304800" y="1066800"/>
            <a:ext cx="8458200" cy="3511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1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762000" y="2362200"/>
            <a:ext cx="7352675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447799" y="4953000"/>
            <a:ext cx="6942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400"/>
              <a:t>Update Array Using Sort Only</a:t>
            </a:r>
          </a:p>
          <a:p>
            <a:pPr algn="just"/>
            <a:r>
              <a:rPr dirty="0" lang="en-US" smtClean="0" sz="2400"/>
              <a:t>Add the following document to the students collection: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To update the tests field to sort its elements in descending order, specify the { $sort: -1 } and specify an empty array [] for the $each modifier. For example: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 example sorts the tests field values in descending order:</a:t>
            </a:r>
          </a:p>
          <a:p>
            <a:pPr algn="just"/>
            <a:endParaRPr dirty="0" lang="en-US" sz="2400"/>
          </a:p>
        </p:txBody>
      </p:sp>
      <p:pic>
        <p:nvPicPr>
          <p:cNvPr id="307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609600" y="1143000"/>
            <a:ext cx="7981950" cy="36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5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1447800" y="2743200"/>
            <a:ext cx="6027388" cy="124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6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828800" y="4648200"/>
            <a:ext cx="5133975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>
            <a:normAutofit/>
          </a:bodyPr>
          <a:lstStyle/>
          <a:p>
            <a:pPr algn="ctr">
              <a:buNone/>
            </a:pPr>
            <a:r>
              <a:rPr b="1" dirty="0" lang="en-US" smtClean="0" sz="2400"/>
              <a:t>Use $sort with Other $push Modifiers</a:t>
            </a:r>
          </a:p>
          <a:p>
            <a:r>
              <a:rPr dirty="0" lang="en-US" smtClean="0" sz="2000"/>
              <a:t>Add the following document to the students collection:</a:t>
            </a:r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endParaRPr dirty="0" lang="en-US" smtClean="0" sz="20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endParaRPr dirty="0" lang="en-US" sz="2000"/>
          </a:p>
        </p:txBody>
      </p:sp>
      <p:pic>
        <p:nvPicPr>
          <p:cNvPr id="4098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819400" y="1066800"/>
            <a:ext cx="3276600" cy="26517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1219200" y="3886200"/>
            <a:ext cx="5728854" cy="282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>
            <a:normAutofit/>
          </a:bodyPr>
          <a:lstStyle/>
          <a:p>
            <a:pPr algn="just"/>
            <a:r>
              <a:rPr dirty="0" lang="en-US" smtClean="0" sz="2400"/>
              <a:t>The $push operation uses:</a:t>
            </a:r>
          </a:p>
          <a:p>
            <a:pPr algn="just"/>
            <a:r>
              <a:rPr dirty="0" lang="en-US" smtClean="0" sz="2400"/>
              <a:t>the $each modifier to add multiple documents to the quizzes array,</a:t>
            </a:r>
          </a:p>
          <a:p>
            <a:pPr algn="just"/>
            <a:r>
              <a:rPr dirty="0" lang="en-US" smtClean="0" sz="2400"/>
              <a:t>the $sort modifier to sort all the elements of the modified quizzes array by the score field in descending order, and</a:t>
            </a:r>
          </a:p>
          <a:p>
            <a:pPr algn="just"/>
            <a:r>
              <a:rPr dirty="0" lang="en-US" smtClean="0" sz="2400"/>
              <a:t>the $slice modifier to keep only the </a:t>
            </a:r>
            <a:r>
              <a:rPr b="1" dirty="0" lang="en-US" smtClean="0" sz="2400"/>
              <a:t>first</a:t>
            </a:r>
            <a:r>
              <a:rPr dirty="0" lang="en-US" smtClean="0" sz="2400"/>
              <a:t> three sorted elements of the quizzes array.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After the operation only the three highest scoring quizzes are in the array: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z="2400"/>
          </a:p>
        </p:txBody>
      </p:sp>
      <p:pic>
        <p:nvPicPr>
          <p:cNvPr id="4" name="Picture 6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362200" y="3810000"/>
            <a:ext cx="3276600" cy="20740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8600" y="6019800"/>
            <a:ext cx="8915400" cy="830997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pPr algn="just"/>
            <a:r>
              <a:rPr dirty="0" lang="en-US" smtClean="0" sz="2400"/>
              <a:t>The order of the modifiers in the query does not change the order that the modifiers are applied. </a:t>
            </a:r>
            <a:endParaRPr dirty="0" lang="en-US" sz="2400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$slice modifier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85800"/>
            <a:ext cx="8839200" cy="6019800"/>
          </a:xfrm>
        </p:spPr>
        <p:txBody>
          <a:bodyPr numCol="1">
            <a:normAutofit fontScale="92500" lnSpcReduction="10000"/>
          </a:bodyPr>
          <a:lstStyle/>
          <a:p>
            <a:pPr algn="just"/>
            <a:r>
              <a:rPr dirty="0" lang="en-US" smtClean="0" sz="2400"/>
              <a:t>The $slice modifier limits the number of array elements during a $push operation. 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To use the $slice modifier, it </a:t>
            </a:r>
            <a:r>
              <a:rPr b="1" dirty="0" lang="en-US" smtClean="0" sz="2400"/>
              <a:t>must</a:t>
            </a:r>
            <a:r>
              <a:rPr dirty="0" lang="en-US" smtClean="0" sz="2400"/>
              <a:t> appear with the $each modifier. You can pass an empty array [] to the $each modifier such that only the $slice modifier has an effect.</a:t>
            </a:r>
          </a:p>
          <a:p>
            <a:pPr algn="just"/>
            <a:r>
              <a:rPr dirty="0" lang="en-US" smtClean="0" sz="2400"/>
              <a:t>Syntax: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 &lt;num&gt; can be:</a:t>
            </a:r>
            <a:endParaRPr b="1" dirty="0" lang="en-US" smtClean="0" sz="2400"/>
          </a:p>
          <a:p>
            <a:pPr algn="just" fontAlgn="t">
              <a:buFont charset="2" pitchFamily="2" typeface="Wingdings"/>
              <a:buChar char="Ø"/>
            </a:pPr>
            <a:r>
              <a:rPr b="1" dirty="0" lang="en-US" smtClean="0" sz="2400"/>
              <a:t>Zero:</a:t>
            </a:r>
            <a:r>
              <a:rPr dirty="0" lang="en-US" smtClean="0" sz="2400"/>
              <a:t> To update the array &lt;field&gt; to an empty array.</a:t>
            </a:r>
          </a:p>
          <a:p>
            <a:pPr algn="just" fontAlgn="t">
              <a:buFont charset="2" pitchFamily="2" typeface="Wingdings"/>
              <a:buChar char="Ø"/>
            </a:pPr>
            <a:r>
              <a:rPr b="1" dirty="0" lang="en-US" smtClean="0" sz="2400"/>
              <a:t>Negative:</a:t>
            </a:r>
            <a:r>
              <a:rPr dirty="0" lang="en-US" smtClean="0" sz="2400"/>
              <a:t> To update the array &lt;field&gt; to contain only the last &lt;num&gt; elements.</a:t>
            </a:r>
          </a:p>
          <a:p>
            <a:pPr algn="just" fontAlgn="t">
              <a:buFont charset="2" pitchFamily="2" typeface="Wingdings"/>
              <a:buChar char="Ø"/>
            </a:pPr>
            <a:r>
              <a:rPr b="1" dirty="0" lang="en-US" smtClean="0" sz="2400"/>
              <a:t>Positive:</a:t>
            </a:r>
            <a:r>
              <a:rPr dirty="0" lang="en-US" smtClean="0" sz="2400"/>
              <a:t> To update the array &lt;field&gt; contain only the first &lt;num&gt; elements.</a:t>
            </a:r>
          </a:p>
          <a:p>
            <a:pPr algn="just"/>
            <a:endParaRPr dirty="0" lang="en-US" sz="2400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981200" y="2743200"/>
            <a:ext cx="3581400" cy="17980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>
            <a:normAutofit/>
          </a:bodyPr>
          <a:lstStyle/>
          <a:p>
            <a:pPr algn="ctr">
              <a:buNone/>
            </a:pPr>
            <a:r>
              <a:rPr dirty="0" lang="en-US" smtClean="0" sz="2800"/>
              <a:t> </a:t>
            </a:r>
            <a:r>
              <a:rPr b="1" dirty="0" lang="en-US" smtClean="0" sz="2800"/>
              <a:t>Slice from the end of the array</a:t>
            </a:r>
          </a:p>
          <a:p>
            <a:pPr algn="just">
              <a:buNone/>
            </a:pPr>
            <a:r>
              <a:rPr dirty="0" lang="en-US" smtClean="0" sz="2400"/>
              <a:t>A collection students contains the following document:</a:t>
            </a:r>
          </a:p>
          <a:p>
            <a:pPr algn="just">
              <a:buNone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r>
              <a:rPr dirty="0" lang="en-US" smtClean="0" sz="2400"/>
              <a:t>Adds new elements to the scores array, and then uses the $slice modifier to trim the array to the last five elements:</a:t>
            </a:r>
          </a:p>
          <a:p>
            <a:pPr algn="just">
              <a:buFont charset="2" pitchFamily="2" typeface="Wingdings"/>
              <a:buChar char="Ø"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endParaRPr b="1" dirty="0" lang="en-US" smtClean="0" sz="2400"/>
          </a:p>
          <a:p>
            <a:pPr algn="just">
              <a:buFont charset="2" pitchFamily="2" typeface="Wingdings"/>
              <a:buChar char="Ø"/>
            </a:pPr>
            <a:r>
              <a:rPr dirty="0" lang="en-US" smtClean="0" sz="2400"/>
              <a:t>The result of the operation is slice the elements of the updated scores array to the last five elements:</a:t>
            </a:r>
            <a:endParaRPr b="1" dirty="0" lang="en-US" sz="2400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362200" y="1143000"/>
            <a:ext cx="4429125" cy="37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743200" y="2362200"/>
            <a:ext cx="2890837" cy="2615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371600" y="5943600"/>
            <a:ext cx="5819775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800"/>
              <a:t>Slice from the Front of the Array</a:t>
            </a:r>
          </a:p>
          <a:p>
            <a:pPr>
              <a:buNone/>
            </a:pPr>
            <a:r>
              <a:rPr dirty="0" lang="en-US" smtClean="0" sz="2400"/>
              <a:t>A collection students contains the following document:</a:t>
            </a:r>
          </a:p>
          <a:p>
            <a:pPr>
              <a:buNone/>
            </a:pPr>
            <a:endParaRPr dirty="0" lang="en-US" smtClean="0" sz="2400"/>
          </a:p>
          <a:p>
            <a:pPr algn="just">
              <a:buNone/>
            </a:pPr>
            <a:r>
              <a:rPr dirty="0" lang="en-US" smtClean="0" sz="2400"/>
              <a:t>Adds new elements to the scores array, and then uses the $slice modifier to trim the array to the first three elements.</a:t>
            </a:r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r>
              <a:rPr dirty="0" lang="en-US" smtClean="0" sz="2400"/>
              <a:t>The result of the operation is to slice the elements of the updated scores array to the first three elements:</a:t>
            </a:r>
            <a:endParaRPr dirty="0" lang="en-US" sz="2400"/>
          </a:p>
        </p:txBody>
      </p:sp>
      <p:pic>
        <p:nvPicPr>
          <p:cNvPr id="2050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209800" y="1219200"/>
            <a:ext cx="40005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1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895600" y="2286000"/>
            <a:ext cx="2619375" cy="26354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981200" y="5943600"/>
            <a:ext cx="48006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800"/>
              <a:t>Update Array Using Slice Only</a:t>
            </a:r>
          </a:p>
          <a:p>
            <a:pPr algn="just">
              <a:buNone/>
            </a:pPr>
            <a:r>
              <a:rPr dirty="0" lang="en-US" smtClean="0" sz="2400"/>
              <a:t>A collection students contains the following document:</a:t>
            </a:r>
          </a:p>
          <a:p>
            <a:pPr algn="just">
              <a:buNone/>
            </a:pPr>
            <a:endParaRPr b="1" dirty="0" lang="en-US" smtClean="0" sz="2400"/>
          </a:p>
          <a:p>
            <a:pPr algn="just">
              <a:buNone/>
            </a:pPr>
            <a:r>
              <a:rPr dirty="0" lang="en-US" smtClean="0" sz="2400"/>
              <a:t>To update the scores field with just the effects of the $slice modifier, specify the number of elements to slice (e.g. -3) for the $slice modifier and an empty array [] for the $each modifier, as in the following:</a:t>
            </a:r>
            <a:endParaRPr b="1" dirty="0" lang="en-US" smtClean="0" sz="2400"/>
          </a:p>
          <a:p>
            <a:endParaRPr dirty="0" lang="en-US"/>
          </a:p>
        </p:txBody>
      </p:sp>
      <p:pic>
        <p:nvPicPr>
          <p:cNvPr id="307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752600" y="1143000"/>
            <a:ext cx="5353050" cy="371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5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762000" y="3048000"/>
            <a:ext cx="2543175" cy="3143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6" name="Rectangle 4"/>
          <p:cNvSpPr>
            <a:spLocks noChangeArrowheads="1"/>
          </p:cNvSpPr>
          <p:nvPr/>
        </p:nvSpPr>
        <p:spPr>
          <a:xfrm>
            <a:off x="4343400" y="3048000"/>
            <a:ext cx="4038600" cy="1569660"/>
          </a:xfrm>
          <a:prstGeom prst="rect">
            <a:avLst/>
          </a:prstGeom>
          <a:solidFill>
            <a:srgbClr val="F9FBFA"/>
          </a:solidFill>
          <a:ln w="9525">
            <a:noFill/>
            <a:miter lim="800000"/>
            <a:headEnd/>
            <a:tailEnd/>
          </a:ln>
          <a:effectLst/>
        </p:spPr>
        <p:txBody>
          <a:bodyPr anchor="ctr" anchorCtr="0" bIns="45720" compatLnSpc="1" lIns="91440" numCol="1" rIns="91440" tIns="45720" vert="horz" wrap="square">
            <a:prstTxWarp prst="textNoShape">
              <a:avLst/>
            </a:prstTxWarp>
            <a:spAutoFit/>
          </a:bodyPr>
          <a:lstStyle/>
          <a:p>
            <a:pPr algn="just" defTabSz="9144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baseline="0" cap="none" dirty="0" i="0" kumimoji="0" lang="en-US" normalizeH="0" smtClean="0" strike="noStrike" sz="2400" u="none">
                <a:ln>
                  <a:noFill/>
                </a:ln>
                <a:solidFill>
                  <a:srgbClr val="001E2B"/>
                </a:solidFill>
                <a:effectLst/>
                <a:latin charset="0" pitchFamily="18" typeface="Times New Roman"/>
                <a:cs charset="0" pitchFamily="18" typeface="Times New Roman"/>
              </a:rPr>
              <a:t>The result of the operation is to slice the elements of the </a:t>
            </a:r>
            <a:r>
              <a:rPr baseline="0" cap="none" dirty="0" i="0" kumimoji="0" lang="en-US" normalizeH="0" smtClean="0" strike="noStrike" sz="2400" u="none">
                <a:ln>
                  <a:noFill/>
                </a:ln>
                <a:solidFill>
                  <a:srgbClr val="1C2D38"/>
                </a:solidFill>
                <a:effectLst/>
                <a:latin charset="0" pitchFamily="18" typeface="Times New Roman"/>
                <a:cs charset="0" pitchFamily="18" typeface="Times New Roman"/>
              </a:rPr>
              <a:t>scores</a:t>
            </a:r>
            <a:r>
              <a:rPr baseline="0" cap="none" dirty="0" i="0" kumimoji="0" lang="en-US" normalizeH="0" smtClean="0" strike="noStrike" sz="2400" u="none">
                <a:ln>
                  <a:noFill/>
                </a:ln>
                <a:solidFill>
                  <a:srgbClr val="001E2B"/>
                </a:solidFill>
                <a:effectLst/>
                <a:latin charset="0" pitchFamily="18" typeface="Times New Roman"/>
                <a:cs charset="0" pitchFamily="18" typeface="Times New Roman"/>
              </a:rPr>
              <a:t> array to the last three elements:</a:t>
            </a:r>
            <a:r>
              <a:rPr baseline="0" cap="none" dirty="0" i="0" kumimoji="0" lang="en-US" normalizeH="0" smtClean="0" strike="noStrike" sz="2400" u="none">
                <a:ln>
                  <a:noFill/>
                </a:ln>
                <a:solidFill>
                  <a:schemeClr val="tx1"/>
                </a:solidFill>
                <a:effectLst/>
                <a:latin charset="0" pitchFamily="18" typeface="Times New Roman"/>
                <a:cs charset="0" pitchFamily="18" typeface="Times New Roman"/>
              </a:rPr>
              <a:t> </a:t>
            </a:r>
          </a:p>
        </p:txBody>
      </p:sp>
      <p:pic>
        <p:nvPicPr>
          <p:cNvPr id="3077" name="Picture 5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4114800" y="4800600"/>
            <a:ext cx="4848225" cy="323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"/>
            <a:ext cx="8686800" cy="64770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800"/>
              <a:t>Use $slice with Other $push Modifiers</a:t>
            </a:r>
          </a:p>
          <a:p>
            <a:pPr algn="just">
              <a:buNone/>
            </a:pPr>
            <a:r>
              <a:rPr dirty="0" lang="en-US" smtClean="0" sz="2400"/>
              <a:t>Add the following document to the students collection:</a:t>
            </a:r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/>
            <a:r>
              <a:rPr dirty="0" lang="en-US" smtClean="0" sz="2400"/>
              <a:t>Perform the following $push operation uses:</a:t>
            </a:r>
          </a:p>
          <a:p>
            <a:pPr algn="just"/>
            <a:r>
              <a:rPr dirty="0" lang="en-US" smtClean="0" sz="2400"/>
              <a:t>the $each modifier to add multiple documents to the quizzes array,</a:t>
            </a:r>
          </a:p>
          <a:p>
            <a:pPr algn="just"/>
            <a:r>
              <a:rPr dirty="0" lang="en-US" smtClean="0" sz="2400"/>
              <a:t>the $sort modifier to sort all the elements of the modified quizzes array by the score field in descending order, and</a:t>
            </a:r>
          </a:p>
          <a:p>
            <a:pPr algn="just"/>
            <a:r>
              <a:rPr dirty="0" lang="en-US" smtClean="0" sz="2400"/>
              <a:t>the $slice modifier to keep only the </a:t>
            </a:r>
            <a:r>
              <a:rPr b="1" dirty="0" lang="en-US" smtClean="0" sz="2400"/>
              <a:t>first</a:t>
            </a:r>
            <a:r>
              <a:rPr dirty="0" lang="en-US" smtClean="0" sz="2400"/>
              <a:t> three sorted elements of the quizzes array.</a:t>
            </a:r>
          </a:p>
          <a:p>
            <a:pPr algn="just">
              <a:buNone/>
            </a:pPr>
            <a:endParaRPr dirty="0" lang="en-US" sz="2400"/>
          </a:p>
        </p:txBody>
      </p:sp>
      <p:pic>
        <p:nvPicPr>
          <p:cNvPr id="66562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438400" y="1066800"/>
            <a:ext cx="3305175" cy="270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705600"/>
          </a:xfrm>
        </p:spPr>
        <p:txBody>
          <a:bodyPr numCol="1">
            <a:normAutofit lnSpcReduction="10000"/>
          </a:bodyPr>
          <a:lstStyle/>
          <a:p>
            <a:endParaRPr dirty="0" lang="en-US" smtClean="0"/>
          </a:p>
          <a:p>
            <a:endParaRPr dirty="0" lang="en-US" smtClean="0"/>
          </a:p>
          <a:p>
            <a:endParaRPr dirty="0" lang="en-US" smtClean="0"/>
          </a:p>
          <a:p>
            <a:endParaRPr dirty="0" lang="en-US" smtClean="0"/>
          </a:p>
          <a:p>
            <a:endParaRPr dirty="0" lang="en-US" smtClean="0"/>
          </a:p>
          <a:p>
            <a:endParaRPr dirty="0" lang="en-US" smtClean="0"/>
          </a:p>
          <a:p>
            <a:pPr algn="just"/>
            <a:r>
              <a:rPr dirty="0" lang="en-US" smtClean="0" sz="2400"/>
              <a:t>After the operation only the three highest scoring quizzes are in the array: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The order of the modifiers is immaterial to the order in which the modifiers are processed.</a:t>
            </a:r>
            <a:endParaRPr dirty="0" lang="en-US" sz="2400"/>
          </a:p>
        </p:txBody>
      </p:sp>
      <p:pic>
        <p:nvPicPr>
          <p:cNvPr id="6758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295400" y="228600"/>
            <a:ext cx="7267575" cy="27890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587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590800" y="3733800"/>
            <a:ext cx="3514725" cy="2362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6096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$position modifier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85800"/>
            <a:ext cx="8839200" cy="6019800"/>
          </a:xfrm>
        </p:spPr>
        <p:txBody>
          <a:bodyPr numCol="1">
            <a:normAutofit lnSpcReduction="10000"/>
          </a:bodyPr>
          <a:lstStyle/>
          <a:p>
            <a:pPr algn="just"/>
            <a:r>
              <a:rPr dirty="0" lang="en-US" smtClean="0" sz="2400"/>
              <a:t>The $position modifier specifies the location in the array at which the $push operator inserts elements. 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Without the $position modifier, the $push operator inserts elements to the end of the array. 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To use the $position modifier, it </a:t>
            </a:r>
            <a:r>
              <a:rPr b="1" dirty="0" lang="en-US" smtClean="0" sz="2400"/>
              <a:t>must</a:t>
            </a:r>
            <a:r>
              <a:rPr dirty="0" lang="en-US" smtClean="0" sz="2400"/>
              <a:t> appear with the $each modifier.</a:t>
            </a:r>
          </a:p>
          <a:p>
            <a:pPr algn="just"/>
            <a:r>
              <a:rPr dirty="0" lang="en-US" smtClean="0" sz="2400"/>
              <a:t>Syntax: 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&lt;num&gt; indicates the position in the array, based on a zero-based array index (position).</a:t>
            </a:r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  <a:p>
            <a:pPr algn="just"/>
            <a:endParaRPr dirty="0" lang="en-US" smtClean="0" sz="2800"/>
          </a:p>
        </p:txBody>
      </p:sp>
      <p:pic>
        <p:nvPicPr>
          <p:cNvPr id="1026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2514600" y="3810000"/>
            <a:ext cx="3771900" cy="1893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"/>
            <a:ext cx="8839200" cy="6553200"/>
          </a:xfrm>
        </p:spPr>
        <p:txBody>
          <a:bodyPr numCol="1">
            <a:normAutofit/>
          </a:bodyPr>
          <a:lstStyle/>
          <a:p>
            <a:pPr algn="just"/>
            <a:r>
              <a:rPr dirty="0" lang="en-US" smtClean="0" sz="2200"/>
              <a:t>A non-negative number corresponds to the position in the array, starting from the beginning of the array.</a:t>
            </a:r>
          </a:p>
          <a:p>
            <a:pPr algn="just"/>
            <a:endParaRPr dirty="0" lang="en-US" smtClean="0" sz="2200"/>
          </a:p>
          <a:p>
            <a:pPr algn="just"/>
            <a:r>
              <a:rPr dirty="0" lang="en-US" smtClean="0" sz="2200"/>
              <a:t> If the value of &lt;num&gt; is greater or equal to the length of the array, the $position modifier has no effect and $push adds elements to the end of the array.</a:t>
            </a:r>
          </a:p>
          <a:p>
            <a:pPr algn="just"/>
            <a:endParaRPr dirty="0" lang="en-US" smtClean="0" sz="2200"/>
          </a:p>
          <a:p>
            <a:pPr algn="just"/>
            <a:r>
              <a:rPr dirty="0" lang="en-US" smtClean="0" sz="2200"/>
              <a:t>A negative number corresponds to the position in the array, counting from (but not including) the last element of the </a:t>
            </a:r>
            <a:r>
              <a:rPr dirty="0" lang="en-US" smtClean="0" sz="2200"/>
              <a:t>array. </a:t>
            </a:r>
          </a:p>
          <a:p>
            <a:pPr algn="just" lvl="1"/>
            <a:r>
              <a:rPr dirty="0" lang="en-US" smtClean="0" sz="2000"/>
              <a:t>For </a:t>
            </a:r>
            <a:r>
              <a:rPr dirty="0" lang="en-US" smtClean="0" sz="2000"/>
              <a:t>example, -1 indicates the position just before the last element in the array.</a:t>
            </a:r>
          </a:p>
          <a:p>
            <a:pPr algn="just" lvl="1" marL="685800"/>
            <a:r>
              <a:rPr dirty="0" lang="en-US" smtClean="0" sz="2000"/>
              <a:t>If </a:t>
            </a:r>
            <a:r>
              <a:rPr dirty="0" lang="en-US" smtClean="0" sz="2000"/>
              <a:t>you specify multiple elements in the $each array, the last added element is in the specified position from the </a:t>
            </a:r>
            <a:r>
              <a:rPr dirty="0" lang="en-US" smtClean="0" sz="2000"/>
              <a:t>end.</a:t>
            </a:r>
          </a:p>
          <a:p>
            <a:pPr algn="just" lvl="1" marL="685800"/>
            <a:r>
              <a:rPr dirty="0" lang="en-US" smtClean="0" sz="2000"/>
              <a:t>If </a:t>
            </a:r>
            <a:r>
              <a:rPr dirty="0" lang="en-US" smtClean="0" sz="2000"/>
              <a:t>the absolute value of &lt;num&gt; is greater than or equal to the length of the array, the $push adds elements to the beginning of the array.</a:t>
            </a:r>
          </a:p>
          <a:p>
            <a:endParaRPr dirty="0" lang="en-US" smtClean="0"/>
          </a:p>
          <a:p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</p:spPr>
        <p:txBody>
          <a:bodyPr numCol="1">
            <a:normAutofit fontScale="90000"/>
          </a:bodyPr>
          <a:lstStyle/>
          <a:p>
            <a:r>
              <a:rPr dirty="0" lang="en-US" smtClean="0"/>
              <a:t>Examples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685800"/>
            <a:ext cx="8839200" cy="60960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400"/>
              <a:t>Add Elements at the Start of the Array</a:t>
            </a:r>
          </a:p>
          <a:p>
            <a:pPr>
              <a:buNone/>
            </a:pPr>
            <a:r>
              <a:rPr dirty="0" lang="en-US" smtClean="0" sz="2400"/>
              <a:t>Create the students collection:</a:t>
            </a:r>
          </a:p>
          <a:p>
            <a:pPr>
              <a:buNone/>
            </a:pPr>
            <a:endParaRPr b="1" dirty="0" lang="en-US" smtClean="0" sz="2400"/>
          </a:p>
          <a:p>
            <a:pPr algn="just">
              <a:buNone/>
            </a:pPr>
            <a:r>
              <a:rPr dirty="0" lang="en-US" smtClean="0" sz="2400"/>
              <a:t>Update scores field to add the elements 50, 60 and 70 to the beginning of the array:</a:t>
            </a:r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r>
              <a:rPr dirty="0" lang="en-US" smtClean="0" sz="2400"/>
              <a:t>The operation results in the following updated document:</a:t>
            </a:r>
          </a:p>
          <a:p>
            <a:pPr algn="just">
              <a:buNone/>
            </a:pPr>
            <a:endParaRPr b="1" dirty="0" lang="en-US" smtClean="0" sz="2400"/>
          </a:p>
          <a:p>
            <a:pPr>
              <a:buNone/>
            </a:pPr>
            <a:endParaRPr dirty="0" lang="en-US"/>
          </a:p>
        </p:txBody>
      </p:sp>
      <p:pic>
        <p:nvPicPr>
          <p:cNvPr id="2050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295400" y="1600200"/>
            <a:ext cx="64198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733800" y="2590800"/>
            <a:ext cx="3276599" cy="2798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3" name="Picture 5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447800" y="6019800"/>
            <a:ext cx="5391150" cy="40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"/>
            <a:ext cx="8686800" cy="6553200"/>
          </a:xfrm>
        </p:spPr>
        <p:txBody>
          <a:bodyPr numCol="1"/>
          <a:lstStyle/>
          <a:p>
            <a:pPr algn="ctr">
              <a:buNone/>
            </a:pPr>
            <a:r>
              <a:rPr b="1" dirty="0" lang="en-US" smtClean="0" sz="2400"/>
              <a:t>Add Elements to the Middle of the Array</a:t>
            </a:r>
          </a:p>
          <a:p>
            <a:pPr algn="just">
              <a:buNone/>
            </a:pPr>
            <a:r>
              <a:rPr dirty="0" lang="en-US" smtClean="0" sz="2400"/>
              <a:t>Add a document to the </a:t>
            </a:r>
            <a:r>
              <a:rPr dirty="0" i="1" lang="en-US" smtClean="0" sz="2400"/>
              <a:t>students</a:t>
            </a:r>
            <a:r>
              <a:rPr dirty="0" lang="en-US" smtClean="0" sz="2400"/>
              <a:t> collection:</a:t>
            </a:r>
          </a:p>
          <a:p>
            <a:pPr algn="just"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r>
              <a:rPr dirty="0" lang="en-US" smtClean="0" sz="2400"/>
              <a:t>Update scores field to add the elements 20 and 30 at the array index (position) of 2:</a:t>
            </a:r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endParaRPr dirty="0" lang="en-US" smtClean="0" sz="2400"/>
          </a:p>
          <a:p>
            <a:pPr>
              <a:buNone/>
            </a:pPr>
            <a:r>
              <a:rPr dirty="0" lang="en-US" smtClean="0" sz="2400"/>
              <a:t>The operation results in the following updated document:</a:t>
            </a:r>
          </a:p>
          <a:p>
            <a:pPr>
              <a:buNone/>
            </a:pPr>
            <a:r>
              <a:rPr dirty="0" lang="en-US" smtClean="0" sz="2400"/>
              <a:t/>
            </a:r>
            <a:br>
              <a:rPr dirty="0" lang="en-US" smtClean="0" sz="2400"/>
            </a:br>
            <a:endParaRPr dirty="0" lang="en-US" sz="2400"/>
          </a:p>
        </p:txBody>
      </p:sp>
      <p:pic>
        <p:nvPicPr>
          <p:cNvPr id="74754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533400" y="1219200"/>
            <a:ext cx="8162925" cy="36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4755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2743200" y="2438400"/>
            <a:ext cx="2895600" cy="2802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4756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914400" y="6096000"/>
            <a:ext cx="6448425" cy="40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0"/>
            <a:ext cx="8839200" cy="6705600"/>
          </a:xfrm>
        </p:spPr>
        <p:txBody>
          <a:bodyPr numCol="1">
            <a:normAutofit/>
          </a:bodyPr>
          <a:lstStyle/>
          <a:p>
            <a:pPr algn="ctr">
              <a:buNone/>
            </a:pPr>
            <a:r>
              <a:rPr b="1" dirty="0" lang="en-US" smtClean="0" sz="2400"/>
              <a:t>Use a Negative Array Index (Position) to Add Elements to the Array</a:t>
            </a:r>
          </a:p>
          <a:p>
            <a:pPr algn="just"/>
            <a:r>
              <a:rPr dirty="0" lang="en-US" smtClean="0" sz="2400"/>
              <a:t>$position can accept a negative array index (position) value to indicate the position starting from the end, counting from (but not including) the last element of the array. For example, -1 indicates the position just before the last element in the array.</a:t>
            </a:r>
          </a:p>
          <a:p>
            <a:pPr algn="just"/>
            <a:r>
              <a:rPr dirty="0" lang="en-US" smtClean="0" sz="2400"/>
              <a:t>Example: </a:t>
            </a:r>
          </a:p>
          <a:p>
            <a:pPr algn="just"/>
            <a:endParaRPr dirty="0" lang="en-US" smtClean="0" sz="2400"/>
          </a:p>
          <a:p>
            <a:pPr algn="just"/>
            <a:r>
              <a:rPr dirty="0" lang="en-US" smtClean="0" sz="2400"/>
              <a:t>Query:</a:t>
            </a:r>
          </a:p>
          <a:p>
            <a:pPr algn="just"/>
            <a:endParaRPr dirty="0" lang="en-US" smtClean="0" sz="2400"/>
          </a:p>
          <a:p>
            <a:pPr algn="just"/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None/>
            </a:pPr>
            <a:endParaRPr dirty="0" lang="en-US" smtClean="0" sz="2400"/>
          </a:p>
          <a:p>
            <a:pPr algn="just">
              <a:buFont charset="2" pitchFamily="2" typeface="Wingdings"/>
              <a:buChar char="v"/>
            </a:pPr>
            <a:r>
              <a:rPr dirty="0" lang="en-US" smtClean="0" sz="2000"/>
              <a:t>With a negative array index (position), if you specify multiple elements in the $each array, the last added element is in the specified position from the end.</a:t>
            </a:r>
          </a:p>
          <a:p>
            <a:pPr>
              <a:buNone/>
            </a:pPr>
            <a:r>
              <a:rPr dirty="0" lang="en-US" smtClean="0" sz="2000"/>
              <a:t>Output:</a:t>
            </a:r>
            <a:endParaRPr dirty="0" lang="en-US" sz="2000"/>
          </a:p>
        </p:txBody>
      </p:sp>
      <p:pic>
        <p:nvPicPr>
          <p:cNvPr id="75778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981200" y="1981200"/>
            <a:ext cx="5562600" cy="6904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5779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1752600" y="2819400"/>
            <a:ext cx="2405063" cy="2314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267200" y="2895600"/>
            <a:ext cx="4724400" cy="1938992"/>
          </a:xfrm>
          <a:prstGeom prst="rect">
            <a:avLst/>
          </a:prstGeom>
        </p:spPr>
        <p:txBody>
          <a:bodyPr numCol="1" wrap="square">
            <a:spAutoFit/>
          </a:bodyPr>
          <a:lstStyle/>
          <a:p>
            <a:pPr algn="just"/>
            <a:r>
              <a:rPr dirty="0" lang="en-US" smtClean="0" sz="2400"/>
              <a:t>This operation specifies -2 for the $position to add 90 at the position two places before the last element, and then 80 at the position two places before the last element.</a:t>
            </a:r>
          </a:p>
        </p:txBody>
      </p:sp>
      <p:pic>
        <p:nvPicPr>
          <p:cNvPr id="75780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1447800" y="6019800"/>
            <a:ext cx="672465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0"/>
            <a:ext cx="8839200" cy="609600"/>
          </a:xfrm>
        </p:spPr>
        <p:txBody>
          <a:bodyPr numCol="1">
            <a:normAutofit fontScale="90000"/>
          </a:bodyPr>
          <a:lstStyle/>
          <a:p>
            <a:r>
              <a:rPr dirty="0" lang="en-US" smtClean="0" sz="4000"/>
              <a:t>Use $push Operator with Multiple Modifiers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" y="609600"/>
            <a:ext cx="8915400" cy="5943600"/>
          </a:xfrm>
        </p:spPr>
        <p:txBody>
          <a:bodyPr numCol="1">
            <a:normAutofit/>
          </a:bodyPr>
          <a:lstStyle/>
          <a:p>
            <a:endParaRPr dirty="0" lang="en-US" smtClean="0"/>
          </a:p>
          <a:p>
            <a:endParaRPr dirty="0" lang="en-US" smtClean="0"/>
          </a:p>
          <a:p>
            <a:pPr>
              <a:buNone/>
            </a:pPr>
            <a:endParaRPr dirty="0" lang="en-US" smtClean="0"/>
          </a:p>
          <a:p>
            <a:pPr>
              <a:buNone/>
            </a:pPr>
            <a:endParaRPr dirty="0" lang="en-US" smtClean="0"/>
          </a:p>
          <a:p>
            <a:pPr algn="just"/>
            <a:r>
              <a:rPr dirty="0" lang="en-US" smtClean="0" sz="2400"/>
              <a:t>the </a:t>
            </a:r>
            <a:r>
              <a:rPr dirty="0" i="1" lang="en-US" smtClean="0" sz="2400"/>
              <a:t>$each</a:t>
            </a:r>
            <a:r>
              <a:rPr dirty="0" lang="en-US" smtClean="0" sz="2400"/>
              <a:t> modifier to add multiple documents to the quizzes array,</a:t>
            </a:r>
          </a:p>
          <a:p>
            <a:pPr algn="just"/>
            <a:r>
              <a:rPr dirty="0" lang="en-US" smtClean="0" sz="2400"/>
              <a:t>the </a:t>
            </a:r>
            <a:r>
              <a:rPr dirty="0" i="1" lang="en-US" smtClean="0" sz="2400"/>
              <a:t>$sort</a:t>
            </a:r>
            <a:r>
              <a:rPr dirty="0" lang="en-US" smtClean="0" sz="2400"/>
              <a:t> modifier to sort all the elements of the modified quizzes array by the score field in descending order,</a:t>
            </a:r>
          </a:p>
          <a:p>
            <a:pPr algn="just"/>
            <a:r>
              <a:rPr dirty="0" lang="en-US" smtClean="0" sz="2400"/>
              <a:t>the </a:t>
            </a:r>
            <a:r>
              <a:rPr dirty="0" i="1" lang="en-US" smtClean="0" sz="2400"/>
              <a:t>$slice</a:t>
            </a:r>
            <a:r>
              <a:rPr dirty="0" lang="en-US" smtClean="0" sz="2400"/>
              <a:t> modifier to keep only the </a:t>
            </a:r>
            <a:r>
              <a:rPr b="1" dirty="0" lang="en-US" smtClean="0" sz="2400"/>
              <a:t>first</a:t>
            </a:r>
            <a:r>
              <a:rPr dirty="0" lang="en-US" smtClean="0" sz="2400"/>
              <a:t> three sorted elements of the quizzes array.</a:t>
            </a:r>
          </a:p>
          <a:p>
            <a:pPr algn="just">
              <a:buNone/>
            </a:pPr>
            <a:r>
              <a:rPr dirty="0" lang="en-US" smtClean="0" sz="2800"/>
              <a:t>                         Output:</a:t>
            </a:r>
          </a:p>
          <a:p>
            <a:endParaRPr dirty="0" lang="en-US"/>
          </a:p>
        </p:txBody>
      </p:sp>
      <p:pic>
        <p:nvPicPr>
          <p:cNvPr id="9218" name="Picture 2"/>
          <p:cNvPicPr>
            <a:picLocks noChangeArrowheads="1" noChangeAspect="1"/>
          </p:cNvPicPr>
          <p:nvPr/>
        </p:nvPicPr>
        <p:blipFill>
          <a:blip cstate="print" r:embed="rId2"/>
          <a:srcRect/>
          <a:stretch>
            <a:fillRect/>
          </a:stretch>
        </p:blipFill>
        <p:spPr>
          <a:xfrm>
            <a:off x="152400" y="609600"/>
            <a:ext cx="3124200" cy="2393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19" name="Picture 3"/>
          <p:cNvPicPr>
            <a:picLocks noChangeArrowheads="1" noChangeAspect="1"/>
          </p:cNvPicPr>
          <p:nvPr/>
        </p:nvPicPr>
        <p:blipFill>
          <a:blip cstate="print" r:embed="rId3"/>
          <a:srcRect/>
          <a:stretch>
            <a:fillRect/>
          </a:stretch>
        </p:blipFill>
        <p:spPr>
          <a:xfrm>
            <a:off x="3428999" y="685800"/>
            <a:ext cx="55988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220" name="Picture 4"/>
          <p:cNvPicPr>
            <a:picLocks noChangeArrowheads="1" noChangeAspect="1"/>
          </p:cNvPicPr>
          <p:nvPr/>
        </p:nvPicPr>
        <p:blipFill>
          <a:blip cstate="print" r:embed="rId4"/>
          <a:srcRect/>
          <a:stretch>
            <a:fillRect/>
          </a:stretch>
        </p:blipFill>
        <p:spPr>
          <a:xfrm>
            <a:off x="3733800" y="4648200"/>
            <a:ext cx="2952750" cy="18711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2400"/>
            <a:ext cx="8763000" cy="6553200"/>
          </a:xfrm>
        </p:spPr>
        <p:txBody>
          <a:bodyPr numCol="1">
            <a:normAutofit fontScale="92500" lnSpcReduction="10000"/>
          </a:bodyPr>
          <a:lstStyle/>
          <a:p>
            <a:pPr algn="just"/>
            <a:r>
              <a:rPr dirty="0" lang="en-US" smtClean="0"/>
              <a:t>When used with modifiers, the $push operator has the form:</a:t>
            </a:r>
          </a:p>
          <a:p>
            <a:pPr algn="just">
              <a:buNone/>
            </a:pPr>
            <a:r>
              <a:rPr dirty="0" lang="en-US" smtClean="0"/>
              <a:t>    { $push: { &lt;field1&gt;: { &lt;modifier1&gt;: &lt;value1&gt;, ... }, ... } }</a:t>
            </a:r>
          </a:p>
          <a:p>
            <a:pPr algn="just">
              <a:buNone/>
            </a:pPr>
            <a:endParaRPr dirty="0" lang="en-US" smtClean="0"/>
          </a:p>
          <a:p>
            <a:pPr algn="just"/>
            <a:r>
              <a:rPr dirty="0" lang="en-US" smtClean="0"/>
              <a:t>The processing of the $push operation with modifiers occur in the following order, regardless of the order in which the modifiers appear:</a:t>
            </a:r>
          </a:p>
          <a:p>
            <a:pPr algn="just"/>
            <a:endParaRPr dirty="0" lang="en-US" smtClean="0"/>
          </a:p>
          <a:p>
            <a:pPr algn="just" indent="-514350" marL="514350">
              <a:buFont typeface="+mj-lt"/>
              <a:buAutoNum type="arabicPeriod"/>
            </a:pPr>
            <a:r>
              <a:rPr dirty="0" lang="en-US" smtClean="0"/>
              <a:t>Update array to add elements in the correct position.</a:t>
            </a:r>
          </a:p>
          <a:p>
            <a:pPr algn="just" indent="-514350" marL="514350">
              <a:buFont typeface="+mj-lt"/>
              <a:buAutoNum type="arabicPeriod"/>
            </a:pPr>
            <a:r>
              <a:rPr dirty="0" lang="en-US" smtClean="0"/>
              <a:t>Apply sort, if specified.</a:t>
            </a:r>
          </a:p>
          <a:p>
            <a:pPr algn="just" indent="-514350" marL="514350">
              <a:buFont typeface="+mj-lt"/>
              <a:buAutoNum type="arabicPeriod"/>
            </a:pPr>
            <a:r>
              <a:rPr dirty="0" lang="en-US" smtClean="0"/>
              <a:t>Slice the array, if specified.</a:t>
            </a:r>
          </a:p>
          <a:p>
            <a:pPr algn="just" indent="-514350" marL="514350">
              <a:buFont typeface="+mj-lt"/>
              <a:buAutoNum type="arabicPeriod"/>
            </a:pPr>
            <a:r>
              <a:rPr dirty="0" lang="en-US" smtClean="0"/>
              <a:t>Store the array.</a:t>
            </a:r>
          </a:p>
          <a:p>
            <a:endParaRPr dirty="0" lang="en-US"/>
          </a:p>
        </p:txBody>
      </p:sp>
    </p:spTree>
  </p:cSld>
  <p:clrMapOvr>
    <a:masterClrMapping/>
  </p:clrMapOvr>
  <p:timing>
    <p:tnLst>
      <p:par>
        <p:cTn dur="indefinite" id="1" nodeType="tmRoot" restart="never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algn="ctr" cap="flat" cmpd="sng" w="9525">
          <a:solidFill>
            <a:schemeClr val="phClr">
              <a:shade val="95000"/>
              <a:satMod val="105000"/>
            </a:schemeClr>
          </a:solidFill>
          <a:prstDash val="solid"/>
        </a:ln>
        <a:ln algn="ctr" cap="flat" cmpd="sng" w="25400">
          <a:solidFill>
            <a:schemeClr val="phClr"/>
          </a:solidFill>
          <a:prstDash val="solid"/>
        </a:ln>
        <a:ln algn="ctr" cap="flat" cmpd="sng"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b="180000" l="50000" r="50000" t="-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b="50000" l="50000" r="50000" t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880</Words>
  <Paragraphs>499</Paragraphs>
  <Slides>52</Slides>
  <Notes>0</Notes>
  <TotalTime>2309</TotalTime>
  <HiddenSlides>0</HiddenSlides>
  <MMClips>0</MMClips>
  <ScaleCrop>false</ScaleCrop>
  <HeadingPairs>
    <vt:vector baseType="variant" size="6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baseType="lpstr" size="58">
      <vt:lpstr>Arial</vt:lpstr>
      <vt:lpstr>Calibri</vt:lpstr>
      <vt:lpstr>Euclid Circular A</vt:lpstr>
      <vt:lpstr>Times New Roman</vt:lpstr>
      <vt:lpstr>Wingdings</vt:lpstr>
      <vt:lpstr>Office Theme</vt:lpstr>
      <vt:lpstr>Array in MongoDB</vt:lpstr>
      <vt:lpstr>Array in MongoDB</vt:lpstr>
      <vt:lpstr>Querying on Array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Array Update Operators</vt:lpstr>
      <vt:lpstr>Array operator: $pop</vt:lpstr>
      <vt:lpstr>Examples</vt:lpstr>
      <vt:lpstr>Array operator: $pull</vt:lpstr>
      <vt:lpstr>Array operator: $pull Examples</vt:lpstr>
      <vt:lpstr>PowerPoint Presentation</vt:lpstr>
      <vt:lpstr>PowerPoint Presentation</vt:lpstr>
      <vt:lpstr>PowerPoint Presentation</vt:lpstr>
      <vt:lpstr>PowerPoint Presentation</vt:lpstr>
      <vt:lpstr>Array operator: $pullall</vt:lpstr>
      <vt:lpstr>Array Update Operator: $push</vt:lpstr>
      <vt:lpstr>$push operator: Append a Value to an Array</vt:lpstr>
      <vt:lpstr>$push operator: Append a Value to Arrays in Multiple Documents</vt:lpstr>
      <vt:lpstr>$push operator: Append Multiple Values to an Array</vt:lpstr>
      <vt:lpstr>Array operator: $addToSet</vt:lpstr>
      <vt:lpstr>PowerPoint Presentation</vt:lpstr>
      <vt:lpstr>$addToSet: Value to Add is An Array</vt:lpstr>
      <vt:lpstr>$addToSet: Value to Add is a Document</vt:lpstr>
      <vt:lpstr>Modifiers</vt:lpstr>
      <vt:lpstr>$each modifier</vt:lpstr>
      <vt:lpstr>PowerPoint Presentation</vt:lpstr>
      <vt:lpstr>$sort modifier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$slice modifier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$position modifier</vt:lpstr>
      <vt:lpstr>PowerPoint Presentation</vt:lpstr>
      <vt:lpstr>Examples</vt:lpstr>
      <vt:lpstr>PowerPoint Presentation</vt:lpstr>
      <vt:lpstr>PowerPoint Presentation</vt:lpstr>
      <vt:lpstr>Use $push Operator with Multiple Modifiers</vt:lpstr>
      <vt:lpstr>PowerPoint Presentation</vt:lpstr>
    </vt:vector>
  </TitlesOfParts>
  <LinksUpToDate>false</LinksUpToDate>
  <SharedDoc>false</SharedDoc>
  <HyperlinksChanged>false</HyperlinksChanged>
  <Application>Microsoft Office PowerPoint</Application>
  <AppVersion>16.0000</AppVersion>
  <PresentationFormat>On-screen Show (4:3)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2024-01-31T03:37:40Z</dcterms:created>
  <dc:creator>mandeep kaur</dc:creator>
  <cp:lastModifiedBy>acer</cp:lastModifiedBy>
  <dcterms:modified xsi:type="dcterms:W3CDTF">2026-02-10T10:45:24Z</dcterms:modified>
  <cp:revision>454</cp:revision>
  <dc:title>Nested/Embedded Documents</dc:title>
</cp:coreProperties>
</file>