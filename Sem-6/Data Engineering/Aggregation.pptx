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tableStyles+xml" PartName="/ppt/tableStyles.xml"/>
  <Override ContentType="application/vnd.openxmlformats-officedocument.presentationml.viewProps+xml" PartName="/ppt/viewProps.xml"/>
  <Override ContentType="application/vnd.openxmlformats-officedocument.theme+xml" PartName="/ppt/theme/theme1.xml"/>
  <Override ContentType="application/vnd.openxmlformats-package.core-properties+xml" PartName="/docProps/core.xml"/>
</Types>
</file>

<file path=_rels/.rels><?xml version="1.0" encoding="UTF-8" standalone="yes"?><Relationships xmlns="http://schemas.openxmlformats.org/package/2006/relationships"><Relationship Id="rId4" Target="ppt/presentation.xml" Type="http://schemas.openxmlformats.org/officeDocument/2006/relationships/officeDocument"/><Relationship Id="rId3" Target="docProps/core.xml" Type="http://schemas.openxmlformats.org/package/2006/relationships/metadata/core-properties"/><Relationship Id="rId2" Target="docProps/app.xml" Type="http://schemas.openxmlformats.org/officeDocument/2006/relationships/extended-properties"/><Relationship Id="rId1" Target="docProps/thumbnail.jpeg" Type="http://schemas.openxmlformats.org/package/2006/relationships/metadata/thumbnai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x="9144000" cy="6858000" type="screen4x3"/>
  <p:notesSz cx="6858000" cy="9144000"/>
  <p:defaultTex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EEE"/>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d="100" n="82"/>
          <a:sy d="100" n="82"/>
        </p:scale>
        <p:origin x="-1474" y="-91"/>
      </p:cViewPr>
      <p:guideLst>
        <p:guide orient="horz" pos="2160"/>
        <p:guide pos="2880"/>
      </p:guideLst>
    </p:cSldViewPr>
  </p:slideViewPr>
  <p:notesTextViewPr>
    <p:cViewPr>
      <p:scale>
        <a:sx d="100" n="100"/>
        <a:sy d="100" n="100"/>
      </p:scale>
      <p:origin x="0" y="0"/>
    </p:cViewPr>
  </p:notesTextViewPr>
  <p:gridSpacing cx="73736200" cy="73736200"/>
</p:viewPr>
</file>

<file path=ppt/_rels/presentation.xml.rels><?xml version="1.0" encoding="UTF-8" standalone="yes"?><Relationships xmlns="http://schemas.openxmlformats.org/package/2006/relationships"><Relationship Id="rId39" Target="slides/slide34.xml" Type="http://schemas.openxmlformats.org/officeDocument/2006/relationships/slide"/><Relationship Id="rId38" Target="slides/slide33.xml" Type="http://schemas.openxmlformats.org/officeDocument/2006/relationships/slide"/><Relationship Id="rId37" Target="slides/slide32.xml" Type="http://schemas.openxmlformats.org/officeDocument/2006/relationships/slide"/><Relationship Id="rId36" Target="slides/slide31.xml" Type="http://schemas.openxmlformats.org/officeDocument/2006/relationships/slide"/><Relationship Id="rId35" Target="slides/slide30.xml" Type="http://schemas.openxmlformats.org/officeDocument/2006/relationships/slide"/><Relationship Id="rId34" Target="slides/slide29.xml" Type="http://schemas.openxmlformats.org/officeDocument/2006/relationships/slide"/><Relationship Id="rId33" Target="slides/slide28.xml" Type="http://schemas.openxmlformats.org/officeDocument/2006/relationships/slide"/><Relationship Id="rId32" Target="slides/slide27.xml" Type="http://schemas.openxmlformats.org/officeDocument/2006/relationships/slide"/><Relationship Id="rId31" Target="slides/slide26.xml" Type="http://schemas.openxmlformats.org/officeDocument/2006/relationships/slide"/><Relationship Id="rId30" Target="slides/slide25.xml" Type="http://schemas.openxmlformats.org/officeDocument/2006/relationships/slide"/><Relationship Id="rId27" Target="slides/slide22.xml" Type="http://schemas.openxmlformats.org/officeDocument/2006/relationships/slide"/><Relationship Id="rId26" Target="slides/slide21.xml" Type="http://schemas.openxmlformats.org/officeDocument/2006/relationships/slide"/><Relationship Id="rId25" Target="slides/slide20.xml" Type="http://schemas.openxmlformats.org/officeDocument/2006/relationships/slide"/><Relationship Id="rId24" Target="slides/slide19.xml" Type="http://schemas.openxmlformats.org/officeDocument/2006/relationships/slide"/><Relationship Id="rId21" Target="slides/slide16.xml" Type="http://schemas.openxmlformats.org/officeDocument/2006/relationships/slide"/><Relationship Id="rId19" Target="slides/slide14.xml" Type="http://schemas.openxmlformats.org/officeDocument/2006/relationships/slide"/><Relationship Id="rId20" Target="slides/slide15.xml" Type="http://schemas.openxmlformats.org/officeDocument/2006/relationships/slide"/><Relationship Id="rId18" Target="slides/slide13.xml" Type="http://schemas.openxmlformats.org/officeDocument/2006/relationships/slide"/><Relationship Id="rId17" Target="slides/slide12.xml" Type="http://schemas.openxmlformats.org/officeDocument/2006/relationships/slide"/><Relationship Id="rId47" Target="slides/slide42.xml" Type="http://schemas.openxmlformats.org/officeDocument/2006/relationships/slide"/><Relationship Id="rId16" Target="slides/slide11.xml" Type="http://schemas.openxmlformats.org/officeDocument/2006/relationships/slide"/><Relationship Id="rId46" Target="slides/slide41.xml" Type="http://schemas.openxmlformats.org/officeDocument/2006/relationships/slide"/><Relationship Id="rId15" Target="slides/slide10.xml" Type="http://schemas.openxmlformats.org/officeDocument/2006/relationships/slide"/><Relationship Id="rId45" Target="slides/slide40.xml" Type="http://schemas.openxmlformats.org/officeDocument/2006/relationships/slide"/><Relationship Id="rId14" Target="slides/slide9.xml" Type="http://schemas.openxmlformats.org/officeDocument/2006/relationships/slide"/><Relationship Id="rId44" Target="slides/slide39.xml" Type="http://schemas.openxmlformats.org/officeDocument/2006/relationships/slide"/><Relationship Id="rId13" Target="slides/slide8.xml" Type="http://schemas.openxmlformats.org/officeDocument/2006/relationships/slide"/><Relationship Id="rId43" Target="slides/slide38.xml" Type="http://schemas.openxmlformats.org/officeDocument/2006/relationships/slide"/><Relationship Id="rId12" Target="slides/slide7.xml" Type="http://schemas.openxmlformats.org/officeDocument/2006/relationships/slide"/><Relationship Id="rId42" Target="slides/slide37.xml" Type="http://schemas.openxmlformats.org/officeDocument/2006/relationships/slide"/><Relationship Id="rId11" Target="slides/slide6.xml" Type="http://schemas.openxmlformats.org/officeDocument/2006/relationships/slide"/><Relationship Id="rId41" Target="slides/slide36.xml" Type="http://schemas.openxmlformats.org/officeDocument/2006/relationships/slide"/><Relationship Id="rId10" Target="slides/slide5.xml" Type="http://schemas.openxmlformats.org/officeDocument/2006/relationships/slide"/><Relationship Id="rId9" Target="slides/slide4.xml" Type="http://schemas.openxmlformats.org/officeDocument/2006/relationships/slide"/><Relationship Id="rId40" Target="slides/slide35.xml" Type="http://schemas.openxmlformats.org/officeDocument/2006/relationships/slide"/><Relationship Id="rId8" Target="slides/slide3.xml" Type="http://schemas.openxmlformats.org/officeDocument/2006/relationships/slide"/><Relationship Id="rId7" Target="slides/slide2.xml" Type="http://schemas.openxmlformats.org/officeDocument/2006/relationships/slide"/><Relationship Id="rId6" Target="slides/slide1.xml" Type="http://schemas.openxmlformats.org/officeDocument/2006/relationships/slide"/><Relationship Id="rId5" Target="slideMasters/slideMaster1.xml" Type="http://schemas.openxmlformats.org/officeDocument/2006/relationships/slideMaster"/><Relationship Id="rId4" Target="tableStyles.xml" Type="http://schemas.openxmlformats.org/officeDocument/2006/relationships/tableStyles"/><Relationship Id="rId3" Target="presProps.xml" Type="http://schemas.openxmlformats.org/officeDocument/2006/relationships/presProps"/><Relationship Id="rId23" Target="slides/slide18.xml" Type="http://schemas.openxmlformats.org/officeDocument/2006/relationships/slide"/><Relationship Id="rId29" Target="slides/slide24.xml" Type="http://schemas.openxmlformats.org/officeDocument/2006/relationships/slide"/><Relationship Id="rId2" Target="viewProps.xml" Type="http://schemas.openxmlformats.org/officeDocument/2006/relationships/viewProps"/><Relationship Id="rId22" Target="slides/slide17.xml" Type="http://schemas.openxmlformats.org/officeDocument/2006/relationships/slide"/><Relationship Id="rId28" Target="slides/slide23.xml" Type="http://schemas.openxmlformats.org/officeDocument/2006/relationships/slide"/><Relationship Id="rId1" Target="theme/theme1.xml" Type="http://schemas.openxmlformats.org/officeDocument/2006/relationships/theme"/></Relationships>
</file>

<file path=ppt/slideLayouts/_rels/slideLayout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numCol="1"/>
          <a:lstStyle/>
          <a:p>
            <a:r>
              <a:rPr lang="en-US" smtClean="0"/>
              <a:t>Click to edit Master title style</a:t>
            </a:r>
            <a:endParaRPr lang="en-US"/>
          </a:p>
        </p:txBody>
      </p:sp>
      <p:sp>
        <p:nvSpPr>
          <p:cNvPr id="3" name="Subtitle 2"/>
          <p:cNvSpPr>
            <a:spLocks noGrp="1"/>
          </p:cNvSpPr>
          <p:nvPr>
            <p:ph idx="1" type="subTitle"/>
          </p:nvPr>
        </p:nvSpPr>
        <p:spPr>
          <a:xfrm>
            <a:off x="1371600" y="3886200"/>
            <a:ext cx="6400800" cy="1752600"/>
          </a:xfrm>
        </p:spPr>
        <p:txBody>
          <a:bodyPr numCol="1"/>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idx="10" sz="half" type="dt"/>
          </p:nvPr>
        </p:nvSpPr>
        <p:spPr/>
        <p:txBody>
          <a:bodyPr numCol="1"/>
          <a:lstStyle/>
          <a:p>
            <a:fld id="{CF22B8F8-7F6C-4D83-B14A-9103B3576C43}" type="datetimeFigureOut">
              <a:rPr lang="en-US" smtClean="0"/>
              <a:pPr/>
              <a:t>4/22/2026</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7D58E585-FC3E-479E-AF92-DAF3C50EDBC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Content Placeholder 2"/>
          <p:cNvSpPr>
            <a:spLocks noGrp="1"/>
          </p:cNvSpPr>
          <p:nvPr>
            <p:ph idx="1"/>
          </p:nvPr>
        </p:nvSpPr>
        <p:spPr/>
        <p:txBody>
          <a:bodyPr num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10" sz="half" type="dt"/>
          </p:nvPr>
        </p:nvSpPr>
        <p:spPr/>
        <p:txBody>
          <a:bodyPr numCol="1"/>
          <a:lstStyle/>
          <a:p>
            <a:fld id="{CF22B8F8-7F6C-4D83-B14A-9103B3576C43}" type="datetimeFigureOut">
              <a:rPr lang="en-US" smtClean="0"/>
              <a:pPr/>
              <a:t>4/22/2026</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7D58E585-FC3E-479E-AF92-DAF3C50EDBC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numCol="1"/>
          <a:lstStyle>
            <a:lvl1pPr algn="l">
              <a:defRPr b="1" cap="all" sz="4000"/>
            </a:lvl1pPr>
          </a:lstStyle>
          <a:p>
            <a:r>
              <a:rPr lang="en-US" smtClean="0"/>
              <a:t>Click to edit Master title style</a:t>
            </a:r>
            <a:endParaRPr lang="en-US"/>
          </a:p>
        </p:txBody>
      </p:sp>
      <p:sp>
        <p:nvSpPr>
          <p:cNvPr id="3" name="Text Placeholder 2"/>
          <p:cNvSpPr>
            <a:spLocks noGrp="1"/>
          </p:cNvSpPr>
          <p:nvPr>
            <p:ph idx="1" type="body"/>
          </p:nvPr>
        </p:nvSpPr>
        <p:spPr>
          <a:xfrm>
            <a:off x="722313" y="2906713"/>
            <a:ext cx="7772400" cy="1500187"/>
          </a:xfrm>
        </p:spPr>
        <p:txBody>
          <a:bodyPr anchor="b" numCol="1"/>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idx="10" sz="half" type="dt"/>
          </p:nvPr>
        </p:nvSpPr>
        <p:spPr/>
        <p:txBody>
          <a:bodyPr numCol="1"/>
          <a:lstStyle/>
          <a:p>
            <a:fld id="{CF22B8F8-7F6C-4D83-B14A-9103B3576C43}" type="datetimeFigureOut">
              <a:rPr lang="en-US" smtClean="0"/>
              <a:pPr/>
              <a:t>4/22/2026</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7D58E585-FC3E-479E-AF92-DAF3C50EDBC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Content Placeholder 2"/>
          <p:cNvSpPr>
            <a:spLocks noGrp="1"/>
          </p:cNvSpPr>
          <p:nvPr>
            <p:ph idx="1" sz="half"/>
          </p:nvPr>
        </p:nvSpPr>
        <p:spPr>
          <a:xfrm>
            <a:off x="457200" y="1600200"/>
            <a:ext cx="4038600" cy="4525963"/>
          </a:xfrm>
        </p:spPr>
        <p:txBody>
          <a:bodyPr numCol="1"/>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idx="2" sz="half"/>
          </p:nvPr>
        </p:nvSpPr>
        <p:spPr>
          <a:xfrm>
            <a:off x="4648200" y="1600200"/>
            <a:ext cx="4038600" cy="4525963"/>
          </a:xfrm>
        </p:spPr>
        <p:txBody>
          <a:bodyPr numCol="1"/>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idx="10" sz="half" type="dt"/>
          </p:nvPr>
        </p:nvSpPr>
        <p:spPr/>
        <p:txBody>
          <a:bodyPr numCol="1"/>
          <a:lstStyle/>
          <a:p>
            <a:fld id="{CF22B8F8-7F6C-4D83-B14A-9103B3576C43}" type="datetimeFigureOut">
              <a:rPr lang="en-US" smtClean="0"/>
              <a:pPr/>
              <a:t>4/22/2026</a:t>
            </a:fld>
            <a:endParaRPr lang="en-US"/>
          </a:p>
        </p:txBody>
      </p:sp>
      <p:sp>
        <p:nvSpPr>
          <p:cNvPr id="6" name="Footer Placeholder 5"/>
          <p:cNvSpPr>
            <a:spLocks noGrp="1"/>
          </p:cNvSpPr>
          <p:nvPr>
            <p:ph idx="11" sz="quarter" type="ftr"/>
          </p:nvPr>
        </p:nvSpPr>
        <p:spPr/>
        <p:txBody>
          <a:bodyPr numCol="1"/>
          <a:lstStyle/>
          <a:p>
            <a:endParaRPr lang="en-US"/>
          </a:p>
        </p:txBody>
      </p:sp>
      <p:sp>
        <p:nvSpPr>
          <p:cNvPr id="7" name="Slide Number Placeholder 6"/>
          <p:cNvSpPr>
            <a:spLocks noGrp="1"/>
          </p:cNvSpPr>
          <p:nvPr>
            <p:ph idx="12" sz="quarter" type="sldNum"/>
          </p:nvPr>
        </p:nvSpPr>
        <p:spPr/>
        <p:txBody>
          <a:bodyPr numCol="1"/>
          <a:lstStyle/>
          <a:p>
            <a:fld id="{7D58E585-FC3E-479E-AF92-DAF3C50EDBC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lvl1pPr>
              <a:defRPr/>
            </a:lvl1pPr>
          </a:lstStyle>
          <a:p>
            <a:r>
              <a:rPr lang="en-US" smtClean="0"/>
              <a:t>Click to edit Master title style</a:t>
            </a:r>
            <a:endParaRPr lang="en-US"/>
          </a:p>
        </p:txBody>
      </p:sp>
      <p:sp>
        <p:nvSpPr>
          <p:cNvPr id="3" name="Text Placeholder 2"/>
          <p:cNvSpPr>
            <a:spLocks noGrp="1"/>
          </p:cNvSpPr>
          <p:nvPr>
            <p:ph idx="1" type="body"/>
          </p:nvPr>
        </p:nvSpPr>
        <p:spPr>
          <a:xfrm>
            <a:off x="457200" y="1535113"/>
            <a:ext cx="4040188" cy="639762"/>
          </a:xfrm>
        </p:spPr>
        <p:txBody>
          <a:bodyPr anchor="b" numCol="1"/>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4" name="Content Placeholder 3"/>
          <p:cNvSpPr>
            <a:spLocks noGrp="1"/>
          </p:cNvSpPr>
          <p:nvPr>
            <p:ph idx="2" sz="half"/>
          </p:nvPr>
        </p:nvSpPr>
        <p:spPr>
          <a:xfrm>
            <a:off x="457200" y="2174875"/>
            <a:ext cx="4040188" cy="3951288"/>
          </a:xfrm>
        </p:spPr>
        <p:txBody>
          <a:bodyPr numCol="1"/>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idx="3" sz="quarter" type="body"/>
          </p:nvPr>
        </p:nvSpPr>
        <p:spPr>
          <a:xfrm>
            <a:off x="4645025" y="1535113"/>
            <a:ext cx="4041775" cy="639762"/>
          </a:xfrm>
        </p:spPr>
        <p:txBody>
          <a:bodyPr anchor="b" numCol="1"/>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6" name="Content Placeholder 5"/>
          <p:cNvSpPr>
            <a:spLocks noGrp="1"/>
          </p:cNvSpPr>
          <p:nvPr>
            <p:ph idx="4" sz="quarter"/>
          </p:nvPr>
        </p:nvSpPr>
        <p:spPr>
          <a:xfrm>
            <a:off x="4645025" y="2174875"/>
            <a:ext cx="4041775" cy="3951288"/>
          </a:xfrm>
        </p:spPr>
        <p:txBody>
          <a:bodyPr numCol="1"/>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idx="10" sz="half" type="dt"/>
          </p:nvPr>
        </p:nvSpPr>
        <p:spPr/>
        <p:txBody>
          <a:bodyPr numCol="1"/>
          <a:lstStyle/>
          <a:p>
            <a:fld id="{CF22B8F8-7F6C-4D83-B14A-9103B3576C43}" type="datetimeFigureOut">
              <a:rPr lang="en-US" smtClean="0"/>
              <a:pPr/>
              <a:t>4/22/2026</a:t>
            </a:fld>
            <a:endParaRPr lang="en-US"/>
          </a:p>
        </p:txBody>
      </p:sp>
      <p:sp>
        <p:nvSpPr>
          <p:cNvPr id="8" name="Footer Placeholder 7"/>
          <p:cNvSpPr>
            <a:spLocks noGrp="1"/>
          </p:cNvSpPr>
          <p:nvPr>
            <p:ph idx="11" sz="quarter" type="ftr"/>
          </p:nvPr>
        </p:nvSpPr>
        <p:spPr/>
        <p:txBody>
          <a:bodyPr numCol="1"/>
          <a:lstStyle/>
          <a:p>
            <a:endParaRPr lang="en-US"/>
          </a:p>
        </p:txBody>
      </p:sp>
      <p:sp>
        <p:nvSpPr>
          <p:cNvPr id="9" name="Slide Number Placeholder 8"/>
          <p:cNvSpPr>
            <a:spLocks noGrp="1"/>
          </p:cNvSpPr>
          <p:nvPr>
            <p:ph idx="12" sz="quarter" type="sldNum"/>
          </p:nvPr>
        </p:nvSpPr>
        <p:spPr/>
        <p:txBody>
          <a:bodyPr numCol="1"/>
          <a:lstStyle/>
          <a:p>
            <a:fld id="{7D58E585-FC3E-479E-AF92-DAF3C50EDBC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Date Placeholder 2"/>
          <p:cNvSpPr>
            <a:spLocks noGrp="1"/>
          </p:cNvSpPr>
          <p:nvPr>
            <p:ph idx="10" sz="half" type="dt"/>
          </p:nvPr>
        </p:nvSpPr>
        <p:spPr/>
        <p:txBody>
          <a:bodyPr numCol="1"/>
          <a:lstStyle/>
          <a:p>
            <a:fld id="{CF22B8F8-7F6C-4D83-B14A-9103B3576C43}" type="datetimeFigureOut">
              <a:rPr lang="en-US" smtClean="0"/>
              <a:pPr/>
              <a:t>4/22/2026</a:t>
            </a:fld>
            <a:endParaRPr lang="en-US"/>
          </a:p>
        </p:txBody>
      </p:sp>
      <p:sp>
        <p:nvSpPr>
          <p:cNvPr id="4" name="Footer Placeholder 3"/>
          <p:cNvSpPr>
            <a:spLocks noGrp="1"/>
          </p:cNvSpPr>
          <p:nvPr>
            <p:ph idx="11" sz="quarter" type="ftr"/>
          </p:nvPr>
        </p:nvSpPr>
        <p:spPr/>
        <p:txBody>
          <a:bodyPr numCol="1"/>
          <a:lstStyle/>
          <a:p>
            <a:endParaRPr lang="en-US"/>
          </a:p>
        </p:txBody>
      </p:sp>
      <p:sp>
        <p:nvSpPr>
          <p:cNvPr id="5" name="Slide Number Placeholder 4"/>
          <p:cNvSpPr>
            <a:spLocks noGrp="1"/>
          </p:cNvSpPr>
          <p:nvPr>
            <p:ph idx="12" sz="quarter" type="sldNum"/>
          </p:nvPr>
        </p:nvSpPr>
        <p:spPr/>
        <p:txBody>
          <a:bodyPr numCol="1"/>
          <a:lstStyle/>
          <a:p>
            <a:fld id="{7D58E585-FC3E-479E-AF92-DAF3C50EDBC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 name=""/>
        <p:cNvGrpSpPr/>
        <p:nvPr/>
      </p:nvGrpSpPr>
      <p:grpSpPr>
        <a:xfrm>
          <a:off x="0" y="0"/>
          <a:ext cx="0" cy="0"/>
          <a:chOff x="0" y="0"/>
          <a:chExt cx="0" cy="0"/>
        </a:xfrm>
      </p:grpSpPr>
      <p:sp>
        <p:nvSpPr>
          <p:cNvPr id="2" name="Date Placeholder 1"/>
          <p:cNvSpPr>
            <a:spLocks noGrp="1"/>
          </p:cNvSpPr>
          <p:nvPr>
            <p:ph idx="10" sz="half" type="dt"/>
          </p:nvPr>
        </p:nvSpPr>
        <p:spPr/>
        <p:txBody>
          <a:bodyPr numCol="1"/>
          <a:lstStyle/>
          <a:p>
            <a:fld id="{CF22B8F8-7F6C-4D83-B14A-9103B3576C43}" type="datetimeFigureOut">
              <a:rPr lang="en-US" smtClean="0"/>
              <a:pPr/>
              <a:t>4/22/2026</a:t>
            </a:fld>
            <a:endParaRPr lang="en-US"/>
          </a:p>
        </p:txBody>
      </p:sp>
      <p:sp>
        <p:nvSpPr>
          <p:cNvPr id="3" name="Footer Placeholder 2"/>
          <p:cNvSpPr>
            <a:spLocks noGrp="1"/>
          </p:cNvSpPr>
          <p:nvPr>
            <p:ph idx="11" sz="quarter" type="ftr"/>
          </p:nvPr>
        </p:nvSpPr>
        <p:spPr/>
        <p:txBody>
          <a:bodyPr numCol="1"/>
          <a:lstStyle/>
          <a:p>
            <a:endParaRPr lang="en-US"/>
          </a:p>
        </p:txBody>
      </p:sp>
      <p:sp>
        <p:nvSpPr>
          <p:cNvPr id="4" name="Slide Number Placeholder 3"/>
          <p:cNvSpPr>
            <a:spLocks noGrp="1"/>
          </p:cNvSpPr>
          <p:nvPr>
            <p:ph idx="12" sz="quarter" type="sldNum"/>
          </p:nvPr>
        </p:nvSpPr>
        <p:spPr/>
        <p:txBody>
          <a:bodyPr numCol="1"/>
          <a:lstStyle/>
          <a:p>
            <a:fld id="{7D58E585-FC3E-479E-AF92-DAF3C50EDBC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numCol="1"/>
          <a:lstStyle>
            <a:lvl1pPr algn="l">
              <a:defRPr b="1" sz="2000"/>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numCol="1"/>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idx="2" sz="half" type="body"/>
          </p:nvPr>
        </p:nvSpPr>
        <p:spPr>
          <a:xfrm>
            <a:off x="457200" y="1435100"/>
            <a:ext cx="3008313" cy="4691063"/>
          </a:xfrm>
        </p:spPr>
        <p:txBody>
          <a:bodyPr numCol="1"/>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5" name="Date Placeholder 4"/>
          <p:cNvSpPr>
            <a:spLocks noGrp="1"/>
          </p:cNvSpPr>
          <p:nvPr>
            <p:ph idx="10" sz="half" type="dt"/>
          </p:nvPr>
        </p:nvSpPr>
        <p:spPr/>
        <p:txBody>
          <a:bodyPr numCol="1"/>
          <a:lstStyle/>
          <a:p>
            <a:fld id="{CF22B8F8-7F6C-4D83-B14A-9103B3576C43}" type="datetimeFigureOut">
              <a:rPr lang="en-US" smtClean="0"/>
              <a:pPr/>
              <a:t>4/22/2026</a:t>
            </a:fld>
            <a:endParaRPr lang="en-US"/>
          </a:p>
        </p:txBody>
      </p:sp>
      <p:sp>
        <p:nvSpPr>
          <p:cNvPr id="6" name="Footer Placeholder 5"/>
          <p:cNvSpPr>
            <a:spLocks noGrp="1"/>
          </p:cNvSpPr>
          <p:nvPr>
            <p:ph idx="11" sz="quarter" type="ftr"/>
          </p:nvPr>
        </p:nvSpPr>
        <p:spPr/>
        <p:txBody>
          <a:bodyPr numCol="1"/>
          <a:lstStyle/>
          <a:p>
            <a:endParaRPr lang="en-US"/>
          </a:p>
        </p:txBody>
      </p:sp>
      <p:sp>
        <p:nvSpPr>
          <p:cNvPr id="7" name="Slide Number Placeholder 6"/>
          <p:cNvSpPr>
            <a:spLocks noGrp="1"/>
          </p:cNvSpPr>
          <p:nvPr>
            <p:ph idx="12" sz="quarter" type="sldNum"/>
          </p:nvPr>
        </p:nvSpPr>
        <p:spPr/>
        <p:txBody>
          <a:bodyPr numCol="1"/>
          <a:lstStyle/>
          <a:p>
            <a:fld id="{7D58E585-FC3E-479E-AF92-DAF3C50EDBC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numCol="1"/>
          <a:lstStyle>
            <a:lvl1pPr algn="l">
              <a:defRPr b="1" sz="2000"/>
            </a:lvl1pPr>
          </a:lstStyle>
          <a:p>
            <a:r>
              <a:rPr lang="en-US" smtClean="0"/>
              <a:t>Click to edit Master title style</a:t>
            </a:r>
            <a:endParaRPr lang="en-US"/>
          </a:p>
        </p:txBody>
      </p:sp>
      <p:sp>
        <p:nvSpPr>
          <p:cNvPr id="3" name="Picture Placeholder 2"/>
          <p:cNvSpPr>
            <a:spLocks noGrp="1"/>
          </p:cNvSpPr>
          <p:nvPr>
            <p:ph idx="1" type="pic"/>
          </p:nvPr>
        </p:nvSpPr>
        <p:spPr>
          <a:xfrm>
            <a:off x="1792288" y="612775"/>
            <a:ext cx="5486400" cy="4114800"/>
          </a:xfrm>
        </p:spPr>
        <p:txBody>
          <a:bodyPr numCol="1"/>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4" name="Text Placeholder 3"/>
          <p:cNvSpPr>
            <a:spLocks noGrp="1"/>
          </p:cNvSpPr>
          <p:nvPr>
            <p:ph idx="2" sz="half" type="body"/>
          </p:nvPr>
        </p:nvSpPr>
        <p:spPr>
          <a:xfrm>
            <a:off x="1792288" y="5367338"/>
            <a:ext cx="5486400" cy="804862"/>
          </a:xfrm>
        </p:spPr>
        <p:txBody>
          <a:bodyPr numCol="1"/>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5" name="Date Placeholder 4"/>
          <p:cNvSpPr>
            <a:spLocks noGrp="1"/>
          </p:cNvSpPr>
          <p:nvPr>
            <p:ph idx="10" sz="half" type="dt"/>
          </p:nvPr>
        </p:nvSpPr>
        <p:spPr/>
        <p:txBody>
          <a:bodyPr numCol="1"/>
          <a:lstStyle/>
          <a:p>
            <a:fld id="{CF22B8F8-7F6C-4D83-B14A-9103B3576C43}" type="datetimeFigureOut">
              <a:rPr lang="en-US" smtClean="0"/>
              <a:pPr/>
              <a:t>4/22/2026</a:t>
            </a:fld>
            <a:endParaRPr lang="en-US"/>
          </a:p>
        </p:txBody>
      </p:sp>
      <p:sp>
        <p:nvSpPr>
          <p:cNvPr id="6" name="Footer Placeholder 5"/>
          <p:cNvSpPr>
            <a:spLocks noGrp="1"/>
          </p:cNvSpPr>
          <p:nvPr>
            <p:ph idx="11" sz="quarter" type="ftr"/>
          </p:nvPr>
        </p:nvSpPr>
        <p:spPr/>
        <p:txBody>
          <a:bodyPr numCol="1"/>
          <a:lstStyle/>
          <a:p>
            <a:endParaRPr lang="en-US"/>
          </a:p>
        </p:txBody>
      </p:sp>
      <p:sp>
        <p:nvSpPr>
          <p:cNvPr id="7" name="Slide Number Placeholder 6"/>
          <p:cNvSpPr>
            <a:spLocks noGrp="1"/>
          </p:cNvSpPr>
          <p:nvPr>
            <p:ph idx="12" sz="quarter" type="sldNum"/>
          </p:nvPr>
        </p:nvSpPr>
        <p:spPr/>
        <p:txBody>
          <a:bodyPr numCol="1"/>
          <a:lstStyle/>
          <a:p>
            <a:fld id="{7D58E585-FC3E-479E-AF92-DAF3C50EDBC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numCol="1"/>
          <a:lstStyle/>
          <a:p>
            <a:r>
              <a:rPr lang="en-US" smtClean="0"/>
              <a:t>Click to edit Master title style</a:t>
            </a:r>
            <a:endParaRPr lang="en-US"/>
          </a:p>
        </p:txBody>
      </p:sp>
      <p:sp>
        <p:nvSpPr>
          <p:cNvPr id="3" name="Vertical Text Placeholder 2"/>
          <p:cNvSpPr>
            <a:spLocks noGrp="1"/>
          </p:cNvSpPr>
          <p:nvPr>
            <p:ph idx="1" orient="vert" type="body"/>
          </p:nvPr>
        </p:nvSpPr>
        <p:spPr/>
        <p:txBody>
          <a:bodyPr numCol="1"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10" sz="half" type="dt"/>
          </p:nvPr>
        </p:nvSpPr>
        <p:spPr/>
        <p:txBody>
          <a:bodyPr numCol="1"/>
          <a:lstStyle/>
          <a:p>
            <a:fld id="{CF22B8F8-7F6C-4D83-B14A-9103B3576C43}" type="datetimeFigureOut">
              <a:rPr lang="en-US" smtClean="0"/>
              <a:pPr/>
              <a:t>4/22/2026</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7D58E585-FC3E-479E-AF92-DAF3C50EDBC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orient="vert" type="title"/>
          </p:nvPr>
        </p:nvSpPr>
        <p:spPr>
          <a:xfrm>
            <a:off x="6629400" y="274638"/>
            <a:ext cx="2057400" cy="5851525"/>
          </a:xfrm>
        </p:spPr>
        <p:txBody>
          <a:bodyPr numCol="1" vert="eaVert"/>
          <a:lstStyle/>
          <a:p>
            <a:r>
              <a:rPr lang="en-US" smtClean="0"/>
              <a:t>Click to edit Master title style</a:t>
            </a:r>
            <a:endParaRPr lang="en-US"/>
          </a:p>
        </p:txBody>
      </p:sp>
      <p:sp>
        <p:nvSpPr>
          <p:cNvPr id="3" name="Vertical Text Placeholder 2"/>
          <p:cNvSpPr>
            <a:spLocks noGrp="1"/>
          </p:cNvSpPr>
          <p:nvPr>
            <p:ph idx="1" orient="vert" type="body"/>
          </p:nvPr>
        </p:nvSpPr>
        <p:spPr>
          <a:xfrm>
            <a:off x="457200" y="274638"/>
            <a:ext cx="6019800" cy="5851525"/>
          </a:xfrm>
        </p:spPr>
        <p:txBody>
          <a:bodyPr numCol="1"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10" sz="half" type="dt"/>
          </p:nvPr>
        </p:nvSpPr>
        <p:spPr/>
        <p:txBody>
          <a:bodyPr numCol="1"/>
          <a:lstStyle/>
          <a:p>
            <a:fld id="{CF22B8F8-7F6C-4D83-B14A-9103B3576C43}" type="datetimeFigureOut">
              <a:rPr lang="en-US" smtClean="0"/>
              <a:pPr/>
              <a:t>4/22/2026</a:t>
            </a:fld>
            <a:endParaRPr lang="en-US"/>
          </a:p>
        </p:txBody>
      </p:sp>
      <p:sp>
        <p:nvSpPr>
          <p:cNvPr id="5" name="Footer Placeholder 4"/>
          <p:cNvSpPr>
            <a:spLocks noGrp="1"/>
          </p:cNvSpPr>
          <p:nvPr>
            <p:ph idx="11" sz="quarter" type="ftr"/>
          </p:nvPr>
        </p:nvSpPr>
        <p:spPr/>
        <p:txBody>
          <a:bodyPr numCol="1"/>
          <a:lstStyle/>
          <a:p>
            <a:endParaRPr lang="en-US"/>
          </a:p>
        </p:txBody>
      </p:sp>
      <p:sp>
        <p:nvSpPr>
          <p:cNvPr id="6" name="Slide Number Placeholder 5"/>
          <p:cNvSpPr>
            <a:spLocks noGrp="1"/>
          </p:cNvSpPr>
          <p:nvPr>
            <p:ph idx="12" sz="quarter" type="sldNum"/>
          </p:nvPr>
        </p:nvSpPr>
        <p:spPr/>
        <p:txBody>
          <a:bodyPr numCol="1"/>
          <a:lstStyle/>
          <a:p>
            <a:fld id="{7D58E585-FC3E-479E-AF92-DAF3C50EDBC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2" Target="../slideLayouts/slideLayout11.xml" Type="http://schemas.openxmlformats.org/officeDocument/2006/relationships/slideLayout"/><Relationship Id="rId11" Target="../slideLayouts/slideLayout10.xml" Type="http://schemas.openxmlformats.org/officeDocument/2006/relationships/slideLayout"/><Relationship Id="rId9" Target="../slideLayouts/slideLayout8.xml" Type="http://schemas.openxmlformats.org/officeDocument/2006/relationships/slideLayout"/><Relationship Id="rId10" Target="../slideLayouts/slideLayout9.xml" Type="http://schemas.openxmlformats.org/officeDocument/2006/relationships/slideLayout"/><Relationship Id="rId8" Target="../slideLayouts/slideLayout7.xml" Type="http://schemas.openxmlformats.org/officeDocument/2006/relationships/slideLayout"/><Relationship Id="rId7" Target="../slideLayouts/slideLayout6.xml" Type="http://schemas.openxmlformats.org/officeDocument/2006/relationships/slideLayout"/><Relationship Id="rId6" Target="../slideLayouts/slideLayout5.xml" Type="http://schemas.openxmlformats.org/officeDocument/2006/relationships/slideLayout"/><Relationship Id="rId5" Target="../slideLayouts/slideLayout4.xml" Type="http://schemas.openxmlformats.org/officeDocument/2006/relationships/slideLayout"/><Relationship Id="rId4" Target="../slideLayouts/slideLayout3.xml" Type="http://schemas.openxmlformats.org/officeDocument/2006/relationships/slideLayout"/><Relationship Id="rId3" Target="../slideLayouts/slideLayout2.xml" Type="http://schemas.openxmlformats.org/officeDocument/2006/relationships/slideLayout"/><Relationship Id="rId2" Target="../slideLayouts/slideLayout1.xml" Type="http://schemas.openxmlformats.org/officeDocument/2006/relationships/slideLayout"/><Relationship Id="rId1"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anchor="ctr" bIns="45720" lIns="91440" numCol="1" rIns="91440" rtlCol="0" tIns="45720" vert="horz">
            <a:normAutofit/>
          </a:bodyPr>
          <a:lstStyle/>
          <a:p>
            <a:r>
              <a:rPr lang="en-US" smtClean="0"/>
              <a:t>Click to edit Master title style</a:t>
            </a:r>
            <a:endParaRPr lang="en-US"/>
          </a:p>
        </p:txBody>
      </p:sp>
      <p:sp>
        <p:nvSpPr>
          <p:cNvPr id="3" name="Text Placeholder 2"/>
          <p:cNvSpPr>
            <a:spLocks noGrp="1"/>
          </p:cNvSpPr>
          <p:nvPr>
            <p:ph idx="1" type="body"/>
          </p:nvPr>
        </p:nvSpPr>
        <p:spPr>
          <a:xfrm>
            <a:off x="457200" y="1600200"/>
            <a:ext cx="8229600" cy="4525963"/>
          </a:xfrm>
          <a:prstGeom prst="rect">
            <a:avLst/>
          </a:prstGeom>
        </p:spPr>
        <p:txBody>
          <a:bodyPr bIns="45720" lIns="91440" numCol="1" rIns="91440" rtlCol="0" tIns="45720" vert="horz">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idx="2" sz="half" type="dt"/>
          </p:nvPr>
        </p:nvSpPr>
        <p:spPr>
          <a:xfrm>
            <a:off x="457200" y="6356350"/>
            <a:ext cx="2133600" cy="365125"/>
          </a:xfrm>
          <a:prstGeom prst="rect">
            <a:avLst/>
          </a:prstGeom>
        </p:spPr>
        <p:txBody>
          <a:bodyPr anchor="ctr" bIns="45720" lIns="91440" numCol="1" rIns="91440" rtlCol="0" tIns="45720" vert="horz"/>
          <a:lstStyle>
            <a:lvl1pPr algn="l">
              <a:defRPr sz="1200">
                <a:solidFill>
                  <a:schemeClr val="tx1">
                    <a:tint val="75000"/>
                  </a:schemeClr>
                </a:solidFill>
              </a:defRPr>
            </a:lvl1pPr>
          </a:lstStyle>
          <a:p>
            <a:fld id="{CF22B8F8-7F6C-4D83-B14A-9103B3576C43}" type="datetimeFigureOut">
              <a:rPr lang="en-US" smtClean="0"/>
              <a:pPr/>
              <a:t>4/22/2026</a:t>
            </a:fld>
            <a:endParaRPr lang="en-US"/>
          </a:p>
        </p:txBody>
      </p:sp>
      <p:sp>
        <p:nvSpPr>
          <p:cNvPr id="5" name="Footer Placeholder 4"/>
          <p:cNvSpPr>
            <a:spLocks noGrp="1"/>
          </p:cNvSpPr>
          <p:nvPr>
            <p:ph idx="3" sz="quarter" type="ftr"/>
          </p:nvPr>
        </p:nvSpPr>
        <p:spPr>
          <a:xfrm>
            <a:off x="3124200" y="6356350"/>
            <a:ext cx="2895600" cy="365125"/>
          </a:xfrm>
          <a:prstGeom prst="rect">
            <a:avLst/>
          </a:prstGeom>
        </p:spPr>
        <p:txBody>
          <a:bodyPr anchor="ctr" bIns="45720" lIns="91440" numCol="1" rIns="91440" rtlCol="0" tIns="45720" vert="horz"/>
          <a:lstStyle>
            <a:lvl1pPr algn="ctr">
              <a:defRPr sz="12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6356350"/>
            <a:ext cx="2133600" cy="365125"/>
          </a:xfrm>
          <a:prstGeom prst="rect">
            <a:avLst/>
          </a:prstGeom>
        </p:spPr>
        <p:txBody>
          <a:bodyPr anchor="ctr" bIns="45720" lIns="91440" numCol="1" rIns="91440" rtlCol="0" tIns="45720" vert="horz"/>
          <a:lstStyle>
            <a:lvl1pPr algn="r">
              <a:defRPr sz="1200">
                <a:solidFill>
                  <a:schemeClr val="tx1">
                    <a:tint val="75000"/>
                  </a:schemeClr>
                </a:solidFill>
              </a:defRPr>
            </a:lvl1pPr>
          </a:lstStyle>
          <a:p>
            <a:fld id="{7D58E585-FC3E-479E-AF92-DAF3C50EDBC8}" type="slidenum">
              <a:rPr lang="en-US" smtClean="0"/>
              <a:pPr/>
              <a:t>‹#›</a:t>
            </a:fld>
            <a:endParaRPr lang="en-US"/>
          </a:p>
        </p:txBody>
      </p:sp>
    </p:spTree>
  </p:cSld>
  <p:clrMap accent1="accent1" accent2="accent2" accent3="accent3" accent4="accent4" accent5="accent5" accent6="accent6" bg1="lt1" bg2="lt2" folHlink="folHlink" hlink="hlink" tx1="dk1" tx2="dk2"/>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txStyles>
    <p:titleStyle>
      <a:lvl1pPr algn="ctr" defTabSz="914400" eaLnBrk="1" hangingPunct="1" latinLnBrk="0" rtl="0">
        <a:spcBef>
          <a:spcPct val="0"/>
        </a:spcBef>
        <a:buNone/>
        <a:defRPr kern="1200" sz="4400">
          <a:solidFill>
            <a:schemeClr val="tx1"/>
          </a:solidFill>
          <a:latin typeface="+mj-lt"/>
          <a:ea typeface="+mj-ea"/>
          <a:cs typeface="+mj-cs"/>
        </a:defRPr>
      </a:lvl1pPr>
    </p:titleStyle>
    <p:bodyStyle>
      <a:lvl1pPr algn="l" defTabSz="914400" eaLnBrk="1" hangingPunct="1" indent="-342900" latinLnBrk="0" marL="342900" rtl="0">
        <a:spcBef>
          <a:spcPct val="20000"/>
        </a:spcBef>
        <a:buFont charset="0" pitchFamily="34" typeface="Arial"/>
        <a:buChar char="•"/>
        <a:defRPr kern="1200" sz="3200">
          <a:solidFill>
            <a:schemeClr val="tx1"/>
          </a:solidFill>
          <a:latin typeface="+mn-lt"/>
          <a:ea typeface="+mn-ea"/>
          <a:cs typeface="+mn-cs"/>
        </a:defRPr>
      </a:lvl1pPr>
      <a:lvl2pPr algn="l" defTabSz="914400" eaLnBrk="1" hangingPunct="1" indent="-285750" latinLnBrk="0" marL="742950" rtl="0">
        <a:spcBef>
          <a:spcPct val="20000"/>
        </a:spcBef>
        <a:buFont charset="0" pitchFamily="34" typeface="Arial"/>
        <a:buChar char="–"/>
        <a:defRPr kern="1200" sz="2800">
          <a:solidFill>
            <a:schemeClr val="tx1"/>
          </a:solidFill>
          <a:latin typeface="+mn-lt"/>
          <a:ea typeface="+mn-ea"/>
          <a:cs typeface="+mn-cs"/>
        </a:defRPr>
      </a:lvl2pPr>
      <a:lvl3pPr algn="l" defTabSz="914400" eaLnBrk="1" hangingPunct="1" indent="-228600" latinLnBrk="0" marL="1143000" rtl="0">
        <a:spcBef>
          <a:spcPct val="20000"/>
        </a:spcBef>
        <a:buFont charset="0" pitchFamily="34" typeface="Arial"/>
        <a:buChar char="•"/>
        <a:defRPr kern="1200" sz="2400">
          <a:solidFill>
            <a:schemeClr val="tx1"/>
          </a:solidFill>
          <a:latin typeface="+mn-lt"/>
          <a:ea typeface="+mn-ea"/>
          <a:cs typeface="+mn-cs"/>
        </a:defRPr>
      </a:lvl3pPr>
      <a:lvl4pPr algn="l" defTabSz="914400" eaLnBrk="1" hangingPunct="1" indent="-228600" latinLnBrk="0" marL="1600200" rtl="0">
        <a:spcBef>
          <a:spcPct val="20000"/>
        </a:spcBef>
        <a:buFont charset="0" pitchFamily="34" typeface="Arial"/>
        <a:buChar char="–"/>
        <a:defRPr kern="1200" sz="2000">
          <a:solidFill>
            <a:schemeClr val="tx1"/>
          </a:solidFill>
          <a:latin typeface="+mn-lt"/>
          <a:ea typeface="+mn-ea"/>
          <a:cs typeface="+mn-cs"/>
        </a:defRPr>
      </a:lvl4pPr>
      <a:lvl5pPr algn="l" defTabSz="914400" eaLnBrk="1" hangingPunct="1" indent="-228600" latinLnBrk="0" marL="2057400" rtl="0">
        <a:spcBef>
          <a:spcPct val="20000"/>
        </a:spcBef>
        <a:buFont charset="0" pitchFamily="34" typeface="Arial"/>
        <a:buChar char="»"/>
        <a:defRPr kern="1200" sz="2000">
          <a:solidFill>
            <a:schemeClr val="tx1"/>
          </a:solidFill>
          <a:latin typeface="+mn-lt"/>
          <a:ea typeface="+mn-ea"/>
          <a:cs typeface="+mn-cs"/>
        </a:defRPr>
      </a:lvl5pPr>
      <a:lvl6pPr algn="l" defTabSz="914400" eaLnBrk="1" hangingPunct="1" indent="-228600" latinLnBrk="0" marL="2514600" rtl="0">
        <a:spcBef>
          <a:spcPct val="20000"/>
        </a:spcBef>
        <a:buFont charset="0" pitchFamily="34" typeface="Arial"/>
        <a:buChar char="•"/>
        <a:defRPr kern="1200" sz="2000">
          <a:solidFill>
            <a:schemeClr val="tx1"/>
          </a:solidFill>
          <a:latin typeface="+mn-lt"/>
          <a:ea typeface="+mn-ea"/>
          <a:cs typeface="+mn-cs"/>
        </a:defRPr>
      </a:lvl6pPr>
      <a:lvl7pPr algn="l" defTabSz="914400" eaLnBrk="1" hangingPunct="1" indent="-228600" latinLnBrk="0" marL="2971800" rtl="0">
        <a:spcBef>
          <a:spcPct val="20000"/>
        </a:spcBef>
        <a:buFont charset="0" pitchFamily="34" typeface="Arial"/>
        <a:buChar char="•"/>
        <a:defRPr kern="1200" sz="2000">
          <a:solidFill>
            <a:schemeClr val="tx1"/>
          </a:solidFill>
          <a:latin typeface="+mn-lt"/>
          <a:ea typeface="+mn-ea"/>
          <a:cs typeface="+mn-cs"/>
        </a:defRPr>
      </a:lvl7pPr>
      <a:lvl8pPr algn="l" defTabSz="914400" eaLnBrk="1" hangingPunct="1" indent="-228600" latinLnBrk="0" marL="3429000" rtl="0">
        <a:spcBef>
          <a:spcPct val="20000"/>
        </a:spcBef>
        <a:buFont charset="0" pitchFamily="34" typeface="Arial"/>
        <a:buChar char="•"/>
        <a:defRPr kern="1200" sz="2000">
          <a:solidFill>
            <a:schemeClr val="tx1"/>
          </a:solidFill>
          <a:latin typeface="+mn-lt"/>
          <a:ea typeface="+mn-ea"/>
          <a:cs typeface="+mn-cs"/>
        </a:defRPr>
      </a:lvl8pPr>
      <a:lvl9pPr algn="l" defTabSz="914400" eaLnBrk="1" hangingPunct="1" indent="-228600" latinLnBrk="0" marL="3886200" rtl="0">
        <a:spcBef>
          <a:spcPct val="20000"/>
        </a:spcBef>
        <a:buFont charset="0" pitchFamily="34" typeface="Arial"/>
        <a:buChar char="•"/>
        <a:defRPr kern="1200" sz="20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<Relationships xmlns="http://schemas.openxmlformats.org/package/2006/relationships"><Relationship Id="rId2" Target="../media/image1.png" Type="http://schemas.openxmlformats.org/officeDocument/2006/relationships/image"/><Relationship Id="rId1" Target="../slideLayouts/slideLayout2.xml" Type="http://schemas.openxmlformats.org/officeDocument/2006/relationships/slideLayout"/></Relationships>
</file>

<file path=ppt/slides/_rels/slide3.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<Relationships xmlns="http://schemas.openxmlformats.org/package/2006/relationships"><Relationship Id="rId4" Target="../media/image4.png" Type="http://schemas.openxmlformats.org/officeDocument/2006/relationships/image"/><Relationship Id="rId3" Target="../media/image3.png" Type="http://schemas.openxmlformats.org/officeDocument/2006/relationships/image"/><Relationship Id="rId2" Target="../media/image2.png" Type="http://schemas.openxmlformats.org/officeDocument/2006/relationships/image"/><Relationship Id="rId1" Target="../slideLayouts/slideLayout2.xml" Type="http://schemas.openxmlformats.org/officeDocument/2006/relationships/slideLayout"/></Relationships>
</file>

<file path=ppt/slides/_rels/slide8.xml.rels><?xml version="1.0" encoding="UTF-8" standalone="yes"?><Relationships xmlns="http://schemas.openxmlformats.org/package/2006/relationships"><Relationship Id="rId3" Target="../media/image6.png" Type="http://schemas.openxmlformats.org/officeDocument/2006/relationships/image"/><Relationship Id="rId2" Target="../media/image5.png" Type="http://schemas.openxmlformats.org/officeDocument/2006/relationships/image"/><Relationship Id="rId1" Target="../slideLayouts/slideLayout7.xml" Type="http://schemas.openxmlformats.org/officeDocument/2006/relationships/slideLayout"/></Relationships>
</file>

<file path=ppt/slides/_rels/slide9.xml.rels><?xml version="1.0" encoding="UTF-8" standalone="yes"?><Relationships xmlns="http://schemas.openxmlformats.org/package/2006/relationships"><Relationship Id="rId2" Target="../media/image7.png" Type="http://schemas.openxmlformats.org/officeDocument/2006/relationships/image"/><Relationship Id="rId1" Target="../slideLayouts/slideLayout2.xml" Type="http://schemas.openxmlformats.org/officeDocument/2006/relationships/slideLayout"/></Relationships>
</file>

<file path=ppt/slides/_rels/slide10.xml.rels><?xml version="1.0" encoding="UTF-8" standalone="yes"?><Relationships xmlns="http://schemas.openxmlformats.org/package/2006/relationships"><Relationship Id="rId4" Target="../media/image10.png" Type="http://schemas.openxmlformats.org/officeDocument/2006/relationships/image"/><Relationship Id="rId3" Target="../media/image9.png" Type="http://schemas.openxmlformats.org/officeDocument/2006/relationships/image"/><Relationship Id="rId2" Target="../media/image8.png" Type="http://schemas.openxmlformats.org/officeDocument/2006/relationships/image"/><Relationship Id="rId1" Target="../slideLayouts/slideLayout2.xml" Type="http://schemas.openxmlformats.org/officeDocument/2006/relationships/slideLayout"/></Relationships>
</file>

<file path=ppt/slides/_rels/slide11.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12.xml.rels><?xml version="1.0" encoding="UTF-8" standalone="yes"?><Relationships xmlns="http://schemas.openxmlformats.org/package/2006/relationships"><Relationship Id="rId3" Target="../media/image12.png" Type="http://schemas.openxmlformats.org/officeDocument/2006/relationships/image"/><Relationship Id="rId2" Target="../media/image11.png" Type="http://schemas.openxmlformats.org/officeDocument/2006/relationships/image"/><Relationship Id="rId1" Target="../slideLayouts/slideLayout7.xml" Type="http://schemas.openxmlformats.org/officeDocument/2006/relationships/slideLayout"/></Relationships>
</file>

<file path=ppt/slides/_rels/slide13.xml.rels><?xml version="1.0" encoding="UTF-8" standalone="yes"?><Relationships xmlns="http://schemas.openxmlformats.org/package/2006/relationships"><Relationship Id="rId2" Target="../media/image13.png" Type="http://schemas.openxmlformats.org/officeDocument/2006/relationships/image"/><Relationship Id="rId1" Target="../slideLayouts/slideLayout7.xml" Type="http://schemas.openxmlformats.org/officeDocument/2006/relationships/slideLayout"/></Relationships>
</file>

<file path=ppt/slides/_rels/slide14.xml.rels><?xml version="1.0" encoding="UTF-8" standalone="yes"?><Relationships xmlns="http://schemas.openxmlformats.org/package/2006/relationships"><Relationship Id="rId2" Target="../media/image14.png" Type="http://schemas.openxmlformats.org/officeDocument/2006/relationships/image"/><Relationship Id="rId1" Target="../slideLayouts/slideLayout2.xml" Type="http://schemas.openxmlformats.org/officeDocument/2006/relationships/slideLayout"/></Relationships>
</file>

<file path=ppt/slides/_rels/slide15.xml.rels><?xml version="1.0" encoding="UTF-8" standalone="yes"?><Relationships xmlns="http://schemas.openxmlformats.org/package/2006/relationships"><Relationship Id="rId2" Target="../media/image15.png" Type="http://schemas.openxmlformats.org/officeDocument/2006/relationships/image"/><Relationship Id="rId1" Target="../slideLayouts/slideLayout2.xml" Type="http://schemas.openxmlformats.org/officeDocument/2006/relationships/slideLayout"/></Relationships>
</file>

<file path=ppt/slides/_rels/slide16.xml.rels><?xml version="1.0" encoding="UTF-8" standalone="yes"?><Relationships xmlns="http://schemas.openxmlformats.org/package/2006/relationships"><Relationship Id="rId2" Target="../media/image16.png" Type="http://schemas.openxmlformats.org/officeDocument/2006/relationships/image"/><Relationship Id="rId1" Target="../slideLayouts/slideLayout2.xml" Type="http://schemas.openxmlformats.org/officeDocument/2006/relationships/slideLayout"/></Relationships>
</file>

<file path=ppt/slides/_rels/slide17.xml.rels><?xml version="1.0" encoding="UTF-8" standalone="yes"?><Relationships xmlns="http://schemas.openxmlformats.org/package/2006/relationships"><Relationship Id="rId3" Target="../media/image18.png" Type="http://schemas.openxmlformats.org/officeDocument/2006/relationships/image"/><Relationship Id="rId2" Target="../media/image17.png" Type="http://schemas.openxmlformats.org/officeDocument/2006/relationships/image"/><Relationship Id="rId1" Target="../slideLayouts/slideLayout7.xml" Type="http://schemas.openxmlformats.org/officeDocument/2006/relationships/slideLayout"/></Relationships>
</file>

<file path=ppt/slides/_rels/slide18.xml.rels><?xml version="1.0" encoding="UTF-8" standalone="yes"?><Relationships xmlns="http://schemas.openxmlformats.org/package/2006/relationships"><Relationship Id="rId2" Target="../media/image19.png" Type="http://schemas.openxmlformats.org/officeDocument/2006/relationships/image"/><Relationship Id="rId1" Target="../slideLayouts/slideLayout2.xml" Type="http://schemas.openxmlformats.org/officeDocument/2006/relationships/slideLayout"/></Relationships>
</file>

<file path=ppt/slides/_rels/slide19.xml.rels><?xml version="1.0" encoding="UTF-8" standalone="yes"?><Relationships xmlns="http://schemas.openxmlformats.org/package/2006/relationships"><Relationship Id="rId3" Target="../media/image21.png" Type="http://schemas.openxmlformats.org/officeDocument/2006/relationships/image"/><Relationship Id="rId2" Target="../media/image20.png" Type="http://schemas.openxmlformats.org/officeDocument/2006/relationships/image"/><Relationship Id="rId1" Target="../slideLayouts/slideLayout7.xml" Type="http://schemas.openxmlformats.org/officeDocument/2006/relationships/slideLayout"/></Relationships>
</file>

<file path=ppt/slides/_rels/slide20.xml.rels><?xml version="1.0" encoding="UTF-8" standalone="yes"?><Relationships xmlns="http://schemas.openxmlformats.org/package/2006/relationships"><Relationship Id="rId2" Target="../media/image19.png" Type="http://schemas.openxmlformats.org/officeDocument/2006/relationships/image"/><Relationship Id="rId1" Target="../slideLayouts/slideLayout2.xml" Type="http://schemas.openxmlformats.org/officeDocument/2006/relationships/slideLayout"/></Relationships>
</file>

<file path=ppt/slides/_rels/slide21.xml.rels><?xml version="1.0" encoding="UTF-8" standalone="yes"?><Relationships xmlns="http://schemas.openxmlformats.org/package/2006/relationships"><Relationship Id="rId3" Target="../media/image23.png" Type="http://schemas.openxmlformats.org/officeDocument/2006/relationships/image"/><Relationship Id="rId2" Target="../media/image22.png" Type="http://schemas.openxmlformats.org/officeDocument/2006/relationships/image"/><Relationship Id="rId1" Target="../slideLayouts/slideLayout7.xml" Type="http://schemas.openxmlformats.org/officeDocument/2006/relationships/slideLayout"/></Relationships>
</file>

<file path=ppt/slides/_rels/slide22.xml.rels><?xml version="1.0" encoding="UTF-8" standalone="yes"?><Relationships xmlns="http://schemas.openxmlformats.org/package/2006/relationships"><Relationship Id="rId2" Target="../media/image19.png" Type="http://schemas.openxmlformats.org/officeDocument/2006/relationships/image"/><Relationship Id="rId1" Target="../slideLayouts/slideLayout2.xml" Type="http://schemas.openxmlformats.org/officeDocument/2006/relationships/slideLayout"/></Relationships>
</file>

<file path=ppt/slides/_rels/slide23.xml.rels><?xml version="1.0" encoding="UTF-8" standalone="yes"?><Relationships xmlns="http://schemas.openxmlformats.org/package/2006/relationships"><Relationship Id="rId3" Target="../media/image25.png" Type="http://schemas.openxmlformats.org/officeDocument/2006/relationships/image"/><Relationship Id="rId2" Target="../media/image24.png" Type="http://schemas.openxmlformats.org/officeDocument/2006/relationships/image"/><Relationship Id="rId1" Target="../slideLayouts/slideLayout7.xml" Type="http://schemas.openxmlformats.org/officeDocument/2006/relationships/slideLayout"/></Relationships>
</file>

<file path=ppt/slides/_rels/slide24.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25.xml.rels><?xml version="1.0" encoding="UTF-8" standalone="yes"?><Relationships xmlns="http://schemas.openxmlformats.org/package/2006/relationships"><Relationship Id="rId3" Target="../media/image27.png" Type="http://schemas.openxmlformats.org/officeDocument/2006/relationships/image"/><Relationship Id="rId2" Target="../media/image26.png" Type="http://schemas.openxmlformats.org/officeDocument/2006/relationships/image"/><Relationship Id="rId1" Target="../slideLayouts/slideLayout7.xml" Type="http://schemas.openxmlformats.org/officeDocument/2006/relationships/slideLayout"/></Relationships>
</file>

<file path=ppt/slides/_rels/slide26.xml.rels><?xml version="1.0" encoding="UTF-8" standalone="yes"?><Relationships xmlns="http://schemas.openxmlformats.org/package/2006/relationships"><Relationship Id="rId3" Target="../media/image29.png" Type="http://schemas.openxmlformats.org/officeDocument/2006/relationships/image"/><Relationship Id="rId2" Target="../media/image28.png" Type="http://schemas.openxmlformats.org/officeDocument/2006/relationships/image"/><Relationship Id="rId1" Target="../slideLayouts/slideLayout7.xml" Type="http://schemas.openxmlformats.org/officeDocument/2006/relationships/slideLayout"/></Relationships>
</file>

<file path=ppt/slides/_rels/slide27.xml.rels><?xml version="1.0" encoding="UTF-8" standalone="yes"?><Relationships xmlns="http://schemas.openxmlformats.org/package/2006/relationships"><Relationship Id="rId2" Target="../media/image30.png" Type="http://schemas.openxmlformats.org/officeDocument/2006/relationships/image"/><Relationship Id="rId1" Target="../slideLayouts/slideLayout2.xml" Type="http://schemas.openxmlformats.org/officeDocument/2006/relationships/slideLayout"/></Relationships>
</file>

<file path=ppt/slides/_rels/slide28.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<Relationships xmlns="http://schemas.openxmlformats.org/package/2006/relationships"><Relationship Id="rId3" Target="../media/image32.png" Type="http://schemas.openxmlformats.org/officeDocument/2006/relationships/image"/><Relationship Id="rId2" Target="../media/image31.png" Type="http://schemas.openxmlformats.org/officeDocument/2006/relationships/image"/><Relationship Id="rId1" Target="../slideLayouts/slideLayout2.xml" Type="http://schemas.openxmlformats.org/officeDocument/2006/relationships/slideLayout"/></Relationships>
</file>

<file path=ppt/slides/_rels/slide30.xml.rels><?xml version="1.0" encoding="UTF-8" standalone="yes"?><Relationships xmlns="http://schemas.openxmlformats.org/package/2006/relationships"><Relationship Id="rId3" Target="../media/image34.png" Type="http://schemas.openxmlformats.org/officeDocument/2006/relationships/image"/><Relationship Id="rId2" Target="../media/image33.png" Type="http://schemas.openxmlformats.org/officeDocument/2006/relationships/image"/><Relationship Id="rId1" Target="../slideLayouts/slideLayout2.xml" Type="http://schemas.openxmlformats.org/officeDocument/2006/relationships/slideLayout"/></Relationships>
</file>

<file path=ppt/slides/_rels/slide31.xml.rels><?xml version="1.0" encoding="UTF-8" standalone="yes"?><Relationships xmlns="http://schemas.openxmlformats.org/package/2006/relationships"><Relationship Id="rId3" Target="../media/image36.png" Type="http://schemas.openxmlformats.org/officeDocument/2006/relationships/image"/><Relationship Id="rId2" Target="../media/image35.png" Type="http://schemas.openxmlformats.org/officeDocument/2006/relationships/image"/><Relationship Id="rId1" Target="../slideLayouts/slideLayout7.xml" Type="http://schemas.openxmlformats.org/officeDocument/2006/relationships/slideLayout"/></Relationships>
</file>

<file path=ppt/slides/_rels/slide32.xml.rels><?xml version="1.0" encoding="UTF-8" standalone="yes"?><Relationships xmlns="http://schemas.openxmlformats.org/package/2006/relationships"><Relationship Id="rId4" Target="../media/image39.png" Type="http://schemas.openxmlformats.org/officeDocument/2006/relationships/image"/><Relationship Id="rId3" Target="../media/image38.png" Type="http://schemas.openxmlformats.org/officeDocument/2006/relationships/image"/><Relationship Id="rId2" Target="../media/image37.png" Type="http://schemas.openxmlformats.org/officeDocument/2006/relationships/image"/><Relationship Id="rId1" Target="../slideLayouts/slideLayout7.xml" Type="http://schemas.openxmlformats.org/officeDocument/2006/relationships/slideLayout"/></Relationships>
</file>

<file path=ppt/slides/_rels/slide33.xml.rels><?xml version="1.0" encoding="UTF-8" standalone="yes"?><Relationships xmlns="http://schemas.openxmlformats.org/package/2006/relationships"><Relationship Id="rId3" Target="../media/image41.png" Type="http://schemas.openxmlformats.org/officeDocument/2006/relationships/image"/><Relationship Id="rId2" Target="../media/image40.png" Type="http://schemas.openxmlformats.org/officeDocument/2006/relationships/image"/><Relationship Id="rId1" Target="../slideLayouts/slideLayout7.xml" Type="http://schemas.openxmlformats.org/officeDocument/2006/relationships/slideLayout"/></Relationships>
</file>

<file path=ppt/slides/_rels/slide34.xml.rels><?xml version="1.0" encoding="UTF-8" standalone="yes"?><Relationships xmlns="http://schemas.openxmlformats.org/package/2006/relationships"><Relationship Id="rId3" Target="../media/image43.png" Type="http://schemas.openxmlformats.org/officeDocument/2006/relationships/image"/><Relationship Id="rId2" Target="../media/image42.png" Type="http://schemas.openxmlformats.org/officeDocument/2006/relationships/image"/><Relationship Id="rId1" Target="../slideLayouts/slideLayout7.xml" Type="http://schemas.openxmlformats.org/officeDocument/2006/relationships/slideLayout"/></Relationships>
</file>

<file path=ppt/slides/_rels/slide35.xml.rels><?xml version="1.0" encoding="UTF-8" standalone="yes"?><Relationships xmlns="http://schemas.openxmlformats.org/package/2006/relationships"><Relationship Id="rId1" Target="../slideLayouts/slideLayout2.xml" Type="http://schemas.openxmlformats.org/officeDocument/2006/relationships/slideLayout"/></Relationships>
</file>

<file path=ppt/slides/_rels/slide36.xml.rels><?xml version="1.0" encoding="UTF-8" standalone="yes"?><Relationships xmlns="http://schemas.openxmlformats.org/package/2006/relationships"><Relationship Id="rId2" Target="../media/image44.png" Type="http://schemas.openxmlformats.org/officeDocument/2006/relationships/image"/><Relationship Id="rId1" Target="../slideLayouts/slideLayout7.xml" Type="http://schemas.openxmlformats.org/officeDocument/2006/relationships/slideLayout"/></Relationships>
</file>

<file path=ppt/slides/_rels/slide37.xml.rels><?xml version="1.0" encoding="UTF-8" standalone="yes"?><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<Relationships xmlns="http://schemas.openxmlformats.org/package/2006/relationships"><Relationship Id="rId5" Target="../media/image48.png" Type="http://schemas.openxmlformats.org/officeDocument/2006/relationships/image"/><Relationship Id="rId4" Target="../media/image47.png" Type="http://schemas.openxmlformats.org/officeDocument/2006/relationships/image"/><Relationship Id="rId3" Target="../media/image46.png" Type="http://schemas.openxmlformats.org/officeDocument/2006/relationships/image"/><Relationship Id="rId2" Target="../media/image45.png" Type="http://schemas.openxmlformats.org/officeDocument/2006/relationships/image"/><Relationship Id="rId1" Target="../slideLayouts/slideLayout7.xml" Type="http://schemas.openxmlformats.org/officeDocument/2006/relationships/slideLayout"/></Relationships>
</file>

<file path=ppt/slides/_rels/slide39.xml.rels><?xml version="1.0" encoding="UTF-8" standalone="yes"?><Relationships xmlns="http://schemas.openxmlformats.org/package/2006/relationships"><Relationship Id="rId3" Target="../media/image50.png" Type="http://schemas.openxmlformats.org/officeDocument/2006/relationships/image"/><Relationship Id="rId2" Target="../media/image49.png" Type="http://schemas.openxmlformats.org/officeDocument/2006/relationships/image"/><Relationship Id="rId1" Target="../slideLayouts/slideLayout7.xml" Type="http://schemas.openxmlformats.org/officeDocument/2006/relationships/slideLayout"/></Relationships>
</file>

<file path=ppt/slides/_rels/slide40.xml.rels><?xml version="1.0" encoding="UTF-8" standalone="yes"?><Relationships xmlns="http://schemas.openxmlformats.org/package/2006/relationships"><Relationship Id="rId4" Target="../media/image52.png" Type="http://schemas.openxmlformats.org/officeDocument/2006/relationships/image"/><Relationship Id="rId3" Target="../media/image51.png" Type="http://schemas.openxmlformats.org/officeDocument/2006/relationships/image"/><Relationship Id="rId2" Target="https://www.mongodb.com/docs/manual/reference/glossary/" TargetMode="External" Type="http://schemas.openxmlformats.org/officeDocument/2006/relationships/hyperlink"/><Relationship Id="rId1" Target="../slideLayouts/slideLayout2.xml" Type="http://schemas.openxmlformats.org/officeDocument/2006/relationships/slideLayout"/></Relationships>
</file>

<file path=ppt/slides/_rels/slide41.xml.rels><?xml version="1.0" encoding="UTF-8" standalone="yes"?><Relationships xmlns="http://schemas.openxmlformats.org/package/2006/relationships"><Relationship Id="rId3" Target="../media/image54.png" Type="http://schemas.openxmlformats.org/officeDocument/2006/relationships/image"/><Relationship Id="rId2" Target="../media/image53.png" Type="http://schemas.openxmlformats.org/officeDocument/2006/relationships/image"/><Relationship Id="rId1" Target="../slideLayouts/slideLayout2.xml" Type="http://schemas.openxmlformats.org/officeDocument/2006/relationships/slideLayout"/></Relationships>
</file>

<file path=ppt/slides/_rels/slide42.xml.rels><?xml version="1.0" encoding="UTF-8" standalone="yes"?><Relationships xmlns="http://schemas.openxmlformats.org/package/2006/relationships"><Relationship Id="rId5" Target="../media/image58.png" Type="http://schemas.openxmlformats.org/officeDocument/2006/relationships/image"/><Relationship Id="rId4" Target="../media/image57.png" Type="http://schemas.openxmlformats.org/officeDocument/2006/relationships/image"/><Relationship Id="rId3" Target="../media/image56.png" Type="http://schemas.openxmlformats.org/officeDocument/2006/relationships/image"/><Relationship Id="rId2" Target="../media/image55.png" Type="http://schemas.openxmlformats.org/officeDocument/2006/relationships/image"/><Relationship Id="rId1" Target="../slideLayouts/slideLayout2.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numCol="1"/>
          <a:lstStyle/>
          <a:p>
            <a:r>
              <a:rPr b="1" dirty="0" lang="en-US" smtClean="0"/>
              <a:t>Aggregation</a:t>
            </a:r>
            <a:endParaRPr b="1" dirty="0" lang="en-US"/>
          </a:p>
        </p:txBody>
      </p:sp>
    </p:spTree>
  </p:cSld>
  <p:clrMapOvr>
    <a:masterClrMapping/>
  </p:clrMapOvr>
  <p:timing>
    <p:tnLst>
      <p:par>
        <p:cTn dur="indefinite" id="1" nodeType="tmRoot" restart="never"/>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762000"/>
          </a:xfrm>
        </p:spPr>
        <p:txBody>
          <a:bodyPr numCol="1">
            <a:normAutofit/>
          </a:bodyPr>
          <a:lstStyle/>
          <a:p>
            <a:r>
              <a:rPr dirty="0" lang="en-US"/>
              <a:t>Aggregation </a:t>
            </a:r>
            <a:r>
              <a:rPr dirty="0" lang="en-US" smtClean="0"/>
              <a:t>Operations</a:t>
            </a:r>
            <a:endParaRPr dirty="0" lang="en-US"/>
          </a:p>
        </p:txBody>
      </p:sp>
      <p:sp>
        <p:nvSpPr>
          <p:cNvPr id="3" name="Content Placeholder 2"/>
          <p:cNvSpPr>
            <a:spLocks noGrp="1"/>
          </p:cNvSpPr>
          <p:nvPr>
            <p:ph idx="1"/>
          </p:nvPr>
        </p:nvSpPr>
        <p:spPr>
          <a:xfrm>
            <a:off x="152400" y="838200"/>
            <a:ext cx="8839200" cy="5867400"/>
          </a:xfrm>
        </p:spPr>
        <p:txBody>
          <a:bodyPr numCol="1">
            <a:normAutofit/>
          </a:bodyPr>
          <a:lstStyle/>
          <a:p>
            <a:pPr algn="just"/>
            <a:r>
              <a:rPr dirty="0" lang="en-US" sz="2400"/>
              <a:t>Aggregation operations process multiple documents and return computed results. </a:t>
            </a:r>
            <a:endParaRPr dirty="0" lang="en-US" smtClean="0" sz="2400"/>
          </a:p>
          <a:p>
            <a:pPr algn="just"/>
            <a:r>
              <a:rPr dirty="0" lang="en-US" smtClean="0" sz="2400"/>
              <a:t>Aggregation </a:t>
            </a:r>
            <a:r>
              <a:rPr dirty="0" lang="en-US" sz="2400"/>
              <a:t>operations </a:t>
            </a:r>
            <a:r>
              <a:rPr dirty="0" lang="en-US" smtClean="0" sz="2400"/>
              <a:t>can be used to</a:t>
            </a:r>
            <a:r>
              <a:rPr dirty="0" lang="en-US" sz="2400"/>
              <a:t>:</a:t>
            </a:r>
          </a:p>
          <a:p>
            <a:pPr algn="just">
              <a:buFont charset="2" pitchFamily="2" typeface="Wingdings"/>
              <a:buChar char="Ø"/>
            </a:pPr>
            <a:r>
              <a:rPr dirty="0" lang="en-US" sz="2400"/>
              <a:t>Group values from multiple documents </a:t>
            </a:r>
            <a:r>
              <a:rPr dirty="0" lang="en-US" smtClean="0" sz="2400"/>
              <a:t>together.</a:t>
            </a:r>
          </a:p>
          <a:p>
            <a:pPr algn="just">
              <a:buFont charset="2" pitchFamily="2" typeface="Wingdings"/>
              <a:buChar char="Ø"/>
            </a:pPr>
            <a:r>
              <a:rPr dirty="0" lang="en-US" smtClean="0" sz="2400"/>
              <a:t>Perform </a:t>
            </a:r>
            <a:r>
              <a:rPr dirty="0" lang="en-US" sz="2400"/>
              <a:t>operations on the grouped data to return a single </a:t>
            </a:r>
            <a:r>
              <a:rPr dirty="0" lang="en-US" smtClean="0" sz="2400"/>
              <a:t>result.</a:t>
            </a:r>
          </a:p>
          <a:p>
            <a:pPr algn="just">
              <a:buFont charset="2" pitchFamily="2" typeface="Wingdings"/>
              <a:buChar char="Ø"/>
            </a:pPr>
            <a:r>
              <a:rPr dirty="0" lang="en-US" smtClean="0" sz="2400"/>
              <a:t>Analyze </a:t>
            </a:r>
            <a:r>
              <a:rPr dirty="0" lang="en-US" sz="2400"/>
              <a:t>data changes over time</a:t>
            </a:r>
            <a:r>
              <a:rPr dirty="0" lang="en-US" smtClean="0" sz="2400"/>
              <a:t>.</a:t>
            </a:r>
          </a:p>
          <a:p>
            <a:pPr algn="just">
              <a:buFont charset="2" pitchFamily="2" typeface="Wingdings"/>
              <a:buChar char="Ø"/>
            </a:pPr>
            <a:endParaRPr dirty="0" lang="en-US" smtClean="0" sz="2400"/>
          </a:p>
          <a:p>
            <a:pPr algn="just"/>
            <a:r>
              <a:rPr dirty="0" lang="en-US" smtClean="0" sz="2400"/>
              <a:t>Ways to </a:t>
            </a:r>
            <a:r>
              <a:rPr dirty="0" lang="en-US" sz="2400"/>
              <a:t>perform aggregation </a:t>
            </a:r>
            <a:r>
              <a:rPr dirty="0" lang="en-US" smtClean="0" sz="2400"/>
              <a:t>operations</a:t>
            </a:r>
            <a:r>
              <a:rPr dirty="0" lang="en-US" sz="2400"/>
              <a:t>:</a:t>
            </a:r>
          </a:p>
          <a:p>
            <a:pPr algn="just" indent="-514350" marL="514350">
              <a:buFont typeface="+mj-lt"/>
              <a:buAutoNum type="arabicPeriod"/>
            </a:pPr>
            <a:r>
              <a:rPr dirty="0" lang="en-US" sz="2400"/>
              <a:t>Aggregation </a:t>
            </a:r>
            <a:r>
              <a:rPr dirty="0" lang="en-US" smtClean="0" sz="2400"/>
              <a:t>pipelines</a:t>
            </a:r>
          </a:p>
          <a:p>
            <a:pPr algn="just" indent="-514350" marL="514350">
              <a:buFont typeface="+mj-lt"/>
              <a:buAutoNum type="arabicPeriod"/>
            </a:pPr>
            <a:r>
              <a:rPr dirty="0" lang="en-US" smtClean="0" sz="2400"/>
              <a:t>Single </a:t>
            </a:r>
            <a:r>
              <a:rPr dirty="0" lang="en-US" sz="2400"/>
              <a:t>purpose aggregation </a:t>
            </a:r>
            <a:r>
              <a:rPr dirty="0" lang="en-US" smtClean="0" sz="2400"/>
              <a:t>methods</a:t>
            </a:r>
          </a:p>
          <a:p>
            <a:pPr algn="just" indent="-514350" marL="514350">
              <a:buFont typeface="+mj-lt"/>
              <a:buAutoNum type="arabicPeriod"/>
            </a:pPr>
            <a:r>
              <a:rPr dirty="0" lang="en-US" smtClean="0" sz="2400"/>
              <a:t>The map-reduce function.</a:t>
            </a:r>
            <a:endParaRPr dirty="0" lang="en-US" sz="2400"/>
          </a:p>
          <a:p>
            <a:pPr algn="just">
              <a:buFont charset="2" pitchFamily="2" typeface="Wingdings"/>
              <a:buChar char="Ø"/>
            </a:pPr>
            <a:endParaRPr dirty="0" lang="en-US"/>
          </a:p>
          <a:p>
            <a:endParaRPr dirty="0" lang="en-US"/>
          </a:p>
        </p:txBody>
      </p:sp>
      <p:pic>
        <p:nvPicPr>
          <p:cNvPr id="1026" name="Picture 2"/>
          <p:cNvPicPr>
            <a:picLocks noChangeArrowheads="1" noChangeAspect="1"/>
          </p:cNvPicPr>
          <p:nvPr/>
        </p:nvPicPr>
        <p:blipFill>
          <a:blip cstate="print" r:embed="rId2"/>
          <a:srcRect/>
          <a:stretch>
            <a:fillRect/>
          </a:stretch>
        </p:blipFill>
        <p:spPr>
          <a:xfrm>
            <a:off x="5715000" y="3657600"/>
            <a:ext cx="3200400" cy="260985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numCol="1">
            <a:normAutofit fontScale="90000"/>
          </a:bodyPr>
          <a:lstStyle/>
          <a:p>
            <a:r>
              <a:rPr dirty="0" lang="en-US"/>
              <a:t>Aggregation </a:t>
            </a:r>
            <a:r>
              <a:rPr dirty="0" lang="en-US" smtClean="0"/>
              <a:t>Pipelines</a:t>
            </a:r>
            <a:endParaRPr dirty="0" lang="en-US"/>
          </a:p>
        </p:txBody>
      </p:sp>
      <p:sp>
        <p:nvSpPr>
          <p:cNvPr id="3" name="Content Placeholder 2"/>
          <p:cNvSpPr>
            <a:spLocks noGrp="1"/>
          </p:cNvSpPr>
          <p:nvPr>
            <p:ph idx="1"/>
          </p:nvPr>
        </p:nvSpPr>
        <p:spPr>
          <a:xfrm>
            <a:off x="228600" y="914400"/>
            <a:ext cx="8763000" cy="6172200"/>
          </a:xfrm>
        </p:spPr>
        <p:txBody>
          <a:bodyPr numCol="1">
            <a:normAutofit/>
          </a:bodyPr>
          <a:lstStyle/>
          <a:p>
            <a:pPr algn="just"/>
            <a:r>
              <a:rPr dirty="0" lang="en-US" sz="2400"/>
              <a:t>An aggregation pipeline consists of one or more stages that process documents:</a:t>
            </a:r>
          </a:p>
          <a:p>
            <a:pPr algn="just">
              <a:buFont charset="2" pitchFamily="2" typeface="Wingdings"/>
              <a:buChar char="Ø"/>
            </a:pPr>
            <a:r>
              <a:rPr dirty="0" lang="en-US" sz="2400"/>
              <a:t>Each stage performs an operation on the input documents. For example, a stage can filter documents, group documents, and calculate </a:t>
            </a:r>
            <a:r>
              <a:rPr dirty="0" lang="en-US" smtClean="0" sz="2400"/>
              <a:t>values.</a:t>
            </a:r>
          </a:p>
          <a:p>
            <a:pPr algn="just">
              <a:buFont charset="2" pitchFamily="2" typeface="Wingdings"/>
              <a:buChar char="Ø"/>
            </a:pPr>
            <a:r>
              <a:rPr dirty="0" lang="en-US" smtClean="0" sz="2400"/>
              <a:t>The </a:t>
            </a:r>
            <a:r>
              <a:rPr dirty="0" lang="en-US" sz="2400"/>
              <a:t>documents that are output from a stage are passed to the next </a:t>
            </a:r>
            <a:r>
              <a:rPr dirty="0" lang="en-US" smtClean="0" sz="2400"/>
              <a:t>stage.</a:t>
            </a:r>
          </a:p>
          <a:p>
            <a:pPr algn="just">
              <a:buFont charset="2" pitchFamily="2" typeface="Wingdings"/>
              <a:buChar char="Ø"/>
            </a:pPr>
            <a:r>
              <a:rPr dirty="0" lang="en-US" smtClean="0" sz="2400"/>
              <a:t>An </a:t>
            </a:r>
            <a:r>
              <a:rPr dirty="0" lang="en-US" sz="2400"/>
              <a:t>aggregation pipeline can return results for groups of documents. For example, return the total, average, maximum, and minimum values.</a:t>
            </a:r>
          </a:p>
          <a:p>
            <a:pPr>
              <a:buNone/>
            </a:pPr>
            <a:endParaRPr dirty="0" lang="en-US" smtClean="0"/>
          </a:p>
          <a:p>
            <a:pPr algn="just"/>
            <a:r>
              <a:rPr dirty="0" lang="en-US" sz="2400"/>
              <a:t>Aggregation pipelines run </a:t>
            </a:r>
            <a:r>
              <a:rPr dirty="0" lang="en-US" smtClean="0" sz="2400"/>
              <a:t>with the </a:t>
            </a:r>
            <a:r>
              <a:rPr b="1" dirty="0" err="1" i="1" lang="en-US" smtClean="0" sz="2400"/>
              <a:t>db.collection.aggregate</a:t>
            </a:r>
            <a:r>
              <a:rPr b="1" dirty="0" i="1" lang="en-US" smtClean="0" sz="2400"/>
              <a:t>(</a:t>
            </a:r>
            <a:r>
              <a:rPr b="1" dirty="0" err="1" i="1" lang="en-US" smtClean="0" sz="2400"/>
              <a:t>pipeline,options</a:t>
            </a:r>
            <a:r>
              <a:rPr b="1" dirty="0" i="1" lang="en-US" smtClean="0" sz="2400"/>
              <a:t>)</a:t>
            </a:r>
            <a:r>
              <a:rPr dirty="0" lang="en-US" sz="2400"/>
              <a:t> </a:t>
            </a:r>
            <a:r>
              <a:rPr dirty="0" lang="en-US" smtClean="0" sz="2400"/>
              <a:t>method.</a:t>
            </a:r>
          </a:p>
          <a:p>
            <a:pPr algn="just"/>
            <a:endParaRPr dirty="0" lang="en-US" sz="2400"/>
          </a:p>
        </p:txBody>
      </p:sp>
    </p:spTree>
  </p:cSld>
  <p:clrMapOvr>
    <a:masterClrMapping/>
  </p:clrMapOvr>
  <p:timing>
    <p:tnLst>
      <p:par>
        <p:cTn dur="indefinite" id="1" nodeType="tmRoot" restart="never"/>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numCol="1">
            <a:normAutofit fontScale="90000"/>
          </a:bodyPr>
          <a:lstStyle/>
          <a:p>
            <a:r>
              <a:rPr dirty="0" lang="en-US" smtClean="0"/>
              <a:t>Aggregate stages</a:t>
            </a:r>
            <a:endParaRPr dirty="0" lang="en-US"/>
          </a:p>
        </p:txBody>
      </p:sp>
      <p:sp>
        <p:nvSpPr>
          <p:cNvPr id="3" name="Content Placeholder 2"/>
          <p:cNvSpPr>
            <a:spLocks noGrp="1"/>
          </p:cNvSpPr>
          <p:nvPr>
            <p:ph idx="1"/>
          </p:nvPr>
        </p:nvSpPr>
        <p:spPr>
          <a:xfrm>
            <a:off x="152400" y="914400"/>
            <a:ext cx="8839200" cy="5791200"/>
          </a:xfrm>
        </p:spPr>
        <p:txBody>
          <a:bodyPr numCol="1">
            <a:normAutofit fontScale="77500" lnSpcReduction="20000"/>
          </a:bodyPr>
          <a:lstStyle/>
          <a:p>
            <a:pPr algn="just"/>
            <a:r>
              <a:rPr b="1" dirty="0" lang="en-US" smtClean="0"/>
              <a:t>$bucket: </a:t>
            </a:r>
            <a:r>
              <a:rPr dirty="0" lang="en-US" smtClean="0"/>
              <a:t>Categorizes incoming documents into groups, called buckets, based on a specified expression and bucket boundaries.</a:t>
            </a:r>
          </a:p>
          <a:p>
            <a:pPr algn="just"/>
            <a:r>
              <a:rPr b="1" dirty="0" lang="en-US" smtClean="0"/>
              <a:t>$group: </a:t>
            </a:r>
            <a:r>
              <a:rPr dirty="0" lang="en-US" smtClean="0"/>
              <a:t>Groups input documents by a specified identifier expression and applies the accumulator expression(s), if specified, to each group. Consumes all input documents and outputs one document per each distinct group. The output documents only contain the identifier field and, if specified, accumulated fields.</a:t>
            </a:r>
          </a:p>
          <a:p>
            <a:pPr algn="just"/>
            <a:r>
              <a:rPr b="1" dirty="0" lang="en-US" smtClean="0"/>
              <a:t>$limit: </a:t>
            </a:r>
            <a:r>
              <a:rPr dirty="0" lang="en-US" smtClean="0"/>
              <a:t>Passes the first </a:t>
            </a:r>
            <a:r>
              <a:rPr dirty="0" i="1" lang="en-US" smtClean="0"/>
              <a:t>n</a:t>
            </a:r>
            <a:r>
              <a:rPr dirty="0" lang="en-US" smtClean="0"/>
              <a:t> documents unmodified to the pipeline where </a:t>
            </a:r>
            <a:r>
              <a:rPr dirty="0" i="1" lang="en-US" smtClean="0"/>
              <a:t>n</a:t>
            </a:r>
            <a:r>
              <a:rPr dirty="0" lang="en-US" smtClean="0"/>
              <a:t> is the specified limit. For each input document, outputs either one document (for the first </a:t>
            </a:r>
            <a:r>
              <a:rPr dirty="0" i="1" lang="en-US" smtClean="0"/>
              <a:t>n</a:t>
            </a:r>
            <a:r>
              <a:rPr dirty="0" lang="en-US" smtClean="0"/>
              <a:t> documents) or zero documents (after the first </a:t>
            </a:r>
            <a:r>
              <a:rPr dirty="0" i="1" lang="en-US" smtClean="0"/>
              <a:t>n</a:t>
            </a:r>
            <a:r>
              <a:rPr dirty="0" lang="en-US" smtClean="0"/>
              <a:t> documents).</a:t>
            </a:r>
          </a:p>
          <a:p>
            <a:pPr algn="just"/>
            <a:r>
              <a:rPr b="1" dirty="0" lang="en-US" smtClean="0"/>
              <a:t>$match: </a:t>
            </a:r>
            <a:r>
              <a:rPr dirty="0" lang="en-US" smtClean="0"/>
              <a:t>Filters the document stream to allow only matching documents to pass unmodified into the next pipeline stage. $match uses standard </a:t>
            </a:r>
            <a:r>
              <a:rPr dirty="0" err="1" lang="en-US" smtClean="0"/>
              <a:t>MongoDB</a:t>
            </a:r>
            <a:r>
              <a:rPr dirty="0" lang="en-US" smtClean="0"/>
              <a:t> queries. For each input document, outputs either one document (a match) or zero documents (no match).</a:t>
            </a:r>
          </a:p>
          <a:p>
            <a:pPr>
              <a:buNone/>
            </a:pPr>
            <a:endParaRPr dirty="0" lang="en-US" smtClean="0"/>
          </a:p>
          <a:p>
            <a:pPr>
              <a:buNone/>
            </a:pPr>
            <a:endParaRPr dirty="0" lang="en-US"/>
          </a:p>
        </p:txBody>
      </p:sp>
    </p:spTree>
  </p:cSld>
  <p:clrMapOvr>
    <a:masterClrMapping/>
  </p:clrMapOvr>
  <p:timing>
    <p:tnLst>
      <p:par>
        <p:cTn dur="indefinite" id="1" nodeType="tmRoot" restart="never"/>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763000" cy="6553200"/>
          </a:xfrm>
        </p:spPr>
        <p:txBody>
          <a:bodyPr numCol="1">
            <a:normAutofit fontScale="70000" lnSpcReduction="20000"/>
          </a:bodyPr>
          <a:lstStyle/>
          <a:p>
            <a:pPr algn="just"/>
            <a:r>
              <a:rPr b="1" dirty="0" lang="en-US" smtClean="0"/>
              <a:t>$merge: </a:t>
            </a:r>
            <a:r>
              <a:rPr dirty="0" lang="en-US" smtClean="0"/>
              <a:t>Writes the resulting documents of the aggregation pipeline to a collection. The stage can incorporate (insert new documents, merge documents, replace documents, keep existing documents, fail the operation, process documents with a custom update pipeline) the results into an output collection. To use the $merge stage, it must be the last stage in the pipeline.</a:t>
            </a:r>
          </a:p>
          <a:p>
            <a:pPr algn="just"/>
            <a:r>
              <a:rPr b="1" dirty="0" lang="en-US" smtClean="0"/>
              <a:t>$out: </a:t>
            </a:r>
            <a:r>
              <a:rPr dirty="0" lang="en-US" smtClean="0"/>
              <a:t>Writes the resulting documents of the aggregation pipeline to a collection. To use the $out stage, it must be the last stage in the pipeline.</a:t>
            </a:r>
          </a:p>
          <a:p>
            <a:pPr algn="just"/>
            <a:r>
              <a:rPr b="1" dirty="0" lang="en-US" smtClean="0"/>
              <a:t>$skip: </a:t>
            </a:r>
            <a:r>
              <a:rPr dirty="0" lang="en-US" smtClean="0"/>
              <a:t>Skips the first </a:t>
            </a:r>
            <a:r>
              <a:rPr dirty="0" i="1" lang="en-US" smtClean="0"/>
              <a:t>n</a:t>
            </a:r>
            <a:r>
              <a:rPr dirty="0" lang="en-US" smtClean="0"/>
              <a:t> documents where </a:t>
            </a:r>
            <a:r>
              <a:rPr dirty="0" i="1" lang="en-US" smtClean="0"/>
              <a:t>n</a:t>
            </a:r>
            <a:r>
              <a:rPr dirty="0" lang="en-US" smtClean="0"/>
              <a:t> is the specified skip number and passes the remaining documents unmodified to the pipeline. For each input document, outputs either zero documents (for the first </a:t>
            </a:r>
            <a:r>
              <a:rPr dirty="0" i="1" lang="en-US" smtClean="0"/>
              <a:t>n</a:t>
            </a:r>
            <a:r>
              <a:rPr dirty="0" lang="en-US" smtClean="0"/>
              <a:t> documents) or one document (if after the first </a:t>
            </a:r>
            <a:r>
              <a:rPr dirty="0" i="1" lang="en-US" smtClean="0"/>
              <a:t>n</a:t>
            </a:r>
            <a:r>
              <a:rPr dirty="0" lang="en-US" smtClean="0"/>
              <a:t> documents).</a:t>
            </a:r>
          </a:p>
          <a:p>
            <a:pPr algn="just"/>
            <a:r>
              <a:rPr b="1" dirty="0" lang="en-US" smtClean="0"/>
              <a:t>$sort </a:t>
            </a:r>
            <a:r>
              <a:rPr dirty="0" lang="en-US" smtClean="0"/>
              <a:t>Reorders the document stream by a specified sort key. Only the order changes; the documents remain unmodified. For each input document, outputs one document.</a:t>
            </a:r>
          </a:p>
          <a:p>
            <a:pPr algn="just"/>
            <a:r>
              <a:rPr b="1" dirty="0" lang="en-US" smtClean="0"/>
              <a:t>$unwind: </a:t>
            </a:r>
            <a:r>
              <a:rPr dirty="0" lang="en-US" smtClean="0"/>
              <a:t>Deconstructs an array field from the input documents to output a document for </a:t>
            </a:r>
            <a:r>
              <a:rPr dirty="0" i="1" lang="en-US" smtClean="0"/>
              <a:t>each</a:t>
            </a:r>
            <a:r>
              <a:rPr dirty="0" lang="en-US" smtClean="0"/>
              <a:t> element. Each output document replaces the array with an element value. For each input document, outputs </a:t>
            </a:r>
            <a:r>
              <a:rPr dirty="0" i="1" lang="en-US" smtClean="0"/>
              <a:t>n</a:t>
            </a:r>
            <a:r>
              <a:rPr dirty="0" lang="en-US" smtClean="0"/>
              <a:t> documents where </a:t>
            </a:r>
            <a:r>
              <a:rPr dirty="0" i="1" lang="en-US" smtClean="0"/>
              <a:t>n</a:t>
            </a:r>
            <a:r>
              <a:rPr dirty="0" lang="en-US" smtClean="0"/>
              <a:t> is the number of array elements and can be zero for an empty array.</a:t>
            </a:r>
          </a:p>
          <a:p>
            <a:pPr>
              <a:buNone/>
            </a:pPr>
            <a:endParaRPr dirty="0" lang="en-US" smtClean="0"/>
          </a:p>
          <a:p>
            <a:pPr>
              <a:buNone/>
            </a:pPr>
            <a:endParaRPr dirty="0" lang="en-US"/>
          </a:p>
        </p:txBody>
      </p:sp>
    </p:spTree>
  </p:cSld>
  <p:clrMapOvr>
    <a:masterClrMapping/>
  </p:clrMapOvr>
  <p:timing>
    <p:tnLst>
      <p:par>
        <p:cTn dur="indefinite" id="1" nodeType="tmRoot" restart="never"/>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numCol="1">
            <a:normAutofit fontScale="90000"/>
          </a:bodyPr>
          <a:lstStyle/>
          <a:p>
            <a:r>
              <a:rPr dirty="0" lang="en-US"/>
              <a:t>$match </a:t>
            </a:r>
          </a:p>
        </p:txBody>
      </p:sp>
      <p:sp>
        <p:nvSpPr>
          <p:cNvPr id="3" name="Content Placeholder 2"/>
          <p:cNvSpPr>
            <a:spLocks noGrp="1"/>
          </p:cNvSpPr>
          <p:nvPr>
            <p:ph idx="1"/>
          </p:nvPr>
        </p:nvSpPr>
        <p:spPr>
          <a:xfrm>
            <a:off x="0" y="533400"/>
            <a:ext cx="9144000" cy="6172200"/>
          </a:xfrm>
        </p:spPr>
        <p:txBody>
          <a:bodyPr numCol="1">
            <a:normAutofit/>
          </a:bodyPr>
          <a:lstStyle/>
          <a:p>
            <a:pPr algn="just">
              <a:buNone/>
            </a:pPr>
            <a:r>
              <a:rPr b="1" dirty="0" lang="en-US" smtClean="0" sz="2400"/>
              <a:t>Definition: </a:t>
            </a:r>
            <a:r>
              <a:rPr dirty="0" lang="en-US" smtClean="0" sz="2400"/>
              <a:t>Filters </a:t>
            </a:r>
            <a:r>
              <a:rPr dirty="0" lang="en-US" sz="2400"/>
              <a:t>the documents to pass only the documents that match the specified condition(s) to the next pipeline stage</a:t>
            </a:r>
            <a:r>
              <a:rPr dirty="0" lang="en-US" smtClean="0" sz="2400"/>
              <a:t>.</a:t>
            </a:r>
          </a:p>
          <a:p>
            <a:pPr algn="just">
              <a:buNone/>
            </a:pPr>
            <a:endParaRPr b="1" dirty="0" lang="en-US" smtClean="0" sz="2400"/>
          </a:p>
          <a:p>
            <a:pPr algn="just">
              <a:buNone/>
            </a:pPr>
            <a:r>
              <a:rPr b="1" dirty="0" lang="en-US" smtClean="0" sz="2400"/>
              <a:t>Syntax: </a:t>
            </a:r>
            <a:r>
              <a:rPr dirty="0" err="1" lang="en-US" smtClean="0" sz="2400"/>
              <a:t>db.collection.aggregate</a:t>
            </a:r>
            <a:r>
              <a:rPr dirty="0" lang="en-US" smtClean="0" sz="2400"/>
              <a:t>({ </a:t>
            </a:r>
            <a:r>
              <a:rPr dirty="0" lang="en-US" sz="2400"/>
              <a:t>$match: { &lt;query&gt; } </a:t>
            </a:r>
            <a:r>
              <a:rPr dirty="0" lang="en-US" smtClean="0" sz="2400"/>
              <a:t>})</a:t>
            </a:r>
            <a:endParaRPr dirty="0" lang="en-US" sz="2400"/>
          </a:p>
          <a:p>
            <a:pPr algn="just">
              <a:buNone/>
            </a:pPr>
            <a:endParaRPr b="1" dirty="0" lang="en-US" smtClean="0" sz="2400"/>
          </a:p>
          <a:p>
            <a:pPr algn="just">
              <a:buNone/>
            </a:pPr>
            <a:r>
              <a:rPr b="1" dirty="0" lang="en-US" smtClean="0" sz="2400"/>
              <a:t>Pipeline Optimization: </a:t>
            </a:r>
            <a:r>
              <a:rPr dirty="0" lang="en-US" smtClean="0" sz="2400"/>
              <a:t>Place the $match as early in the aggregation pipeline as possible. Because $match limits the total number of documents in the aggregation pipeline, earlier $match operations minimize the amount of processing down the pipe.</a:t>
            </a:r>
          </a:p>
          <a:p>
            <a:pPr>
              <a:buNone/>
            </a:pPr>
            <a:endParaRPr dirty="0" lang="en-US"/>
          </a:p>
          <a:p>
            <a:endParaRPr dirty="0" lang="en-US"/>
          </a:p>
        </p:txBody>
      </p:sp>
    </p:spTree>
  </p:cSld>
  <p:clrMapOvr>
    <a:masterClrMapping/>
  </p:clrMapOvr>
  <p:timing>
    <p:tnLst>
      <p:par>
        <p:cTn dur="indefinite" id="1" nodeType="tmRoot" restart="never"/>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
            <a:ext cx="8915400" cy="6629400"/>
          </a:xfrm>
        </p:spPr>
        <p:txBody>
          <a:bodyPr numCol="1">
            <a:normAutofit/>
          </a:bodyPr>
          <a:lstStyle/>
          <a:p>
            <a:pPr>
              <a:buNone/>
            </a:pPr>
            <a:r>
              <a:rPr dirty="0" lang="en-US" smtClean="0" sz="2400"/>
              <a:t>Example:</a:t>
            </a:r>
          </a:p>
          <a:p>
            <a:pPr>
              <a:buNone/>
            </a:pPr>
            <a:endParaRPr dirty="0" lang="en-US" smtClean="0" sz="2400"/>
          </a:p>
          <a:p>
            <a:pPr>
              <a:buNone/>
            </a:pPr>
            <a:endParaRPr dirty="0" lang="en-US" smtClean="0" sz="2400"/>
          </a:p>
          <a:p>
            <a:pPr>
              <a:buNone/>
            </a:pPr>
            <a:endParaRPr dirty="0" lang="en-US" smtClean="0" sz="2400"/>
          </a:p>
          <a:p>
            <a:pPr>
              <a:buNone/>
            </a:pPr>
            <a:endParaRPr dirty="0" lang="en-US" smtClean="0" sz="2400"/>
          </a:p>
          <a:p>
            <a:pPr algn="just">
              <a:buNone/>
            </a:pPr>
            <a:r>
              <a:rPr b="1" dirty="0" lang="en-US" smtClean="0" sz="2400"/>
              <a:t>Equality Match: </a:t>
            </a:r>
            <a:r>
              <a:rPr dirty="0" lang="en-US" smtClean="0" sz="2400"/>
              <a:t>The following operation uses $match to perform a simple equality match:</a:t>
            </a:r>
          </a:p>
          <a:p>
            <a:pPr>
              <a:buNone/>
            </a:pPr>
            <a:endParaRPr dirty="0" lang="en-US" smtClean="0" sz="2400"/>
          </a:p>
          <a:p>
            <a:pPr algn="just">
              <a:buNone/>
            </a:pPr>
            <a:r>
              <a:rPr dirty="0" lang="en-US" smtClean="0" sz="2400"/>
              <a:t>The $match selects the documents where the author field equals </a:t>
            </a:r>
            <a:r>
              <a:rPr dirty="0" err="1" lang="en-US" smtClean="0" sz="2400"/>
              <a:t>dave</a:t>
            </a:r>
            <a:r>
              <a:rPr dirty="0" lang="en-US" smtClean="0" sz="2400"/>
              <a:t>, and the aggregation returns the following:</a:t>
            </a:r>
          </a:p>
          <a:p>
            <a:pPr>
              <a:buNone/>
            </a:pPr>
            <a:r>
              <a:rPr dirty="0" lang="en-US" smtClean="0" sz="2400"/>
              <a:t> </a:t>
            </a:r>
            <a:endParaRPr dirty="0" lang="en-US" sz="2400"/>
          </a:p>
        </p:txBody>
      </p:sp>
      <p:pic>
        <p:nvPicPr>
          <p:cNvPr id="2050" name="Picture 2"/>
          <p:cNvPicPr>
            <a:picLocks noChangeArrowheads="1" noChangeAspect="1"/>
          </p:cNvPicPr>
          <p:nvPr/>
        </p:nvPicPr>
        <p:blipFill>
          <a:blip cstate="print" r:embed="rId2"/>
          <a:srcRect/>
          <a:stretch>
            <a:fillRect/>
          </a:stretch>
        </p:blipFill>
        <p:spPr>
          <a:xfrm>
            <a:off x="228600" y="457200"/>
            <a:ext cx="8763000" cy="1752600"/>
          </a:xfrm>
          <a:prstGeom prst="rect">
            <a:avLst/>
          </a:prstGeom>
          <a:noFill/>
          <a:ln w="9525">
            <a:noFill/>
            <a:miter lim="800000"/>
            <a:headEnd/>
            <a:tailEnd/>
          </a:ln>
        </p:spPr>
      </p:pic>
      <p:pic>
        <p:nvPicPr>
          <p:cNvPr id="2053" name="Picture 5"/>
          <p:cNvPicPr>
            <a:picLocks noChangeArrowheads="1" noChangeAspect="1"/>
          </p:cNvPicPr>
          <p:nvPr/>
        </p:nvPicPr>
        <p:blipFill>
          <a:blip cstate="print" r:embed="rId3"/>
          <a:srcRect/>
          <a:stretch>
            <a:fillRect/>
          </a:stretch>
        </p:blipFill>
        <p:spPr>
          <a:xfrm>
            <a:off x="3733800" y="2743200"/>
            <a:ext cx="4391025" cy="857250"/>
          </a:xfrm>
          <a:prstGeom prst="rect">
            <a:avLst/>
          </a:prstGeom>
          <a:noFill/>
          <a:ln w="9525">
            <a:noFill/>
            <a:miter lim="800000"/>
            <a:headEnd/>
            <a:tailEnd/>
          </a:ln>
        </p:spPr>
      </p:pic>
      <p:pic>
        <p:nvPicPr>
          <p:cNvPr id="2055" name="Picture 7"/>
          <p:cNvPicPr>
            <a:picLocks noChangeArrowheads="1" noChangeAspect="1"/>
          </p:cNvPicPr>
          <p:nvPr/>
        </p:nvPicPr>
        <p:blipFill>
          <a:blip cstate="print" r:embed="rId4"/>
          <a:srcRect/>
          <a:stretch>
            <a:fillRect/>
          </a:stretch>
        </p:blipFill>
        <p:spPr>
          <a:xfrm>
            <a:off x="0" y="4666128"/>
            <a:ext cx="8763000" cy="515471"/>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rrowheads="1" noChangeAspect="1"/>
          </p:cNvPicPr>
          <p:nvPr/>
        </p:nvPicPr>
        <p:blipFill>
          <a:blip cstate="print" r:embed="rId2"/>
          <a:srcRect/>
          <a:stretch>
            <a:fillRect/>
          </a:stretch>
        </p:blipFill>
        <p:spPr>
          <a:xfrm>
            <a:off x="152400" y="152400"/>
            <a:ext cx="8362950" cy="314325"/>
          </a:xfrm>
          <a:prstGeom prst="rect">
            <a:avLst/>
          </a:prstGeom>
          <a:noFill/>
          <a:ln w="9525">
            <a:noFill/>
            <a:miter lim="800000"/>
            <a:headEnd/>
            <a:tailEnd/>
          </a:ln>
        </p:spPr>
      </p:pic>
      <p:pic>
        <p:nvPicPr>
          <p:cNvPr id="1027" name="Picture 3"/>
          <p:cNvPicPr>
            <a:picLocks noChangeArrowheads="1" noChangeAspect="1"/>
          </p:cNvPicPr>
          <p:nvPr/>
        </p:nvPicPr>
        <p:blipFill>
          <a:blip cstate="print" r:embed="rId3"/>
          <a:srcRect/>
          <a:stretch>
            <a:fillRect/>
          </a:stretch>
        </p:blipFill>
        <p:spPr>
          <a:xfrm>
            <a:off x="900112" y="609600"/>
            <a:ext cx="6867525" cy="3838575"/>
          </a:xfrm>
          <a:prstGeom prst="rect">
            <a:avLst/>
          </a:prstGeom>
          <a:noFill/>
          <a:ln w="9525">
            <a:noFill/>
            <a:miter lim="800000"/>
            <a:headEnd/>
            <a:tailEnd/>
          </a:ln>
        </p:spPr>
      </p:pic>
      <p:sp>
        <p:nvSpPr>
          <p:cNvPr id="4" name="Rectangle 3"/>
          <p:cNvSpPr/>
          <p:nvPr/>
        </p:nvSpPr>
        <p:spPr>
          <a:xfrm>
            <a:off x="533400" y="4800600"/>
            <a:ext cx="8305800" cy="1815882"/>
          </a:xfrm>
          <a:prstGeom prst="rect">
            <a:avLst/>
          </a:prstGeom>
        </p:spPr>
        <p:txBody>
          <a:bodyPr numCol="1" wrap="square">
            <a:spAutoFit/>
          </a:bodyPr>
          <a:lstStyle/>
          <a:p>
            <a:r>
              <a:rPr altLang="en-IN" dirty="0" err="1" lang="en-IN" sz="2800"/>
              <a:t>db.articles.aggregate</a:t>
            </a:r>
            <a:r>
              <a:rPr altLang="en-IN" dirty="0" lang="en-IN" sz="2800"/>
              <a:t>( [</a:t>
            </a:r>
          </a:p>
          <a:p>
            <a:r>
              <a:rPr altLang="en-IN" dirty="0" lang="en-IN" sz="2800"/>
              <a:t>  { $match: { $or: [ { score: { $</a:t>
            </a:r>
            <a:r>
              <a:rPr altLang="en-IN" dirty="0" err="1" lang="en-IN" sz="2800"/>
              <a:t>gt</a:t>
            </a:r>
            <a:r>
              <a:rPr altLang="en-IN" dirty="0" lang="en-IN" sz="2800"/>
              <a:t>: 70, $</a:t>
            </a:r>
            <a:r>
              <a:rPr altLang="en-IN" dirty="0" err="1" lang="en-IN" sz="2800"/>
              <a:t>lt</a:t>
            </a:r>
            <a:r>
              <a:rPr altLang="en-IN" dirty="0" lang="en-IN" sz="2800"/>
              <a:t>: 90 } }, { views: { $</a:t>
            </a:r>
            <a:r>
              <a:rPr altLang="en-IN" dirty="0" err="1" lang="en-IN" sz="2800"/>
              <a:t>gte</a:t>
            </a:r>
            <a:r>
              <a:rPr altLang="en-IN" dirty="0" lang="en-IN" sz="2800"/>
              <a:t>: 1000 } } ] } },</a:t>
            </a:r>
          </a:p>
          <a:p>
            <a:r>
              <a:rPr altLang="en-IN" dirty="0" lang="en-IN" smtClean="0" sz="2800"/>
              <a:t>] );</a:t>
            </a:r>
          </a:p>
        </p:txBody>
      </p:sp>
    </p:spTree>
  </p:cSld>
  <p:clrMapOvr>
    <a:masterClrMapping/>
  </p:clrMapOvr>
  <p:timing>
    <p:tnLst>
      <p:par>
        <p:cTn dur="indefinite" id="1" nodeType="tmRoot" restart="never"/>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numCol="1">
            <a:normAutofit fontScale="90000"/>
          </a:bodyPr>
          <a:lstStyle/>
          <a:p>
            <a:r>
              <a:rPr dirty="0" lang="en-US" smtClean="0"/>
              <a:t>$group</a:t>
            </a:r>
            <a:endParaRPr dirty="0" lang="en-US"/>
          </a:p>
        </p:txBody>
      </p:sp>
      <p:sp>
        <p:nvSpPr>
          <p:cNvPr id="3" name="Content Placeholder 2"/>
          <p:cNvSpPr>
            <a:spLocks noGrp="1"/>
          </p:cNvSpPr>
          <p:nvPr>
            <p:ph idx="1"/>
          </p:nvPr>
        </p:nvSpPr>
        <p:spPr>
          <a:xfrm>
            <a:off x="0" y="609600"/>
            <a:ext cx="8991600" cy="6096000"/>
          </a:xfrm>
        </p:spPr>
        <p:txBody>
          <a:bodyPr numCol="1"/>
          <a:lstStyle/>
          <a:p>
            <a:pPr algn="just"/>
            <a:r>
              <a:rPr dirty="0" lang="en-US" smtClean="0" sz="2400"/>
              <a:t>The $group stage separates documents into groups according to a "group key". The output is one document for each unique group key.</a:t>
            </a:r>
          </a:p>
          <a:p>
            <a:pPr algn="just"/>
            <a:r>
              <a:rPr dirty="0" lang="en-US" smtClean="0" sz="2400"/>
              <a:t>A group key is often a field, or group of fields. The group key can also be the result of an expression. </a:t>
            </a:r>
          </a:p>
          <a:p>
            <a:pPr algn="just"/>
            <a:r>
              <a:rPr dirty="0" lang="en-US" smtClean="0" sz="2400"/>
              <a:t>Use the _id field in the $group pipeline stage to set the group key. </a:t>
            </a:r>
          </a:p>
          <a:p>
            <a:pPr algn="just"/>
            <a:r>
              <a:rPr dirty="0" lang="en-US" smtClean="0" sz="2400"/>
              <a:t>In the $group stage output, the _id field is set to the group key for that document.</a:t>
            </a:r>
          </a:p>
          <a:p>
            <a:pPr algn="just"/>
            <a:r>
              <a:rPr dirty="0" lang="en-US" smtClean="0" sz="2400"/>
              <a:t>The output documents can also contain additional fields that are set using accumulator expressions.</a:t>
            </a:r>
          </a:p>
          <a:p>
            <a:r>
              <a:rPr dirty="0" lang="en-US" smtClean="0" sz="2400"/>
              <a:t>$group does </a:t>
            </a:r>
            <a:r>
              <a:rPr dirty="0" i="1" lang="en-US" smtClean="0" sz="2400"/>
              <a:t>not</a:t>
            </a:r>
            <a:r>
              <a:rPr dirty="0" lang="en-US" smtClean="0" sz="2400"/>
              <a:t> order its output documents.</a:t>
            </a:r>
          </a:p>
          <a:p>
            <a:pPr>
              <a:buNone/>
            </a:pPr>
            <a:r>
              <a:rPr b="1" dirty="0" lang="en-US" smtClean="0" sz="2400"/>
              <a:t>Syntax: </a:t>
            </a:r>
          </a:p>
          <a:p>
            <a:endParaRPr dirty="0" lang="en-US" sz="2400"/>
          </a:p>
        </p:txBody>
      </p:sp>
      <p:pic>
        <p:nvPicPr>
          <p:cNvPr id="22530" name="Picture 2"/>
          <p:cNvPicPr>
            <a:picLocks noChangeArrowheads="1" noChangeAspect="1"/>
          </p:cNvPicPr>
          <p:nvPr/>
        </p:nvPicPr>
        <p:blipFill>
          <a:blip cstate="print" r:embed="rId2"/>
          <a:srcRect/>
          <a:stretch>
            <a:fillRect/>
          </a:stretch>
        </p:blipFill>
        <p:spPr>
          <a:xfrm>
            <a:off x="1143000" y="4648200"/>
            <a:ext cx="4857750" cy="207343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rrowheads="1" noChangeAspect="1"/>
          </p:cNvPicPr>
          <p:nvPr/>
        </p:nvPicPr>
        <p:blipFill>
          <a:blip cstate="print" r:embed="rId2"/>
          <a:srcRect/>
          <a:stretch>
            <a:fillRect/>
          </a:stretch>
        </p:blipFill>
        <p:spPr>
          <a:xfrm>
            <a:off x="76200" y="533400"/>
            <a:ext cx="6019800" cy="4492266"/>
          </a:xfrm>
          <a:prstGeom prst="rect">
            <a:avLst/>
          </a:prstGeom>
          <a:noFill/>
          <a:ln w="9525">
            <a:noFill/>
            <a:miter lim="800000"/>
            <a:headEnd/>
            <a:tailEnd/>
          </a:ln>
        </p:spPr>
      </p:pic>
      <p:pic>
        <p:nvPicPr>
          <p:cNvPr id="23555" name="Picture 3"/>
          <p:cNvPicPr>
            <a:picLocks noChangeArrowheads="1" noChangeAspect="1"/>
          </p:cNvPicPr>
          <p:nvPr/>
        </p:nvPicPr>
        <p:blipFill>
          <a:blip cstate="print" r:embed="rId3"/>
          <a:srcRect/>
          <a:stretch>
            <a:fillRect/>
          </a:stretch>
        </p:blipFill>
        <p:spPr>
          <a:xfrm>
            <a:off x="1066800" y="6172200"/>
            <a:ext cx="6619875" cy="266700"/>
          </a:xfrm>
          <a:prstGeom prst="rect">
            <a:avLst/>
          </a:prstGeom>
          <a:noFill/>
          <a:ln w="9525">
            <a:noFill/>
            <a:miter lim="800000"/>
            <a:headEnd/>
            <a:tailEnd/>
          </a:ln>
        </p:spPr>
      </p:pic>
      <p:pic>
        <p:nvPicPr>
          <p:cNvPr id="23556" name="Picture 4"/>
          <p:cNvPicPr>
            <a:picLocks noChangeArrowheads="1" noChangeAspect="1"/>
          </p:cNvPicPr>
          <p:nvPr/>
        </p:nvPicPr>
        <p:blipFill>
          <a:blip cstate="print" r:embed="rId4"/>
          <a:srcRect/>
          <a:stretch>
            <a:fillRect/>
          </a:stretch>
        </p:blipFill>
        <p:spPr>
          <a:xfrm>
            <a:off x="6029325" y="3886200"/>
            <a:ext cx="3114675" cy="2066925"/>
          </a:xfrm>
          <a:prstGeom prst="rect">
            <a:avLst/>
          </a:prstGeom>
          <a:noFill/>
          <a:ln w="9525">
            <a:noFill/>
            <a:miter lim="800000"/>
            <a:headEnd/>
            <a:tailEnd/>
          </a:ln>
        </p:spPr>
      </p:pic>
      <p:sp>
        <p:nvSpPr>
          <p:cNvPr id="7" name="TextBox 6"/>
          <p:cNvSpPr txBox="1"/>
          <p:nvPr/>
        </p:nvSpPr>
        <p:spPr>
          <a:xfrm>
            <a:off x="1219200" y="76200"/>
            <a:ext cx="1269386" cy="369332"/>
          </a:xfrm>
          <a:prstGeom prst="rect">
            <a:avLst/>
          </a:prstGeom>
          <a:noFill/>
        </p:spPr>
        <p:txBody>
          <a:bodyPr numCol="1" rtlCol="0" wrap="none">
            <a:spAutoFit/>
          </a:bodyPr>
          <a:lstStyle/>
          <a:p>
            <a:r>
              <a:rPr b="1" dirty="0" lang="en-US" smtClean="0"/>
              <a:t>Documents</a:t>
            </a:r>
            <a:endParaRPr b="1" dirty="0" lang="en-US"/>
          </a:p>
        </p:txBody>
      </p:sp>
      <p:sp>
        <p:nvSpPr>
          <p:cNvPr id="8" name="TextBox 7"/>
          <p:cNvSpPr txBox="1"/>
          <p:nvPr/>
        </p:nvSpPr>
        <p:spPr>
          <a:xfrm>
            <a:off x="6934200" y="3429000"/>
            <a:ext cx="870751" cy="369332"/>
          </a:xfrm>
          <a:prstGeom prst="rect">
            <a:avLst/>
          </a:prstGeom>
          <a:noFill/>
        </p:spPr>
        <p:txBody>
          <a:bodyPr numCol="1" rtlCol="0" wrap="none">
            <a:spAutoFit/>
          </a:bodyPr>
          <a:lstStyle/>
          <a:p>
            <a:r>
              <a:rPr b="1" dirty="0" lang="en-US" smtClean="0"/>
              <a:t>Output</a:t>
            </a:r>
            <a:endParaRPr b="1" dirty="0" lang="en-US"/>
          </a:p>
        </p:txBody>
      </p:sp>
      <p:sp>
        <p:nvSpPr>
          <p:cNvPr id="9" name="TextBox 8"/>
          <p:cNvSpPr txBox="1"/>
          <p:nvPr/>
        </p:nvSpPr>
        <p:spPr>
          <a:xfrm>
            <a:off x="0" y="5638800"/>
            <a:ext cx="3025252" cy="369332"/>
          </a:xfrm>
          <a:prstGeom prst="rect">
            <a:avLst/>
          </a:prstGeom>
          <a:noFill/>
        </p:spPr>
        <p:txBody>
          <a:bodyPr numCol="1" rtlCol="0" wrap="none">
            <a:spAutoFit/>
          </a:bodyPr>
          <a:lstStyle/>
          <a:p>
            <a:r>
              <a:rPr b="1" dirty="0" lang="en-US" smtClean="0"/>
              <a:t>Query: Group teachers by age</a:t>
            </a:r>
            <a:endParaRPr b="1" dirty="0" lang="en-US"/>
          </a:p>
        </p:txBody>
      </p:sp>
    </p:spTree>
  </p:cSld>
  <p:clrMapOvr>
    <a:masterClrMapping/>
  </p:clrMapOvr>
  <p:timing>
    <p:tnLst>
      <p:par>
        <p:cTn dur="indefinite" id="1" nodeType="tmRoot" restart="never"/>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0"/>
            <a:ext cx="8915400" cy="6705600"/>
          </a:xfrm>
        </p:spPr>
        <p:txBody>
          <a:bodyPr numCol="1"/>
          <a:lstStyle/>
          <a:p>
            <a:pPr algn="ctr">
              <a:buNone/>
            </a:pPr>
            <a:r>
              <a:rPr b="1" dirty="0" lang="en-US" smtClean="0" sz="2400"/>
              <a:t>Accumulator Operator</a:t>
            </a:r>
          </a:p>
          <a:p>
            <a:endParaRPr dirty="0" lang="en-US"/>
          </a:p>
        </p:txBody>
      </p:sp>
      <p:sp>
        <p:nvSpPr>
          <p:cNvPr id="4" name="Rectangle 3"/>
          <p:cNvSpPr/>
          <p:nvPr/>
        </p:nvSpPr>
        <p:spPr>
          <a:xfrm>
            <a:off x="152400" y="381000"/>
            <a:ext cx="8839200" cy="6463308"/>
          </a:xfrm>
          <a:prstGeom prst="rect">
            <a:avLst/>
          </a:prstGeom>
        </p:spPr>
        <p:txBody>
          <a:bodyPr numCol="1" wrap="square">
            <a:spAutoFit/>
          </a:bodyPr>
          <a:lstStyle/>
          <a:p>
            <a:pPr algn="just"/>
            <a:r>
              <a:rPr b="1" dirty="0" lang="en-US" smtClean="0"/>
              <a:t>$push: </a:t>
            </a:r>
            <a:r>
              <a:rPr dirty="0" lang="en-US" smtClean="0"/>
              <a:t>Returns an array of expression values for documents in each group.</a:t>
            </a:r>
          </a:p>
          <a:p>
            <a:pPr algn="just"/>
            <a:r>
              <a:rPr b="1" dirty="0" lang="en-US" smtClean="0"/>
              <a:t>$$ROOT: </a:t>
            </a:r>
            <a:r>
              <a:rPr dirty="0" lang="en-US" smtClean="0"/>
              <a:t>is a reference to the document being processed in the pipeline, which represents the complete document.</a:t>
            </a:r>
          </a:p>
          <a:p>
            <a:pPr algn="just"/>
            <a:r>
              <a:rPr b="1" dirty="0" lang="en-US" smtClean="0"/>
              <a:t>$count: </a:t>
            </a:r>
            <a:r>
              <a:rPr dirty="0" lang="en-US" smtClean="0"/>
              <a:t>Returns the number of documents in a group</a:t>
            </a:r>
          </a:p>
          <a:p>
            <a:pPr algn="just"/>
            <a:r>
              <a:rPr b="1" dirty="0" lang="en-US" smtClean="0"/>
              <a:t>$sum: </a:t>
            </a:r>
            <a:r>
              <a:rPr dirty="0" lang="en-US" smtClean="0"/>
              <a:t>Returns a sum of numerical values. Ignores non-numeric values.</a:t>
            </a:r>
          </a:p>
          <a:p>
            <a:pPr algn="just"/>
            <a:r>
              <a:rPr b="1" dirty="0" lang="en-US" smtClean="0"/>
              <a:t>$avg: </a:t>
            </a:r>
            <a:r>
              <a:rPr dirty="0" lang="en-US" smtClean="0"/>
              <a:t>Returns an average of numerical values. Ignores non-numeric values.</a:t>
            </a:r>
          </a:p>
          <a:p>
            <a:pPr algn="just"/>
            <a:r>
              <a:rPr b="1" dirty="0" lang="en-US" smtClean="0"/>
              <a:t>$first: </a:t>
            </a:r>
            <a:r>
              <a:rPr dirty="0" lang="en-US" smtClean="0"/>
              <a:t>Returns the result of an expression for the first document in a group.</a:t>
            </a:r>
          </a:p>
          <a:p>
            <a:pPr algn="just"/>
            <a:r>
              <a:rPr b="1" dirty="0" lang="en-US" smtClean="0"/>
              <a:t>$firstN: </a:t>
            </a:r>
            <a:r>
              <a:rPr dirty="0" lang="en-US" smtClean="0"/>
              <a:t>Returns an aggregation of the first n elements within a group. Only meaningful when documents are in a defined order. Distinct from the $firstN array operator.</a:t>
            </a:r>
          </a:p>
          <a:p>
            <a:pPr algn="just"/>
            <a:r>
              <a:rPr b="1" dirty="0" lang="en-US" smtClean="0"/>
              <a:t>$last: </a:t>
            </a:r>
            <a:r>
              <a:rPr dirty="0" lang="en-US" smtClean="0"/>
              <a:t>Returns the result of an expression for the last document in a group.</a:t>
            </a:r>
          </a:p>
          <a:p>
            <a:pPr algn="just"/>
            <a:r>
              <a:rPr b="1" dirty="0" lang="en-US" smtClean="0"/>
              <a:t>$lastN: </a:t>
            </a:r>
            <a:r>
              <a:rPr dirty="0" lang="en-US" smtClean="0"/>
              <a:t>Returns an aggregation of the last n elements within a group. Only meaningful when documents are in a defined order. Distinct from the $lastN array operator.</a:t>
            </a:r>
          </a:p>
          <a:p>
            <a:pPr algn="just"/>
            <a:r>
              <a:rPr b="1" dirty="0" lang="en-US" smtClean="0"/>
              <a:t>$addToSet : </a:t>
            </a:r>
            <a:r>
              <a:rPr dirty="0" lang="en-US" smtClean="0"/>
              <a:t>Returns an array of </a:t>
            </a:r>
            <a:r>
              <a:rPr dirty="0" i="1" lang="en-US" smtClean="0"/>
              <a:t>unique</a:t>
            </a:r>
            <a:r>
              <a:rPr dirty="0" lang="en-US" smtClean="0"/>
              <a:t> expression values for each group. Order of the array elements is undefined.</a:t>
            </a:r>
          </a:p>
          <a:p>
            <a:pPr algn="just"/>
            <a:r>
              <a:rPr b="1" dirty="0" lang="en-US" smtClean="0"/>
              <a:t>$bottom: </a:t>
            </a:r>
            <a:r>
              <a:rPr dirty="0" lang="en-US" smtClean="0"/>
              <a:t>Returns the bottom element within a group according to the specified sort order.</a:t>
            </a:r>
          </a:p>
          <a:p>
            <a:pPr algn="just"/>
            <a:r>
              <a:rPr b="1" dirty="0" lang="en-US" smtClean="0"/>
              <a:t>$</a:t>
            </a:r>
            <a:r>
              <a:rPr b="1" dirty="0" err="1" lang="en-US" smtClean="0"/>
              <a:t>bottomN</a:t>
            </a:r>
            <a:r>
              <a:rPr b="1" dirty="0" lang="en-US" smtClean="0"/>
              <a:t>: </a:t>
            </a:r>
            <a:r>
              <a:rPr dirty="0" lang="en-US" smtClean="0"/>
              <a:t>Returns an aggregation of the bottom n fields within a group, according to the specified sort order.</a:t>
            </a:r>
          </a:p>
          <a:p>
            <a:pPr algn="just"/>
            <a:r>
              <a:rPr b="1" dirty="0" lang="en-US" smtClean="0"/>
              <a:t>$max : </a:t>
            </a:r>
            <a:r>
              <a:rPr dirty="0" lang="en-US" smtClean="0"/>
              <a:t>Returns the highest expression value for each group.</a:t>
            </a:r>
          </a:p>
          <a:p>
            <a:pPr algn="just"/>
            <a:r>
              <a:rPr b="1" dirty="0" lang="en-US" smtClean="0"/>
              <a:t>$maxN: </a:t>
            </a:r>
            <a:r>
              <a:rPr dirty="0" lang="en-US" smtClean="0"/>
              <a:t>Returns an aggregation of the n maximum valued elements in a group. Distinct from the $maxN array operator.</a:t>
            </a:r>
          </a:p>
          <a:p>
            <a:pPr algn="just"/>
            <a:r>
              <a:rPr b="1" dirty="0" lang="en-US" smtClean="0"/>
              <a:t>$min: </a:t>
            </a:r>
            <a:r>
              <a:rPr dirty="0" lang="en-US" smtClean="0"/>
              <a:t>Returns the lowest expression value for each group.</a:t>
            </a:r>
          </a:p>
          <a:p>
            <a:pPr algn="just"/>
            <a:r>
              <a:rPr b="1" dirty="0" lang="en-US" smtClean="0"/>
              <a:t>$minN: </a:t>
            </a:r>
            <a:r>
              <a:rPr dirty="0" lang="en-US" smtClean="0"/>
              <a:t>Returns an aggregation of the n minimum valued elements in a group. Distinct from the $minN array operator.</a:t>
            </a:r>
            <a:endParaRPr dirty="0" lang="en-US"/>
          </a:p>
        </p:txBody>
      </p:sp>
    </p:spTree>
  </p:cSld>
  <p:clrMapOvr>
    <a:masterClrMapping/>
  </p:clrMapOvr>
  <p:timing>
    <p:tnLst>
      <p:par>
        <p:cTn dur="indefinite" id="1" nodeType="tmRoot" restart="never"/>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685800"/>
            <a:ext cx="8006294" cy="400110"/>
          </a:xfrm>
          <a:prstGeom prst="rect">
            <a:avLst/>
          </a:prstGeom>
          <a:noFill/>
        </p:spPr>
        <p:txBody>
          <a:bodyPr numCol="1" rtlCol="0" wrap="none">
            <a:spAutoFit/>
          </a:bodyPr>
          <a:lstStyle/>
          <a:p>
            <a:r>
              <a:rPr b="1" dirty="0" lang="en-US" smtClean="0" sz="2000"/>
              <a:t>Query: Group teachers by age and show all teachers names per age group</a:t>
            </a:r>
            <a:endParaRPr b="1" dirty="0" lang="en-US" sz="2000"/>
          </a:p>
        </p:txBody>
      </p:sp>
      <p:pic>
        <p:nvPicPr>
          <p:cNvPr id="24578" name="Picture 2"/>
          <p:cNvPicPr>
            <a:picLocks noChangeArrowheads="1" noChangeAspect="1"/>
          </p:cNvPicPr>
          <p:nvPr/>
        </p:nvPicPr>
        <p:blipFill>
          <a:blip cstate="print" r:embed="rId2"/>
          <a:srcRect/>
          <a:stretch>
            <a:fillRect/>
          </a:stretch>
        </p:blipFill>
        <p:spPr>
          <a:xfrm>
            <a:off x="1371600" y="1371600"/>
            <a:ext cx="6791325" cy="857250"/>
          </a:xfrm>
          <a:prstGeom prst="rect">
            <a:avLst/>
          </a:prstGeom>
          <a:noFill/>
          <a:ln w="9525">
            <a:noFill/>
            <a:miter lim="800000"/>
            <a:headEnd/>
            <a:tailEnd/>
          </a:ln>
        </p:spPr>
      </p:pic>
      <p:pic>
        <p:nvPicPr>
          <p:cNvPr id="24579" name="Picture 3"/>
          <p:cNvPicPr>
            <a:picLocks noChangeArrowheads="1" noChangeAspect="1"/>
          </p:cNvPicPr>
          <p:nvPr/>
        </p:nvPicPr>
        <p:blipFill>
          <a:blip cstate="print" r:embed="rId3"/>
          <a:srcRect/>
          <a:stretch>
            <a:fillRect/>
          </a:stretch>
        </p:blipFill>
        <p:spPr>
          <a:xfrm>
            <a:off x="1447800" y="2590800"/>
            <a:ext cx="6572250" cy="4105275"/>
          </a:xfrm>
          <a:prstGeom prst="rect">
            <a:avLst/>
          </a:prstGeom>
          <a:noFill/>
          <a:ln w="9525">
            <a:noFill/>
            <a:miter lim="800000"/>
            <a:headEnd/>
            <a:tailEnd/>
          </a:ln>
        </p:spPr>
      </p:pic>
      <p:sp>
        <p:nvSpPr>
          <p:cNvPr id="5" name="TextBox 4"/>
          <p:cNvSpPr txBox="1"/>
          <p:nvPr/>
        </p:nvSpPr>
        <p:spPr>
          <a:xfrm>
            <a:off x="304800" y="2590800"/>
            <a:ext cx="934871" cy="369332"/>
          </a:xfrm>
          <a:prstGeom prst="rect">
            <a:avLst/>
          </a:prstGeom>
          <a:noFill/>
        </p:spPr>
        <p:txBody>
          <a:bodyPr numCol="1" rtlCol="0" wrap="none">
            <a:spAutoFit/>
          </a:bodyPr>
          <a:lstStyle/>
          <a:p>
            <a:r>
              <a:rPr b="1" dirty="0" lang="en-US" smtClean="0"/>
              <a:t>Output:</a:t>
            </a:r>
            <a:endParaRPr b="1" dirty="0" lang="en-US"/>
          </a:p>
        </p:txBody>
      </p:sp>
      <p:sp>
        <p:nvSpPr>
          <p:cNvPr id="6" name="TextBox 5"/>
          <p:cNvSpPr txBox="1"/>
          <p:nvPr/>
        </p:nvSpPr>
        <p:spPr>
          <a:xfrm>
            <a:off x="3657600" y="0"/>
            <a:ext cx="1366538" cy="584775"/>
          </a:xfrm>
          <a:prstGeom prst="rect">
            <a:avLst/>
          </a:prstGeom>
          <a:noFill/>
        </p:spPr>
        <p:txBody>
          <a:bodyPr numCol="1" rtlCol="0" wrap="square">
            <a:spAutoFit/>
          </a:bodyPr>
          <a:lstStyle/>
          <a:p>
            <a:r>
              <a:rPr b="1" dirty="0" lang="en-US" smtClean="0" sz="3200"/>
              <a:t>$push</a:t>
            </a:r>
            <a:endParaRPr b="1" dirty="0" lang="en-US" sz="3200"/>
          </a:p>
        </p:txBody>
      </p:sp>
    </p:spTree>
  </p:cSld>
  <p:clrMapOvr>
    <a:masterClrMapping/>
  </p:clrMapOvr>
  <p:timing>
    <p:tnLst>
      <p:par>
        <p:cTn dur="indefinite" id="1" nodeType="tmRoot" restart="never"/>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838200"/>
            <a:ext cx="8382000" cy="830997"/>
          </a:xfrm>
          <a:prstGeom prst="rect">
            <a:avLst/>
          </a:prstGeom>
          <a:noFill/>
        </p:spPr>
        <p:txBody>
          <a:bodyPr numCol="1" rtlCol="0" wrap="square">
            <a:spAutoFit/>
          </a:bodyPr>
          <a:lstStyle/>
          <a:p>
            <a:pPr algn="just"/>
            <a:r>
              <a:rPr b="1" dirty="0" lang="en-US" smtClean="0" sz="2400"/>
              <a:t>Query: Group teachers by age and also show complete document per age group</a:t>
            </a:r>
            <a:endParaRPr b="1" dirty="0" lang="en-US" sz="2400"/>
          </a:p>
        </p:txBody>
      </p:sp>
      <p:sp>
        <p:nvSpPr>
          <p:cNvPr id="5" name="TextBox 4"/>
          <p:cNvSpPr txBox="1"/>
          <p:nvPr/>
        </p:nvSpPr>
        <p:spPr>
          <a:xfrm>
            <a:off x="304800" y="3429000"/>
            <a:ext cx="1188146" cy="461665"/>
          </a:xfrm>
          <a:prstGeom prst="rect">
            <a:avLst/>
          </a:prstGeom>
          <a:noFill/>
        </p:spPr>
        <p:txBody>
          <a:bodyPr numCol="1" rtlCol="0" wrap="none">
            <a:spAutoFit/>
          </a:bodyPr>
          <a:lstStyle/>
          <a:p>
            <a:r>
              <a:rPr b="1" dirty="0" lang="en-US" smtClean="0" sz="2400"/>
              <a:t>Output:</a:t>
            </a:r>
            <a:endParaRPr b="1" dirty="0" lang="en-US" sz="2400"/>
          </a:p>
        </p:txBody>
      </p:sp>
      <p:sp>
        <p:nvSpPr>
          <p:cNvPr id="6" name="TextBox 5"/>
          <p:cNvSpPr txBox="1"/>
          <p:nvPr/>
        </p:nvSpPr>
        <p:spPr>
          <a:xfrm>
            <a:off x="2514600" y="1752600"/>
            <a:ext cx="3879395" cy="1938992"/>
          </a:xfrm>
          <a:prstGeom prst="rect">
            <a:avLst/>
          </a:prstGeom>
          <a:noFill/>
        </p:spPr>
        <p:txBody>
          <a:bodyPr numCol="1" rtlCol="0" wrap="none">
            <a:spAutoFit/>
          </a:bodyPr>
          <a:lstStyle/>
          <a:p>
            <a:r>
              <a:rPr dirty="0" err="1" lang="en-US" smtClean="0" sz="2400"/>
              <a:t>db.teachers.aggregate</a:t>
            </a:r>
            <a:r>
              <a:rPr dirty="0" lang="en-US" smtClean="0" sz="2400"/>
              <a:t> ( [ { </a:t>
            </a:r>
          </a:p>
          <a:p>
            <a:r>
              <a:rPr dirty="0" lang="en-US" smtClean="0" sz="2400"/>
              <a:t>$group :{ _id: “$age”,</a:t>
            </a:r>
          </a:p>
          <a:p>
            <a:r>
              <a:rPr dirty="0" err="1" lang="en-US" smtClean="0" sz="2400"/>
              <a:t>complDoc</a:t>
            </a:r>
            <a:r>
              <a:rPr dirty="0" lang="en-US" smtClean="0" sz="2400"/>
              <a:t>: {$push: “$$ROOT”</a:t>
            </a:r>
          </a:p>
          <a:p>
            <a:r>
              <a:rPr dirty="0" lang="en-US" smtClean="0" sz="2400"/>
              <a:t>} } }</a:t>
            </a:r>
          </a:p>
          <a:p>
            <a:r>
              <a:rPr dirty="0" lang="en-US" smtClean="0" sz="2400"/>
              <a:t>] )</a:t>
            </a:r>
            <a:endParaRPr dirty="0" lang="en-US" sz="2400"/>
          </a:p>
        </p:txBody>
      </p:sp>
      <p:pic>
        <p:nvPicPr>
          <p:cNvPr id="25603" name="Picture 3"/>
          <p:cNvPicPr>
            <a:picLocks noChangeArrowheads="1" noChangeAspect="1"/>
          </p:cNvPicPr>
          <p:nvPr/>
        </p:nvPicPr>
        <p:blipFill>
          <a:blip cstate="print" r:embed="rId2"/>
          <a:srcRect/>
          <a:stretch>
            <a:fillRect/>
          </a:stretch>
        </p:blipFill>
        <p:spPr>
          <a:xfrm>
            <a:off x="533400" y="4038600"/>
            <a:ext cx="8353425" cy="2200275"/>
          </a:xfrm>
          <a:prstGeom prst="rect">
            <a:avLst/>
          </a:prstGeom>
          <a:noFill/>
          <a:ln w="9525">
            <a:noFill/>
            <a:miter lim="800000"/>
            <a:headEnd/>
            <a:tailEnd/>
          </a:ln>
        </p:spPr>
      </p:pic>
      <p:sp>
        <p:nvSpPr>
          <p:cNvPr id="9" name="Rectangle 8"/>
          <p:cNvSpPr/>
          <p:nvPr/>
        </p:nvSpPr>
        <p:spPr>
          <a:xfrm>
            <a:off x="3505200" y="0"/>
            <a:ext cx="1577420" cy="584775"/>
          </a:xfrm>
          <a:prstGeom prst="rect">
            <a:avLst/>
          </a:prstGeom>
        </p:spPr>
        <p:txBody>
          <a:bodyPr numCol="1" wrap="none">
            <a:spAutoFit/>
          </a:bodyPr>
          <a:lstStyle/>
          <a:p>
            <a:r>
              <a:rPr b="1" dirty="0" lang="en-US" smtClean="0" sz="3200"/>
              <a:t>$$ROOT</a:t>
            </a:r>
            <a:endParaRPr b="1" dirty="0" lang="en-US" sz="3200"/>
          </a:p>
        </p:txBody>
      </p:sp>
    </p:spTree>
  </p:cSld>
  <p:clrMapOvr>
    <a:masterClrMapping/>
  </p:clrMapOvr>
  <p:timing>
    <p:tnLst>
      <p:par>
        <p:cTn dur="indefinite" id="1" nodeType="tmRoot" restart="never"/>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705600"/>
          </a:xfrm>
        </p:spPr>
        <p:txBody>
          <a:bodyPr numCol="1">
            <a:normAutofit fontScale="85000" lnSpcReduction="20000"/>
          </a:bodyPr>
          <a:lstStyle/>
          <a:p>
            <a:endParaRPr dirty="0" lang="en-US" smtClean="0"/>
          </a:p>
          <a:p>
            <a:endParaRPr dirty="0" lang="en-US"/>
          </a:p>
          <a:p>
            <a:endParaRPr dirty="0" lang="en-US" smtClean="0"/>
          </a:p>
          <a:p>
            <a:endParaRPr dirty="0" lang="en-US"/>
          </a:p>
          <a:p>
            <a:endParaRPr dirty="0" lang="en-US" smtClean="0"/>
          </a:p>
          <a:p>
            <a:endParaRPr dirty="0" lang="en-US"/>
          </a:p>
          <a:p>
            <a:pPr>
              <a:buNone/>
            </a:pPr>
            <a:endParaRPr dirty="0" lang="en-US" smtClean="0"/>
          </a:p>
          <a:p>
            <a:pPr>
              <a:buNone/>
            </a:pPr>
            <a:endParaRPr dirty="0" lang="en-US" smtClean="0"/>
          </a:p>
          <a:p>
            <a:pPr>
              <a:buNone/>
            </a:pPr>
            <a:endParaRPr dirty="0" lang="en-US" smtClean="0"/>
          </a:p>
          <a:p>
            <a:pPr>
              <a:buNone/>
            </a:pPr>
            <a:endParaRPr dirty="0" lang="en-US" smtClean="0"/>
          </a:p>
          <a:p>
            <a:pPr>
              <a:buNone/>
            </a:pPr>
            <a:endParaRPr dirty="0" lang="en-US" smtClean="0"/>
          </a:p>
          <a:p>
            <a:pPr algn="just">
              <a:lnSpc>
                <a:spcPct val="120000"/>
              </a:lnSpc>
            </a:pPr>
            <a:r>
              <a:rPr dirty="0" lang="en-US" sz="2400"/>
              <a:t>Calculate </a:t>
            </a:r>
            <a:r>
              <a:rPr dirty="0" lang="en-US" smtClean="0" sz="2400"/>
              <a:t>and return the total order </a:t>
            </a:r>
            <a:r>
              <a:rPr dirty="0" lang="en-US" sz="2400"/>
              <a:t>q</a:t>
            </a:r>
            <a:r>
              <a:rPr dirty="0" lang="en-US" smtClean="0" sz="2400"/>
              <a:t>uantity of </a:t>
            </a:r>
            <a:r>
              <a:rPr dirty="0" lang="en-US" sz="2400"/>
              <a:t>medium size pizzas grouped by pizza </a:t>
            </a:r>
            <a:r>
              <a:rPr dirty="0" lang="en-US" smtClean="0" sz="2400"/>
              <a:t>name</a:t>
            </a:r>
          </a:p>
          <a:p>
            <a:pPr algn="just" fontAlgn="t">
              <a:lnSpc>
                <a:spcPct val="120000"/>
              </a:lnSpc>
            </a:pPr>
            <a:r>
              <a:rPr dirty="0" err="1" lang="en-US" smtClean="0" sz="2400"/>
              <a:t>db.orders.</a:t>
            </a:r>
            <a:r>
              <a:rPr dirty="0" err="1" lang="en-US" sz="2400"/>
              <a:t>aggregate</a:t>
            </a:r>
            <a:r>
              <a:rPr dirty="0" lang="en-US" smtClean="0" sz="2400"/>
              <a:t>( [</a:t>
            </a:r>
          </a:p>
          <a:p>
            <a:pPr algn="just" fontAlgn="t">
              <a:lnSpc>
                <a:spcPct val="120000"/>
              </a:lnSpc>
              <a:buNone/>
            </a:pPr>
            <a:r>
              <a:rPr dirty="0" lang="en-US" sz="2400"/>
              <a:t> </a:t>
            </a:r>
            <a:r>
              <a:rPr dirty="0" lang="en-US" smtClean="0" sz="2400"/>
              <a:t>     $</a:t>
            </a:r>
            <a:r>
              <a:rPr dirty="0" lang="en-US" sz="2400"/>
              <a:t>match</a:t>
            </a:r>
            <a:r>
              <a:rPr dirty="0" lang="en-US" smtClean="0" sz="2400"/>
              <a:t>: { </a:t>
            </a:r>
            <a:r>
              <a:rPr dirty="0" lang="en-US" sz="2400"/>
              <a:t>size</a:t>
            </a:r>
            <a:r>
              <a:rPr dirty="0" lang="en-US" smtClean="0" sz="2400"/>
              <a:t>: </a:t>
            </a:r>
            <a:r>
              <a:rPr b="1" dirty="0" lang="en-US" sz="2400"/>
              <a:t>"medium"</a:t>
            </a:r>
            <a:r>
              <a:rPr dirty="0" lang="en-US" smtClean="0" sz="2400"/>
              <a:t> } },</a:t>
            </a:r>
          </a:p>
          <a:p>
            <a:pPr algn="just" fontAlgn="t">
              <a:lnSpc>
                <a:spcPct val="120000"/>
              </a:lnSpc>
              <a:buNone/>
            </a:pPr>
            <a:r>
              <a:rPr dirty="0" lang="en-US" smtClean="0" sz="2400"/>
              <a:t>      { </a:t>
            </a:r>
            <a:r>
              <a:rPr dirty="0" lang="en-US" sz="2400"/>
              <a:t>$group</a:t>
            </a:r>
            <a:r>
              <a:rPr dirty="0" lang="en-US" smtClean="0" sz="2400"/>
              <a:t>: { </a:t>
            </a:r>
            <a:r>
              <a:rPr dirty="0" lang="en-US" sz="2400"/>
              <a:t>_id</a:t>
            </a:r>
            <a:r>
              <a:rPr dirty="0" lang="en-US" smtClean="0" sz="2400"/>
              <a:t>: </a:t>
            </a:r>
            <a:r>
              <a:rPr b="1" dirty="0" lang="en-US" sz="2400"/>
              <a:t>"$name"</a:t>
            </a:r>
            <a:r>
              <a:rPr dirty="0" lang="en-US" smtClean="0" sz="2400"/>
              <a:t>, </a:t>
            </a:r>
            <a:r>
              <a:rPr dirty="0" err="1" lang="en-US" sz="2400"/>
              <a:t>totalQuantity</a:t>
            </a:r>
            <a:r>
              <a:rPr dirty="0" lang="en-US" smtClean="0" sz="2400"/>
              <a:t>: { </a:t>
            </a:r>
            <a:r>
              <a:rPr dirty="0" lang="en-US" sz="2400"/>
              <a:t>$sum</a:t>
            </a:r>
            <a:r>
              <a:rPr dirty="0" lang="en-US" smtClean="0" sz="2400"/>
              <a:t>: </a:t>
            </a:r>
            <a:r>
              <a:rPr b="1" dirty="0" lang="en-US" sz="2400"/>
              <a:t>"$quantity"</a:t>
            </a:r>
            <a:r>
              <a:rPr dirty="0" lang="en-US" smtClean="0" sz="2400"/>
              <a:t> } } }</a:t>
            </a:r>
          </a:p>
          <a:p>
            <a:pPr algn="just" fontAlgn="t">
              <a:lnSpc>
                <a:spcPct val="120000"/>
              </a:lnSpc>
              <a:buNone/>
            </a:pPr>
            <a:r>
              <a:rPr dirty="0" lang="en-US" smtClean="0" sz="2400"/>
              <a:t>      ] )</a:t>
            </a:r>
            <a:endParaRPr dirty="0" lang="en-US" sz="2400"/>
          </a:p>
        </p:txBody>
      </p:sp>
      <p:pic>
        <p:nvPicPr>
          <p:cNvPr id="2050" name="Picture 2"/>
          <p:cNvPicPr>
            <a:picLocks noChangeArrowheads="1" noChangeAspect="1"/>
          </p:cNvPicPr>
          <p:nvPr/>
        </p:nvPicPr>
        <p:blipFill>
          <a:blip cstate="print" r:embed="rId2"/>
          <a:srcRect/>
          <a:stretch>
            <a:fillRect/>
          </a:stretch>
        </p:blipFill>
        <p:spPr>
          <a:xfrm>
            <a:off x="1981200" y="685800"/>
            <a:ext cx="5553075" cy="3965437"/>
          </a:xfrm>
          <a:prstGeom prst="rect">
            <a:avLst/>
          </a:prstGeom>
          <a:noFill/>
          <a:ln w="9525">
            <a:noFill/>
            <a:miter lim="800000"/>
            <a:headEnd/>
            <a:tailEnd/>
          </a:ln>
        </p:spPr>
      </p:pic>
      <p:sp>
        <p:nvSpPr>
          <p:cNvPr id="4" name="TextBox 3"/>
          <p:cNvSpPr txBox="1"/>
          <p:nvPr/>
        </p:nvSpPr>
        <p:spPr>
          <a:xfrm>
            <a:off x="3733800" y="152400"/>
            <a:ext cx="1109599" cy="584775"/>
          </a:xfrm>
          <a:prstGeom prst="rect">
            <a:avLst/>
          </a:prstGeom>
          <a:noFill/>
        </p:spPr>
        <p:txBody>
          <a:bodyPr numCol="1" rtlCol="0" wrap="none">
            <a:spAutoFit/>
          </a:bodyPr>
          <a:lstStyle/>
          <a:p>
            <a:r>
              <a:rPr b="1" dirty="0" lang="en-US" smtClean="0" sz="3200"/>
              <a:t>$sum</a:t>
            </a:r>
            <a:endParaRPr b="1" dirty="0" lang="en-US" sz="3200"/>
          </a:p>
        </p:txBody>
      </p:sp>
    </p:spTree>
  </p:cSld>
  <p:clrMapOvr>
    <a:masterClrMapping/>
  </p:clrMapOvr>
  <p:timing>
    <p:tnLst>
      <p:par>
        <p:cTn dur="indefinite" id="1" nodeType="tmRoot" restart="never"/>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6629400"/>
          </a:xfrm>
        </p:spPr>
        <p:txBody>
          <a:bodyPr numCol="1">
            <a:normAutofit/>
          </a:bodyPr>
          <a:lstStyle/>
          <a:p>
            <a:pPr algn="just"/>
            <a:r>
              <a:rPr dirty="0" lang="en-US" sz="2400"/>
              <a:t>The $match stage:</a:t>
            </a:r>
          </a:p>
          <a:p>
            <a:pPr algn="just">
              <a:buFont charset="2" pitchFamily="2" typeface="Wingdings"/>
              <a:buChar char="Ø"/>
            </a:pPr>
            <a:r>
              <a:rPr dirty="0" lang="en-US" sz="2400"/>
              <a:t>Filters the pizza order documents to pizzas with a size of </a:t>
            </a:r>
            <a:r>
              <a:rPr dirty="0" lang="en-US" smtClean="0" sz="2400"/>
              <a:t>medium.</a:t>
            </a:r>
          </a:p>
          <a:p>
            <a:pPr algn="just">
              <a:buFont charset="2" pitchFamily="2" typeface="Wingdings"/>
              <a:buChar char="Ø"/>
            </a:pPr>
            <a:r>
              <a:rPr dirty="0" lang="en-US" smtClean="0" sz="2400"/>
              <a:t>Passes </a:t>
            </a:r>
            <a:r>
              <a:rPr dirty="0" lang="en-US" sz="2400"/>
              <a:t>the remaining documents to the $group stage.</a:t>
            </a:r>
          </a:p>
          <a:p>
            <a:pPr algn="just"/>
            <a:r>
              <a:rPr dirty="0" lang="en-US" sz="2400"/>
              <a:t>The $group stage:</a:t>
            </a:r>
          </a:p>
          <a:p>
            <a:pPr algn="just">
              <a:buFont charset="2" pitchFamily="2" typeface="Wingdings"/>
              <a:buChar char="Ø"/>
            </a:pPr>
            <a:r>
              <a:rPr dirty="0" lang="en-US" sz="2400"/>
              <a:t>Groups the remaining documents by pizza </a:t>
            </a:r>
            <a:r>
              <a:rPr dirty="0" lang="en-US" smtClean="0" sz="2400"/>
              <a:t>name.</a:t>
            </a:r>
          </a:p>
          <a:p>
            <a:pPr algn="just">
              <a:buFont charset="2" pitchFamily="2" typeface="Wingdings"/>
              <a:buChar char="Ø"/>
            </a:pPr>
            <a:r>
              <a:rPr dirty="0" lang="en-US" smtClean="0" sz="2400"/>
              <a:t>Uses</a:t>
            </a:r>
            <a:r>
              <a:rPr dirty="0" lang="en-US" sz="2400"/>
              <a:t> $sum to calculate the total order quantity for each pizza name. The total is stored in the </a:t>
            </a:r>
            <a:r>
              <a:rPr dirty="0" err="1" lang="en-US" sz="2400"/>
              <a:t>totalQuantity</a:t>
            </a:r>
            <a:r>
              <a:rPr dirty="0" lang="en-US" sz="2400"/>
              <a:t> field returned by the aggregation pipeline.</a:t>
            </a:r>
          </a:p>
          <a:p>
            <a:pPr algn="just" fontAlgn="t">
              <a:lnSpc>
                <a:spcPct val="120000"/>
              </a:lnSpc>
            </a:pPr>
            <a:r>
              <a:rPr dirty="0" err="1" lang="en-US" smtClean="0" sz="2400"/>
              <a:t>db.orders.aggregate</a:t>
            </a:r>
            <a:r>
              <a:rPr dirty="0" lang="en-US" smtClean="0" sz="2400"/>
              <a:t>( [</a:t>
            </a:r>
          </a:p>
          <a:p>
            <a:pPr algn="just" fontAlgn="t">
              <a:lnSpc>
                <a:spcPct val="120000"/>
              </a:lnSpc>
              <a:buNone/>
            </a:pPr>
            <a:r>
              <a:rPr dirty="0" lang="en-US" smtClean="0" sz="2400"/>
              <a:t>      $match: { size: </a:t>
            </a:r>
            <a:r>
              <a:rPr b="1" dirty="0" lang="en-US" smtClean="0" sz="2400"/>
              <a:t>"medium"</a:t>
            </a:r>
            <a:r>
              <a:rPr dirty="0" lang="en-US" smtClean="0" sz="2400"/>
              <a:t> } },</a:t>
            </a:r>
          </a:p>
          <a:p>
            <a:pPr algn="just" fontAlgn="t">
              <a:lnSpc>
                <a:spcPct val="120000"/>
              </a:lnSpc>
              <a:buNone/>
            </a:pPr>
            <a:r>
              <a:rPr dirty="0" lang="en-US" smtClean="0" sz="2400"/>
              <a:t>      { $group: { _id: </a:t>
            </a:r>
            <a:r>
              <a:rPr b="1" dirty="0" lang="en-US" smtClean="0" sz="2400"/>
              <a:t>"$name"</a:t>
            </a:r>
            <a:r>
              <a:rPr dirty="0" lang="en-US" smtClean="0" sz="2400"/>
              <a:t>, </a:t>
            </a:r>
            <a:r>
              <a:rPr dirty="0" err="1" lang="en-US" smtClean="0" sz="2400"/>
              <a:t>totalQuantity</a:t>
            </a:r>
            <a:r>
              <a:rPr dirty="0" lang="en-US" smtClean="0" sz="2400"/>
              <a:t>: { $sum: </a:t>
            </a:r>
            <a:r>
              <a:rPr b="1" dirty="0" lang="en-US" smtClean="0" sz="2400"/>
              <a:t>"$quantity"</a:t>
            </a:r>
            <a:r>
              <a:rPr dirty="0" lang="en-US" smtClean="0" sz="2400"/>
              <a:t> } } }</a:t>
            </a:r>
          </a:p>
          <a:p>
            <a:pPr algn="just" fontAlgn="t">
              <a:lnSpc>
                <a:spcPct val="120000"/>
              </a:lnSpc>
              <a:buNone/>
            </a:pPr>
            <a:r>
              <a:rPr dirty="0" lang="en-US" smtClean="0" sz="2400"/>
              <a:t>      ] )</a:t>
            </a:r>
          </a:p>
          <a:p>
            <a:endParaRPr dirty="0" lang="en-US"/>
          </a:p>
        </p:txBody>
      </p:sp>
      <p:pic>
        <p:nvPicPr>
          <p:cNvPr id="3074" name="Picture 2"/>
          <p:cNvPicPr>
            <a:picLocks noChangeArrowheads="1" noChangeAspect="1"/>
          </p:cNvPicPr>
          <p:nvPr/>
        </p:nvPicPr>
        <p:blipFill>
          <a:blip cstate="print" r:embed="rId2"/>
          <a:srcRect/>
          <a:stretch>
            <a:fillRect/>
          </a:stretch>
        </p:blipFill>
        <p:spPr>
          <a:xfrm>
            <a:off x="3505200" y="5334000"/>
            <a:ext cx="4365856" cy="1362075"/>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numCol="1">
            <a:noAutofit/>
          </a:bodyPr>
          <a:lstStyle/>
          <a:p>
            <a:r>
              <a:rPr b="1" dirty="0" lang="en-US" smtClean="0" sz="3200"/>
              <a:t>$count</a:t>
            </a:r>
            <a:endParaRPr b="1" dirty="0" lang="en-US" sz="3200"/>
          </a:p>
        </p:txBody>
      </p:sp>
      <p:sp>
        <p:nvSpPr>
          <p:cNvPr id="3" name="Content Placeholder 2"/>
          <p:cNvSpPr>
            <a:spLocks noGrp="1"/>
          </p:cNvSpPr>
          <p:nvPr>
            <p:ph idx="1"/>
          </p:nvPr>
        </p:nvSpPr>
        <p:spPr>
          <a:xfrm>
            <a:off x="152400" y="533400"/>
            <a:ext cx="8839200" cy="6172200"/>
          </a:xfrm>
        </p:spPr>
        <p:txBody>
          <a:bodyPr numCol="1"/>
          <a:lstStyle/>
          <a:p>
            <a:pPr algn="just"/>
            <a:r>
              <a:rPr dirty="0" lang="en-US" smtClean="0" sz="2400"/>
              <a:t>Returns the number of documents in a group.</a:t>
            </a:r>
          </a:p>
          <a:p>
            <a:pPr algn="just">
              <a:buNone/>
            </a:pPr>
            <a:r>
              <a:rPr dirty="0" lang="en-US" smtClean="0" sz="2400"/>
              <a:t>Syntax:      { $count: { } }</a:t>
            </a:r>
          </a:p>
          <a:p>
            <a:pPr algn="just"/>
            <a:r>
              <a:rPr dirty="0" lang="en-US" smtClean="0" sz="2400"/>
              <a:t>$count does not accept any parameters.</a:t>
            </a:r>
          </a:p>
          <a:p>
            <a:pPr algn="just"/>
            <a:r>
              <a:rPr dirty="0" lang="en-US" smtClean="0" sz="2400"/>
              <a:t>$count is functionally equivalent to using { $sum : 1 } within the $group stage.</a:t>
            </a:r>
          </a:p>
          <a:p>
            <a:endParaRPr dirty="0" lang="en-US"/>
          </a:p>
        </p:txBody>
      </p:sp>
      <p:pic>
        <p:nvPicPr>
          <p:cNvPr id="27650" name="Picture 2"/>
          <p:cNvPicPr>
            <a:picLocks noChangeArrowheads="1" noChangeAspect="1"/>
          </p:cNvPicPr>
          <p:nvPr/>
        </p:nvPicPr>
        <p:blipFill>
          <a:blip cstate="print" r:embed="rId2"/>
          <a:srcRect/>
          <a:stretch>
            <a:fillRect/>
          </a:stretch>
        </p:blipFill>
        <p:spPr>
          <a:xfrm>
            <a:off x="381000" y="2809875"/>
            <a:ext cx="8515350" cy="4048125"/>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41649" y="152400"/>
            <a:ext cx="8618578" cy="400110"/>
          </a:xfrm>
          <a:prstGeom prst="rect">
            <a:avLst/>
          </a:prstGeom>
          <a:noFill/>
        </p:spPr>
        <p:txBody>
          <a:bodyPr numCol="1" rtlCol="0" wrap="none">
            <a:spAutoFit/>
          </a:bodyPr>
          <a:lstStyle/>
          <a:p>
            <a:pPr algn="just"/>
            <a:r>
              <a:rPr b="1" dirty="0" lang="en-US" smtClean="0" sz="2000"/>
              <a:t>Query: </a:t>
            </a:r>
            <a:r>
              <a:rPr dirty="0" lang="en-US" smtClean="0" sz="2000"/>
              <a:t>count the number of documents in the </a:t>
            </a:r>
            <a:r>
              <a:rPr dirty="0" err="1" lang="en-US" smtClean="0" sz="2000"/>
              <a:t>cakeSales</a:t>
            </a:r>
            <a:r>
              <a:rPr dirty="0" lang="en-US" smtClean="0" sz="2000"/>
              <a:t> collection for each state</a:t>
            </a:r>
          </a:p>
        </p:txBody>
      </p:sp>
      <p:pic>
        <p:nvPicPr>
          <p:cNvPr id="28674" name="Picture 2"/>
          <p:cNvPicPr>
            <a:picLocks noChangeArrowheads="1" noChangeAspect="1"/>
          </p:cNvPicPr>
          <p:nvPr/>
        </p:nvPicPr>
        <p:blipFill>
          <a:blip cstate="print" r:embed="rId2"/>
          <a:srcRect/>
          <a:stretch>
            <a:fillRect/>
          </a:stretch>
        </p:blipFill>
        <p:spPr>
          <a:xfrm>
            <a:off x="2286000" y="609600"/>
            <a:ext cx="4686300" cy="2857500"/>
          </a:xfrm>
          <a:prstGeom prst="rect">
            <a:avLst/>
          </a:prstGeom>
          <a:noFill/>
          <a:ln w="9525">
            <a:noFill/>
            <a:miter lim="800000"/>
            <a:headEnd/>
            <a:tailEnd/>
          </a:ln>
        </p:spPr>
      </p:pic>
      <p:sp>
        <p:nvSpPr>
          <p:cNvPr id="6" name="TextBox 5"/>
          <p:cNvSpPr txBox="1"/>
          <p:nvPr/>
        </p:nvSpPr>
        <p:spPr>
          <a:xfrm>
            <a:off x="152400" y="3505200"/>
            <a:ext cx="8839200" cy="1908215"/>
          </a:xfrm>
          <a:prstGeom prst="rect">
            <a:avLst/>
          </a:prstGeom>
          <a:noFill/>
        </p:spPr>
        <p:txBody>
          <a:bodyPr numCol="1" rtlCol="0" wrap="square">
            <a:spAutoFit/>
          </a:bodyPr>
          <a:lstStyle/>
          <a:p>
            <a:pPr algn="just"/>
            <a:r>
              <a:rPr dirty="0" lang="en-US" smtClean="0" sz="2000"/>
              <a:t>In the example:</a:t>
            </a:r>
          </a:p>
          <a:p>
            <a:pPr algn="just">
              <a:buFont charset="0" pitchFamily="34" typeface="Arial"/>
              <a:buChar char="•"/>
            </a:pPr>
            <a:r>
              <a:rPr dirty="0" lang="en-US" smtClean="0" sz="2000"/>
              <a:t> _id: "$state" groups the documents by the state field value. There are groups for CA and WA.</a:t>
            </a:r>
          </a:p>
          <a:p>
            <a:pPr algn="just">
              <a:buFont charset="0" pitchFamily="34" typeface="Arial"/>
              <a:buChar char="•"/>
            </a:pPr>
            <a:r>
              <a:rPr dirty="0" lang="en-US" smtClean="0" sz="2000"/>
              <a:t> $count: {} sets the </a:t>
            </a:r>
            <a:r>
              <a:rPr dirty="0" err="1" lang="en-US" smtClean="0" sz="2000"/>
              <a:t>countNumberOfDocumentsForState</a:t>
            </a:r>
            <a:r>
              <a:rPr dirty="0" lang="en-US" smtClean="0" sz="2000"/>
              <a:t> field to the number of documents that share the same state field value.</a:t>
            </a:r>
          </a:p>
          <a:p>
            <a:endParaRPr dirty="0" lang="en-US"/>
          </a:p>
        </p:txBody>
      </p:sp>
      <p:pic>
        <p:nvPicPr>
          <p:cNvPr id="28676" name="Picture 4"/>
          <p:cNvPicPr>
            <a:picLocks noChangeArrowheads="1" noChangeAspect="1"/>
          </p:cNvPicPr>
          <p:nvPr/>
        </p:nvPicPr>
        <p:blipFill>
          <a:blip cstate="print" r:embed="rId3"/>
          <a:srcRect/>
          <a:stretch>
            <a:fillRect/>
          </a:stretch>
        </p:blipFill>
        <p:spPr>
          <a:xfrm>
            <a:off x="1828800" y="5257800"/>
            <a:ext cx="5953125" cy="64770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numCol="1">
            <a:normAutofit fontScale="90000"/>
          </a:bodyPr>
          <a:lstStyle/>
          <a:p>
            <a:r>
              <a:rPr b="1" dirty="0" lang="en-US" smtClean="0" sz="3200"/>
              <a:t>$max</a:t>
            </a:r>
            <a:endParaRPr b="1" dirty="0" lang="en-US" sz="3200"/>
          </a:p>
        </p:txBody>
      </p:sp>
      <p:sp>
        <p:nvSpPr>
          <p:cNvPr id="3" name="Content Placeholder 2"/>
          <p:cNvSpPr>
            <a:spLocks noGrp="1"/>
          </p:cNvSpPr>
          <p:nvPr>
            <p:ph idx="1"/>
          </p:nvPr>
        </p:nvSpPr>
        <p:spPr>
          <a:xfrm>
            <a:off x="76200" y="533400"/>
            <a:ext cx="9067800" cy="4343400"/>
          </a:xfrm>
        </p:spPr>
        <p:txBody>
          <a:bodyPr numCol="1">
            <a:normAutofit fontScale="92500" lnSpcReduction="10000"/>
          </a:bodyPr>
          <a:lstStyle/>
          <a:p>
            <a:pPr algn="just"/>
            <a:r>
              <a:rPr dirty="0" lang="en-US" smtClean="0" sz="2600"/>
              <a:t>Returns the maximum value. $max compares both value and type, using the specified BSON comparison order for values of different types.</a:t>
            </a:r>
          </a:p>
          <a:p>
            <a:pPr algn="just">
              <a:buNone/>
            </a:pPr>
            <a:r>
              <a:rPr b="1" dirty="0" lang="en-US" smtClean="0" sz="2600"/>
              <a:t>Syntax: </a:t>
            </a:r>
            <a:r>
              <a:rPr dirty="0" lang="en-US" smtClean="0" sz="2600"/>
              <a:t>{ $max: &lt;expression&gt; }</a:t>
            </a:r>
          </a:p>
          <a:p>
            <a:pPr algn="just">
              <a:buNone/>
            </a:pPr>
            <a:r>
              <a:rPr b="1" dirty="0" lang="en-US" smtClean="0" sz="2600"/>
              <a:t>Null or Missing Values:</a:t>
            </a:r>
          </a:p>
          <a:p>
            <a:pPr algn="just"/>
            <a:r>
              <a:rPr dirty="0" lang="en-US" smtClean="0" sz="2600"/>
              <a:t>If some, </a:t>
            </a:r>
            <a:r>
              <a:rPr b="1" dirty="0" lang="en-US" smtClean="0" sz="2600"/>
              <a:t>but not all</a:t>
            </a:r>
            <a:r>
              <a:rPr dirty="0" lang="en-US" smtClean="0" sz="2600"/>
              <a:t>, documents for the $max operation have either a null value for the field or are missing the field, the $max operator only considers the non-null and the non-missing values for the field.</a:t>
            </a:r>
          </a:p>
          <a:p>
            <a:pPr algn="just"/>
            <a:r>
              <a:rPr dirty="0" lang="en-US" smtClean="0" sz="2600"/>
              <a:t>If </a:t>
            </a:r>
            <a:r>
              <a:rPr b="1" dirty="0" lang="en-US" smtClean="0" sz="2600"/>
              <a:t>all</a:t>
            </a:r>
            <a:r>
              <a:rPr dirty="0" lang="en-US" smtClean="0" sz="2600"/>
              <a:t> documents for the $max operation have null value for the field or are missing the field, the $max operator returns null for the maximum value.</a:t>
            </a:r>
          </a:p>
          <a:p>
            <a:pPr>
              <a:buNone/>
            </a:pPr>
            <a:endParaRPr dirty="0" lang="en-US"/>
          </a:p>
        </p:txBody>
      </p:sp>
      <p:pic>
        <p:nvPicPr>
          <p:cNvPr id="1026" name="Picture 2"/>
          <p:cNvPicPr>
            <a:picLocks noChangeArrowheads="1" noChangeAspect="1"/>
          </p:cNvPicPr>
          <p:nvPr/>
        </p:nvPicPr>
        <p:blipFill>
          <a:blip cstate="print" r:embed="rId2"/>
          <a:srcRect/>
          <a:stretch>
            <a:fillRect/>
          </a:stretch>
        </p:blipFill>
        <p:spPr>
          <a:xfrm>
            <a:off x="54708" y="4800600"/>
            <a:ext cx="9089292" cy="160020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2400" y="0"/>
            <a:ext cx="8839200" cy="923330"/>
          </a:xfrm>
          <a:prstGeom prst="rect">
            <a:avLst/>
          </a:prstGeom>
          <a:noFill/>
        </p:spPr>
        <p:txBody>
          <a:bodyPr numCol="1" rtlCol="0" wrap="square">
            <a:spAutoFit/>
          </a:bodyPr>
          <a:lstStyle/>
          <a:p>
            <a:pPr algn="just"/>
            <a:r>
              <a:rPr dirty="0" lang="en-US" smtClean="0"/>
              <a:t>Grouping the documents by the item field, the following operation uses the $max accumulator to compute the maximum total amount and maximum quantity for each group of documents.</a:t>
            </a:r>
            <a:endParaRPr dirty="0" lang="en-US"/>
          </a:p>
        </p:txBody>
      </p:sp>
      <p:pic>
        <p:nvPicPr>
          <p:cNvPr id="2051" name="Picture 3"/>
          <p:cNvPicPr>
            <a:picLocks noChangeArrowheads="1" noChangeAspect="1"/>
          </p:cNvPicPr>
          <p:nvPr/>
        </p:nvPicPr>
        <p:blipFill>
          <a:blip cstate="print" r:embed="rId2"/>
          <a:srcRect/>
          <a:stretch>
            <a:fillRect/>
          </a:stretch>
        </p:blipFill>
        <p:spPr>
          <a:xfrm>
            <a:off x="381000" y="990600"/>
            <a:ext cx="8448675" cy="3362325"/>
          </a:xfrm>
          <a:prstGeom prst="rect">
            <a:avLst/>
          </a:prstGeom>
          <a:noFill/>
          <a:ln w="9525">
            <a:noFill/>
            <a:miter lim="800000"/>
            <a:headEnd/>
            <a:tailEnd/>
          </a:ln>
        </p:spPr>
      </p:pic>
      <p:pic>
        <p:nvPicPr>
          <p:cNvPr id="2052" name="Picture 4"/>
          <p:cNvPicPr>
            <a:picLocks noChangeArrowheads="1" noChangeAspect="1"/>
          </p:cNvPicPr>
          <p:nvPr/>
        </p:nvPicPr>
        <p:blipFill>
          <a:blip cstate="print" r:embed="rId3"/>
          <a:srcRect/>
          <a:stretch>
            <a:fillRect/>
          </a:stretch>
        </p:blipFill>
        <p:spPr>
          <a:xfrm>
            <a:off x="1295400" y="5410200"/>
            <a:ext cx="6638925" cy="876300"/>
          </a:xfrm>
          <a:prstGeom prst="rect">
            <a:avLst/>
          </a:prstGeom>
          <a:noFill/>
          <a:ln w="9525">
            <a:noFill/>
            <a:miter lim="800000"/>
            <a:headEnd/>
            <a:tailEnd/>
          </a:ln>
        </p:spPr>
      </p:pic>
      <p:sp>
        <p:nvSpPr>
          <p:cNvPr id="6" name="Rectangle 5"/>
          <p:cNvSpPr/>
          <p:nvPr/>
        </p:nvSpPr>
        <p:spPr>
          <a:xfrm>
            <a:off x="1295400" y="4953000"/>
            <a:ext cx="918841" cy="369332"/>
          </a:xfrm>
          <a:prstGeom prst="rect">
            <a:avLst/>
          </a:prstGeom>
        </p:spPr>
        <p:txBody>
          <a:bodyPr numCol="1" wrap="none">
            <a:spAutoFit/>
          </a:bodyPr>
          <a:lstStyle/>
          <a:p>
            <a:r>
              <a:rPr dirty="0" lang="en-US" smtClean="0"/>
              <a:t>Output:</a:t>
            </a:r>
            <a:endParaRPr dirty="0" lang="en-US"/>
          </a:p>
        </p:txBody>
      </p:sp>
    </p:spTree>
  </p:cSld>
  <p:clrMapOvr>
    <a:masterClrMapping/>
  </p:clrMapOvr>
  <p:timing>
    <p:tnLst>
      <p:par>
        <p:cTn dur="indefinite" id="1" nodeType="tmRoot" restart="never"/>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numCol="1">
            <a:noAutofit/>
          </a:bodyPr>
          <a:lstStyle/>
          <a:p>
            <a:r>
              <a:rPr b="1" dirty="0" lang="en-US" smtClean="0" sz="3200"/>
              <a:t>$min</a:t>
            </a:r>
            <a:endParaRPr b="1" dirty="0" lang="en-US" sz="3200"/>
          </a:p>
        </p:txBody>
      </p:sp>
      <p:sp>
        <p:nvSpPr>
          <p:cNvPr id="3" name="Content Placeholder 2"/>
          <p:cNvSpPr>
            <a:spLocks noGrp="1"/>
          </p:cNvSpPr>
          <p:nvPr>
            <p:ph idx="1"/>
          </p:nvPr>
        </p:nvSpPr>
        <p:spPr>
          <a:xfrm>
            <a:off x="152400" y="533400"/>
            <a:ext cx="8991600" cy="6324600"/>
          </a:xfrm>
        </p:spPr>
        <p:txBody>
          <a:bodyPr numCol="1">
            <a:normAutofit/>
          </a:bodyPr>
          <a:lstStyle/>
          <a:p>
            <a:pPr algn="just"/>
            <a:r>
              <a:rPr dirty="0" lang="en-US" smtClean="0" sz="2400"/>
              <a:t>Returns the minimum value.</a:t>
            </a:r>
          </a:p>
          <a:p>
            <a:pPr algn="just"/>
            <a:r>
              <a:rPr dirty="0" lang="en-US" smtClean="0" sz="2400"/>
              <a:t> $min compares both value and type, using the specified BSON comparison order for values of different types.</a:t>
            </a:r>
          </a:p>
          <a:p>
            <a:pPr algn="just">
              <a:buNone/>
            </a:pPr>
            <a:r>
              <a:rPr b="1" dirty="0" lang="en-US" smtClean="0" sz="2400"/>
              <a:t>Syntax: </a:t>
            </a:r>
            <a:r>
              <a:rPr dirty="0" lang="en-US" smtClean="0" sz="2400"/>
              <a:t>{ $min: &lt;expression&gt; }</a:t>
            </a:r>
          </a:p>
          <a:p>
            <a:pPr algn="just">
              <a:buNone/>
            </a:pPr>
            <a:r>
              <a:rPr b="1" dirty="0" lang="en-US" smtClean="0" sz="2400"/>
              <a:t>Null or Missing Values:</a:t>
            </a:r>
          </a:p>
          <a:p>
            <a:pPr algn="just"/>
            <a:r>
              <a:rPr dirty="0" lang="en-US" smtClean="0" sz="2400"/>
              <a:t>If some, </a:t>
            </a:r>
            <a:r>
              <a:rPr b="1" dirty="0" lang="en-US" smtClean="0" sz="2400"/>
              <a:t>but not all</a:t>
            </a:r>
            <a:r>
              <a:rPr dirty="0" lang="en-US" smtClean="0" sz="2400"/>
              <a:t>, documents for the $min operation have either a null value for the field or are missing the field, the $min operator only considers the non-null and the non-missing values for the field.</a:t>
            </a:r>
          </a:p>
          <a:p>
            <a:pPr algn="just"/>
            <a:r>
              <a:rPr dirty="0" lang="en-US" smtClean="0" sz="2400"/>
              <a:t>If </a:t>
            </a:r>
            <a:r>
              <a:rPr b="1" dirty="0" lang="en-US" smtClean="0" sz="2400"/>
              <a:t>all</a:t>
            </a:r>
            <a:r>
              <a:rPr dirty="0" lang="en-US" smtClean="0" sz="2400"/>
              <a:t> documents for the $min operation have null value for the field or are missing the field, the $min operator returns null for the minimum value.</a:t>
            </a:r>
          </a:p>
          <a:p>
            <a:endParaRPr dirty="0" lang="en-US"/>
          </a:p>
        </p:txBody>
      </p:sp>
      <p:pic>
        <p:nvPicPr>
          <p:cNvPr id="4" name="Picture 2"/>
          <p:cNvPicPr>
            <a:picLocks noChangeArrowheads="1" noChangeAspect="1"/>
          </p:cNvPicPr>
          <p:nvPr/>
        </p:nvPicPr>
        <p:blipFill>
          <a:blip cstate="print" r:embed="rId2"/>
          <a:srcRect/>
          <a:stretch>
            <a:fillRect/>
          </a:stretch>
        </p:blipFill>
        <p:spPr>
          <a:xfrm>
            <a:off x="54708" y="5029200"/>
            <a:ext cx="9089292" cy="160020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9144000" cy="1200329"/>
          </a:xfrm>
          <a:prstGeom prst="rect">
            <a:avLst/>
          </a:prstGeom>
          <a:noFill/>
        </p:spPr>
        <p:txBody>
          <a:bodyPr numCol="1" rtlCol="0" wrap="square">
            <a:spAutoFit/>
          </a:bodyPr>
          <a:lstStyle/>
          <a:p>
            <a:pPr algn="just"/>
            <a:r>
              <a:rPr dirty="0" lang="en-US" smtClean="0" sz="2400"/>
              <a:t>Grouping the documents by the item field, the following operation uses the $min accumulator to compute the minimum amount and minimum quantity for each grouping.</a:t>
            </a:r>
            <a:endParaRPr dirty="0" lang="en-US" sz="2400"/>
          </a:p>
        </p:txBody>
      </p:sp>
      <p:pic>
        <p:nvPicPr>
          <p:cNvPr id="34818" name="Picture 2"/>
          <p:cNvPicPr>
            <a:picLocks noChangeArrowheads="1" noChangeAspect="1"/>
          </p:cNvPicPr>
          <p:nvPr/>
        </p:nvPicPr>
        <p:blipFill>
          <a:blip cstate="print" r:embed="rId2"/>
          <a:srcRect/>
          <a:stretch>
            <a:fillRect/>
          </a:stretch>
        </p:blipFill>
        <p:spPr>
          <a:xfrm>
            <a:off x="1981200" y="1143000"/>
            <a:ext cx="4962525" cy="3133725"/>
          </a:xfrm>
          <a:prstGeom prst="rect">
            <a:avLst/>
          </a:prstGeom>
          <a:noFill/>
          <a:ln w="9525">
            <a:noFill/>
            <a:miter lim="800000"/>
            <a:headEnd/>
            <a:tailEnd/>
          </a:ln>
        </p:spPr>
      </p:pic>
      <p:pic>
        <p:nvPicPr>
          <p:cNvPr id="34819" name="Picture 3"/>
          <p:cNvPicPr>
            <a:picLocks noChangeArrowheads="1" noChangeAspect="1"/>
          </p:cNvPicPr>
          <p:nvPr/>
        </p:nvPicPr>
        <p:blipFill>
          <a:blip cstate="print" r:embed="rId3"/>
          <a:srcRect/>
          <a:stretch>
            <a:fillRect/>
          </a:stretch>
        </p:blipFill>
        <p:spPr>
          <a:xfrm>
            <a:off x="2209800" y="5257800"/>
            <a:ext cx="3962400" cy="952500"/>
          </a:xfrm>
          <a:prstGeom prst="rect">
            <a:avLst/>
          </a:prstGeom>
          <a:noFill/>
          <a:ln w="9525">
            <a:noFill/>
            <a:miter lim="800000"/>
            <a:headEnd/>
            <a:tailEnd/>
          </a:ln>
        </p:spPr>
      </p:pic>
      <p:sp>
        <p:nvSpPr>
          <p:cNvPr id="5" name="Rectangle 4"/>
          <p:cNvSpPr/>
          <p:nvPr/>
        </p:nvSpPr>
        <p:spPr>
          <a:xfrm>
            <a:off x="1905000" y="4800600"/>
            <a:ext cx="918841" cy="369332"/>
          </a:xfrm>
          <a:prstGeom prst="rect">
            <a:avLst/>
          </a:prstGeom>
        </p:spPr>
        <p:txBody>
          <a:bodyPr numCol="1" wrap="none">
            <a:spAutoFit/>
          </a:bodyPr>
          <a:lstStyle/>
          <a:p>
            <a:r>
              <a:rPr dirty="0" lang="en-US" smtClean="0"/>
              <a:t>Output:</a:t>
            </a:r>
            <a:endParaRPr dirty="0" lang="en-US"/>
          </a:p>
        </p:txBody>
      </p:sp>
    </p:spTree>
  </p:cSld>
  <p:clrMapOvr>
    <a:masterClrMapping/>
  </p:clrMapOvr>
  <p:timing>
    <p:tnLst>
      <p:par>
        <p:cTn dur="indefinite" id="1" nodeType="tmRoot" restart="never"/>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numCol="1">
            <a:noAutofit/>
          </a:bodyPr>
          <a:lstStyle/>
          <a:p>
            <a:r>
              <a:rPr b="1" dirty="0" lang="en-US" smtClean="0" sz="3200"/>
              <a:t>$avg</a:t>
            </a:r>
            <a:endParaRPr b="1" dirty="0" lang="en-US" sz="3200"/>
          </a:p>
        </p:txBody>
      </p:sp>
      <p:sp>
        <p:nvSpPr>
          <p:cNvPr id="3" name="Content Placeholder 2"/>
          <p:cNvSpPr>
            <a:spLocks noGrp="1"/>
          </p:cNvSpPr>
          <p:nvPr>
            <p:ph idx="1"/>
          </p:nvPr>
        </p:nvSpPr>
        <p:spPr>
          <a:xfrm>
            <a:off x="0" y="533400"/>
            <a:ext cx="9144000" cy="6248400"/>
          </a:xfrm>
        </p:spPr>
        <p:txBody>
          <a:bodyPr numCol="1"/>
          <a:lstStyle/>
          <a:p>
            <a:pPr algn="just"/>
            <a:r>
              <a:rPr dirty="0" lang="en-US" smtClean="0" sz="2400"/>
              <a:t>Returns the average value of the numeric values. </a:t>
            </a:r>
          </a:p>
          <a:p>
            <a:pPr algn="just"/>
            <a:r>
              <a:rPr dirty="0" lang="en-US" smtClean="0" sz="2400"/>
              <a:t>$avg ignores non-numeric values.</a:t>
            </a:r>
          </a:p>
          <a:p>
            <a:pPr algn="just">
              <a:buNone/>
            </a:pPr>
            <a:r>
              <a:rPr b="1" dirty="0" lang="en-US" smtClean="0" sz="2400"/>
              <a:t>Syntax: </a:t>
            </a:r>
            <a:r>
              <a:rPr dirty="0" lang="en-US" smtClean="0" sz="2400"/>
              <a:t>{ $avg: &lt;expression&gt; }</a:t>
            </a:r>
          </a:p>
          <a:p>
            <a:pPr algn="just">
              <a:buNone/>
            </a:pPr>
            <a:r>
              <a:rPr b="1" dirty="0" lang="en-US" smtClean="0" sz="2400"/>
              <a:t>Non-numeric or Missing Values:</a:t>
            </a:r>
          </a:p>
          <a:p>
            <a:pPr algn="just"/>
            <a:r>
              <a:rPr dirty="0" lang="en-US" smtClean="0" sz="2400"/>
              <a:t>$avg ignores non-numeric values, including missing values. If all of the operands for the average are non-numeric, $avg returns null since the average of zero values is undefined.</a:t>
            </a:r>
          </a:p>
          <a:p>
            <a:pPr algn="just">
              <a:buNone/>
            </a:pPr>
            <a:endParaRPr dirty="0" lang="en-US"/>
          </a:p>
        </p:txBody>
      </p:sp>
      <p:pic>
        <p:nvPicPr>
          <p:cNvPr id="4" name="Picture 2"/>
          <p:cNvPicPr>
            <a:picLocks noChangeArrowheads="1" noChangeAspect="1"/>
          </p:cNvPicPr>
          <p:nvPr/>
        </p:nvPicPr>
        <p:blipFill>
          <a:blip cstate="print" r:embed="rId2"/>
          <a:srcRect/>
          <a:stretch>
            <a:fillRect/>
          </a:stretch>
        </p:blipFill>
        <p:spPr>
          <a:xfrm>
            <a:off x="0" y="4191000"/>
            <a:ext cx="9089292" cy="1600200"/>
          </a:xfrm>
          <a:prstGeom prst="rect">
            <a:avLst/>
          </a:prstGeom>
          <a:noFill/>
          <a:ln w="9525">
            <a:noFill/>
            <a:miter lim="800000"/>
            <a:headEnd/>
            <a:tailEnd/>
          </a:ln>
        </p:spPr>
      </p:pic>
    </p:spTree>
  </p:cSld>
  <p:clrMapOvr>
    <a:masterClrMapping/>
  </p:clrMapOvr>
  <p:timing>
    <p:tnLst>
      <p:par>
        <p:cTn dur="indefinite" id="1" nodeType="tmRoot" restart="never"/>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52400"/>
            <a:ext cx="9067800" cy="1200329"/>
          </a:xfrm>
          <a:prstGeom prst="rect">
            <a:avLst/>
          </a:prstGeom>
          <a:noFill/>
        </p:spPr>
        <p:txBody>
          <a:bodyPr numCol="1" rtlCol="0" wrap="square">
            <a:spAutoFit/>
          </a:bodyPr>
          <a:lstStyle/>
          <a:p>
            <a:pPr algn="just"/>
            <a:r>
              <a:rPr dirty="0" lang="en-US" smtClean="0" sz="2400"/>
              <a:t>Grouping the documents by the item field, the following operation uses the $avg accumulator to compute the average amount and average quantity for each grouping.</a:t>
            </a:r>
            <a:endParaRPr dirty="0" lang="en-US" sz="2400"/>
          </a:p>
        </p:txBody>
      </p:sp>
      <p:pic>
        <p:nvPicPr>
          <p:cNvPr id="35842" name="Picture 2"/>
          <p:cNvPicPr>
            <a:picLocks noChangeArrowheads="1" noChangeAspect="1"/>
          </p:cNvPicPr>
          <p:nvPr/>
        </p:nvPicPr>
        <p:blipFill>
          <a:blip cstate="print" r:embed="rId2"/>
          <a:srcRect/>
          <a:stretch>
            <a:fillRect/>
          </a:stretch>
        </p:blipFill>
        <p:spPr>
          <a:xfrm>
            <a:off x="609600" y="1371600"/>
            <a:ext cx="7915275" cy="3457575"/>
          </a:xfrm>
          <a:prstGeom prst="rect">
            <a:avLst/>
          </a:prstGeom>
          <a:noFill/>
          <a:ln w="9525">
            <a:noFill/>
            <a:miter lim="800000"/>
            <a:headEnd/>
            <a:tailEnd/>
          </a:ln>
        </p:spPr>
      </p:pic>
      <p:pic>
        <p:nvPicPr>
          <p:cNvPr id="35843" name="Picture 3"/>
          <p:cNvPicPr>
            <a:picLocks noChangeArrowheads="1" noChangeAspect="1"/>
          </p:cNvPicPr>
          <p:nvPr/>
        </p:nvPicPr>
        <p:blipFill>
          <a:blip cstate="print" r:embed="rId3"/>
          <a:srcRect/>
          <a:stretch>
            <a:fillRect/>
          </a:stretch>
        </p:blipFill>
        <p:spPr>
          <a:xfrm>
            <a:off x="1219200" y="5562600"/>
            <a:ext cx="6343650" cy="885825"/>
          </a:xfrm>
          <a:prstGeom prst="rect">
            <a:avLst/>
          </a:prstGeom>
          <a:noFill/>
          <a:ln w="9525">
            <a:noFill/>
            <a:miter lim="800000"/>
            <a:headEnd/>
            <a:tailEnd/>
          </a:ln>
        </p:spPr>
      </p:pic>
      <p:sp>
        <p:nvSpPr>
          <p:cNvPr id="5" name="Rectangle 4"/>
          <p:cNvSpPr/>
          <p:nvPr/>
        </p:nvSpPr>
        <p:spPr>
          <a:xfrm>
            <a:off x="1066800" y="5105400"/>
            <a:ext cx="971741" cy="369332"/>
          </a:xfrm>
          <a:prstGeom prst="rect">
            <a:avLst/>
          </a:prstGeom>
        </p:spPr>
        <p:txBody>
          <a:bodyPr numCol="1" wrap="none">
            <a:spAutoFit/>
          </a:bodyPr>
          <a:lstStyle/>
          <a:p>
            <a:r>
              <a:rPr dirty="0" lang="en-US" smtClean="0"/>
              <a:t>Output: </a:t>
            </a:r>
            <a:endParaRPr dirty="0" lang="en-US"/>
          </a:p>
        </p:txBody>
      </p:sp>
    </p:spTree>
  </p:cSld>
  <p:clrMapOvr>
    <a:masterClrMapping/>
  </p:clrMapOvr>
  <p:timing>
    <p:tnLst>
      <p:par>
        <p:cTn dur="indefinite" id="1" nodeType="tmRoot" restart="never"/>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numCol="1">
            <a:normAutofit fontScale="90000"/>
          </a:bodyPr>
          <a:lstStyle/>
          <a:p>
            <a:r>
              <a:rPr b="1" dirty="0" lang="en-US"/>
              <a:t>$merge</a:t>
            </a:r>
            <a:endParaRPr altLang="en-IN" dirty="0" lang="en-IN"/>
          </a:p>
        </p:txBody>
      </p:sp>
      <p:sp>
        <p:nvSpPr>
          <p:cNvPr id="4" name="Rectangle 2"/>
          <p:cNvSpPr>
            <a:spLocks noChangeArrowheads="1" noGrp="1"/>
          </p:cNvSpPr>
          <p:nvPr>
            <p:ph idx="1"/>
          </p:nvPr>
        </p:nvSpPr>
        <p:spPr>
          <a:xfrm>
            <a:off x="381000" y="914400"/>
            <a:ext cx="8763000" cy="529375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algn="ctr" dir="2700000" dist="35921" rotWithShape="0">
                    <a:schemeClr val="bg2"/>
                  </a:outerShdw>
                </a:effectLst>
              </a14:hiddenEffects>
            </a:ext>
          </a:extLst>
        </p:spPr>
        <p:txBody>
          <a:bodyPr anchor="ctr" anchorCtr="0" bIns="45720" compatLnSpc="1" lIns="91440" numCol="1" rIns="91440" tIns="45720" vert="horz" wrap="square">
            <a:prstTxWarp prst="textNoShape">
              <a:avLst/>
            </a:prstTxWarp>
            <a:spAutoFit/>
          </a:bodyPr>
          <a:lstStyle>
            <a:lvl1pPr eaLnBrk="0" fontAlgn="base" hangingPunct="0">
              <a:spcBef>
                <a:spcPct val="0"/>
              </a:spcBef>
              <a:spcAft>
                <a:spcPct val="0"/>
              </a:spcAft>
              <a:defRPr>
                <a:solidFill>
                  <a:schemeClr val="tx1"/>
                </a:solidFill>
                <a:latin charset="0" panose="020B0604020202020204" pitchFamily="34" typeface="Arial"/>
              </a:defRPr>
            </a:lvl1pPr>
            <a:lvl2pPr eaLnBrk="0" fontAlgn="base" hangingPunct="0">
              <a:spcBef>
                <a:spcPct val="0"/>
              </a:spcBef>
              <a:spcAft>
                <a:spcPct val="0"/>
              </a:spcAft>
              <a:defRPr>
                <a:solidFill>
                  <a:schemeClr val="tx1"/>
                </a:solidFill>
                <a:latin charset="0" panose="020B0604020202020204" pitchFamily="34" typeface="Arial"/>
              </a:defRPr>
            </a:lvl2pPr>
            <a:lvl3pPr eaLnBrk="0" fontAlgn="base" hangingPunct="0">
              <a:spcBef>
                <a:spcPct val="0"/>
              </a:spcBef>
              <a:spcAft>
                <a:spcPct val="0"/>
              </a:spcAft>
              <a:defRPr>
                <a:solidFill>
                  <a:schemeClr val="tx1"/>
                </a:solidFill>
                <a:latin charset="0" panose="020B0604020202020204" pitchFamily="34" typeface="Arial"/>
              </a:defRPr>
            </a:lvl3pPr>
            <a:lvl4pPr eaLnBrk="0" fontAlgn="base" hangingPunct="0">
              <a:spcBef>
                <a:spcPct val="0"/>
              </a:spcBef>
              <a:spcAft>
                <a:spcPct val="0"/>
              </a:spcAft>
              <a:defRPr>
                <a:solidFill>
                  <a:schemeClr val="tx1"/>
                </a:solidFill>
                <a:latin charset="0" panose="020B0604020202020204" pitchFamily="34" typeface="Arial"/>
              </a:defRPr>
            </a:lvl4pPr>
            <a:lvl5pPr eaLnBrk="0" fontAlgn="base" hangingPunct="0">
              <a:spcBef>
                <a:spcPct val="0"/>
              </a:spcBef>
              <a:spcAft>
                <a:spcPct val="0"/>
              </a:spcAft>
              <a:defRPr>
                <a:solidFill>
                  <a:schemeClr val="tx1"/>
                </a:solidFill>
                <a:latin charset="0" panose="020B0604020202020204" pitchFamily="34" typeface="Arial"/>
              </a:defRPr>
            </a:lvl5pPr>
            <a:lvl6pPr eaLnBrk="0" fontAlgn="base" hangingPunct="0">
              <a:spcBef>
                <a:spcPct val="0"/>
              </a:spcBef>
              <a:spcAft>
                <a:spcPct val="0"/>
              </a:spcAft>
              <a:defRPr>
                <a:solidFill>
                  <a:schemeClr val="tx1"/>
                </a:solidFill>
                <a:latin charset="0" panose="020B0604020202020204" pitchFamily="34" typeface="Arial"/>
              </a:defRPr>
            </a:lvl6pPr>
            <a:lvl7pPr eaLnBrk="0" fontAlgn="base" hangingPunct="0">
              <a:spcBef>
                <a:spcPct val="0"/>
              </a:spcBef>
              <a:spcAft>
                <a:spcPct val="0"/>
              </a:spcAft>
              <a:defRPr>
                <a:solidFill>
                  <a:schemeClr val="tx1"/>
                </a:solidFill>
                <a:latin charset="0" panose="020B0604020202020204" pitchFamily="34" typeface="Arial"/>
              </a:defRPr>
            </a:lvl7pPr>
            <a:lvl8pPr eaLnBrk="0" fontAlgn="base" hangingPunct="0">
              <a:spcBef>
                <a:spcPct val="0"/>
              </a:spcBef>
              <a:spcAft>
                <a:spcPct val="0"/>
              </a:spcAft>
              <a:defRPr>
                <a:solidFill>
                  <a:schemeClr val="tx1"/>
                </a:solidFill>
                <a:latin charset="0" panose="020B0604020202020204" pitchFamily="34" typeface="Arial"/>
              </a:defRPr>
            </a:lvl8pPr>
            <a:lvl9pPr eaLnBrk="0" fontAlgn="base" hangingPunct="0">
              <a:spcBef>
                <a:spcPct val="0"/>
              </a:spcBef>
              <a:spcAft>
                <a:spcPct val="0"/>
              </a:spcAft>
              <a:defRPr>
                <a:solidFill>
                  <a:schemeClr val="tx1"/>
                </a:solidFill>
                <a:latin charset="0" panose="020B0604020202020204" pitchFamily="34" typeface="Arial"/>
              </a:defRPr>
            </a:lvl9pPr>
          </a:lstStyle>
          <a:p>
            <a:pPr algn="just"/>
            <a:r>
              <a:rPr b="0" baseline="0" cap="none" dirty="0" i="0" kumimoji="0" lang="en-US" normalizeH="0" smtClean="0" strike="noStrike" sz="2400" u="none">
                <a:ln>
                  <a:noFill/>
                </a:ln>
                <a:solidFill>
                  <a:srgbClr val="001E2B"/>
                </a:solidFill>
                <a:effectLst/>
                <a:latin typeface="+mn-lt"/>
              </a:rPr>
              <a:t>Writes the results of the </a:t>
            </a:r>
            <a:r>
              <a:rPr b="0" baseline="0" cap="none" dirty="0" i="0" kumimoji="0" lang="en-US" normalizeH="0" smtClean="0" strike="noStrike" sz="2400" u="none">
                <a:ln>
                  <a:noFill/>
                </a:ln>
                <a:solidFill>
                  <a:schemeClr val="tx1"/>
                </a:solidFill>
                <a:effectLst/>
                <a:latin typeface="+mn-lt"/>
              </a:rPr>
              <a:t>aggregation pipeline</a:t>
            </a:r>
            <a:r>
              <a:rPr b="0" baseline="0" cap="none" dirty="0" i="0" kumimoji="0" lang="en-US" normalizeH="0" smtClean="0" strike="noStrike" sz="2400" u="none">
                <a:ln>
                  <a:noFill/>
                </a:ln>
                <a:solidFill>
                  <a:srgbClr val="001E2B"/>
                </a:solidFill>
                <a:effectLst/>
                <a:latin typeface="+mn-lt"/>
              </a:rPr>
              <a:t> to a specified collection. The </a:t>
            </a:r>
            <a:r>
              <a:rPr b="0" baseline="0" cap="none" dirty="0" i="0" kumimoji="0" lang="en-US" normalizeH="0" smtClean="0" strike="noStrike" sz="2400" u="none">
                <a:ln>
                  <a:noFill/>
                </a:ln>
                <a:solidFill>
                  <a:schemeClr val="tx1"/>
                </a:solidFill>
                <a:effectLst/>
                <a:latin typeface="+mn-lt"/>
              </a:rPr>
              <a:t>$merge</a:t>
            </a:r>
            <a:r>
              <a:rPr b="0" baseline="0" cap="none" dirty="0" i="0" kumimoji="0" lang="en-US" normalizeH="0" smtClean="0" strike="noStrike" sz="2400" u="none">
                <a:ln>
                  <a:noFill/>
                </a:ln>
                <a:solidFill>
                  <a:srgbClr val="001E2B"/>
                </a:solidFill>
                <a:effectLst/>
                <a:latin typeface="+mn-lt"/>
              </a:rPr>
              <a:t> operator must be the </a:t>
            </a:r>
            <a:r>
              <a:rPr b="1" baseline="0" cap="none" dirty="0" i="0" kumimoji="0" lang="en-US" normalizeH="0" smtClean="0" strike="noStrike" sz="2400" u="none">
                <a:ln>
                  <a:noFill/>
                </a:ln>
                <a:solidFill>
                  <a:srgbClr val="001E2B"/>
                </a:solidFill>
                <a:effectLst/>
                <a:latin typeface="+mn-lt"/>
              </a:rPr>
              <a:t>last</a:t>
            </a:r>
            <a:r>
              <a:rPr b="0" baseline="0" cap="none" dirty="0" i="0" kumimoji="0" lang="en-US" normalizeH="0" smtClean="0" strike="noStrike" sz="2400" u="none">
                <a:ln>
                  <a:noFill/>
                </a:ln>
                <a:solidFill>
                  <a:srgbClr val="001E2B"/>
                </a:solidFill>
                <a:effectLst/>
                <a:latin typeface="+mn-lt"/>
              </a:rPr>
              <a:t> stage in the pipeline</a:t>
            </a:r>
            <a:r>
              <a:rPr b="0" baseline="0" cap="none" dirty="0" i="0" kumimoji="0" lang="en-US" normalizeH="0" smtClean="0" strike="noStrike" sz="1200" u="none">
                <a:ln>
                  <a:noFill/>
                </a:ln>
                <a:solidFill>
                  <a:srgbClr val="001E2B"/>
                </a:solidFill>
                <a:effectLst/>
                <a:latin typeface="Euclid Circular A"/>
              </a:rPr>
              <a:t>.</a:t>
            </a:r>
            <a:r>
              <a:rPr b="0" baseline="0" cap="none" dirty="0" i="0" kumimoji="0" lang="en-US" normalizeH="0" smtClean="0" strike="noStrike" sz="800" u="none">
                <a:ln>
                  <a:noFill/>
                </a:ln>
                <a:solidFill>
                  <a:schemeClr val="tx1"/>
                </a:solidFill>
                <a:effectLst/>
              </a:rPr>
              <a:t> </a:t>
            </a:r>
          </a:p>
          <a:p>
            <a:pPr algn="just"/>
            <a:endParaRPr b="0" baseline="0" cap="none" dirty="0" i="0" kumimoji="0" lang="en-US" normalizeH="0" smtClean="0" strike="noStrike" sz="800" u="none">
              <a:ln>
                <a:noFill/>
              </a:ln>
              <a:solidFill>
                <a:schemeClr val="tx1"/>
              </a:solidFill>
              <a:effectLst/>
            </a:endParaRPr>
          </a:p>
          <a:p>
            <a:pPr algn="just"/>
            <a:r>
              <a:rPr dirty="0" lang="en-US" sz="2400">
                <a:latin typeface="+mn-lt"/>
              </a:rPr>
              <a:t>Can output to a collection in the same or </a:t>
            </a:r>
            <a:r>
              <a:rPr dirty="0" lang="en-US" smtClean="0" sz="2400">
                <a:latin typeface="+mn-lt"/>
              </a:rPr>
              <a:t>a different </a:t>
            </a:r>
            <a:r>
              <a:rPr dirty="0" lang="en-US" sz="2400">
                <a:latin typeface="+mn-lt"/>
              </a:rPr>
              <a:t>database</a:t>
            </a:r>
            <a:r>
              <a:rPr dirty="0" lang="en-US" smtClean="0" sz="2400">
                <a:latin typeface="+mn-lt"/>
              </a:rPr>
              <a:t>.</a:t>
            </a:r>
          </a:p>
          <a:p>
            <a:pPr algn="just"/>
            <a:endParaRPr dirty="0" lang="en-US" smtClean="0" sz="2400">
              <a:latin typeface="+mn-lt"/>
            </a:endParaRPr>
          </a:p>
          <a:p>
            <a:pPr algn="just"/>
            <a:r>
              <a:rPr dirty="0" lang="en-US" sz="2400">
                <a:latin typeface="+mn-lt"/>
              </a:rPr>
              <a:t>Creates a new collection if the output collection does not already exist</a:t>
            </a:r>
            <a:r>
              <a:rPr dirty="0" lang="en-US" smtClean="0" sz="2400">
                <a:latin typeface="+mn-lt"/>
              </a:rPr>
              <a:t>.</a:t>
            </a:r>
          </a:p>
          <a:p>
            <a:pPr algn="just"/>
            <a:endParaRPr dirty="0" lang="en-US" sz="2400">
              <a:latin typeface="+mn-lt"/>
            </a:endParaRPr>
          </a:p>
          <a:p>
            <a:pPr algn="just"/>
            <a:r>
              <a:rPr dirty="0" lang="en-US" sz="2400">
                <a:latin typeface="+mn-lt"/>
              </a:rPr>
              <a:t>Can incorporate results (insert new documents, merge documents, replace documents, keep existing documents, fail the operation, process documents with a custom update pipeline) into an existing collection.</a:t>
            </a:r>
          </a:p>
          <a:p>
            <a:pPr algn="just"/>
            <a:endParaRPr dirty="0" lang="en-US" sz="2400">
              <a:latin typeface="+mn-lt"/>
            </a:endParaRPr>
          </a:p>
          <a:p>
            <a:pPr algn="just"/>
            <a:endParaRPr b="0" baseline="0" cap="none" dirty="0" i="0" kumimoji="0" lang="en-US" normalizeH="0" smtClean="0" strike="noStrike" sz="1800" u="none">
              <a:ln>
                <a:noFill/>
              </a:ln>
              <a:solidFill>
                <a:schemeClr val="tx1"/>
              </a:solidFill>
              <a:effectLst/>
              <a:latin charset="0" panose="020B0604020202020204" pitchFamily="34" typeface="Arial"/>
            </a:endParaRPr>
          </a:p>
        </p:txBody>
      </p:sp>
    </p:spTree>
    <p:extLst>
      <p:ext uri="{BB962C8B-B14F-4D97-AF65-F5344CB8AC3E}">
        <p14:creationId xmlns:p14="http://schemas.microsoft.com/office/powerpoint/2010/main" xmlns="" val="3911679385"/>
      </p:ext>
    </p:extLst>
  </p:cSld>
  <p:clrMapOvr>
    <a:masterClrMapping/>
  </p:clrMapOvr>
  <p:timing>
    <p:tnLst>
      <p:par>
        <p:cTn dur="indefinite" id="1" nodeType="tmRoot" restart="never"/>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4780" y="952917"/>
            <a:ext cx="8634826" cy="2209800"/>
          </a:xfrm>
          <a:prstGeom prst="rect">
            <a:avLst/>
          </a:prstGeom>
        </p:spPr>
      </p:pic>
      <p:sp>
        <p:nvSpPr>
          <p:cNvPr id="3" name="Rectangle 2"/>
          <p:cNvSpPr/>
          <p:nvPr/>
        </p:nvSpPr>
        <p:spPr>
          <a:xfrm>
            <a:off x="194780" y="0"/>
            <a:ext cx="1166986" cy="461665"/>
          </a:xfrm>
          <a:prstGeom prst="rect">
            <a:avLst/>
          </a:prstGeom>
        </p:spPr>
        <p:txBody>
          <a:bodyPr numCol="1" wrap="none">
            <a:spAutoFit/>
          </a:bodyPr>
          <a:lstStyle/>
          <a:p>
            <a:r>
              <a:rPr b="1" dirty="0" lang="en-US" smtClean="0" sz="2400"/>
              <a:t>Syntax:</a:t>
            </a:r>
            <a:r>
              <a:rPr dirty="0" lang="en-US" smtClean="0"/>
              <a:t> </a:t>
            </a:r>
            <a:endParaRPr altLang="en-IN" dirty="0" lang="en-IN"/>
          </a:p>
        </p:txBody>
      </p:sp>
      <p:sp>
        <p:nvSpPr>
          <p:cNvPr id="4" name="Rectangle 2"/>
          <p:cNvSpPr>
            <a:spLocks noChangeArrowheads="1"/>
          </p:cNvSpPr>
          <p:nvPr/>
        </p:nvSpPr>
        <p:spPr>
          <a:xfrm>
            <a:off x="194780" y="3810000"/>
            <a:ext cx="8634826"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algn="ctr" dir="2700000" dist="35921" rotWithShape="0">
                    <a:schemeClr val="bg2"/>
                  </a:outerShdw>
                </a:effectLst>
              </a14:hiddenEffects>
            </a:ext>
          </a:extLst>
        </p:spPr>
        <p:txBody>
          <a:bodyPr anchor="ctr" anchorCtr="0" bIns="45720" compatLnSpc="1" lIns="91440" numCol="1" rIns="91440" tIns="45720" vert="horz" wrap="square">
            <a:prstTxWarp prst="textNoShape">
              <a:avLst/>
            </a:prstTxWarp>
            <a:spAutoFit/>
          </a:bodyPr>
          <a:lstStyle>
            <a:lvl1pPr eaLnBrk="0" fontAlgn="base" hangingPunct="0">
              <a:spcBef>
                <a:spcPct val="0"/>
              </a:spcBef>
              <a:spcAft>
                <a:spcPct val="0"/>
              </a:spcAft>
              <a:defRPr>
                <a:solidFill>
                  <a:schemeClr val="tx1"/>
                </a:solidFill>
                <a:latin charset="0" panose="020B0604020202020204" pitchFamily="34" typeface="Arial"/>
              </a:defRPr>
            </a:lvl1pPr>
            <a:lvl2pPr eaLnBrk="0" fontAlgn="base" hangingPunct="0">
              <a:spcBef>
                <a:spcPct val="0"/>
              </a:spcBef>
              <a:spcAft>
                <a:spcPct val="0"/>
              </a:spcAft>
              <a:defRPr>
                <a:solidFill>
                  <a:schemeClr val="tx1"/>
                </a:solidFill>
                <a:latin charset="0" panose="020B0604020202020204" pitchFamily="34" typeface="Arial"/>
              </a:defRPr>
            </a:lvl2pPr>
            <a:lvl3pPr eaLnBrk="0" fontAlgn="base" hangingPunct="0">
              <a:spcBef>
                <a:spcPct val="0"/>
              </a:spcBef>
              <a:spcAft>
                <a:spcPct val="0"/>
              </a:spcAft>
              <a:defRPr>
                <a:solidFill>
                  <a:schemeClr val="tx1"/>
                </a:solidFill>
                <a:latin charset="0" panose="020B0604020202020204" pitchFamily="34" typeface="Arial"/>
              </a:defRPr>
            </a:lvl3pPr>
            <a:lvl4pPr eaLnBrk="0" fontAlgn="base" hangingPunct="0">
              <a:spcBef>
                <a:spcPct val="0"/>
              </a:spcBef>
              <a:spcAft>
                <a:spcPct val="0"/>
              </a:spcAft>
              <a:defRPr>
                <a:solidFill>
                  <a:schemeClr val="tx1"/>
                </a:solidFill>
                <a:latin charset="0" panose="020B0604020202020204" pitchFamily="34" typeface="Arial"/>
              </a:defRPr>
            </a:lvl4pPr>
            <a:lvl5pPr eaLnBrk="0" fontAlgn="base" hangingPunct="0">
              <a:spcBef>
                <a:spcPct val="0"/>
              </a:spcBef>
              <a:spcAft>
                <a:spcPct val="0"/>
              </a:spcAft>
              <a:defRPr>
                <a:solidFill>
                  <a:schemeClr val="tx1"/>
                </a:solidFill>
                <a:latin charset="0" panose="020B0604020202020204" pitchFamily="34" typeface="Arial"/>
              </a:defRPr>
            </a:lvl5pPr>
            <a:lvl6pPr eaLnBrk="0" fontAlgn="base" hangingPunct="0">
              <a:spcBef>
                <a:spcPct val="0"/>
              </a:spcBef>
              <a:spcAft>
                <a:spcPct val="0"/>
              </a:spcAft>
              <a:defRPr>
                <a:solidFill>
                  <a:schemeClr val="tx1"/>
                </a:solidFill>
                <a:latin charset="0" panose="020B0604020202020204" pitchFamily="34" typeface="Arial"/>
              </a:defRPr>
            </a:lvl6pPr>
            <a:lvl7pPr eaLnBrk="0" fontAlgn="base" hangingPunct="0">
              <a:spcBef>
                <a:spcPct val="0"/>
              </a:spcBef>
              <a:spcAft>
                <a:spcPct val="0"/>
              </a:spcAft>
              <a:defRPr>
                <a:solidFill>
                  <a:schemeClr val="tx1"/>
                </a:solidFill>
                <a:latin charset="0" panose="020B0604020202020204" pitchFamily="34" typeface="Arial"/>
              </a:defRPr>
            </a:lvl7pPr>
            <a:lvl8pPr eaLnBrk="0" fontAlgn="base" hangingPunct="0">
              <a:spcBef>
                <a:spcPct val="0"/>
              </a:spcBef>
              <a:spcAft>
                <a:spcPct val="0"/>
              </a:spcAft>
              <a:defRPr>
                <a:solidFill>
                  <a:schemeClr val="tx1"/>
                </a:solidFill>
                <a:latin charset="0" panose="020B0604020202020204" pitchFamily="34" typeface="Arial"/>
              </a:defRPr>
            </a:lvl8pPr>
            <a:lvl9pPr eaLnBrk="0" fontAlgn="base" hangingPunct="0">
              <a:spcBef>
                <a:spcPct val="0"/>
              </a:spcBef>
              <a:spcAft>
                <a:spcPct val="0"/>
              </a:spcAft>
              <a:defRPr>
                <a:solidFill>
                  <a:schemeClr val="tx1"/>
                </a:solidFill>
                <a:latin charset="0" panose="020B0604020202020204" pitchFamily="34" typeface="Arial"/>
              </a:defRPr>
            </a:lvl9pPr>
          </a:lstStyle>
          <a:p>
            <a:pPr algn="just" defTabSz="914400" eaLnBrk="0" fontAlgn="base" hangingPunct="0" indent="0" latinLnBrk="0" lvl="0" marL="0" marR="0" rtl="0">
              <a:lnSpc>
                <a:spcPct val="100000"/>
              </a:lnSpc>
              <a:spcBef>
                <a:spcPct val="0"/>
              </a:spcBef>
              <a:spcAft>
                <a:spcPct val="0"/>
              </a:spcAft>
              <a:buClrTx/>
              <a:buSzTx/>
              <a:buFontTx/>
              <a:buNone/>
              <a:tabLst/>
            </a:pPr>
            <a:r>
              <a:rPr b="0" baseline="0" cap="none" dirty="0" i="0" kumimoji="0" lang="en-US" normalizeH="0" smtClean="0" strike="noStrike" sz="2400" u="none">
                <a:ln>
                  <a:noFill/>
                </a:ln>
                <a:solidFill>
                  <a:srgbClr val="001E2B"/>
                </a:solidFill>
                <a:effectLst/>
                <a:latin typeface="+mn-lt"/>
              </a:rPr>
              <a:t>If using all default options for </a:t>
            </a:r>
            <a:r>
              <a:rPr b="0" baseline="0" cap="none" dirty="0" i="0" kumimoji="0" lang="en-US" normalizeH="0" smtClean="0" strike="noStrike" sz="2400" u="none">
                <a:ln>
                  <a:noFill/>
                </a:ln>
                <a:solidFill>
                  <a:schemeClr val="tx1"/>
                </a:solidFill>
                <a:effectLst/>
                <a:latin typeface="+mn-lt"/>
              </a:rPr>
              <a:t>$merge</a:t>
            </a:r>
            <a:r>
              <a:rPr b="0" baseline="0" cap="none" dirty="0" i="0" kumimoji="0" lang="en-US" normalizeH="0" smtClean="0" strike="noStrike" sz="2400" u="none">
                <a:ln>
                  <a:noFill/>
                </a:ln>
                <a:solidFill>
                  <a:srgbClr val="001E2B"/>
                </a:solidFill>
                <a:effectLst/>
                <a:latin typeface="+mn-lt"/>
              </a:rPr>
              <a:t>, including writing to a collection in the same database, you can use the simplified form:</a:t>
            </a:r>
            <a:r>
              <a:rPr b="0" baseline="0" cap="none" dirty="0" i="0" kumimoji="0" lang="en-US" normalizeH="0" smtClean="0" strike="noStrike" sz="2400" u="none">
                <a:ln>
                  <a:noFill/>
                </a:ln>
                <a:solidFill>
                  <a:schemeClr val="tx1"/>
                </a:solidFill>
                <a:effectLst/>
                <a:latin typeface="+mn-lt"/>
              </a:rPr>
              <a:t> </a:t>
            </a:r>
          </a:p>
        </p:txBody>
      </p:sp>
      <p:pic>
        <p:nvPicPr>
          <p:cNvPr id="5" name="Picture 4"/>
          <p:cNvPicPr>
            <a:picLocks noChangeAspect="1"/>
          </p:cNvPicPr>
          <p:nvPr/>
        </p:nvPicPr>
        <p:blipFill>
          <a:blip r:embed="rId3"/>
          <a:stretch>
            <a:fillRect/>
          </a:stretch>
        </p:blipFill>
        <p:spPr>
          <a:xfrm>
            <a:off x="770067" y="5257800"/>
            <a:ext cx="7820734" cy="451562"/>
          </a:xfrm>
          <a:prstGeom prst="rect">
            <a:avLst/>
          </a:prstGeom>
        </p:spPr>
      </p:pic>
    </p:spTree>
    <p:extLst>
      <p:ext uri="{BB962C8B-B14F-4D97-AF65-F5344CB8AC3E}">
        <p14:creationId xmlns:p14="http://schemas.microsoft.com/office/powerpoint/2010/main" xmlns="" val="475989588"/>
      </p:ext>
    </p:extLst>
  </p:cSld>
  <p:clrMapOvr>
    <a:masterClrMapping/>
  </p:clrMapOvr>
  <p:timing>
    <p:tnLst>
      <p:par>
        <p:cTn dur="indefinite" id="1" nodeType="tmRoot" restart="never"/>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 y="4689"/>
            <a:ext cx="7543800" cy="3128715"/>
          </a:xfrm>
          <a:prstGeom prst="rect">
            <a:avLst/>
          </a:prstGeom>
        </p:spPr>
      </p:pic>
      <p:sp>
        <p:nvSpPr>
          <p:cNvPr id="3" name="Rectangle 2"/>
          <p:cNvSpPr/>
          <p:nvPr/>
        </p:nvSpPr>
        <p:spPr>
          <a:xfrm>
            <a:off x="0" y="3276600"/>
            <a:ext cx="9144000" cy="1938992"/>
          </a:xfrm>
          <a:prstGeom prst="rect">
            <a:avLst/>
          </a:prstGeom>
        </p:spPr>
        <p:txBody>
          <a:bodyPr numCol="1" wrap="square">
            <a:spAutoFit/>
          </a:bodyPr>
          <a:lstStyle/>
          <a:p>
            <a:r>
              <a:rPr altLang="en-IN" dirty="0" err="1" lang="en-IN" smtClean="0" sz="2000"/>
              <a:t>db.salaries.aggregate</a:t>
            </a:r>
            <a:r>
              <a:rPr altLang="en-IN" dirty="0" lang="en-IN" sz="2000"/>
              <a:t>( [</a:t>
            </a:r>
          </a:p>
          <a:p>
            <a:r>
              <a:rPr altLang="en-IN" dirty="0" lang="en-IN" sz="2000"/>
              <a:t>   { $group: { _id: { </a:t>
            </a:r>
            <a:r>
              <a:rPr altLang="en-IN" dirty="0" err="1" lang="en-IN" sz="2000"/>
              <a:t>fiscal_year</a:t>
            </a:r>
            <a:r>
              <a:rPr altLang="en-IN" dirty="0" lang="en-IN" sz="2000"/>
              <a:t>: "$</a:t>
            </a:r>
            <a:r>
              <a:rPr altLang="en-IN" dirty="0" err="1" lang="en-IN" sz="2000"/>
              <a:t>fiscal_year</a:t>
            </a:r>
            <a:r>
              <a:rPr altLang="en-IN" dirty="0" lang="en-IN" sz="2000"/>
              <a:t>", </a:t>
            </a:r>
            <a:r>
              <a:rPr altLang="en-IN" dirty="0" err="1" lang="en-IN" sz="2000"/>
              <a:t>dept</a:t>
            </a:r>
            <a:r>
              <a:rPr altLang="en-IN" dirty="0" lang="en-IN" sz="2000"/>
              <a:t>: "$</a:t>
            </a:r>
            <a:r>
              <a:rPr altLang="en-IN" dirty="0" err="1" lang="en-IN" sz="2000"/>
              <a:t>dept</a:t>
            </a:r>
            <a:r>
              <a:rPr altLang="en-IN" dirty="0" lang="en-IN" sz="2000"/>
              <a:t>" }, salaries: { $sum: "$salary" } } },</a:t>
            </a:r>
          </a:p>
          <a:p>
            <a:r>
              <a:rPr altLang="en-IN" dirty="0" lang="en-IN" sz="2000"/>
              <a:t>   { $merge : { into: { </a:t>
            </a:r>
            <a:r>
              <a:rPr altLang="en-IN" dirty="0" err="1" lang="en-IN" sz="2000"/>
              <a:t>db</a:t>
            </a:r>
            <a:r>
              <a:rPr altLang="en-IN" dirty="0" lang="en-IN" sz="2000"/>
              <a:t>: "reporting", </a:t>
            </a:r>
            <a:r>
              <a:rPr altLang="en-IN" dirty="0" err="1" lang="en-IN" sz="2000"/>
              <a:t>coll</a:t>
            </a:r>
            <a:r>
              <a:rPr altLang="en-IN" dirty="0" lang="en-IN" sz="2000"/>
              <a:t>: "budgets" }, on: "_id",  </a:t>
            </a:r>
            <a:r>
              <a:rPr altLang="en-IN" dirty="0" err="1" lang="en-IN" sz="2000"/>
              <a:t>whenMatched</a:t>
            </a:r>
            <a:r>
              <a:rPr altLang="en-IN" dirty="0" lang="en-IN" sz="2000"/>
              <a:t>: "replace", </a:t>
            </a:r>
            <a:r>
              <a:rPr altLang="en-IN" dirty="0" err="1" lang="en-IN" sz="2000"/>
              <a:t>whenNotMatched</a:t>
            </a:r>
            <a:r>
              <a:rPr altLang="en-IN" dirty="0" lang="en-IN" sz="2000"/>
              <a:t>: "insert" } }</a:t>
            </a:r>
          </a:p>
          <a:p>
            <a:r>
              <a:rPr altLang="en-IN" dirty="0" lang="en-IN" sz="2000"/>
              <a:t>] )</a:t>
            </a:r>
          </a:p>
        </p:txBody>
      </p:sp>
      <p:pic>
        <p:nvPicPr>
          <p:cNvPr id="4" name="Picture 3"/>
          <p:cNvPicPr>
            <a:picLocks noChangeAspect="1"/>
          </p:cNvPicPr>
          <p:nvPr/>
        </p:nvPicPr>
        <p:blipFill>
          <a:blip r:embed="rId3"/>
          <a:stretch>
            <a:fillRect/>
          </a:stretch>
        </p:blipFill>
        <p:spPr>
          <a:xfrm>
            <a:off x="152400" y="5229660"/>
            <a:ext cx="6858000" cy="1531088"/>
          </a:xfrm>
          <a:prstGeom prst="rect">
            <a:avLst/>
          </a:prstGeom>
        </p:spPr>
      </p:pic>
    </p:spTree>
    <p:extLst>
      <p:ext uri="{BB962C8B-B14F-4D97-AF65-F5344CB8AC3E}">
        <p14:creationId xmlns:p14="http://schemas.microsoft.com/office/powerpoint/2010/main" xmlns="" val="3296075911"/>
      </p:ext>
    </p:extLst>
  </p:cSld>
  <p:clrMapOvr>
    <a:masterClrMapping/>
  </p:clrMapOvr>
  <p:timing>
    <p:tnLst>
      <p:par>
        <p:cTn dur="indefinite" id="1" nodeType="tmRoot" restart="never"/>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477" y="0"/>
            <a:ext cx="8229600" cy="563562"/>
          </a:xfrm>
        </p:spPr>
        <p:txBody>
          <a:bodyPr numCol="1">
            <a:normAutofit fontScale="90000"/>
          </a:bodyPr>
          <a:lstStyle/>
          <a:p>
            <a:r>
              <a:rPr b="1" dirty="0" lang="en-US">
                <a:solidFill>
                  <a:srgbClr val="273239"/>
                </a:solidFill>
                <a:latin charset="0" panose="02020603050405020304" pitchFamily="18" typeface="Times New Roman"/>
                <a:cs charset="0" panose="02020603050405020304" pitchFamily="18" typeface="Times New Roman"/>
              </a:rPr>
              <a:t>$out</a:t>
            </a:r>
            <a:endParaRPr altLang="en-IN" dirty="0" lang="en-IN"/>
          </a:p>
        </p:txBody>
      </p:sp>
      <p:sp>
        <p:nvSpPr>
          <p:cNvPr id="4" name="Rectangle 1"/>
          <p:cNvSpPr>
            <a:spLocks noChangeArrowheads="1" noGrp="1"/>
          </p:cNvSpPr>
          <p:nvPr>
            <p:ph idx="1"/>
          </p:nvPr>
        </p:nvSpPr>
        <p:spPr>
          <a:xfrm>
            <a:off x="228600" y="753230"/>
            <a:ext cx="8686800" cy="443198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algn="ctr" dir="2700000" dist="35921" rotWithShape="0">
                    <a:schemeClr val="bg2"/>
                  </a:outerShdw>
                </a:effectLst>
              </a14:hiddenEffects>
            </a:ext>
          </a:extLst>
        </p:spPr>
        <p:txBody>
          <a:bodyPr anchor="ctr" anchorCtr="0" bIns="0" compatLnSpc="1" lIns="0" numCol="1" rIns="0" tIns="0" vert="horz" wrap="square">
            <a:prstTxWarp prst="textNoShape">
              <a:avLst/>
            </a:prstTxWarp>
            <a:spAutoFit/>
          </a:bodyPr>
          <a:lstStyle>
            <a:lvl1pPr eaLnBrk="0" fontAlgn="base" hangingPunct="0">
              <a:spcBef>
                <a:spcPct val="0"/>
              </a:spcBef>
              <a:spcAft>
                <a:spcPct val="0"/>
              </a:spcAft>
              <a:defRPr>
                <a:solidFill>
                  <a:schemeClr val="tx1"/>
                </a:solidFill>
                <a:latin charset="0" panose="020B0604020202020204" pitchFamily="34" typeface="Arial"/>
              </a:defRPr>
            </a:lvl1pPr>
            <a:lvl2pPr eaLnBrk="0" fontAlgn="base" hangingPunct="0">
              <a:spcBef>
                <a:spcPct val="0"/>
              </a:spcBef>
              <a:spcAft>
                <a:spcPct val="0"/>
              </a:spcAft>
              <a:defRPr>
                <a:solidFill>
                  <a:schemeClr val="tx1"/>
                </a:solidFill>
                <a:latin charset="0" panose="020B0604020202020204" pitchFamily="34" typeface="Arial"/>
              </a:defRPr>
            </a:lvl2pPr>
            <a:lvl3pPr eaLnBrk="0" fontAlgn="base" hangingPunct="0">
              <a:spcBef>
                <a:spcPct val="0"/>
              </a:spcBef>
              <a:spcAft>
                <a:spcPct val="0"/>
              </a:spcAft>
              <a:defRPr>
                <a:solidFill>
                  <a:schemeClr val="tx1"/>
                </a:solidFill>
                <a:latin charset="0" panose="020B0604020202020204" pitchFamily="34" typeface="Arial"/>
              </a:defRPr>
            </a:lvl3pPr>
            <a:lvl4pPr eaLnBrk="0" fontAlgn="base" hangingPunct="0">
              <a:spcBef>
                <a:spcPct val="0"/>
              </a:spcBef>
              <a:spcAft>
                <a:spcPct val="0"/>
              </a:spcAft>
              <a:defRPr>
                <a:solidFill>
                  <a:schemeClr val="tx1"/>
                </a:solidFill>
                <a:latin charset="0" panose="020B0604020202020204" pitchFamily="34" typeface="Arial"/>
              </a:defRPr>
            </a:lvl4pPr>
            <a:lvl5pPr eaLnBrk="0" fontAlgn="base" hangingPunct="0">
              <a:spcBef>
                <a:spcPct val="0"/>
              </a:spcBef>
              <a:spcAft>
                <a:spcPct val="0"/>
              </a:spcAft>
              <a:defRPr>
                <a:solidFill>
                  <a:schemeClr val="tx1"/>
                </a:solidFill>
                <a:latin charset="0" panose="020B0604020202020204" pitchFamily="34" typeface="Arial"/>
              </a:defRPr>
            </a:lvl5pPr>
            <a:lvl6pPr eaLnBrk="0" fontAlgn="base" hangingPunct="0">
              <a:spcBef>
                <a:spcPct val="0"/>
              </a:spcBef>
              <a:spcAft>
                <a:spcPct val="0"/>
              </a:spcAft>
              <a:defRPr>
                <a:solidFill>
                  <a:schemeClr val="tx1"/>
                </a:solidFill>
                <a:latin charset="0" panose="020B0604020202020204" pitchFamily="34" typeface="Arial"/>
              </a:defRPr>
            </a:lvl6pPr>
            <a:lvl7pPr eaLnBrk="0" fontAlgn="base" hangingPunct="0">
              <a:spcBef>
                <a:spcPct val="0"/>
              </a:spcBef>
              <a:spcAft>
                <a:spcPct val="0"/>
              </a:spcAft>
              <a:defRPr>
                <a:solidFill>
                  <a:schemeClr val="tx1"/>
                </a:solidFill>
                <a:latin charset="0" panose="020B0604020202020204" pitchFamily="34" typeface="Arial"/>
              </a:defRPr>
            </a:lvl7pPr>
            <a:lvl8pPr eaLnBrk="0" fontAlgn="base" hangingPunct="0">
              <a:spcBef>
                <a:spcPct val="0"/>
              </a:spcBef>
              <a:spcAft>
                <a:spcPct val="0"/>
              </a:spcAft>
              <a:defRPr>
                <a:solidFill>
                  <a:schemeClr val="tx1"/>
                </a:solidFill>
                <a:latin charset="0" panose="020B0604020202020204" pitchFamily="34" typeface="Arial"/>
              </a:defRPr>
            </a:lvl8pPr>
            <a:lvl9pPr eaLnBrk="0" fontAlgn="base" hangingPunct="0">
              <a:spcBef>
                <a:spcPct val="0"/>
              </a:spcBef>
              <a:spcAft>
                <a:spcPct val="0"/>
              </a:spcAft>
              <a:defRPr>
                <a:solidFill>
                  <a:schemeClr val="tx1"/>
                </a:solidFill>
                <a:latin charset="0" panose="020B0604020202020204" pitchFamily="34" typeface="Arial"/>
              </a:defRPr>
            </a:lvl9pPr>
          </a:lstStyle>
          <a:p>
            <a:pPr algn="just" defTabSz="914400" eaLnBrk="0" fontAlgn="base" hangingPunct="0" latinLnBrk="0" lvl="0" marR="0" rtl="0">
              <a:lnSpc>
                <a:spcPct val="100000"/>
              </a:lnSpc>
              <a:spcBef>
                <a:spcPct val="0"/>
              </a:spcBef>
              <a:spcAft>
                <a:spcPct val="0"/>
              </a:spcAft>
              <a:buClrTx/>
              <a:buSzTx/>
              <a:tabLst/>
            </a:pPr>
            <a:r>
              <a:rPr b="1" baseline="0" cap="none" dirty="0" i="0" kumimoji="0" lang="en-US" normalizeH="0" smtClean="0" strike="noStrike" sz="2400" u="none">
                <a:ln>
                  <a:noFill/>
                </a:ln>
                <a:solidFill>
                  <a:srgbClr val="273239"/>
                </a:solidFill>
                <a:effectLst/>
                <a:latin typeface="+mn-lt"/>
                <a:cs charset="0" panose="02020603050405020304" pitchFamily="18" typeface="Times New Roman"/>
              </a:rPr>
              <a:t>$out</a:t>
            </a:r>
            <a:r>
              <a:rPr b="0" baseline="0" cap="none" dirty="0" i="0" kumimoji="0" lang="en-US" normalizeH="0" smtClean="0" strike="noStrike" sz="2400" u="none">
                <a:ln>
                  <a:noFill/>
                </a:ln>
                <a:solidFill>
                  <a:srgbClr val="273239"/>
                </a:solidFill>
                <a:effectLst/>
                <a:latin typeface="+mn-lt"/>
                <a:cs charset="0" panose="02020603050405020304" pitchFamily="18" typeface="Times New Roman"/>
              </a:rPr>
              <a:t> is an </a:t>
            </a:r>
            <a:r>
              <a:rPr b="1" baseline="0" cap="none" dirty="0" i="0" kumimoji="0" lang="en-US" normalizeH="0" smtClean="0" strike="noStrike" sz="2400" u="none">
                <a:ln>
                  <a:noFill/>
                </a:ln>
                <a:solidFill>
                  <a:srgbClr val="273239"/>
                </a:solidFill>
                <a:effectLst/>
                <a:latin typeface="+mn-lt"/>
                <a:cs charset="0" panose="02020603050405020304" pitchFamily="18" typeface="Times New Roman"/>
              </a:rPr>
              <a:t>aggregation pipeline stage</a:t>
            </a:r>
            <a:r>
              <a:rPr b="0" baseline="0" cap="none" dirty="0" i="0" kumimoji="0" lang="en-US" normalizeH="0" smtClean="0" strike="noStrike" sz="2400" u="none">
                <a:ln>
                  <a:noFill/>
                </a:ln>
                <a:solidFill>
                  <a:srgbClr val="273239"/>
                </a:solidFill>
                <a:effectLst/>
                <a:latin typeface="+mn-lt"/>
                <a:cs charset="0" panose="02020603050405020304" pitchFamily="18" typeface="Times New Roman"/>
              </a:rPr>
              <a:t> that allows us to save the results of an </a:t>
            </a:r>
            <a:r>
              <a:rPr b="0" baseline="0" cap="none" dirty="0" i="0" kumimoji="0" lang="en-US" normalizeH="0" smtClean="0" strike="noStrike" sz="2400">
                <a:ln>
                  <a:noFill/>
                </a:ln>
                <a:solidFill>
                  <a:srgbClr val="273239"/>
                </a:solidFill>
                <a:effectLst/>
                <a:latin typeface="+mn-lt"/>
                <a:cs charset="0" panose="02020603050405020304" pitchFamily="18" typeface="Times New Roman"/>
              </a:rPr>
              <a:t>aggregation</a:t>
            </a:r>
            <a:r>
              <a:rPr dirty="0" lang="en-US" smtClean="0" sz="2400">
                <a:solidFill>
                  <a:srgbClr val="273239"/>
                </a:solidFill>
                <a:latin typeface="+mn-lt"/>
                <a:cs charset="0" panose="02020603050405020304" pitchFamily="18" typeface="Times New Roman"/>
              </a:rPr>
              <a:t> </a:t>
            </a:r>
            <a:r>
              <a:rPr b="0" baseline="0" cap="none" dirty="0" i="0" kumimoji="0" lang="en-US" normalizeH="0" smtClean="0" strike="noStrike" sz="2400" u="none">
                <a:ln>
                  <a:noFill/>
                </a:ln>
                <a:solidFill>
                  <a:srgbClr val="273239"/>
                </a:solidFill>
                <a:effectLst/>
                <a:latin typeface="+mn-lt"/>
                <a:cs charset="0" panose="02020603050405020304" pitchFamily="18" typeface="Times New Roman"/>
              </a:rPr>
              <a:t>operation to a specified collection. </a:t>
            </a:r>
          </a:p>
          <a:p>
            <a:pPr algn="just" defTabSz="914400" eaLnBrk="0" fontAlgn="base" hangingPunct="0" latinLnBrk="0" lvl="0" marR="0" rtl="0">
              <a:lnSpc>
                <a:spcPct val="100000"/>
              </a:lnSpc>
              <a:spcBef>
                <a:spcPct val="0"/>
              </a:spcBef>
              <a:spcAft>
                <a:spcPct val="0"/>
              </a:spcAft>
              <a:buClrTx/>
              <a:buSzTx/>
              <a:tabLst/>
            </a:pPr>
            <a:endParaRPr b="0" baseline="0" cap="none" dirty="0" i="0" kumimoji="0" lang="en-US" normalizeH="0" smtClean="0" strike="noStrike" sz="2400" u="none">
              <a:ln>
                <a:noFill/>
              </a:ln>
              <a:solidFill>
                <a:srgbClr val="273239"/>
              </a:solidFill>
              <a:effectLst/>
              <a:latin typeface="+mn-lt"/>
              <a:cs charset="0" panose="02020603050405020304" pitchFamily="18" typeface="Times New Roman"/>
            </a:endParaRPr>
          </a:p>
          <a:p>
            <a:pPr algn="just" defTabSz="914400" eaLnBrk="0" fontAlgn="base" hangingPunct="0" latinLnBrk="0" lvl="0" marR="0" rtl="0">
              <a:lnSpc>
                <a:spcPct val="100000"/>
              </a:lnSpc>
              <a:spcBef>
                <a:spcPct val="0"/>
              </a:spcBef>
              <a:spcAft>
                <a:spcPct val="0"/>
              </a:spcAft>
              <a:buClrTx/>
              <a:buSzTx/>
              <a:tabLst/>
            </a:pPr>
            <a:r>
              <a:rPr b="0" baseline="0" cap="none" dirty="0" i="0" kumimoji="0" lang="en-US" normalizeH="0" smtClean="0" strike="noStrike" sz="2400" u="none">
                <a:ln>
                  <a:noFill/>
                </a:ln>
                <a:solidFill>
                  <a:srgbClr val="273239"/>
                </a:solidFill>
                <a:effectLst/>
                <a:latin typeface="+mn-lt"/>
                <a:cs charset="0" panose="02020603050405020304" pitchFamily="18" typeface="Times New Roman"/>
              </a:rPr>
              <a:t>It writes the output of the aggregation pipeline to a new or existing collection. This stage is useful when we want to save the results of </a:t>
            </a:r>
            <a:r>
              <a:rPr b="1" baseline="0" cap="none" dirty="0" i="0" kumimoji="0" lang="en-US" normalizeH="0" smtClean="0" strike="noStrike" sz="2400" u="none">
                <a:ln>
                  <a:noFill/>
                </a:ln>
                <a:solidFill>
                  <a:srgbClr val="273239"/>
                </a:solidFill>
                <a:effectLst/>
                <a:latin typeface="+mn-lt"/>
                <a:cs charset="0" panose="02020603050405020304" pitchFamily="18" typeface="Times New Roman"/>
              </a:rPr>
              <a:t>complex aggregations</a:t>
            </a:r>
            <a:r>
              <a:rPr b="0" baseline="0" cap="none" dirty="0" i="0" kumimoji="0" lang="en-US" normalizeH="0" smtClean="0" strike="noStrike" sz="2400" u="none">
                <a:ln>
                  <a:noFill/>
                </a:ln>
                <a:solidFill>
                  <a:srgbClr val="273239"/>
                </a:solidFill>
                <a:effectLst/>
                <a:latin typeface="+mn-lt"/>
                <a:cs charset="0" panose="02020603050405020304" pitchFamily="18" typeface="Times New Roman"/>
              </a:rPr>
              <a:t> for later use or analysis without further processing in the pipeline.</a:t>
            </a:r>
          </a:p>
          <a:p>
            <a:pPr algn="just" defTabSz="914400" eaLnBrk="0" fontAlgn="base" hangingPunct="0" latinLnBrk="0" lvl="0" marR="0" rtl="0">
              <a:lnSpc>
                <a:spcPct val="100000"/>
              </a:lnSpc>
              <a:spcBef>
                <a:spcPct val="0"/>
              </a:spcBef>
              <a:spcAft>
                <a:spcPct val="0"/>
              </a:spcAft>
              <a:buClrTx/>
              <a:buSzTx/>
              <a:tabLst/>
            </a:pPr>
            <a:endParaRPr dirty="0" lang="en-US" sz="2400">
              <a:latin typeface="+mn-lt"/>
              <a:cs charset="0" panose="02020603050405020304" pitchFamily="18" typeface="Times New Roman"/>
            </a:endParaRPr>
          </a:p>
          <a:p>
            <a:pPr algn="just" defTabSz="914400" eaLnBrk="0" fontAlgn="base" hangingPunct="0" latinLnBrk="0" lvl="0" marR="0" rtl="0">
              <a:lnSpc>
                <a:spcPct val="100000"/>
              </a:lnSpc>
              <a:spcBef>
                <a:spcPct val="0"/>
              </a:spcBef>
              <a:spcAft>
                <a:spcPct val="0"/>
              </a:spcAft>
              <a:buClrTx/>
              <a:buSzTx/>
              <a:tabLst/>
            </a:pPr>
            <a:r>
              <a:rPr b="0" baseline="0" cap="none" dirty="0" i="0" kumimoji="0" lang="en-US" normalizeH="0" smtClean="0" strike="noStrike" sz="2400" u="none">
                <a:ln>
                  <a:noFill/>
                </a:ln>
                <a:solidFill>
                  <a:srgbClr val="273239"/>
                </a:solidFill>
                <a:effectLst/>
                <a:latin typeface="+mn-lt"/>
                <a:cs charset="0" panose="02020603050405020304" pitchFamily="18" typeface="Times New Roman"/>
              </a:rPr>
              <a:t>$out stage must be the </a:t>
            </a:r>
            <a:r>
              <a:rPr b="1" baseline="0" cap="none" dirty="0" i="0" kumimoji="0" lang="en-US" normalizeH="0" smtClean="0" strike="noStrike" sz="2400" u="none">
                <a:ln>
                  <a:noFill/>
                </a:ln>
                <a:solidFill>
                  <a:srgbClr val="273239"/>
                </a:solidFill>
                <a:effectLst/>
                <a:latin typeface="+mn-lt"/>
                <a:cs charset="0" panose="02020603050405020304" pitchFamily="18" typeface="Times New Roman"/>
              </a:rPr>
              <a:t>last stage</a:t>
            </a:r>
            <a:r>
              <a:rPr b="0" baseline="0" cap="none" dirty="0" i="0" kumimoji="0" lang="en-US" normalizeH="0" smtClean="0" strike="noStrike" sz="2400" u="none">
                <a:ln>
                  <a:noFill/>
                </a:ln>
                <a:solidFill>
                  <a:srgbClr val="273239"/>
                </a:solidFill>
                <a:effectLst/>
                <a:latin typeface="+mn-lt"/>
                <a:cs charset="0" panose="02020603050405020304" pitchFamily="18" typeface="Times New Roman"/>
              </a:rPr>
              <a:t> in the aggregation pipeline. This is particularly useful when you need to </a:t>
            </a:r>
            <a:r>
              <a:rPr b="1" baseline="0" cap="none" dirty="0" i="0" kumimoji="0" lang="en-US" normalizeH="0" smtClean="0" strike="noStrike" sz="2400" u="none">
                <a:ln>
                  <a:noFill/>
                </a:ln>
                <a:solidFill>
                  <a:srgbClr val="273239"/>
                </a:solidFill>
                <a:effectLst/>
                <a:latin typeface="+mn-lt"/>
                <a:cs charset="0" panose="02020603050405020304" pitchFamily="18" typeface="Times New Roman"/>
              </a:rPr>
              <a:t>persist aggregated data</a:t>
            </a:r>
            <a:r>
              <a:rPr b="0" baseline="0" cap="none" dirty="0" i="0" kumimoji="0" lang="en-US" normalizeH="0" smtClean="0" strike="noStrike" sz="2400" u="none">
                <a:ln>
                  <a:noFill/>
                </a:ln>
                <a:solidFill>
                  <a:srgbClr val="273239"/>
                </a:solidFill>
                <a:effectLst/>
                <a:latin typeface="+mn-lt"/>
                <a:cs charset="0" panose="02020603050405020304" pitchFamily="18" typeface="Times New Roman"/>
              </a:rPr>
              <a:t> for reporting, analytics, or further processing without re-running complex queries.</a:t>
            </a:r>
          </a:p>
        </p:txBody>
      </p:sp>
      <p:pic>
        <p:nvPicPr>
          <p:cNvPr id="5" name="Picture 4"/>
          <p:cNvPicPr>
            <a:picLocks noChangeAspect="1"/>
          </p:cNvPicPr>
          <p:nvPr/>
        </p:nvPicPr>
        <p:blipFill>
          <a:blip r:embed="rId2"/>
          <a:stretch>
            <a:fillRect/>
          </a:stretch>
        </p:blipFill>
        <p:spPr>
          <a:xfrm>
            <a:off x="511386" y="5403014"/>
            <a:ext cx="8438011" cy="462780"/>
          </a:xfrm>
          <a:prstGeom prst="rect">
            <a:avLst/>
          </a:prstGeom>
        </p:spPr>
      </p:pic>
      <p:sp>
        <p:nvSpPr>
          <p:cNvPr id="6" name="Rectangle 5"/>
          <p:cNvSpPr/>
          <p:nvPr/>
        </p:nvSpPr>
        <p:spPr>
          <a:xfrm>
            <a:off x="414996" y="6083595"/>
            <a:ext cx="7967003" cy="461665"/>
          </a:xfrm>
          <a:prstGeom prst="rect">
            <a:avLst/>
          </a:prstGeom>
        </p:spPr>
        <p:txBody>
          <a:bodyPr numCol="1" wrap="square">
            <a:spAutoFit/>
          </a:bodyPr>
          <a:lstStyle/>
          <a:p>
            <a:r>
              <a:rPr dirty="0" lang="en-US" sz="2400">
                <a:solidFill>
                  <a:srgbClr val="273239"/>
                </a:solidFill>
              </a:rPr>
              <a:t> </a:t>
            </a:r>
            <a:r>
              <a:rPr b="1" dirty="0" lang="en-US" sz="2400">
                <a:solidFill>
                  <a:srgbClr val="FF0000"/>
                </a:solidFill>
              </a:rPr>
              <a:t>$out does not work with capped collections.</a:t>
            </a:r>
            <a:endParaRPr altLang="en-IN" b="1" dirty="0" lang="en-IN" sz="2400">
              <a:solidFill>
                <a:srgbClr val="FF0000"/>
              </a:solidFill>
            </a:endParaRPr>
          </a:p>
        </p:txBody>
      </p:sp>
    </p:spTree>
    <p:extLst>
      <p:ext uri="{BB962C8B-B14F-4D97-AF65-F5344CB8AC3E}">
        <p14:creationId xmlns:p14="http://schemas.microsoft.com/office/powerpoint/2010/main" xmlns="" val="529516577"/>
      </p:ext>
    </p:extLst>
  </p:cSld>
  <p:clrMapOvr>
    <a:masterClrMapping/>
  </p:clrMapOvr>
  <p:timing>
    <p:tnLst>
      <p:par>
        <p:cTn dur="indefinite" id="1" nodeType="tmRoot" restart="never"/>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a:xfrm>
            <a:off x="152400" y="160466"/>
            <a:ext cx="8534400" cy="433965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algn="ctr" dir="2700000" dist="35921" rotWithShape="0">
                    <a:schemeClr val="bg2"/>
                  </a:outerShdw>
                </a:effectLst>
              </a14:hiddenEffects>
            </a:ext>
          </a:extLst>
        </p:spPr>
        <p:txBody>
          <a:bodyPr anchor="ctr" anchorCtr="0" bIns="0" compatLnSpc="1" lIns="0" numCol="1" rIns="0" tIns="0" vert="horz" wrap="square">
            <a:prstTxWarp prst="textNoShape">
              <a:avLst/>
            </a:prstTxWarp>
            <a:spAutoFit/>
          </a:bodyPr>
          <a:lstStyle/>
          <a:p>
            <a:pPr algn="just" defTabSz="914400" eaLnBrk="0" fontAlgn="base" hangingPunct="0" indent="0" latinLnBrk="0" lvl="0" marL="0" marR="0" rtl="0">
              <a:lnSpc>
                <a:spcPct val="100000"/>
              </a:lnSpc>
              <a:spcBef>
                <a:spcPct val="0"/>
              </a:spcBef>
              <a:spcAft>
                <a:spcPct val="0"/>
              </a:spcAft>
              <a:buClrTx/>
              <a:buSzTx/>
              <a:buFontTx/>
              <a:buNone/>
              <a:tabLst/>
            </a:pPr>
            <a:r>
              <a:rPr b="1" baseline="0" cap="none" dirty="0" i="0" kumimoji="0" lang="en-US" normalizeH="0" smtClean="0" strike="noStrike" sz="2400" u="none">
                <a:ln>
                  <a:noFill/>
                </a:ln>
                <a:solidFill>
                  <a:srgbClr val="273239"/>
                </a:solidFill>
                <a:effectLst/>
              </a:rPr>
              <a:t>Key Features of $out:</a:t>
            </a:r>
          </a:p>
          <a:p>
            <a:pPr algn="just" defTabSz="914400" eaLnBrk="0" fontAlgn="base" hangingPunct="0" indent="-342900" latinLnBrk="0" lvl="0" marL="342900" marR="0" rtl="0">
              <a:lnSpc>
                <a:spcPct val="100000"/>
              </a:lnSpc>
              <a:spcBef>
                <a:spcPct val="0"/>
              </a:spcBef>
              <a:spcAft>
                <a:spcPct val="0"/>
              </a:spcAft>
              <a:buClrTx/>
              <a:buSzTx/>
              <a:buFont charset="0" panose="020B0604020202020204" pitchFamily="34" typeface="Arial"/>
              <a:buChar char="•"/>
              <a:tabLst/>
            </a:pPr>
            <a:r>
              <a:rPr b="1" baseline="0" cap="none" dirty="0" i="0" kumimoji="0" lang="en-US" normalizeH="0" smtClean="0" strike="noStrike" sz="2400" u="none">
                <a:ln>
                  <a:noFill/>
                </a:ln>
                <a:solidFill>
                  <a:srgbClr val="273239"/>
                </a:solidFill>
                <a:effectLst/>
              </a:rPr>
              <a:t>Stores Aggregation Results:</a:t>
            </a:r>
            <a:r>
              <a:rPr b="0" baseline="0" cap="none" dirty="0" i="0" kumimoji="0" lang="en-US" normalizeH="0" smtClean="0" strike="noStrike" sz="2400" u="none">
                <a:ln>
                  <a:noFill/>
                </a:ln>
                <a:solidFill>
                  <a:srgbClr val="273239"/>
                </a:solidFill>
                <a:effectLst/>
              </a:rPr>
              <a:t> Saves computed data into a collection for later use.</a:t>
            </a:r>
          </a:p>
          <a:p>
            <a:pPr algn="just" defTabSz="914400" eaLnBrk="0" fontAlgn="base" hangingPunct="0" indent="-342900" latinLnBrk="0" lvl="0" marL="342900" marR="0" rtl="0">
              <a:lnSpc>
                <a:spcPct val="100000"/>
              </a:lnSpc>
              <a:spcBef>
                <a:spcPct val="0"/>
              </a:spcBef>
              <a:spcAft>
                <a:spcPct val="0"/>
              </a:spcAft>
              <a:buClrTx/>
              <a:buSzTx/>
              <a:buFont charset="0" panose="020B0604020202020204" pitchFamily="34" typeface="Arial"/>
              <a:buChar char="•"/>
              <a:tabLst/>
            </a:pPr>
            <a:r>
              <a:rPr b="1" baseline="0" cap="none" dirty="0" i="0" kumimoji="0" lang="en-US" normalizeH="0" smtClean="0" strike="noStrike" sz="2400" u="none">
                <a:ln>
                  <a:noFill/>
                </a:ln>
                <a:solidFill>
                  <a:srgbClr val="273239"/>
                </a:solidFill>
                <a:effectLst/>
              </a:rPr>
              <a:t>Creates or Replaces Collections:</a:t>
            </a:r>
            <a:r>
              <a:rPr b="0" baseline="0" cap="none" dirty="0" i="0" kumimoji="0" lang="en-US" normalizeH="0" smtClean="0" strike="noStrike" sz="2400" u="none">
                <a:ln>
                  <a:noFill/>
                </a:ln>
                <a:solidFill>
                  <a:srgbClr val="273239"/>
                </a:solidFill>
                <a:effectLst/>
              </a:rPr>
              <a:t> If the specified collection does not exist, it creates one; otherwise, it replaces the existing data.</a:t>
            </a:r>
          </a:p>
          <a:p>
            <a:pPr algn="just" defTabSz="914400" eaLnBrk="0" fontAlgn="base" hangingPunct="0" indent="-342900" latinLnBrk="0" lvl="0" marL="342900" marR="0" rtl="0">
              <a:lnSpc>
                <a:spcPct val="100000"/>
              </a:lnSpc>
              <a:spcBef>
                <a:spcPct val="0"/>
              </a:spcBef>
              <a:spcAft>
                <a:spcPct val="0"/>
              </a:spcAft>
              <a:buClrTx/>
              <a:buSzTx/>
              <a:buFont charset="0" panose="020B0604020202020204" pitchFamily="34" typeface="Arial"/>
              <a:buChar char="•"/>
              <a:tabLst/>
            </a:pPr>
            <a:r>
              <a:rPr b="1" baseline="0" cap="none" dirty="0" i="0" kumimoji="0" lang="en-US" normalizeH="0" smtClean="0" strike="noStrike" sz="2400" u="none">
                <a:ln>
                  <a:noFill/>
                </a:ln>
                <a:solidFill>
                  <a:srgbClr val="273239"/>
                </a:solidFill>
                <a:effectLst/>
              </a:rPr>
              <a:t>Efficient Data Analysis:</a:t>
            </a:r>
            <a:r>
              <a:rPr b="0" baseline="0" cap="none" dirty="0" i="0" kumimoji="0" lang="en-US" normalizeH="0" smtClean="0" strike="noStrike" sz="2400" u="none">
                <a:ln>
                  <a:noFill/>
                </a:ln>
                <a:solidFill>
                  <a:srgbClr val="273239"/>
                </a:solidFill>
                <a:effectLst/>
              </a:rPr>
              <a:t> Helps precompute results for faster queries.</a:t>
            </a:r>
          </a:p>
          <a:p>
            <a:pPr algn="just" defTabSz="914400" eaLnBrk="0" fontAlgn="base" hangingPunct="0" indent="-342900" latinLnBrk="0" lvl="0" marL="342900" marR="0" rtl="0">
              <a:lnSpc>
                <a:spcPct val="100000"/>
              </a:lnSpc>
              <a:spcBef>
                <a:spcPct val="0"/>
              </a:spcBef>
              <a:spcAft>
                <a:spcPct val="0"/>
              </a:spcAft>
              <a:buClrTx/>
              <a:buSzTx/>
              <a:buFont charset="0" panose="020B0604020202020204" pitchFamily="34" typeface="Arial"/>
              <a:buChar char="•"/>
              <a:tabLst/>
            </a:pPr>
            <a:r>
              <a:rPr b="1" baseline="0" cap="none" dirty="0" i="0" kumimoji="0" lang="en-US" normalizeH="0" smtClean="0" strike="noStrike" sz="2400" u="none">
                <a:ln>
                  <a:noFill/>
                </a:ln>
                <a:solidFill>
                  <a:srgbClr val="273239"/>
                </a:solidFill>
                <a:effectLst/>
              </a:rPr>
              <a:t>Supports Data Warehousing:</a:t>
            </a:r>
            <a:r>
              <a:rPr b="0" baseline="0" cap="none" dirty="0" i="0" kumimoji="0" lang="en-US" normalizeH="0" smtClean="0" strike="noStrike" sz="2400" u="none">
                <a:ln>
                  <a:noFill/>
                </a:ln>
                <a:solidFill>
                  <a:srgbClr val="273239"/>
                </a:solidFill>
                <a:effectLst/>
              </a:rPr>
              <a:t> Useful for storing pre-aggregated data in analytical databases.</a:t>
            </a:r>
          </a:p>
          <a:p>
            <a:pPr algn="just" defTabSz="914400" eaLnBrk="0" fontAlgn="base" hangingPunct="0" indent="-342900" latinLnBrk="0" lvl="0" marL="342900" marR="0" rtl="0">
              <a:lnSpc>
                <a:spcPct val="100000"/>
              </a:lnSpc>
              <a:spcBef>
                <a:spcPct val="0"/>
              </a:spcBef>
              <a:spcAft>
                <a:spcPct val="0"/>
              </a:spcAft>
              <a:buClrTx/>
              <a:buSzTx/>
              <a:buFont charset="0" panose="020B0604020202020204" pitchFamily="34" typeface="Arial"/>
              <a:buChar char="•"/>
              <a:tabLst/>
            </a:pPr>
            <a:r>
              <a:rPr b="1" baseline="0" cap="none" dirty="0" i="0" kumimoji="0" lang="en-US" normalizeH="0" smtClean="0" strike="noStrike" sz="2400" u="none">
                <a:ln>
                  <a:noFill/>
                </a:ln>
                <a:solidFill>
                  <a:srgbClr val="273239"/>
                </a:solidFill>
                <a:effectLst/>
              </a:rPr>
              <a:t>Must Be the Final Stage:</a:t>
            </a:r>
            <a:r>
              <a:rPr b="0" baseline="0" cap="none" dirty="0" i="0" kumimoji="0" lang="en-US" normalizeH="0" smtClean="0" strike="noStrike" sz="2400" u="none">
                <a:ln>
                  <a:noFill/>
                </a:ln>
                <a:solidFill>
                  <a:srgbClr val="273239"/>
                </a:solidFill>
                <a:effectLst/>
              </a:rPr>
              <a:t> $out cannot be followed by additional stages in the pipeline</a:t>
            </a:r>
          </a:p>
          <a:p>
            <a:pPr algn="l" defTabSz="914400" eaLnBrk="0" fontAlgn="base" hangingPunct="0" indent="0" latinLnBrk="0" lvl="0" marL="0" marR="0" rtl="0">
              <a:lnSpc>
                <a:spcPct val="100000"/>
              </a:lnSpc>
              <a:spcBef>
                <a:spcPct val="0"/>
              </a:spcBef>
              <a:spcAft>
                <a:spcPct val="0"/>
              </a:spcAft>
              <a:buClrTx/>
              <a:buSzTx/>
              <a:buFontTx/>
              <a:buNone/>
              <a:tabLst/>
            </a:pPr>
            <a:endParaRPr b="0" baseline="0" cap="none" dirty="0" i="0" kumimoji="0" lang="en-US" normalizeH="0" smtClean="0" strike="noStrike" sz="1800" u="none">
              <a:ln>
                <a:noFill/>
              </a:ln>
              <a:solidFill>
                <a:schemeClr val="tx1"/>
              </a:solidFill>
              <a:effectLst/>
              <a:latin charset="0" panose="020B0604020202020204" pitchFamily="34" typeface="Arial"/>
            </a:endParaRPr>
          </a:p>
        </p:txBody>
      </p:sp>
    </p:spTree>
    <p:extLst>
      <p:ext uri="{BB962C8B-B14F-4D97-AF65-F5344CB8AC3E}">
        <p14:creationId xmlns:p14="http://schemas.microsoft.com/office/powerpoint/2010/main" xmlns="" val="116341280"/>
      </p:ext>
    </p:extLst>
  </p:cSld>
  <p:clrMapOvr>
    <a:masterClrMapping/>
  </p:clrMapOvr>
  <p:timing>
    <p:tnLst>
      <p:par>
        <p:cTn dur="indefinite" id="1" nodeType="tmRoot" restart="never"/>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248400"/>
          </a:xfrm>
        </p:spPr>
        <p:txBody>
          <a:bodyPr numCol="1">
            <a:normAutofit/>
          </a:bodyPr>
          <a:lstStyle/>
          <a:p>
            <a:pPr algn="just" fontAlgn="base" indent="0" marL="0">
              <a:buNone/>
            </a:pPr>
            <a:endParaRPr dirty="0" lang="en-US" sz="2400"/>
          </a:p>
        </p:txBody>
      </p:sp>
      <p:pic>
        <p:nvPicPr>
          <p:cNvPr id="4" name="Picture 3"/>
          <p:cNvPicPr>
            <a:picLocks noChangeAspect="1"/>
          </p:cNvPicPr>
          <p:nvPr/>
        </p:nvPicPr>
        <p:blipFill>
          <a:blip r:embed="rId2"/>
          <a:stretch>
            <a:fillRect/>
          </a:stretch>
        </p:blipFill>
        <p:spPr>
          <a:xfrm>
            <a:off x="457200" y="1185877"/>
            <a:ext cx="3508228" cy="318930"/>
          </a:xfrm>
          <a:prstGeom prst="rect">
            <a:avLst/>
          </a:prstGeom>
        </p:spPr>
      </p:pic>
      <p:pic>
        <p:nvPicPr>
          <p:cNvPr id="5" name="Picture 4"/>
          <p:cNvPicPr>
            <a:picLocks noChangeAspect="1"/>
          </p:cNvPicPr>
          <p:nvPr/>
        </p:nvPicPr>
        <p:blipFill>
          <a:blip r:embed="rId3"/>
          <a:stretch>
            <a:fillRect/>
          </a:stretch>
        </p:blipFill>
        <p:spPr>
          <a:xfrm>
            <a:off x="2030096" y="1496569"/>
            <a:ext cx="5435045" cy="3712461"/>
          </a:xfrm>
          <a:prstGeom prst="rect">
            <a:avLst/>
          </a:prstGeom>
        </p:spPr>
      </p:pic>
    </p:spTree>
    <p:extLst>
      <p:ext uri="{BB962C8B-B14F-4D97-AF65-F5344CB8AC3E}">
        <p14:creationId xmlns:p14="http://schemas.microsoft.com/office/powerpoint/2010/main" xmlns="" val="1060824147"/>
      </p:ext>
    </p:extLst>
  </p:cSld>
  <p:clrMapOvr>
    <a:masterClrMapping/>
  </p:clrMapOvr>
  <p:timing>
    <p:tnLst>
      <p:par>
        <p:cTn dur="indefinite" id="1" nodeType="tmRoot" restart="never"/>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615" y="152400"/>
            <a:ext cx="8229600" cy="563562"/>
          </a:xfrm>
        </p:spPr>
        <p:txBody>
          <a:bodyPr numCol="1">
            <a:normAutofit fontScale="90000"/>
          </a:bodyPr>
          <a:lstStyle/>
          <a:p>
            <a:r>
              <a:rPr b="1" dirty="0" lang="en-US"/>
              <a:t>$unwind</a:t>
            </a:r>
            <a:endParaRPr altLang="en-IN" dirty="0" lang="en-IN"/>
          </a:p>
        </p:txBody>
      </p:sp>
      <p:sp>
        <p:nvSpPr>
          <p:cNvPr id="3" name="Content Placeholder 2"/>
          <p:cNvSpPr>
            <a:spLocks noGrp="1"/>
          </p:cNvSpPr>
          <p:nvPr>
            <p:ph idx="1"/>
          </p:nvPr>
        </p:nvSpPr>
        <p:spPr>
          <a:xfrm>
            <a:off x="-3517" y="868362"/>
            <a:ext cx="8686800" cy="5715000"/>
          </a:xfrm>
        </p:spPr>
        <p:txBody>
          <a:bodyPr numCol="1">
            <a:normAutofit/>
          </a:bodyPr>
          <a:lstStyle/>
          <a:p>
            <a:pPr algn="just"/>
            <a:r>
              <a:rPr b="1" dirty="0" lang="en-US" sz="2400"/>
              <a:t>$unwind operator</a:t>
            </a:r>
            <a:r>
              <a:rPr dirty="0" lang="en-US" sz="2400"/>
              <a:t> is an essential tool for </a:t>
            </a:r>
            <a:r>
              <a:rPr b="1" dirty="0" lang="en-US" sz="2400"/>
              <a:t>handling arrays within documents</a:t>
            </a:r>
            <a:r>
              <a:rPr dirty="0" lang="en-US" sz="2400"/>
              <a:t>. It helps </a:t>
            </a:r>
            <a:r>
              <a:rPr b="1" dirty="0" lang="en-US" sz="2400"/>
              <a:t>deconstruct arrays</a:t>
            </a:r>
            <a:r>
              <a:rPr dirty="0" lang="en-US" sz="2400"/>
              <a:t>, converting each array element into a </a:t>
            </a:r>
            <a:r>
              <a:rPr b="1" dirty="0" lang="en-US" sz="2400"/>
              <a:t>separate document</a:t>
            </a:r>
            <a:r>
              <a:rPr dirty="0" lang="en-US" sz="2400"/>
              <a:t>, which simplifies </a:t>
            </a:r>
            <a:r>
              <a:rPr b="1" dirty="0" lang="en-US" sz="2400"/>
              <a:t>querying, filtering, and aggregation</a:t>
            </a:r>
            <a:r>
              <a:rPr dirty="0" lang="en-US" sz="2400"/>
              <a:t> in MongoDB</a:t>
            </a:r>
            <a:r>
              <a:rPr dirty="0" lang="en-US" smtClean="0" sz="2400"/>
              <a:t>.</a:t>
            </a:r>
          </a:p>
          <a:p>
            <a:pPr algn="just"/>
            <a:r>
              <a:rPr dirty="0" lang="en-US" sz="2400"/>
              <a:t>Each output document is the input document with the value of the array field replaced by the element</a:t>
            </a:r>
            <a:r>
              <a:rPr dirty="0" lang="en-US" smtClean="0" sz="2400"/>
              <a:t>.</a:t>
            </a:r>
          </a:p>
          <a:p>
            <a:pPr algn="just"/>
            <a:endParaRPr altLang="en-IN" dirty="0" lang="en-IN" smtClean="0" sz="2400"/>
          </a:p>
          <a:p>
            <a:pPr algn="just"/>
            <a:endParaRPr altLang="en-IN" dirty="0" lang="en-IN" smtClean="0" sz="2400"/>
          </a:p>
          <a:p>
            <a:pPr algn="just"/>
            <a:endParaRPr dirty="0" lang="en-US" smtClean="0" sz="2400"/>
          </a:p>
          <a:p>
            <a:pPr algn="just"/>
            <a:endParaRPr dirty="0" lang="en-US" smtClean="0" sz="2400"/>
          </a:p>
          <a:p>
            <a:pPr algn="just"/>
            <a:endParaRPr dirty="0" lang="en-US" smtClean="0" sz="2400"/>
          </a:p>
          <a:p>
            <a:pPr algn="just"/>
            <a:endParaRPr dirty="0" lang="en-US" smtClean="0" sz="2400"/>
          </a:p>
          <a:p>
            <a:pPr algn="just"/>
            <a:endParaRPr altLang="en-IN" dirty="0" lang="en-IN" sz="2400"/>
          </a:p>
        </p:txBody>
      </p:sp>
      <p:sp>
        <p:nvSpPr>
          <p:cNvPr id="6" name="Rectangle 5"/>
          <p:cNvSpPr/>
          <p:nvPr/>
        </p:nvSpPr>
        <p:spPr>
          <a:xfrm>
            <a:off x="142844" y="3214686"/>
            <a:ext cx="9297036" cy="446276"/>
          </a:xfrm>
          <a:prstGeom prst="rect">
            <a:avLst/>
          </a:prstGeom>
        </p:spPr>
        <p:txBody>
          <a:bodyPr numCol="1" wrap="square">
            <a:spAutoFit/>
          </a:bodyPr>
          <a:lstStyle/>
          <a:p>
            <a:r>
              <a:rPr altLang="en-IN" dirty="0" err="1" lang="en-IN" sz="2300"/>
              <a:t>db.inventory.insertOne</a:t>
            </a:r>
            <a:r>
              <a:rPr altLang="en-IN" dirty="0" lang="en-IN" sz="2300"/>
              <a:t>({ "_id" : 1, "item" : "ABC1", sizes: [ "S", "M", "L"] })</a:t>
            </a:r>
          </a:p>
        </p:txBody>
      </p:sp>
      <p:pic>
        <p:nvPicPr>
          <p:cNvPr id="7" name="Picture 6"/>
          <p:cNvPicPr>
            <a:picLocks noChangeAspect="1"/>
          </p:cNvPicPr>
          <p:nvPr/>
        </p:nvPicPr>
        <p:blipFill>
          <a:blip r:embed="rId2"/>
          <a:stretch>
            <a:fillRect/>
          </a:stretch>
        </p:blipFill>
        <p:spPr>
          <a:xfrm>
            <a:off x="285720" y="3786190"/>
            <a:ext cx="8235499" cy="463247"/>
          </a:xfrm>
          <a:prstGeom prst="rect">
            <a:avLst/>
          </a:prstGeom>
        </p:spPr>
      </p:pic>
      <p:pic>
        <p:nvPicPr>
          <p:cNvPr id="9" name="Picture 8"/>
          <p:cNvPicPr>
            <a:picLocks noChangeAspect="1"/>
          </p:cNvPicPr>
          <p:nvPr/>
        </p:nvPicPr>
        <p:blipFill>
          <a:blip r:embed="rId3"/>
          <a:stretch>
            <a:fillRect/>
          </a:stretch>
        </p:blipFill>
        <p:spPr>
          <a:xfrm>
            <a:off x="1643042" y="4786322"/>
            <a:ext cx="5232675" cy="981127"/>
          </a:xfrm>
          <a:prstGeom prst="rect">
            <a:avLst/>
          </a:prstGeom>
        </p:spPr>
      </p:pic>
    </p:spTree>
    <p:extLst>
      <p:ext uri="{BB962C8B-B14F-4D97-AF65-F5344CB8AC3E}">
        <p14:creationId xmlns:p14="http://schemas.microsoft.com/office/powerpoint/2010/main" xmlns="" val="2781195791"/>
      </p:ext>
    </p:extLst>
  </p:cSld>
  <p:clrMapOvr>
    <a:masterClrMapping/>
  </p:clrMapOvr>
  <p:timing>
    <p:tnLst>
      <p:par>
        <p:cTn dur="indefinite" id="1" nodeType="tmRoot" restart="never"/>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2786058"/>
            <a:ext cx="8610600" cy="461665"/>
          </a:xfrm>
          <a:prstGeom prst="rect">
            <a:avLst/>
          </a:prstGeom>
        </p:spPr>
        <p:txBody>
          <a:bodyPr numCol="1" wrap="square">
            <a:spAutoFit/>
          </a:bodyPr>
          <a:lstStyle/>
          <a:p>
            <a:r>
              <a:rPr b="1" dirty="0" lang="en-US" smtClean="0" sz="2400">
                <a:solidFill>
                  <a:srgbClr val="001E2B"/>
                </a:solidFill>
              </a:rPr>
              <a:t>Syntax:</a:t>
            </a:r>
            <a:endParaRPr b="1" dirty="0" lang="en-US" sz="2400">
              <a:solidFill>
                <a:srgbClr val="001E2B"/>
              </a:solidFill>
            </a:endParaRPr>
          </a:p>
        </p:txBody>
      </p:sp>
      <p:pic>
        <p:nvPicPr>
          <p:cNvPr id="3" name="Picture 2"/>
          <p:cNvPicPr>
            <a:picLocks noChangeAspect="1"/>
          </p:cNvPicPr>
          <p:nvPr/>
        </p:nvPicPr>
        <p:blipFill>
          <a:blip r:embed="rId2"/>
          <a:stretch>
            <a:fillRect/>
          </a:stretch>
        </p:blipFill>
        <p:spPr>
          <a:xfrm>
            <a:off x="2714612" y="2786058"/>
            <a:ext cx="3867296" cy="533421"/>
          </a:xfrm>
          <a:prstGeom prst="rect">
            <a:avLst/>
          </a:prstGeom>
        </p:spPr>
      </p:pic>
      <p:sp>
        <p:nvSpPr>
          <p:cNvPr id="4" name="Rectangle 2"/>
          <p:cNvSpPr>
            <a:spLocks noChangeArrowheads="1"/>
          </p:cNvSpPr>
          <p:nvPr/>
        </p:nvSpPr>
        <p:spPr>
          <a:xfrm>
            <a:off x="214282" y="3214686"/>
            <a:ext cx="8763000"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algn="ctr" dir="2700000" dist="35921" rotWithShape="0">
                    <a:schemeClr val="bg2"/>
                  </a:outerShdw>
                </a:effectLst>
              </a14:hiddenEffects>
            </a:ext>
          </a:extLst>
        </p:spPr>
        <p:txBody>
          <a:bodyPr anchor="ctr" anchorCtr="0" bIns="45720" compatLnSpc="1" lIns="91440" numCol="1" rIns="91440" tIns="45720" vert="horz" wrap="square">
            <a:prstTxWarp prst="textNoShape">
              <a:avLst/>
            </a:prstTxWarp>
            <a:spAutoFit/>
          </a:bodyPr>
          <a:lstStyle>
            <a:lvl1pPr eaLnBrk="0" fontAlgn="base" hangingPunct="0">
              <a:spcBef>
                <a:spcPct val="0"/>
              </a:spcBef>
              <a:spcAft>
                <a:spcPct val="0"/>
              </a:spcAft>
              <a:defRPr>
                <a:solidFill>
                  <a:schemeClr val="tx1"/>
                </a:solidFill>
                <a:latin charset="0" panose="020B0604020202020204" pitchFamily="34" typeface="Arial"/>
              </a:defRPr>
            </a:lvl1pPr>
            <a:lvl2pPr eaLnBrk="0" fontAlgn="base" hangingPunct="0">
              <a:spcBef>
                <a:spcPct val="0"/>
              </a:spcBef>
              <a:spcAft>
                <a:spcPct val="0"/>
              </a:spcAft>
              <a:defRPr>
                <a:solidFill>
                  <a:schemeClr val="tx1"/>
                </a:solidFill>
                <a:latin charset="0" panose="020B0604020202020204" pitchFamily="34" typeface="Arial"/>
              </a:defRPr>
            </a:lvl2pPr>
            <a:lvl3pPr eaLnBrk="0" fontAlgn="base" hangingPunct="0">
              <a:spcBef>
                <a:spcPct val="0"/>
              </a:spcBef>
              <a:spcAft>
                <a:spcPct val="0"/>
              </a:spcAft>
              <a:defRPr>
                <a:solidFill>
                  <a:schemeClr val="tx1"/>
                </a:solidFill>
                <a:latin charset="0" panose="020B0604020202020204" pitchFamily="34" typeface="Arial"/>
              </a:defRPr>
            </a:lvl3pPr>
            <a:lvl4pPr eaLnBrk="0" fontAlgn="base" hangingPunct="0">
              <a:spcBef>
                <a:spcPct val="0"/>
              </a:spcBef>
              <a:spcAft>
                <a:spcPct val="0"/>
              </a:spcAft>
              <a:defRPr>
                <a:solidFill>
                  <a:schemeClr val="tx1"/>
                </a:solidFill>
                <a:latin charset="0" panose="020B0604020202020204" pitchFamily="34" typeface="Arial"/>
              </a:defRPr>
            </a:lvl4pPr>
            <a:lvl5pPr eaLnBrk="0" fontAlgn="base" hangingPunct="0">
              <a:spcBef>
                <a:spcPct val="0"/>
              </a:spcBef>
              <a:spcAft>
                <a:spcPct val="0"/>
              </a:spcAft>
              <a:defRPr>
                <a:solidFill>
                  <a:schemeClr val="tx1"/>
                </a:solidFill>
                <a:latin charset="0" panose="020B0604020202020204" pitchFamily="34" typeface="Arial"/>
              </a:defRPr>
            </a:lvl5pPr>
            <a:lvl6pPr eaLnBrk="0" fontAlgn="base" hangingPunct="0">
              <a:spcBef>
                <a:spcPct val="0"/>
              </a:spcBef>
              <a:spcAft>
                <a:spcPct val="0"/>
              </a:spcAft>
              <a:defRPr>
                <a:solidFill>
                  <a:schemeClr val="tx1"/>
                </a:solidFill>
                <a:latin charset="0" panose="020B0604020202020204" pitchFamily="34" typeface="Arial"/>
              </a:defRPr>
            </a:lvl6pPr>
            <a:lvl7pPr eaLnBrk="0" fontAlgn="base" hangingPunct="0">
              <a:spcBef>
                <a:spcPct val="0"/>
              </a:spcBef>
              <a:spcAft>
                <a:spcPct val="0"/>
              </a:spcAft>
              <a:defRPr>
                <a:solidFill>
                  <a:schemeClr val="tx1"/>
                </a:solidFill>
                <a:latin charset="0" panose="020B0604020202020204" pitchFamily="34" typeface="Arial"/>
              </a:defRPr>
            </a:lvl7pPr>
            <a:lvl8pPr eaLnBrk="0" fontAlgn="base" hangingPunct="0">
              <a:spcBef>
                <a:spcPct val="0"/>
              </a:spcBef>
              <a:spcAft>
                <a:spcPct val="0"/>
              </a:spcAft>
              <a:defRPr>
                <a:solidFill>
                  <a:schemeClr val="tx1"/>
                </a:solidFill>
                <a:latin charset="0" panose="020B0604020202020204" pitchFamily="34" typeface="Arial"/>
              </a:defRPr>
            </a:lvl8pPr>
            <a:lvl9pPr eaLnBrk="0" fontAlgn="base" hangingPunct="0">
              <a:spcBef>
                <a:spcPct val="0"/>
              </a:spcBef>
              <a:spcAft>
                <a:spcPct val="0"/>
              </a:spcAft>
              <a:defRPr>
                <a:solidFill>
                  <a:schemeClr val="tx1"/>
                </a:solidFill>
                <a:latin charset="0" panose="020B0604020202020204" pitchFamily="34" typeface="Arial"/>
              </a:defRPr>
            </a:lvl9pPr>
          </a:lstStyle>
          <a:p>
            <a:pPr algn="just" defTabSz="914400" eaLnBrk="0" fontAlgn="base" hangingPunct="0" indent="0" latinLnBrk="0" lvl="0" marL="0" marR="0" rtl="0">
              <a:lnSpc>
                <a:spcPct val="100000"/>
              </a:lnSpc>
              <a:spcBef>
                <a:spcPct val="0"/>
              </a:spcBef>
              <a:spcAft>
                <a:spcPct val="0"/>
              </a:spcAft>
              <a:buClrTx/>
              <a:buSzTx/>
              <a:buFontTx/>
              <a:buNone/>
              <a:tabLst/>
            </a:pPr>
            <a:r>
              <a:rPr b="0" baseline="0" cap="none" dirty="0" i="0" kumimoji="0" lang="en-US" normalizeH="0" smtClean="0" strike="noStrike" sz="2400" u="none">
                <a:ln>
                  <a:noFill/>
                </a:ln>
                <a:solidFill>
                  <a:srgbClr val="001E2B"/>
                </a:solidFill>
                <a:effectLst/>
                <a:latin typeface="+mn-lt"/>
              </a:rPr>
              <a:t>When using this syntax, </a:t>
            </a:r>
            <a:r>
              <a:rPr b="0" baseline="0" cap="none" dirty="0" i="0" kumimoji="0" lang="en-US" normalizeH="0" smtClean="0" strike="noStrike" sz="2400" u="none">
                <a:ln>
                  <a:noFill/>
                </a:ln>
                <a:solidFill>
                  <a:schemeClr val="tx1"/>
                </a:solidFill>
                <a:effectLst/>
                <a:latin typeface="+mn-lt"/>
              </a:rPr>
              <a:t>$unwind</a:t>
            </a:r>
            <a:r>
              <a:rPr b="0" baseline="0" cap="none" dirty="0" i="0" kumimoji="0" lang="en-US" normalizeH="0" smtClean="0" strike="noStrike" sz="2400" u="none">
                <a:ln>
                  <a:noFill/>
                </a:ln>
                <a:solidFill>
                  <a:srgbClr val="001E2B"/>
                </a:solidFill>
                <a:effectLst/>
                <a:latin typeface="+mn-lt"/>
              </a:rPr>
              <a:t> does not output a document if the field value is null, missing, or an empty array.</a:t>
            </a:r>
            <a:r>
              <a:rPr b="0" baseline="0" cap="none" dirty="0" i="0" kumimoji="0" lang="en-US" normalizeH="0" smtClean="0" strike="noStrike" sz="2400" u="none">
                <a:ln>
                  <a:noFill/>
                </a:ln>
                <a:solidFill>
                  <a:schemeClr val="tx1"/>
                </a:solidFill>
                <a:effectLst/>
                <a:latin typeface="+mn-lt"/>
              </a:rPr>
              <a:t> </a:t>
            </a:r>
          </a:p>
        </p:txBody>
      </p:sp>
      <p:pic>
        <p:nvPicPr>
          <p:cNvPr id="8" name="Picture 7"/>
          <p:cNvPicPr>
            <a:picLocks noChangeAspect="1"/>
          </p:cNvPicPr>
          <p:nvPr/>
        </p:nvPicPr>
        <p:blipFill>
          <a:blip r:embed="rId3"/>
          <a:stretch>
            <a:fillRect/>
          </a:stretch>
        </p:blipFill>
        <p:spPr>
          <a:xfrm>
            <a:off x="1928794" y="4143380"/>
            <a:ext cx="5335272" cy="2571875"/>
          </a:xfrm>
          <a:prstGeom prst="rect">
            <a:avLst/>
          </a:prstGeom>
        </p:spPr>
      </p:pic>
      <p:sp>
        <p:nvSpPr>
          <p:cNvPr id="9" name="Rectangle 5"/>
          <p:cNvSpPr>
            <a:spLocks noChangeArrowheads="1"/>
          </p:cNvSpPr>
          <p:nvPr/>
        </p:nvSpPr>
        <p:spPr>
          <a:xfrm flipV="1" rot="10800000">
            <a:off x="214282" y="142852"/>
            <a:ext cx="8683283" cy="1474734"/>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algn="ctr" dir="2700000" dist="35921" rotWithShape="0">
                    <a:schemeClr val="bg2"/>
                  </a:outerShdw>
                </a:effectLst>
              </a14:hiddenEffects>
            </a:ext>
          </a:extLst>
        </p:spPr>
        <p:txBody>
          <a:bodyPr anchor="ctr" anchorCtr="0" bIns="88872" compatLnSpc="1" lIns="91440" numCol="1" rIns="91440" tIns="0" vert="horz" wrap="square">
            <a:prstTxWarp prst="textNoShape">
              <a:avLst/>
            </a:prstTxWarp>
            <a:spAutoFit/>
          </a:bodyPr>
          <a:lstStyle/>
          <a:p>
            <a:pPr algn="just" defTabSz="914400" eaLnBrk="0" fontAlgn="base" hangingPunct="0" indent="-342900" latinLnBrk="0" lvl="0" marL="342900" marR="0" rtl="0">
              <a:lnSpc>
                <a:spcPct val="100000"/>
              </a:lnSpc>
              <a:spcBef>
                <a:spcPct val="0"/>
              </a:spcBef>
              <a:spcAft>
                <a:spcPct val="0"/>
              </a:spcAft>
              <a:buClrTx/>
              <a:buSzTx/>
              <a:buFont charset="0" panose="020B0604020202020204" pitchFamily="34" typeface="Arial"/>
              <a:buChar char="•"/>
              <a:tabLst/>
            </a:pPr>
            <a:r>
              <a:rPr b="0" baseline="0" cap="none" dirty="0" i="0" kumimoji="0" lang="en-US" normalizeH="0" smtClean="0" strike="noStrike" sz="2400" u="none">
                <a:ln>
                  <a:noFill/>
                </a:ln>
                <a:solidFill>
                  <a:srgbClr val="001E2B"/>
                </a:solidFill>
                <a:effectLst/>
              </a:rPr>
              <a:t>When the operand does not resolve to an array, but is not missing, null, or an empty array, $unwind treats the operand as a single element array.</a:t>
            </a:r>
          </a:p>
          <a:p>
            <a:pPr algn="l" defTabSz="914400" eaLnBrk="0" fontAlgn="base" hangingPunct="0" indent="0" latinLnBrk="0" lvl="0" marL="0" marR="0" rtl="0">
              <a:lnSpc>
                <a:spcPct val="100000"/>
              </a:lnSpc>
              <a:spcBef>
                <a:spcPct val="0"/>
              </a:spcBef>
              <a:spcAft>
                <a:spcPct val="0"/>
              </a:spcAft>
              <a:buClrTx/>
              <a:buSzTx/>
              <a:buFontTx/>
              <a:buNone/>
              <a:tabLst/>
            </a:pPr>
            <a:endParaRPr b="0" baseline="0" cap="none" dirty="0" i="0" kumimoji="0" lang="en-US" normalizeH="0" smtClean="0" strike="noStrike" sz="1800" u="none">
              <a:ln>
                <a:noFill/>
              </a:ln>
              <a:solidFill>
                <a:schemeClr val="tx1"/>
              </a:solidFill>
              <a:effectLst/>
              <a:latin charset="0" panose="020B0604020202020204" pitchFamily="34" typeface="Arial"/>
            </a:endParaRPr>
          </a:p>
        </p:txBody>
      </p:sp>
      <p:sp>
        <p:nvSpPr>
          <p:cNvPr id="10" name="Rectangle 8"/>
          <p:cNvSpPr>
            <a:spLocks noChangeArrowheads="1"/>
          </p:cNvSpPr>
          <p:nvPr/>
        </p:nvSpPr>
        <p:spPr>
          <a:xfrm>
            <a:off x="214282" y="1214422"/>
            <a:ext cx="8683282" cy="15696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algn="ctr" dir="2700000" dist="35921" rotWithShape="0">
                    <a:schemeClr val="bg2"/>
                  </a:outerShdw>
                </a:effectLst>
              </a14:hiddenEffects>
            </a:ext>
          </a:extLst>
        </p:spPr>
        <p:txBody>
          <a:bodyPr anchor="ctr" anchorCtr="0" bIns="45720" compatLnSpc="1" lIns="91440" numCol="1" rIns="91440" tIns="45720" vert="horz" wrap="square">
            <a:prstTxWarp prst="textNoShape">
              <a:avLst/>
            </a:prstTxWarp>
            <a:spAutoFit/>
          </a:bodyPr>
          <a:lstStyle>
            <a:lvl1pPr eaLnBrk="0" fontAlgn="base" hangingPunct="0">
              <a:spcBef>
                <a:spcPct val="0"/>
              </a:spcBef>
              <a:spcAft>
                <a:spcPct val="0"/>
              </a:spcAft>
              <a:defRPr>
                <a:solidFill>
                  <a:schemeClr val="tx1"/>
                </a:solidFill>
                <a:latin charset="0" panose="020B0604020202020204" pitchFamily="34" typeface="Arial"/>
              </a:defRPr>
            </a:lvl1pPr>
            <a:lvl2pPr eaLnBrk="0" fontAlgn="base" hangingPunct="0">
              <a:spcBef>
                <a:spcPct val="0"/>
              </a:spcBef>
              <a:spcAft>
                <a:spcPct val="0"/>
              </a:spcAft>
              <a:defRPr>
                <a:solidFill>
                  <a:schemeClr val="tx1"/>
                </a:solidFill>
                <a:latin charset="0" panose="020B0604020202020204" pitchFamily="34" typeface="Arial"/>
              </a:defRPr>
            </a:lvl2pPr>
            <a:lvl3pPr eaLnBrk="0" fontAlgn="base" hangingPunct="0">
              <a:spcBef>
                <a:spcPct val="0"/>
              </a:spcBef>
              <a:spcAft>
                <a:spcPct val="0"/>
              </a:spcAft>
              <a:defRPr>
                <a:solidFill>
                  <a:schemeClr val="tx1"/>
                </a:solidFill>
                <a:latin charset="0" panose="020B0604020202020204" pitchFamily="34" typeface="Arial"/>
              </a:defRPr>
            </a:lvl3pPr>
            <a:lvl4pPr eaLnBrk="0" fontAlgn="base" hangingPunct="0">
              <a:spcBef>
                <a:spcPct val="0"/>
              </a:spcBef>
              <a:spcAft>
                <a:spcPct val="0"/>
              </a:spcAft>
              <a:defRPr>
                <a:solidFill>
                  <a:schemeClr val="tx1"/>
                </a:solidFill>
                <a:latin charset="0" panose="020B0604020202020204" pitchFamily="34" typeface="Arial"/>
              </a:defRPr>
            </a:lvl4pPr>
            <a:lvl5pPr eaLnBrk="0" fontAlgn="base" hangingPunct="0">
              <a:spcBef>
                <a:spcPct val="0"/>
              </a:spcBef>
              <a:spcAft>
                <a:spcPct val="0"/>
              </a:spcAft>
              <a:defRPr>
                <a:solidFill>
                  <a:schemeClr val="tx1"/>
                </a:solidFill>
                <a:latin charset="0" panose="020B0604020202020204" pitchFamily="34" typeface="Arial"/>
              </a:defRPr>
            </a:lvl5pPr>
            <a:lvl6pPr eaLnBrk="0" fontAlgn="base" hangingPunct="0">
              <a:spcBef>
                <a:spcPct val="0"/>
              </a:spcBef>
              <a:spcAft>
                <a:spcPct val="0"/>
              </a:spcAft>
              <a:defRPr>
                <a:solidFill>
                  <a:schemeClr val="tx1"/>
                </a:solidFill>
                <a:latin charset="0" panose="020B0604020202020204" pitchFamily="34" typeface="Arial"/>
              </a:defRPr>
            </a:lvl6pPr>
            <a:lvl7pPr eaLnBrk="0" fontAlgn="base" hangingPunct="0">
              <a:spcBef>
                <a:spcPct val="0"/>
              </a:spcBef>
              <a:spcAft>
                <a:spcPct val="0"/>
              </a:spcAft>
              <a:defRPr>
                <a:solidFill>
                  <a:schemeClr val="tx1"/>
                </a:solidFill>
                <a:latin charset="0" panose="020B0604020202020204" pitchFamily="34" typeface="Arial"/>
              </a:defRPr>
            </a:lvl7pPr>
            <a:lvl8pPr eaLnBrk="0" fontAlgn="base" hangingPunct="0">
              <a:spcBef>
                <a:spcPct val="0"/>
              </a:spcBef>
              <a:spcAft>
                <a:spcPct val="0"/>
              </a:spcAft>
              <a:defRPr>
                <a:solidFill>
                  <a:schemeClr val="tx1"/>
                </a:solidFill>
                <a:latin charset="0" panose="020B0604020202020204" pitchFamily="34" typeface="Arial"/>
              </a:defRPr>
            </a:lvl8pPr>
            <a:lvl9pPr eaLnBrk="0" fontAlgn="base" hangingPunct="0">
              <a:spcBef>
                <a:spcPct val="0"/>
              </a:spcBef>
              <a:spcAft>
                <a:spcPct val="0"/>
              </a:spcAft>
              <a:defRPr>
                <a:solidFill>
                  <a:schemeClr val="tx1"/>
                </a:solidFill>
                <a:latin charset="0" panose="020B0604020202020204" pitchFamily="34" typeface="Arial"/>
              </a:defRPr>
            </a:lvl9pPr>
          </a:lstStyle>
          <a:p>
            <a:pPr algn="just" defTabSz="914400" eaLnBrk="0" fontAlgn="base" hangingPunct="0" indent="-342900" latinLnBrk="0" lvl="0" marL="342900" marR="0" rtl="0">
              <a:lnSpc>
                <a:spcPct val="100000"/>
              </a:lnSpc>
              <a:spcBef>
                <a:spcPct val="0"/>
              </a:spcBef>
              <a:spcAft>
                <a:spcPct val="0"/>
              </a:spcAft>
              <a:buClrTx/>
              <a:buSzTx/>
              <a:buFont charset="0" panose="020B0604020202020204" pitchFamily="34" typeface="Arial"/>
              <a:buChar char="•"/>
              <a:tabLst/>
            </a:pPr>
            <a:r>
              <a:rPr b="0" baseline="0" cap="none" dirty="0" i="0" kumimoji="0" lang="en-US" normalizeH="0" smtClean="0" strike="noStrike" sz="2400" u="none">
                <a:ln>
                  <a:noFill/>
                </a:ln>
                <a:solidFill>
                  <a:srgbClr val="001E2B"/>
                </a:solidFill>
                <a:effectLst/>
                <a:latin typeface="+mn-lt"/>
              </a:rPr>
              <a:t>If you specify a path for a field that does not exist in an input document or the field is an empty array, </a:t>
            </a:r>
            <a:r>
              <a:rPr b="0" baseline="0" cap="none" dirty="0" i="0" kumimoji="0" lang="en-US" normalizeH="0" smtClean="0" strike="noStrike" sz="2400" u="none">
                <a:ln>
                  <a:noFill/>
                </a:ln>
                <a:solidFill>
                  <a:schemeClr val="tx1"/>
                </a:solidFill>
                <a:effectLst/>
                <a:latin typeface="+mn-lt"/>
              </a:rPr>
              <a:t>$unwind</a:t>
            </a:r>
            <a:r>
              <a:rPr b="0" baseline="0" cap="none" dirty="0" i="0" kumimoji="0" lang="en-US" normalizeH="0" smtClean="0" strike="noStrike" sz="2400" u="none">
                <a:ln>
                  <a:noFill/>
                </a:ln>
                <a:solidFill>
                  <a:srgbClr val="001E2B"/>
                </a:solidFill>
                <a:effectLst/>
                <a:latin typeface="+mn-lt"/>
              </a:rPr>
              <a:t>, by default, ignores the input document and will not output documents for that input document.</a:t>
            </a:r>
            <a:r>
              <a:rPr b="0" baseline="0" cap="none" dirty="0" i="0" kumimoji="0" lang="en-US" normalizeH="0" smtClean="0" strike="noStrike" sz="2400" u="none">
                <a:ln>
                  <a:noFill/>
                </a:ln>
                <a:solidFill>
                  <a:schemeClr val="tx1"/>
                </a:solidFill>
                <a:effectLst/>
                <a:latin typeface="+mn-lt"/>
              </a:rPr>
              <a:t> </a:t>
            </a:r>
          </a:p>
        </p:txBody>
      </p:sp>
    </p:spTree>
    <p:extLst>
      <p:ext uri="{BB962C8B-B14F-4D97-AF65-F5344CB8AC3E}">
        <p14:creationId xmlns:p14="http://schemas.microsoft.com/office/powerpoint/2010/main" xmlns="" val="3585945897"/>
      </p:ext>
    </p:extLst>
  </p:cSld>
  <p:clrMapOvr>
    <a:masterClrMapping/>
  </p:clrMapOvr>
  <p:timing>
    <p:tnLst>
      <p:par>
        <p:cTn dur="indefinite" id="1" nodeType="tmRoot" restart="never"/>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304800"/>
            <a:ext cx="3288144" cy="369332"/>
          </a:xfrm>
          <a:prstGeom prst="rect">
            <a:avLst/>
          </a:prstGeom>
        </p:spPr>
        <p:txBody>
          <a:bodyPr numCol="1" wrap="none">
            <a:spAutoFit/>
          </a:bodyPr>
          <a:lstStyle/>
          <a:p>
            <a:r>
              <a:rPr altLang="en-IN" b="1" dirty="0" lang="en-IN">
                <a:solidFill>
                  <a:srgbClr val="001E2B"/>
                </a:solidFill>
                <a:latin typeface="Euclid Circular A"/>
              </a:rPr>
              <a:t>Missing or Non-array Values</a:t>
            </a:r>
            <a:endParaRPr altLang="en-IN" b="1" dirty="0" i="0" lang="en-IN">
              <a:solidFill>
                <a:srgbClr val="001E2B"/>
              </a:solidFill>
              <a:effectLst/>
              <a:latin typeface="Euclid Circular A"/>
            </a:endParaRPr>
          </a:p>
        </p:txBody>
      </p:sp>
      <p:pic>
        <p:nvPicPr>
          <p:cNvPr id="3" name="Picture 2"/>
          <p:cNvPicPr>
            <a:picLocks noChangeAspect="1"/>
          </p:cNvPicPr>
          <p:nvPr/>
        </p:nvPicPr>
        <p:blipFill>
          <a:blip r:embed="rId2"/>
          <a:stretch>
            <a:fillRect/>
          </a:stretch>
        </p:blipFill>
        <p:spPr>
          <a:xfrm>
            <a:off x="228600" y="838200"/>
            <a:ext cx="7229325" cy="2162285"/>
          </a:xfrm>
          <a:prstGeom prst="rect">
            <a:avLst/>
          </a:prstGeom>
        </p:spPr>
      </p:pic>
      <p:pic>
        <p:nvPicPr>
          <p:cNvPr id="4" name="Picture 3"/>
          <p:cNvPicPr>
            <a:picLocks noChangeAspect="1"/>
          </p:cNvPicPr>
          <p:nvPr/>
        </p:nvPicPr>
        <p:blipFill>
          <a:blip r:embed="rId3"/>
          <a:stretch>
            <a:fillRect/>
          </a:stretch>
        </p:blipFill>
        <p:spPr>
          <a:xfrm>
            <a:off x="221343" y="3429001"/>
            <a:ext cx="8541657" cy="515310"/>
          </a:xfrm>
          <a:prstGeom prst="rect">
            <a:avLst/>
          </a:prstGeom>
        </p:spPr>
      </p:pic>
      <p:pic>
        <p:nvPicPr>
          <p:cNvPr id="5" name="Picture 4"/>
          <p:cNvPicPr>
            <a:picLocks noChangeAspect="1"/>
          </p:cNvPicPr>
          <p:nvPr/>
        </p:nvPicPr>
        <p:blipFill>
          <a:blip r:embed="rId4"/>
          <a:stretch>
            <a:fillRect/>
          </a:stretch>
        </p:blipFill>
        <p:spPr>
          <a:xfrm>
            <a:off x="990600" y="4372827"/>
            <a:ext cx="5934309" cy="1695517"/>
          </a:xfrm>
          <a:prstGeom prst="rect">
            <a:avLst/>
          </a:prstGeom>
        </p:spPr>
      </p:pic>
    </p:spTree>
    <p:extLst>
      <p:ext uri="{BB962C8B-B14F-4D97-AF65-F5344CB8AC3E}">
        <p14:creationId xmlns:p14="http://schemas.microsoft.com/office/powerpoint/2010/main" xmlns="" val="3356703876"/>
      </p:ext>
    </p:extLst>
  </p:cSld>
  <p:clrMapOvr>
    <a:masterClrMapping/>
  </p:clrMapOvr>
  <p:timing>
    <p:tnLst>
      <p:par>
        <p:cTn dur="indefinite" id="1" nodeType="tmRoot" restart="never"/>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 y="152400"/>
            <a:ext cx="8763000" cy="2246769"/>
          </a:xfrm>
          <a:prstGeom prst="rect">
            <a:avLst/>
          </a:prstGeom>
        </p:spPr>
        <p:txBody>
          <a:bodyPr numCol="1" wrap="square">
            <a:spAutoFit/>
          </a:bodyPr>
          <a:lstStyle/>
          <a:p>
            <a:pPr algn="just"/>
            <a:r>
              <a:rPr altLang="en-IN" dirty="0" lang="en-IN" sz="2000"/>
              <a:t>db.inventory2.insertMany([</a:t>
            </a:r>
          </a:p>
          <a:p>
            <a:pPr algn="just"/>
            <a:r>
              <a:rPr altLang="en-IN" dirty="0" lang="en-IN" sz="2000"/>
              <a:t>   { "_id" : 1, "item" : "ABC", price: </a:t>
            </a:r>
            <a:r>
              <a:rPr altLang="en-IN" dirty="0" err="1" lang="en-IN" sz="2000"/>
              <a:t>NumberDecimal</a:t>
            </a:r>
            <a:r>
              <a:rPr altLang="en-IN" dirty="0" lang="en-IN" sz="2000"/>
              <a:t>("80"), "sizes": [ "S", "M", "L"] },</a:t>
            </a:r>
          </a:p>
          <a:p>
            <a:pPr algn="just"/>
            <a:r>
              <a:rPr altLang="en-IN" dirty="0" lang="en-IN" sz="2000"/>
              <a:t>   { "_id" : 2, "item" : "EFG", price: </a:t>
            </a:r>
            <a:r>
              <a:rPr altLang="en-IN" dirty="0" err="1" lang="en-IN" sz="2000"/>
              <a:t>NumberDecimal</a:t>
            </a:r>
            <a:r>
              <a:rPr altLang="en-IN" dirty="0" lang="en-IN" sz="2000"/>
              <a:t>("120"), "sizes" : [ ] },</a:t>
            </a:r>
          </a:p>
          <a:p>
            <a:pPr algn="just"/>
            <a:r>
              <a:rPr altLang="en-IN" dirty="0" lang="en-IN" sz="2000"/>
              <a:t>   { "_id" : 3, "item" : "IJK", price: </a:t>
            </a:r>
            <a:r>
              <a:rPr altLang="en-IN" dirty="0" err="1" lang="en-IN" sz="2000"/>
              <a:t>NumberDecimal</a:t>
            </a:r>
            <a:r>
              <a:rPr altLang="en-IN" dirty="0" lang="en-IN" sz="2000"/>
              <a:t>("160"), "sizes": "M" },</a:t>
            </a:r>
          </a:p>
          <a:p>
            <a:pPr algn="just"/>
            <a:r>
              <a:rPr altLang="en-IN" dirty="0" lang="en-IN" sz="2000"/>
              <a:t>   { "_id" : 4, "item" : "LMN" , price: </a:t>
            </a:r>
            <a:r>
              <a:rPr altLang="en-IN" dirty="0" err="1" lang="en-IN" sz="2000"/>
              <a:t>NumberDecimal</a:t>
            </a:r>
            <a:r>
              <a:rPr altLang="en-IN" dirty="0" lang="en-IN" sz="2000"/>
              <a:t>("10") },</a:t>
            </a:r>
          </a:p>
          <a:p>
            <a:pPr algn="just"/>
            <a:r>
              <a:rPr altLang="en-IN" dirty="0" lang="en-IN" sz="2000"/>
              <a:t>   { "_id" : 5, "item" : "XYZ", price: </a:t>
            </a:r>
            <a:r>
              <a:rPr altLang="en-IN" dirty="0" err="1" lang="en-IN" sz="2000"/>
              <a:t>NumberDecimal</a:t>
            </a:r>
            <a:r>
              <a:rPr altLang="en-IN" dirty="0" lang="en-IN" sz="2000"/>
              <a:t>("5.75"), "sizes" : null }</a:t>
            </a:r>
          </a:p>
          <a:p>
            <a:pPr algn="just"/>
            <a:r>
              <a:rPr altLang="en-IN" dirty="0" lang="en-IN" sz="2000"/>
              <a:t>])</a:t>
            </a:r>
          </a:p>
        </p:txBody>
      </p:sp>
      <p:pic>
        <p:nvPicPr>
          <p:cNvPr id="4" name="Picture 3"/>
          <p:cNvPicPr>
            <a:picLocks noChangeAspect="1"/>
          </p:cNvPicPr>
          <p:nvPr/>
        </p:nvPicPr>
        <p:blipFill>
          <a:blip r:embed="rId2"/>
          <a:stretch>
            <a:fillRect/>
          </a:stretch>
        </p:blipFill>
        <p:spPr>
          <a:xfrm>
            <a:off x="69764" y="2743200"/>
            <a:ext cx="8871285" cy="1066800"/>
          </a:xfrm>
          <a:prstGeom prst="rect">
            <a:avLst/>
          </a:prstGeom>
        </p:spPr>
      </p:pic>
      <p:pic>
        <p:nvPicPr>
          <p:cNvPr id="5" name="Picture 4"/>
          <p:cNvPicPr>
            <a:picLocks noChangeAspect="1"/>
          </p:cNvPicPr>
          <p:nvPr/>
        </p:nvPicPr>
        <p:blipFill>
          <a:blip r:embed="rId3"/>
          <a:stretch>
            <a:fillRect/>
          </a:stretch>
        </p:blipFill>
        <p:spPr>
          <a:xfrm>
            <a:off x="33422" y="4154031"/>
            <a:ext cx="9111750" cy="2290880"/>
          </a:xfrm>
          <a:prstGeom prst="rect">
            <a:avLst/>
          </a:prstGeom>
        </p:spPr>
      </p:pic>
    </p:spTree>
    <p:extLst>
      <p:ext uri="{BB962C8B-B14F-4D97-AF65-F5344CB8AC3E}">
        <p14:creationId xmlns:p14="http://schemas.microsoft.com/office/powerpoint/2010/main" xmlns="" val="2087742897"/>
      </p:ext>
    </p:extLst>
  </p:cSld>
  <p:clrMapOvr>
    <a:masterClrMapping/>
  </p:clrMapOvr>
  <p:timing>
    <p:tnLst>
      <p:par>
        <p:cTn dur="indefinite" id="1" nodeType="tmRoot" restart="never"/>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a:xfrm>
            <a:off x="3124200" y="10551"/>
            <a:ext cx="2651688" cy="102711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algn="ctr" dir="2700000" dist="35921" rotWithShape="0">
                    <a:schemeClr val="bg2"/>
                  </a:outerShdw>
                </a:effectLst>
              </a14:hiddenEffects>
            </a:ext>
          </a:extLst>
        </p:spPr>
        <p:txBody>
          <a:bodyPr anchor="ctr" anchorCtr="0" bIns="71415" compatLnSpc="1" lIns="91440" numCol="1" rIns="91440" tIns="214245" vert="horz" wrap="none">
            <a:prstTxWarp prst="textNoShape">
              <a:avLst/>
            </a:prstTxWarp>
            <a:spAutoFit/>
          </a:bodyPr>
          <a:lstStyle/>
          <a:p>
            <a:pPr algn="l" defTabSz="914400" eaLnBrk="0" fontAlgn="base" hangingPunct="0" indent="0" latinLnBrk="0" lvl="0" marL="0" marR="0" rtl="0">
              <a:lnSpc>
                <a:spcPct val="100000"/>
              </a:lnSpc>
              <a:spcBef>
                <a:spcPct val="0"/>
              </a:spcBef>
              <a:spcAft>
                <a:spcPct val="0"/>
              </a:spcAft>
              <a:buClrTx/>
              <a:buSzTx/>
              <a:buFontTx/>
              <a:buNone/>
              <a:tabLst/>
            </a:pPr>
            <a:r>
              <a:rPr b="0" baseline="0" cap="none" dirty="0" err="1" i="0" kumimoji="0" lang="en-US" normalizeH="0" smtClean="0" strike="noStrike" sz="2400" u="none">
                <a:ln>
                  <a:noFill/>
                </a:ln>
                <a:solidFill>
                  <a:srgbClr val="001E2B"/>
                </a:solidFill>
                <a:effectLst/>
                <a:latin typeface="Source Code Pro"/>
              </a:rPr>
              <a:t>includeArrayIndex</a:t>
            </a:r>
            <a:endParaRPr b="0" baseline="0" cap="none" dirty="0" i="0" kumimoji="0" lang="en-US" normalizeH="0" smtClean="0" strike="noStrike" sz="2400" u="none">
              <a:ln>
                <a:noFill/>
              </a:ln>
              <a:solidFill>
                <a:srgbClr val="001E2B"/>
              </a:solidFill>
              <a:effectLst/>
              <a:latin typeface="Euclid Circular A"/>
            </a:endParaRPr>
          </a:p>
          <a:p>
            <a:pPr algn="l" defTabSz="914400" eaLnBrk="0" fontAlgn="base" hangingPunct="0" indent="0" latinLnBrk="0" lvl="0" marL="0" marR="0" rtl="0">
              <a:lnSpc>
                <a:spcPct val="100000"/>
              </a:lnSpc>
              <a:spcBef>
                <a:spcPct val="0"/>
              </a:spcBef>
              <a:spcAft>
                <a:spcPct val="0"/>
              </a:spcAft>
              <a:buClrTx/>
              <a:buSzTx/>
              <a:buFontTx/>
              <a:buNone/>
              <a:tabLst/>
            </a:pPr>
            <a:endParaRPr b="0" baseline="0" cap="none" dirty="0" i="0" kumimoji="0" lang="en-US" normalizeH="0" smtClean="0" strike="noStrike" sz="2400" u="none">
              <a:ln>
                <a:noFill/>
              </a:ln>
              <a:solidFill>
                <a:schemeClr val="tx1"/>
              </a:solidFill>
              <a:effectLst/>
              <a:latin charset="0" panose="020B0604020202020204" pitchFamily="34" typeface="Arial"/>
            </a:endParaRPr>
          </a:p>
        </p:txBody>
      </p:sp>
      <p:pic>
        <p:nvPicPr>
          <p:cNvPr id="3" name="Picture 2"/>
          <p:cNvPicPr>
            <a:picLocks noChangeAspect="1"/>
          </p:cNvPicPr>
          <p:nvPr/>
        </p:nvPicPr>
        <p:blipFill>
          <a:blip r:embed="rId2"/>
          <a:stretch>
            <a:fillRect/>
          </a:stretch>
        </p:blipFill>
        <p:spPr>
          <a:xfrm>
            <a:off x="2391961" y="2971800"/>
            <a:ext cx="4472229" cy="2377797"/>
          </a:xfrm>
          <a:prstGeom prst="rect">
            <a:avLst/>
          </a:prstGeom>
        </p:spPr>
      </p:pic>
      <p:pic>
        <p:nvPicPr>
          <p:cNvPr id="5" name="Picture 4"/>
          <p:cNvPicPr>
            <a:picLocks noChangeAspect="1"/>
          </p:cNvPicPr>
          <p:nvPr/>
        </p:nvPicPr>
        <p:blipFill>
          <a:blip r:embed="rId3"/>
          <a:stretch>
            <a:fillRect/>
          </a:stretch>
        </p:blipFill>
        <p:spPr>
          <a:xfrm>
            <a:off x="84017" y="5486400"/>
            <a:ext cx="9088118" cy="1371600"/>
          </a:xfrm>
          <a:prstGeom prst="rect">
            <a:avLst/>
          </a:prstGeom>
        </p:spPr>
      </p:pic>
      <p:sp>
        <p:nvSpPr>
          <p:cNvPr id="6" name="Rectangle 5"/>
          <p:cNvSpPr/>
          <p:nvPr/>
        </p:nvSpPr>
        <p:spPr>
          <a:xfrm>
            <a:off x="98085" y="756683"/>
            <a:ext cx="8763000" cy="2246769"/>
          </a:xfrm>
          <a:prstGeom prst="rect">
            <a:avLst/>
          </a:prstGeom>
        </p:spPr>
        <p:txBody>
          <a:bodyPr numCol="1" wrap="square">
            <a:spAutoFit/>
          </a:bodyPr>
          <a:lstStyle/>
          <a:p>
            <a:pPr algn="just"/>
            <a:r>
              <a:rPr altLang="en-IN" dirty="0" lang="en-IN" sz="2000"/>
              <a:t>db.inventory2.insertMany([</a:t>
            </a:r>
          </a:p>
          <a:p>
            <a:pPr algn="just"/>
            <a:r>
              <a:rPr altLang="en-IN" dirty="0" lang="en-IN" sz="2000"/>
              <a:t>   { "_id" : 1, "item" : "ABC", price: </a:t>
            </a:r>
            <a:r>
              <a:rPr altLang="en-IN" dirty="0" err="1" lang="en-IN" sz="2000"/>
              <a:t>NumberDecimal</a:t>
            </a:r>
            <a:r>
              <a:rPr altLang="en-IN" dirty="0" lang="en-IN" sz="2000"/>
              <a:t>("80"), "sizes": [ "S", "M", "L"] },</a:t>
            </a:r>
          </a:p>
          <a:p>
            <a:pPr algn="just"/>
            <a:r>
              <a:rPr altLang="en-IN" dirty="0" lang="en-IN" sz="2000"/>
              <a:t>   { "_id" : 2, "item" : "EFG", price: </a:t>
            </a:r>
            <a:r>
              <a:rPr altLang="en-IN" dirty="0" err="1" lang="en-IN" sz="2000"/>
              <a:t>NumberDecimal</a:t>
            </a:r>
            <a:r>
              <a:rPr altLang="en-IN" dirty="0" lang="en-IN" sz="2000"/>
              <a:t>("120"), "sizes" : [ ] },</a:t>
            </a:r>
          </a:p>
          <a:p>
            <a:pPr algn="just"/>
            <a:r>
              <a:rPr altLang="en-IN" dirty="0" lang="en-IN" sz="2000"/>
              <a:t>   { "_id" : 3, "item" : "IJK", price: </a:t>
            </a:r>
            <a:r>
              <a:rPr altLang="en-IN" dirty="0" err="1" lang="en-IN" sz="2000"/>
              <a:t>NumberDecimal</a:t>
            </a:r>
            <a:r>
              <a:rPr altLang="en-IN" dirty="0" lang="en-IN" sz="2000"/>
              <a:t>("160"), "sizes": "M" },</a:t>
            </a:r>
          </a:p>
          <a:p>
            <a:pPr algn="just"/>
            <a:r>
              <a:rPr altLang="en-IN" dirty="0" lang="en-IN" sz="2000"/>
              <a:t>   { "_id" : 4, "item" : "LMN" , price: </a:t>
            </a:r>
            <a:r>
              <a:rPr altLang="en-IN" dirty="0" err="1" lang="en-IN" sz="2000"/>
              <a:t>NumberDecimal</a:t>
            </a:r>
            <a:r>
              <a:rPr altLang="en-IN" dirty="0" lang="en-IN" sz="2000"/>
              <a:t>("10") },</a:t>
            </a:r>
          </a:p>
          <a:p>
            <a:pPr algn="just"/>
            <a:r>
              <a:rPr altLang="en-IN" dirty="0" lang="en-IN" sz="2000"/>
              <a:t>   { "_id" : 5, "item" : "XYZ", price: </a:t>
            </a:r>
            <a:r>
              <a:rPr altLang="en-IN" dirty="0" err="1" lang="en-IN" sz="2000"/>
              <a:t>NumberDecimal</a:t>
            </a:r>
            <a:r>
              <a:rPr altLang="en-IN" dirty="0" lang="en-IN" sz="2000"/>
              <a:t>("5.75"), "sizes" : null }</a:t>
            </a:r>
          </a:p>
          <a:p>
            <a:pPr algn="just"/>
            <a:r>
              <a:rPr altLang="en-IN" dirty="0" lang="en-IN" sz="2000"/>
              <a:t>])</a:t>
            </a:r>
          </a:p>
        </p:txBody>
      </p:sp>
    </p:spTree>
    <p:extLst>
      <p:ext uri="{BB962C8B-B14F-4D97-AF65-F5344CB8AC3E}">
        <p14:creationId xmlns:p14="http://schemas.microsoft.com/office/powerpoint/2010/main" xmlns="" val="2744459311"/>
      </p:ext>
    </p:extLst>
  </p:cSld>
  <p:clrMapOvr>
    <a:masterClrMapping/>
  </p:clrMapOvr>
  <p:timing>
    <p:tnLst>
      <p:par>
        <p:cTn dur="indefinite" id="1" nodeType="tmRoot" restart="never"/>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63562"/>
          </a:xfrm>
        </p:spPr>
        <p:txBody>
          <a:bodyPr numCol="1">
            <a:normAutofit fontScale="90000"/>
          </a:bodyPr>
          <a:lstStyle/>
          <a:p>
            <a:r>
              <a:rPr b="1" dirty="0" lang="en-US"/>
              <a:t>$bucket</a:t>
            </a:r>
            <a:endParaRPr altLang="en-IN" dirty="0" lang="en-IN"/>
          </a:p>
        </p:txBody>
      </p:sp>
      <p:sp>
        <p:nvSpPr>
          <p:cNvPr id="5" name="Rectangle 2"/>
          <p:cNvSpPr>
            <a:spLocks noChangeArrowheads="1" noGrp="1"/>
          </p:cNvSpPr>
          <p:nvPr>
            <p:ph idx="1"/>
          </p:nvPr>
        </p:nvSpPr>
        <p:spPr>
          <a:xfrm>
            <a:off x="152400" y="762000"/>
            <a:ext cx="8839200" cy="3416320"/>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algn="ctr" dir="2700000" dist="35921" rotWithShape="0">
                    <a:schemeClr val="bg2"/>
                  </a:outerShdw>
                </a:effectLst>
              </a14:hiddenEffects>
            </a:ext>
          </a:extLst>
        </p:spPr>
        <p:txBody>
          <a:bodyPr anchor="ctr" anchorCtr="0" bIns="45720" compatLnSpc="1" lIns="91440" numCol="1" rIns="91440" tIns="45720" vert="horz" wrap="square">
            <a:prstTxWarp prst="textNoShape">
              <a:avLst/>
            </a:prstTxWarp>
            <a:spAutoFit/>
          </a:bodyPr>
          <a:lstStyle>
            <a:lvl1pPr eaLnBrk="0" fontAlgn="base" hangingPunct="0">
              <a:spcBef>
                <a:spcPct val="0"/>
              </a:spcBef>
              <a:spcAft>
                <a:spcPct val="0"/>
              </a:spcAft>
              <a:defRPr>
                <a:solidFill>
                  <a:schemeClr val="tx1"/>
                </a:solidFill>
                <a:latin charset="0" panose="020B0604020202020204" pitchFamily="34" typeface="Arial"/>
              </a:defRPr>
            </a:lvl1pPr>
            <a:lvl2pPr eaLnBrk="0" fontAlgn="base" hangingPunct="0">
              <a:spcBef>
                <a:spcPct val="0"/>
              </a:spcBef>
              <a:spcAft>
                <a:spcPct val="0"/>
              </a:spcAft>
              <a:defRPr>
                <a:solidFill>
                  <a:schemeClr val="tx1"/>
                </a:solidFill>
                <a:latin charset="0" panose="020B0604020202020204" pitchFamily="34" typeface="Arial"/>
              </a:defRPr>
            </a:lvl2pPr>
            <a:lvl3pPr eaLnBrk="0" fontAlgn="base" hangingPunct="0">
              <a:spcBef>
                <a:spcPct val="0"/>
              </a:spcBef>
              <a:spcAft>
                <a:spcPct val="0"/>
              </a:spcAft>
              <a:defRPr>
                <a:solidFill>
                  <a:schemeClr val="tx1"/>
                </a:solidFill>
                <a:latin charset="0" panose="020B0604020202020204" pitchFamily="34" typeface="Arial"/>
              </a:defRPr>
            </a:lvl3pPr>
            <a:lvl4pPr eaLnBrk="0" fontAlgn="base" hangingPunct="0">
              <a:spcBef>
                <a:spcPct val="0"/>
              </a:spcBef>
              <a:spcAft>
                <a:spcPct val="0"/>
              </a:spcAft>
              <a:defRPr>
                <a:solidFill>
                  <a:schemeClr val="tx1"/>
                </a:solidFill>
                <a:latin charset="0" panose="020B0604020202020204" pitchFamily="34" typeface="Arial"/>
              </a:defRPr>
            </a:lvl4pPr>
            <a:lvl5pPr eaLnBrk="0" fontAlgn="base" hangingPunct="0">
              <a:spcBef>
                <a:spcPct val="0"/>
              </a:spcBef>
              <a:spcAft>
                <a:spcPct val="0"/>
              </a:spcAft>
              <a:defRPr>
                <a:solidFill>
                  <a:schemeClr val="tx1"/>
                </a:solidFill>
                <a:latin charset="0" panose="020B0604020202020204" pitchFamily="34" typeface="Arial"/>
              </a:defRPr>
            </a:lvl5pPr>
            <a:lvl6pPr eaLnBrk="0" fontAlgn="base" hangingPunct="0">
              <a:spcBef>
                <a:spcPct val="0"/>
              </a:spcBef>
              <a:spcAft>
                <a:spcPct val="0"/>
              </a:spcAft>
              <a:defRPr>
                <a:solidFill>
                  <a:schemeClr val="tx1"/>
                </a:solidFill>
                <a:latin charset="0" panose="020B0604020202020204" pitchFamily="34" typeface="Arial"/>
              </a:defRPr>
            </a:lvl6pPr>
            <a:lvl7pPr eaLnBrk="0" fontAlgn="base" hangingPunct="0">
              <a:spcBef>
                <a:spcPct val="0"/>
              </a:spcBef>
              <a:spcAft>
                <a:spcPct val="0"/>
              </a:spcAft>
              <a:defRPr>
                <a:solidFill>
                  <a:schemeClr val="tx1"/>
                </a:solidFill>
                <a:latin charset="0" panose="020B0604020202020204" pitchFamily="34" typeface="Arial"/>
              </a:defRPr>
            </a:lvl7pPr>
            <a:lvl8pPr eaLnBrk="0" fontAlgn="base" hangingPunct="0">
              <a:spcBef>
                <a:spcPct val="0"/>
              </a:spcBef>
              <a:spcAft>
                <a:spcPct val="0"/>
              </a:spcAft>
              <a:defRPr>
                <a:solidFill>
                  <a:schemeClr val="tx1"/>
                </a:solidFill>
                <a:latin charset="0" panose="020B0604020202020204" pitchFamily="34" typeface="Arial"/>
              </a:defRPr>
            </a:lvl8pPr>
            <a:lvl9pPr eaLnBrk="0" fontAlgn="base" hangingPunct="0">
              <a:spcBef>
                <a:spcPct val="0"/>
              </a:spcBef>
              <a:spcAft>
                <a:spcPct val="0"/>
              </a:spcAft>
              <a:defRPr>
                <a:solidFill>
                  <a:schemeClr val="tx1"/>
                </a:solidFill>
                <a:latin charset="0" panose="020B0604020202020204" pitchFamily="34" typeface="Arial"/>
              </a:defRPr>
            </a:lvl9pPr>
          </a:lstStyle>
          <a:p>
            <a:pPr algn="just"/>
            <a:r>
              <a:rPr b="0" baseline="0" cap="none" dirty="0" i="0" kumimoji="0" lang="en-US" normalizeH="0" smtClean="0" strike="noStrike" sz="2400" u="none">
                <a:ln>
                  <a:noFill/>
                </a:ln>
                <a:solidFill>
                  <a:srgbClr val="001E2B"/>
                </a:solidFill>
                <a:effectLst/>
                <a:latin typeface="+mn-lt"/>
              </a:rPr>
              <a:t>Categorizes incoming documents into groups, called buckets, based on a specified expression and bucket boundaries and outputs a document per each bucket. </a:t>
            </a:r>
          </a:p>
          <a:p>
            <a:pPr algn="just"/>
            <a:r>
              <a:rPr b="0" baseline="0" cap="none" dirty="0" i="0" kumimoji="0" lang="en-US" normalizeH="0" smtClean="0" strike="noStrike" sz="2400" u="none">
                <a:ln>
                  <a:noFill/>
                </a:ln>
                <a:solidFill>
                  <a:srgbClr val="001E2B"/>
                </a:solidFill>
                <a:effectLst/>
                <a:latin typeface="+mn-lt"/>
              </a:rPr>
              <a:t>Each output document contains an </a:t>
            </a:r>
            <a:r>
              <a:rPr b="1" baseline="0" cap="none" dirty="0" i="0" kumimoji="0" lang="en-US" normalizeH="0" smtClean="0" strike="noStrike" sz="2400" u="none">
                <a:ln>
                  <a:noFill/>
                </a:ln>
                <a:solidFill>
                  <a:srgbClr val="FF0000"/>
                </a:solidFill>
                <a:effectLst/>
                <a:latin typeface="+mn-lt"/>
              </a:rPr>
              <a:t>_id field </a:t>
            </a:r>
            <a:r>
              <a:rPr b="0" baseline="0" cap="none" dirty="0" i="0" kumimoji="0" lang="en-US" normalizeH="0" smtClean="0" strike="noStrike" sz="2400" u="none">
                <a:ln>
                  <a:noFill/>
                </a:ln>
                <a:solidFill>
                  <a:srgbClr val="001E2B"/>
                </a:solidFill>
                <a:effectLst/>
                <a:latin typeface="+mn-lt"/>
              </a:rPr>
              <a:t>whose value </a:t>
            </a:r>
            <a:r>
              <a:rPr b="1" baseline="0" cap="none" dirty="0" i="0" kumimoji="0" lang="en-US" normalizeH="0" smtClean="0" strike="noStrike" sz="2400" u="none">
                <a:ln>
                  <a:noFill/>
                </a:ln>
                <a:solidFill>
                  <a:srgbClr val="FF0000"/>
                </a:solidFill>
                <a:effectLst/>
                <a:latin typeface="+mn-lt"/>
              </a:rPr>
              <a:t>specifies the inclusive lower bound </a:t>
            </a:r>
            <a:r>
              <a:rPr b="0" baseline="0" cap="none" dirty="0" i="0" kumimoji="0" lang="en-US" normalizeH="0" smtClean="0" strike="noStrike" sz="2400" u="none">
                <a:ln>
                  <a:noFill/>
                </a:ln>
                <a:solidFill>
                  <a:srgbClr val="001E2B"/>
                </a:solidFill>
                <a:effectLst/>
                <a:latin typeface="+mn-lt"/>
              </a:rPr>
              <a:t>of the bucket. </a:t>
            </a:r>
          </a:p>
          <a:p>
            <a:pPr algn="just"/>
            <a:r>
              <a:rPr b="0" baseline="0" cap="none" dirty="0" i="0" kumimoji="0" lang="en-US" normalizeH="0" smtClean="0" strike="noStrike" sz="2400" u="none">
                <a:ln>
                  <a:noFill/>
                </a:ln>
                <a:solidFill>
                  <a:srgbClr val="001E2B"/>
                </a:solidFill>
                <a:effectLst/>
                <a:latin typeface="+mn-lt"/>
              </a:rPr>
              <a:t>The </a:t>
            </a:r>
            <a:r>
              <a:rPr b="1" baseline="0" cap="none" dirty="0" i="0" kumimoji="0" lang="en-US" normalizeH="0" smtClean="0" strike="noStrike" sz="2400" u="none">
                <a:ln>
                  <a:noFill/>
                </a:ln>
                <a:solidFill>
                  <a:srgbClr val="FF0000"/>
                </a:solidFill>
                <a:effectLst/>
                <a:latin typeface="+mn-lt"/>
              </a:rPr>
              <a:t>output</a:t>
            </a:r>
            <a:r>
              <a:rPr b="0" baseline="0" cap="none" dirty="0" i="0" kumimoji="0" lang="en-US" normalizeH="0" smtClean="0" strike="noStrike" sz="2400" u="none">
                <a:ln>
                  <a:noFill/>
                </a:ln>
                <a:solidFill>
                  <a:srgbClr val="001E2B"/>
                </a:solidFill>
                <a:effectLst/>
                <a:latin typeface="+mn-lt"/>
              </a:rPr>
              <a:t> option specifies the </a:t>
            </a:r>
            <a:r>
              <a:rPr b="1" baseline="0" cap="none" dirty="0" i="0" kumimoji="0" lang="en-US" normalizeH="0" smtClean="0" strike="noStrike" sz="2400" u="none">
                <a:ln>
                  <a:noFill/>
                </a:ln>
                <a:solidFill>
                  <a:srgbClr val="FF0000"/>
                </a:solidFill>
                <a:effectLst/>
                <a:latin typeface="+mn-lt"/>
              </a:rPr>
              <a:t>fields included</a:t>
            </a:r>
            <a:r>
              <a:rPr b="0" baseline="0" cap="none" dirty="0" i="0" kumimoji="0" lang="en-US" normalizeH="0" smtClean="0" strike="noStrike" sz="2400" u="none">
                <a:ln>
                  <a:noFill/>
                </a:ln>
                <a:solidFill>
                  <a:srgbClr val="001E2B"/>
                </a:solidFill>
                <a:effectLst/>
                <a:latin typeface="+mn-lt"/>
              </a:rPr>
              <a:t> in each output document.</a:t>
            </a:r>
            <a:endParaRPr dirty="0" lang="en-US" sz="2400">
              <a:latin typeface="+mn-lt"/>
            </a:endParaRPr>
          </a:p>
          <a:p>
            <a:pPr algn="just"/>
            <a:r>
              <a:rPr b="0" baseline="0" cap="none" dirty="0" i="0" kumimoji="0" lang="en-US" normalizeH="0" smtClean="0" strike="noStrike" sz="2400" u="none">
                <a:ln>
                  <a:noFill/>
                </a:ln>
                <a:solidFill>
                  <a:srgbClr val="001E2B"/>
                </a:solidFill>
                <a:effectLst/>
                <a:latin typeface="+mn-lt"/>
              </a:rPr>
              <a:t>$bucket only produces output documents for buckets that contain at least one input document.</a:t>
            </a:r>
            <a:endParaRPr b="0" baseline="0" cap="none" dirty="0" i="0" kumimoji="0" lang="en-US" normalizeH="0" smtClean="0" strike="noStrike" sz="2400" u="none">
              <a:ln>
                <a:noFill/>
              </a:ln>
              <a:solidFill>
                <a:schemeClr val="tx1"/>
              </a:solidFill>
              <a:effectLst/>
              <a:latin typeface="+mn-lt"/>
            </a:endParaRPr>
          </a:p>
        </p:txBody>
      </p:sp>
    </p:spTree>
    <p:extLst>
      <p:ext uri="{BB962C8B-B14F-4D97-AF65-F5344CB8AC3E}">
        <p14:creationId xmlns:p14="http://schemas.microsoft.com/office/powerpoint/2010/main" xmlns="" val="2921508749"/>
      </p:ext>
    </p:extLst>
  </p:cSld>
  <p:clrMapOvr>
    <a:masterClrMapping/>
  </p:clrMapOvr>
  <p:timing>
    <p:tnLst>
      <p:par>
        <p:cTn dur="indefinite" id="1" nodeType="tmRoot" restart="never"/>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19200" y="228600"/>
            <a:ext cx="7138492" cy="3967354"/>
          </a:xfrm>
          <a:prstGeom prst="rect">
            <a:avLst/>
          </a:prstGeom>
        </p:spPr>
      </p:pic>
    </p:spTree>
    <p:extLst>
      <p:ext uri="{BB962C8B-B14F-4D97-AF65-F5344CB8AC3E}">
        <p14:creationId xmlns:p14="http://schemas.microsoft.com/office/powerpoint/2010/main" xmlns="" val="254092949"/>
      </p:ext>
    </p:extLst>
  </p:cSld>
  <p:clrMapOvr>
    <a:masterClrMapping/>
  </p:clrMapOvr>
  <p:timing>
    <p:tnLst>
      <p:par>
        <p:cTn dur="indefinite" id="1" nodeType="tmRoot" restart="never"/>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3517"/>
            <a:ext cx="8839200" cy="5601533"/>
          </a:xfrm>
          <a:prstGeom prst="rect">
            <a:avLst/>
          </a:prstGeom>
        </p:spPr>
        <p:txBody>
          <a:bodyPr numCol="1" wrap="square">
            <a:spAutoFit/>
          </a:bodyPr>
          <a:lstStyle/>
          <a:p>
            <a:pPr algn="just"/>
            <a:r>
              <a:rPr altLang="en-IN" dirty="0" err="1" lang="en-IN" sz="2000"/>
              <a:t>db.artists.insertMany</a:t>
            </a:r>
            <a:r>
              <a:rPr altLang="en-IN" dirty="0" lang="en-IN" sz="2000"/>
              <a:t>([</a:t>
            </a:r>
          </a:p>
          <a:p>
            <a:pPr algn="just"/>
            <a:r>
              <a:rPr altLang="en-IN" dirty="0" lang="en-IN" sz="2000"/>
              <a:t>  { "_id" : 1, "</a:t>
            </a:r>
            <a:r>
              <a:rPr altLang="en-IN" dirty="0" err="1" lang="en-IN" sz="2000"/>
              <a:t>last_name</a:t>
            </a:r>
            <a:r>
              <a:rPr altLang="en-IN" dirty="0" lang="en-IN" sz="2000"/>
              <a:t>" : "Bernard", "</a:t>
            </a:r>
            <a:r>
              <a:rPr altLang="en-IN" dirty="0" err="1" lang="en-IN" sz="2000"/>
              <a:t>first_name</a:t>
            </a:r>
            <a:r>
              <a:rPr altLang="en-IN" dirty="0" lang="en-IN" sz="2000"/>
              <a:t>" : "Emil", "</a:t>
            </a:r>
            <a:r>
              <a:rPr altLang="en-IN" dirty="0" err="1" lang="en-IN" sz="2000"/>
              <a:t>year_born</a:t>
            </a:r>
            <a:r>
              <a:rPr altLang="en-IN" dirty="0" lang="en-IN" sz="2000"/>
              <a:t>" : 1868, "</a:t>
            </a:r>
            <a:r>
              <a:rPr altLang="en-IN" dirty="0" err="1" lang="en-IN" sz="2000"/>
              <a:t>year_died</a:t>
            </a:r>
            <a:r>
              <a:rPr altLang="en-IN" dirty="0" lang="en-IN" sz="2000"/>
              <a:t>" : 1941, "nationality" : "France" </a:t>
            </a:r>
            <a:r>
              <a:rPr altLang="en-IN" dirty="0" lang="en-IN" smtClean="0" sz="2000"/>
              <a:t>},</a:t>
            </a:r>
            <a:endParaRPr altLang="en-IN" dirty="0" lang="en-IN" sz="2000"/>
          </a:p>
          <a:p>
            <a:pPr algn="just"/>
            <a:r>
              <a:rPr altLang="en-IN" dirty="0" lang="en-IN" sz="2000"/>
              <a:t>  { "_id" : 2, "</a:t>
            </a:r>
            <a:r>
              <a:rPr altLang="en-IN" dirty="0" err="1" lang="en-IN" sz="2000"/>
              <a:t>last_name</a:t>
            </a:r>
            <a:r>
              <a:rPr altLang="en-IN" dirty="0" lang="en-IN" sz="2000"/>
              <a:t>" : "</a:t>
            </a:r>
            <a:r>
              <a:rPr altLang="en-IN" dirty="0" err="1" lang="en-IN" sz="2000"/>
              <a:t>Rippl-Ronai</a:t>
            </a:r>
            <a:r>
              <a:rPr altLang="en-IN" dirty="0" lang="en-IN" sz="2000"/>
              <a:t>", "</a:t>
            </a:r>
            <a:r>
              <a:rPr altLang="en-IN" dirty="0" err="1" lang="en-IN" sz="2000"/>
              <a:t>first_name</a:t>
            </a:r>
            <a:r>
              <a:rPr altLang="en-IN" dirty="0" lang="en-IN" sz="2000"/>
              <a:t>" : "</a:t>
            </a:r>
            <a:r>
              <a:rPr altLang="en-IN" dirty="0" err="1" lang="en-IN" sz="2000"/>
              <a:t>Joszef</a:t>
            </a:r>
            <a:r>
              <a:rPr altLang="en-IN" dirty="0" lang="en-IN" sz="2000"/>
              <a:t>", "</a:t>
            </a:r>
            <a:r>
              <a:rPr altLang="en-IN" dirty="0" err="1" lang="en-IN" sz="2000"/>
              <a:t>year_born</a:t>
            </a:r>
            <a:r>
              <a:rPr altLang="en-IN" dirty="0" lang="en-IN" sz="2000"/>
              <a:t>" : 1861, "</a:t>
            </a:r>
            <a:r>
              <a:rPr altLang="en-IN" dirty="0" err="1" lang="en-IN" sz="2000"/>
              <a:t>year_died</a:t>
            </a:r>
            <a:r>
              <a:rPr altLang="en-IN" dirty="0" lang="en-IN" sz="2000"/>
              <a:t>" : 1927, "nationality" : "Hungary" </a:t>
            </a:r>
            <a:r>
              <a:rPr altLang="en-IN" dirty="0" lang="en-IN" smtClean="0" sz="2000"/>
              <a:t>},</a:t>
            </a:r>
            <a:endParaRPr altLang="en-IN" dirty="0" lang="en-IN" sz="2000"/>
          </a:p>
          <a:p>
            <a:pPr algn="just"/>
            <a:r>
              <a:rPr altLang="en-IN" dirty="0" lang="en-IN" sz="2000"/>
              <a:t>  { "_id" : 3, "</a:t>
            </a:r>
            <a:r>
              <a:rPr altLang="en-IN" dirty="0" err="1" lang="en-IN" sz="2000"/>
              <a:t>last_name</a:t>
            </a:r>
            <a:r>
              <a:rPr altLang="en-IN" dirty="0" lang="en-IN" sz="2000"/>
              <a:t>" : "</a:t>
            </a:r>
            <a:r>
              <a:rPr altLang="en-IN" dirty="0" err="1" lang="en-IN" sz="2000"/>
              <a:t>Ostroumova</a:t>
            </a:r>
            <a:r>
              <a:rPr altLang="en-IN" dirty="0" lang="en-IN" sz="2000"/>
              <a:t>", "</a:t>
            </a:r>
            <a:r>
              <a:rPr altLang="en-IN" dirty="0" err="1" lang="en-IN" sz="2000"/>
              <a:t>first_name</a:t>
            </a:r>
            <a:r>
              <a:rPr altLang="en-IN" dirty="0" lang="en-IN" sz="2000"/>
              <a:t>" : "Anna", "</a:t>
            </a:r>
            <a:r>
              <a:rPr altLang="en-IN" dirty="0" err="1" lang="en-IN" sz="2000"/>
              <a:t>year_born</a:t>
            </a:r>
            <a:r>
              <a:rPr altLang="en-IN" dirty="0" lang="en-IN" sz="2000"/>
              <a:t>" : 1871, "</a:t>
            </a:r>
            <a:r>
              <a:rPr altLang="en-IN" dirty="0" err="1" lang="en-IN" sz="2000"/>
              <a:t>year_died</a:t>
            </a:r>
            <a:r>
              <a:rPr altLang="en-IN" dirty="0" lang="en-IN" sz="2000"/>
              <a:t>" : 1955, "nationality" : "Russia" </a:t>
            </a:r>
            <a:r>
              <a:rPr altLang="en-IN" dirty="0" lang="en-IN" smtClean="0" sz="2000"/>
              <a:t>},</a:t>
            </a:r>
            <a:endParaRPr altLang="en-IN" dirty="0" lang="en-IN" sz="2000"/>
          </a:p>
          <a:p>
            <a:pPr algn="just"/>
            <a:r>
              <a:rPr altLang="en-IN" dirty="0" lang="en-IN" sz="2000"/>
              <a:t>  { "_id" : 4, "</a:t>
            </a:r>
            <a:r>
              <a:rPr altLang="en-IN" dirty="0" err="1" lang="en-IN" sz="2000"/>
              <a:t>last_name</a:t>
            </a:r>
            <a:r>
              <a:rPr altLang="en-IN" dirty="0" lang="en-IN" sz="2000"/>
              <a:t>" : "Van Gogh", "</a:t>
            </a:r>
            <a:r>
              <a:rPr altLang="en-IN" dirty="0" err="1" lang="en-IN" sz="2000"/>
              <a:t>first_name</a:t>
            </a:r>
            <a:r>
              <a:rPr altLang="en-IN" dirty="0" lang="en-IN" sz="2000"/>
              <a:t>" : "Vincent", "</a:t>
            </a:r>
            <a:r>
              <a:rPr altLang="en-IN" dirty="0" err="1" lang="en-IN" sz="2000"/>
              <a:t>year_born</a:t>
            </a:r>
            <a:r>
              <a:rPr altLang="en-IN" dirty="0" lang="en-IN" sz="2000"/>
              <a:t>" : 1853, "</a:t>
            </a:r>
            <a:r>
              <a:rPr altLang="en-IN" dirty="0" err="1" lang="en-IN" sz="2000"/>
              <a:t>year_died</a:t>
            </a:r>
            <a:r>
              <a:rPr altLang="en-IN" dirty="0" lang="en-IN" sz="2000"/>
              <a:t>" : 1890, "nationality" : "Holland" </a:t>
            </a:r>
            <a:r>
              <a:rPr altLang="en-IN" dirty="0" lang="en-IN" smtClean="0" sz="2000"/>
              <a:t>},</a:t>
            </a:r>
            <a:endParaRPr altLang="en-IN" dirty="0" lang="en-IN" sz="2000"/>
          </a:p>
          <a:p>
            <a:pPr algn="just"/>
            <a:r>
              <a:rPr altLang="en-IN" dirty="0" lang="en-IN" sz="2000"/>
              <a:t>  { "_id" : 5, "</a:t>
            </a:r>
            <a:r>
              <a:rPr altLang="en-IN" dirty="0" err="1" lang="en-IN" sz="2000"/>
              <a:t>last_name</a:t>
            </a:r>
            <a:r>
              <a:rPr altLang="en-IN" dirty="0" lang="en-IN" sz="2000"/>
              <a:t>" : "Maurer", "</a:t>
            </a:r>
            <a:r>
              <a:rPr altLang="en-IN" dirty="0" err="1" lang="en-IN" sz="2000"/>
              <a:t>first_name</a:t>
            </a:r>
            <a:r>
              <a:rPr altLang="en-IN" dirty="0" lang="en-IN" sz="2000"/>
              <a:t>" : "Alfred", "</a:t>
            </a:r>
            <a:r>
              <a:rPr altLang="en-IN" dirty="0" err="1" lang="en-IN" sz="2000"/>
              <a:t>year_born</a:t>
            </a:r>
            <a:r>
              <a:rPr altLang="en-IN" dirty="0" lang="en-IN" sz="2000"/>
              <a:t>" : 1868, "</a:t>
            </a:r>
            <a:r>
              <a:rPr altLang="en-IN" dirty="0" err="1" lang="en-IN" sz="2000"/>
              <a:t>year_died</a:t>
            </a:r>
            <a:r>
              <a:rPr altLang="en-IN" dirty="0" lang="en-IN" sz="2000"/>
              <a:t>" : 1932, "nationality" : "USA" </a:t>
            </a:r>
            <a:r>
              <a:rPr altLang="en-IN" dirty="0" lang="en-IN" smtClean="0" sz="2000"/>
              <a:t>},</a:t>
            </a:r>
            <a:endParaRPr altLang="en-IN" dirty="0" lang="en-IN" sz="2000"/>
          </a:p>
          <a:p>
            <a:pPr algn="just"/>
            <a:r>
              <a:rPr altLang="en-IN" dirty="0" lang="en-IN" sz="2000"/>
              <a:t>  { "_id" : 6, "</a:t>
            </a:r>
            <a:r>
              <a:rPr altLang="en-IN" dirty="0" err="1" lang="en-IN" sz="2000"/>
              <a:t>last_name</a:t>
            </a:r>
            <a:r>
              <a:rPr altLang="en-IN" dirty="0" lang="en-IN" sz="2000"/>
              <a:t>" : "Munch", "</a:t>
            </a:r>
            <a:r>
              <a:rPr altLang="en-IN" dirty="0" err="1" lang="en-IN" sz="2000"/>
              <a:t>first_name</a:t>
            </a:r>
            <a:r>
              <a:rPr altLang="en-IN" dirty="0" lang="en-IN" sz="2000"/>
              <a:t>" : "</a:t>
            </a:r>
            <a:r>
              <a:rPr altLang="en-IN" dirty="0" err="1" lang="en-IN" sz="2000"/>
              <a:t>Edvard</a:t>
            </a:r>
            <a:r>
              <a:rPr altLang="en-IN" dirty="0" lang="en-IN" sz="2000"/>
              <a:t>", "</a:t>
            </a:r>
            <a:r>
              <a:rPr altLang="en-IN" dirty="0" err="1" lang="en-IN" sz="2000"/>
              <a:t>year_born</a:t>
            </a:r>
            <a:r>
              <a:rPr altLang="en-IN" dirty="0" lang="en-IN" sz="2000"/>
              <a:t>" : 1863, "</a:t>
            </a:r>
            <a:r>
              <a:rPr altLang="en-IN" dirty="0" err="1" lang="en-IN" sz="2000"/>
              <a:t>year_died</a:t>
            </a:r>
            <a:r>
              <a:rPr altLang="en-IN" dirty="0" lang="en-IN" sz="2000"/>
              <a:t>" : 1944, "nationality" : "Norway" </a:t>
            </a:r>
            <a:r>
              <a:rPr altLang="en-IN" dirty="0" lang="en-IN" smtClean="0" sz="2000"/>
              <a:t>},</a:t>
            </a:r>
            <a:endParaRPr altLang="en-IN" dirty="0" lang="en-IN" sz="2000"/>
          </a:p>
          <a:p>
            <a:pPr algn="just"/>
            <a:r>
              <a:rPr altLang="en-IN" dirty="0" lang="en-IN" sz="2000"/>
              <a:t>  { "_id" : 7, "</a:t>
            </a:r>
            <a:r>
              <a:rPr altLang="en-IN" dirty="0" err="1" lang="en-IN" sz="2000"/>
              <a:t>last_name</a:t>
            </a:r>
            <a:r>
              <a:rPr altLang="en-IN" dirty="0" lang="en-IN" sz="2000"/>
              <a:t>" : "Redon", "</a:t>
            </a:r>
            <a:r>
              <a:rPr altLang="en-IN" dirty="0" err="1" lang="en-IN" sz="2000"/>
              <a:t>first_name</a:t>
            </a:r>
            <a:r>
              <a:rPr altLang="en-IN" dirty="0" lang="en-IN" sz="2000"/>
              <a:t>" : "</a:t>
            </a:r>
            <a:r>
              <a:rPr altLang="en-IN" dirty="0" err="1" lang="en-IN" sz="2000"/>
              <a:t>Odilon</a:t>
            </a:r>
            <a:r>
              <a:rPr altLang="en-IN" dirty="0" lang="en-IN" sz="2000"/>
              <a:t>", "</a:t>
            </a:r>
            <a:r>
              <a:rPr altLang="en-IN" dirty="0" err="1" lang="en-IN" sz="2000"/>
              <a:t>year_born</a:t>
            </a:r>
            <a:r>
              <a:rPr altLang="en-IN" dirty="0" lang="en-IN" sz="2000"/>
              <a:t>" : 1840, "</a:t>
            </a:r>
            <a:r>
              <a:rPr altLang="en-IN" dirty="0" err="1" lang="en-IN" sz="2000"/>
              <a:t>year_died</a:t>
            </a:r>
            <a:r>
              <a:rPr altLang="en-IN" dirty="0" lang="en-IN" sz="2000"/>
              <a:t>" : 1916, "nationality" : "France" },</a:t>
            </a:r>
          </a:p>
          <a:p>
            <a:pPr algn="just"/>
            <a:r>
              <a:rPr altLang="en-IN" dirty="0" lang="en-IN" sz="2000"/>
              <a:t>  { "_id" : 8, "</a:t>
            </a:r>
            <a:r>
              <a:rPr altLang="en-IN" dirty="0" err="1" lang="en-IN" sz="2000"/>
              <a:t>last_name</a:t>
            </a:r>
            <a:r>
              <a:rPr altLang="en-IN" dirty="0" lang="en-IN" sz="2000"/>
              <a:t>" : "</a:t>
            </a:r>
            <a:r>
              <a:rPr altLang="en-IN" dirty="0" err="1" lang="en-IN" sz="2000"/>
              <a:t>Diriks</a:t>
            </a:r>
            <a:r>
              <a:rPr altLang="en-IN" dirty="0" lang="en-IN" sz="2000"/>
              <a:t>", "</a:t>
            </a:r>
            <a:r>
              <a:rPr altLang="en-IN" dirty="0" err="1" lang="en-IN" sz="2000"/>
              <a:t>first_name</a:t>
            </a:r>
            <a:r>
              <a:rPr altLang="en-IN" dirty="0" lang="en-IN" sz="2000"/>
              <a:t>" : "</a:t>
            </a:r>
            <a:r>
              <a:rPr altLang="en-IN" dirty="0" err="1" lang="en-IN" sz="2000"/>
              <a:t>Edvard</a:t>
            </a:r>
            <a:r>
              <a:rPr altLang="en-IN" dirty="0" lang="en-IN" sz="2000"/>
              <a:t>", "</a:t>
            </a:r>
            <a:r>
              <a:rPr altLang="en-IN" dirty="0" err="1" lang="en-IN" sz="2000"/>
              <a:t>year_born</a:t>
            </a:r>
            <a:r>
              <a:rPr altLang="en-IN" dirty="0" lang="en-IN" sz="2000"/>
              <a:t>" : 1855, "</a:t>
            </a:r>
            <a:r>
              <a:rPr altLang="en-IN" dirty="0" err="1" lang="en-IN" sz="2000"/>
              <a:t>year_died</a:t>
            </a:r>
            <a:r>
              <a:rPr altLang="en-IN" dirty="0" lang="en-IN" sz="2000"/>
              <a:t>" : 1930, "nationality" : "Norway" }</a:t>
            </a:r>
          </a:p>
          <a:p>
            <a:pPr algn="just"/>
            <a:r>
              <a:rPr altLang="en-IN" dirty="0" lang="en-IN" sz="2000"/>
              <a:t>])</a:t>
            </a:r>
          </a:p>
        </p:txBody>
      </p:sp>
    </p:spTree>
    <p:extLst>
      <p:ext uri="{BB962C8B-B14F-4D97-AF65-F5344CB8AC3E}">
        <p14:creationId xmlns:p14="http://schemas.microsoft.com/office/powerpoint/2010/main" xmlns="" val="1843954263"/>
      </p:ext>
    </p:extLst>
  </p:cSld>
  <p:clrMapOvr>
    <a:masterClrMapping/>
  </p:clrMapOvr>
  <p:timing>
    <p:tnLst>
      <p:par>
        <p:cTn dur="indefinite" id="1" nodeType="tmRoot" restart="never"/>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6199" y="110196"/>
            <a:ext cx="5392871" cy="3014003"/>
          </a:xfrm>
          <a:prstGeom prst="rect">
            <a:avLst/>
          </a:prstGeom>
        </p:spPr>
      </p:pic>
      <p:pic>
        <p:nvPicPr>
          <p:cNvPr id="3" name="Picture 2"/>
          <p:cNvPicPr>
            <a:picLocks noChangeAspect="1"/>
          </p:cNvPicPr>
          <p:nvPr/>
        </p:nvPicPr>
        <p:blipFill>
          <a:blip r:embed="rId3"/>
          <a:stretch>
            <a:fillRect/>
          </a:stretch>
        </p:blipFill>
        <p:spPr>
          <a:xfrm>
            <a:off x="914400" y="3113595"/>
            <a:ext cx="5391902" cy="1213942"/>
          </a:xfrm>
          <a:prstGeom prst="rect">
            <a:avLst/>
          </a:prstGeom>
        </p:spPr>
      </p:pic>
      <p:pic>
        <p:nvPicPr>
          <p:cNvPr id="4" name="Picture 3"/>
          <p:cNvPicPr>
            <a:picLocks noChangeAspect="1"/>
          </p:cNvPicPr>
          <p:nvPr/>
        </p:nvPicPr>
        <p:blipFill>
          <a:blip r:embed="rId4"/>
          <a:stretch>
            <a:fillRect/>
          </a:stretch>
        </p:blipFill>
        <p:spPr>
          <a:xfrm>
            <a:off x="112541" y="4087348"/>
            <a:ext cx="4639322" cy="2067213"/>
          </a:xfrm>
          <a:prstGeom prst="rect">
            <a:avLst/>
          </a:prstGeom>
        </p:spPr>
      </p:pic>
      <p:pic>
        <p:nvPicPr>
          <p:cNvPr id="5" name="Picture 4"/>
          <p:cNvPicPr>
            <a:picLocks noChangeAspect="1"/>
          </p:cNvPicPr>
          <p:nvPr/>
        </p:nvPicPr>
        <p:blipFill>
          <a:blip r:embed="rId5"/>
          <a:stretch>
            <a:fillRect/>
          </a:stretch>
        </p:blipFill>
        <p:spPr>
          <a:xfrm rot="5400000">
            <a:off x="4615569" y="4463831"/>
            <a:ext cx="1827025" cy="1554439"/>
          </a:xfrm>
          <a:prstGeom prst="rect">
            <a:avLst/>
          </a:prstGeom>
        </p:spPr>
      </p:pic>
      <p:pic>
        <p:nvPicPr>
          <p:cNvPr id="6" name="Picture 5"/>
          <p:cNvPicPr>
            <a:picLocks noChangeAspect="1"/>
          </p:cNvPicPr>
          <p:nvPr/>
        </p:nvPicPr>
        <p:blipFill>
          <a:blip r:embed="rId5"/>
          <a:stretch>
            <a:fillRect/>
          </a:stretch>
        </p:blipFill>
        <p:spPr>
          <a:xfrm>
            <a:off x="57630" y="3101895"/>
            <a:ext cx="856770" cy="985452"/>
          </a:xfrm>
          <a:prstGeom prst="rect">
            <a:avLst/>
          </a:prstGeom>
        </p:spPr>
      </p:pic>
      <p:pic>
        <p:nvPicPr>
          <p:cNvPr id="7" name="Picture 6"/>
          <p:cNvPicPr>
            <a:picLocks noChangeAspect="1"/>
          </p:cNvPicPr>
          <p:nvPr/>
        </p:nvPicPr>
        <p:blipFill>
          <a:blip r:embed="rId5"/>
          <a:stretch>
            <a:fillRect/>
          </a:stretch>
        </p:blipFill>
        <p:spPr>
          <a:xfrm rot="5400000">
            <a:off x="4391835" y="1187431"/>
            <a:ext cx="2991700" cy="837231"/>
          </a:xfrm>
          <a:prstGeom prst="rect">
            <a:avLst/>
          </a:prstGeom>
        </p:spPr>
      </p:pic>
      <p:sp>
        <p:nvSpPr>
          <p:cNvPr id="8" name="Rectangle 7"/>
          <p:cNvSpPr/>
          <p:nvPr/>
        </p:nvSpPr>
        <p:spPr>
          <a:xfrm>
            <a:off x="6477000" y="304800"/>
            <a:ext cx="2362200" cy="3139321"/>
          </a:xfrm>
          <a:prstGeom prst="rect">
            <a:avLst/>
          </a:prstGeom>
        </p:spPr>
        <p:txBody>
          <a:bodyPr numCol="1" wrap="square">
            <a:spAutoFit/>
          </a:bodyPr>
          <a:lstStyle/>
          <a:p>
            <a:pPr algn="just"/>
            <a:r>
              <a:rPr dirty="0" lang="en-US" smtClean="0"/>
              <a:t>Group artists </a:t>
            </a:r>
            <a:r>
              <a:rPr dirty="0" lang="en-US"/>
              <a:t>by their birth year into specific decade intervals, generate a list of their full names and birth years within each group, and then filter the results to include only those groups that contain more than </a:t>
            </a:r>
            <a:r>
              <a:rPr lang="en-US"/>
              <a:t>three </a:t>
            </a:r>
            <a:r>
              <a:rPr lang="en-US" smtClean="0"/>
              <a:t>artists.</a:t>
            </a:r>
            <a:endParaRPr altLang="en-IN" dirty="0" lang="en-IN"/>
          </a:p>
        </p:txBody>
      </p:sp>
    </p:spTree>
    <p:extLst>
      <p:ext uri="{BB962C8B-B14F-4D97-AF65-F5344CB8AC3E}">
        <p14:creationId xmlns:p14="http://schemas.microsoft.com/office/powerpoint/2010/main" xmlns="" val="2241854942"/>
      </p:ext>
    </p:extLst>
  </p:cSld>
  <p:clrMapOvr>
    <a:masterClrMapping/>
  </p:clrMapOvr>
  <p:timing>
    <p:tnLst>
      <p:par>
        <p:cTn dur="indefinite" id="1" nodeType="tmRoot" restart="never"/>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381001"/>
            <a:ext cx="8979614" cy="2743200"/>
          </a:xfrm>
          <a:prstGeom prst="rect">
            <a:avLst/>
          </a:prstGeom>
        </p:spPr>
      </p:pic>
      <p:sp>
        <p:nvSpPr>
          <p:cNvPr id="3" name="Rectangle 2"/>
          <p:cNvSpPr/>
          <p:nvPr/>
        </p:nvSpPr>
        <p:spPr>
          <a:xfrm>
            <a:off x="152400" y="26963"/>
            <a:ext cx="1507977" cy="369332"/>
          </a:xfrm>
          <a:prstGeom prst="rect">
            <a:avLst/>
          </a:prstGeom>
        </p:spPr>
        <p:txBody>
          <a:bodyPr numCol="1" wrap="none">
            <a:spAutoFit/>
          </a:bodyPr>
          <a:lstStyle/>
          <a:p>
            <a:r>
              <a:rPr dirty="0" lang="en-US" smtClean="0"/>
              <a:t>Stage1 Result:</a:t>
            </a:r>
            <a:endParaRPr altLang="en-IN" dirty="0" lang="en-IN"/>
          </a:p>
        </p:txBody>
      </p:sp>
      <p:pic>
        <p:nvPicPr>
          <p:cNvPr id="4" name="Picture 3"/>
          <p:cNvPicPr>
            <a:picLocks noChangeAspect="1"/>
          </p:cNvPicPr>
          <p:nvPr/>
        </p:nvPicPr>
        <p:blipFill>
          <a:blip r:embed="rId3"/>
          <a:stretch>
            <a:fillRect/>
          </a:stretch>
        </p:blipFill>
        <p:spPr>
          <a:xfrm>
            <a:off x="1207433" y="3810000"/>
            <a:ext cx="6564747" cy="2490923"/>
          </a:xfrm>
          <a:prstGeom prst="rect">
            <a:avLst/>
          </a:prstGeom>
        </p:spPr>
      </p:pic>
      <p:sp>
        <p:nvSpPr>
          <p:cNvPr id="5" name="Rectangle 4"/>
          <p:cNvSpPr/>
          <p:nvPr/>
        </p:nvSpPr>
        <p:spPr>
          <a:xfrm>
            <a:off x="152399" y="3325251"/>
            <a:ext cx="1507977" cy="369332"/>
          </a:xfrm>
          <a:prstGeom prst="rect">
            <a:avLst/>
          </a:prstGeom>
        </p:spPr>
        <p:txBody>
          <a:bodyPr numCol="1" wrap="none">
            <a:spAutoFit/>
          </a:bodyPr>
          <a:lstStyle/>
          <a:p>
            <a:r>
              <a:rPr dirty="0" lang="en-US" smtClean="0"/>
              <a:t>Stage2 Result:</a:t>
            </a:r>
            <a:endParaRPr altLang="en-IN" dirty="0" lang="en-IN"/>
          </a:p>
        </p:txBody>
      </p:sp>
    </p:spTree>
    <p:extLst>
      <p:ext uri="{BB962C8B-B14F-4D97-AF65-F5344CB8AC3E}">
        <p14:creationId xmlns:p14="http://schemas.microsoft.com/office/powerpoint/2010/main" xmlns="" val="2083390591"/>
      </p:ext>
    </p:extLst>
  </p:cSld>
  <p:clrMapOvr>
    <a:masterClrMapping/>
  </p:clrMapOvr>
  <p:timing>
    <p:tnLst>
      <p:par>
        <p:cTn dur="indefinite" id="1" nodeType="tmRoot" restart="never"/>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381000"/>
          </a:xfrm>
        </p:spPr>
        <p:txBody>
          <a:bodyPr numCol="1">
            <a:normAutofit fontScale="90000"/>
          </a:bodyPr>
          <a:lstStyle/>
          <a:p>
            <a:r>
              <a:rPr altLang="en-IN" dirty="0" lang="en-IN">
                <a:latin typeface="MongoDB Value Serif"/>
              </a:rPr>
              <a:t>$limit</a:t>
            </a:r>
            <a:endParaRPr altLang="en-IN" dirty="0" lang="en-IN"/>
          </a:p>
        </p:txBody>
      </p:sp>
      <p:sp>
        <p:nvSpPr>
          <p:cNvPr id="3" name="Content Placeholder 2"/>
          <p:cNvSpPr>
            <a:spLocks noGrp="1"/>
          </p:cNvSpPr>
          <p:nvPr>
            <p:ph idx="1"/>
          </p:nvPr>
        </p:nvSpPr>
        <p:spPr>
          <a:xfrm>
            <a:off x="152400" y="762000"/>
            <a:ext cx="8686800" cy="5715000"/>
          </a:xfrm>
        </p:spPr>
        <p:txBody>
          <a:bodyPr numCol="1">
            <a:normAutofit/>
          </a:bodyPr>
          <a:lstStyle/>
          <a:p>
            <a:pPr algn="just"/>
            <a:r>
              <a:rPr dirty="0" lang="en-US" sz="2600">
                <a:solidFill>
                  <a:srgbClr val="001E2B"/>
                </a:solidFill>
                <a:cs charset="0" panose="02020603050405020304" pitchFamily="18" typeface="Times New Roman"/>
              </a:rPr>
              <a:t>Limits the number of documents passed to the next stage in the </a:t>
            </a:r>
            <a:r>
              <a:rPr dirty="0" lang="en-US" sz="2600">
                <a:cs charset="0" panose="02020603050405020304" pitchFamily="18" typeface="Times New Roman"/>
              </a:rPr>
              <a:t>pipeline</a:t>
            </a:r>
            <a:r>
              <a:rPr dirty="0" lang="en-US" smtClean="0" sz="2600">
                <a:cs charset="0" panose="02020603050405020304" pitchFamily="18" typeface="Times New Roman"/>
              </a:rPr>
              <a:t>.</a:t>
            </a:r>
            <a:endParaRPr dirty="0" lang="en-US" sz="2600">
              <a:cs charset="0" panose="02020603050405020304" pitchFamily="18" typeface="Times New Roman"/>
            </a:endParaRPr>
          </a:p>
          <a:p>
            <a:pPr algn="just"/>
            <a:endParaRPr dirty="0" lang="en-US" smtClean="0" sz="2600">
              <a:cs charset="0" panose="02020603050405020304" pitchFamily="18" typeface="Times New Roman"/>
              <a:hlinkClick r:id="rId2"/>
            </a:endParaRPr>
          </a:p>
          <a:p>
            <a:pPr algn="just"/>
            <a:r>
              <a:rPr dirty="0" lang="en-US" smtClean="0" sz="2600">
                <a:cs charset="0" panose="02020603050405020304" pitchFamily="18" typeface="Times New Roman"/>
              </a:rPr>
              <a:t>$limit takes </a:t>
            </a:r>
            <a:r>
              <a:rPr dirty="0" lang="en-US" sz="2600">
                <a:cs charset="0" panose="02020603050405020304" pitchFamily="18" typeface="Times New Roman"/>
              </a:rPr>
              <a:t>a positive integer that specifies the </a:t>
            </a:r>
            <a:r>
              <a:rPr b="1" dirty="0" lang="en-US" sz="2600">
                <a:solidFill>
                  <a:srgbClr val="FF0000"/>
                </a:solidFill>
                <a:cs charset="0" panose="02020603050405020304" pitchFamily="18" typeface="Times New Roman"/>
              </a:rPr>
              <a:t>maximum</a:t>
            </a:r>
            <a:r>
              <a:rPr dirty="0" lang="en-US" sz="2600">
                <a:cs charset="0" panose="02020603050405020304" pitchFamily="18" typeface="Times New Roman"/>
              </a:rPr>
              <a:t> number of documents to pass </a:t>
            </a:r>
            <a:r>
              <a:rPr dirty="0" lang="en-US" smtClean="0" sz="2600">
                <a:cs charset="0" panose="02020603050405020304" pitchFamily="18" typeface="Times New Roman"/>
              </a:rPr>
              <a:t>along.</a:t>
            </a:r>
          </a:p>
          <a:p>
            <a:pPr algn="just"/>
            <a:endParaRPr dirty="0" lang="en-US" sz="2600">
              <a:cs charset="0" panose="02020603050405020304" pitchFamily="18" typeface="Times New Roman"/>
            </a:endParaRPr>
          </a:p>
          <a:p>
            <a:pPr algn="just"/>
            <a:endParaRPr dirty="0" lang="en-US" smtClean="0" sz="2600">
              <a:cs charset="0" panose="02020603050405020304" pitchFamily="18" typeface="Times New Roman"/>
            </a:endParaRPr>
          </a:p>
          <a:p>
            <a:pPr algn="just"/>
            <a:endParaRPr dirty="0" lang="en-US" sz="2600">
              <a:cs charset="0" panose="02020603050405020304" pitchFamily="18" typeface="Times New Roman"/>
            </a:endParaRPr>
          </a:p>
          <a:p>
            <a:pPr algn="just"/>
            <a:r>
              <a:rPr dirty="0" lang="en-US" sz="2600">
                <a:cs charset="0" panose="02020603050405020304" pitchFamily="18" typeface="Times New Roman"/>
              </a:rPr>
              <a:t>This operation returns only the first 5 documents passed to it by the </a:t>
            </a:r>
            <a:r>
              <a:rPr dirty="0" lang="en-US" smtClean="0" sz="2600">
                <a:cs charset="0" panose="02020603050405020304" pitchFamily="18" typeface="Times New Roman"/>
              </a:rPr>
              <a:t>pipeline. </a:t>
            </a:r>
          </a:p>
          <a:p>
            <a:pPr algn="just"/>
            <a:r>
              <a:rPr dirty="0" lang="en-US" sz="2600">
                <a:cs charset="0" panose="02020603050405020304" pitchFamily="18" typeface="Times New Roman"/>
              </a:rPr>
              <a:t>$limit </a:t>
            </a:r>
            <a:r>
              <a:rPr dirty="0" lang="en-US" smtClean="0" sz="2600">
                <a:cs charset="0" panose="02020603050405020304" pitchFamily="18" typeface="Times New Roman"/>
              </a:rPr>
              <a:t>has </a:t>
            </a:r>
            <a:r>
              <a:rPr dirty="0" lang="en-US" sz="2600">
                <a:cs charset="0" panose="02020603050405020304" pitchFamily="18" typeface="Times New Roman"/>
              </a:rPr>
              <a:t>no effect on the content of the documents it passes</a:t>
            </a:r>
            <a:r>
              <a:rPr dirty="0" lang="en-US" sz="2600">
                <a:latin charset="0" panose="02020603050405020304" pitchFamily="18" typeface="Times New Roman"/>
                <a:cs charset="0" panose="02020603050405020304" pitchFamily="18" typeface="Times New Roman"/>
              </a:rPr>
              <a:t>.</a:t>
            </a:r>
            <a:endParaRPr dirty="0" lang="en-US" smtClean="0" sz="2600">
              <a:latin charset="0" panose="02020603050405020304" pitchFamily="18" typeface="Times New Roman"/>
              <a:cs charset="0" panose="02020603050405020304" pitchFamily="18" typeface="Times New Roman"/>
            </a:endParaRPr>
          </a:p>
          <a:p>
            <a:endParaRPr dirty="0" lang="en-US">
              <a:latin typeface="Euclid Circular A"/>
            </a:endParaRPr>
          </a:p>
        </p:txBody>
      </p:sp>
      <p:pic>
        <p:nvPicPr>
          <p:cNvPr id="4" name="Picture 3"/>
          <p:cNvPicPr>
            <a:picLocks noChangeAspect="1"/>
          </p:cNvPicPr>
          <p:nvPr/>
        </p:nvPicPr>
        <p:blipFill>
          <a:blip r:embed="rId3"/>
          <a:stretch>
            <a:fillRect/>
          </a:stretch>
        </p:blipFill>
        <p:spPr>
          <a:xfrm>
            <a:off x="2133600" y="1557834"/>
            <a:ext cx="5456933" cy="428642"/>
          </a:xfrm>
          <a:prstGeom prst="rect">
            <a:avLst/>
          </a:prstGeom>
        </p:spPr>
      </p:pic>
      <p:pic>
        <p:nvPicPr>
          <p:cNvPr id="8" name="Picture 7"/>
          <p:cNvPicPr>
            <a:picLocks noChangeAspect="1"/>
          </p:cNvPicPr>
          <p:nvPr/>
        </p:nvPicPr>
        <p:blipFill>
          <a:blip r:embed="rId4"/>
          <a:stretch>
            <a:fillRect/>
          </a:stretch>
        </p:blipFill>
        <p:spPr>
          <a:xfrm>
            <a:off x="2161735" y="3048000"/>
            <a:ext cx="3886200" cy="1217795"/>
          </a:xfrm>
          <a:prstGeom prst="rect">
            <a:avLst/>
          </a:prstGeom>
        </p:spPr>
      </p:pic>
    </p:spTree>
    <p:extLst>
      <p:ext uri="{BB962C8B-B14F-4D97-AF65-F5344CB8AC3E}">
        <p14:creationId xmlns:p14="http://schemas.microsoft.com/office/powerpoint/2010/main" xmlns="" val="4192968172"/>
      </p:ext>
    </p:extLst>
  </p:cSld>
  <p:clrMapOvr>
    <a:masterClrMapping/>
  </p:clrMapOvr>
  <p:timing>
    <p:tnLst>
      <p:par>
        <p:cTn dur="indefinite" id="1" nodeType="tmRoot" restart="never"/>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411162"/>
          </a:xfrm>
        </p:spPr>
        <p:txBody>
          <a:bodyPr numCol="1">
            <a:normAutofit fontScale="90000"/>
          </a:bodyPr>
          <a:lstStyle/>
          <a:p>
            <a:r>
              <a:rPr altLang="en-IN" dirty="0" lang="en-IN"/>
              <a:t>$skip</a:t>
            </a:r>
          </a:p>
        </p:txBody>
      </p:sp>
      <p:sp>
        <p:nvSpPr>
          <p:cNvPr id="3" name="Content Placeholder 2"/>
          <p:cNvSpPr>
            <a:spLocks noGrp="1"/>
          </p:cNvSpPr>
          <p:nvPr>
            <p:ph idx="1"/>
          </p:nvPr>
        </p:nvSpPr>
        <p:spPr>
          <a:xfrm>
            <a:off x="152400" y="639762"/>
            <a:ext cx="8839200" cy="5943600"/>
          </a:xfrm>
        </p:spPr>
        <p:txBody>
          <a:bodyPr numCol="1">
            <a:normAutofit/>
          </a:bodyPr>
          <a:lstStyle/>
          <a:p>
            <a:pPr algn="just"/>
            <a:r>
              <a:rPr dirty="0" lang="en-US" sz="2400"/>
              <a:t>Skips over the specified number of documents that pass into the stage and passes the remaining documents to the next stage in the pipeline</a:t>
            </a:r>
            <a:r>
              <a:rPr dirty="0" lang="en-US" smtClean="0" sz="2400"/>
              <a:t>.</a:t>
            </a:r>
          </a:p>
          <a:p>
            <a:pPr algn="just"/>
            <a:endParaRPr dirty="0" lang="en-US" smtClean="0" sz="2400"/>
          </a:p>
          <a:p>
            <a:pPr algn="just"/>
            <a:r>
              <a:rPr dirty="0" lang="en-US" smtClean="0" sz="2400"/>
              <a:t>Takes </a:t>
            </a:r>
            <a:r>
              <a:rPr dirty="0" lang="en-US" sz="2400"/>
              <a:t>a positive integer that specifies the maximum number of documents to skip</a:t>
            </a:r>
            <a:r>
              <a:rPr dirty="0" lang="en-US" smtClean="0" sz="2400"/>
              <a:t>.</a:t>
            </a:r>
          </a:p>
          <a:p>
            <a:pPr algn="just"/>
            <a:endParaRPr dirty="0" lang="en-US" sz="2400"/>
          </a:p>
          <a:p>
            <a:pPr algn="just"/>
            <a:endParaRPr dirty="0" lang="en-US" smtClean="0" sz="2400"/>
          </a:p>
          <a:p>
            <a:pPr algn="just"/>
            <a:endParaRPr dirty="0" lang="en-US" smtClean="0" sz="2400"/>
          </a:p>
          <a:p>
            <a:pPr algn="just"/>
            <a:r>
              <a:rPr dirty="0" lang="en-US" sz="2400"/>
              <a:t>This operation skips the first 5 documents passed to it by the </a:t>
            </a:r>
            <a:r>
              <a:rPr dirty="0" lang="en-US" smtClean="0" sz="2400"/>
              <a:t>pipeline.</a:t>
            </a:r>
          </a:p>
          <a:p>
            <a:pPr algn="just"/>
            <a:r>
              <a:rPr dirty="0" lang="en-US" sz="2400"/>
              <a:t>has no effect on the content of the documents it passes along the pipeline.</a:t>
            </a:r>
            <a:endParaRPr altLang="en-IN" dirty="0" lang="en-IN" sz="2400"/>
          </a:p>
        </p:txBody>
      </p:sp>
      <p:pic>
        <p:nvPicPr>
          <p:cNvPr id="4" name="Picture 3"/>
          <p:cNvPicPr>
            <a:picLocks noChangeAspect="1"/>
          </p:cNvPicPr>
          <p:nvPr/>
        </p:nvPicPr>
        <p:blipFill>
          <a:blip r:embed="rId2"/>
          <a:stretch>
            <a:fillRect/>
          </a:stretch>
        </p:blipFill>
        <p:spPr>
          <a:xfrm>
            <a:off x="1260495" y="1828800"/>
            <a:ext cx="6740505" cy="492726"/>
          </a:xfrm>
          <a:prstGeom prst="rect">
            <a:avLst/>
          </a:prstGeom>
        </p:spPr>
      </p:pic>
      <p:pic>
        <p:nvPicPr>
          <p:cNvPr id="5" name="Picture 4"/>
          <p:cNvPicPr>
            <a:picLocks noChangeAspect="1"/>
          </p:cNvPicPr>
          <p:nvPr/>
        </p:nvPicPr>
        <p:blipFill>
          <a:blip r:embed="rId3"/>
          <a:stretch>
            <a:fillRect/>
          </a:stretch>
        </p:blipFill>
        <p:spPr>
          <a:xfrm>
            <a:off x="2667000" y="3094613"/>
            <a:ext cx="3200400" cy="1182414"/>
          </a:xfrm>
          <a:prstGeom prst="rect">
            <a:avLst/>
          </a:prstGeom>
        </p:spPr>
      </p:pic>
    </p:spTree>
    <p:extLst>
      <p:ext uri="{BB962C8B-B14F-4D97-AF65-F5344CB8AC3E}">
        <p14:creationId xmlns:p14="http://schemas.microsoft.com/office/powerpoint/2010/main" xmlns="" val="920471584"/>
      </p:ext>
    </p:extLst>
  </p:cSld>
  <p:clrMapOvr>
    <a:masterClrMapping/>
  </p:clrMapOvr>
  <p:timing>
    <p:tnLst>
      <p:par>
        <p:cTn dur="indefinite" id="1" nodeType="tmRoot" restart="never"/>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6664"/>
            <a:ext cx="8229600" cy="563562"/>
          </a:xfrm>
        </p:spPr>
        <p:txBody>
          <a:bodyPr numCol="1">
            <a:normAutofit fontScale="90000"/>
          </a:bodyPr>
          <a:lstStyle/>
          <a:p>
            <a:r>
              <a:rPr b="1" dirty="0" lang="en-US" smtClean="0"/>
              <a:t>$sort</a:t>
            </a:r>
            <a:endParaRPr altLang="en-IN" b="1" dirty="0" lang="en-IN"/>
          </a:p>
        </p:txBody>
      </p:sp>
      <p:pic>
        <p:nvPicPr>
          <p:cNvPr id="4" name="Picture 3"/>
          <p:cNvPicPr>
            <a:picLocks noChangeAspect="1"/>
          </p:cNvPicPr>
          <p:nvPr/>
        </p:nvPicPr>
        <p:blipFill>
          <a:blip r:embed="rId2"/>
          <a:stretch>
            <a:fillRect/>
          </a:stretch>
        </p:blipFill>
        <p:spPr>
          <a:xfrm>
            <a:off x="457200" y="4123422"/>
            <a:ext cx="3364064" cy="1667778"/>
          </a:xfrm>
          <a:prstGeom prst="rect">
            <a:avLst/>
          </a:prstGeom>
        </p:spPr>
      </p:pic>
      <p:pic>
        <p:nvPicPr>
          <p:cNvPr id="5" name="Picture 4"/>
          <p:cNvPicPr>
            <a:picLocks noChangeAspect="1"/>
          </p:cNvPicPr>
          <p:nvPr/>
        </p:nvPicPr>
        <p:blipFill>
          <a:blip r:embed="rId3"/>
          <a:stretch>
            <a:fillRect/>
          </a:stretch>
        </p:blipFill>
        <p:spPr>
          <a:xfrm>
            <a:off x="5181600" y="4123422"/>
            <a:ext cx="3402096" cy="1566044"/>
          </a:xfrm>
          <a:prstGeom prst="rect">
            <a:avLst/>
          </a:prstGeom>
        </p:spPr>
      </p:pic>
      <p:pic>
        <p:nvPicPr>
          <p:cNvPr id="6" name="Picture 5"/>
          <p:cNvPicPr>
            <a:picLocks noChangeAspect="1"/>
          </p:cNvPicPr>
          <p:nvPr/>
        </p:nvPicPr>
        <p:blipFill>
          <a:blip r:embed="rId4"/>
          <a:stretch>
            <a:fillRect/>
          </a:stretch>
        </p:blipFill>
        <p:spPr>
          <a:xfrm>
            <a:off x="2057399" y="2253520"/>
            <a:ext cx="5243971" cy="1480280"/>
          </a:xfrm>
          <a:prstGeom prst="rect">
            <a:avLst/>
          </a:prstGeom>
        </p:spPr>
      </p:pic>
      <p:pic>
        <p:nvPicPr>
          <p:cNvPr id="7" name="Picture 6"/>
          <p:cNvPicPr>
            <a:picLocks noChangeAspect="1"/>
          </p:cNvPicPr>
          <p:nvPr/>
        </p:nvPicPr>
        <p:blipFill>
          <a:blip r:embed="rId5"/>
          <a:stretch>
            <a:fillRect/>
          </a:stretch>
        </p:blipFill>
        <p:spPr>
          <a:xfrm>
            <a:off x="685800" y="1236818"/>
            <a:ext cx="8257358" cy="525346"/>
          </a:xfrm>
          <a:prstGeom prst="rect">
            <a:avLst/>
          </a:prstGeom>
        </p:spPr>
      </p:pic>
    </p:spTree>
    <p:extLst>
      <p:ext uri="{BB962C8B-B14F-4D97-AF65-F5344CB8AC3E}">
        <p14:creationId xmlns:p14="http://schemas.microsoft.com/office/powerpoint/2010/main" xmlns="" val="1546509990"/>
      </p:ext>
    </p:extLst>
  </p:cSld>
  <p:clrMapOvr>
    <a:masterClrMapping/>
  </p:clrMapOvr>
  <p:timing>
    <p:tnLst>
      <p:par>
        <p:cTn dur="indefinite" id="1" nodeType="tmRoot" restart="never"/>
      </p:par>
    </p:tnLst>
  </p:timing>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Words>1522</Words>
  <Paragraphs>240</Paragraphs>
  <Slides>42</Slides>
  <Notes>0</Notes>
  <TotalTime>1093</TotalTime>
  <HiddenSlides>0</HiddenSlides>
  <MMClips>0</MMClips>
  <ScaleCrop>false</ScaleCrop>
  <HeadingPairs>
    <vt:vector baseType="variant" size="4">
      <vt:variant>
        <vt:lpstr>Theme</vt:lpstr>
      </vt:variant>
      <vt:variant>
        <vt:i4>1</vt:i4>
      </vt:variant>
      <vt:variant>
        <vt:lpstr>Slide Titles</vt:lpstr>
      </vt:variant>
      <vt:variant>
        <vt:i4>42</vt:i4>
      </vt:variant>
    </vt:vector>
  </HeadingPairs>
  <TitlesOfParts>
    <vt:vector baseType="lpstr" size="43">
      <vt:lpstr>Office Theme</vt:lpstr>
      <vt:lpstr>Aggregation</vt:lpstr>
      <vt:lpstr>Aggregation Operations</vt:lpstr>
      <vt:lpstr>Aggregation Pipelines</vt:lpstr>
      <vt:lpstr>Aggregate stages</vt:lpstr>
      <vt:lpstr>Slide 5</vt:lpstr>
      <vt:lpstr>$match </vt:lpstr>
      <vt:lpstr>Slide 7</vt:lpstr>
      <vt:lpstr>Slide 8</vt:lpstr>
      <vt:lpstr>$group</vt:lpstr>
      <vt:lpstr>Slide 10</vt:lpstr>
      <vt:lpstr>Slide 11</vt:lpstr>
      <vt:lpstr>Slide 12</vt:lpstr>
      <vt:lpstr>Slide 13</vt:lpstr>
      <vt:lpstr>Slide 14</vt:lpstr>
      <vt:lpstr>Slide 15</vt:lpstr>
      <vt:lpstr>$count</vt:lpstr>
      <vt:lpstr>Slide 17</vt:lpstr>
      <vt:lpstr>$max</vt:lpstr>
      <vt:lpstr>Slide 19</vt:lpstr>
      <vt:lpstr>$min</vt:lpstr>
      <vt:lpstr>Slide 21</vt:lpstr>
      <vt:lpstr>$avg</vt:lpstr>
      <vt:lpstr>Slide 23</vt:lpstr>
      <vt:lpstr>$merge</vt:lpstr>
      <vt:lpstr>Slide 25</vt:lpstr>
      <vt:lpstr>Slide 26</vt:lpstr>
      <vt:lpstr>$out</vt:lpstr>
      <vt:lpstr>Slide 28</vt:lpstr>
      <vt:lpstr>Slide 29</vt:lpstr>
      <vt:lpstr>$unwind</vt:lpstr>
      <vt:lpstr>Slide 31</vt:lpstr>
      <vt:lpstr>Slide 32</vt:lpstr>
      <vt:lpstr>Slide 33</vt:lpstr>
      <vt:lpstr>Slide 34</vt:lpstr>
      <vt:lpstr>$bucket</vt:lpstr>
      <vt:lpstr>Slide 36</vt:lpstr>
      <vt:lpstr>Slide 37</vt:lpstr>
      <vt:lpstr>Slide 38</vt:lpstr>
      <vt:lpstr>Slide 39</vt:lpstr>
      <vt:lpstr>$limit</vt:lpstr>
      <vt:lpstr>$skip</vt:lpstr>
      <vt:lpstr>$sort</vt:lpstr>
    </vt:vector>
  </TitlesOfParts>
  <LinksUpToDate>false</LinksUpToDate>
  <SharedDoc>false</SharedDoc>
  <HyperlinksChanged>false</HyperlinksChanged>
  <Application>Microsoft Office PowerPoint</Application>
  <AppVersion>12.0000</AppVersion>
  <PresentationFormat>On-screen Show (4:3)</PresentationFormat>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2024-04-03T10:04:28Z</dcterms:created>
  <dc:creator>mandeep kaur</dc:creator>
  <cp:lastModifiedBy>Ravneet</cp:lastModifiedBy>
  <dcterms:modified xsi:type="dcterms:W3CDTF">2026-04-22T11:51:40Z</dcterms:modified>
  <cp:revision>214</cp:revision>
  <dc:title>Aggregation</dc:title>
</cp:coreProperties>
</file>