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3" d="100"/>
          <a:sy n="63" d="100"/>
        </p:scale>
        <p:origin x="159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numCol="1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9EFE7545-4C1C-4420-8113-60F06D9C7F7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F7D1E693-DB71-433E-8053-8F60DFD2DA7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9EFE7545-4C1C-4420-8113-60F06D9C7F7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F7D1E693-DB71-433E-8053-8F60DFD2DA7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numCol="1"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numCol="1"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9EFE7545-4C1C-4420-8113-60F06D9C7F7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F7D1E693-DB71-433E-8053-8F60DFD2DA7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 numCol="1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 numCol="1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9EFE7545-4C1C-4420-8113-60F06D9C7F7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F7D1E693-DB71-433E-8053-8F60DFD2DA7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numCol="1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 numCol="1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numCol="1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 numCol="1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9EFE7545-4C1C-4420-8113-60F06D9C7F7C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F7D1E693-DB71-433E-8053-8F60DFD2DA7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9EFE7545-4C1C-4420-8113-60F06D9C7F7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F7D1E693-DB71-433E-8053-8F60DFD2DA7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9EFE7545-4C1C-4420-8113-60F06D9C7F7C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F7D1E693-DB71-433E-8053-8F60DFD2DA7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numCol="1"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 numCol="1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 numCol="1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9EFE7545-4C1C-4420-8113-60F06D9C7F7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F7D1E693-DB71-433E-8053-8F60DFD2DA7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numCol="1"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numCol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 numCol="1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9EFE7545-4C1C-4420-8113-60F06D9C7F7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F7D1E693-DB71-433E-8053-8F60DFD2DA7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numCol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9EFE7545-4C1C-4420-8113-60F06D9C7F7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F7D1E693-DB71-433E-8053-8F60DFD2DA7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 numCol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9EFE7545-4C1C-4420-8113-60F06D9C7F7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F7D1E693-DB71-433E-8053-8F60DFD2DA7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numCol="1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FE7545-4C1C-4420-8113-60F06D9C7F7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numCol="1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numCol="1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D1E693-DB71-433E-8053-8F60DFD2DA7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4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8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4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2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numCol="1"/>
          <a:lstStyle/>
          <a:p>
            <a:r>
              <a:rPr lang="en-US" dirty="0" smtClean="0"/>
              <a:t>Update Operators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</p:spPr>
        <p:txBody>
          <a:bodyPr numCol="1"/>
          <a:lstStyle/>
          <a:p>
            <a:r>
              <a:rPr lang="en-US" dirty="0" smtClean="0"/>
              <a:t>updateOne() and </a:t>
            </a:r>
            <a:r>
              <a:rPr lang="en-US" dirty="0" err="1" smtClean="0"/>
              <a:t>updateMany</a:t>
            </a:r>
            <a:r>
              <a:rPr lang="en-US" dirty="0" smtClean="0"/>
              <a:t>()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5638800"/>
          </a:xfrm>
        </p:spPr>
        <p:txBody>
          <a:bodyPr numCol="1">
            <a:normAutofit/>
          </a:bodyPr>
          <a:lstStyle/>
          <a:p>
            <a:pPr algn="just"/>
            <a:r>
              <a:rPr lang="en-US" dirty="0" smtClean="0"/>
              <a:t>The .updateOne() method updates a single document that satisfies a given filter. </a:t>
            </a:r>
            <a:endParaRPr lang="en-US" dirty="0" smtClean="0"/>
          </a:p>
          <a:p>
            <a:r>
              <a:rPr lang="en-US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db.users.updateOne</a:t>
            </a:r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( { name: “Bob"}, { $set: { course: “CSE"}, $currentDate: {</a:t>
            </a:r>
            <a:r>
              <a:rPr lang="en-US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lastModified:true</a:t>
            </a:r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 } })</a:t>
            </a:r>
            <a:endParaRPr lang="en-US" dirty="0" smtClean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algn="just"/>
            <a:r>
              <a:rPr lang="en-US" dirty="0" smtClean="0"/>
              <a:t>The .</a:t>
            </a:r>
            <a:r>
              <a:rPr lang="en-US" dirty="0" err="1" smtClean="0"/>
              <a:t>updateMany</a:t>
            </a:r>
            <a:r>
              <a:rPr lang="en-US" dirty="0" smtClean="0"/>
              <a:t>() method updates all documents that satisfy a specific filter criteria.</a:t>
            </a:r>
            <a:endParaRPr lang="en-US" dirty="0" smtClean="0"/>
          </a:p>
          <a:p>
            <a:r>
              <a:rPr lang="en-US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db.employees.updateMany</a:t>
            </a:r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({ salary: 70000 }, { $set: { salary: 85000 }})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09600"/>
          </a:xfrm>
        </p:spPr>
        <p:txBody>
          <a:bodyPr numCol="1">
            <a:normAutofit fontScale="90000"/>
          </a:bodyPr>
          <a:lstStyle/>
          <a:p>
            <a:r>
              <a:rPr lang="en-US" dirty="0" smtClean="0"/>
              <a:t>Update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09600"/>
            <a:ext cx="8763000" cy="6019800"/>
          </a:xfrm>
        </p:spPr>
        <p:txBody>
          <a:bodyPr numCol="1">
            <a:normAutofit/>
          </a:bodyPr>
          <a:lstStyle/>
          <a:p>
            <a:pPr algn="just"/>
            <a:r>
              <a:rPr lang="en-US" sz="2400" dirty="0" smtClean="0"/>
              <a:t>To update a document, </a:t>
            </a:r>
            <a:r>
              <a:rPr lang="en-US" sz="2400" dirty="0" err="1" smtClean="0"/>
              <a:t>MongoDB</a:t>
            </a:r>
            <a:r>
              <a:rPr lang="en-US" sz="2400" dirty="0" smtClean="0"/>
              <a:t> has many in-built update operators. These operators are to be used for passing the updated form of the document to the update methods</a:t>
            </a:r>
            <a:r>
              <a:rPr lang="en-US" sz="2800" dirty="0" smtClean="0"/>
              <a:t>.</a:t>
            </a:r>
            <a:endParaRPr lang="en-US" sz="2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838200" y="2209800"/>
            <a:ext cx="7467600" cy="34358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"/>
            <a:ext cx="8839200" cy="6553200"/>
          </a:xfrm>
        </p:spPr>
        <p:txBody>
          <a:bodyPr numCol="1">
            <a:normAutofit/>
          </a:bodyPr>
          <a:lstStyle/>
          <a:p>
            <a:pPr algn="ctr">
              <a:buNone/>
            </a:pPr>
            <a:r>
              <a:rPr lang="en-US" sz="3600" b="1" dirty="0" smtClean="0"/>
              <a:t>$inc operator</a:t>
            </a:r>
            <a:endParaRPr lang="en-US" sz="3600" b="1" dirty="0" smtClean="0"/>
          </a:p>
          <a:p>
            <a:pPr algn="just"/>
            <a:r>
              <a:rPr lang="en-US" sz="2400" dirty="0" smtClean="0"/>
              <a:t>The $inc operator increments a field by a specified value.</a:t>
            </a:r>
            <a:endParaRPr lang="en-US" sz="2400" dirty="0" smtClean="0"/>
          </a:p>
          <a:p>
            <a:pPr algn="just"/>
            <a:endParaRPr lang="en-US" sz="2400" dirty="0" smtClean="0"/>
          </a:p>
          <a:p>
            <a:pPr algn="just">
              <a:buNone/>
            </a:pPr>
            <a:r>
              <a:rPr lang="en-US" sz="2400" i="1" dirty="0" smtClean="0"/>
              <a:t>Syntax:</a:t>
            </a:r>
            <a:r>
              <a:rPr lang="en-US" sz="2400" dirty="0" smtClean="0"/>
              <a:t> { $inc: { &lt;field1&gt;: &lt;amount1&gt;, &lt;field2&gt;: &lt;amount2&gt;, ... } }</a:t>
            </a:r>
            <a:endParaRPr lang="en-US" sz="2400" dirty="0" smtClean="0"/>
          </a:p>
          <a:p>
            <a:pPr algn="just">
              <a:buNone/>
            </a:pPr>
            <a:endParaRPr lang="en-US" sz="2400" dirty="0" smtClean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1800" dirty="0"/>
              <a:t>To specify a </a:t>
            </a:r>
            <a:r>
              <a:rPr lang="en-US" sz="1800" dirty="0" smtClean="0"/>
              <a:t>&lt;field&gt;</a:t>
            </a:r>
            <a:r>
              <a:rPr lang="en-US" sz="1800" dirty="0"/>
              <a:t> in an embedded document, use dot notation</a:t>
            </a:r>
            <a:r>
              <a:rPr lang="en-US" sz="1800" dirty="0" smtClean="0"/>
              <a:t>.</a:t>
            </a:r>
            <a:endParaRPr lang="en-US" sz="1800" dirty="0" smtClean="0"/>
          </a:p>
          <a:p>
            <a:pPr algn="just">
              <a:buFont typeface="Wingdings" panose="05000000000000000000" pitchFamily="2" charset="2"/>
              <a:buChar char="v"/>
            </a:pPr>
            <a:endParaRPr lang="en-US" sz="1800" dirty="0" smtClean="0"/>
          </a:p>
          <a:p>
            <a:pPr algn="just"/>
            <a:r>
              <a:rPr lang="en-US" sz="2400" dirty="0" smtClean="0"/>
              <a:t>The $inc operator accepts positive and negative values.</a:t>
            </a:r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If the field does not exist, $inc creates the field and sets the field to the specified value.</a:t>
            </a:r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Use of the $inc operator on a field with a null value will generate an error.</a:t>
            </a:r>
            <a:endParaRPr lang="en-US" sz="2400" dirty="0" smtClean="0"/>
          </a:p>
          <a:p>
            <a:pPr algn="just">
              <a:buNone/>
            </a:pPr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"/>
            <a:ext cx="8839200" cy="6553200"/>
          </a:xfrm>
        </p:spPr>
        <p:txBody>
          <a:bodyPr numCol="1"/>
          <a:lstStyle/>
          <a:p>
            <a:pPr algn="just">
              <a:buNone/>
            </a:pPr>
            <a:r>
              <a:rPr lang="en-US" sz="2000" dirty="0" smtClean="0"/>
              <a:t> </a:t>
            </a:r>
            <a:r>
              <a:rPr lang="en-US" sz="2400" dirty="0" err="1" smtClean="0"/>
              <a:t>db.updateopr.insertMany</a:t>
            </a:r>
            <a:r>
              <a:rPr lang="en-US" sz="2400" dirty="0" smtClean="0"/>
              <a:t>(</a:t>
            </a:r>
            <a:endParaRPr lang="en-US" sz="2400" dirty="0" smtClean="0"/>
          </a:p>
          <a:p>
            <a:pPr algn="just">
              <a:buNone/>
            </a:pPr>
            <a:r>
              <a:rPr lang="en-US" sz="2400" dirty="0" smtClean="0"/>
              <a:t>     {_id: 1, qty: 20, wt:25},</a:t>
            </a:r>
            <a:endParaRPr lang="en-US" sz="2400" dirty="0" smtClean="0"/>
          </a:p>
          <a:p>
            <a:pPr algn="just">
              <a:buNone/>
            </a:pPr>
            <a:r>
              <a:rPr lang="en-US" sz="2400" dirty="0" smtClean="0"/>
              <a:t>     {_id: 2, qty: 15, wt: 45},</a:t>
            </a:r>
            <a:endParaRPr lang="en-US" sz="2400" dirty="0" smtClean="0"/>
          </a:p>
          <a:p>
            <a:pPr algn="just">
              <a:buNone/>
            </a:pPr>
            <a:r>
              <a:rPr lang="en-US" sz="2400" dirty="0" smtClean="0"/>
              <a:t>     {_id: 3, qty: 40, wt:30},</a:t>
            </a:r>
            <a:endParaRPr lang="en-US" sz="2400" dirty="0" smtClean="0"/>
          </a:p>
          <a:p>
            <a:pPr algn="just">
              <a:buNone/>
            </a:pPr>
            <a:r>
              <a:rPr lang="en-US" sz="2400" dirty="0" smtClean="0"/>
              <a:t>     {_id: 4, qty: 25, wt: 35}</a:t>
            </a:r>
            <a:endParaRPr lang="en-US" sz="2400" dirty="0" smtClean="0"/>
          </a:p>
          <a:p>
            <a:pPr algn="just">
              <a:buNone/>
            </a:pPr>
            <a:r>
              <a:rPr lang="en-US" sz="2400" dirty="0" smtClean="0"/>
              <a:t>     )</a:t>
            </a:r>
            <a:endParaRPr lang="en-US" sz="2400" dirty="0" smtClean="0"/>
          </a:p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33642" y="3124200"/>
            <a:ext cx="8857957" cy="3046988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pPr algn="just"/>
            <a:r>
              <a:rPr lang="en-US" sz="2400" dirty="0" smtClean="0"/>
              <a:t>Write the queries for the following:</a:t>
            </a:r>
            <a:endParaRPr lang="en-US" sz="2400" dirty="0" smtClean="0"/>
          </a:p>
          <a:p>
            <a:pPr algn="just"/>
            <a:r>
              <a:rPr lang="en-US" sz="2400" dirty="0" smtClean="0"/>
              <a:t>Question1: Increase the value of field </a:t>
            </a:r>
            <a:r>
              <a:rPr lang="en-US" sz="2400" i="1" dirty="0" smtClean="0"/>
              <a:t>qty</a:t>
            </a:r>
            <a:r>
              <a:rPr lang="en-US" sz="2400" dirty="0" smtClean="0"/>
              <a:t> by 2 for _id:1</a:t>
            </a:r>
            <a:endParaRPr lang="en-US" sz="2400" dirty="0" smtClean="0"/>
          </a:p>
          <a:p>
            <a:pPr algn="just"/>
            <a:r>
              <a:rPr lang="en-US" sz="2400" dirty="0" smtClean="0"/>
              <a:t>Question2: Decrease the value of field </a:t>
            </a:r>
            <a:r>
              <a:rPr lang="en-US" sz="2400" i="1" dirty="0" smtClean="0"/>
              <a:t>qty</a:t>
            </a:r>
            <a:r>
              <a:rPr lang="en-US" sz="2400" dirty="0" smtClean="0"/>
              <a:t> by 2 and increase the </a:t>
            </a:r>
            <a:r>
              <a:rPr lang="en-US" sz="2400" i="1" dirty="0" smtClean="0"/>
              <a:t>wt</a:t>
            </a:r>
            <a:r>
              <a:rPr lang="en-US" sz="2400" dirty="0" smtClean="0"/>
              <a:t> by 5 for _id:2</a:t>
            </a:r>
            <a:endParaRPr lang="en-US" sz="2400" dirty="0" smtClean="0"/>
          </a:p>
          <a:p>
            <a:pPr algn="just"/>
            <a:r>
              <a:rPr lang="en-US" sz="2400" dirty="0" smtClean="0"/>
              <a:t>Question3: Increase the value of field qty by 5 and wt by 5 for all documents</a:t>
            </a:r>
            <a:endParaRPr lang="en-US" sz="2400" dirty="0" smtClean="0"/>
          </a:p>
          <a:p>
            <a:pPr algn="just"/>
            <a:r>
              <a:rPr lang="en-US" sz="2400" dirty="0" smtClean="0"/>
              <a:t>Question4: Increase the value of field qty by 5 and wt by 5 for documents with _id:2, _id:4.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"/>
            <a:ext cx="8839200" cy="6553200"/>
          </a:xfrm>
        </p:spPr>
        <p:txBody>
          <a:bodyPr numCol="1"/>
          <a:lstStyle/>
          <a:p>
            <a:pPr algn="just">
              <a:buNone/>
            </a:pPr>
            <a:r>
              <a:rPr lang="en-US" sz="2000" dirty="0" smtClean="0"/>
              <a:t> </a:t>
            </a:r>
            <a:r>
              <a:rPr lang="en-US" sz="2000" dirty="0" err="1" smtClean="0"/>
              <a:t>db.updateopr.insertMany</a:t>
            </a:r>
            <a:r>
              <a:rPr lang="en-US" sz="2000" dirty="0" smtClean="0"/>
              <a:t>(</a:t>
            </a:r>
            <a:endParaRPr lang="en-US" sz="2000" dirty="0" smtClean="0"/>
          </a:p>
          <a:p>
            <a:pPr algn="just">
              <a:buNone/>
            </a:pPr>
            <a:r>
              <a:rPr lang="en-US" sz="2000" dirty="0" smtClean="0"/>
              <a:t>     {_id: 1, qty: 20, wt:25},</a:t>
            </a:r>
            <a:endParaRPr lang="en-US" sz="2000" dirty="0" smtClean="0"/>
          </a:p>
          <a:p>
            <a:pPr algn="just">
              <a:buNone/>
            </a:pPr>
            <a:r>
              <a:rPr lang="en-US" sz="2000" dirty="0" smtClean="0"/>
              <a:t>     {_id: 2, qty: 15, wt: 45},</a:t>
            </a:r>
            <a:endParaRPr lang="en-US" sz="2000" dirty="0" smtClean="0"/>
          </a:p>
          <a:p>
            <a:pPr algn="just">
              <a:buNone/>
            </a:pPr>
            <a:r>
              <a:rPr lang="en-US" sz="2000" dirty="0" smtClean="0"/>
              <a:t>     {_id: 3, qty: 40, wt:30},</a:t>
            </a:r>
            <a:endParaRPr lang="en-US" sz="2000" dirty="0" smtClean="0"/>
          </a:p>
          <a:p>
            <a:pPr algn="just">
              <a:buNone/>
            </a:pPr>
            <a:r>
              <a:rPr lang="en-US" sz="2000" dirty="0" smtClean="0"/>
              <a:t>     {_id: 4, qty: 25, wt: 35}</a:t>
            </a:r>
            <a:endParaRPr lang="en-US" sz="2000" dirty="0" smtClean="0"/>
          </a:p>
          <a:p>
            <a:pPr algn="just">
              <a:buNone/>
            </a:pPr>
            <a:r>
              <a:rPr lang="en-US" sz="2000" dirty="0" smtClean="0"/>
              <a:t>     )</a:t>
            </a:r>
            <a:endParaRPr lang="en-US" sz="2000" dirty="0" smtClean="0"/>
          </a:p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52400" y="2362200"/>
            <a:ext cx="8610600" cy="1754326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pPr algn="just"/>
            <a:r>
              <a:rPr lang="en-US" dirty="0" smtClean="0"/>
              <a:t>Write the queries for the following:</a:t>
            </a:r>
            <a:endParaRPr lang="en-US" dirty="0" smtClean="0"/>
          </a:p>
          <a:p>
            <a:pPr algn="just"/>
            <a:r>
              <a:rPr lang="en-US" dirty="0" smtClean="0"/>
              <a:t>Question1: Increase the value of field </a:t>
            </a:r>
            <a:r>
              <a:rPr lang="en-US" i="1" dirty="0" smtClean="0"/>
              <a:t>qty</a:t>
            </a:r>
            <a:r>
              <a:rPr lang="en-US" dirty="0" smtClean="0"/>
              <a:t> by 2 for _id:1</a:t>
            </a:r>
            <a:endParaRPr lang="en-US" dirty="0" smtClean="0"/>
          </a:p>
          <a:p>
            <a:pPr algn="just"/>
            <a:r>
              <a:rPr lang="en-US" dirty="0" smtClean="0"/>
              <a:t>Question2: Decrease the value of field </a:t>
            </a:r>
            <a:r>
              <a:rPr lang="en-US" i="1" dirty="0" smtClean="0"/>
              <a:t>qty</a:t>
            </a:r>
            <a:r>
              <a:rPr lang="en-US" dirty="0" smtClean="0"/>
              <a:t> by 2 and increase the </a:t>
            </a:r>
            <a:r>
              <a:rPr lang="en-US" i="1" dirty="0" smtClean="0"/>
              <a:t>wt</a:t>
            </a:r>
            <a:r>
              <a:rPr lang="en-US" dirty="0" smtClean="0"/>
              <a:t> by 5 for _id:2</a:t>
            </a:r>
            <a:endParaRPr lang="en-US" dirty="0" smtClean="0"/>
          </a:p>
          <a:p>
            <a:pPr algn="just"/>
            <a:r>
              <a:rPr lang="en-US" dirty="0" smtClean="0"/>
              <a:t>Question3: Increase the value of field qty by 5 and wt by 5 for all documents</a:t>
            </a:r>
            <a:endParaRPr lang="en-US" dirty="0" smtClean="0"/>
          </a:p>
          <a:p>
            <a:pPr algn="just"/>
            <a:r>
              <a:rPr lang="en-US" dirty="0" smtClean="0"/>
              <a:t>Question4: Increase the value of field qty by 5 and wt by 5 for documents with _id:2, _id:4.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228600" y="4648200"/>
            <a:ext cx="8610600" cy="1631216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pPr algn="just"/>
            <a:r>
              <a:rPr lang="en-US" sz="2000" dirty="0" smtClean="0"/>
              <a:t>Answers:</a:t>
            </a:r>
            <a:endParaRPr lang="en-US" sz="2000" dirty="0" smtClean="0"/>
          </a:p>
          <a:p>
            <a:pPr algn="just"/>
            <a:r>
              <a:rPr lang="en-US" sz="2000" dirty="0" smtClean="0"/>
              <a:t>Query1: </a:t>
            </a:r>
            <a:r>
              <a:rPr lang="en-US" sz="2000" dirty="0" err="1" smtClean="0"/>
              <a:t>db.updateopr.updateOne</a:t>
            </a:r>
            <a:r>
              <a:rPr lang="en-US" sz="2000" dirty="0" smtClean="0"/>
              <a:t>({_id:1}, {$inc:{qty:2}})</a:t>
            </a:r>
            <a:endParaRPr lang="en-US" sz="2000" dirty="0" smtClean="0"/>
          </a:p>
          <a:p>
            <a:pPr algn="just"/>
            <a:r>
              <a:rPr lang="en-US" sz="2000" dirty="0" smtClean="0"/>
              <a:t>Query2: </a:t>
            </a:r>
            <a:r>
              <a:rPr lang="en-US" sz="2000" dirty="0" err="1" smtClean="0"/>
              <a:t>db.updateopr.updateOne</a:t>
            </a:r>
            <a:r>
              <a:rPr lang="en-US" sz="2000" dirty="0" smtClean="0"/>
              <a:t>({_id:2}, {$inc:{qty:-2, wt:3}})</a:t>
            </a:r>
            <a:endParaRPr lang="en-US" sz="2000" dirty="0" smtClean="0"/>
          </a:p>
          <a:p>
            <a:pPr algn="just"/>
            <a:r>
              <a:rPr lang="en-US" sz="2000" dirty="0" smtClean="0"/>
              <a:t>Query3: </a:t>
            </a:r>
            <a:r>
              <a:rPr lang="en-US" sz="2000" dirty="0" err="1" smtClean="0"/>
              <a:t>db.updateopr.updateMany</a:t>
            </a:r>
            <a:r>
              <a:rPr lang="en-US" sz="2000" dirty="0" smtClean="0"/>
              <a:t>({}, {$inc:{qty:5, wt:5}})</a:t>
            </a:r>
            <a:endParaRPr lang="en-US" sz="2000" dirty="0" smtClean="0"/>
          </a:p>
          <a:p>
            <a:pPr algn="just"/>
            <a:r>
              <a:rPr lang="en-US" sz="2000" dirty="0" smtClean="0"/>
              <a:t>Query4: </a:t>
            </a:r>
            <a:r>
              <a:rPr lang="en-US" sz="2000" dirty="0" err="1" smtClean="0"/>
              <a:t>db.updateopr.updateMany</a:t>
            </a:r>
            <a:r>
              <a:rPr lang="en-US" sz="2000" dirty="0" smtClean="0"/>
              <a:t>({$or:[{_id2},{_id:4}]}, {$inc:{qty:5, wt:5}})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28600"/>
            <a:ext cx="8610600" cy="6248400"/>
          </a:xfrm>
        </p:spPr>
        <p:txBody>
          <a:bodyPr numCol="1"/>
          <a:lstStyle/>
          <a:p>
            <a:pPr algn="just">
              <a:buNone/>
            </a:pPr>
            <a:endParaRPr lang="en-US" sz="2400" dirty="0" smtClean="0"/>
          </a:p>
          <a:p>
            <a:pPr algn="just">
              <a:buNone/>
            </a:pPr>
            <a:endParaRPr lang="en-US" sz="2400" dirty="0"/>
          </a:p>
          <a:p>
            <a:pPr algn="just">
              <a:buNone/>
            </a:pPr>
            <a:endParaRPr lang="en-US" sz="2400" dirty="0" smtClean="0"/>
          </a:p>
          <a:p>
            <a:pPr algn="just">
              <a:buNone/>
            </a:pPr>
            <a:endParaRPr lang="en-US" sz="2400" dirty="0"/>
          </a:p>
          <a:p>
            <a:pPr algn="just">
              <a:buNone/>
            </a:pPr>
            <a:endParaRPr lang="en-US" sz="2400" dirty="0" smtClean="0"/>
          </a:p>
          <a:p>
            <a:pPr algn="just">
              <a:buNone/>
            </a:pPr>
            <a:endParaRPr lang="en-US" sz="2400" dirty="0"/>
          </a:p>
          <a:p>
            <a:pPr algn="just">
              <a:buNone/>
            </a:pPr>
            <a:endParaRPr lang="en-US" sz="2400" dirty="0" smtClean="0"/>
          </a:p>
          <a:p>
            <a:pPr algn="just">
              <a:buNone/>
            </a:pPr>
            <a:r>
              <a:rPr lang="en-US" sz="2400" dirty="0" smtClean="0"/>
              <a:t>Update the following fields:</a:t>
            </a:r>
            <a:endParaRPr lang="en-US" sz="2400" dirty="0" smtClean="0"/>
          </a:p>
          <a:p>
            <a:pPr algn="just"/>
            <a:r>
              <a:rPr lang="en-US" sz="2400" dirty="0" smtClean="0"/>
              <a:t>increase the value of “orders” field by 1</a:t>
            </a:r>
            <a:endParaRPr lang="en-US" sz="2400" dirty="0" smtClean="0"/>
          </a:p>
          <a:p>
            <a:pPr algn="just"/>
            <a:r>
              <a:rPr lang="en-US" sz="2400" dirty="0" smtClean="0"/>
              <a:t>increase the value of “</a:t>
            </a:r>
            <a:r>
              <a:rPr lang="en-US" sz="2400" smtClean="0"/>
              <a:t>quantity” field </a:t>
            </a:r>
            <a:r>
              <a:rPr lang="en-US" sz="2400" dirty="0" smtClean="0"/>
              <a:t>by -2 </a:t>
            </a:r>
            <a:endParaRPr lang="en-US" sz="2400" dirty="0" smtClean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1951367" y="914400"/>
            <a:ext cx="4451500" cy="223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1497744" y="305945"/>
            <a:ext cx="4945072" cy="461665"/>
          </a:xfrm>
          <a:prstGeom prst="rect">
            <a:avLst/>
          </a:prstGeom>
        </p:spPr>
        <p:txBody>
          <a:bodyPr wrap="none" numCol="1">
            <a:spAutoFit/>
          </a:bodyPr>
          <a:lstStyle/>
          <a:p>
            <a:pPr algn="just"/>
            <a:r>
              <a:rPr lang="en-US" sz="2400" b="1" dirty="0" smtClean="0"/>
              <a:t>Question: (For Embedded Document)</a:t>
            </a:r>
            <a:endParaRPr lang="en-US" sz="24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28600"/>
            <a:ext cx="8610600" cy="6248400"/>
          </a:xfrm>
        </p:spPr>
        <p:txBody>
          <a:bodyPr numCol="1"/>
          <a:lstStyle/>
          <a:p>
            <a:pPr algn="just">
              <a:buNone/>
            </a:pPr>
            <a:endParaRPr lang="en-US" sz="2400" dirty="0" smtClean="0"/>
          </a:p>
          <a:p>
            <a:pPr algn="just">
              <a:buNone/>
            </a:pPr>
            <a:endParaRPr lang="en-US" sz="2400" dirty="0"/>
          </a:p>
          <a:p>
            <a:pPr algn="just">
              <a:buNone/>
            </a:pPr>
            <a:endParaRPr lang="en-US" sz="2400" dirty="0" smtClean="0"/>
          </a:p>
          <a:p>
            <a:pPr algn="just">
              <a:buNone/>
            </a:pPr>
            <a:endParaRPr lang="en-US" sz="2400" dirty="0"/>
          </a:p>
          <a:p>
            <a:pPr algn="just">
              <a:buNone/>
            </a:pPr>
            <a:r>
              <a:rPr lang="en-US" sz="2400" dirty="0" smtClean="0"/>
              <a:t>In this example updateOne() operation uses the $inc operator to:</a:t>
            </a:r>
            <a:endParaRPr lang="en-US" sz="2400" dirty="0" smtClean="0"/>
          </a:p>
          <a:p>
            <a:pPr algn="just"/>
            <a:r>
              <a:rPr lang="en-US" sz="2400" dirty="0" smtClean="0"/>
              <a:t>increase the "</a:t>
            </a:r>
            <a:r>
              <a:rPr lang="en-US" sz="2400" dirty="0" err="1" smtClean="0"/>
              <a:t>metrics.orders</a:t>
            </a:r>
            <a:r>
              <a:rPr lang="en-US" sz="2400" dirty="0" smtClean="0"/>
              <a:t>" field by 1</a:t>
            </a:r>
            <a:endParaRPr lang="en-US" sz="2400" dirty="0" smtClean="0"/>
          </a:p>
          <a:p>
            <a:pPr algn="just"/>
            <a:r>
              <a:rPr lang="en-US" sz="2400" dirty="0" smtClean="0"/>
              <a:t>increase the quantity field by -2 (which decreases quantity)</a:t>
            </a:r>
            <a:endParaRPr lang="en-US" sz="2400" dirty="0" smtClean="0"/>
          </a:p>
          <a:p>
            <a:pPr algn="just"/>
            <a:r>
              <a:rPr lang="en-US" sz="2400" dirty="0" smtClean="0"/>
              <a:t>Query:</a:t>
            </a:r>
            <a:endParaRPr lang="en-US" sz="2400" dirty="0" smtClean="0"/>
          </a:p>
          <a:p>
            <a:endParaRPr lang="en-US" dirty="0" smtClean="0"/>
          </a:p>
          <a:p>
            <a:endParaRPr lang="en-US" dirty="0"/>
          </a:p>
          <a:p>
            <a:r>
              <a:rPr lang="en-US" sz="2400" dirty="0" smtClean="0"/>
              <a:t>Output:</a:t>
            </a:r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1981200" y="4724400"/>
            <a:ext cx="4305300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981200" y="3352800"/>
            <a:ext cx="5543550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3733800" y="152400"/>
            <a:ext cx="3838575" cy="19271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131702" y="304800"/>
            <a:ext cx="3639330" cy="369332"/>
          </a:xfrm>
          <a:prstGeom prst="rect">
            <a:avLst/>
          </a:prstGeom>
        </p:spPr>
        <p:txBody>
          <a:bodyPr wrap="none" numCol="1">
            <a:spAutoFit/>
          </a:bodyPr>
          <a:lstStyle/>
          <a:p>
            <a:pPr algn="just"/>
            <a:r>
              <a:rPr lang="en-US" dirty="0" smtClean="0"/>
              <a:t>Example: (For Embedded Document)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"/>
            <a:ext cx="8839200" cy="6553200"/>
          </a:xfrm>
        </p:spPr>
        <p:txBody>
          <a:bodyPr numCol="1">
            <a:normAutofit/>
          </a:bodyPr>
          <a:lstStyle/>
          <a:p>
            <a:pPr algn="ctr">
              <a:buNone/>
            </a:pPr>
            <a:r>
              <a:rPr lang="en-US" b="1" dirty="0" smtClean="0"/>
              <a:t>$rename operator</a:t>
            </a:r>
            <a:endParaRPr lang="en-US" b="1" dirty="0" smtClean="0"/>
          </a:p>
          <a:p>
            <a:r>
              <a:rPr lang="en-US" sz="2400" dirty="0"/>
              <a:t>The $rename operator updates the name of a </a:t>
            </a:r>
            <a:r>
              <a:rPr lang="en-US" sz="2400" dirty="0" smtClean="0"/>
              <a:t>field.</a:t>
            </a:r>
            <a:endParaRPr lang="en-US" sz="2400" dirty="0" smtClean="0"/>
          </a:p>
          <a:p>
            <a:pPr>
              <a:buNone/>
            </a:pPr>
            <a:r>
              <a:rPr lang="en-US" sz="2400" i="1" dirty="0" smtClean="0"/>
              <a:t>Syntax:</a:t>
            </a:r>
            <a:endParaRPr lang="en-US" sz="2400" i="1" dirty="0" smtClean="0"/>
          </a:p>
          <a:p>
            <a:pPr>
              <a:buNone/>
            </a:pPr>
            <a:r>
              <a:rPr lang="en-US" sz="2400" dirty="0" smtClean="0"/>
              <a:t> </a:t>
            </a:r>
            <a:r>
              <a:rPr lang="en-US" sz="2400" dirty="0"/>
              <a:t>{$rename: { &lt;field1&gt;: &lt;newName1&gt;, &lt;field2&gt;: &lt;newName2&gt;, ... } </a:t>
            </a:r>
            <a:r>
              <a:rPr lang="en-US" sz="2400" dirty="0" smtClean="0"/>
              <a:t>}</a:t>
            </a:r>
            <a:endParaRPr lang="en-US" sz="2400" dirty="0" smtClean="0"/>
          </a:p>
          <a:p>
            <a:pPr>
              <a:buNone/>
            </a:pPr>
            <a:endParaRPr lang="en-US" sz="2400" dirty="0" smtClean="0"/>
          </a:p>
          <a:p>
            <a:r>
              <a:rPr lang="en-US" sz="2400" dirty="0"/>
              <a:t>The new field name must differ from the existing field name. </a:t>
            </a:r>
            <a:endParaRPr lang="en-US" sz="2400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US" sz="1800" dirty="0"/>
              <a:t>To specify a </a:t>
            </a:r>
            <a:r>
              <a:rPr lang="en-US" sz="1800" dirty="0" smtClean="0"/>
              <a:t>&lt;field&gt;</a:t>
            </a:r>
            <a:r>
              <a:rPr lang="en-US" sz="1800" dirty="0"/>
              <a:t> in an embedded document, use dot notation</a:t>
            </a:r>
            <a:r>
              <a:rPr lang="en-US" sz="1800" dirty="0" smtClean="0"/>
              <a:t>.</a:t>
            </a:r>
            <a:endParaRPr lang="en-US" sz="1800" dirty="0" smtClean="0"/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Example:</a:t>
            </a:r>
            <a:endParaRPr lang="en-US" sz="2400" dirty="0" smtClean="0"/>
          </a:p>
          <a:p>
            <a:pPr>
              <a:buFont typeface="Wingdings" panose="05000000000000000000" pitchFamily="2" charset="2"/>
              <a:buChar char="v"/>
            </a:pPr>
            <a:endParaRPr lang="en-US" sz="1800" dirty="0"/>
          </a:p>
          <a:p>
            <a:pPr>
              <a:buFont typeface="Wingdings" panose="05000000000000000000" pitchFamily="2" charset="2"/>
              <a:buChar char="v"/>
            </a:pPr>
            <a:endParaRPr lang="en-US" sz="1800" dirty="0" smtClean="0"/>
          </a:p>
          <a:p>
            <a:pPr>
              <a:buNone/>
            </a:pPr>
            <a:endParaRPr lang="en-US" sz="2400" dirty="0" smtClean="0"/>
          </a:p>
          <a:p>
            <a:pPr algn="just"/>
            <a:r>
              <a:rPr lang="en-US" sz="2400" dirty="0"/>
              <a:t>This operation renames the field </a:t>
            </a:r>
            <a:r>
              <a:rPr lang="en-US" sz="2400" i="1" dirty="0" smtClean="0"/>
              <a:t>nickname</a:t>
            </a:r>
            <a:r>
              <a:rPr lang="en-US" sz="2400" dirty="0"/>
              <a:t> to </a:t>
            </a:r>
            <a:r>
              <a:rPr lang="en-US" sz="2400" i="1" dirty="0" smtClean="0"/>
              <a:t>alias</a:t>
            </a:r>
            <a:r>
              <a:rPr lang="en-US" sz="2400" dirty="0"/>
              <a:t>, and the field </a:t>
            </a:r>
            <a:r>
              <a:rPr lang="en-US" sz="2400" i="1" dirty="0" smtClean="0"/>
              <a:t>cell</a:t>
            </a:r>
            <a:r>
              <a:rPr lang="en-US" sz="2400" dirty="0"/>
              <a:t> to </a:t>
            </a:r>
            <a:r>
              <a:rPr lang="en-US" sz="2400" i="1" dirty="0" smtClean="0"/>
              <a:t>mobile</a:t>
            </a:r>
            <a:r>
              <a:rPr lang="en-US" sz="2400" dirty="0"/>
              <a:t>.</a:t>
            </a:r>
            <a:endParaRPr lang="en-US" sz="2400" dirty="0"/>
          </a:p>
          <a:p>
            <a:endParaRPr lang="en-US" dirty="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1676400" y="4191000"/>
            <a:ext cx="6362700" cy="123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228600"/>
            <a:ext cx="8839200" cy="6553200"/>
          </a:xfrm>
        </p:spPr>
        <p:txBody>
          <a:bodyPr numCol="1">
            <a:normAutofit fontScale="92500"/>
          </a:bodyPr>
          <a:lstStyle/>
          <a:p>
            <a:pPr algn="just"/>
            <a:r>
              <a:rPr lang="en-US" sz="2400" dirty="0"/>
              <a:t>The </a:t>
            </a:r>
            <a:r>
              <a:rPr lang="en-US" sz="2400" i="1" dirty="0"/>
              <a:t>$rename</a:t>
            </a:r>
            <a:r>
              <a:rPr lang="en-US" sz="2400" dirty="0"/>
              <a:t> operator logically performs an </a:t>
            </a:r>
            <a:r>
              <a:rPr lang="en-US" sz="2400" i="1" dirty="0"/>
              <a:t>$unset</a:t>
            </a:r>
            <a:r>
              <a:rPr lang="en-US" sz="2400" dirty="0"/>
              <a:t> of both the old name and the new name, and then performs a</a:t>
            </a:r>
            <a:r>
              <a:rPr lang="en-US" sz="2400" i="1" dirty="0"/>
              <a:t> $set </a:t>
            </a:r>
            <a:r>
              <a:rPr lang="en-US" sz="2400" dirty="0"/>
              <a:t>operation with the new name</a:t>
            </a:r>
            <a:r>
              <a:rPr lang="en-US" sz="2400" dirty="0" smtClean="0"/>
              <a:t>.</a:t>
            </a:r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As </a:t>
            </a:r>
            <a:r>
              <a:rPr lang="en-US" sz="2400" dirty="0"/>
              <a:t>such, the operation may not preserve the order of the fields in the document; i.e. the renamed field may move within the document</a:t>
            </a:r>
            <a:r>
              <a:rPr lang="en-US" sz="2400" dirty="0" smtClean="0"/>
              <a:t>.</a:t>
            </a:r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r>
              <a:rPr lang="en-US" sz="2400" dirty="0"/>
              <a:t>If the document already has a field with the </a:t>
            </a:r>
            <a:r>
              <a:rPr lang="en-US" sz="2400" dirty="0" smtClean="0"/>
              <a:t>&lt;</a:t>
            </a:r>
            <a:r>
              <a:rPr lang="en-US" sz="2400" dirty="0" err="1" smtClean="0"/>
              <a:t>newName</a:t>
            </a:r>
            <a:r>
              <a:rPr lang="en-US" sz="2400" dirty="0" smtClean="0"/>
              <a:t>&gt;</a:t>
            </a:r>
            <a:r>
              <a:rPr lang="en-US" sz="2400" dirty="0"/>
              <a:t>, the $rename operator removes that field and renames the specified </a:t>
            </a:r>
            <a:r>
              <a:rPr lang="en-US" sz="2400" dirty="0" smtClean="0"/>
              <a:t>&lt;field&gt;</a:t>
            </a:r>
            <a:r>
              <a:rPr lang="en-US" sz="2400" dirty="0"/>
              <a:t> to </a:t>
            </a:r>
            <a:r>
              <a:rPr lang="en-US" sz="2400" dirty="0" smtClean="0"/>
              <a:t>&lt;</a:t>
            </a:r>
            <a:r>
              <a:rPr lang="en-US" sz="2400" dirty="0" err="1" smtClean="0"/>
              <a:t>newName</a:t>
            </a:r>
            <a:r>
              <a:rPr lang="en-US" sz="2400" dirty="0" smtClean="0"/>
              <a:t>&gt;.</a:t>
            </a:r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r>
              <a:rPr lang="en-US" sz="2400" dirty="0"/>
              <a:t>If the field to rename does not exist in a document, </a:t>
            </a:r>
            <a:r>
              <a:rPr lang="en-US" sz="2400" i="1" dirty="0"/>
              <a:t>$rename</a:t>
            </a:r>
            <a:r>
              <a:rPr lang="en-US" sz="2400" dirty="0"/>
              <a:t> does nothing (i.e. no operation</a:t>
            </a:r>
            <a:r>
              <a:rPr lang="en-US" sz="2400" dirty="0" smtClean="0"/>
              <a:t>).</a:t>
            </a:r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r>
              <a:rPr lang="en-US" sz="2400" dirty="0"/>
              <a:t>For fields in embedded documents, the </a:t>
            </a:r>
            <a:r>
              <a:rPr lang="en-US" sz="2400" i="1" dirty="0"/>
              <a:t>$rename</a:t>
            </a:r>
            <a:r>
              <a:rPr lang="en-US" sz="2400" dirty="0"/>
              <a:t> operator can rename these fields </a:t>
            </a:r>
            <a:r>
              <a:rPr lang="en-US" sz="2400" dirty="0" smtClean="0"/>
              <a:t>by using dot operator. </a:t>
            </a:r>
            <a:r>
              <a:rPr lang="en-US" sz="2400" i="1" dirty="0" smtClean="0"/>
              <a:t>$</a:t>
            </a:r>
            <a:r>
              <a:rPr lang="en-US" sz="2400" i="1" dirty="0"/>
              <a:t>rename</a:t>
            </a:r>
            <a:r>
              <a:rPr lang="en-US" sz="2400" dirty="0"/>
              <a:t> does not work if these fields are in array elements.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"/>
            <a:ext cx="8763000" cy="6553200"/>
          </a:xfrm>
        </p:spPr>
        <p:txBody>
          <a:bodyPr numCol="1"/>
          <a:lstStyle/>
          <a:p>
            <a:pPr algn="ctr">
              <a:buNone/>
            </a:pPr>
            <a:r>
              <a:rPr lang="en-US" sz="2000" b="1" dirty="0" smtClean="0"/>
              <a:t>Rename a Field</a:t>
            </a:r>
            <a:endParaRPr lang="en-US" sz="2000" b="1" dirty="0" smtClean="0"/>
          </a:p>
          <a:p>
            <a:pPr algn="ctr">
              <a:buNone/>
            </a:pPr>
            <a:endParaRPr lang="en-US" sz="2000" b="1" dirty="0"/>
          </a:p>
          <a:p>
            <a:pPr algn="ctr">
              <a:buNone/>
            </a:pPr>
            <a:endParaRPr lang="en-US" sz="2000" b="1" dirty="0" smtClean="0"/>
          </a:p>
          <a:p>
            <a:pPr algn="ctr">
              <a:buNone/>
            </a:pPr>
            <a:endParaRPr lang="en-US" sz="2000" b="1" dirty="0"/>
          </a:p>
          <a:p>
            <a:pPr algn="ctr">
              <a:buNone/>
            </a:pPr>
            <a:endParaRPr lang="en-US" sz="2000" b="1" dirty="0" smtClean="0"/>
          </a:p>
          <a:p>
            <a:pPr algn="ctr">
              <a:buNone/>
            </a:pPr>
            <a:endParaRPr lang="en-US" sz="2000" b="1" dirty="0"/>
          </a:p>
          <a:p>
            <a:pPr algn="ctr">
              <a:buNone/>
            </a:pPr>
            <a:endParaRPr lang="en-US" sz="2000" b="1" dirty="0" smtClean="0"/>
          </a:p>
          <a:p>
            <a:pPr algn="ctr">
              <a:buNone/>
            </a:pPr>
            <a:endParaRPr lang="en-US" sz="2000" b="1" dirty="0"/>
          </a:p>
          <a:p>
            <a:pPr algn="ctr">
              <a:buNone/>
            </a:pPr>
            <a:endParaRPr lang="en-US" sz="2000" b="1" dirty="0" smtClean="0"/>
          </a:p>
          <a:p>
            <a:pPr algn="ctr">
              <a:buNone/>
            </a:pPr>
            <a:endParaRPr lang="en-US" sz="2000" b="1" dirty="0"/>
          </a:p>
          <a:p>
            <a:pPr algn="ctr">
              <a:buNone/>
            </a:pPr>
            <a:endParaRPr lang="en-US" sz="2000" b="1" dirty="0" smtClean="0"/>
          </a:p>
          <a:p>
            <a:pPr algn="ctr">
              <a:buNone/>
            </a:pPr>
            <a:endParaRPr lang="en-US" sz="2000" b="1" dirty="0"/>
          </a:p>
          <a:p>
            <a:pPr algn="ctr">
              <a:buNone/>
            </a:pPr>
            <a:endParaRPr lang="en-US" sz="2000" b="1" dirty="0" smtClean="0"/>
          </a:p>
          <a:p>
            <a:pPr algn="ctr">
              <a:buNone/>
            </a:pPr>
            <a:endParaRPr lang="en-US" sz="2000" b="1" dirty="0"/>
          </a:p>
          <a:p>
            <a:pPr algn="ctr">
              <a:buNone/>
            </a:pPr>
            <a:endParaRPr lang="en-US" sz="2000" b="1" dirty="0" smtClean="0"/>
          </a:p>
          <a:p>
            <a:pPr algn="ctr">
              <a:buNone/>
            </a:pPr>
            <a:r>
              <a:rPr lang="en-US" sz="2000" b="1" dirty="0"/>
              <a:t>Rename a Field That Does Not Exist</a:t>
            </a:r>
            <a:endParaRPr lang="en-US" sz="2000" b="1" dirty="0"/>
          </a:p>
          <a:p>
            <a:pPr algn="ctr">
              <a:buNone/>
            </a:pPr>
            <a:endParaRPr lang="en-US" sz="2000" b="1" dirty="0" smtClean="0"/>
          </a:p>
          <a:p>
            <a:endParaRPr lang="en-US" dirty="0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1676400" y="533400"/>
            <a:ext cx="5960991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295400" y="5257800"/>
            <a:ext cx="6724650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838200" y="6172200"/>
            <a:ext cx="7686675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"/>
            <a:ext cx="8763000" cy="6553200"/>
          </a:xfrm>
        </p:spPr>
        <p:txBody>
          <a:bodyPr numCol="1"/>
          <a:lstStyle/>
          <a:p>
            <a:pPr algn="ctr">
              <a:buNone/>
            </a:pPr>
            <a:r>
              <a:rPr lang="en-US" sz="2400" b="1" dirty="0"/>
              <a:t>Rename a Field in an Embedded Document</a:t>
            </a:r>
            <a:endParaRPr lang="en-US" sz="2400" b="1" dirty="0"/>
          </a:p>
          <a:p>
            <a:endParaRPr lang="en-US" dirty="0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228600" y="4876800"/>
            <a:ext cx="863917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295400" y="5311254"/>
            <a:ext cx="6096000" cy="15467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8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1905000" y="533400"/>
            <a:ext cx="5762625" cy="42254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"/>
            <a:ext cx="8839200" cy="6553200"/>
          </a:xfrm>
        </p:spPr>
        <p:txBody>
          <a:bodyPr numCol="1">
            <a:normAutofit fontScale="92500" lnSpcReduction="10000"/>
          </a:bodyPr>
          <a:lstStyle/>
          <a:p>
            <a:pPr algn="ctr">
              <a:buNone/>
            </a:pPr>
            <a:r>
              <a:rPr lang="en-US" b="1" dirty="0" smtClean="0"/>
              <a:t>$mul operator</a:t>
            </a:r>
            <a:endParaRPr lang="en-US" b="1" dirty="0" smtClean="0"/>
          </a:p>
          <a:p>
            <a:pPr algn="just">
              <a:lnSpc>
                <a:spcPct val="110000"/>
              </a:lnSpc>
            </a:pPr>
            <a:r>
              <a:rPr lang="en-US" sz="2400" dirty="0"/>
              <a:t>Multiply the value of a field by a number. To specify a $mul expression, use the following prototype</a:t>
            </a:r>
            <a:r>
              <a:rPr lang="en-US" sz="2400" dirty="0" smtClean="0"/>
              <a:t>:</a:t>
            </a:r>
            <a:endParaRPr lang="en-US" sz="2400" dirty="0" smtClean="0"/>
          </a:p>
          <a:p>
            <a:pPr algn="just">
              <a:lnSpc>
                <a:spcPct val="110000"/>
              </a:lnSpc>
            </a:pPr>
            <a:endParaRPr lang="en-US" sz="2400" dirty="0"/>
          </a:p>
          <a:p>
            <a:pPr algn="ctr">
              <a:lnSpc>
                <a:spcPct val="110000"/>
              </a:lnSpc>
              <a:buNone/>
            </a:pPr>
            <a:r>
              <a:rPr lang="en-US" sz="2400" i="1" dirty="0" smtClean="0"/>
              <a:t>Syntax: </a:t>
            </a:r>
            <a:r>
              <a:rPr lang="en-US" sz="2400" dirty="0" smtClean="0"/>
              <a:t>{ </a:t>
            </a:r>
            <a:r>
              <a:rPr lang="en-US" sz="2400" dirty="0"/>
              <a:t>$mul</a:t>
            </a:r>
            <a:r>
              <a:rPr lang="en-US" sz="2400" dirty="0" smtClean="0"/>
              <a:t>: { &lt;field1&gt;: &lt;number1&gt;, ... } }</a:t>
            </a:r>
            <a:endParaRPr lang="en-US" sz="2400" dirty="0" smtClean="0"/>
          </a:p>
          <a:p>
            <a:pPr algn="just">
              <a:lnSpc>
                <a:spcPct val="110000"/>
              </a:lnSpc>
              <a:buNone/>
            </a:pPr>
            <a:endParaRPr lang="en-US" sz="2400" dirty="0" smtClean="0"/>
          </a:p>
          <a:p>
            <a:pPr algn="just">
              <a:lnSpc>
                <a:spcPct val="110000"/>
              </a:lnSpc>
            </a:pPr>
            <a:r>
              <a:rPr lang="en-US" sz="2400" dirty="0"/>
              <a:t>The field to update must contain a numeric value</a:t>
            </a:r>
            <a:r>
              <a:rPr lang="en-US" sz="2400" dirty="0" smtClean="0"/>
              <a:t>.</a:t>
            </a:r>
            <a:endParaRPr lang="en-US" sz="2400" dirty="0" smtClean="0"/>
          </a:p>
          <a:p>
            <a:pPr algn="just">
              <a:lnSpc>
                <a:spcPct val="110000"/>
              </a:lnSpc>
            </a:pPr>
            <a:endParaRPr lang="en-US" sz="2400" dirty="0"/>
          </a:p>
          <a:p>
            <a:pPr algn="just"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en-US" sz="1800" dirty="0"/>
              <a:t>To specify a &lt;field&gt; in an embedded document or in an array, use dot notation</a:t>
            </a:r>
            <a:r>
              <a:rPr lang="en-US" sz="1800" dirty="0" smtClean="0"/>
              <a:t>.</a:t>
            </a:r>
            <a:endParaRPr lang="en-US" sz="1800" dirty="0" smtClean="0"/>
          </a:p>
          <a:p>
            <a:pPr algn="just">
              <a:lnSpc>
                <a:spcPct val="110000"/>
              </a:lnSpc>
              <a:buFont typeface="Wingdings" panose="05000000000000000000" pitchFamily="2" charset="2"/>
              <a:buChar char="v"/>
            </a:pPr>
            <a:endParaRPr lang="en-US" sz="1800" dirty="0"/>
          </a:p>
          <a:p>
            <a:pPr algn="just">
              <a:lnSpc>
                <a:spcPct val="110000"/>
              </a:lnSpc>
            </a:pPr>
            <a:r>
              <a:rPr lang="en-US" sz="2400" dirty="0"/>
              <a:t>If the field does not exist in a document, </a:t>
            </a:r>
            <a:r>
              <a:rPr lang="en-US" sz="2400" i="1" dirty="0"/>
              <a:t>$mul</a:t>
            </a:r>
            <a:r>
              <a:rPr lang="en-US" sz="2400" dirty="0"/>
              <a:t> creates the field and sets the value to zero of the same numeric type as the </a:t>
            </a:r>
            <a:r>
              <a:rPr lang="en-US" sz="2400" dirty="0" smtClean="0"/>
              <a:t>multiplier.</a:t>
            </a:r>
            <a:endParaRPr lang="en-US" sz="2400" dirty="0" smtClean="0"/>
          </a:p>
          <a:p>
            <a:pPr algn="just"/>
            <a:endParaRPr lang="en-US" sz="2400" dirty="0" smtClean="0"/>
          </a:p>
          <a:p>
            <a:pPr algn="just">
              <a:buNone/>
            </a:pPr>
            <a:endParaRPr lang="en-US" sz="2400" dirty="0" smtClean="0"/>
          </a:p>
          <a:p>
            <a:pPr algn="just">
              <a:buNone/>
            </a:pPr>
            <a:endParaRPr lang="en-US" sz="2400" dirty="0" smtClean="0"/>
          </a:p>
          <a:p>
            <a:pPr algn="just">
              <a:buNone/>
            </a:pPr>
            <a:endParaRPr lang="en-US" sz="2400" dirty="0" smtClean="0"/>
          </a:p>
          <a:p>
            <a:pPr algn="just">
              <a:buNone/>
            </a:pPr>
            <a:r>
              <a:rPr lang="en-US" sz="2400" dirty="0" smtClean="0"/>
              <a:t>Query: Multiply the price field by 1.25 and the quantity field by 2.</a:t>
            </a:r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228600" y="5181600"/>
            <a:ext cx="8743950" cy="82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"/>
            <a:ext cx="8763000" cy="6553200"/>
          </a:xfrm>
        </p:spPr>
        <p:txBody>
          <a:bodyPr numCol="1"/>
          <a:lstStyle/>
          <a:p>
            <a:pPr algn="ctr">
              <a:buNone/>
            </a:pPr>
            <a:r>
              <a:rPr lang="en-US" sz="2800" b="1" dirty="0" smtClean="0"/>
              <a:t>Multiply the Value of a Field</a:t>
            </a:r>
            <a:endParaRPr lang="en-US" sz="2800" b="1" dirty="0" smtClean="0"/>
          </a:p>
          <a:p>
            <a:pPr algn="ctr">
              <a:buNone/>
            </a:pPr>
            <a:endParaRPr lang="en-US" sz="2800" b="1" dirty="0" smtClean="0"/>
          </a:p>
          <a:p>
            <a:pPr algn="ctr">
              <a:buNone/>
            </a:pPr>
            <a:endParaRPr lang="en-US" sz="2800" b="1" dirty="0" smtClean="0"/>
          </a:p>
          <a:p>
            <a:pPr algn="just">
              <a:buNone/>
            </a:pPr>
            <a:r>
              <a:rPr lang="en-US" sz="2400" dirty="0" smtClean="0"/>
              <a:t>Query: Multiply the price field by 1.25 and the quantity field by 2.</a:t>
            </a:r>
            <a:endParaRPr lang="en-US" sz="2400" dirty="0" smtClean="0"/>
          </a:p>
          <a:p>
            <a:pPr algn="just">
              <a:buNone/>
            </a:pPr>
            <a:endParaRPr lang="en-US" sz="2400" b="1" dirty="0" smtClean="0"/>
          </a:p>
          <a:p>
            <a:pPr algn="just">
              <a:buNone/>
            </a:pPr>
            <a:endParaRPr lang="en-US" sz="2400" b="1" dirty="0" smtClean="0"/>
          </a:p>
          <a:p>
            <a:pPr algn="just">
              <a:buNone/>
            </a:pPr>
            <a:endParaRPr lang="en-US" sz="2400" b="1" dirty="0" smtClean="0"/>
          </a:p>
          <a:p>
            <a:pPr algn="just">
              <a:buNone/>
            </a:pPr>
            <a:endParaRPr lang="en-US" sz="2400" b="1" dirty="0" smtClean="0"/>
          </a:p>
          <a:p>
            <a:pPr algn="just">
              <a:buNone/>
            </a:pPr>
            <a:endParaRPr lang="en-US" sz="2400" b="1" dirty="0" smtClean="0"/>
          </a:p>
          <a:p>
            <a:pPr algn="just">
              <a:buNone/>
            </a:pPr>
            <a:r>
              <a:rPr lang="en-US" sz="2400" dirty="0" smtClean="0"/>
              <a:t>In the updated document:</a:t>
            </a:r>
            <a:endParaRPr lang="en-US" sz="2400" dirty="0" smtClean="0"/>
          </a:p>
          <a:p>
            <a:pPr algn="just"/>
            <a:r>
              <a:rPr lang="en-US" sz="2400" dirty="0"/>
              <a:t>p</a:t>
            </a:r>
            <a:r>
              <a:rPr lang="en-US" sz="2400" dirty="0" smtClean="0"/>
              <a:t>rice</a:t>
            </a:r>
            <a:r>
              <a:rPr lang="en-US" sz="2400" dirty="0"/>
              <a:t>:</a:t>
            </a:r>
            <a:r>
              <a:rPr lang="en-US" sz="2400" dirty="0" smtClean="0"/>
              <a:t> original value, 10.99, multiplied by 1.25</a:t>
            </a:r>
            <a:endParaRPr lang="en-US" sz="2400" dirty="0" smtClean="0"/>
          </a:p>
          <a:p>
            <a:pPr algn="just"/>
            <a:r>
              <a:rPr lang="en-US" sz="2400" dirty="0"/>
              <a:t>q</a:t>
            </a:r>
            <a:r>
              <a:rPr lang="en-US" sz="2400" dirty="0" smtClean="0"/>
              <a:t>uantity: original value, 25, multiplied by 2</a:t>
            </a:r>
            <a:endParaRPr lang="en-US" sz="2400" dirty="0" smtClean="0"/>
          </a:p>
          <a:p>
            <a:pPr algn="just">
              <a:buNone/>
            </a:pPr>
            <a:endParaRPr lang="en-US" sz="2400" b="1" dirty="0" smtClean="0"/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152400" y="762000"/>
            <a:ext cx="8743950" cy="82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2514600" y="2144309"/>
            <a:ext cx="3505200" cy="21725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228600" y="6248355"/>
            <a:ext cx="8763000" cy="39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"/>
            <a:ext cx="8839200" cy="6553200"/>
          </a:xfrm>
        </p:spPr>
        <p:txBody>
          <a:bodyPr numCol="1"/>
          <a:lstStyle/>
          <a:p>
            <a:pPr algn="ctr">
              <a:buNone/>
            </a:pPr>
            <a:r>
              <a:rPr lang="en-US" sz="2800" b="1" dirty="0"/>
              <a:t>Apply $mul Operator to a Non-existing </a:t>
            </a:r>
            <a:r>
              <a:rPr lang="en-US" sz="2800" b="1" dirty="0" smtClean="0"/>
              <a:t>Field</a:t>
            </a:r>
            <a:endParaRPr lang="en-US" sz="2800" b="1" dirty="0" smtClean="0"/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r>
              <a:rPr lang="en-US" dirty="0" smtClean="0"/>
              <a:t>This query attempts </a:t>
            </a:r>
            <a:r>
              <a:rPr lang="en-US" dirty="0"/>
              <a:t>to apply the $mul operator to a field that is not in the </a:t>
            </a:r>
            <a:r>
              <a:rPr lang="en-US" dirty="0" smtClean="0"/>
              <a:t>document.</a:t>
            </a:r>
            <a:endParaRPr lang="en-US" dirty="0" smtClean="0"/>
          </a:p>
          <a:p>
            <a:r>
              <a:rPr lang="en-US" dirty="0" smtClean="0"/>
              <a:t>The</a:t>
            </a:r>
            <a:r>
              <a:rPr lang="en-US" dirty="0"/>
              <a:t> db.collection.updateOne() </a:t>
            </a:r>
            <a:r>
              <a:rPr lang="en-US" dirty="0" smtClean="0"/>
              <a:t>operation results: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 inserts </a:t>
            </a:r>
            <a:r>
              <a:rPr lang="en-US" dirty="0"/>
              <a:t>the price </a:t>
            </a:r>
            <a:r>
              <a:rPr lang="en-US" dirty="0" smtClean="0"/>
              <a:t>field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sets </a:t>
            </a:r>
            <a:r>
              <a:rPr lang="en-US" dirty="0"/>
              <a:t>Decimal128("0</a:t>
            </a:r>
            <a:r>
              <a:rPr lang="en-US" dirty="0" smtClean="0"/>
              <a:t>").</a:t>
            </a:r>
            <a:endParaRPr lang="en-US" dirty="0"/>
          </a:p>
          <a:p>
            <a:endParaRPr lang="en-US" b="1" dirty="0"/>
          </a:p>
          <a:p>
            <a:endParaRPr lang="en-US" dirty="0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1524000" y="838200"/>
            <a:ext cx="5791200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981200" y="1371600"/>
            <a:ext cx="4476750" cy="116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457200" y="6248400"/>
            <a:ext cx="828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8991600" cy="6705600"/>
          </a:xfrm>
        </p:spPr>
        <p:txBody>
          <a:bodyPr numCol="1">
            <a:normAutofit/>
          </a:bodyPr>
          <a:lstStyle/>
          <a:p>
            <a:pPr algn="ctr">
              <a:buNone/>
            </a:pPr>
            <a:r>
              <a:rPr lang="en-US" sz="2800" b="1" dirty="0" smtClean="0"/>
              <a:t>Multiply Mixed Numeric Types</a:t>
            </a:r>
            <a:endParaRPr lang="en-US" sz="2800" b="1" dirty="0" smtClean="0"/>
          </a:p>
          <a:p>
            <a:pPr algn="just">
              <a:buNone/>
            </a:pPr>
            <a:endParaRPr lang="en-US" sz="2800" b="1" dirty="0" smtClean="0"/>
          </a:p>
          <a:p>
            <a:pPr algn="just">
              <a:buNone/>
            </a:pPr>
            <a:r>
              <a:rPr lang="en-US" sz="2000" dirty="0" smtClean="0"/>
              <a:t>Query: uses the $mul operator to multiply the value in the price field Decimal128(10) by Int32(5):</a:t>
            </a:r>
            <a:endParaRPr lang="en-US" sz="2000" dirty="0" smtClean="0"/>
          </a:p>
          <a:p>
            <a:pPr algn="just">
              <a:buNone/>
            </a:pPr>
            <a:endParaRPr lang="en-US" sz="2400" dirty="0" smtClean="0"/>
          </a:p>
          <a:p>
            <a:pPr algn="just">
              <a:buNone/>
            </a:pPr>
            <a:endParaRPr lang="en-US" sz="2400" dirty="0" smtClean="0"/>
          </a:p>
          <a:p>
            <a:endParaRPr lang="en-US" sz="1800" dirty="0" smtClean="0"/>
          </a:p>
          <a:p>
            <a:r>
              <a:rPr lang="en-US" sz="1800" dirty="0" smtClean="0"/>
              <a:t>The value in the price field is of type Decimal128.</a:t>
            </a:r>
            <a:endParaRPr lang="en-US" sz="1800" dirty="0" smtClean="0"/>
          </a:p>
          <a:p>
            <a:pPr algn="just">
              <a:buNone/>
            </a:pPr>
            <a:r>
              <a:rPr lang="en-US" sz="2400" b="1" dirty="0" smtClean="0"/>
              <a:t>Mixed Type: </a:t>
            </a:r>
            <a:r>
              <a:rPr lang="en-US" sz="2400" dirty="0" smtClean="0"/>
              <a:t>Multiplication with values of mixed numeric types (32-bit integer, 64-bit integer, float) may result in conversion of numeric type. For multiplication with values of mixed numeric types, the following type conversion rules apply:</a:t>
            </a:r>
            <a:endParaRPr lang="en-US" sz="2400" dirty="0" smtClean="0"/>
          </a:p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609600" y="533400"/>
            <a:ext cx="82391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228600" y="1752600"/>
            <a:ext cx="3030071" cy="9692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3505200" y="1981200"/>
            <a:ext cx="54959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>
          <a:xfrm>
            <a:off x="762000" y="4953000"/>
            <a:ext cx="7243762" cy="15312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6096000" y="1524000"/>
            <a:ext cx="918841" cy="369332"/>
          </a:xfrm>
          <a:prstGeom prst="rect">
            <a:avLst/>
          </a:prstGeom>
        </p:spPr>
        <p:txBody>
          <a:bodyPr wrap="none" numCol="1">
            <a:spAutoFit/>
          </a:bodyPr>
          <a:lstStyle/>
          <a:p>
            <a:pPr algn="just">
              <a:buNone/>
            </a:pPr>
            <a:r>
              <a:rPr lang="en-US" dirty="0" smtClean="0"/>
              <a:t>Output: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"/>
            <a:ext cx="8763000" cy="6477000"/>
          </a:xfrm>
        </p:spPr>
        <p:txBody>
          <a:bodyPr numCol="1">
            <a:normAutofit/>
          </a:bodyPr>
          <a:lstStyle/>
          <a:p>
            <a:pPr algn="ctr">
              <a:buNone/>
            </a:pPr>
            <a:r>
              <a:rPr lang="en-US" b="1" dirty="0" smtClean="0"/>
              <a:t>$set operator</a:t>
            </a:r>
            <a:endParaRPr lang="en-US" b="1" dirty="0" smtClean="0"/>
          </a:p>
          <a:p>
            <a:pPr algn="just"/>
            <a:r>
              <a:rPr lang="en-US" sz="2400" dirty="0"/>
              <a:t>The $set operator replaces the value of a field with the specified value</a:t>
            </a:r>
            <a:r>
              <a:rPr lang="en-US" sz="2400" dirty="0" smtClean="0"/>
              <a:t>.</a:t>
            </a:r>
            <a:endParaRPr lang="en-US" sz="2400" dirty="0" smtClean="0"/>
          </a:p>
          <a:p>
            <a:pPr algn="just">
              <a:buNone/>
            </a:pPr>
            <a:r>
              <a:rPr lang="en-US" sz="2400" i="1" dirty="0" smtClean="0"/>
              <a:t>Syntax: </a:t>
            </a:r>
            <a:r>
              <a:rPr lang="en-US" sz="2400" dirty="0" smtClean="0"/>
              <a:t>{ </a:t>
            </a:r>
            <a:r>
              <a:rPr lang="en-US" sz="2400" dirty="0"/>
              <a:t>$set: { &lt;field1&gt;: &lt;value1&gt;, ... } }</a:t>
            </a:r>
            <a:endParaRPr lang="en-US" sz="2400" dirty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1800" dirty="0"/>
              <a:t>To specify a </a:t>
            </a:r>
            <a:r>
              <a:rPr lang="en-US" sz="1800" dirty="0" smtClean="0"/>
              <a:t>&lt;field&gt;</a:t>
            </a:r>
            <a:r>
              <a:rPr lang="en-US" sz="1800" dirty="0"/>
              <a:t> in an embedded document or in an array, use dot notation</a:t>
            </a:r>
            <a:r>
              <a:rPr lang="en-US" sz="1800" dirty="0" smtClean="0"/>
              <a:t>.</a:t>
            </a:r>
            <a:endParaRPr lang="en-US" sz="1800" dirty="0" smtClean="0"/>
          </a:p>
          <a:p>
            <a:pPr algn="just">
              <a:buNone/>
            </a:pPr>
            <a:endParaRPr lang="en-US" sz="1800" dirty="0" smtClean="0"/>
          </a:p>
          <a:p>
            <a:pPr algn="just">
              <a:buNone/>
            </a:pPr>
            <a:r>
              <a:rPr lang="en-US" sz="2400" dirty="0" smtClean="0"/>
              <a:t>Examples:</a:t>
            </a:r>
            <a:endParaRPr lang="en-US" sz="2400" dirty="0" smtClean="0"/>
          </a:p>
          <a:p>
            <a:pPr algn="just"/>
            <a:r>
              <a:rPr lang="en-US" sz="2400" dirty="0" err="1" smtClean="0"/>
              <a:t>db.users.updateOne</a:t>
            </a:r>
            <a:r>
              <a:rPr lang="en-US" sz="2400" dirty="0" smtClean="0"/>
              <a:t>( { name: “Bob"}, { $set: { course: “CSE"}})</a:t>
            </a:r>
            <a:endParaRPr lang="en-US" sz="2400" dirty="0" smtClean="0"/>
          </a:p>
          <a:p>
            <a:pPr algn="just"/>
            <a:r>
              <a:rPr lang="en-US" sz="2400" dirty="0" err="1" smtClean="0"/>
              <a:t>db.employees.updateMany</a:t>
            </a:r>
            <a:r>
              <a:rPr lang="en-US" sz="2400" dirty="0" smtClean="0"/>
              <a:t>({ salary: 70000 }, { $set: { salary: 85000 }})</a:t>
            </a:r>
            <a:endParaRPr lang="en-US" sz="2400" dirty="0" smtClean="0"/>
          </a:p>
          <a:p>
            <a:pPr algn="just">
              <a:buFont typeface="Wingdings" panose="05000000000000000000" pitchFamily="2" charset="2"/>
              <a:buChar char="v"/>
            </a:pPr>
            <a:endParaRPr lang="en-US" sz="1800" dirty="0" smtClean="0"/>
          </a:p>
          <a:p>
            <a:pPr algn="just"/>
            <a:r>
              <a:rPr lang="en-US" sz="2400" dirty="0" smtClean="0"/>
              <a:t>If the field does not exist, $set will add a new field with the specified value.</a:t>
            </a:r>
            <a:endParaRPr lang="en-US" sz="2400" dirty="0" smtClean="0"/>
          </a:p>
          <a:p>
            <a:pPr algn="just"/>
            <a:r>
              <a:rPr lang="en-US" sz="2400" dirty="0" smtClean="0"/>
              <a:t>If specifying multiple field-value pairs, $set will update or create each field.</a:t>
            </a:r>
            <a:endParaRPr lang="en-US" sz="2400" dirty="0" smtClean="0"/>
          </a:p>
          <a:p>
            <a:pPr algn="just">
              <a:buNone/>
            </a:pPr>
            <a:endParaRPr lang="en-US" sz="2400" dirty="0" smtClean="0"/>
          </a:p>
          <a:p>
            <a:pPr algn="just"/>
            <a:endParaRPr lang="en-US" sz="2400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52400"/>
            <a:ext cx="8915400" cy="6553200"/>
          </a:xfrm>
        </p:spPr>
        <p:txBody>
          <a:bodyPr numCol="1">
            <a:normAutofit lnSpcReduction="10000"/>
          </a:bodyPr>
          <a:lstStyle/>
          <a:p>
            <a:pPr algn="ctr">
              <a:buNone/>
            </a:pPr>
            <a:r>
              <a:rPr lang="en-US" sz="2400" b="1" dirty="0" smtClean="0"/>
              <a:t>Set Top-Level Fields</a:t>
            </a:r>
            <a:endParaRPr lang="en-US" sz="2400" b="1" dirty="0" smtClean="0"/>
          </a:p>
          <a:p>
            <a:pPr algn="ctr">
              <a:buNone/>
            </a:pPr>
            <a:endParaRPr lang="en-US" sz="2400" b="1" dirty="0" smtClean="0"/>
          </a:p>
          <a:p>
            <a:pPr algn="ctr">
              <a:buNone/>
            </a:pPr>
            <a:endParaRPr lang="en-US" sz="2400" b="1" dirty="0" smtClean="0"/>
          </a:p>
          <a:p>
            <a:pPr algn="ctr">
              <a:buNone/>
            </a:pPr>
            <a:endParaRPr lang="en-US" sz="2400" b="1" dirty="0" smtClean="0"/>
          </a:p>
          <a:p>
            <a:pPr algn="ctr">
              <a:buNone/>
            </a:pPr>
            <a:endParaRPr lang="en-US" sz="2400" b="1" dirty="0" smtClean="0"/>
          </a:p>
          <a:p>
            <a:pPr algn="ctr">
              <a:buNone/>
            </a:pPr>
            <a:endParaRPr lang="en-US" sz="2400" b="1" dirty="0" smtClean="0"/>
          </a:p>
          <a:p>
            <a:pPr algn="ctr">
              <a:buNone/>
            </a:pPr>
            <a:endParaRPr lang="en-US" sz="2400" b="1" dirty="0" smtClean="0"/>
          </a:p>
          <a:p>
            <a:pPr algn="just">
              <a:buNone/>
            </a:pPr>
            <a:endParaRPr lang="en-US" sz="2400" dirty="0" smtClean="0"/>
          </a:p>
          <a:p>
            <a:pPr algn="just">
              <a:buNone/>
            </a:pPr>
            <a:r>
              <a:rPr lang="en-US" sz="2600" dirty="0" smtClean="0"/>
              <a:t>Query: For the document matching the criteria _id equal to 100, use the $set operator to </a:t>
            </a:r>
            <a:endParaRPr lang="en-US" sz="2600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600" dirty="0" smtClean="0"/>
              <a:t>update the value of the </a:t>
            </a:r>
            <a:r>
              <a:rPr lang="en-US" sz="2600" i="1" dirty="0" smtClean="0"/>
              <a:t>quantity</a:t>
            </a:r>
            <a:r>
              <a:rPr lang="en-US" sz="2600" dirty="0" smtClean="0"/>
              <a:t> field to 500</a:t>
            </a:r>
            <a:endParaRPr lang="en-US" sz="2600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600" i="1" dirty="0" smtClean="0"/>
              <a:t>details</a:t>
            </a:r>
            <a:r>
              <a:rPr lang="en-US" sz="2600" dirty="0" smtClean="0"/>
              <a:t> field with new embedded document containing field </a:t>
            </a:r>
            <a:r>
              <a:rPr lang="en-US" sz="2600" i="1" dirty="0" smtClean="0"/>
              <a:t>model</a:t>
            </a:r>
            <a:r>
              <a:rPr lang="en-US" sz="2600" dirty="0" smtClean="0"/>
              <a:t> with value 2600 and field </a:t>
            </a:r>
            <a:r>
              <a:rPr lang="en-US" sz="2600" i="1" dirty="0" smtClean="0"/>
              <a:t>make</a:t>
            </a:r>
            <a:r>
              <a:rPr lang="en-US" sz="2600" dirty="0" smtClean="0"/>
              <a:t> with value </a:t>
            </a:r>
            <a:r>
              <a:rPr lang="en-US" sz="2600" i="1" dirty="0" err="1" smtClean="0"/>
              <a:t>Fashionaires</a:t>
            </a:r>
            <a:endParaRPr lang="en-US" sz="2600" i="1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600" dirty="0" smtClean="0"/>
              <a:t>the tags field with new array elements: coats, outerwear and clothing.</a:t>
            </a:r>
            <a:endParaRPr lang="en-US" sz="2600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b="1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2057400" y="609600"/>
            <a:ext cx="4848055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"/>
            <a:ext cx="8839200" cy="6629400"/>
          </a:xfrm>
        </p:spPr>
        <p:txBody>
          <a:bodyPr numCol="1"/>
          <a:lstStyle/>
          <a:p>
            <a:r>
              <a:rPr lang="en-US" dirty="0" smtClean="0"/>
              <a:t>Query:</a:t>
            </a: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Output:</a:t>
            </a:r>
            <a:endParaRPr lang="en-US" dirty="0"/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2438400" y="304800"/>
            <a:ext cx="6296025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379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2590800" y="3483300"/>
            <a:ext cx="5981700" cy="27365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"/>
            <a:ext cx="8686800" cy="6553200"/>
          </a:xfrm>
        </p:spPr>
        <p:txBody>
          <a:bodyPr numCol="1"/>
          <a:lstStyle/>
          <a:p>
            <a:pPr algn="ctr">
              <a:buNone/>
            </a:pPr>
            <a:r>
              <a:rPr lang="en-US" b="1" dirty="0" smtClean="0"/>
              <a:t> </a:t>
            </a:r>
            <a:r>
              <a:rPr lang="en-US" sz="2800" b="1" dirty="0" smtClean="0"/>
              <a:t>Set Fields in Embedded Documents</a:t>
            </a:r>
            <a:endParaRPr lang="en-US" sz="2800" b="1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US" sz="1800" dirty="0" smtClean="0"/>
              <a:t>To specify a &lt;field&gt; in an embedded document or in an array, use dot notation.</a:t>
            </a:r>
            <a:endParaRPr lang="en-US" sz="1800" dirty="0" smtClean="0"/>
          </a:p>
          <a:p>
            <a:pPr>
              <a:buFont typeface="Wingdings" panose="05000000000000000000" pitchFamily="2" charset="2"/>
              <a:buChar char="v"/>
            </a:pPr>
            <a:endParaRPr lang="en-US" sz="1800" dirty="0" smtClean="0"/>
          </a:p>
          <a:p>
            <a:pPr>
              <a:buFont typeface="Wingdings" panose="05000000000000000000" pitchFamily="2" charset="2"/>
              <a:buChar char="v"/>
            </a:pPr>
            <a:endParaRPr lang="en-US" sz="1800" dirty="0" smtClean="0"/>
          </a:p>
          <a:p>
            <a:pPr>
              <a:buFont typeface="Wingdings" panose="05000000000000000000" pitchFamily="2" charset="2"/>
              <a:buChar char="v"/>
            </a:pPr>
            <a:endParaRPr lang="en-US" sz="1800" dirty="0" smtClean="0"/>
          </a:p>
          <a:p>
            <a:pPr>
              <a:buFont typeface="Wingdings" panose="05000000000000000000" pitchFamily="2" charset="2"/>
              <a:buChar char="v"/>
            </a:pPr>
            <a:endParaRPr lang="en-US" sz="1800" dirty="0" smtClean="0"/>
          </a:p>
          <a:p>
            <a:pPr>
              <a:buFont typeface="Wingdings" panose="05000000000000000000" pitchFamily="2" charset="2"/>
              <a:buChar char="v"/>
            </a:pPr>
            <a:endParaRPr lang="en-US" sz="1800" dirty="0" smtClean="0"/>
          </a:p>
          <a:p>
            <a:pPr>
              <a:buFont typeface="Wingdings" panose="05000000000000000000" pitchFamily="2" charset="2"/>
              <a:buChar char="v"/>
            </a:pPr>
            <a:endParaRPr lang="en-US" sz="1800" dirty="0" smtClean="0"/>
          </a:p>
          <a:p>
            <a:pPr>
              <a:buFont typeface="Wingdings" panose="05000000000000000000" pitchFamily="2" charset="2"/>
              <a:buChar char="v"/>
            </a:pPr>
            <a:endParaRPr lang="en-US" sz="1800" dirty="0" smtClean="0"/>
          </a:p>
          <a:p>
            <a:pPr>
              <a:buFont typeface="Wingdings" panose="05000000000000000000" pitchFamily="2" charset="2"/>
              <a:buChar char="v"/>
            </a:pPr>
            <a:endParaRPr lang="en-US" sz="1800" dirty="0" smtClean="0"/>
          </a:p>
          <a:p>
            <a:pPr algn="just">
              <a:buNone/>
            </a:pPr>
            <a:r>
              <a:rPr lang="en-US" sz="2400" dirty="0" smtClean="0"/>
              <a:t>Query: For the document matching the criteria _id equal to 100, updates the make field in the </a:t>
            </a:r>
            <a:r>
              <a:rPr lang="en-US" sz="2400" i="1" dirty="0" smtClean="0"/>
              <a:t>details</a:t>
            </a:r>
            <a:r>
              <a:rPr lang="en-US" sz="2400" dirty="0" smtClean="0"/>
              <a:t> document.</a:t>
            </a:r>
            <a:endParaRPr lang="en-US" sz="2400" dirty="0"/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228600" y="4648200"/>
            <a:ext cx="3886200" cy="8917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81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4419600" y="4648200"/>
            <a:ext cx="4305300" cy="20125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6324600" y="4419600"/>
            <a:ext cx="856325" cy="369332"/>
          </a:xfrm>
          <a:prstGeom prst="rect">
            <a:avLst/>
          </a:prstGeom>
        </p:spPr>
        <p:txBody>
          <a:bodyPr wrap="none" numCol="1">
            <a:spAutoFit/>
          </a:bodyPr>
          <a:lstStyle/>
          <a:p>
            <a:r>
              <a:rPr lang="en-US" dirty="0" smtClean="0"/>
              <a:t>Output</a:t>
            </a:r>
            <a:endParaRPr lang="en-US" dirty="0"/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1752600" y="1170897"/>
            <a:ext cx="5428325" cy="24833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304800" y="4876800"/>
            <a:ext cx="3057525" cy="172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533400" y="2971800"/>
            <a:ext cx="3886200" cy="8917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4572000" y="2895600"/>
            <a:ext cx="4305300" cy="20125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843" name="Rectangle 3"/>
          <p:cNvSpPr>
            <a:spLocks noChangeArrowheads="1"/>
          </p:cNvSpPr>
          <p:nvPr/>
        </p:nvSpPr>
        <p:spPr>
          <a:xfrm>
            <a:off x="3657600" y="5114836"/>
            <a:ext cx="5257800" cy="1200329"/>
          </a:xfrm>
          <a:prstGeom prst="rect">
            <a:avLst/>
          </a:prstGeom>
          <a:solidFill>
            <a:srgbClr val="F9FBFA"/>
          </a:solidFill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2400" b="0" u="none" strike="noStrike" cap="none" normalizeH="0" baseline="0" dirty="0" smtClean="0">
                <a:ln>
                  <a:noFill/>
                </a:ln>
                <a:effectLst/>
                <a:cs typeface="Arial" panose="020B0604020202090204" pitchFamily="34" charset="0"/>
              </a:rPr>
              <a:t>Replaces the entire embedded document, removing all other fields in the embedded details document.</a:t>
            </a:r>
            <a:endParaRPr kumimoji="0" lang="en-US" sz="2400" b="0" u="none" strike="noStrike" cap="none" normalizeH="0" baseline="0" dirty="0" smtClean="0">
              <a:ln>
                <a:noFill/>
              </a:ln>
              <a:effectLst/>
              <a:cs typeface="Arial" panose="020B0604020202090204" pitchFamily="34" charset="0"/>
            </a:endParaRPr>
          </a:p>
        </p:txBody>
      </p:sp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>
          <a:xfrm>
            <a:off x="4495800" y="6324600"/>
            <a:ext cx="2933700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>
          <a:xfrm>
            <a:off x="1807012" y="304800"/>
            <a:ext cx="5755838" cy="2384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"/>
            <a:ext cx="8686800" cy="6553200"/>
          </a:xfrm>
        </p:spPr>
        <p:txBody>
          <a:bodyPr numCol="1"/>
          <a:lstStyle/>
          <a:p>
            <a:pPr algn="ctr">
              <a:buNone/>
            </a:pPr>
            <a:r>
              <a:rPr lang="en-US" b="1" dirty="0" smtClean="0"/>
              <a:t> </a:t>
            </a:r>
            <a:r>
              <a:rPr lang="en-US" sz="2800" b="1" dirty="0" smtClean="0"/>
              <a:t>Set Elements in Arrays</a:t>
            </a:r>
            <a:endParaRPr lang="en-US" sz="2800" b="1" dirty="0" smtClean="0"/>
          </a:p>
          <a:p>
            <a:pPr algn="just"/>
            <a:r>
              <a:rPr lang="en-US" sz="2400" dirty="0" smtClean="0"/>
              <a:t>To specify a &lt;field&gt; in an embedded document or in an array, use dot notation.</a:t>
            </a:r>
            <a:endParaRPr lang="en-US" sz="2400" dirty="0" smtClean="0"/>
          </a:p>
          <a:p>
            <a:pPr algn="just"/>
            <a:endParaRPr lang="en-US" sz="2400" b="1" dirty="0" smtClean="0"/>
          </a:p>
          <a:p>
            <a:pPr algn="just"/>
            <a:endParaRPr lang="en-US" sz="2400" b="1" dirty="0" smtClean="0"/>
          </a:p>
          <a:p>
            <a:pPr algn="just"/>
            <a:endParaRPr lang="en-US" sz="2400" b="1" dirty="0" smtClean="0"/>
          </a:p>
          <a:p>
            <a:pPr algn="just"/>
            <a:endParaRPr lang="en-US" sz="2400" b="1" dirty="0" smtClean="0"/>
          </a:p>
          <a:p>
            <a:pPr algn="just"/>
            <a:endParaRPr lang="en-US" sz="2400" b="1" dirty="0" smtClean="0"/>
          </a:p>
          <a:p>
            <a:pPr algn="just"/>
            <a:endParaRPr lang="en-US" sz="2400" b="1" dirty="0" smtClean="0"/>
          </a:p>
          <a:p>
            <a:pPr algn="just">
              <a:buNone/>
            </a:pPr>
            <a:r>
              <a:rPr lang="en-US" sz="2400" dirty="0" smtClean="0"/>
              <a:t>Query: For the document matching the criteria _id equal to 100, update the value of second element of the </a:t>
            </a:r>
            <a:r>
              <a:rPr lang="en-US" sz="2400" i="1" dirty="0" smtClean="0"/>
              <a:t>tags</a:t>
            </a:r>
            <a:r>
              <a:rPr lang="en-US" sz="2400" dirty="0" smtClean="0"/>
              <a:t> field and the first element of the </a:t>
            </a:r>
            <a:r>
              <a:rPr lang="en-US" sz="2400" i="1" dirty="0" smtClean="0"/>
              <a:t>rating</a:t>
            </a:r>
            <a:r>
              <a:rPr lang="en-US" sz="2400" dirty="0" smtClean="0"/>
              <a:t> field in the ratings array.</a:t>
            </a:r>
            <a:endParaRPr lang="en-US" sz="2400" b="1" dirty="0" smtClean="0"/>
          </a:p>
          <a:p>
            <a:endParaRPr lang="en-US" dirty="0"/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2362200" y="1600200"/>
            <a:ext cx="4924425" cy="26136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"/>
            <a:ext cx="8763000" cy="6553200"/>
          </a:xfrm>
        </p:spPr>
        <p:txBody>
          <a:bodyPr numCol="1"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 algn="just">
              <a:buNone/>
            </a:pPr>
            <a:r>
              <a:rPr lang="en-US" sz="2000" dirty="0" smtClean="0"/>
              <a:t>Query: For the document matching the criteria _id equal to 100, update the value of second element of the </a:t>
            </a:r>
            <a:r>
              <a:rPr lang="en-US" sz="2000" i="1" dirty="0" smtClean="0"/>
              <a:t>tags</a:t>
            </a:r>
            <a:r>
              <a:rPr lang="en-US" sz="2000" dirty="0" smtClean="0"/>
              <a:t> field and the first element of the </a:t>
            </a:r>
            <a:r>
              <a:rPr lang="en-US" sz="2000" i="1" dirty="0" smtClean="0"/>
              <a:t>rating</a:t>
            </a:r>
            <a:r>
              <a:rPr lang="en-US" sz="2000" dirty="0" smtClean="0"/>
              <a:t> field in the ratings array.</a:t>
            </a:r>
            <a:endParaRPr lang="en-US" sz="2000" b="1" dirty="0" smtClean="0"/>
          </a:p>
          <a:p>
            <a:endParaRPr lang="en-US" dirty="0"/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457200" y="3886200"/>
            <a:ext cx="317431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3886200" y="3886200"/>
            <a:ext cx="51232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5943600" y="3429000"/>
            <a:ext cx="856325" cy="369332"/>
          </a:xfrm>
          <a:prstGeom prst="rect">
            <a:avLst/>
          </a:prstGeom>
        </p:spPr>
        <p:txBody>
          <a:bodyPr wrap="none" numCol="1">
            <a:spAutoFit/>
          </a:bodyPr>
          <a:lstStyle/>
          <a:p>
            <a:r>
              <a:rPr lang="en-US" dirty="0" smtClean="0"/>
              <a:t>Output</a:t>
            </a:r>
            <a:endParaRPr lang="en-US" dirty="0"/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2209800" y="167640"/>
            <a:ext cx="5067300" cy="23182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"/>
            <a:ext cx="8763000" cy="6477000"/>
          </a:xfrm>
        </p:spPr>
        <p:txBody>
          <a:bodyPr numCol="1"/>
          <a:lstStyle/>
          <a:p>
            <a:pPr algn="ctr">
              <a:buNone/>
            </a:pPr>
            <a:r>
              <a:rPr lang="en-US" b="1" dirty="0" smtClean="0"/>
              <a:t>$unset Operator</a:t>
            </a:r>
            <a:endParaRPr lang="en-US" b="1" dirty="0" smtClean="0"/>
          </a:p>
          <a:p>
            <a:pPr algn="just"/>
            <a:r>
              <a:rPr lang="en-US" sz="2000" dirty="0" smtClean="0"/>
              <a:t>The $unset operator deletes a particular field.</a:t>
            </a:r>
            <a:endParaRPr lang="en-US" sz="2000" b="1" dirty="0" smtClean="0"/>
          </a:p>
          <a:p>
            <a:pPr algn="just">
              <a:buNone/>
            </a:pPr>
            <a:r>
              <a:rPr lang="en-US" sz="2000" dirty="0" smtClean="0"/>
              <a:t>Syntax:   { $unset: { &lt;field1&gt;: </a:t>
            </a:r>
            <a:r>
              <a:rPr lang="en-US" sz="2000" b="1" dirty="0" smtClean="0"/>
              <a:t>""</a:t>
            </a:r>
            <a:r>
              <a:rPr lang="en-US" sz="2000" dirty="0" smtClean="0"/>
              <a:t>, …} }</a:t>
            </a:r>
            <a:endParaRPr lang="en-US" sz="2000" dirty="0" smtClean="0"/>
          </a:p>
          <a:p>
            <a:pPr algn="just"/>
            <a:r>
              <a:rPr lang="en-US" sz="2000" dirty="0" smtClean="0"/>
              <a:t>The specified value in the $unset expression (i.e. "") does not impact the operation.</a:t>
            </a:r>
            <a:endParaRPr lang="en-US" sz="2000" dirty="0" smtClean="0"/>
          </a:p>
          <a:p>
            <a:pPr algn="just"/>
            <a:r>
              <a:rPr lang="en-US" sz="2000" dirty="0" smtClean="0"/>
              <a:t>To specify a &lt;field&gt; in an embedded document or in an array, use dot notation.</a:t>
            </a:r>
            <a:endParaRPr lang="en-US" sz="2000" dirty="0" smtClean="0"/>
          </a:p>
          <a:p>
            <a:pPr algn="just"/>
            <a:r>
              <a:rPr lang="en-US" sz="2000" dirty="0" smtClean="0"/>
              <a:t>If the field does not exist, then $unset does nothing (i.e. no operation).</a:t>
            </a:r>
            <a:endParaRPr lang="en-US" sz="2000" dirty="0" smtClean="0"/>
          </a:p>
          <a:p>
            <a:pPr algn="just"/>
            <a:endParaRPr lang="en-US" sz="2000" dirty="0" smtClean="0"/>
          </a:p>
          <a:p>
            <a:pPr algn="just"/>
            <a:endParaRPr lang="en-US" sz="2000" dirty="0" smtClean="0"/>
          </a:p>
          <a:p>
            <a:pPr algn="just"/>
            <a:endParaRPr lang="en-US" sz="2000" dirty="0" smtClean="0"/>
          </a:p>
          <a:p>
            <a:pPr algn="just"/>
            <a:endParaRPr lang="en-US" sz="2000" dirty="0" smtClean="0"/>
          </a:p>
          <a:p>
            <a:pPr algn="just"/>
            <a:endParaRPr lang="en-US" sz="2000" dirty="0" smtClean="0"/>
          </a:p>
          <a:p>
            <a:pPr algn="just"/>
            <a:r>
              <a:rPr lang="en-US" sz="2000" dirty="0" smtClean="0"/>
              <a:t>Update the </a:t>
            </a:r>
            <a:r>
              <a:rPr lang="en-US" sz="2000" i="1" dirty="0" smtClean="0"/>
              <a:t>first</a:t>
            </a:r>
            <a:r>
              <a:rPr lang="en-US" sz="2000" dirty="0" smtClean="0"/>
              <a:t> document in the products collection where the value of </a:t>
            </a:r>
            <a:r>
              <a:rPr lang="en-US" sz="2000" dirty="0" err="1" smtClean="0"/>
              <a:t>sku</a:t>
            </a:r>
            <a:r>
              <a:rPr lang="en-US" sz="2000" dirty="0" smtClean="0"/>
              <a:t> is unknown.</a:t>
            </a:r>
            <a:endParaRPr lang="en-US" sz="20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 smtClean="0"/>
              <a:t>remove the quantity field</a:t>
            </a:r>
            <a:endParaRPr lang="en-US" sz="20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 smtClean="0"/>
              <a:t>remove the </a:t>
            </a:r>
            <a:r>
              <a:rPr lang="en-US" sz="2000" dirty="0" err="1" smtClean="0"/>
              <a:t>instock</a:t>
            </a:r>
            <a:r>
              <a:rPr lang="en-US" sz="2000" dirty="0" smtClean="0"/>
              <a:t> field</a:t>
            </a:r>
            <a:endParaRPr lang="en-US" sz="2000" dirty="0" smtClean="0"/>
          </a:p>
          <a:p>
            <a:pPr algn="just"/>
            <a:endParaRPr lang="en-US" sz="2000" dirty="0" smtClean="0"/>
          </a:p>
          <a:p>
            <a:endParaRPr lang="en-US" dirty="0"/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546735" y="3429000"/>
            <a:ext cx="8115300" cy="143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1009650" y="4876800"/>
            <a:ext cx="4914900" cy="1228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993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6629400" y="2133600"/>
            <a:ext cx="2333625" cy="461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381000" y="457200"/>
            <a:ext cx="8115300" cy="143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1"/>
          <p:cNvSpPr/>
          <p:nvPr/>
        </p:nvSpPr>
        <p:spPr>
          <a:xfrm>
            <a:off x="381000" y="2286000"/>
            <a:ext cx="6019800" cy="2215991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pPr algn="just"/>
            <a:r>
              <a:rPr lang="en-US" sz="2400" dirty="0"/>
              <a:t>Update the </a:t>
            </a:r>
            <a:r>
              <a:rPr lang="en-US" sz="2400" i="1" dirty="0"/>
              <a:t>first</a:t>
            </a:r>
            <a:r>
              <a:rPr lang="en-US" sz="2400" dirty="0"/>
              <a:t> document in the products collection where the value of </a:t>
            </a:r>
            <a:r>
              <a:rPr lang="en-US" sz="2400" dirty="0" err="1"/>
              <a:t>sku</a:t>
            </a:r>
            <a:r>
              <a:rPr lang="en-US" sz="2400" dirty="0"/>
              <a:t> is unknown.</a:t>
            </a: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remove the quantity field</a:t>
            </a: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remove the </a:t>
            </a:r>
            <a:r>
              <a:rPr lang="en-US" sz="2400" dirty="0" err="1"/>
              <a:t>instock</a:t>
            </a:r>
            <a:r>
              <a:rPr lang="en-US" sz="2400" dirty="0"/>
              <a:t> field</a:t>
            </a:r>
            <a:endParaRPr lang="en-US" sz="2400" dirty="0"/>
          </a:p>
          <a:p>
            <a:pPr algn="just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"/>
            <a:ext cx="8686800" cy="6553200"/>
          </a:xfrm>
        </p:spPr>
        <p:txBody>
          <a:bodyPr numCol="1">
            <a:normAutofit/>
          </a:bodyPr>
          <a:lstStyle/>
          <a:p>
            <a:pPr algn="ctr">
              <a:buNone/>
            </a:pPr>
            <a:r>
              <a:rPr lang="en-US" b="1" dirty="0" smtClean="0"/>
              <a:t>$currentDate</a:t>
            </a:r>
            <a:endParaRPr lang="en-US" b="1" dirty="0" smtClean="0"/>
          </a:p>
          <a:p>
            <a:pPr algn="just"/>
            <a:r>
              <a:rPr lang="en-US" sz="2400" dirty="0"/>
              <a:t>The </a:t>
            </a:r>
            <a:r>
              <a:rPr lang="en-US" sz="2400" i="1" dirty="0"/>
              <a:t>$currentDate</a:t>
            </a:r>
            <a:r>
              <a:rPr lang="en-US" sz="2400" dirty="0"/>
              <a:t> operator sets the value of a field to the current date, either as a Date or a timestamp. The default type is Date</a:t>
            </a:r>
            <a:r>
              <a:rPr lang="en-US" sz="2400" dirty="0" smtClean="0"/>
              <a:t>.</a:t>
            </a:r>
            <a:endParaRPr lang="en-US" sz="2400" dirty="0" smtClean="0"/>
          </a:p>
          <a:p>
            <a:pPr algn="just">
              <a:buNone/>
            </a:pPr>
            <a:endParaRPr lang="en-US" sz="2400" dirty="0"/>
          </a:p>
          <a:p>
            <a:pPr algn="just">
              <a:buNone/>
            </a:pPr>
            <a:r>
              <a:rPr lang="en-US" sz="2400" i="1" dirty="0" smtClean="0"/>
              <a:t>Syntax:   </a:t>
            </a:r>
            <a:r>
              <a:rPr lang="en-US" sz="2400" dirty="0" smtClean="0"/>
              <a:t>{ </a:t>
            </a:r>
            <a:r>
              <a:rPr lang="en-US" sz="2400" dirty="0"/>
              <a:t>$currentDate: { &lt;field1&gt;: &lt;typeSpecification1&gt;, ... } </a:t>
            </a:r>
            <a:r>
              <a:rPr lang="en-US" sz="2400" dirty="0" smtClean="0"/>
              <a:t>}</a:t>
            </a:r>
            <a:endParaRPr lang="en-US" sz="2400" dirty="0" smtClean="0"/>
          </a:p>
          <a:p>
            <a:pPr algn="just">
              <a:buNone/>
            </a:pPr>
            <a:endParaRPr lang="en-US" sz="2400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/>
              <a:t>&lt;</a:t>
            </a:r>
            <a:r>
              <a:rPr lang="en-US" sz="2400" dirty="0" err="1"/>
              <a:t>typeSpecification</a:t>
            </a:r>
            <a:r>
              <a:rPr lang="en-US" sz="2400" dirty="0"/>
              <a:t>&gt; can be either:</a:t>
            </a:r>
            <a:endParaRPr lang="en-US" sz="2400" dirty="0"/>
          </a:p>
          <a:p>
            <a:pPr algn="just"/>
            <a:r>
              <a:rPr lang="en-US" sz="2400" dirty="0"/>
              <a:t>a </a:t>
            </a:r>
            <a:r>
              <a:rPr lang="en-US" sz="2400" dirty="0" err="1"/>
              <a:t>boolean</a:t>
            </a:r>
            <a:r>
              <a:rPr lang="en-US" sz="2400" dirty="0"/>
              <a:t> true to set the field value to the current date as a Date, or</a:t>
            </a:r>
            <a:endParaRPr lang="en-US" sz="2400" dirty="0"/>
          </a:p>
          <a:p>
            <a:pPr algn="just"/>
            <a:r>
              <a:rPr lang="en-US" sz="2400" dirty="0"/>
              <a:t>a document { $type: "timestamp" } or { $type: "date" } which explicitly specifies the type. The operator is </a:t>
            </a:r>
            <a:r>
              <a:rPr lang="en-US" sz="2400" i="1" dirty="0"/>
              <a:t>case-sensitive</a:t>
            </a:r>
            <a:r>
              <a:rPr lang="en-US" sz="2400" dirty="0"/>
              <a:t> and accepts only the lowercase "timestamp" or the lowercase "date</a:t>
            </a:r>
            <a:r>
              <a:rPr lang="en-US" sz="2400" dirty="0" smtClean="0"/>
              <a:t>".</a:t>
            </a:r>
            <a:endParaRPr lang="en-US" sz="2400" smtClean="0"/>
          </a:p>
          <a:p>
            <a:pPr algn="just"/>
            <a:endParaRPr lang="en-US" sz="2400" dirty="0" smtClean="0"/>
          </a:p>
          <a:p>
            <a:pPr algn="just"/>
            <a:r>
              <a:rPr lang="en-US" sz="2400" dirty="0"/>
              <a:t>If the field does not exist, $currentDate adds the field to a document.</a:t>
            </a:r>
            <a:endParaRPr lang="en-US" sz="2400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152400" y="152400"/>
            <a:ext cx="8791575" cy="192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990600" y="3277870"/>
            <a:ext cx="6324600" cy="35971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700" name="Rectangle 4"/>
          <p:cNvSpPr>
            <a:spLocks noChangeArrowheads="1"/>
          </p:cNvSpPr>
          <p:nvPr/>
        </p:nvSpPr>
        <p:spPr>
          <a:xfrm>
            <a:off x="152400" y="2155909"/>
            <a:ext cx="8763000" cy="1015663"/>
          </a:xfrm>
          <a:prstGeom prst="rect">
            <a:avLst/>
          </a:prstGeom>
          <a:solidFill>
            <a:srgbClr val="F9FBFA"/>
          </a:solidFill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1E2B"/>
                </a:solidFill>
                <a:effectLst/>
                <a:latin typeface="Euclid Circular A"/>
                <a:cs typeface="Arial" panose="020B0604020202090204" pitchFamily="34" charset="0"/>
              </a:rPr>
              <a:t>The following operation updates the 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1C2D38"/>
                </a:solidFill>
                <a:effectLst/>
                <a:latin typeface="Source Code Pro"/>
                <a:cs typeface="Arial" panose="020B0604020202090204" pitchFamily="34" charset="0"/>
              </a:rPr>
              <a:t>lastModified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1E2B"/>
                </a:solidFill>
                <a:effectLst/>
                <a:latin typeface="Euclid Circular A"/>
                <a:cs typeface="Arial" panose="020B0604020202090204" pitchFamily="34" charset="0"/>
              </a:rPr>
              <a:t> field to the current date, the 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1C2D38"/>
                </a:solidFill>
                <a:effectLst/>
                <a:latin typeface="Source Code Pro"/>
                <a:cs typeface="Arial" panose="020B0604020202090204" pitchFamily="34" charset="0"/>
              </a:rPr>
              <a:t>"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1C2D38"/>
                </a:solidFill>
                <a:effectLst/>
                <a:latin typeface="Source Code Pro"/>
                <a:cs typeface="Arial" panose="020B0604020202090204" pitchFamily="34" charset="0"/>
              </a:rPr>
              <a:t>cancellation.date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1C2D38"/>
                </a:solidFill>
                <a:effectLst/>
                <a:latin typeface="Source Code Pro"/>
                <a:cs typeface="Arial" panose="020B0604020202090204" pitchFamily="34" charset="0"/>
              </a:rPr>
              <a:t>"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1E2B"/>
                </a:solidFill>
                <a:effectLst/>
                <a:latin typeface="Euclid Circular A"/>
                <a:cs typeface="Arial" panose="020B0604020202090204" pitchFamily="34" charset="0"/>
              </a:rPr>
              <a:t> field to the current timestamp as well as updating the 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1C2D38"/>
                </a:solidFill>
                <a:effectLst/>
                <a:latin typeface="Source Code Pro"/>
                <a:cs typeface="Arial" panose="020B0604020202090204" pitchFamily="34" charset="0"/>
              </a:rPr>
              <a:t>status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1E2B"/>
                </a:solidFill>
                <a:effectLst/>
                <a:latin typeface="Euclid Circular A"/>
                <a:cs typeface="Arial" panose="020B0604020202090204" pitchFamily="34" charset="0"/>
              </a:rPr>
              <a:t> field to 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1C2D38"/>
                </a:solidFill>
                <a:effectLst/>
                <a:latin typeface="Source Code Pro"/>
                <a:cs typeface="Arial" panose="020B0604020202090204" pitchFamily="34" charset="0"/>
              </a:rPr>
              <a:t>"D"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1E2B"/>
                </a:solidFill>
                <a:effectLst/>
                <a:latin typeface="Euclid Circular A"/>
                <a:cs typeface="Arial" panose="020B0604020202090204" pitchFamily="34" charset="0"/>
              </a:rPr>
              <a:t> and the 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1C2D38"/>
                </a:solidFill>
                <a:effectLst/>
                <a:latin typeface="Source Code Pro"/>
                <a:cs typeface="Arial" panose="020B0604020202090204" pitchFamily="34" charset="0"/>
              </a:rPr>
              <a:t>"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1C2D38"/>
                </a:solidFill>
                <a:effectLst/>
                <a:latin typeface="Source Code Pro"/>
                <a:cs typeface="Arial" panose="020B0604020202090204" pitchFamily="34" charset="0"/>
              </a:rPr>
              <a:t>cancellation.reason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1C2D38"/>
                </a:solidFill>
                <a:effectLst/>
                <a:latin typeface="Source Code Pro"/>
                <a:cs typeface="Arial" panose="020B0604020202090204" pitchFamily="34" charset="0"/>
              </a:rPr>
              <a:t>"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1E2B"/>
                </a:solidFill>
                <a:effectLst/>
                <a:latin typeface="Euclid Circular A"/>
                <a:cs typeface="Arial" panose="020B0604020202090204" pitchFamily="34" charset="0"/>
              </a:rPr>
              <a:t> to 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1C2D38"/>
                </a:solidFill>
                <a:effectLst/>
                <a:latin typeface="Source Code Pro"/>
                <a:cs typeface="Arial" panose="020B0604020202090204" pitchFamily="34" charset="0"/>
              </a:rPr>
              <a:t>"user request"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1E2B"/>
                </a:solidFill>
                <a:effectLst/>
                <a:latin typeface="Euclid Circular A"/>
                <a:cs typeface="Arial" panose="020B0604020202090204" pitchFamily="34" charset="0"/>
              </a:rPr>
              <a:t>.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686800" cy="6400800"/>
          </a:xfrm>
        </p:spPr>
        <p:txBody>
          <a:bodyPr numCol="1"/>
          <a:lstStyle/>
          <a:p>
            <a:pPr algn="ctr">
              <a:buNone/>
            </a:pPr>
            <a:r>
              <a:rPr lang="en-US" sz="2800" b="1" dirty="0" smtClean="0"/>
              <a:t>$min operator:</a:t>
            </a:r>
            <a:endParaRPr lang="en-US" sz="2800" b="1" dirty="0" smtClean="0"/>
          </a:p>
          <a:p>
            <a:pPr algn="just"/>
            <a:r>
              <a:rPr lang="en-US" sz="2400" dirty="0" smtClean="0"/>
              <a:t>The</a:t>
            </a:r>
            <a:r>
              <a:rPr lang="en-US" sz="2400" dirty="0"/>
              <a:t> $min updates the value of the field to a specified value </a:t>
            </a:r>
            <a:r>
              <a:rPr lang="en-US" sz="2400" i="1" dirty="0"/>
              <a:t>if</a:t>
            </a:r>
            <a:r>
              <a:rPr lang="en-US" sz="2400" dirty="0"/>
              <a:t> the specified value is </a:t>
            </a:r>
            <a:r>
              <a:rPr lang="en-US" sz="2400" b="1" dirty="0"/>
              <a:t>less than</a:t>
            </a:r>
            <a:r>
              <a:rPr lang="en-US" sz="2400" dirty="0"/>
              <a:t> the </a:t>
            </a:r>
            <a:r>
              <a:rPr lang="en-US" sz="2400" dirty="0" smtClean="0"/>
              <a:t>current </a:t>
            </a:r>
            <a:r>
              <a:rPr lang="en-US" sz="2400" dirty="0"/>
              <a:t>value of the field</a:t>
            </a:r>
            <a:r>
              <a:rPr lang="en-US" sz="2400" dirty="0" smtClean="0"/>
              <a:t>.</a:t>
            </a:r>
            <a:endParaRPr lang="en-US" sz="2400" dirty="0" smtClean="0"/>
          </a:p>
          <a:p>
            <a:pPr algn="just">
              <a:buNone/>
            </a:pPr>
            <a:r>
              <a:rPr lang="en-US" sz="2400" i="1" dirty="0" smtClean="0"/>
              <a:t>Syntax: </a:t>
            </a:r>
            <a:r>
              <a:rPr lang="en-US" sz="2400" dirty="0" smtClean="0"/>
              <a:t>{ </a:t>
            </a:r>
            <a:r>
              <a:rPr lang="en-US" sz="2400" dirty="0"/>
              <a:t>$</a:t>
            </a:r>
            <a:r>
              <a:rPr lang="en-US" sz="2400" dirty="0" smtClean="0"/>
              <a:t>min: </a:t>
            </a:r>
            <a:r>
              <a:rPr lang="en-US" sz="2400" dirty="0"/>
              <a:t>{ &lt;field1&gt;: &lt;value1&gt;, ... } </a:t>
            </a:r>
            <a:r>
              <a:rPr lang="en-US" sz="2400" dirty="0" smtClean="0"/>
              <a:t>}</a:t>
            </a:r>
            <a:endParaRPr lang="en-US" sz="2400" dirty="0" smtClean="0"/>
          </a:p>
          <a:p>
            <a:pPr algn="just"/>
            <a:r>
              <a:rPr lang="en-US" sz="2400" dirty="0"/>
              <a:t>If the field does not exist, the $min operator sets the field to the specified </a:t>
            </a:r>
            <a:r>
              <a:rPr lang="en-US" sz="2400" dirty="0" smtClean="0"/>
              <a:t>value.</a:t>
            </a: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Example 1:              </a:t>
            </a:r>
            <a:r>
              <a:rPr lang="en-US" sz="2400" b="1" dirty="0" smtClean="0"/>
              <a:t>Use</a:t>
            </a:r>
            <a:r>
              <a:rPr lang="en-US" sz="2400" b="1" dirty="0"/>
              <a:t> $min to Compare </a:t>
            </a:r>
            <a:r>
              <a:rPr lang="en-US" sz="2400" b="1" dirty="0" smtClean="0"/>
              <a:t>Numbers</a:t>
            </a:r>
            <a:endParaRPr lang="en-US" sz="2400" b="1" dirty="0" smtClean="0"/>
          </a:p>
          <a:p>
            <a:pPr>
              <a:buNone/>
            </a:pPr>
            <a:endParaRPr lang="en-US" sz="2400" b="1" dirty="0" smtClean="0"/>
          </a:p>
          <a:p>
            <a:r>
              <a:rPr lang="en-US" sz="2400" dirty="0" smtClean="0"/>
              <a:t>The </a:t>
            </a:r>
            <a:r>
              <a:rPr lang="en-US" sz="2400" dirty="0" err="1" smtClean="0"/>
              <a:t>lowScore</a:t>
            </a:r>
            <a:r>
              <a:rPr lang="en-US" sz="2400" dirty="0" smtClean="0"/>
              <a:t> for the document currently has the value 200. </a:t>
            </a:r>
            <a:endParaRPr lang="en-US" sz="2400" dirty="0" smtClean="0"/>
          </a:p>
          <a:p>
            <a:endParaRPr lang="en-US" sz="2400" b="1" dirty="0" smtClean="0"/>
          </a:p>
          <a:p>
            <a:pPr algn="just"/>
            <a:r>
              <a:rPr lang="en-US" sz="2400" dirty="0" smtClean="0"/>
              <a:t>This operation uses $min to compare 200 to the specified value 150 and updates the value of </a:t>
            </a:r>
            <a:r>
              <a:rPr lang="en-US" sz="2400" dirty="0" err="1" smtClean="0"/>
              <a:t>lowScore</a:t>
            </a:r>
            <a:r>
              <a:rPr lang="en-US" sz="2400" dirty="0" smtClean="0"/>
              <a:t> to 150 since 150 is less than 200.</a:t>
            </a:r>
            <a:endParaRPr lang="en-US" sz="2400" b="1" dirty="0" smtClean="0"/>
          </a:p>
          <a:p>
            <a:pPr>
              <a:buNone/>
            </a:pPr>
            <a:endParaRPr lang="en-US" sz="2400" b="1" dirty="0"/>
          </a:p>
          <a:p>
            <a:pPr>
              <a:buNone/>
            </a:pPr>
            <a:endParaRPr lang="en-US" sz="2400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990600" y="3686175"/>
            <a:ext cx="7058025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4495800"/>
            <a:ext cx="68199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2133600" y="6172200"/>
            <a:ext cx="4524375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"/>
            <a:ext cx="8839200" cy="6705600"/>
          </a:xfrm>
        </p:spPr>
        <p:txBody>
          <a:bodyPr numCol="1">
            <a:normAutofit/>
          </a:bodyPr>
          <a:lstStyle/>
          <a:p>
            <a:pPr algn="just">
              <a:buNone/>
            </a:pPr>
            <a:r>
              <a:rPr lang="en-US" sz="2000" dirty="0" smtClean="0"/>
              <a:t>Example 2: </a:t>
            </a:r>
            <a:endParaRPr lang="en-US" sz="2000" dirty="0" smtClean="0"/>
          </a:p>
          <a:p>
            <a:pPr algn="just">
              <a:buNone/>
            </a:pPr>
            <a:endParaRPr lang="en-US" sz="2000" dirty="0" smtClean="0"/>
          </a:p>
          <a:p>
            <a:pPr algn="just">
              <a:buNone/>
            </a:pPr>
            <a:r>
              <a:rPr lang="en-US" sz="2000" dirty="0" smtClean="0"/>
              <a:t>Query:</a:t>
            </a:r>
            <a:endParaRPr lang="en-US" sz="2000" dirty="0" smtClean="0"/>
          </a:p>
          <a:p>
            <a:pPr algn="just">
              <a:buNone/>
            </a:pPr>
            <a:endParaRPr lang="en-US" sz="2000" dirty="0" smtClean="0"/>
          </a:p>
          <a:p>
            <a:pPr algn="just"/>
            <a:r>
              <a:rPr lang="en-US" sz="2000" dirty="0" smtClean="0"/>
              <a:t>This operation </a:t>
            </a:r>
            <a:r>
              <a:rPr lang="en-US" sz="2000" dirty="0"/>
              <a:t>has no effect since the current value of the field </a:t>
            </a:r>
            <a:r>
              <a:rPr lang="en-US" sz="2000" dirty="0" err="1" smtClean="0"/>
              <a:t>lowScore</a:t>
            </a:r>
            <a:r>
              <a:rPr lang="en-US" sz="2000" dirty="0"/>
              <a:t>, </a:t>
            </a:r>
            <a:r>
              <a:rPr lang="en-US" sz="2000" dirty="0" err="1"/>
              <a:t>i.e</a:t>
            </a:r>
            <a:r>
              <a:rPr lang="en-US" sz="2000" dirty="0"/>
              <a:t> </a:t>
            </a:r>
            <a:r>
              <a:rPr lang="en-US" sz="2000" dirty="0" smtClean="0"/>
              <a:t>200</a:t>
            </a:r>
            <a:r>
              <a:rPr lang="en-US" sz="2000" dirty="0"/>
              <a:t>, is less than </a:t>
            </a:r>
            <a:r>
              <a:rPr lang="en-US" sz="2000" dirty="0" smtClean="0"/>
              <a:t>250.</a:t>
            </a:r>
            <a:endParaRPr lang="en-US" sz="2000" dirty="0" smtClean="0"/>
          </a:p>
          <a:p>
            <a:pPr algn="just"/>
            <a:r>
              <a:rPr lang="en-US" sz="2000" dirty="0" smtClean="0"/>
              <a:t>Output:</a:t>
            </a:r>
            <a:endParaRPr lang="en-US" sz="2000" dirty="0"/>
          </a:p>
          <a:p>
            <a:pPr algn="ctr">
              <a:buNone/>
            </a:pPr>
            <a:endParaRPr lang="en-US" sz="2400" dirty="0"/>
          </a:p>
        </p:txBody>
      </p:sp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1676400" y="990600"/>
            <a:ext cx="6819900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2286000" y="381000"/>
            <a:ext cx="4476750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2514600" y="2362200"/>
            <a:ext cx="4533900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0"/>
            <a:ext cx="8839200" cy="6705600"/>
          </a:xfrm>
        </p:spPr>
        <p:txBody>
          <a:bodyPr numCol="1">
            <a:normAutofit lnSpcReduction="10000"/>
          </a:bodyPr>
          <a:lstStyle/>
          <a:p>
            <a:pPr algn="ctr">
              <a:buNone/>
            </a:pPr>
            <a:r>
              <a:rPr lang="en-US" sz="2800" b="1" dirty="0" smtClean="0"/>
              <a:t>Use $min to Compare Dates</a:t>
            </a:r>
            <a:endParaRPr lang="en-US" sz="2800" b="1" dirty="0" smtClean="0"/>
          </a:p>
          <a:p>
            <a:pPr>
              <a:buNone/>
            </a:pPr>
            <a:r>
              <a:rPr lang="en-US" sz="2400" dirty="0" smtClean="0"/>
              <a:t>Create the tags collection:</a:t>
            </a:r>
            <a:endParaRPr lang="en-US" sz="2400" dirty="0" smtClean="0"/>
          </a:p>
          <a:p>
            <a:pPr>
              <a:buNone/>
            </a:pPr>
            <a:endParaRPr lang="en-US" sz="2400" b="1" dirty="0" smtClean="0"/>
          </a:p>
          <a:p>
            <a:pPr>
              <a:buNone/>
            </a:pPr>
            <a:endParaRPr lang="en-US" sz="2400" b="1" dirty="0" smtClean="0"/>
          </a:p>
          <a:p>
            <a:pPr>
              <a:buNone/>
            </a:pPr>
            <a:endParaRPr lang="en-US" sz="2400" b="1" dirty="0" smtClean="0"/>
          </a:p>
          <a:p>
            <a:pPr>
              <a:buNone/>
            </a:pPr>
            <a:endParaRPr lang="en-US" sz="2400" b="1" dirty="0" smtClean="0"/>
          </a:p>
          <a:p>
            <a:pPr>
              <a:buNone/>
            </a:pPr>
            <a:endParaRPr lang="en-US" sz="2400" b="1" dirty="0" smtClean="0"/>
          </a:p>
          <a:p>
            <a:pPr>
              <a:buNone/>
            </a:pPr>
            <a:endParaRPr lang="en-US" sz="2400" b="1" dirty="0" smtClean="0"/>
          </a:p>
          <a:p>
            <a:pPr>
              <a:buNone/>
            </a:pPr>
            <a:endParaRPr lang="en-US" sz="2400" b="1" dirty="0" smtClean="0"/>
          </a:p>
          <a:p>
            <a:pPr algn="just"/>
            <a:r>
              <a:rPr lang="en-US" sz="2400" dirty="0" smtClean="0"/>
              <a:t>This operation compares the current value of the </a:t>
            </a:r>
            <a:r>
              <a:rPr lang="en-US" sz="2400" dirty="0" err="1" smtClean="0"/>
              <a:t>dateEntered</a:t>
            </a:r>
            <a:r>
              <a:rPr lang="en-US" sz="2400" dirty="0" smtClean="0"/>
              <a:t> field, i.e. </a:t>
            </a:r>
            <a:r>
              <a:rPr lang="en-US" sz="2400" dirty="0" err="1" smtClean="0"/>
              <a:t>ISODate</a:t>
            </a:r>
            <a:r>
              <a:rPr lang="en-US" sz="2400" dirty="0" smtClean="0"/>
              <a:t>("2013-10-01T05:00:00Z"), with the specified date new Date("2013-09-25") to determine whether to update the fields.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4038600" y="609600"/>
            <a:ext cx="4458335" cy="188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76200" y="2819400"/>
            <a:ext cx="5734050" cy="118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4458970" y="5181600"/>
            <a:ext cx="4351655" cy="14776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"/>
            <a:ext cx="8763000" cy="6553200"/>
          </a:xfrm>
        </p:spPr>
        <p:txBody>
          <a:bodyPr numCol="1"/>
          <a:lstStyle/>
          <a:p>
            <a:pPr algn="ctr">
              <a:buNone/>
            </a:pPr>
            <a:r>
              <a:rPr lang="en-US" sz="2800" b="1" dirty="0" smtClean="0"/>
              <a:t>$max Operator:</a:t>
            </a:r>
            <a:endParaRPr lang="en-US" sz="2800" b="1" dirty="0" smtClean="0"/>
          </a:p>
          <a:p>
            <a:pPr algn="just"/>
            <a:r>
              <a:rPr lang="en-US" sz="2400" dirty="0" smtClean="0"/>
              <a:t>The $max operator updates the value of the field to a specified value </a:t>
            </a:r>
            <a:r>
              <a:rPr lang="en-US" sz="2400" i="1" dirty="0" smtClean="0"/>
              <a:t>if</a:t>
            </a:r>
            <a:r>
              <a:rPr lang="en-US" sz="2400" dirty="0" smtClean="0"/>
              <a:t> the specified value is </a:t>
            </a:r>
            <a:r>
              <a:rPr lang="en-US" sz="2400" b="1" dirty="0" smtClean="0"/>
              <a:t>greater than</a:t>
            </a:r>
            <a:r>
              <a:rPr lang="en-US" sz="2400" dirty="0" smtClean="0"/>
              <a:t> the current value of the field.</a:t>
            </a:r>
            <a:endParaRPr lang="en-US" sz="2400" dirty="0" smtClean="0"/>
          </a:p>
          <a:p>
            <a:pPr algn="just"/>
            <a:r>
              <a:rPr lang="en-US" sz="2400" dirty="0" smtClean="0"/>
              <a:t>Syntax: { $max: { &lt;field1&gt;: &lt;value1&gt;, ... } }</a:t>
            </a:r>
            <a:endParaRPr lang="en-US" sz="2400" dirty="0" smtClean="0"/>
          </a:p>
          <a:p>
            <a:pPr algn="just"/>
            <a:r>
              <a:rPr lang="en-US" sz="2400" dirty="0" smtClean="0"/>
              <a:t>If the field does not exists, the $max operator sets the field to the specified value.</a:t>
            </a:r>
            <a:endParaRPr lang="en-US" sz="2400" dirty="0" smtClean="0"/>
          </a:p>
          <a:p>
            <a:pPr algn="ctr">
              <a:buNone/>
            </a:pPr>
            <a:r>
              <a:rPr lang="en-US" sz="2800" b="1" dirty="0" smtClean="0"/>
              <a:t>Use $max to Compare Numbers</a:t>
            </a:r>
            <a:endParaRPr lang="en-US" sz="2800" b="1" dirty="0" smtClean="0"/>
          </a:p>
          <a:p>
            <a:pPr algn="ctr">
              <a:buNone/>
            </a:pPr>
            <a:endParaRPr lang="en-US" sz="2800" b="1" dirty="0" smtClean="0"/>
          </a:p>
          <a:p>
            <a:pPr algn="just"/>
            <a:r>
              <a:rPr lang="en-US" sz="2400" dirty="0" smtClean="0"/>
              <a:t>The </a:t>
            </a:r>
            <a:r>
              <a:rPr lang="en-US" sz="2400" dirty="0" err="1" smtClean="0"/>
              <a:t>highScore</a:t>
            </a:r>
            <a:r>
              <a:rPr lang="en-US" sz="2400" dirty="0" smtClean="0"/>
              <a:t> for the document currently has the value 800. The following operation:</a:t>
            </a:r>
            <a:endParaRPr lang="en-US" sz="2400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/>
              <a:t>Compares the </a:t>
            </a:r>
            <a:r>
              <a:rPr lang="en-US" sz="2400" dirty="0" err="1" smtClean="0"/>
              <a:t>highscore</a:t>
            </a:r>
            <a:r>
              <a:rPr lang="en-US" sz="2400" dirty="0" smtClean="0"/>
              <a:t>, 800, to the specified value, 950.</a:t>
            </a:r>
            <a:endParaRPr lang="en-US" sz="2400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/>
              <a:t>Updates </a:t>
            </a:r>
            <a:r>
              <a:rPr lang="en-US" sz="2400" dirty="0" err="1" smtClean="0"/>
              <a:t>highScore</a:t>
            </a:r>
            <a:r>
              <a:rPr lang="en-US" sz="2400" dirty="0" smtClean="0"/>
              <a:t> to 950 since 950 is greater than 800.</a:t>
            </a:r>
            <a:endParaRPr lang="en-US" sz="2400" dirty="0" smtClean="0"/>
          </a:p>
          <a:p>
            <a:pPr algn="ctr">
              <a:buNone/>
            </a:pPr>
            <a:endParaRPr lang="en-US" sz="2800" b="1" dirty="0" smtClean="0"/>
          </a:p>
          <a:p>
            <a:pPr algn="just"/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1066800" y="3657600"/>
            <a:ext cx="6962775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5867400"/>
            <a:ext cx="6867525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2057400" y="6324600"/>
            <a:ext cx="4524375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763000" cy="6477000"/>
          </a:xfrm>
        </p:spPr>
        <p:txBody>
          <a:bodyPr numCol="1">
            <a:normAutofit lnSpcReduction="10000"/>
          </a:bodyPr>
          <a:lstStyle/>
          <a:p>
            <a:pPr algn="ctr">
              <a:buNone/>
            </a:pPr>
            <a:r>
              <a:rPr lang="en-US" sz="2400" b="1" dirty="0" smtClean="0"/>
              <a:t>Use $max to Compare Dates</a:t>
            </a:r>
            <a:endParaRPr lang="en-US" sz="2400" b="1" dirty="0" smtClean="0"/>
          </a:p>
          <a:p>
            <a:pPr>
              <a:buNone/>
            </a:pPr>
            <a:r>
              <a:rPr lang="en-US" sz="2400" dirty="0" smtClean="0"/>
              <a:t>Create the tags collection:</a:t>
            </a:r>
            <a:endParaRPr lang="en-US" sz="2400" dirty="0" smtClean="0"/>
          </a:p>
          <a:p>
            <a:pPr>
              <a:buNone/>
            </a:pPr>
            <a:endParaRPr lang="en-US" sz="2400" b="1" dirty="0" smtClean="0"/>
          </a:p>
          <a:p>
            <a:pPr>
              <a:buNone/>
            </a:pPr>
            <a:endParaRPr lang="en-US" sz="2400" b="1" dirty="0" smtClean="0"/>
          </a:p>
          <a:p>
            <a:pPr algn="just">
              <a:buNone/>
            </a:pPr>
            <a:endParaRPr lang="en-US" sz="2400" b="1" dirty="0" smtClean="0"/>
          </a:p>
          <a:p>
            <a:pPr algn="just">
              <a:buNone/>
            </a:pPr>
            <a:endParaRPr lang="en-US" sz="2400" dirty="0" smtClean="0"/>
          </a:p>
          <a:p>
            <a:pPr algn="just"/>
            <a:r>
              <a:rPr lang="en-US" sz="2400" dirty="0" smtClean="0"/>
              <a:t>This operation compares the current value of the </a:t>
            </a:r>
            <a:r>
              <a:rPr lang="en-US" sz="2400" dirty="0" err="1" smtClean="0"/>
              <a:t>dateExpired</a:t>
            </a:r>
            <a:r>
              <a:rPr lang="en-US" sz="2400" dirty="0" smtClean="0"/>
              <a:t> field, </a:t>
            </a:r>
            <a:r>
              <a:rPr lang="en-US" sz="2400" dirty="0" err="1" smtClean="0"/>
              <a:t>ISODate</a:t>
            </a:r>
            <a:r>
              <a:rPr lang="en-US" sz="2400" dirty="0" smtClean="0"/>
              <a:t>("2013-10-01T16:38:16.163Z"), with the specified date new Date("2013-09-30") to determine whether to update the field.</a:t>
            </a:r>
            <a:endParaRPr lang="en-US" sz="2400" dirty="0" smtClean="0"/>
          </a:p>
          <a:p>
            <a:pPr algn="just"/>
            <a:endParaRPr lang="en-US" sz="2400" b="1" dirty="0" smtClean="0"/>
          </a:p>
          <a:p>
            <a:pPr algn="just"/>
            <a:endParaRPr lang="en-US" sz="2400" b="1" dirty="0" smtClean="0"/>
          </a:p>
          <a:p>
            <a:pPr algn="just"/>
            <a:endParaRPr lang="en-US" sz="2400" b="1" dirty="0" smtClean="0"/>
          </a:p>
          <a:p>
            <a:pPr algn="just"/>
            <a:endParaRPr lang="en-US" sz="2400" b="1" dirty="0" smtClean="0"/>
          </a:p>
          <a:p>
            <a:pPr algn="just"/>
            <a:r>
              <a:rPr lang="en-US" sz="2400" dirty="0" smtClean="0"/>
              <a:t>new Date("2013-09-30") is not the newest date, so the operation does </a:t>
            </a:r>
            <a:r>
              <a:rPr lang="en-US" sz="2400" i="1" dirty="0" smtClean="0"/>
              <a:t>not</a:t>
            </a:r>
            <a:r>
              <a:rPr lang="en-US" sz="2400" dirty="0" smtClean="0"/>
              <a:t> update the </a:t>
            </a:r>
            <a:r>
              <a:rPr lang="en-US" sz="2400" dirty="0" err="1" smtClean="0"/>
              <a:t>dateExpired</a:t>
            </a:r>
            <a:r>
              <a:rPr lang="en-US" sz="2400" dirty="0" smtClean="0"/>
              <a:t> field.</a:t>
            </a:r>
            <a:endParaRPr lang="en-US" sz="2400" b="1" dirty="0" smtClean="0"/>
          </a:p>
          <a:p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228599" y="1157966"/>
            <a:ext cx="3810001" cy="15090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4141059" y="685800"/>
            <a:ext cx="5002941" cy="990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2209800" y="4038600"/>
            <a:ext cx="5095875" cy="15805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9875</Words>
  <Application>WPS Presentation</Application>
  <PresentationFormat>On-screen Show (4:3)</PresentationFormat>
  <Paragraphs>361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5" baseType="lpstr">
      <vt:lpstr>Arial</vt:lpstr>
      <vt:lpstr>SimSun</vt:lpstr>
      <vt:lpstr>Wingdings</vt:lpstr>
      <vt:lpstr>Calibri</vt:lpstr>
      <vt:lpstr>Helvetica Neue</vt:lpstr>
      <vt:lpstr>Microsoft YaHei</vt:lpstr>
      <vt:lpstr>汉仪旗黑</vt:lpstr>
      <vt:lpstr>Arial Unicode MS</vt:lpstr>
      <vt:lpstr>Euclid Circular A</vt:lpstr>
      <vt:lpstr>Thonburi</vt:lpstr>
      <vt:lpstr>Source Code Pro</vt:lpstr>
      <vt:lpstr>宋体-简</vt:lpstr>
      <vt:lpstr>Office Theme</vt:lpstr>
      <vt:lpstr>Update Operators </vt:lpstr>
      <vt:lpstr>updateOne() and updateMany()</vt:lpstr>
      <vt:lpstr>Update operators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Update Operators</dc:title>
  <dc:creator>mandeep kaur</dc:creator>
  <cp:lastModifiedBy>mehulgupta</cp:lastModifiedBy>
  <cp:revision>237</cp:revision>
  <dcterms:created xsi:type="dcterms:W3CDTF">2026-02-18T06:09:41Z</dcterms:created>
  <dcterms:modified xsi:type="dcterms:W3CDTF">2026-02-18T06:09:41Z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DC09004C6C70D1EFB5F79469C435B724_42</vt:lpwstr>
  </property>
  <property fmtid="{D5CDD505-2E9C-101B-9397-08002B2CF9AE}" pid="3" name="KSOProductBuildVer">
    <vt:lpwstr>1033-12.1.23155.23155</vt:lpwstr>
  </property>
</Properties>
</file>