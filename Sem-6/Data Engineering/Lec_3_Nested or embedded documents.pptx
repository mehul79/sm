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8B72243-5D64-4711-B440-058C1D1392F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33D829B3-46F2-47E5-B5FF-C57063749B8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8B72243-5D64-4711-B440-058C1D1392F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33D829B3-46F2-47E5-B5FF-C57063749B8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numCol="1"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numCol="1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8B72243-5D64-4711-B440-058C1D1392F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33D829B3-46F2-47E5-B5FF-C57063749B8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8B72243-5D64-4711-B440-058C1D1392F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33D829B3-46F2-47E5-B5FF-C57063749B8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8B72243-5D64-4711-B440-058C1D1392F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33D829B3-46F2-47E5-B5FF-C57063749B8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8B72243-5D64-4711-B440-058C1D1392F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33D829B3-46F2-47E5-B5FF-C57063749B8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8B72243-5D64-4711-B440-058C1D1392F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33D829B3-46F2-47E5-B5FF-C57063749B8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8B72243-5D64-4711-B440-058C1D1392F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33D829B3-46F2-47E5-B5FF-C57063749B8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8B72243-5D64-4711-B440-058C1D1392F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33D829B3-46F2-47E5-B5FF-C57063749B8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8B72243-5D64-4711-B440-058C1D1392F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33D829B3-46F2-47E5-B5FF-C57063749B8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8B72243-5D64-4711-B440-058C1D1392F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33D829B3-46F2-47E5-B5FF-C57063749B8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72243-5D64-4711-B440-058C1D1392F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829B3-46F2-47E5-B5FF-C57063749B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numCol="1"/>
          <a:lstStyle/>
          <a:p>
            <a:r>
              <a:rPr lang="en-US" dirty="0" smtClean="0"/>
              <a:t>Nested/Embedded Documents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Nested/Embedded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 numCol="1"/>
          <a:lstStyle/>
          <a:p>
            <a:pPr algn="just"/>
            <a:r>
              <a:rPr lang="en-US" sz="2400" dirty="0" smtClean="0"/>
              <a:t>It contain a document inside another document. 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When a collection has a document, this document contains another document, another document contains another sub-document, and so on, then such types of documents are known as embedded or nested documents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 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447800" y="89473"/>
            <a:ext cx="6096000" cy="65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Query on Nested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91200"/>
          </a:xfrm>
        </p:spPr>
        <p:txBody>
          <a:bodyPr numCol="1"/>
          <a:lstStyle/>
          <a:p>
            <a:pPr algn="just"/>
            <a:r>
              <a:rPr lang="en-US" dirty="0" smtClean="0"/>
              <a:t>An embedded document can be accessed by using the .find() method and using dot notation in our query filter to access the embedded field.</a:t>
            </a:r>
            <a:endParaRPr lang="en-US" dirty="0" smtClean="0"/>
          </a:p>
          <a:p>
            <a:pPr algn="just"/>
            <a:endParaRPr lang="en-US" dirty="0" smtClean="0"/>
          </a:p>
          <a:p>
            <a:pPr fontAlgn="base"/>
            <a:r>
              <a:rPr lang="en-US" b="1" dirty="0" smtClean="0"/>
              <a:t>Syntax: </a:t>
            </a:r>
            <a:r>
              <a:rPr lang="en-US" dirty="0" smtClean="0"/>
              <a:t>"</a:t>
            </a:r>
            <a:r>
              <a:rPr lang="en-US" dirty="0" err="1" smtClean="0"/>
              <a:t>field.nestedField</a:t>
            </a:r>
            <a:r>
              <a:rPr lang="en-US" dirty="0" smtClean="0"/>
              <a:t>": value</a:t>
            </a:r>
            <a:endParaRPr lang="en-US" dirty="0" smtClean="0"/>
          </a:p>
          <a:p>
            <a:pPr fontAlgn="base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>
            <a:normAutofit fontScale="92500" lnSpcReduction="10000"/>
          </a:bodyPr>
          <a:lstStyle/>
          <a:p>
            <a:r>
              <a:rPr lang="en-US" sz="2400" dirty="0" smtClean="0"/>
              <a:t>Example: </a:t>
            </a:r>
            <a:r>
              <a:rPr lang="en-US" sz="2400" dirty="0" err="1" smtClean="0"/>
              <a:t>db.inventory.insertMany</a:t>
            </a:r>
            <a:r>
              <a:rPr lang="en-US" sz="2400" dirty="0" smtClean="0"/>
              <a:t>( [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{ item: "journal", </a:t>
            </a:r>
            <a:r>
              <a:rPr lang="en-US" sz="2400" dirty="0" err="1" smtClean="0"/>
              <a:t>instock</a:t>
            </a:r>
            <a:r>
              <a:rPr lang="en-US" sz="2400" dirty="0" smtClean="0"/>
              <a:t>: [ { warehouse: "A", qty: 5 }, { warehouse: "C", qty: 15 } ] },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{ item: "notebook", </a:t>
            </a:r>
            <a:r>
              <a:rPr lang="en-US" sz="2400" dirty="0" err="1" smtClean="0"/>
              <a:t>instock</a:t>
            </a:r>
            <a:r>
              <a:rPr lang="en-US" sz="2400" dirty="0" smtClean="0"/>
              <a:t>: [ { warehouse: "C", qty: 5 } ] }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]);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Query for a Document Nested in an Array: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Output: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 algn="just"/>
            <a:r>
              <a:rPr lang="en-US" sz="2400" dirty="0" smtClean="0"/>
              <a:t>Equality matches on the whole embedded/nested document require an </a:t>
            </a:r>
            <a:r>
              <a:rPr lang="en-US" sz="2400" i="1" dirty="0" smtClean="0"/>
              <a:t>exact</a:t>
            </a:r>
            <a:r>
              <a:rPr lang="en-US" sz="2400" dirty="0" smtClean="0"/>
              <a:t> match of the specified document, including the field order. For example, the following query does not match any documents in the inventory collection:</a:t>
            </a:r>
            <a:endParaRPr lang="en-US" sz="2400" dirty="0" smtClean="0"/>
          </a:p>
          <a:p>
            <a:pPr>
              <a:buNone/>
            </a:pPr>
            <a:endParaRPr 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914400" y="2667000"/>
            <a:ext cx="798979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95400" y="3200400"/>
            <a:ext cx="628650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066800" y="6248400"/>
            <a:ext cx="67913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 numCol="1">
            <a:normAutofit/>
          </a:bodyPr>
          <a:lstStyle/>
          <a:p>
            <a:pPr algn="ctr">
              <a:buNone/>
            </a:pPr>
            <a:r>
              <a:rPr lang="en-US" sz="2800" b="1" dirty="0" smtClean="0"/>
              <a:t>Specify a Query Condition on a Field Embedded in an Array of Documents</a:t>
            </a:r>
            <a:endParaRPr lang="en-US" sz="2000" b="1" dirty="0" smtClean="0"/>
          </a:p>
          <a:p>
            <a:pPr>
              <a:buNone/>
            </a:pPr>
            <a:r>
              <a:rPr lang="en-US" sz="2000" dirty="0" smtClean="0"/>
              <a:t>Example: </a:t>
            </a:r>
            <a:r>
              <a:rPr lang="en-US" sz="2000" dirty="0" err="1" smtClean="0"/>
              <a:t>db.First_Collection.insertMany</a:t>
            </a:r>
            <a:r>
              <a:rPr lang="en-US" sz="2000" dirty="0" smtClean="0"/>
              <a:t>( [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{ item: "journal", </a:t>
            </a:r>
            <a:r>
              <a:rPr lang="en-US" sz="2000" dirty="0" err="1" smtClean="0"/>
              <a:t>instock</a:t>
            </a:r>
            <a:r>
              <a:rPr lang="en-US" sz="2000" dirty="0" smtClean="0"/>
              <a:t>: [ { warehouse: "A", qty: 5 }, { warehouse: "C", qty: 15 } ] },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{ item: "notebook", </a:t>
            </a:r>
            <a:r>
              <a:rPr lang="en-US" sz="2000" dirty="0" err="1" smtClean="0"/>
              <a:t>instock</a:t>
            </a:r>
            <a:r>
              <a:rPr lang="en-US" sz="2000" dirty="0" smtClean="0"/>
              <a:t>: [ { warehouse: "C", qty: 5 } ] },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]);</a:t>
            </a:r>
            <a:endParaRPr lang="en-US" sz="2000" dirty="0" smtClean="0"/>
          </a:p>
          <a:p>
            <a:endParaRPr lang="en-US" sz="2000" b="1" dirty="0" smtClean="0"/>
          </a:p>
          <a:p>
            <a:pPr algn="just"/>
            <a:r>
              <a:rPr lang="en-US" sz="2200" dirty="0" smtClean="0"/>
              <a:t>This query selects </a:t>
            </a:r>
            <a:r>
              <a:rPr lang="en-US" sz="2200" dirty="0"/>
              <a:t>all documents where the </a:t>
            </a:r>
            <a:r>
              <a:rPr lang="en-US" sz="2200" dirty="0" err="1" smtClean="0"/>
              <a:t>instock</a:t>
            </a:r>
            <a:r>
              <a:rPr lang="en-US" sz="2200" dirty="0"/>
              <a:t> array has at least one embedded document that contains the field </a:t>
            </a:r>
            <a:r>
              <a:rPr lang="en-US" sz="2200" dirty="0" smtClean="0"/>
              <a:t>qty</a:t>
            </a:r>
            <a:r>
              <a:rPr lang="en-US" sz="2200" dirty="0"/>
              <a:t> whose value is less than or equal to </a:t>
            </a:r>
            <a:r>
              <a:rPr lang="en-US" sz="2200" dirty="0" smtClean="0"/>
              <a:t>10.</a:t>
            </a:r>
            <a:endParaRPr lang="en-US" sz="22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295400" y="2667000"/>
            <a:ext cx="683029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066800" y="4419600"/>
            <a:ext cx="699817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991600" cy="6705600"/>
          </a:xfrm>
        </p:spPr>
        <p:txBody>
          <a:bodyPr numCol="1">
            <a:normAutofit fontScale="85000" lnSpcReduction="10000"/>
          </a:bodyPr>
          <a:lstStyle/>
          <a:p>
            <a:pPr algn="ctr">
              <a:buNone/>
            </a:pPr>
            <a:r>
              <a:rPr lang="en-US" sz="3300" b="1" dirty="0" smtClean="0"/>
              <a:t>Use the Array Index to Query for a Field in the Embedded Document</a:t>
            </a:r>
            <a:endParaRPr lang="en-US" sz="3300" b="1" dirty="0" smtClean="0"/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Using</a:t>
            </a:r>
            <a:r>
              <a:rPr lang="en-US" sz="2400" dirty="0"/>
              <a:t> dot notation, you can specify query conditions for field in a document at a particular index or position of the array. The array uses zero-based </a:t>
            </a:r>
            <a:r>
              <a:rPr lang="en-US" sz="2400" dirty="0" smtClean="0"/>
              <a:t>indexing.</a:t>
            </a:r>
            <a:endParaRPr lang="en-US" sz="2400" dirty="0" smtClean="0"/>
          </a:p>
          <a:p>
            <a:r>
              <a:rPr lang="en-US" sz="2400" dirty="0"/>
              <a:t>When querying using dot notation, the field and index must be inside quotation marks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>
              <a:buNone/>
            </a:pPr>
            <a:endParaRPr lang="en-US" sz="2400" dirty="0"/>
          </a:p>
          <a:p>
            <a:r>
              <a:rPr lang="en-US" sz="2400" dirty="0" smtClean="0"/>
              <a:t>This query </a:t>
            </a:r>
            <a:r>
              <a:rPr lang="en-US" sz="2400" dirty="0"/>
              <a:t>selects all documents where the</a:t>
            </a:r>
            <a:r>
              <a:rPr lang="en-US" sz="2400" i="1" dirty="0"/>
              <a:t> </a:t>
            </a:r>
            <a:r>
              <a:rPr lang="en-US" sz="2400" i="1" dirty="0" err="1" smtClean="0"/>
              <a:t>instock</a:t>
            </a:r>
            <a:r>
              <a:rPr lang="en-US" sz="2400" dirty="0"/>
              <a:t> array has as its first element a document that contains the field </a:t>
            </a:r>
            <a:r>
              <a:rPr lang="en-US" sz="2400" dirty="0" smtClean="0"/>
              <a:t>qty</a:t>
            </a:r>
            <a:r>
              <a:rPr lang="en-US" sz="2400" dirty="0"/>
              <a:t> whose value is less than or equal to </a:t>
            </a:r>
            <a:r>
              <a:rPr lang="en-US" sz="2400" dirty="0" smtClean="0"/>
              <a:t>20.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</a:t>
            </a:r>
            <a:r>
              <a:rPr lang="en-US" sz="2400" dirty="0" err="1" smtClean="0"/>
              <a:t>db.inventory.insertMany</a:t>
            </a:r>
            <a:r>
              <a:rPr lang="en-US" sz="2400" dirty="0" smtClean="0"/>
              <a:t>( [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{ item: "journal", </a:t>
            </a:r>
            <a:r>
              <a:rPr lang="en-US" sz="2400" dirty="0" err="1" smtClean="0"/>
              <a:t>instock</a:t>
            </a:r>
            <a:r>
              <a:rPr lang="en-US" sz="2400" dirty="0" smtClean="0"/>
              <a:t>: [ { warehouse: "A", qty: 5 }, { warehouse: "C", qty: 15 } ] },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{ item: "notebook", </a:t>
            </a:r>
            <a:r>
              <a:rPr lang="en-US" sz="2400" dirty="0" err="1" smtClean="0"/>
              <a:t>instock</a:t>
            </a:r>
            <a:r>
              <a:rPr lang="en-US" sz="2400" dirty="0" smtClean="0"/>
              <a:t>: [ { warehouse: "C", qty: 5 } ] },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{ item: "paper", </a:t>
            </a:r>
            <a:r>
              <a:rPr lang="en-US" sz="2400" dirty="0" err="1" smtClean="0"/>
              <a:t>instock</a:t>
            </a:r>
            <a:r>
              <a:rPr lang="en-US" sz="2400" dirty="0" smtClean="0"/>
              <a:t>: [ { warehouse: "A", qty: 60 }, { warehouse: "B", qty: 15 } ] },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{ item: "planner", </a:t>
            </a:r>
            <a:r>
              <a:rPr lang="en-US" sz="2400" dirty="0" err="1" smtClean="0"/>
              <a:t>instock</a:t>
            </a:r>
            <a:r>
              <a:rPr lang="en-US" sz="2400" dirty="0" smtClean="0"/>
              <a:t>: [ { warehouse: "A", qty: 40 }, { warehouse: "B", qty: 5 } ] },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{ item: "postcard", </a:t>
            </a:r>
            <a:r>
              <a:rPr lang="en-US" sz="2400" dirty="0" err="1" smtClean="0"/>
              <a:t>instock</a:t>
            </a:r>
            <a:r>
              <a:rPr lang="en-US" sz="2400" dirty="0" smtClean="0"/>
              <a:t>: [ { warehouse: "B", qty: 15 }, { warehouse: "C", qty: 35 } ] }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]);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295399" y="2286000"/>
            <a:ext cx="694764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477000"/>
          </a:xfrm>
        </p:spPr>
        <p:txBody>
          <a:bodyPr numCol="1"/>
          <a:lstStyle/>
          <a:p>
            <a:pPr>
              <a:buNone/>
            </a:pPr>
            <a:r>
              <a:rPr lang="en-US" sz="2400" dirty="0" err="1" smtClean="0"/>
              <a:t>db.First_Collection.insertMany</a:t>
            </a:r>
            <a:r>
              <a:rPr lang="en-US" sz="2400" dirty="0" smtClean="0"/>
              <a:t>( [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{ item: "journal", </a:t>
            </a:r>
            <a:r>
              <a:rPr lang="en-US" sz="2400" dirty="0" err="1" smtClean="0"/>
              <a:t>instock</a:t>
            </a:r>
            <a:r>
              <a:rPr lang="en-US" sz="2400" dirty="0" smtClean="0"/>
              <a:t>: [ { warehouse: "A", qty: 5 }, { warehouse: "C", qty: 15 } ] },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{ item: "notebook", </a:t>
            </a:r>
            <a:r>
              <a:rPr lang="en-US" sz="2400" dirty="0" err="1" smtClean="0"/>
              <a:t>instock</a:t>
            </a:r>
            <a:r>
              <a:rPr lang="en-US" sz="2400" dirty="0" smtClean="0"/>
              <a:t>: [ { warehouse: "C", qty: 5 } ] },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]);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Query 1: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Query 2:</a:t>
            </a:r>
            <a:endParaRPr lang="en-US" sz="2400" dirty="0" smtClean="0"/>
          </a:p>
          <a:p>
            <a:endParaRPr lang="en-US" sz="3600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981200" y="2819400"/>
            <a:ext cx="588617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905000" y="3657600"/>
            <a:ext cx="6096000" cy="44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477000"/>
          </a:xfrm>
        </p:spPr>
        <p:txBody>
          <a:bodyPr numCol="1"/>
          <a:lstStyle/>
          <a:p>
            <a:pPr>
              <a:buNone/>
            </a:pPr>
            <a:r>
              <a:rPr lang="en-US" sz="2000" dirty="0" err="1" smtClean="0"/>
              <a:t>db.First_Collection.insertMany</a:t>
            </a:r>
            <a:r>
              <a:rPr lang="en-US" sz="2000" dirty="0" smtClean="0"/>
              <a:t>( [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{ item: "journal", </a:t>
            </a:r>
            <a:r>
              <a:rPr lang="en-US" sz="2000" dirty="0" err="1" smtClean="0"/>
              <a:t>instock</a:t>
            </a:r>
            <a:r>
              <a:rPr lang="en-US" sz="2000" dirty="0" smtClean="0"/>
              <a:t>: [ { warehouse: "A", qty: 5 }, { warehouse: "C", qty: 15 } ] },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{ item: "notebook", </a:t>
            </a:r>
            <a:r>
              <a:rPr lang="en-US" sz="2000" dirty="0" err="1" smtClean="0"/>
              <a:t>instock</a:t>
            </a:r>
            <a:r>
              <a:rPr lang="en-US" sz="2000" dirty="0" smtClean="0"/>
              <a:t>: [ { warehouse: "C", qty: 5 } ] },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]);</a:t>
            </a:r>
            <a:endParaRPr lang="en-US" sz="2000" dirty="0" smtClean="0"/>
          </a:p>
          <a:p>
            <a:r>
              <a:rPr lang="en-US" sz="2400" dirty="0" smtClean="0"/>
              <a:t>Query 1:</a:t>
            </a:r>
            <a:endParaRPr lang="en-US" sz="2400" dirty="0" smtClean="0"/>
          </a:p>
          <a:p>
            <a:r>
              <a:rPr lang="en-US" sz="2400" dirty="0" smtClean="0"/>
              <a:t>Output: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Query 2:</a:t>
            </a:r>
            <a:endParaRPr lang="en-US" sz="2400" dirty="0" smtClean="0"/>
          </a:p>
          <a:p>
            <a:r>
              <a:rPr lang="en-US" sz="2400" dirty="0" smtClean="0"/>
              <a:t>Output:</a:t>
            </a:r>
            <a:endParaRPr lang="en-US" sz="24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09800" y="1981200"/>
            <a:ext cx="588617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133600" y="2514600"/>
            <a:ext cx="61341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133600" y="4631950"/>
            <a:ext cx="6096000" cy="44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2057400" y="5257800"/>
            <a:ext cx="620077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763000" cy="762000"/>
          </a:xfrm>
        </p:spPr>
        <p:txBody>
          <a:bodyPr numCol="1">
            <a:normAutofit fontScale="90000"/>
          </a:bodyPr>
          <a:lstStyle/>
          <a:p>
            <a:r>
              <a:rPr lang="en-US" sz="3200" dirty="0" smtClean="0"/>
              <a:t>Specify Multiple Conditions for an Array of Documents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096000"/>
          </a:xfrm>
        </p:spPr>
        <p:txBody>
          <a:bodyPr numCol="1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000" dirty="0"/>
              <a:t>When specifying conditions on more than one field nested in an array of documents, you can specify the query such that either a single document meets these condition or any combination of documents (including a single document) in the array meets the conditions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A Single Nested Document Meets Multiple Query Conditions on </a:t>
            </a:r>
            <a:r>
              <a:rPr lang="en-US" sz="2000" b="1" dirty="0" smtClean="0"/>
              <a:t>Nested Fields</a:t>
            </a:r>
            <a:endParaRPr lang="en-US" sz="2000" b="1" dirty="0"/>
          </a:p>
          <a:p>
            <a:pPr algn="just">
              <a:lnSpc>
                <a:spcPct val="120000"/>
              </a:lnSpc>
            </a:pPr>
            <a:r>
              <a:rPr lang="en-US" sz="2000" dirty="0"/>
              <a:t>Use $elemMatch operator to specify multiple criteria on an array of embedded documents such that at least one embedded document satisfies all the specified criteria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>
              <a:buNone/>
            </a:pPr>
            <a:r>
              <a:rPr lang="en-US" sz="2000" dirty="0" err="1" smtClean="0"/>
              <a:t>db.inventory.insertMany</a:t>
            </a:r>
            <a:r>
              <a:rPr lang="en-US" sz="2000" dirty="0" smtClean="0"/>
              <a:t>( [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{ item: "journal", </a:t>
            </a:r>
            <a:r>
              <a:rPr lang="en-US" sz="2000" dirty="0" err="1" smtClean="0"/>
              <a:t>instock</a:t>
            </a:r>
            <a:r>
              <a:rPr lang="en-US" sz="2000" dirty="0" smtClean="0"/>
              <a:t>: [ { warehouse: "A", qty: 5 }, { warehouse: "C", qty: 15 } ] },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{ item: "notebook", </a:t>
            </a:r>
            <a:r>
              <a:rPr lang="en-US" sz="2000" dirty="0" err="1" smtClean="0"/>
              <a:t>instock</a:t>
            </a:r>
            <a:r>
              <a:rPr lang="en-US" sz="2000" dirty="0" smtClean="0"/>
              <a:t>: [ { warehouse: "C", qty: 5 } ] }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]);</a:t>
            </a:r>
            <a:endParaRPr lang="en-US" sz="2000" dirty="0" smtClean="0"/>
          </a:p>
          <a:p>
            <a:pPr algn="just">
              <a:lnSpc>
                <a:spcPct val="120000"/>
              </a:lnSpc>
            </a:pPr>
            <a:endParaRPr lang="en-US" sz="2600" dirty="0" smtClean="0"/>
          </a:p>
          <a:p>
            <a:pPr>
              <a:buNone/>
            </a:pPr>
            <a:endParaRPr lang="en-US" sz="2600" dirty="0" smtClean="0"/>
          </a:p>
          <a:p>
            <a:pPr algn="just">
              <a:lnSpc>
                <a:spcPct val="120000"/>
              </a:lnSpc>
              <a:buNone/>
            </a:pPr>
            <a:endParaRPr lang="en-US" dirty="0" smtClean="0"/>
          </a:p>
          <a:p>
            <a:pPr algn="just">
              <a:lnSpc>
                <a:spcPct val="120000"/>
              </a:lnSpc>
            </a:pP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066800" y="5562600"/>
            <a:ext cx="66579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44945" y="6172200"/>
            <a:ext cx="859905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>
            <a:normAutofit/>
          </a:bodyPr>
          <a:lstStyle/>
          <a:p>
            <a:pPr>
              <a:buNone/>
            </a:pPr>
            <a:r>
              <a:rPr lang="en-US" sz="2000" dirty="0" err="1" smtClean="0"/>
              <a:t>db.inventory.insertMany</a:t>
            </a:r>
            <a:r>
              <a:rPr lang="en-US" sz="2000" dirty="0" smtClean="0"/>
              <a:t>( [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{ item: "journal", </a:t>
            </a:r>
            <a:r>
              <a:rPr lang="en-US" sz="2000" dirty="0" err="1" smtClean="0"/>
              <a:t>instock</a:t>
            </a:r>
            <a:r>
              <a:rPr lang="en-US" sz="2000" dirty="0" smtClean="0"/>
              <a:t>: [ { warehouse: "A", qty: 5 }, { warehouse: "C", qty: 15 } ] },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{ item: "notebook", </a:t>
            </a:r>
            <a:r>
              <a:rPr lang="en-US" sz="2000" dirty="0" err="1" smtClean="0"/>
              <a:t>instock</a:t>
            </a:r>
            <a:r>
              <a:rPr lang="en-US" sz="2000" dirty="0" smtClean="0"/>
              <a:t>: [ { warehouse: "C", qty: 5 } ] }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]);</a:t>
            </a:r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This example queries for documents where the </a:t>
            </a:r>
            <a:r>
              <a:rPr lang="en-US" sz="2000" i="1" dirty="0" err="1" smtClean="0"/>
              <a:t>instock</a:t>
            </a:r>
            <a:r>
              <a:rPr lang="en-US" sz="2000" i="1" dirty="0" smtClean="0"/>
              <a:t> </a:t>
            </a:r>
            <a:r>
              <a:rPr lang="en-US" sz="2000" dirty="0" smtClean="0"/>
              <a:t>array has at least one embedded document that contains both the field </a:t>
            </a:r>
            <a:r>
              <a:rPr lang="en-US" sz="2000" i="1" dirty="0" smtClean="0"/>
              <a:t>qty</a:t>
            </a:r>
            <a:r>
              <a:rPr lang="en-US" sz="2000" dirty="0" smtClean="0"/>
              <a:t> equal to 5 and the field warehouse equal to A.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  <a:p>
            <a:pPr algn="just"/>
            <a:r>
              <a:rPr lang="en-US" sz="2000" dirty="0" smtClean="0"/>
              <a:t>This </a:t>
            </a:r>
            <a:r>
              <a:rPr lang="en-US" sz="2000" dirty="0"/>
              <a:t>example queries for documents where the </a:t>
            </a:r>
            <a:r>
              <a:rPr lang="en-US" sz="2000" dirty="0" err="1" smtClean="0"/>
              <a:t>instock</a:t>
            </a:r>
            <a:r>
              <a:rPr lang="en-US" sz="2000" dirty="0"/>
              <a:t> array has at least one embedded document that contains the field </a:t>
            </a:r>
            <a:r>
              <a:rPr lang="en-US" sz="2000" dirty="0" smtClean="0"/>
              <a:t>qty</a:t>
            </a:r>
            <a:r>
              <a:rPr lang="en-US" sz="2000" dirty="0"/>
              <a:t> that is greater than </a:t>
            </a:r>
            <a:r>
              <a:rPr lang="en-US" sz="2000" dirty="0" smtClean="0"/>
              <a:t>10</a:t>
            </a:r>
            <a:r>
              <a:rPr lang="en-US" sz="2000" dirty="0"/>
              <a:t> and less than or equal to </a:t>
            </a:r>
            <a:r>
              <a:rPr lang="en-US" sz="2000" dirty="0" smtClean="0"/>
              <a:t>20.</a:t>
            </a:r>
            <a:endParaRPr lang="en-US" sz="2000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76225" y="4343400"/>
            <a:ext cx="886777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752600" y="5829300"/>
            <a:ext cx="61436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371600" y="1905000"/>
            <a:ext cx="66579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1752600" y="3276600"/>
            <a:ext cx="6153150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25942" y="3352800"/>
            <a:ext cx="918841" cy="402546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dirty="0" smtClean="0"/>
              <a:t>Output:</a:t>
            </a:r>
            <a:endParaRPr lang="en-US" dirty="0" smtClean="0"/>
          </a:p>
        </p:txBody>
      </p:sp>
      <p:sp>
        <p:nvSpPr>
          <p:cNvPr id="8" name="Rectangle 7"/>
          <p:cNvSpPr/>
          <p:nvPr/>
        </p:nvSpPr>
        <p:spPr>
          <a:xfrm>
            <a:off x="425942" y="5943600"/>
            <a:ext cx="918841" cy="402546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dirty="0" smtClean="0"/>
              <a:t>Output: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400800"/>
          </a:xfrm>
        </p:spPr>
        <p:txBody>
          <a:bodyPr numCol="1">
            <a:normAutofit fontScale="6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b="1" dirty="0" smtClean="0"/>
              <a:t> Combination of Elements Satisfies the Criteria</a:t>
            </a:r>
            <a:endParaRPr lang="en-US" b="1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If the compound query conditions on an array field do not use the $elemMatch operator, the query selects those documents whose array contains any combination of elements that satisfies the conditions.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Example: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db.inventory.insertMany</a:t>
            </a:r>
            <a:r>
              <a:rPr lang="en-US" dirty="0" smtClean="0"/>
              <a:t>( [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{ item: "journal", </a:t>
            </a:r>
            <a:r>
              <a:rPr lang="en-US" dirty="0" err="1" smtClean="0"/>
              <a:t>instock</a:t>
            </a:r>
            <a:r>
              <a:rPr lang="en-US" dirty="0" smtClean="0"/>
              <a:t>: [ { warehouse: "A", qty: 5 }, { warehouse: "C", qty: 15 } ] },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{ item: "notebook", </a:t>
            </a:r>
            <a:r>
              <a:rPr lang="en-US" dirty="0" err="1" smtClean="0"/>
              <a:t>instock</a:t>
            </a:r>
            <a:r>
              <a:rPr lang="en-US" dirty="0" smtClean="0"/>
              <a:t>: [ { warehouse: "C", qty: 5 } ] },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{ item: "paper", </a:t>
            </a:r>
            <a:r>
              <a:rPr lang="en-US" dirty="0" err="1" smtClean="0"/>
              <a:t>instock</a:t>
            </a:r>
            <a:r>
              <a:rPr lang="en-US" dirty="0" smtClean="0"/>
              <a:t>: [ { warehouse: "A", qty: 60 }, { warehouse: "B", qty: 15 } ] },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{ item: "planner", </a:t>
            </a:r>
            <a:r>
              <a:rPr lang="en-US" dirty="0" err="1" smtClean="0"/>
              <a:t>instock</a:t>
            </a:r>
            <a:r>
              <a:rPr lang="en-US" dirty="0" smtClean="0"/>
              <a:t>: [ { warehouse: "A", qty: 40 }, { warehouse: "B", qty: 5 } ] },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{ item: "postcard", </a:t>
            </a:r>
            <a:r>
              <a:rPr lang="en-US" dirty="0" err="1" smtClean="0"/>
              <a:t>instock</a:t>
            </a:r>
            <a:r>
              <a:rPr lang="en-US" dirty="0" smtClean="0"/>
              <a:t>: [ { warehouse: "B", qty: 15 }, { warehouse: "C", qty: 35 } ] }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]);</a:t>
            </a:r>
            <a:endParaRPr lang="en-US" dirty="0" smtClean="0"/>
          </a:p>
          <a:p>
            <a:pPr algn="just">
              <a:buNone/>
            </a:pPr>
            <a:endParaRPr lang="en-US" b="1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This query matches documents where any document nested in the </a:t>
            </a:r>
            <a:r>
              <a:rPr lang="en-US" i="1" dirty="0" err="1" smtClean="0"/>
              <a:t>instock</a:t>
            </a:r>
            <a:r>
              <a:rPr lang="en-US" dirty="0" smtClean="0"/>
              <a:t> array has the </a:t>
            </a:r>
            <a:r>
              <a:rPr lang="en-US" i="1" dirty="0" smtClean="0"/>
              <a:t>qty</a:t>
            </a:r>
            <a:r>
              <a:rPr lang="en-US" dirty="0" smtClean="0"/>
              <a:t> field greater than 10 and any document (but not necessarily the same embedded document) in the array has the qty field less than or equal to 20.</a:t>
            </a:r>
            <a:endParaRPr lang="en-US" dirty="0" smtClean="0"/>
          </a:p>
          <a:p>
            <a:pPr algn="just"/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066800" y="4800600"/>
            <a:ext cx="6772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400800"/>
          </a:xfrm>
        </p:spPr>
        <p:txBody>
          <a:bodyPr numCol="1">
            <a:normAutofit fontScale="70000" lnSpcReduction="20000"/>
          </a:bodyPr>
          <a:lstStyle/>
          <a:p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db.inventory.insertMany</a:t>
            </a:r>
            <a:r>
              <a:rPr lang="en-US" dirty="0" smtClean="0"/>
              <a:t>( [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{ item: "journal", </a:t>
            </a:r>
            <a:r>
              <a:rPr lang="en-US" dirty="0" err="1" smtClean="0"/>
              <a:t>instock</a:t>
            </a:r>
            <a:r>
              <a:rPr lang="en-US" dirty="0" smtClean="0"/>
              <a:t>: [ { warehouse: "A", qty: 5 }, { warehouse: "C", qty: 15 } ] },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{ item: "notebook", </a:t>
            </a:r>
            <a:r>
              <a:rPr lang="en-US" dirty="0" err="1" smtClean="0"/>
              <a:t>instock</a:t>
            </a:r>
            <a:r>
              <a:rPr lang="en-US" dirty="0" smtClean="0"/>
              <a:t>: [ { warehouse: "C", qty: 5 } ] },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{ item: "paper", </a:t>
            </a:r>
            <a:r>
              <a:rPr lang="en-US" dirty="0" err="1" smtClean="0"/>
              <a:t>instock</a:t>
            </a:r>
            <a:r>
              <a:rPr lang="en-US" dirty="0" smtClean="0"/>
              <a:t>: [ { warehouse: "A", qty: 60 }, { warehouse: "B", qty: 15 } ] },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{ item: "planner", </a:t>
            </a:r>
            <a:r>
              <a:rPr lang="en-US" dirty="0" err="1" smtClean="0"/>
              <a:t>instock</a:t>
            </a:r>
            <a:r>
              <a:rPr lang="en-US" dirty="0" smtClean="0"/>
              <a:t>: [ { warehouse: "A", qty: 40 }, { warehouse: "B", qty: 5 } ] },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{ item: "postcard", </a:t>
            </a:r>
            <a:r>
              <a:rPr lang="en-US" dirty="0" err="1" smtClean="0"/>
              <a:t>instock</a:t>
            </a:r>
            <a:r>
              <a:rPr lang="en-US" dirty="0" smtClean="0"/>
              <a:t>: [ { warehouse: "B", qty: 15 }, { warehouse: "C", qty: 35 } ] }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]);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This example queries for documents where the </a:t>
            </a:r>
            <a:r>
              <a:rPr lang="en-US" i="1" dirty="0" err="1" smtClean="0"/>
              <a:t>instock</a:t>
            </a:r>
            <a:r>
              <a:rPr lang="en-US" dirty="0" smtClean="0"/>
              <a:t> array has at least one embedded document that contains the field </a:t>
            </a:r>
            <a:r>
              <a:rPr lang="en-US" i="1" dirty="0" smtClean="0"/>
              <a:t>qty</a:t>
            </a:r>
            <a:r>
              <a:rPr lang="en-US" dirty="0" smtClean="0"/>
              <a:t> equal to 5 and at least one embedded document (but not necessarily the same embedded document) that contains the field warehouse equal to A.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04801" y="4219328"/>
            <a:ext cx="8534400" cy="343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5750</Words>
  <Application>WPS Writer</Application>
  <PresentationFormat>On-screen Show (4:3)</PresentationFormat>
  <Paragraphs>138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Nested/Embedded Documents</vt:lpstr>
      <vt:lpstr>Nested/Embedded Documents</vt:lpstr>
      <vt:lpstr>PowerPoint 演示文稿</vt:lpstr>
      <vt:lpstr>Query on Nested Documents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Specify Multiple Conditions for an Array of Documents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Nested/Embedded Documents</dc:title>
  <dc:creator>mandeep kaur</dc:creator>
  <cp:lastModifiedBy>mehulgupta</cp:lastModifiedBy>
  <cp:revision>5</cp:revision>
  <dcterms:created xsi:type="dcterms:W3CDTF">2026-02-17T09:17:36Z</dcterms:created>
  <dcterms:modified xsi:type="dcterms:W3CDTF">2026-02-17T09:17:36Z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E2CB1CFC689DF490D22D9469A83C49AA_42</vt:lpwstr>
  </property>
  <property fmtid="{D5CDD505-2E9C-101B-9397-08002B2CF9AE}" pid="3" name="KSOProductBuildVer">
    <vt:lpwstr>1033-12.1.23155.23155</vt:lpwstr>
  </property>
</Properties>
</file>