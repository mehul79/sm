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d="100" n="63"/>
          <a:sy d="100" n="63"/>
        </p:scale>
        <p:origin x="1596" y="78"/>
      </p:cViewPr>
      <p:guideLst>
        <p:guide orient="horz" pos="2160"/>
        <p:guide pos="2880"/>
      </p:guideLst>
    </p:cSldViewPr>
  </p:slideViewPr>
  <p:notesTextViewPr>
    <p:cViewPr>
      <p:scale>
        <a:sx d="100" n="100"/>
        <a:sy d="100" n="100"/>
      </p:scale>
      <p:origin x="0" y="0"/>
    </p:cViewPr>
  </p:notesTextViewPr>
  <p:gridSpacing cx="72008" cy="72008"/>
</p:viewPr>
</file>

<file path=ppt/_rels/presentation.xml.rels><?xml version="1.0" encoding="UTF-8" standalone="yes"?><Relationships xmlns="http://schemas.openxmlformats.org/package/2006/relationships"><Relationship Id="rId63" Target="slides/slide57.xml" Type="http://schemas.openxmlformats.org/officeDocument/2006/relationships/slide"/><Relationship Id="rId62" Target="slides/slide56.xml" Type="http://schemas.openxmlformats.org/officeDocument/2006/relationships/slide"/><Relationship Id="rId61" Target="slides/slide55.xml" Type="http://schemas.openxmlformats.org/officeDocument/2006/relationships/slide"/><Relationship Id="rId60" Target="slides/slide54.xml" Type="http://schemas.openxmlformats.org/officeDocument/2006/relationships/slide"/><Relationship Id="rId53" Target="slides/slide47.xml" Type="http://schemas.openxmlformats.org/officeDocument/2006/relationships/slide"/><Relationship Id="rId52" Target="slides/slide46.xml" Type="http://schemas.openxmlformats.org/officeDocument/2006/relationships/slide"/><Relationship Id="rId51" Target="slides/slide45.xml" Type="http://schemas.openxmlformats.org/officeDocument/2006/relationships/slide"/><Relationship Id="rId50" Target="slides/slide44.xml" Type="http://schemas.openxmlformats.org/officeDocument/2006/relationships/slide"/><Relationship Id="rId5" Target="slideMasters/slideMaster1.xml" Type="http://schemas.openxmlformats.org/officeDocument/2006/relationships/slideMaster"/><Relationship Id="rId39" Target="slides/slide33.xml" Type="http://schemas.openxmlformats.org/officeDocument/2006/relationships/slide"/><Relationship Id="rId4" Target="tableStyles.xml" Type="http://schemas.openxmlformats.org/officeDocument/2006/relationships/tableStyles"/><Relationship Id="rId38" Target="slides/slide32.xml" Type="http://schemas.openxmlformats.org/officeDocument/2006/relationships/slide"/><Relationship Id="rId3" Target="presProps.xml" Type="http://schemas.openxmlformats.org/officeDocument/2006/relationships/presProps"/><Relationship Id="rId37" Target="slides/slide31.xml" Type="http://schemas.openxmlformats.org/officeDocument/2006/relationships/slide"/><Relationship Id="rId2" Target="viewProps.xml" Type="http://schemas.openxmlformats.org/officeDocument/2006/relationships/viewProps"/><Relationship Id="rId36" Target="slides/slide30.xml" Type="http://schemas.openxmlformats.org/officeDocument/2006/relationships/slide"/><Relationship Id="rId1" Target="theme/theme1.xml" Type="http://schemas.openxmlformats.org/officeDocument/2006/relationships/theme"/><Relationship Id="rId35" Target="slides/slide29.xml" Type="http://schemas.openxmlformats.org/officeDocument/2006/relationships/slide"/><Relationship Id="rId34" Target="slides/slide28.xml" Type="http://schemas.openxmlformats.org/officeDocument/2006/relationships/slide"/><Relationship Id="rId33" Target="slides/slide27.xml" Type="http://schemas.openxmlformats.org/officeDocument/2006/relationships/slide"/><Relationship Id="rId32" Target="slides/slide26.xml" Type="http://schemas.openxmlformats.org/officeDocument/2006/relationships/slide"/><Relationship Id="rId31" Target="slides/slide25.xml" Type="http://schemas.openxmlformats.org/officeDocument/2006/relationships/slide"/><Relationship Id="rId64" Target="slides/slide58.xml" Type="http://schemas.openxmlformats.org/officeDocument/2006/relationships/slide"/><Relationship Id="rId30" Target="slides/slide24.xml" Type="http://schemas.openxmlformats.org/officeDocument/2006/relationships/slide"/><Relationship Id="rId27" Target="slides/slide21.xml" Type="http://schemas.openxmlformats.org/officeDocument/2006/relationships/slide"/><Relationship Id="rId26" Target="slides/slide20.xml" Type="http://schemas.openxmlformats.org/officeDocument/2006/relationships/slide"/><Relationship Id="rId59" Target="slides/slide53.xml" Type="http://schemas.openxmlformats.org/officeDocument/2006/relationships/slide"/><Relationship Id="rId25" Target="slides/slide19.xml" Type="http://schemas.openxmlformats.org/officeDocument/2006/relationships/slide"/><Relationship Id="rId58" Target="slides/slide52.xml" Type="http://schemas.openxmlformats.org/officeDocument/2006/relationships/slide"/><Relationship Id="rId24" Target="slides/slide18.xml" Type="http://schemas.openxmlformats.org/officeDocument/2006/relationships/slide"/><Relationship Id="rId55" Target="slides/slide49.xml" Type="http://schemas.openxmlformats.org/officeDocument/2006/relationships/slide"/><Relationship Id="rId21" Target="slides/slide15.xml" Type="http://schemas.openxmlformats.org/officeDocument/2006/relationships/slide"/><Relationship Id="rId19" Target="slides/slide13.xml" Type="http://schemas.openxmlformats.org/officeDocument/2006/relationships/slide"/><Relationship Id="rId54" Target="slides/slide48.xml" Type="http://schemas.openxmlformats.org/officeDocument/2006/relationships/slide"/><Relationship Id="rId20" Target="slides/slide14.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3" Target="slides/slide7.xml" Type="http://schemas.openxmlformats.org/officeDocument/2006/relationships/slide"/><Relationship Id="rId47" Target="slides/slide41.xml" Type="http://schemas.openxmlformats.org/officeDocument/2006/relationships/slide"/><Relationship Id="rId16" Target="slides/slide10.xml" Type="http://schemas.openxmlformats.org/officeDocument/2006/relationships/slide"/><Relationship Id="rId12" Target="slides/slide6.xml" Type="http://schemas.openxmlformats.org/officeDocument/2006/relationships/slide"/><Relationship Id="rId46" Target="slides/slide40.xml" Type="http://schemas.openxmlformats.org/officeDocument/2006/relationships/slide"/><Relationship Id="rId49" Target="slides/slide43.xml" Type="http://schemas.openxmlformats.org/officeDocument/2006/relationships/slide"/><Relationship Id="rId15" Target="slides/slide9.xml" Type="http://schemas.openxmlformats.org/officeDocument/2006/relationships/slide"/><Relationship Id="rId11" Target="slides/slide5.xml" Type="http://schemas.openxmlformats.org/officeDocument/2006/relationships/slide"/><Relationship Id="rId45" Target="slides/slide39.xml" Type="http://schemas.openxmlformats.org/officeDocument/2006/relationships/slide"/><Relationship Id="rId48" Target="slides/slide42.xml" Type="http://schemas.openxmlformats.org/officeDocument/2006/relationships/slide"/><Relationship Id="rId14" Target="slides/slide8.xml" Type="http://schemas.openxmlformats.org/officeDocument/2006/relationships/slide"/><Relationship Id="rId10" Target="slides/slide4.xml" Type="http://schemas.openxmlformats.org/officeDocument/2006/relationships/slide"/><Relationship Id="rId44" Target="slides/slide38.xml" Type="http://schemas.openxmlformats.org/officeDocument/2006/relationships/slide"/><Relationship Id="rId43" Target="slides/slide37.xml" Type="http://schemas.openxmlformats.org/officeDocument/2006/relationships/slide"/><Relationship Id="rId42" Target="slides/slide36.xml" Type="http://schemas.openxmlformats.org/officeDocument/2006/relationships/slide"/><Relationship Id="rId41" Target="slides/slide35.xml" Type="http://schemas.openxmlformats.org/officeDocument/2006/relationships/slide"/><Relationship Id="rId9" Target="slides/slide3.xml" Type="http://schemas.openxmlformats.org/officeDocument/2006/relationships/slide"/><Relationship Id="rId40" Target="slides/slide34.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57" Target="slides/slide51.xml" Type="http://schemas.openxmlformats.org/officeDocument/2006/relationships/slide"/><Relationship Id="rId23" Target="slides/slide17.xml" Type="http://schemas.openxmlformats.org/officeDocument/2006/relationships/slide"/><Relationship Id="rId29" Target="slides/slide23.xml" Type="http://schemas.openxmlformats.org/officeDocument/2006/relationships/slide"/><Relationship Id="rId56" Target="slides/slide50.xml" Type="http://schemas.openxmlformats.org/officeDocument/2006/relationships/slide"/><Relationship Id="rId22" Target="slides/slide16.xml" Type="http://schemas.openxmlformats.org/officeDocument/2006/relationships/slide"/><Relationship Id="rId28" Target="slides/slide22.xml" Type="http://schemas.openxmlformats.org/officeDocument/2006/relationships/slid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7200"/>
          </a:xfrm>
          <a:prstGeom prst="rect">
            <a:avLst/>
          </a:prstGeom>
        </p:spPr>
        <p:txBody>
          <a:bodyPr bIns="45720" lIns="91440" numCol="1"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7200"/>
          </a:xfrm>
          <a:prstGeom prst="rect">
            <a:avLst/>
          </a:prstGeom>
        </p:spPr>
        <p:txBody>
          <a:bodyPr bIns="45720" lIns="91440" numCol="1" rIns="91440" rtlCol="0" tIns="45720" vert="horz"/>
          <a:lstStyle>
            <a:lvl1pPr algn="r">
              <a:defRPr sz="1200"/>
            </a:lvl1pPr>
          </a:lstStyle>
          <a:p>
            <a:fld id="{39450642-8D12-4640-9170-D6C66D49857E}" type="datetimeFigureOut">
              <a:rPr lang="en-US" smtClean="0"/>
              <a:pPr/>
              <a:t>4/8/2026</a:t>
            </a:fld>
            <a:endParaRPr lang="en-US"/>
          </a:p>
        </p:txBody>
      </p:sp>
      <p:sp>
        <p:nvSpPr>
          <p:cNvPr id="4" name="Slide Image Placeholder 3"/>
          <p:cNvSpPr>
            <a:spLocks noChangeAspect="1" noGrp="1" noRot="1"/>
          </p:cNvSpPr>
          <p:nvPr>
            <p:ph idx="2" type="sldImg"/>
          </p:nvPr>
        </p:nvSpPr>
        <p:spPr>
          <a:xfrm>
            <a:off x="1143000" y="685800"/>
            <a:ext cx="4572000" cy="3429000"/>
          </a:xfrm>
          <a:prstGeom prst="rect">
            <a:avLst/>
          </a:prstGeom>
          <a:noFill/>
          <a:ln w="12700">
            <a:solidFill>
              <a:prstClr val="black"/>
            </a:solidFill>
          </a:ln>
        </p:spPr>
        <p:txBody>
          <a:bodyPr anchor="ctr" bIns="45720" lIns="91440" numCol="1" rIns="91440" rtlCol="0" tIns="45720" vert="horz"/>
          <a:lstStyle/>
          <a:p>
            <a:endParaRPr lang="en-US"/>
          </a:p>
        </p:txBody>
      </p:sp>
      <p:sp>
        <p:nvSpPr>
          <p:cNvPr id="5" name="Notes Placeholder 4"/>
          <p:cNvSpPr>
            <a:spLocks noGrp="1"/>
          </p:cNvSpPr>
          <p:nvPr>
            <p:ph idx="3" sz="quarter" type="body"/>
          </p:nvPr>
        </p:nvSpPr>
        <p:spPr>
          <a:xfrm>
            <a:off x="685800" y="4343400"/>
            <a:ext cx="5486400" cy="4114800"/>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7200"/>
          </a:xfrm>
          <a:prstGeom prst="rect">
            <a:avLst/>
          </a:prstGeom>
        </p:spPr>
        <p:txBody>
          <a:bodyPr anchor="b" bIns="45720" lIns="91440" numCol="1"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7200"/>
          </a:xfrm>
          <a:prstGeom prst="rect">
            <a:avLst/>
          </a:prstGeom>
        </p:spPr>
        <p:txBody>
          <a:bodyPr anchor="b" bIns="45720" lIns="91440" numCol="1" rIns="91440" rtlCol="0" tIns="45720" vert="horz"/>
          <a:lstStyle>
            <a:lvl1pPr algn="r">
              <a:defRPr sz="1200"/>
            </a:lvl1pPr>
          </a:lstStyle>
          <a:p>
            <a:fld id="{FD677EDA-1B90-43CC-BCBF-E66EDF97A447}" type="slidenum">
              <a:rPr lang="en-US" smtClean="0"/>
              <a:pPr/>
              <a:t>‹#›</a:t>
            </a:fld>
            <a:endParaRPr lang="en-US"/>
          </a:p>
        </p:txBody>
      </p:sp>
    </p:spTree>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arget="../slides/slide2.xml" Type="http://schemas.openxmlformats.org/officeDocument/2006/relationships/slide"/><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normAutofit/>
          </a:bodyPr>
          <a:lstStyle/>
          <a:p>
            <a:pPr algn="l" defTabSz="914400" eaLnBrk="1" hangingPunct="1" indent="0" latinLnBrk="0" marL="0" marR="0" rtl="0">
              <a:lnSpc>
                <a:spcPct val="100000"/>
              </a:lnSpc>
              <a:spcBef>
                <a:spcPts val="0"/>
              </a:spcBef>
              <a:spcAft>
                <a:spcPts val="0"/>
              </a:spcAft>
              <a:buClrTx/>
              <a:buSzTx/>
              <a:buFontTx/>
              <a:buNone/>
              <a:tabLst/>
              <a:defRPr/>
            </a:pPr>
            <a:r>
              <a:rPr dirty="0" lang="en-US" smtClean="0" sz="1200"/>
              <a:t>In addition, </a:t>
            </a:r>
            <a:r>
              <a:rPr dirty="0" err="1" lang="en-US" smtClean="0" sz="1200"/>
              <a:t>MongoDB</a:t>
            </a:r>
            <a:r>
              <a:rPr dirty="0" lang="en-US" smtClean="0" sz="1200"/>
              <a:t> can return sorted results using the ordering in the index.</a:t>
            </a:r>
          </a:p>
          <a:p>
            <a:endParaRPr dirty="0" lang="en-US"/>
          </a:p>
        </p:txBody>
      </p:sp>
      <p:sp>
        <p:nvSpPr>
          <p:cNvPr id="4" name="Slide Number Placeholder 3"/>
          <p:cNvSpPr>
            <a:spLocks noGrp="1"/>
          </p:cNvSpPr>
          <p:nvPr>
            <p:ph idx="10" sz="quarter" type="sldNum"/>
          </p:nvPr>
        </p:nvSpPr>
        <p:spPr/>
        <p:txBody>
          <a:bodyPr numCol="1"/>
          <a:lstStyle/>
          <a:p>
            <a:fld id="{FD677EDA-1B90-43CC-BCBF-E66EDF97A447}"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numCol="1"/>
          <a:lstStyle/>
          <a:p>
            <a:r>
              <a:rPr lang="en-US" smtClean="0"/>
              <a:t>Click to edit Master title style</a:t>
            </a:r>
            <a:endParaRPr lang="en-US"/>
          </a:p>
        </p:txBody>
      </p:sp>
      <p:sp>
        <p:nvSpPr>
          <p:cNvPr id="3" name="Subtitle 2"/>
          <p:cNvSpPr>
            <a:spLocks noGrp="1"/>
          </p:cNvSpPr>
          <p:nvPr>
            <p:ph idx="1" type="subTitle"/>
          </p:nvPr>
        </p:nvSpPr>
        <p:spPr>
          <a:xfrm>
            <a:off x="1371600" y="3886200"/>
            <a:ext cx="6400800" cy="1752600"/>
          </a:xfrm>
        </p:spPr>
        <p:txBody>
          <a:bodyPr numCol="1"/>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p:nvPr>
        </p:nvSpPr>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numCol="1"/>
          <a:lstStyle>
            <a:lvl1pPr algn="l">
              <a:defRPr b="1" cap="all" sz="4000"/>
            </a:lvl1pPr>
          </a:lstStyle>
          <a:p>
            <a:r>
              <a:rPr lang="en-US" smtClean="0"/>
              <a:t>Click to edit Master title style</a:t>
            </a:r>
            <a:endParaRPr lang="en-US"/>
          </a:p>
        </p:txBody>
      </p:sp>
      <p:sp>
        <p:nvSpPr>
          <p:cNvPr id="3" name="Text Placeholder 2"/>
          <p:cNvSpPr>
            <a:spLocks noGrp="1"/>
          </p:cNvSpPr>
          <p:nvPr>
            <p:ph idx="1" type="body"/>
          </p:nvPr>
        </p:nvSpPr>
        <p:spPr>
          <a:xfrm>
            <a:off x="722313" y="2906713"/>
            <a:ext cx="7772400" cy="1500187"/>
          </a:xfrm>
        </p:spPr>
        <p:txBody>
          <a:bodyPr anchor="b" numCol="1"/>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sz="half"/>
          </p:nvPr>
        </p:nvSpPr>
        <p:spPr>
          <a:xfrm>
            <a:off x="457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idx="2" sz="half"/>
          </p:nvPr>
        </p:nvSpPr>
        <p:spPr>
          <a:xfrm>
            <a:off x="4648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lvl1pPr>
          </a:lstStyle>
          <a:p>
            <a:r>
              <a:rPr lang="en-US" smtClean="0"/>
              <a:t>Click to edit Master title style</a:t>
            </a:r>
            <a:endParaRPr lang="en-US"/>
          </a:p>
        </p:txBody>
      </p:sp>
      <p:sp>
        <p:nvSpPr>
          <p:cNvPr id="3" name="Text Placeholder 2"/>
          <p:cNvSpPr>
            <a:spLocks noGrp="1"/>
          </p:cNvSpPr>
          <p:nvPr>
            <p:ph idx="1" type="body"/>
          </p:nvPr>
        </p:nvSpPr>
        <p:spPr>
          <a:xfrm>
            <a:off x="457200" y="1535113"/>
            <a:ext cx="4040188"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4" name="Content Placeholder 3"/>
          <p:cNvSpPr>
            <a:spLocks noGrp="1"/>
          </p:cNvSpPr>
          <p:nvPr>
            <p:ph idx="2" sz="half"/>
          </p:nvPr>
        </p:nvSpPr>
        <p:spPr>
          <a:xfrm>
            <a:off x="457200" y="2174875"/>
            <a:ext cx="4040188"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idx="3" sz="quarter" type="body"/>
          </p:nvPr>
        </p:nvSpPr>
        <p:spPr>
          <a:xfrm>
            <a:off x="4645025" y="1535113"/>
            <a:ext cx="4041775"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6" name="Content Placeholder 5"/>
          <p:cNvSpPr>
            <a:spLocks noGrp="1"/>
          </p:cNvSpPr>
          <p:nvPr>
            <p:ph idx="4" sz="quarter"/>
          </p:nvPr>
        </p:nvSpPr>
        <p:spPr>
          <a:xfrm>
            <a:off x="4645025" y="2174875"/>
            <a:ext cx="4041775"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8" name="Footer Placeholder 7"/>
          <p:cNvSpPr>
            <a:spLocks noGrp="1"/>
          </p:cNvSpPr>
          <p:nvPr>
            <p:ph idx="11" sz="quarter" type="ftr"/>
          </p:nvPr>
        </p:nvSpPr>
        <p:spPr/>
        <p:txBody>
          <a:bodyPr numCol="1"/>
          <a:lstStyle/>
          <a:p>
            <a:endParaRPr lang="en-US"/>
          </a:p>
        </p:txBody>
      </p:sp>
      <p:sp>
        <p:nvSpPr>
          <p:cNvPr id="9" name="Slide Number Placeholder 8"/>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Date Placeholder 2"/>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4" name="Footer Placeholder 3"/>
          <p:cNvSpPr>
            <a:spLocks noGrp="1"/>
          </p:cNvSpPr>
          <p:nvPr>
            <p:ph idx="11" sz="quarter" type="ftr"/>
          </p:nvPr>
        </p:nvSpPr>
        <p:spPr/>
        <p:txBody>
          <a:bodyPr numCol="1"/>
          <a:lstStyle/>
          <a:p>
            <a:endParaRPr lang="en-US"/>
          </a:p>
        </p:txBody>
      </p:sp>
      <p:sp>
        <p:nvSpPr>
          <p:cNvPr id="5" name="Slide Number Placeholder 4"/>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 name=""/>
        <p:cNvGrpSpPr/>
        <p:nvPr/>
      </p:nvGrpSpPr>
      <p:grpSpPr>
        <a:xfrm>
          <a:off x="0" y="0"/>
          <a:ext cx="0" cy="0"/>
          <a:chOff x="0" y="0"/>
          <a:chExt cx="0" cy="0"/>
        </a:xfrm>
      </p:grpSpPr>
      <p:sp>
        <p:nvSpPr>
          <p:cNvPr id="2" name="Date Placeholder 1"/>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3" name="Footer Placeholder 2"/>
          <p:cNvSpPr>
            <a:spLocks noGrp="1"/>
          </p:cNvSpPr>
          <p:nvPr>
            <p:ph idx="11" sz="quarter" type="ftr"/>
          </p:nvPr>
        </p:nvSpPr>
        <p:spPr/>
        <p:txBody>
          <a:bodyPr numCol="1"/>
          <a:lstStyle/>
          <a:p>
            <a:endParaRPr lang="en-US"/>
          </a:p>
        </p:txBody>
      </p:sp>
      <p:sp>
        <p:nvSpPr>
          <p:cNvPr id="4" name="Slide Number Placeholder 3"/>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numCol="1"/>
          <a:lstStyle>
            <a:lvl1pPr algn="l">
              <a:defRPr b="1" sz="2000"/>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idx="2" sz="half" type="body"/>
          </p:nvPr>
        </p:nvSpPr>
        <p:spPr>
          <a:xfrm>
            <a:off x="457200" y="1435100"/>
            <a:ext cx="3008313" cy="4691063"/>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numCol="1"/>
          <a:lstStyle>
            <a:lvl1pPr algn="l">
              <a:defRPr b="1" sz="2000"/>
            </a:lvl1pPr>
          </a:lstStyle>
          <a:p>
            <a:r>
              <a:rPr lang="en-US" smtClean="0"/>
              <a:t>Click to edit Master title style</a:t>
            </a:r>
            <a:endParaRPr lang="en-US"/>
          </a:p>
        </p:txBody>
      </p:sp>
      <p:sp>
        <p:nvSpPr>
          <p:cNvPr id="3" name="Picture Placeholder 2"/>
          <p:cNvSpPr>
            <a:spLocks noGrp="1"/>
          </p:cNvSpPr>
          <p:nvPr>
            <p:ph idx="1" type="pic"/>
          </p:nvPr>
        </p:nvSpPr>
        <p:spPr>
          <a:xfrm>
            <a:off x="1792288" y="612775"/>
            <a:ext cx="5486400" cy="4114800"/>
          </a:xfrm>
        </p:spPr>
        <p:txBody>
          <a:bodyPr numCol="1"/>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4" name="Text Placeholder 3"/>
          <p:cNvSpPr>
            <a:spLocks noGrp="1"/>
          </p:cNvSpPr>
          <p:nvPr>
            <p:ph idx="2" sz="half" type="body"/>
          </p:nvPr>
        </p:nvSpPr>
        <p:spPr>
          <a:xfrm>
            <a:off x="1792288" y="5367338"/>
            <a:ext cx="5486400" cy="804862"/>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Vertical Text Placeholder 2"/>
          <p:cNvSpPr>
            <a:spLocks noGrp="1"/>
          </p:cNvSpPr>
          <p:nvPr>
            <p:ph idx="1" orient="vert" type="body"/>
          </p:nvPr>
        </p:nvSpPr>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orient="vert" type="title"/>
          </p:nvPr>
        </p:nvSpPr>
        <p:spPr>
          <a:xfrm>
            <a:off x="6629400" y="274638"/>
            <a:ext cx="2057400" cy="5851525"/>
          </a:xfrm>
        </p:spPr>
        <p:txBody>
          <a:bodyPr numCol="1" vert="eaVert"/>
          <a:lstStyle/>
          <a:p>
            <a:r>
              <a:rPr lang="en-US" smtClean="0"/>
              <a:t>Click to edit Master title style</a:t>
            </a:r>
            <a:endParaRPr lang="en-US"/>
          </a:p>
        </p:txBody>
      </p:sp>
      <p:sp>
        <p:nvSpPr>
          <p:cNvPr id="3" name="Vertical Text Placeholder 2"/>
          <p:cNvSpPr>
            <a:spLocks noGrp="1"/>
          </p:cNvSpPr>
          <p:nvPr>
            <p:ph idx="1" orient="vert" type="body"/>
          </p:nvPr>
        </p:nvSpPr>
        <p:spPr>
          <a:xfrm>
            <a:off x="457200" y="274638"/>
            <a:ext cx="6019800" cy="5851525"/>
          </a:xfrm>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F76306DD-33F5-415F-B1EF-10D50451FFCE}" type="datetimeFigureOut">
              <a:rPr lang="en-US" smtClean="0"/>
              <a:pPr/>
              <a:t>4/8/2026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A8749B4-BF41-48EC-9F7F-BFFB37F9DE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numCol="1"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numCol="1" rIns="91440" rtlCol="0" tIns="45720" vert="horz"/>
          <a:lstStyle>
            <a:lvl1pPr algn="l">
              <a:defRPr sz="1200">
                <a:solidFill>
                  <a:schemeClr val="tx1">
                    <a:tint val="75000"/>
                  </a:schemeClr>
                </a:solidFill>
              </a:defRPr>
            </a:lvl1pPr>
          </a:lstStyle>
          <a:p>
            <a:fld id="{F76306DD-33F5-415F-B1EF-10D50451FFCE}" type="datetimeFigureOut">
              <a:rPr lang="en-US" smtClean="0"/>
              <a:pPr/>
              <a:t>4/8/2026</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numCol="1"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numCol="1" rIns="91440" rtlCol="0" tIns="45720" vert="horz"/>
          <a:lstStyle>
            <a:lvl1pPr algn="r">
              <a:defRPr sz="1200">
                <a:solidFill>
                  <a:schemeClr val="tx1">
                    <a:tint val="75000"/>
                  </a:schemeClr>
                </a:solidFill>
              </a:defRPr>
            </a:lvl1pPr>
          </a:lstStyle>
          <a:p>
            <a:fld id="{7A8749B4-BF41-48EC-9F7F-BFFB37F9DEA4}" type="slidenum">
              <a:rPr lang="en-US" smtClean="0"/>
              <a:pPr/>
              <a:t>‹#›</a:t>
            </a:fld>
            <a:endParaRPr lang="en-US"/>
          </a:p>
        </p:txBody>
      </p:sp>
    </p:spTree>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ctr" defTabSz="914400" eaLnBrk="1" hangingPunct="1" latinLnBrk="0" rtl="0">
        <a:spcBef>
          <a:spcPct val="0"/>
        </a:spcBef>
        <a:buNone/>
        <a:defRPr kern="1200" sz="4400">
          <a:solidFill>
            <a:schemeClr val="tx1"/>
          </a:solidFill>
          <a:latin typeface="+mj-lt"/>
          <a:ea typeface="+mj-ea"/>
          <a:cs typeface="+mj-cs"/>
        </a:defRPr>
      </a:lvl1pPr>
    </p:titleStyle>
    <p:bodyStyle>
      <a:lvl1pPr algn="l" defTabSz="914400" eaLnBrk="1" hangingPunct="1" indent="-342900" latinLnBrk="0" marL="342900" rtl="0">
        <a:spcBef>
          <a:spcPct val="20000"/>
        </a:spcBef>
        <a:buFont charset="0" pitchFamily="34" typeface="Arial"/>
        <a:buChar char="•"/>
        <a:defRPr kern="1200" sz="3200">
          <a:solidFill>
            <a:schemeClr val="tx1"/>
          </a:solidFill>
          <a:latin typeface="+mn-lt"/>
          <a:ea typeface="+mn-ea"/>
          <a:cs typeface="+mn-cs"/>
        </a:defRPr>
      </a:lvl1pPr>
      <a:lvl2pPr algn="l" defTabSz="914400" eaLnBrk="1" hangingPunct="1" indent="-285750" latinLnBrk="0" marL="742950" rtl="0">
        <a:spcBef>
          <a:spcPct val="20000"/>
        </a:spcBef>
        <a:buFont charset="0" pitchFamily="34" typeface="Arial"/>
        <a:buChar char="–"/>
        <a:defRPr kern="1200" sz="2800">
          <a:solidFill>
            <a:schemeClr val="tx1"/>
          </a:solidFill>
          <a:latin typeface="+mn-lt"/>
          <a:ea typeface="+mn-ea"/>
          <a:cs typeface="+mn-cs"/>
        </a:defRPr>
      </a:lvl2pPr>
      <a:lvl3pPr algn="l" defTabSz="914400" eaLnBrk="1" hangingPunct="1" indent="-228600" latinLnBrk="0" marL="1143000" rtl="0">
        <a:spcBef>
          <a:spcPct val="20000"/>
        </a:spcBef>
        <a:buFont charset="0" pitchFamily="34" typeface="Arial"/>
        <a:buChar char="•"/>
        <a:defRPr kern="1200" sz="2400">
          <a:solidFill>
            <a:schemeClr val="tx1"/>
          </a:solidFill>
          <a:latin typeface="+mn-lt"/>
          <a:ea typeface="+mn-ea"/>
          <a:cs typeface="+mn-cs"/>
        </a:defRPr>
      </a:lvl3pPr>
      <a:lvl4pPr algn="l" defTabSz="914400" eaLnBrk="1" hangingPunct="1" indent="-228600" latinLnBrk="0" marL="1600200" rtl="0">
        <a:spcBef>
          <a:spcPct val="20000"/>
        </a:spcBef>
        <a:buFont charset="0" pitchFamily="34" typeface="Arial"/>
        <a:buChar char="–"/>
        <a:defRPr kern="1200" sz="2000">
          <a:solidFill>
            <a:schemeClr val="tx1"/>
          </a:solidFill>
          <a:latin typeface="+mn-lt"/>
          <a:ea typeface="+mn-ea"/>
          <a:cs typeface="+mn-cs"/>
        </a:defRPr>
      </a:lvl4pPr>
      <a:lvl5pPr algn="l" defTabSz="914400" eaLnBrk="1" hangingPunct="1" indent="-228600" latinLnBrk="0" marL="2057400" rtl="0">
        <a:spcBef>
          <a:spcPct val="20000"/>
        </a:spcBef>
        <a:buFont charset="0" pitchFamily="34" typeface="Arial"/>
        <a:buChar char="»"/>
        <a:defRPr kern="1200" sz="2000">
          <a:solidFill>
            <a:schemeClr val="tx1"/>
          </a:solidFill>
          <a:latin typeface="+mn-lt"/>
          <a:ea typeface="+mn-ea"/>
          <a:cs typeface="+mn-cs"/>
        </a:defRPr>
      </a:lvl5pPr>
      <a:lvl6pPr algn="l" defTabSz="914400" eaLnBrk="1" hangingPunct="1" indent="-228600" latinLnBrk="0" marL="2514600" rtl="0">
        <a:spcBef>
          <a:spcPct val="20000"/>
        </a:spcBef>
        <a:buFont charset="0"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itchFamily="34" typeface="Arial"/>
        <a:buChar char="•"/>
        <a:defRPr kern="1200" sz="20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2" Target="../notesSlides/notesSlide1.xml" Type="http://schemas.openxmlformats.org/officeDocument/2006/relationships/notesSlide"/><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4" Target="../media/image3.png" Type="http://schemas.openxmlformats.org/officeDocument/2006/relationships/image"/><Relationship Id="rId3" Target="../media/image2.png" Type="http://schemas.openxmlformats.org/officeDocument/2006/relationships/image"/><Relationship Id="rId2" Target="../media/image1.pn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4.png" Type="http://schemas.openxmlformats.org/officeDocument/2006/relationships/image"/><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5.png" Type="http://schemas.openxmlformats.org/officeDocument/2006/relationships/image"/><Relationship Id="rId1" Target="../slideLayouts/slideLayout7.xml" Type="http://schemas.openxmlformats.org/officeDocument/2006/relationships/slideLayout"/></Relationships>
</file>

<file path=ppt/slides/_rels/slide8.xml.rels><?xml version="1.0" encoding="UTF-8" standalone="yes"?><Relationships xmlns="http://schemas.openxmlformats.org/package/2006/relationships"><Relationship Id="rId2" Target="../media/image6.png" Type="http://schemas.openxmlformats.org/officeDocument/2006/relationships/image"/><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7.png" Type="http://schemas.openxmlformats.org/officeDocument/2006/relationships/imag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6" Target="../media/image12.png" Type="http://schemas.openxmlformats.org/officeDocument/2006/relationships/image"/><Relationship Id="rId5" Target="../media/image11.png" Type="http://schemas.openxmlformats.org/officeDocument/2006/relationships/image"/><Relationship Id="rId4" Target="../media/image10.png" Type="http://schemas.openxmlformats.org/officeDocument/2006/relationships/image"/><Relationship Id="rId3" Target="../media/image9.png" Type="http://schemas.openxmlformats.org/officeDocument/2006/relationships/image"/><Relationship Id="rId2" Target="../media/image8.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3" Target="../media/image14.png" Type="http://schemas.openxmlformats.org/officeDocument/2006/relationships/image"/><Relationship Id="rId2" Target="../media/image13.png" Type="http://schemas.openxmlformats.org/officeDocument/2006/relationships/image"/><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4" Target="../media/image17.png" Type="http://schemas.openxmlformats.org/officeDocument/2006/relationships/image"/><Relationship Id="rId3" Target="../media/image16.png" Type="http://schemas.openxmlformats.org/officeDocument/2006/relationships/image"/><Relationship Id="rId2" Target="../media/image15.png" Type="http://schemas.openxmlformats.org/officeDocument/2006/relationships/image"/><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4" Target="../media/image15.png" Type="http://schemas.openxmlformats.org/officeDocument/2006/relationships/image"/><Relationship Id="rId3" Target="../media/image19.png" Type="http://schemas.openxmlformats.org/officeDocument/2006/relationships/image"/><Relationship Id="rId2" Target="../media/image18.png" Type="http://schemas.openxmlformats.org/officeDocument/2006/relationships/imag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7" Target="../media/image25.png" Type="http://schemas.openxmlformats.org/officeDocument/2006/relationships/image"/><Relationship Id="rId6" Target="../media/image24.png" Type="http://schemas.openxmlformats.org/officeDocument/2006/relationships/image"/><Relationship Id="rId5" Target="../media/image23.png" Type="http://schemas.openxmlformats.org/officeDocument/2006/relationships/image"/><Relationship Id="rId4" Target="../media/image22.png" Type="http://schemas.openxmlformats.org/officeDocument/2006/relationships/image"/><Relationship Id="rId3" Target="../media/image21.png" Type="http://schemas.openxmlformats.org/officeDocument/2006/relationships/image"/><Relationship Id="rId2" Target="../media/image20.png" Type="http://schemas.openxmlformats.org/officeDocument/2006/relationships/image"/><Relationship Id="rId1" Target="../slideLayouts/slideLayout2.xml" Type="http://schemas.openxmlformats.org/officeDocument/2006/relationships/slideLayout"/></Relationships>
</file>

<file path=ppt/slides/_rels/slide17.xml.rels><?xml version="1.0" encoding="UTF-8" standalone="yes"?><Relationships xmlns="http://schemas.openxmlformats.org/package/2006/relationships"><Relationship Id="rId2" Target="../media/image26.png" Type="http://schemas.openxmlformats.org/officeDocument/2006/relationships/image"/><Relationship Id="rId1" Target="../slideLayouts/slideLayout2.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27.png" Type="http://schemas.openxmlformats.org/officeDocument/2006/relationships/image"/><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6" Target="../media/image32.png" Type="http://schemas.openxmlformats.org/officeDocument/2006/relationships/image"/><Relationship Id="rId5" Target="../media/image31.png" Type="http://schemas.openxmlformats.org/officeDocument/2006/relationships/image"/><Relationship Id="rId4" Target="../media/image30.png" Type="http://schemas.openxmlformats.org/officeDocument/2006/relationships/image"/><Relationship Id="rId3" Target="../media/image29.png" Type="http://schemas.openxmlformats.org/officeDocument/2006/relationships/image"/><Relationship Id="rId2" Target="../media/image28.png" Type="http://schemas.openxmlformats.org/officeDocument/2006/relationships/image"/><Relationship Id="rId1" Target="../slideLayouts/slideLayout2.xml" Type="http://schemas.openxmlformats.org/officeDocument/2006/relationships/slideLayout"/></Relationships>
</file>

<file path=ppt/slides/_rels/slide20.xml.rels><?xml version="1.0" encoding="UTF-8" standalone="yes"?><Relationships xmlns="http://schemas.openxmlformats.org/package/2006/relationships"><Relationship Id="rId5" Target="../media/image36.png" Type="http://schemas.openxmlformats.org/officeDocument/2006/relationships/image"/><Relationship Id="rId4" Target="../media/image35.png" Type="http://schemas.openxmlformats.org/officeDocument/2006/relationships/image"/><Relationship Id="rId3" Target="../media/image34.png" Type="http://schemas.openxmlformats.org/officeDocument/2006/relationships/image"/><Relationship Id="rId2" Target="../media/image33.png" Type="http://schemas.openxmlformats.org/officeDocument/2006/relationships/image"/><Relationship Id="rId1" Target="../slideLayouts/slideLayout2.xml" Type="http://schemas.openxmlformats.org/officeDocument/2006/relationships/slideLayout"/></Relationships>
</file>

<file path=ppt/slides/_rels/slide2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<Relationships xmlns="http://schemas.openxmlformats.org/package/2006/relationships"><Relationship Id="rId4" Target="../media/image39.png" Type="http://schemas.openxmlformats.org/officeDocument/2006/relationships/image"/><Relationship Id="rId3" Target="../media/image38.png" Type="http://schemas.openxmlformats.org/officeDocument/2006/relationships/image"/><Relationship Id="rId2" Target="../media/image37.png" Type="http://schemas.openxmlformats.org/officeDocument/2006/relationships/image"/><Relationship Id="rId1" Target="../slideLayouts/slideLayout2.xml" Type="http://schemas.openxmlformats.org/officeDocument/2006/relationships/slideLayout"/></Relationships>
</file>

<file path=ppt/slides/_rels/slide23.xml.rels><?xml version="1.0" encoding="UTF-8" standalone="yes"?><Relationships xmlns="http://schemas.openxmlformats.org/package/2006/relationships"><Relationship Id="rId3" Target="../media/image41.png" Type="http://schemas.openxmlformats.org/officeDocument/2006/relationships/image"/><Relationship Id="rId2" Target="../media/image40.png" Type="http://schemas.openxmlformats.org/officeDocument/2006/relationships/image"/><Relationship Id="rId1" Target="../slideLayouts/slideLayout2.xml" Type="http://schemas.openxmlformats.org/officeDocument/2006/relationships/slideLayout"/></Relationships>
</file>

<file path=ppt/slides/_rels/slide24.xml.rels><?xml version="1.0" encoding="UTF-8" standalone="yes"?><Relationships xmlns="http://schemas.openxmlformats.org/package/2006/relationships"><Relationship Id="rId3" Target="../media/image43.png" Type="http://schemas.openxmlformats.org/officeDocument/2006/relationships/image"/><Relationship Id="rId2" Target="../media/image42.png" Type="http://schemas.openxmlformats.org/officeDocument/2006/relationships/image"/><Relationship Id="rId1" Target="../slideLayouts/slideLayout2.xml" Type="http://schemas.openxmlformats.org/officeDocument/2006/relationships/slideLayout"/></Relationships>
</file>

<file path=ppt/slides/_rels/slide25.xml.rels><?xml version="1.0" encoding="UTF-8" standalone="yes"?><Relationships xmlns="http://schemas.openxmlformats.org/package/2006/relationships"><Relationship Id="rId5" Target="../media/image47.png" Type="http://schemas.openxmlformats.org/officeDocument/2006/relationships/image"/><Relationship Id="rId4" Target="../media/image46.png" Type="http://schemas.openxmlformats.org/officeDocument/2006/relationships/image"/><Relationship Id="rId3" Target="../media/image45.png" Type="http://schemas.openxmlformats.org/officeDocument/2006/relationships/image"/><Relationship Id="rId2" Target="../media/image44.png" Type="http://schemas.openxmlformats.org/officeDocument/2006/relationships/image"/><Relationship Id="rId1" Target="../slideLayouts/slideLayout2.xml" Type="http://schemas.openxmlformats.org/officeDocument/2006/relationships/slideLayout"/></Relationships>
</file>

<file path=ppt/slides/_rels/slide26.xml.rels><?xml version="1.0" encoding="UTF-8" standalone="yes"?><Relationships xmlns="http://schemas.openxmlformats.org/package/2006/relationships"><Relationship Id="rId3" Target="../media/image49.png" Type="http://schemas.openxmlformats.org/officeDocument/2006/relationships/image"/><Relationship Id="rId2" Target="../media/image48.png" Type="http://schemas.openxmlformats.org/officeDocument/2006/relationships/image"/><Relationship Id="rId1" Target="../slideLayouts/slideLayout2.xml" Type="http://schemas.openxmlformats.org/officeDocument/2006/relationships/slideLayout"/></Relationships>
</file>

<file path=ppt/slides/_rels/slide27.xml.rels><?xml version="1.0" encoding="UTF-8" standalone="yes"?><Relationships xmlns="http://schemas.openxmlformats.org/package/2006/relationships"><Relationship Id="rId2" Target="../media/image50.png" Type="http://schemas.openxmlformats.org/officeDocument/2006/relationships/image"/><Relationship Id="rId1" Target="../slideLayouts/slideLayout2.xml" Type="http://schemas.openxmlformats.org/officeDocument/2006/relationships/slideLayout"/></Relationships>
</file>

<file path=ppt/slides/_rels/slide2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<Relationships xmlns="http://schemas.openxmlformats.org/package/2006/relationships"><Relationship Id="rId5" Target="../media/image54.png" Type="http://schemas.openxmlformats.org/officeDocument/2006/relationships/image"/><Relationship Id="rId4" Target="../media/image53.png" Type="http://schemas.openxmlformats.org/officeDocument/2006/relationships/image"/><Relationship Id="rId3" Target="../media/image52.png" Type="http://schemas.openxmlformats.org/officeDocument/2006/relationships/image"/><Relationship Id="rId2" Target="../media/image51.png" Type="http://schemas.openxmlformats.org/officeDocument/2006/relationships/image"/><Relationship Id="rId1" Target="../slideLayouts/slideLayout2.xml" Type="http://schemas.openxmlformats.org/officeDocument/2006/relationships/slideLayout"/></Relationships>
</file>

<file path=ppt/slides/_rels/slide30.xml.rels><?xml version="1.0" encoding="UTF-8" standalone="yes"?><Relationships xmlns="http://schemas.openxmlformats.org/package/2006/relationships"><Relationship Id="rId2" Target="../media/image55.png" Type="http://schemas.openxmlformats.org/officeDocument/2006/relationships/image"/><Relationship Id="rId1" Target="../slideLayouts/slideLayout2.xml" Type="http://schemas.openxmlformats.org/officeDocument/2006/relationships/slideLayout"/></Relationships>
</file>

<file path=ppt/slides/_rels/slide31.xml.rels><?xml version="1.0" encoding="UTF-8" standalone="yes"?><Relationships xmlns="http://schemas.openxmlformats.org/package/2006/relationships"><Relationship Id="rId5" Target="../media/image58.png" Type="http://schemas.openxmlformats.org/officeDocument/2006/relationships/image"/><Relationship Id="rId4" Target="../media/image57.png" Type="http://schemas.openxmlformats.org/officeDocument/2006/relationships/image"/><Relationship Id="rId3" Target="../media/image56.png" Type="http://schemas.openxmlformats.org/officeDocument/2006/relationships/image"/><Relationship Id="rId2" Target="../media/image51.png" Type="http://schemas.openxmlformats.org/officeDocument/2006/relationships/image"/><Relationship Id="rId1" Target="../slideLayouts/slideLayout2.xml" Type="http://schemas.openxmlformats.org/officeDocument/2006/relationships/slideLayout"/></Relationships>
</file>

<file path=ppt/slides/_rels/slide32.xml.rels><?xml version="1.0" encoding="UTF-8" standalone="yes"?><Relationships xmlns="http://schemas.openxmlformats.org/package/2006/relationships"><Relationship Id="rId2" Target="../media/image59.png" Type="http://schemas.openxmlformats.org/officeDocument/2006/relationships/image"/><Relationship Id="rId1" Target="../slideLayouts/slideLayout2.xml" Type="http://schemas.openxmlformats.org/officeDocument/2006/relationships/slideLayout"/></Relationships>
</file>

<file path=ppt/slides/_rels/slide33.xml.rels><?xml version="1.0" encoding="UTF-8" standalone="yes"?><Relationships xmlns="http://schemas.openxmlformats.org/package/2006/relationships"><Relationship Id="rId5" Target="../media/image63.png" Type="http://schemas.openxmlformats.org/officeDocument/2006/relationships/image"/><Relationship Id="rId4" Target="../media/image62.png" Type="http://schemas.openxmlformats.org/officeDocument/2006/relationships/image"/><Relationship Id="rId3" Target="../media/image61.png" Type="http://schemas.openxmlformats.org/officeDocument/2006/relationships/image"/><Relationship Id="rId2" Target="../media/image60.png" Type="http://schemas.openxmlformats.org/officeDocument/2006/relationships/image"/><Relationship Id="rId1" Target="../slideLayouts/slideLayout2.xml" Type="http://schemas.openxmlformats.org/officeDocument/2006/relationships/slideLayout"/></Relationships>
</file>

<file path=ppt/slides/_rels/slide34.xml.rels><?xml version="1.0" encoding="UTF-8" standalone="yes"?><Relationships xmlns="http://schemas.openxmlformats.org/package/2006/relationships"><Relationship Id="rId3" Target="../media/image61.png" Type="http://schemas.openxmlformats.org/officeDocument/2006/relationships/image"/><Relationship Id="rId2" Target="../media/image60.png" Type="http://schemas.openxmlformats.org/officeDocument/2006/relationships/image"/><Relationship Id="rId1" Target="../slideLayouts/slideLayout2.xml" Type="http://schemas.openxmlformats.org/officeDocument/2006/relationships/slideLayout"/></Relationships>
</file>

<file path=ppt/slides/_rels/slide35.xml.rels><?xml version="1.0" encoding="UTF-8" standalone="yes"?><Relationships xmlns="http://schemas.openxmlformats.org/package/2006/relationships"><Relationship Id="rId2" Target="../media/image64.png" Type="http://schemas.openxmlformats.org/officeDocument/2006/relationships/image"/><Relationship Id="rId1" Target="../slideLayouts/slideLayout2.xml" Type="http://schemas.openxmlformats.org/officeDocument/2006/relationships/slideLayout"/></Relationships>
</file>

<file path=ppt/slides/_rels/slide3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9.xml.rels><?xml version="1.0" encoding="UTF-8" standalone="yes"?><Relationships xmlns="http://schemas.openxmlformats.org/package/2006/relationships"><Relationship Id="rId2" Target="../media/image65.png" Type="http://schemas.openxmlformats.org/officeDocument/2006/relationships/image"/><Relationship Id="rId1" Target="../slideLayouts/slideLayout2.xml" Type="http://schemas.openxmlformats.org/officeDocument/2006/relationships/slideLayout"/></Relationships>
</file>

<file path=ppt/slides/_rels/slide40.xml.rels><?xml version="1.0" encoding="UTF-8" standalone="yes"?><Relationships xmlns="http://schemas.openxmlformats.org/package/2006/relationships"><Relationship Id="rId3" Target="../media/image67.png" Type="http://schemas.openxmlformats.org/officeDocument/2006/relationships/image"/><Relationship Id="rId2" Target="../media/image66.png" Type="http://schemas.openxmlformats.org/officeDocument/2006/relationships/image"/><Relationship Id="rId1" Target="../slideLayouts/slideLayout2.xml" Type="http://schemas.openxmlformats.org/officeDocument/2006/relationships/slideLayout"/></Relationships>
</file>

<file path=ppt/slides/_rels/slide41.xml.rels><?xml version="1.0" encoding="UTF-8" standalone="yes"?><Relationships xmlns="http://schemas.openxmlformats.org/package/2006/relationships"><Relationship Id="rId3" Target="../media/image69.png" Type="http://schemas.openxmlformats.org/officeDocument/2006/relationships/image"/><Relationship Id="rId2" Target="../media/image68.png" Type="http://schemas.openxmlformats.org/officeDocument/2006/relationships/image"/><Relationship Id="rId1" Target="../slideLayouts/slideLayout2.xml" Type="http://schemas.openxmlformats.org/officeDocument/2006/relationships/slideLayout"/></Relationships>
</file>

<file path=ppt/slides/_rels/slide4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<Relationships xmlns="http://schemas.openxmlformats.org/package/2006/relationships"><Relationship Id="rId4" Target="../media/image72.png" Type="http://schemas.openxmlformats.org/officeDocument/2006/relationships/image"/><Relationship Id="rId3" Target="../media/image71.png" Type="http://schemas.openxmlformats.org/officeDocument/2006/relationships/image"/><Relationship Id="rId2" Target="../media/image70.png" Type="http://schemas.openxmlformats.org/officeDocument/2006/relationships/image"/><Relationship Id="rId1" Target="../slideLayouts/slideLayout2.xml" Type="http://schemas.openxmlformats.org/officeDocument/2006/relationships/slideLayout"/></Relationships>
</file>

<file path=ppt/slides/_rels/slide44.xml.rels><?xml version="1.0" encoding="UTF-8" standalone="yes"?><Relationships xmlns="http://schemas.openxmlformats.org/package/2006/relationships"><Relationship Id="rId6" Target="../media/image76.png" Type="http://schemas.openxmlformats.org/officeDocument/2006/relationships/image"/><Relationship Id="rId5" Target="../media/image75.png" Type="http://schemas.openxmlformats.org/officeDocument/2006/relationships/image"/><Relationship Id="rId4" Target="../media/image72.png" Type="http://schemas.openxmlformats.org/officeDocument/2006/relationships/image"/><Relationship Id="rId3" Target="../media/image74.png" Type="http://schemas.openxmlformats.org/officeDocument/2006/relationships/image"/><Relationship Id="rId2" Target="../media/image73.png" Type="http://schemas.openxmlformats.org/officeDocument/2006/relationships/image"/><Relationship Id="rId1" Target="../slideLayouts/slideLayout2.xml" Type="http://schemas.openxmlformats.org/officeDocument/2006/relationships/slideLayout"/></Relationships>
</file>

<file path=ppt/slides/_rels/slide45.xml.rels><?xml version="1.0" encoding="UTF-8" standalone="yes"?><Relationships xmlns="http://schemas.openxmlformats.org/package/2006/relationships"><Relationship Id="rId3" Target="../media/image78.png" Type="http://schemas.openxmlformats.org/officeDocument/2006/relationships/image"/><Relationship Id="rId2" Target="../media/image77.png" Type="http://schemas.openxmlformats.org/officeDocument/2006/relationships/image"/><Relationship Id="rId1" Target="../slideLayouts/slideLayout2.xml" Type="http://schemas.openxmlformats.org/officeDocument/2006/relationships/slideLayout"/></Relationships>
</file>

<file path=ppt/slides/_rels/slide46.xml.rels><?xml version="1.0" encoding="UTF-8" standalone="yes"?><Relationships xmlns="http://schemas.openxmlformats.org/package/2006/relationships"><Relationship Id="rId3" Target="../media/image80.png" Type="http://schemas.openxmlformats.org/officeDocument/2006/relationships/image"/><Relationship Id="rId2" Target="../media/image79.png" Type="http://schemas.openxmlformats.org/officeDocument/2006/relationships/image"/><Relationship Id="rId1" Target="../slideLayouts/slideLayout2.xml" Type="http://schemas.openxmlformats.org/officeDocument/2006/relationships/slideLayout"/></Relationships>
</file>

<file path=ppt/slides/_rels/slide4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8.xml.rels><?xml version="1.0" encoding="UTF-8" standalone="yes"?><Relationships xmlns="http://schemas.openxmlformats.org/package/2006/relationships"><Relationship Id="rId2" Target="../media/image81.png" Type="http://schemas.openxmlformats.org/officeDocument/2006/relationships/image"/><Relationship Id="rId1" Target="../slideLayouts/slideLayout2.xml" Type="http://schemas.openxmlformats.org/officeDocument/2006/relationships/slideLayout"/></Relationships>
</file>

<file path=ppt/slides/_rels/slide49.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<Relationships xmlns="http://schemas.openxmlformats.org/package/2006/relationships"><Relationship Id="rId3" Target="../media/image83.png" Type="http://schemas.openxmlformats.org/officeDocument/2006/relationships/image"/><Relationship Id="rId2" Target="../media/image82.png" Type="http://schemas.openxmlformats.org/officeDocument/2006/relationships/image"/><Relationship Id="rId1" Target="../slideLayouts/slideLayout2.xml" Type="http://schemas.openxmlformats.org/officeDocument/2006/relationships/slideLayout"/></Relationships>
</file>

<file path=ppt/slides/_rels/slide51.xml.rels><?xml version="1.0" encoding="UTF-8" standalone="yes"?><Relationships xmlns="http://schemas.openxmlformats.org/package/2006/relationships"><Relationship Id="rId2" Target="../media/image84.png" Type="http://schemas.openxmlformats.org/officeDocument/2006/relationships/image"/><Relationship Id="rId1" Target="../slideLayouts/slideLayout2.xml" Type="http://schemas.openxmlformats.org/officeDocument/2006/relationships/slideLayout"/></Relationships>
</file>

<file path=ppt/slides/_rels/slide52.xml.rels><?xml version="1.0" encoding="UTF-8" standalone="yes"?><Relationships xmlns="http://schemas.openxmlformats.org/package/2006/relationships"><Relationship Id="rId3" Target="../media/image86.png" Type="http://schemas.openxmlformats.org/officeDocument/2006/relationships/image"/><Relationship Id="rId2" Target="../media/image85.png" Type="http://schemas.openxmlformats.org/officeDocument/2006/relationships/image"/><Relationship Id="rId1" Target="../slideLayouts/slideLayout2.xml" Type="http://schemas.openxmlformats.org/officeDocument/2006/relationships/slideLayout"/></Relationships>
</file>

<file path=ppt/slides/_rels/slide53.xml.rels><?xml version="1.0" encoding="UTF-8" standalone="yes"?><Relationships xmlns="http://schemas.openxmlformats.org/package/2006/relationships"><Relationship Id="rId5" Target="../media/image83.png" Type="http://schemas.openxmlformats.org/officeDocument/2006/relationships/image"/><Relationship Id="rId4" Target="../media/image86.png" Type="http://schemas.openxmlformats.org/officeDocument/2006/relationships/image"/><Relationship Id="rId3" Target="../media/image85.png" Type="http://schemas.openxmlformats.org/officeDocument/2006/relationships/image"/><Relationship Id="rId2" Target="../media/image82.png" Type="http://schemas.openxmlformats.org/officeDocument/2006/relationships/image"/><Relationship Id="rId1" Target="../slideLayouts/slideLayout7.xml" Type="http://schemas.openxmlformats.org/officeDocument/2006/relationships/slideLayout"/></Relationships>
</file>

<file path=ppt/slides/_rels/slide54.xml.rels><?xml version="1.0" encoding="UTF-8" standalone="yes"?><Relationships xmlns="http://schemas.openxmlformats.org/package/2006/relationships"><Relationship Id="rId3" Target="../media/image88.png" Type="http://schemas.openxmlformats.org/officeDocument/2006/relationships/image"/><Relationship Id="rId2" Target="../media/image87.png" Type="http://schemas.openxmlformats.org/officeDocument/2006/relationships/image"/><Relationship Id="rId1" Target="../slideLayouts/slideLayout2.xml" Type="http://schemas.openxmlformats.org/officeDocument/2006/relationships/slideLayout"/></Relationships>
</file>

<file path=ppt/slides/_rels/slide55.xml.rels><?xml version="1.0" encoding="UTF-8" standalone="yes"?><Relationships xmlns="http://schemas.openxmlformats.org/package/2006/relationships"><Relationship Id="rId4" Target="../media/image91.png" Type="http://schemas.openxmlformats.org/officeDocument/2006/relationships/image"/><Relationship Id="rId3" Target="../media/image90.png" Type="http://schemas.openxmlformats.org/officeDocument/2006/relationships/image"/><Relationship Id="rId2" Target="../media/image89.png" Type="http://schemas.openxmlformats.org/officeDocument/2006/relationships/image"/><Relationship Id="rId1" Target="../slideLayouts/slideLayout2.xml" Type="http://schemas.openxmlformats.org/officeDocument/2006/relationships/slideLayout"/></Relationships>
</file>

<file path=ppt/slides/_rels/slide5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7.xml.rels><?xml version="1.0" encoding="UTF-8" standalone="yes"?><Relationships xmlns="http://schemas.openxmlformats.org/package/2006/relationships"><Relationship Id="rId2" Target="../media/image92.png" Type="http://schemas.openxmlformats.org/officeDocument/2006/relationships/image"/><Relationship Id="rId1" Target="../slideLayouts/slideLayout2.xml" Type="http://schemas.openxmlformats.org/officeDocument/2006/relationships/slideLayout"/></Relationships>
</file>

<file path=ppt/slides/_rels/slide58.xml.rels><?xml version="1.0" encoding="UTF-8" standalone="yes"?><Relationships xmlns="http://schemas.openxmlformats.org/package/2006/relationships"><Relationship Id="rId5" Target="../media/image96.png" Type="http://schemas.openxmlformats.org/officeDocument/2006/relationships/image"/><Relationship Id="rId4" Target="../media/image95.png" Type="http://schemas.openxmlformats.org/officeDocument/2006/relationships/image"/><Relationship Id="rId3" Target="../media/image94.png" Type="http://schemas.openxmlformats.org/officeDocument/2006/relationships/image"/><Relationship Id="rId2" Target="../media/image93.png" Type="http://schemas.openxmlformats.org/officeDocument/2006/relationships/image"/><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numCol="1">
            <a:normAutofit/>
          </a:bodyPr>
          <a:lstStyle/>
          <a:p>
            <a:r>
              <a:rPr b="1" dirty="0" lang="en-US" smtClean="0" sz="6000"/>
              <a:t>Indexing</a:t>
            </a:r>
            <a:endParaRPr b="1" dirty="0" lang="en-US" sz="6000"/>
          </a:p>
        </p:txBody>
      </p:sp>
    </p:spTree>
  </p:cSld>
  <p:clrMapOvr>
    <a:masterClrMapping/>
  </p:clrMapOvr>
  <p:timing>
    <p:tnLst>
      <p:par>
        <p:cTn dur="indefinite" id="1" nodeType="tmRoot" restart="never"/>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533400"/>
          </a:xfrm>
        </p:spPr>
        <p:txBody>
          <a:bodyPr numCol="1">
            <a:normAutofit fontScale="90000"/>
          </a:bodyPr>
          <a:lstStyle/>
          <a:p>
            <a:r>
              <a:rPr dirty="0" lang="en-US" smtClean="0"/>
              <a:t>Indexes</a:t>
            </a:r>
            <a:endParaRPr dirty="0" lang="en-US"/>
          </a:p>
        </p:txBody>
      </p:sp>
      <p:sp>
        <p:nvSpPr>
          <p:cNvPr id="3" name="Content Placeholder 2"/>
          <p:cNvSpPr>
            <a:spLocks noGrp="1"/>
          </p:cNvSpPr>
          <p:nvPr>
            <p:ph idx="1"/>
          </p:nvPr>
        </p:nvSpPr>
        <p:spPr>
          <a:xfrm>
            <a:off x="228600" y="838200"/>
            <a:ext cx="8686800" cy="5867400"/>
          </a:xfrm>
        </p:spPr>
        <p:txBody>
          <a:bodyPr numCol="1">
            <a:normAutofit/>
          </a:bodyPr>
          <a:lstStyle/>
          <a:p>
            <a:pPr algn="just"/>
            <a:r>
              <a:rPr dirty="0" lang="en-US" smtClean="0" sz="2400"/>
              <a:t>In </a:t>
            </a:r>
            <a:r>
              <a:rPr dirty="0" err="1" lang="en-US" smtClean="0" sz="2400"/>
              <a:t>MongoDB</a:t>
            </a:r>
            <a:r>
              <a:rPr dirty="0" lang="en-US" smtClean="0" sz="2400"/>
              <a:t>, an index is a data structure that captures a subset of a collection’s data in an easy to traverse form. </a:t>
            </a:r>
            <a:r>
              <a:rPr dirty="0" err="1" lang="en-US" smtClean="0" sz="2400"/>
              <a:t>MongoDB</a:t>
            </a:r>
            <a:r>
              <a:rPr dirty="0" lang="en-US" smtClean="0" sz="2400"/>
              <a:t> indexes use a B-tree data structure.</a:t>
            </a:r>
          </a:p>
          <a:p>
            <a:pPr algn="just"/>
            <a:r>
              <a:rPr dirty="0" lang="en-US" smtClean="0" sz="2400"/>
              <a:t>Indexes store the value of a specific field or fields, and attach a reference to the original document to each index entry. </a:t>
            </a:r>
          </a:p>
          <a:p>
            <a:pPr algn="just"/>
            <a:r>
              <a:rPr dirty="0" lang="en-US" smtClean="0" sz="2400"/>
              <a:t>Indexes </a:t>
            </a:r>
            <a:r>
              <a:rPr dirty="0" lang="en-US" sz="2400"/>
              <a:t>support efficient execution of queries in </a:t>
            </a:r>
            <a:r>
              <a:rPr dirty="0" err="1" lang="en-US" sz="2400"/>
              <a:t>MongoDB</a:t>
            </a:r>
            <a:r>
              <a:rPr dirty="0" lang="en-US" sz="2400"/>
              <a:t>. </a:t>
            </a:r>
            <a:endParaRPr dirty="0" lang="en-US" smtClean="0" sz="2400"/>
          </a:p>
          <a:p>
            <a:pPr algn="just"/>
            <a:r>
              <a:rPr dirty="0" lang="en-US" smtClean="0" sz="2400"/>
              <a:t>Without </a:t>
            </a:r>
            <a:r>
              <a:rPr dirty="0" lang="en-US" sz="2400"/>
              <a:t>indexes, </a:t>
            </a:r>
            <a:r>
              <a:rPr dirty="0" err="1" lang="en-US" sz="2400"/>
              <a:t>MongoDB</a:t>
            </a:r>
            <a:r>
              <a:rPr dirty="0" lang="en-US" sz="2400"/>
              <a:t> must scan every document in a collection to </a:t>
            </a:r>
            <a:r>
              <a:rPr dirty="0" lang="en-US" smtClean="0" sz="2400"/>
              <a:t>select those documents that match query statement.</a:t>
            </a:r>
          </a:p>
          <a:p>
            <a:pPr algn="just"/>
            <a:r>
              <a:rPr dirty="0" lang="en-US" smtClean="0" sz="2400"/>
              <a:t>If </a:t>
            </a:r>
            <a:r>
              <a:rPr dirty="0" lang="en-US" sz="2400"/>
              <a:t>an appropriate index exists for a query, </a:t>
            </a:r>
            <a:r>
              <a:rPr dirty="0" err="1" lang="en-US" sz="2400"/>
              <a:t>MongoDB</a:t>
            </a:r>
            <a:r>
              <a:rPr dirty="0" lang="en-US" sz="2400"/>
              <a:t> uses the index to limit the number of documents it must scan.</a:t>
            </a:r>
          </a:p>
          <a:p>
            <a:pPr algn="just"/>
            <a:r>
              <a:rPr dirty="0" lang="en-US" smtClean="0" sz="2400"/>
              <a:t>The index stores the value of a specific field or set of fields, ordered by the value of the field. </a:t>
            </a:r>
          </a:p>
        </p:txBody>
      </p:sp>
    </p:spTree>
  </p:cSld>
  <p:clrMapOvr>
    <a:masterClrMapping/>
  </p:clrMapOvr>
  <p:timing>
    <p:tnLst>
      <p:par>
        <p:cTn dur="indefinite" id="1" nodeType="tmRoot" restart="never"/>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533400"/>
          </a:xfrm>
        </p:spPr>
        <p:txBody>
          <a:bodyPr numCol="1">
            <a:noAutofit/>
          </a:bodyPr>
          <a:lstStyle/>
          <a:p>
            <a:r>
              <a:rPr dirty="0" lang="en-US" smtClean="0" sz="3600"/>
              <a:t>Use Cases</a:t>
            </a:r>
            <a:endParaRPr dirty="0" lang="en-US" sz="3600"/>
          </a:p>
        </p:txBody>
      </p:sp>
      <p:sp>
        <p:nvSpPr>
          <p:cNvPr id="3" name="Content Placeholder 2"/>
          <p:cNvSpPr>
            <a:spLocks noGrp="1"/>
          </p:cNvSpPr>
          <p:nvPr>
            <p:ph idx="1"/>
          </p:nvPr>
        </p:nvSpPr>
        <p:spPr>
          <a:xfrm>
            <a:off x="228600" y="533400"/>
            <a:ext cx="8686800" cy="6172200"/>
          </a:xfrm>
        </p:spPr>
        <p:txBody>
          <a:bodyPr numCol="1">
            <a:normAutofit/>
          </a:bodyPr>
          <a:lstStyle/>
          <a:p>
            <a:pPr algn="just"/>
            <a:r>
              <a:rPr dirty="0" lang="en-US" smtClean="0" sz="2400"/>
              <a:t>If </a:t>
            </a:r>
            <a:r>
              <a:rPr dirty="0" lang="en-US" sz="2400"/>
              <a:t>your application is repeatedly running queries on the same fields, you can create an index on those fields to improve performance</a:t>
            </a:r>
            <a:r>
              <a:rPr dirty="0" lang="en-US" smtClean="0" sz="2400"/>
              <a:t>.</a:t>
            </a:r>
          </a:p>
          <a:p>
            <a:pPr algn="just"/>
            <a:r>
              <a:rPr dirty="0" lang="en-US" smtClean="0" sz="2400"/>
              <a:t>For example: </a:t>
            </a:r>
          </a:p>
          <a:p>
            <a:pPr algn="just">
              <a:buNone/>
            </a:pPr>
            <a:r>
              <a:rPr dirty="0" lang="en-US" sz="2400"/>
              <a:t> </a:t>
            </a:r>
            <a:r>
              <a:rPr dirty="0" lang="en-US" smtClean="0" sz="2400"/>
              <a:t>   </a:t>
            </a:r>
            <a:r>
              <a:rPr b="1" dirty="0" lang="en-US" smtClean="0" sz="2400"/>
              <a:t>Scenario1: </a:t>
            </a:r>
            <a:r>
              <a:rPr dirty="0" lang="en-US" smtClean="0" sz="2400"/>
              <a:t>A </a:t>
            </a:r>
            <a:r>
              <a:rPr dirty="0" lang="en-US" sz="2400"/>
              <a:t>human resources department often needs to look up employees by employee ID. You can create an index on the employee ID field to improve query </a:t>
            </a:r>
            <a:r>
              <a:rPr dirty="0" lang="en-US" smtClean="0" sz="2400"/>
              <a:t>performance………………Single </a:t>
            </a:r>
            <a:r>
              <a:rPr dirty="0" lang="en-US" sz="2400"/>
              <a:t>Field Index</a:t>
            </a:r>
          </a:p>
          <a:p>
            <a:pPr algn="just"/>
            <a:r>
              <a:rPr b="1" dirty="0" lang="en-US" smtClean="0" sz="2400"/>
              <a:t>Scenario2: </a:t>
            </a:r>
            <a:r>
              <a:rPr dirty="0" lang="en-US" smtClean="0" sz="2400"/>
              <a:t>A </a:t>
            </a:r>
            <a:r>
              <a:rPr dirty="0" lang="en-US" sz="2400"/>
              <a:t>salesperson often needs to look up client information by location. Location is stored in an embedded object with fields like </a:t>
            </a:r>
            <a:r>
              <a:rPr dirty="0" lang="en-US" smtClean="0" sz="2400"/>
              <a:t>state</a:t>
            </a:r>
            <a:r>
              <a:rPr dirty="0" lang="en-US" sz="2400"/>
              <a:t>, </a:t>
            </a:r>
            <a:r>
              <a:rPr dirty="0" lang="en-US" smtClean="0" sz="2400"/>
              <a:t>city</a:t>
            </a:r>
            <a:r>
              <a:rPr dirty="0" lang="en-US" sz="2400"/>
              <a:t>, and </a:t>
            </a:r>
            <a:r>
              <a:rPr dirty="0" err="1" lang="en-US" smtClean="0" sz="2400"/>
              <a:t>zipcode</a:t>
            </a:r>
            <a:r>
              <a:rPr dirty="0" lang="en-US" sz="2400"/>
              <a:t>. You can create an index on the </a:t>
            </a:r>
            <a:r>
              <a:rPr dirty="0" lang="en-US" smtClean="0" sz="2400"/>
              <a:t>location</a:t>
            </a:r>
            <a:r>
              <a:rPr dirty="0" lang="en-US" sz="2400"/>
              <a:t> object to improve performance for queries on that </a:t>
            </a:r>
            <a:r>
              <a:rPr dirty="0" lang="en-US" smtClean="0" sz="2400"/>
              <a:t>object…………………Single </a:t>
            </a:r>
            <a:r>
              <a:rPr dirty="0" lang="en-US" sz="2400"/>
              <a:t>Field Index on an embedded </a:t>
            </a:r>
            <a:r>
              <a:rPr dirty="0" lang="en-US" smtClean="0" sz="2400"/>
              <a:t>document</a:t>
            </a:r>
          </a:p>
          <a:p>
            <a:pPr algn="just">
              <a:buFont charset="2" pitchFamily="2" typeface="Wingdings"/>
              <a:buChar char="v"/>
            </a:pPr>
            <a:r>
              <a:rPr dirty="0" lang="en-US" sz="1900"/>
              <a:t>When you create an index on an embedded document, only queries that specify the entire embedded document use the index. Queries on a specific field within the document do not use the index.</a:t>
            </a:r>
          </a:p>
        </p:txBody>
      </p:sp>
    </p:spTree>
  </p:cSld>
  <p:clrMapOvr>
    <a:masterClrMapping/>
  </p:clrMapOvr>
  <p:timing>
    <p:tnLst>
      <p:par>
        <p:cTn dur="indefinite" id="1" nodeType="tmRoot" restart="never"/>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10600" cy="6553200"/>
          </a:xfrm>
        </p:spPr>
        <p:txBody>
          <a:bodyPr numCol="1">
            <a:normAutofit/>
          </a:bodyPr>
          <a:lstStyle/>
          <a:p>
            <a:pPr algn="just"/>
            <a:r>
              <a:rPr b="1" dirty="0" lang="en-US" smtClean="0" sz="2400"/>
              <a:t>Scenario3: </a:t>
            </a:r>
            <a:r>
              <a:rPr dirty="0" lang="en-US" smtClean="0" sz="2400"/>
              <a:t>A </a:t>
            </a:r>
            <a:r>
              <a:rPr dirty="0" lang="en-US" sz="2400"/>
              <a:t>grocery store manager often needs to look up inventory items by name and quantity to determine which items are low stock. You can create a single index on both the </a:t>
            </a:r>
            <a:r>
              <a:rPr dirty="0" lang="en-US" smtClean="0" sz="2400"/>
              <a:t>item</a:t>
            </a:r>
            <a:r>
              <a:rPr dirty="0" lang="en-US" sz="2400"/>
              <a:t> and </a:t>
            </a:r>
            <a:r>
              <a:rPr dirty="0" lang="en-US" smtClean="0" sz="2400"/>
              <a:t>quantity</a:t>
            </a:r>
            <a:r>
              <a:rPr dirty="0" lang="en-US" sz="2400"/>
              <a:t> fields to improve query </a:t>
            </a:r>
            <a:r>
              <a:rPr dirty="0" lang="en-US" smtClean="0" sz="2400"/>
              <a:t>performance………………….. </a:t>
            </a:r>
            <a:r>
              <a:rPr dirty="0" lang="en-US" sz="2400"/>
              <a:t>Compound </a:t>
            </a:r>
            <a:r>
              <a:rPr dirty="0" lang="en-US" smtClean="0" sz="2400"/>
              <a:t>Index</a:t>
            </a:r>
            <a:endParaRPr dirty="0" lang="en-US" sz="2400"/>
          </a:p>
          <a:p>
            <a:pPr algn="just">
              <a:buNone/>
            </a:pPr>
            <a:r>
              <a:rPr b="1" dirty="0" lang="en-US" smtClean="0" sz="2400"/>
              <a:t>    </a:t>
            </a:r>
          </a:p>
          <a:p>
            <a:pPr algn="just">
              <a:buNone/>
            </a:pPr>
            <a:r>
              <a:rPr b="1" dirty="0" lang="en-US" sz="2400"/>
              <a:t> </a:t>
            </a:r>
            <a:r>
              <a:rPr b="1" dirty="0" lang="en-US" smtClean="0" sz="2400"/>
              <a:t>    Default Index: </a:t>
            </a:r>
          </a:p>
          <a:p>
            <a:pPr algn="just"/>
            <a:r>
              <a:rPr dirty="0" err="1" lang="en-US" smtClean="0" sz="2400"/>
              <a:t>MongoDB</a:t>
            </a:r>
            <a:r>
              <a:rPr dirty="0" lang="en-US" smtClean="0" sz="2400"/>
              <a:t> </a:t>
            </a:r>
            <a:r>
              <a:rPr dirty="0" lang="en-US" sz="2400"/>
              <a:t>creates a unique index on the _id field during the creation of a collection. </a:t>
            </a:r>
            <a:endParaRPr dirty="0" lang="en-US" smtClean="0" sz="2400"/>
          </a:p>
          <a:p>
            <a:pPr algn="just"/>
            <a:r>
              <a:rPr dirty="0" lang="en-US" smtClean="0" sz="2400"/>
              <a:t>The</a:t>
            </a:r>
            <a:r>
              <a:rPr dirty="0" lang="en-US" sz="2400"/>
              <a:t> _id index prevents clients from inserting two documents with the same value for the _id field. </a:t>
            </a:r>
            <a:r>
              <a:rPr dirty="0" lang="en-US" smtClean="0" sz="2400"/>
              <a:t>We cannot </a:t>
            </a:r>
            <a:r>
              <a:rPr dirty="0" lang="en-US" sz="2400"/>
              <a:t>drop this index.</a:t>
            </a:r>
          </a:p>
          <a:p>
            <a:pPr algn="just"/>
            <a:endParaRPr dirty="0" lang="en-US"/>
          </a:p>
        </p:txBody>
      </p:sp>
    </p:spTree>
  </p:cSld>
  <p:clrMapOvr>
    <a:masterClrMapping/>
  </p:clrMapOvr>
  <p:timing>
    <p:tnLst>
      <p:par>
        <p:cTn dur="indefinite" id="1" nodeType="tmRoot" restart="never"/>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numCol="1">
            <a:normAutofit fontScale="90000"/>
          </a:bodyPr>
          <a:lstStyle/>
          <a:p>
            <a:r>
              <a:rPr dirty="0" lang="en-US"/>
              <a:t>Create an </a:t>
            </a:r>
            <a:r>
              <a:rPr dirty="0" lang="en-US" smtClean="0"/>
              <a:t>Index</a:t>
            </a:r>
            <a:endParaRPr dirty="0" lang="en-US"/>
          </a:p>
        </p:txBody>
      </p:sp>
      <p:sp>
        <p:nvSpPr>
          <p:cNvPr id="3" name="Content Placeholder 2"/>
          <p:cNvSpPr>
            <a:spLocks noGrp="1"/>
          </p:cNvSpPr>
          <p:nvPr>
            <p:ph idx="1"/>
          </p:nvPr>
        </p:nvSpPr>
        <p:spPr>
          <a:xfrm>
            <a:off x="152400" y="762000"/>
            <a:ext cx="8839200" cy="5943600"/>
          </a:xfrm>
        </p:spPr>
        <p:txBody>
          <a:bodyPr numCol="1">
            <a:normAutofit/>
          </a:bodyPr>
          <a:lstStyle/>
          <a:p>
            <a:pPr algn="just"/>
            <a:endParaRPr dirty="0" lang="en-US" smtClean="0" sz="2600"/>
          </a:p>
          <a:p>
            <a:pPr algn="just"/>
            <a:r>
              <a:rPr dirty="0" lang="en-US" smtClean="0" sz="2400"/>
              <a:t>A </a:t>
            </a:r>
            <a:r>
              <a:rPr dirty="0" lang="en-US" sz="2400"/>
              <a:t>document that contains the field and value pairs where the field is the index key and the value describes the type of index for that field.</a:t>
            </a:r>
          </a:p>
          <a:p>
            <a:pPr algn="just"/>
            <a:r>
              <a:rPr dirty="0" lang="en-US" sz="2400"/>
              <a:t>For an ascending index on a field, specify a value of 1. For descending index, specify a value of -1</a:t>
            </a:r>
            <a:r>
              <a:rPr dirty="0" lang="en-US" smtClean="0" sz="2400"/>
              <a:t>.</a:t>
            </a:r>
          </a:p>
          <a:p>
            <a:pPr algn="just"/>
            <a:endParaRPr dirty="0" lang="en-US" smtClean="0" sz="2400"/>
          </a:p>
          <a:p>
            <a:pPr algn="just">
              <a:buNone/>
            </a:pPr>
            <a:endParaRPr dirty="0" lang="en-US" smtClean="0" sz="2400"/>
          </a:p>
          <a:p>
            <a:pPr algn="just">
              <a:buNone/>
            </a:pPr>
            <a:r>
              <a:rPr dirty="0" lang="en-US" smtClean="0" sz="2400"/>
              <a:t>To </a:t>
            </a:r>
            <a:r>
              <a:rPr dirty="0" lang="en-US" sz="2400"/>
              <a:t>confirm that the index was </a:t>
            </a:r>
            <a:r>
              <a:rPr dirty="0" lang="en-US" smtClean="0" sz="2400"/>
              <a:t>created:</a:t>
            </a:r>
          </a:p>
          <a:p>
            <a:pPr algn="just"/>
            <a:r>
              <a:rPr b="1" dirty="0" lang="en-US" sz="2400"/>
              <a:t>db.collection.getIndexes()</a:t>
            </a:r>
          </a:p>
          <a:p>
            <a:endParaRPr dirty="0" lang="en-US"/>
          </a:p>
          <a:p>
            <a:endParaRPr dirty="0" lang="en-US"/>
          </a:p>
        </p:txBody>
      </p:sp>
      <p:pic>
        <p:nvPicPr>
          <p:cNvPr id="1026" name="Picture 2"/>
          <p:cNvPicPr>
            <a:picLocks noChangeArrowheads="1" noChangeAspect="1"/>
          </p:cNvPicPr>
          <p:nvPr/>
        </p:nvPicPr>
        <p:blipFill>
          <a:blip cstate="print" r:embed="rId2"/>
          <a:srcRect/>
          <a:stretch>
            <a:fillRect/>
          </a:stretch>
        </p:blipFill>
        <p:spPr>
          <a:xfrm>
            <a:off x="533400" y="762000"/>
            <a:ext cx="8229600" cy="476250"/>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1371600" y="3276600"/>
            <a:ext cx="7162800" cy="477520"/>
          </a:xfrm>
          <a:prstGeom prst="rect">
            <a:avLst/>
          </a:prstGeom>
          <a:noFill/>
          <a:ln w="9525">
            <a:noFill/>
            <a:miter lim="800000"/>
            <a:headEnd/>
            <a:tailEnd/>
          </a:ln>
        </p:spPr>
      </p:pic>
      <p:pic>
        <p:nvPicPr>
          <p:cNvPr id="1028" name="Picture 4"/>
          <p:cNvPicPr>
            <a:picLocks noChangeArrowheads="1" noChangeAspect="1"/>
          </p:cNvPicPr>
          <p:nvPr/>
        </p:nvPicPr>
        <p:blipFill>
          <a:blip cstate="print" r:embed="rId4"/>
          <a:srcRect/>
          <a:stretch>
            <a:fillRect/>
          </a:stretch>
        </p:blipFill>
        <p:spPr>
          <a:xfrm>
            <a:off x="2133600" y="5105400"/>
            <a:ext cx="5133975" cy="12573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33400"/>
          </a:xfrm>
        </p:spPr>
        <p:txBody>
          <a:bodyPr numCol="1">
            <a:noAutofit/>
          </a:bodyPr>
          <a:lstStyle/>
          <a:p>
            <a:r>
              <a:rPr dirty="0" lang="en-US" smtClean="0" sz="3200"/>
              <a:t>Specify an Index Name</a:t>
            </a:r>
            <a:endParaRPr dirty="0" lang="en-US" sz="3200"/>
          </a:p>
        </p:txBody>
      </p:sp>
      <p:sp>
        <p:nvSpPr>
          <p:cNvPr id="3" name="Content Placeholder 2"/>
          <p:cNvSpPr>
            <a:spLocks noGrp="1"/>
          </p:cNvSpPr>
          <p:nvPr>
            <p:ph idx="1"/>
          </p:nvPr>
        </p:nvSpPr>
        <p:spPr>
          <a:xfrm>
            <a:off x="152400" y="609600"/>
            <a:ext cx="8839200" cy="6096000"/>
          </a:xfrm>
        </p:spPr>
        <p:txBody>
          <a:bodyPr numCol="1">
            <a:normAutofit fontScale="92500"/>
          </a:bodyPr>
          <a:lstStyle/>
          <a:p>
            <a:pPr algn="just"/>
            <a:r>
              <a:rPr dirty="0" lang="en-US" smtClean="0" sz="2400"/>
              <a:t>When you create an index, you can give the index a custom name. </a:t>
            </a:r>
          </a:p>
          <a:p>
            <a:pPr algn="just"/>
            <a:r>
              <a:rPr dirty="0" lang="en-US" smtClean="0" sz="2400"/>
              <a:t>Giving your index a name helps distinguish different indexes on your collection. </a:t>
            </a:r>
          </a:p>
          <a:p>
            <a:pPr algn="just"/>
            <a:r>
              <a:rPr dirty="0" lang="en-US" smtClean="0" sz="2400"/>
              <a:t>For example, you can more easily identify the indexes used by a query in the query plan's </a:t>
            </a:r>
            <a:r>
              <a:rPr b="1" dirty="0" i="1" lang="en-US" smtClean="0" sz="2400"/>
              <a:t>explain</a:t>
            </a:r>
            <a:r>
              <a:rPr dirty="0" lang="en-US" smtClean="0" sz="2400"/>
              <a:t> results if your indexes have distinct names.</a:t>
            </a:r>
          </a:p>
          <a:p>
            <a:pPr algn="just"/>
            <a:r>
              <a:rPr dirty="0" lang="en-US" smtClean="0" sz="2400"/>
              <a:t>To specify the index name, include the name option when you create the index:</a:t>
            </a:r>
          </a:p>
          <a:p>
            <a:pPr algn="just"/>
            <a:endParaRPr dirty="0" lang="en-US" smtClean="0" sz="2400"/>
          </a:p>
          <a:p>
            <a:pPr algn="just"/>
            <a:endParaRPr dirty="0" lang="en-US" smtClean="0" sz="2400"/>
          </a:p>
          <a:p>
            <a:pPr algn="just"/>
            <a:endParaRPr dirty="0" lang="en-US" smtClean="0" sz="2400"/>
          </a:p>
          <a:p>
            <a:pPr algn="just">
              <a:buNone/>
            </a:pPr>
            <a:r>
              <a:rPr b="1" dirty="0" lang="en-US" smtClean="0" sz="2400"/>
              <a:t>Important points:</a:t>
            </a:r>
          </a:p>
          <a:p>
            <a:pPr algn="just"/>
            <a:r>
              <a:rPr dirty="0" lang="en-US" smtClean="0" sz="2400"/>
              <a:t>Index names must be unique. </a:t>
            </a:r>
          </a:p>
          <a:p>
            <a:pPr algn="just"/>
            <a:r>
              <a:rPr dirty="0" lang="en-US" smtClean="0" sz="2400"/>
              <a:t>Creating an index with the name of an existing index returns an error.</a:t>
            </a:r>
          </a:p>
          <a:p>
            <a:pPr algn="just"/>
            <a:r>
              <a:rPr dirty="0" lang="en-US" smtClean="0" sz="2400"/>
              <a:t>You can't rename an existing index. Instead, you must drop and recreate the index with a new name.</a:t>
            </a:r>
          </a:p>
          <a:p>
            <a:pPr algn="just"/>
            <a:endParaRPr dirty="0" lang="en-US" sz="2400"/>
          </a:p>
        </p:txBody>
      </p:sp>
      <p:pic>
        <p:nvPicPr>
          <p:cNvPr id="1026" name="Picture 2"/>
          <p:cNvPicPr>
            <a:picLocks noChangeArrowheads="1" noChangeAspect="1"/>
          </p:cNvPicPr>
          <p:nvPr/>
        </p:nvPicPr>
        <p:blipFill>
          <a:blip cstate="print" r:embed="rId2"/>
          <a:srcRect/>
          <a:stretch>
            <a:fillRect/>
          </a:stretch>
        </p:blipFill>
        <p:spPr>
          <a:xfrm>
            <a:off x="2895600" y="3505200"/>
            <a:ext cx="3200400" cy="11525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rrowheads="1" noChangeAspect="1"/>
          </p:cNvPicPr>
          <p:nvPr/>
        </p:nvPicPr>
        <p:blipFill>
          <a:blip r:embed="rId2"/>
          <a:srcRect/>
          <a:stretch>
            <a:fillRect/>
          </a:stretch>
        </p:blipFill>
        <p:spPr>
          <a:xfrm>
            <a:off x="714348" y="357166"/>
            <a:ext cx="7429552" cy="5680089"/>
          </a:xfrm>
          <a:prstGeom prst="rect">
            <a:avLst/>
          </a:prstGeom>
          <a:noFill/>
          <a:ln w="9525">
            <a:noFill/>
            <a:miter lim="800000"/>
            <a:headEnd/>
            <a:tailEnd/>
          </a:ln>
          <a:effectLst/>
        </p:spPr>
      </p:pic>
    </p:spTree>
  </p:cSld>
  <p:clrMapOvr>
    <a:masterClrMapping/>
  </p:clrMapOvr>
  <p:timing>
    <p:tnLst>
      <p:par>
        <p:cTn dur="indefinite" id="1" nodeType="tmRoot" restart="never"/>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numCol="1"/>
          <a:lstStyle/>
          <a:p>
            <a:pPr>
              <a:buNone/>
            </a:pPr>
            <a:r>
              <a:rPr b="1" dirty="0" lang="en-US" smtClean="0" sz="2400"/>
              <a:t>Default Index Names</a:t>
            </a:r>
          </a:p>
          <a:p>
            <a:pPr algn="just"/>
            <a:r>
              <a:rPr dirty="0" lang="en-US" smtClean="0" sz="2400"/>
              <a:t>If you don't specify a name during index creation, the system generates the name by concatenating each index key field and value with underscores. For example:</a:t>
            </a:r>
          </a:p>
          <a:p>
            <a:endParaRPr dirty="0" lang="en-US"/>
          </a:p>
        </p:txBody>
      </p:sp>
      <p:pic>
        <p:nvPicPr>
          <p:cNvPr id="2050" name="Picture 2"/>
          <p:cNvPicPr>
            <a:picLocks noChangeArrowheads="1" noChangeAspect="1"/>
          </p:cNvPicPr>
          <p:nvPr/>
        </p:nvPicPr>
        <p:blipFill>
          <a:blip cstate="print" r:embed="rId2"/>
          <a:srcRect/>
          <a:stretch>
            <a:fillRect/>
          </a:stretch>
        </p:blipFill>
        <p:spPr>
          <a:xfrm>
            <a:off x="304800" y="2362200"/>
            <a:ext cx="8625447" cy="22002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609600"/>
          </a:xfrm>
        </p:spPr>
        <p:txBody>
          <a:bodyPr numCol="1">
            <a:normAutofit fontScale="90000"/>
          </a:bodyPr>
          <a:lstStyle/>
          <a:p>
            <a:r>
              <a:rPr dirty="0" lang="en-US" smtClean="0"/>
              <a:t>Drop an Index</a:t>
            </a:r>
            <a:endParaRPr dirty="0" lang="en-US"/>
          </a:p>
        </p:txBody>
      </p:sp>
      <p:sp>
        <p:nvSpPr>
          <p:cNvPr id="3" name="Content Placeholder 2"/>
          <p:cNvSpPr>
            <a:spLocks noGrp="1"/>
          </p:cNvSpPr>
          <p:nvPr>
            <p:ph idx="1"/>
          </p:nvPr>
        </p:nvSpPr>
        <p:spPr>
          <a:xfrm>
            <a:off x="152400" y="609600"/>
            <a:ext cx="8839200" cy="6096000"/>
          </a:xfrm>
        </p:spPr>
        <p:txBody>
          <a:bodyPr numCol="1">
            <a:normAutofit lnSpcReduction="10000"/>
          </a:bodyPr>
          <a:lstStyle/>
          <a:p>
            <a:pPr algn="just"/>
            <a:r>
              <a:rPr dirty="0" lang="en-US" smtClean="0" sz="2400"/>
              <a:t>You can remove a specific index from a collection.</a:t>
            </a:r>
          </a:p>
          <a:p>
            <a:pPr algn="just"/>
            <a:r>
              <a:rPr dirty="0" lang="en-US" smtClean="0" sz="2400"/>
              <a:t> You may need to drop an index if you see a negative performance impact, want to replace it with a new index, or no longer need the index.</a:t>
            </a:r>
          </a:p>
          <a:p>
            <a:pPr algn="just"/>
            <a:r>
              <a:rPr dirty="0" lang="en-US" smtClean="0" sz="2400"/>
              <a:t>To drop an index, use one of the following shell methods:</a:t>
            </a:r>
          </a:p>
          <a:p>
            <a:pPr algn="just"/>
            <a:endParaRPr dirty="0" lang="en-US" smtClean="0" sz="2400"/>
          </a:p>
          <a:p>
            <a:pPr algn="just"/>
            <a:endParaRPr dirty="0" lang="en-US" smtClean="0" sz="2400"/>
          </a:p>
          <a:p>
            <a:pPr algn="just"/>
            <a:endParaRPr dirty="0" lang="en-US" smtClean="0" sz="2400"/>
          </a:p>
          <a:p>
            <a:pPr algn="just"/>
            <a:r>
              <a:rPr dirty="0" lang="en-US" smtClean="0" sz="2400"/>
              <a:t>You can drop any index except the default index on the _id field. To drop the _id index, you must drop the entire collection.</a:t>
            </a:r>
          </a:p>
          <a:p>
            <a:pPr algn="just"/>
            <a:r>
              <a:rPr dirty="0" lang="en-US" smtClean="0" sz="2400"/>
              <a:t>If you drop an index that's actively used in production, you may experience performance degradation. Before you drop an index, consider </a:t>
            </a:r>
            <a:r>
              <a:rPr b="1" dirty="0" lang="en-US" smtClean="0" sz="2400"/>
              <a:t>hiding the index</a:t>
            </a:r>
            <a:r>
              <a:rPr dirty="0" lang="en-US" smtClean="0" sz="2400"/>
              <a:t> to evaluate the potential impact of the drop.</a:t>
            </a:r>
          </a:p>
          <a:p>
            <a:pPr algn="ctr">
              <a:buNone/>
            </a:pPr>
            <a:r>
              <a:rPr dirty="0" err="1" lang="en-US" smtClean="0" sz="2400"/>
              <a:t>db.collection.hideIndex</a:t>
            </a:r>
            <a:r>
              <a:rPr dirty="0" lang="en-US" smtClean="0" sz="2400"/>
              <a:t>({age:1})</a:t>
            </a:r>
          </a:p>
          <a:p>
            <a:pPr algn="ctr">
              <a:buNone/>
            </a:pPr>
            <a:r>
              <a:rPr dirty="0" lang="en-US" smtClean="0" sz="2400"/>
              <a:t>     </a:t>
            </a:r>
            <a:r>
              <a:rPr dirty="0" err="1" lang="en-US" smtClean="0" sz="2400"/>
              <a:t>db.collection.unhideIndex</a:t>
            </a:r>
            <a:r>
              <a:rPr dirty="0" lang="en-US" smtClean="0" sz="2400"/>
              <a:t>({age:1})</a:t>
            </a:r>
          </a:p>
          <a:p>
            <a:pPr algn="just"/>
            <a:endParaRPr dirty="0" lang="en-US" smtClean="0" sz="2400"/>
          </a:p>
          <a:p>
            <a:endParaRPr dirty="0" lang="en-US"/>
          </a:p>
        </p:txBody>
      </p:sp>
      <p:pic>
        <p:nvPicPr>
          <p:cNvPr id="22530" name="Picture 2"/>
          <p:cNvPicPr>
            <a:picLocks noChangeArrowheads="1" noChangeAspect="1"/>
          </p:cNvPicPr>
          <p:nvPr/>
        </p:nvPicPr>
        <p:blipFill>
          <a:blip cstate="print" r:embed="rId2"/>
          <a:srcRect/>
          <a:stretch>
            <a:fillRect/>
          </a:stretch>
        </p:blipFill>
        <p:spPr>
          <a:xfrm>
            <a:off x="228600" y="2667000"/>
            <a:ext cx="8915400" cy="13716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6629400"/>
          </a:xfrm>
        </p:spPr>
        <p:txBody>
          <a:bodyPr numCol="1">
            <a:normAutofit/>
          </a:bodyPr>
          <a:lstStyle/>
          <a:p>
            <a:pPr algn="just">
              <a:buNone/>
            </a:pPr>
            <a:r>
              <a:rPr b="1" dirty="0" lang="en-US" smtClean="0" sz="2000"/>
              <a:t>Procedure: </a:t>
            </a:r>
          </a:p>
          <a:p>
            <a:pPr algn="just"/>
            <a:r>
              <a:rPr dirty="0" lang="en-US" smtClean="0" sz="2000"/>
              <a:t>To drop an index, you need its name. To get all index names for a collection, run the getIndexes() method:</a:t>
            </a:r>
          </a:p>
          <a:p>
            <a:pPr algn="just"/>
            <a:r>
              <a:rPr dirty="0" lang="en-US" smtClean="0" sz="2000"/>
              <a:t>After you identify which indexes to drop, use one of the following drop methods for the specified collection:</a:t>
            </a:r>
          </a:p>
          <a:p>
            <a:pPr algn="just">
              <a:buFont charset="2" pitchFamily="2" typeface="Wingdings"/>
              <a:buChar char="ü"/>
            </a:pPr>
            <a:r>
              <a:rPr b="1" dirty="0" lang="en-US" smtClean="0" sz="2000"/>
              <a:t>Drop a Single Index: </a:t>
            </a:r>
            <a:r>
              <a:rPr dirty="0" lang="en-US" smtClean="0" sz="2000"/>
              <a:t>use the dropIndex() method and specify the index name:</a:t>
            </a:r>
          </a:p>
          <a:p>
            <a:pPr algn="just">
              <a:buFont charset="2" pitchFamily="2" typeface="Wingdings"/>
              <a:buChar char="ü"/>
            </a:pPr>
            <a:endParaRPr dirty="0" lang="en-US" smtClean="0" sz="2000"/>
          </a:p>
          <a:p>
            <a:pPr>
              <a:buFont charset="2" pitchFamily="2" typeface="Wingdings"/>
              <a:buChar char="ü"/>
            </a:pPr>
            <a:r>
              <a:rPr b="1" dirty="0" lang="en-US" smtClean="0" sz="2000"/>
              <a:t>Drop Multiple Indexes: </a:t>
            </a:r>
            <a:r>
              <a:rPr dirty="0" lang="en-US" smtClean="0" sz="2000"/>
              <a:t>use the dropIndexes() method and specify an array of index names:</a:t>
            </a:r>
          </a:p>
          <a:p>
            <a:pPr>
              <a:buFont charset="2" pitchFamily="2" typeface="Wingdings"/>
              <a:buChar char="ü"/>
            </a:pPr>
            <a:r>
              <a:rPr b="1" dirty="0" lang="en-US" smtClean="0" sz="2000"/>
              <a:t>Drop All Indexes Except the _id Index: </a:t>
            </a:r>
          </a:p>
          <a:p>
            <a:pPr>
              <a:buNone/>
            </a:pPr>
            <a:endParaRPr b="1" dirty="0" lang="en-US" smtClean="0" sz="2000"/>
          </a:p>
          <a:p>
            <a:pPr>
              <a:buNone/>
            </a:pPr>
            <a:r>
              <a:rPr b="1" dirty="0" lang="en-US" smtClean="0" sz="2000"/>
              <a:t>Results: </a:t>
            </a:r>
            <a:r>
              <a:rPr dirty="0" lang="en-US" smtClean="0" sz="2000"/>
              <a:t>After you drop an index, the system returns information about the status of the operation.</a:t>
            </a:r>
          </a:p>
          <a:p>
            <a:pPr>
              <a:buNone/>
            </a:pPr>
            <a:endParaRPr dirty="0" lang="en-US" smtClean="0" sz="2000"/>
          </a:p>
          <a:p>
            <a:pPr algn="just"/>
            <a:r>
              <a:rPr dirty="0" lang="en-US" smtClean="0" sz="2000"/>
              <a:t>The value of </a:t>
            </a:r>
            <a:r>
              <a:rPr dirty="0" err="1" lang="en-US" smtClean="0" sz="2000"/>
              <a:t>nIndexesWas</a:t>
            </a:r>
            <a:r>
              <a:rPr dirty="0" lang="en-US" smtClean="0" sz="2000"/>
              <a:t> reflects the number of indexes before removing an index.  </a:t>
            </a:r>
          </a:p>
          <a:p>
            <a:pPr algn="just"/>
            <a:r>
              <a:rPr dirty="0" lang="en-US" smtClean="0" sz="2000"/>
              <a:t>To confirm that the index was dropped, </a:t>
            </a:r>
            <a:r>
              <a:rPr dirty="0" err="1" lang="en-US" smtClean="0" sz="2000"/>
              <a:t>run:db.collection.getIndexes</a:t>
            </a:r>
            <a:r>
              <a:rPr dirty="0" lang="en-US" smtClean="0" sz="2000"/>
              <a:t>() method. </a:t>
            </a:r>
          </a:p>
          <a:p>
            <a:pPr algn="just"/>
            <a:r>
              <a:rPr dirty="0" lang="en-US" smtClean="0" sz="2000"/>
              <a:t>The dropped index no longer appears in the getIndexes() output.</a:t>
            </a:r>
          </a:p>
          <a:p>
            <a:pPr>
              <a:buNone/>
            </a:pPr>
            <a:endParaRPr dirty="0" lang="en-US" smtClean="0" sz="2400"/>
          </a:p>
          <a:p>
            <a:pPr>
              <a:buNone/>
            </a:pPr>
            <a:endParaRPr dirty="0" lang="en-US" smtClean="0" sz="2400"/>
          </a:p>
          <a:p>
            <a:pPr>
              <a:buNone/>
            </a:pPr>
            <a:endParaRPr dirty="0" lang="en-US" smtClean="0" sz="2400"/>
          </a:p>
          <a:p>
            <a:pPr algn="just">
              <a:buNone/>
            </a:pPr>
            <a:endParaRPr dirty="0" lang="en-US" smtClean="0" sz="2400"/>
          </a:p>
          <a:p>
            <a:pPr algn="just"/>
            <a:endParaRPr dirty="0" lang="en-US" sz="2400"/>
          </a:p>
        </p:txBody>
      </p:sp>
      <p:pic>
        <p:nvPicPr>
          <p:cNvPr id="23554" name="Picture 2"/>
          <p:cNvPicPr>
            <a:picLocks noChangeArrowheads="1" noChangeAspect="1"/>
          </p:cNvPicPr>
          <p:nvPr/>
        </p:nvPicPr>
        <p:blipFill>
          <a:blip cstate="print" r:embed="rId2"/>
          <a:srcRect/>
          <a:stretch>
            <a:fillRect/>
          </a:stretch>
        </p:blipFill>
        <p:spPr>
          <a:xfrm>
            <a:off x="4419600" y="838200"/>
            <a:ext cx="3114675" cy="352425"/>
          </a:xfrm>
          <a:prstGeom prst="rect">
            <a:avLst/>
          </a:prstGeom>
          <a:noFill/>
          <a:ln w="9525">
            <a:noFill/>
            <a:miter lim="800000"/>
            <a:headEnd/>
            <a:tailEnd/>
          </a:ln>
        </p:spPr>
      </p:pic>
      <p:pic>
        <p:nvPicPr>
          <p:cNvPr id="23555" name="Picture 3"/>
          <p:cNvPicPr>
            <a:picLocks noChangeArrowheads="1" noChangeAspect="1"/>
          </p:cNvPicPr>
          <p:nvPr/>
        </p:nvPicPr>
        <p:blipFill>
          <a:blip cstate="print" r:embed="rId3"/>
          <a:srcRect/>
          <a:stretch>
            <a:fillRect/>
          </a:stretch>
        </p:blipFill>
        <p:spPr>
          <a:xfrm>
            <a:off x="2514600" y="2209800"/>
            <a:ext cx="4400550" cy="333375"/>
          </a:xfrm>
          <a:prstGeom prst="rect">
            <a:avLst/>
          </a:prstGeom>
          <a:noFill/>
          <a:ln w="9525">
            <a:noFill/>
            <a:miter lim="800000"/>
            <a:headEnd/>
            <a:tailEnd/>
          </a:ln>
        </p:spPr>
      </p:pic>
      <p:pic>
        <p:nvPicPr>
          <p:cNvPr id="23556" name="Picture 4"/>
          <p:cNvPicPr>
            <a:picLocks noChangeArrowheads="1" noChangeAspect="1"/>
          </p:cNvPicPr>
          <p:nvPr/>
        </p:nvPicPr>
        <p:blipFill>
          <a:blip cstate="print" r:embed="rId4"/>
          <a:srcRect/>
          <a:stretch>
            <a:fillRect/>
          </a:stretch>
        </p:blipFill>
        <p:spPr>
          <a:xfrm>
            <a:off x="2286000" y="2895600"/>
            <a:ext cx="5943600" cy="285750"/>
          </a:xfrm>
          <a:prstGeom prst="rect">
            <a:avLst/>
          </a:prstGeom>
          <a:noFill/>
          <a:ln w="9525">
            <a:noFill/>
            <a:miter lim="800000"/>
            <a:headEnd/>
            <a:tailEnd/>
          </a:ln>
        </p:spPr>
      </p:pic>
      <p:pic>
        <p:nvPicPr>
          <p:cNvPr id="23557" name="Picture 5"/>
          <p:cNvPicPr>
            <a:picLocks noChangeArrowheads="1" noChangeAspect="1"/>
          </p:cNvPicPr>
          <p:nvPr/>
        </p:nvPicPr>
        <p:blipFill>
          <a:blip cstate="print" r:embed="rId5"/>
          <a:srcRect/>
          <a:stretch>
            <a:fillRect/>
          </a:stretch>
        </p:blipFill>
        <p:spPr>
          <a:xfrm>
            <a:off x="3429000" y="3581400"/>
            <a:ext cx="3143250" cy="304800"/>
          </a:xfrm>
          <a:prstGeom prst="rect">
            <a:avLst/>
          </a:prstGeom>
          <a:noFill/>
          <a:ln w="9525">
            <a:noFill/>
            <a:miter lim="800000"/>
            <a:headEnd/>
            <a:tailEnd/>
          </a:ln>
        </p:spPr>
      </p:pic>
      <p:pic>
        <p:nvPicPr>
          <p:cNvPr id="23558" name="Picture 6"/>
          <p:cNvPicPr>
            <a:picLocks noChangeArrowheads="1" noChangeAspect="1"/>
          </p:cNvPicPr>
          <p:nvPr/>
        </p:nvPicPr>
        <p:blipFill>
          <a:blip cstate="print" r:embed="rId6"/>
          <a:srcRect/>
          <a:stretch>
            <a:fillRect/>
          </a:stretch>
        </p:blipFill>
        <p:spPr>
          <a:xfrm>
            <a:off x="2590800" y="4267200"/>
            <a:ext cx="2895600" cy="71024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915400" cy="609600"/>
          </a:xfrm>
        </p:spPr>
        <p:txBody>
          <a:bodyPr numCol="1">
            <a:normAutofit fontScale="90000"/>
          </a:bodyPr>
          <a:lstStyle/>
          <a:p>
            <a:r>
              <a:rPr dirty="0" lang="en-US" smtClean="0"/>
              <a:t>Index Types</a:t>
            </a:r>
            <a:endParaRPr dirty="0" lang="en-US"/>
          </a:p>
        </p:txBody>
      </p:sp>
      <p:sp>
        <p:nvSpPr>
          <p:cNvPr id="3" name="Content Placeholder 2"/>
          <p:cNvSpPr>
            <a:spLocks noGrp="1"/>
          </p:cNvSpPr>
          <p:nvPr>
            <p:ph idx="1"/>
          </p:nvPr>
        </p:nvSpPr>
        <p:spPr>
          <a:xfrm>
            <a:off x="152400" y="609600"/>
            <a:ext cx="8839200" cy="6096000"/>
          </a:xfrm>
        </p:spPr>
        <p:txBody>
          <a:bodyPr numCol="1">
            <a:normAutofit/>
          </a:bodyPr>
          <a:lstStyle/>
          <a:p>
            <a:pPr algn="just" indent="-457200" marL="457200">
              <a:buAutoNum type="arabicPeriod"/>
            </a:pPr>
            <a:r>
              <a:rPr b="1" dirty="0" lang="en-US" smtClean="0" sz="2000"/>
              <a:t>Single Field Indexes: </a:t>
            </a:r>
            <a:r>
              <a:rPr dirty="0" lang="en-US" smtClean="0" sz="2000"/>
              <a:t>Single field indexes collect, sort and store data from a single field in each document in a collection.</a:t>
            </a:r>
          </a:p>
          <a:p>
            <a:pPr algn="just"/>
            <a:r>
              <a:rPr dirty="0" lang="en-US" smtClean="0" sz="2000"/>
              <a:t>By default, all collections have an index on the _id field. You can add additional indexes to speed up important queries and operations.</a:t>
            </a:r>
          </a:p>
          <a:p>
            <a:pPr algn="just"/>
            <a:r>
              <a:rPr dirty="0" lang="en-US" smtClean="0" sz="2000"/>
              <a:t>You can create a single-field index on any field in a document, including:  </a:t>
            </a:r>
          </a:p>
          <a:p>
            <a:pPr algn="just">
              <a:buFont charset="2" pitchFamily="2" typeface="Wingdings"/>
              <a:buChar char="ü"/>
            </a:pPr>
            <a:r>
              <a:rPr dirty="0" lang="en-US" smtClean="0" sz="2000"/>
              <a:t>Top-level document fields</a:t>
            </a:r>
          </a:p>
          <a:p>
            <a:pPr algn="just">
              <a:buFont charset="2" pitchFamily="2" typeface="Wingdings"/>
              <a:buChar char="ü"/>
            </a:pPr>
            <a:r>
              <a:rPr dirty="0" lang="en-US" smtClean="0" sz="2000"/>
              <a:t>Embedded documents</a:t>
            </a:r>
          </a:p>
          <a:p>
            <a:pPr algn="just">
              <a:buFont charset="2" pitchFamily="2" typeface="Wingdings"/>
              <a:buChar char="ü"/>
            </a:pPr>
            <a:r>
              <a:rPr dirty="0" lang="en-US" smtClean="0" sz="2000"/>
              <a:t>Fields within embedded documents</a:t>
            </a:r>
          </a:p>
          <a:p>
            <a:pPr algn="just"/>
            <a:r>
              <a:rPr dirty="0" lang="en-US" smtClean="0" sz="2000"/>
              <a:t>To create a single-field index, use the following prototype:</a:t>
            </a:r>
          </a:p>
          <a:p>
            <a:pPr algn="just"/>
            <a:endParaRPr dirty="0" lang="en-US" smtClean="0" sz="2000"/>
          </a:p>
          <a:p>
            <a:pPr algn="just"/>
            <a:r>
              <a:rPr dirty="0" lang="en-US" smtClean="0" sz="2000"/>
              <a:t>This image shows an ascending index on a single field, score:</a:t>
            </a:r>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indent="-457200" marL="457200">
              <a:buAutoNum type="arabicPeriod"/>
            </a:pPr>
            <a:endParaRPr dirty="0" lang="en-US" smtClean="0" sz="2400"/>
          </a:p>
          <a:p>
            <a:pPr>
              <a:buNone/>
            </a:pPr>
            <a:endParaRPr dirty="0" lang="en-US" smtClean="0"/>
          </a:p>
          <a:p>
            <a:endParaRPr dirty="0" lang="en-US"/>
          </a:p>
        </p:txBody>
      </p:sp>
      <p:pic>
        <p:nvPicPr>
          <p:cNvPr id="24578" name="Picture 2"/>
          <p:cNvPicPr>
            <a:picLocks noChangeArrowheads="1" noChangeAspect="1"/>
          </p:cNvPicPr>
          <p:nvPr/>
        </p:nvPicPr>
        <p:blipFill>
          <a:blip cstate="print" r:embed="rId2"/>
          <a:srcRect/>
          <a:stretch>
            <a:fillRect/>
          </a:stretch>
        </p:blipFill>
        <p:spPr>
          <a:xfrm>
            <a:off x="1524000" y="3810000"/>
            <a:ext cx="6000750" cy="314325"/>
          </a:xfrm>
          <a:prstGeom prst="rect">
            <a:avLst/>
          </a:prstGeom>
          <a:noFill/>
          <a:ln w="9525">
            <a:noFill/>
            <a:miter lim="800000"/>
            <a:headEnd/>
            <a:tailEnd/>
          </a:ln>
        </p:spPr>
      </p:pic>
      <p:pic>
        <p:nvPicPr>
          <p:cNvPr id="24579" name="Picture 3"/>
          <p:cNvPicPr>
            <a:picLocks noChangeArrowheads="1" noChangeAspect="1"/>
          </p:cNvPicPr>
          <p:nvPr/>
        </p:nvPicPr>
        <p:blipFill>
          <a:blip cstate="print" r:embed="rId3"/>
          <a:srcRect/>
          <a:stretch>
            <a:fillRect/>
          </a:stretch>
        </p:blipFill>
        <p:spPr>
          <a:xfrm>
            <a:off x="228600" y="4495800"/>
            <a:ext cx="5948363" cy="2072812"/>
          </a:xfrm>
          <a:prstGeom prst="rect">
            <a:avLst/>
          </a:prstGeom>
          <a:noFill/>
          <a:ln w="9525">
            <a:noFill/>
            <a:miter lim="800000"/>
            <a:headEnd/>
            <a:tailEnd/>
          </a:ln>
        </p:spPr>
      </p:pic>
      <p:sp>
        <p:nvSpPr>
          <p:cNvPr id="24580" name="Rectangle 4"/>
          <p:cNvSpPr>
            <a:spLocks noChangeArrowheads="1"/>
          </p:cNvSpPr>
          <p:nvPr/>
        </p:nvSpPr>
        <p:spPr>
          <a:xfrm>
            <a:off x="6400800" y="4611231"/>
            <a:ext cx="2514600" cy="2246769"/>
          </a:xfrm>
          <a:prstGeom prst="rect">
            <a:avLst/>
          </a:prstGeom>
          <a:solidFill>
            <a:srgbClr val="F9FBFA"/>
          </a:solidFill>
          <a:ln w="9525">
            <a:noFill/>
            <a:miter lim="800000"/>
            <a:headEnd/>
            <a:tailEnd/>
          </a:ln>
          <a:effectLst/>
        </p:spPr>
        <p:txBody>
          <a:bodyPr anchor="ctr" anchorCtr="0" bIns="45720" compatLnSpc="1" lIns="91440" numCol="1" rIns="91440" tIns="45720" vert="horz" wrap="square">
            <a:prstTxWarp prst="textNoShape">
              <a:avLst/>
            </a:prstTxWarp>
            <a:spAutoFit/>
          </a:bodyPr>
          <a:lstStyle/>
          <a:p>
            <a:pPr algn="just" defTabSz="914400" eaLnBrk="1" fontAlgn="base" hangingPunct="1" indent="0" latinLnBrk="0" lvl="0" marL="0" marR="0" rtl="0">
              <a:lnSpc>
                <a:spcPct val="100000"/>
              </a:lnSpc>
              <a:spcBef>
                <a:spcPct val="0"/>
              </a:spcBef>
              <a:spcAft>
                <a:spcPct val="0"/>
              </a:spcAft>
              <a:buClrTx/>
              <a:buSzTx/>
              <a:buFontTx/>
              <a:buNone/>
              <a:tabLst/>
            </a:pPr>
            <a:r>
              <a:rPr b="0" baseline="0" cap="none" dirty="0" i="0" kumimoji="0" lang="en-US" normalizeH="0" smtClean="0" strike="noStrike" sz="2000" u="none">
                <a:ln>
                  <a:noFill/>
                </a:ln>
                <a:solidFill>
                  <a:srgbClr val="001E2B"/>
                </a:solidFill>
                <a:effectLst/>
                <a:latin typeface="+mj-lt"/>
                <a:cs charset="0" pitchFamily="34" typeface="Arial"/>
              </a:rPr>
              <a:t>In this example, each document in the collection that has a value for the </a:t>
            </a:r>
            <a:r>
              <a:rPr b="0" baseline="0" cap="none" dirty="0" i="0" kumimoji="0" lang="en-US" normalizeH="0" smtClean="0" strike="noStrike" sz="2000" u="none">
                <a:ln>
                  <a:noFill/>
                </a:ln>
                <a:solidFill>
                  <a:srgbClr val="1C2D38"/>
                </a:solidFill>
                <a:effectLst/>
                <a:latin typeface="+mj-lt"/>
                <a:cs charset="0" pitchFamily="34" typeface="Arial"/>
              </a:rPr>
              <a:t>score</a:t>
            </a:r>
            <a:r>
              <a:rPr b="0" baseline="0" cap="none" dirty="0" i="0" kumimoji="0" lang="en-US" normalizeH="0" smtClean="0" strike="noStrike" sz="2000" u="none">
                <a:ln>
                  <a:noFill/>
                </a:ln>
                <a:solidFill>
                  <a:srgbClr val="001E2B"/>
                </a:solidFill>
                <a:effectLst/>
                <a:latin typeface="+mj-lt"/>
                <a:cs charset="0" pitchFamily="34" typeface="Arial"/>
              </a:rPr>
              <a:t> field is added to the index in ascending order.</a:t>
            </a:r>
            <a:r>
              <a:rPr b="0" baseline="0" cap="none" dirty="0" i="0" kumimoji="0" lang="en-US" normalizeH="0" smtClean="0" strike="noStrike" sz="2000" u="none">
                <a:ln>
                  <a:noFill/>
                </a:ln>
                <a:solidFill>
                  <a:schemeClr val="tx1"/>
                </a:solidFill>
                <a:effectLst/>
                <a:latin typeface="+mj-lt"/>
                <a:cs charset="0" pitchFamily="34" typeface="Arial"/>
              </a:rPr>
              <a:t> </a:t>
            </a:r>
          </a:p>
        </p:txBody>
      </p:sp>
    </p:spTree>
  </p:cSld>
  <p:clrMapOvr>
    <a:masterClrMapping/>
  </p:clrMapOvr>
  <p:timing>
    <p:tnLst>
      <p:par>
        <p:cTn dur="indefinite" id="1" nodeType="tmRoot" restart="never"/>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numCol="1">
            <a:normAutofit/>
          </a:bodyPr>
          <a:lstStyle/>
          <a:p>
            <a:pPr algn="just">
              <a:buNone/>
            </a:pPr>
            <a:r>
              <a:rPr b="1" dirty="0" lang="en-US" smtClean="0"/>
              <a:t>Use Case:</a:t>
            </a:r>
          </a:p>
          <a:p>
            <a:pPr algn="just">
              <a:buNone/>
            </a:pPr>
            <a:r>
              <a:rPr dirty="0" lang="en-US" smtClean="0" sz="2400"/>
              <a:t>    If your application repeatedly runs queries on the same field, you can create an index on that field to improve performance. For example, your human resources department often needs to look up employees by employee ID. You can create an index on the employee ID field to improve the performance of that query.</a:t>
            </a:r>
          </a:p>
          <a:p>
            <a:endParaRPr dirty="0" lang="en-US"/>
          </a:p>
        </p:txBody>
      </p:sp>
    </p:spTree>
  </p:cSld>
  <p:clrMapOvr>
    <a:masterClrMapping/>
  </p:clrMapOvr>
  <p:transition/>
  <p:timing>
    <p:tnLst>
      <p:par>
        <p:cTn dur="indefinite" id="1" nodeType="tmRoot" restart="never"/>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705600"/>
          </a:xfrm>
        </p:spPr>
        <p:txBody>
          <a:bodyPr numCol="1">
            <a:normAutofit fontScale="85000" lnSpcReduction="20000"/>
          </a:bodyPr>
          <a:lstStyle/>
          <a:p>
            <a:pPr algn="just">
              <a:buNone/>
            </a:pPr>
            <a:r>
              <a:rPr b="1" dirty="0" lang="en-US" smtClean="0" sz="2400"/>
              <a:t>     </a:t>
            </a:r>
            <a:r>
              <a:rPr b="1" dirty="0" lang="en-US" smtClean="0" sz="2200"/>
              <a:t>Index Sort Order: </a:t>
            </a:r>
            <a:r>
              <a:rPr dirty="0" lang="en-US" smtClean="0" sz="2200"/>
              <a:t>For a single-field index, the sort order (ascending or descending) of the index key does not matter because </a:t>
            </a:r>
            <a:r>
              <a:rPr dirty="0" err="1" lang="en-US" smtClean="0" sz="2200"/>
              <a:t>MongoDB</a:t>
            </a:r>
            <a:r>
              <a:rPr dirty="0" lang="en-US" smtClean="0" sz="2200"/>
              <a:t> can traverse the index in either direction.</a:t>
            </a:r>
          </a:p>
          <a:p>
            <a:pPr algn="just">
              <a:buNone/>
            </a:pPr>
            <a:r>
              <a:rPr b="1" dirty="0" lang="en-US" smtClean="0" sz="2200"/>
              <a:t>     Example: </a:t>
            </a:r>
            <a:r>
              <a:rPr dirty="0" lang="en-US" smtClean="0" sz="2200"/>
              <a:t>Create a </a:t>
            </a:r>
            <a:r>
              <a:rPr dirty="0" i="1" lang="en-US" smtClean="0" sz="2200"/>
              <a:t>students</a:t>
            </a:r>
            <a:r>
              <a:rPr dirty="0" lang="en-US" smtClean="0" sz="2200"/>
              <a:t> collection that contains the following documents:</a:t>
            </a:r>
          </a:p>
          <a:p>
            <a:pPr algn="just">
              <a:buNone/>
            </a:pPr>
            <a:endParaRPr dirty="0" lang="en-US" smtClean="0" sz="2200"/>
          </a:p>
          <a:p>
            <a:pPr algn="just">
              <a:buNone/>
            </a:pPr>
            <a:endParaRPr dirty="0" lang="en-US" smtClean="0" sz="2200"/>
          </a:p>
          <a:p>
            <a:pPr algn="just">
              <a:buNone/>
            </a:pPr>
            <a:endParaRPr dirty="0" lang="en-US" smtClean="0" sz="2200"/>
          </a:p>
          <a:p>
            <a:pPr algn="just">
              <a:buNone/>
            </a:pPr>
            <a:endParaRPr dirty="0" lang="en-US" smtClean="0" sz="2200"/>
          </a:p>
          <a:p>
            <a:pPr algn="just">
              <a:buNone/>
            </a:pPr>
            <a:endParaRPr dirty="0" lang="en-US" smtClean="0" sz="2200"/>
          </a:p>
          <a:p>
            <a:pPr>
              <a:buNone/>
            </a:pPr>
            <a:r>
              <a:rPr b="1" dirty="0" lang="en-US" smtClean="0" sz="2200"/>
              <a:t>     </a:t>
            </a:r>
          </a:p>
          <a:p>
            <a:pPr>
              <a:buNone/>
            </a:pPr>
            <a:endParaRPr b="1" dirty="0" lang="en-US" smtClean="0" sz="2200"/>
          </a:p>
          <a:p>
            <a:pPr algn="just">
              <a:buNone/>
            </a:pPr>
            <a:r>
              <a:rPr b="1" dirty="0" lang="en-US" smtClean="0" sz="2200"/>
              <a:t>     </a:t>
            </a:r>
          </a:p>
          <a:p>
            <a:pPr algn="just">
              <a:buNone/>
            </a:pPr>
            <a:endParaRPr b="1" dirty="0" lang="en-US" smtClean="0" sz="2200"/>
          </a:p>
          <a:p>
            <a:pPr algn="just">
              <a:lnSpc>
                <a:spcPct val="120000"/>
              </a:lnSpc>
              <a:buNone/>
            </a:pPr>
            <a:r>
              <a:rPr b="1" dirty="0" lang="en-US" smtClean="0" sz="2200"/>
              <a:t>Create an Index on a Single Field: </a:t>
            </a:r>
            <a:r>
              <a:rPr dirty="0" lang="en-US" smtClean="0" sz="2200"/>
              <a:t>Consider a school administrator who frequently looks up students by their GPA. You can create an index on the </a:t>
            </a:r>
            <a:r>
              <a:rPr dirty="0" err="1" lang="en-US" smtClean="0" sz="2200"/>
              <a:t>gpa</a:t>
            </a:r>
            <a:r>
              <a:rPr dirty="0" lang="en-US" smtClean="0" sz="2200"/>
              <a:t> field to improve performance for those queries:</a:t>
            </a:r>
          </a:p>
          <a:p>
            <a:pPr algn="just">
              <a:buNone/>
            </a:pPr>
            <a:r>
              <a:rPr dirty="0" lang="en-US" smtClean="0" sz="2200"/>
              <a:t>      </a:t>
            </a:r>
          </a:p>
          <a:p>
            <a:pPr algn="just">
              <a:buNone/>
            </a:pPr>
            <a:r>
              <a:rPr b="1" dirty="0" lang="en-US" smtClean="0" sz="2200"/>
              <a:t>Results: </a:t>
            </a:r>
            <a:r>
              <a:rPr dirty="0" lang="en-US" smtClean="0" sz="2200"/>
              <a:t>The index supports queries that select on the field </a:t>
            </a:r>
            <a:r>
              <a:rPr dirty="0" err="1" lang="en-US" smtClean="0" sz="2200"/>
              <a:t>gpa</a:t>
            </a:r>
            <a:r>
              <a:rPr dirty="0" lang="en-US" smtClean="0" sz="2200"/>
              <a:t>, such as the following:</a:t>
            </a:r>
          </a:p>
          <a:p>
            <a:pPr algn="just">
              <a:buNone/>
            </a:pPr>
            <a:endParaRPr dirty="0" lang="en-US" smtClean="0" sz="2000"/>
          </a:p>
          <a:p>
            <a:pPr algn="just">
              <a:buNone/>
            </a:pPr>
            <a:endParaRPr dirty="0" lang="en-US" smtClean="0" sz="2400"/>
          </a:p>
          <a:p>
            <a:pPr>
              <a:buNone/>
            </a:pPr>
            <a:r>
              <a:rPr dirty="0" lang="en-US" smtClean="0"/>
              <a:t>	</a:t>
            </a:r>
            <a:endParaRPr dirty="0" lang="en-US"/>
          </a:p>
        </p:txBody>
      </p:sp>
      <p:pic>
        <p:nvPicPr>
          <p:cNvPr id="1027" name="Picture 3"/>
          <p:cNvPicPr>
            <a:picLocks noChangeArrowheads="1" noChangeAspect="1"/>
          </p:cNvPicPr>
          <p:nvPr/>
        </p:nvPicPr>
        <p:blipFill>
          <a:blip cstate="print" r:embed="rId2"/>
          <a:srcRect/>
          <a:stretch>
            <a:fillRect/>
          </a:stretch>
        </p:blipFill>
        <p:spPr>
          <a:xfrm>
            <a:off x="2362200" y="1295400"/>
            <a:ext cx="5029200" cy="2582951"/>
          </a:xfrm>
          <a:prstGeom prst="rect">
            <a:avLst/>
          </a:prstGeom>
          <a:noFill/>
          <a:ln w="9525">
            <a:noFill/>
            <a:miter lim="800000"/>
            <a:headEnd/>
            <a:tailEnd/>
          </a:ln>
        </p:spPr>
      </p:pic>
      <p:pic>
        <p:nvPicPr>
          <p:cNvPr id="7" name="Picture 3"/>
          <p:cNvPicPr>
            <a:picLocks noChangeArrowheads="1" noChangeAspect="1"/>
          </p:cNvPicPr>
          <p:nvPr/>
        </p:nvPicPr>
        <p:blipFill>
          <a:blip cstate="print" r:embed="rId3"/>
          <a:srcRect/>
          <a:stretch>
            <a:fillRect/>
          </a:stretch>
        </p:blipFill>
        <p:spPr>
          <a:xfrm>
            <a:off x="3657600" y="4572000"/>
            <a:ext cx="4114800" cy="342900"/>
          </a:xfrm>
          <a:prstGeom prst="rect">
            <a:avLst/>
          </a:prstGeom>
          <a:noFill/>
          <a:ln w="9525">
            <a:noFill/>
            <a:miter lim="800000"/>
            <a:headEnd/>
            <a:tailEnd/>
          </a:ln>
        </p:spPr>
      </p:pic>
      <p:pic>
        <p:nvPicPr>
          <p:cNvPr id="1028" name="Picture 4"/>
          <p:cNvPicPr>
            <a:picLocks noChangeArrowheads="1" noChangeAspect="1"/>
          </p:cNvPicPr>
          <p:nvPr/>
        </p:nvPicPr>
        <p:blipFill>
          <a:blip cstate="print" r:embed="rId4"/>
          <a:srcRect/>
          <a:stretch>
            <a:fillRect/>
          </a:stretch>
        </p:blipFill>
        <p:spPr>
          <a:xfrm>
            <a:off x="1981200" y="5791200"/>
            <a:ext cx="4524375" cy="9048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numCol="1"/>
          <a:lstStyle/>
          <a:p>
            <a:pPr algn="just">
              <a:buNone/>
            </a:pPr>
            <a:r>
              <a:rPr b="1" dirty="0" lang="en-US" smtClean="0" sz="2000"/>
              <a:t>     Create an Index on an Embedded Field: </a:t>
            </a:r>
            <a:r>
              <a:rPr dirty="0" lang="en-US" smtClean="0" sz="2000"/>
              <a:t>You can create indexes on fields within embedded documents. Indexes on embedded fields can fulfill queries that use dot notation.</a:t>
            </a:r>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r>
              <a:rPr dirty="0" lang="en-US" smtClean="0" sz="2000"/>
              <a:t>The location field is an embedded document that contains the embedded fields city and state. Create an index on the </a:t>
            </a:r>
            <a:r>
              <a:rPr dirty="0" err="1" lang="en-US" smtClean="0" sz="2000"/>
              <a:t>location.state</a:t>
            </a:r>
            <a:r>
              <a:rPr dirty="0" lang="en-US" smtClean="0" sz="2000"/>
              <a:t> field:</a:t>
            </a:r>
          </a:p>
          <a:p>
            <a:pPr algn="just"/>
            <a:endParaRPr dirty="0" lang="en-US" smtClean="0" sz="2000"/>
          </a:p>
          <a:p>
            <a:pPr algn="just">
              <a:buNone/>
            </a:pPr>
            <a:r>
              <a:rPr dirty="0" lang="en-US" smtClean="0" sz="2000"/>
              <a:t>      </a:t>
            </a:r>
            <a:r>
              <a:rPr b="1" dirty="0" lang="en-US" smtClean="0" sz="2000"/>
              <a:t>Results: </a:t>
            </a:r>
            <a:r>
              <a:rPr dirty="0" lang="en-US" smtClean="0" sz="2000"/>
              <a:t>The index supports queries on the field </a:t>
            </a:r>
            <a:r>
              <a:rPr dirty="0" err="1" lang="en-US" smtClean="0" sz="2000"/>
              <a:t>location.state</a:t>
            </a:r>
            <a:r>
              <a:rPr dirty="0" lang="en-US" smtClean="0" sz="2000"/>
              <a:t>, such as the following:</a:t>
            </a:r>
          </a:p>
          <a:p>
            <a:endParaRPr dirty="0" lang="en-US" smtClean="0" sz="2000"/>
          </a:p>
          <a:p>
            <a:pPr>
              <a:buNone/>
            </a:pPr>
            <a:endParaRPr dirty="0" lang="en-US"/>
          </a:p>
        </p:txBody>
      </p:sp>
      <p:pic>
        <p:nvPicPr>
          <p:cNvPr id="2052" name="Picture 4"/>
          <p:cNvPicPr>
            <a:picLocks noChangeArrowheads="1" noChangeAspect="1"/>
          </p:cNvPicPr>
          <p:nvPr/>
        </p:nvPicPr>
        <p:blipFill>
          <a:blip cstate="print" r:embed="rId2"/>
          <a:srcRect/>
          <a:stretch>
            <a:fillRect/>
          </a:stretch>
        </p:blipFill>
        <p:spPr>
          <a:xfrm>
            <a:off x="1752600" y="4724400"/>
            <a:ext cx="5600700" cy="333375"/>
          </a:xfrm>
          <a:prstGeom prst="rect">
            <a:avLst/>
          </a:prstGeom>
          <a:noFill/>
          <a:ln w="9525">
            <a:noFill/>
            <a:miter lim="800000"/>
            <a:headEnd/>
            <a:tailEnd/>
          </a:ln>
        </p:spPr>
      </p:pic>
      <p:pic>
        <p:nvPicPr>
          <p:cNvPr id="2053" name="Picture 5"/>
          <p:cNvPicPr>
            <a:picLocks noChangeArrowheads="1" noChangeAspect="1"/>
          </p:cNvPicPr>
          <p:nvPr/>
        </p:nvPicPr>
        <p:blipFill>
          <a:blip cstate="print" r:embed="rId3"/>
          <a:srcRect/>
          <a:stretch>
            <a:fillRect/>
          </a:stretch>
        </p:blipFill>
        <p:spPr>
          <a:xfrm>
            <a:off x="590550" y="5857875"/>
            <a:ext cx="8553450" cy="1000125"/>
          </a:xfrm>
          <a:prstGeom prst="rect">
            <a:avLst/>
          </a:prstGeom>
          <a:noFill/>
          <a:ln w="9525">
            <a:noFill/>
            <a:miter lim="800000"/>
            <a:headEnd/>
            <a:tailEnd/>
          </a:ln>
        </p:spPr>
      </p:pic>
      <p:pic>
        <p:nvPicPr>
          <p:cNvPr id="8" name="Picture 3"/>
          <p:cNvPicPr>
            <a:picLocks noChangeArrowheads="1" noChangeAspect="1"/>
          </p:cNvPicPr>
          <p:nvPr/>
        </p:nvPicPr>
        <p:blipFill>
          <a:blip cstate="print" r:embed="rId4"/>
          <a:srcRect/>
          <a:stretch>
            <a:fillRect/>
          </a:stretch>
        </p:blipFill>
        <p:spPr>
          <a:xfrm>
            <a:off x="2362200" y="1219200"/>
            <a:ext cx="5029200" cy="258295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381000"/>
          </a:xfrm>
        </p:spPr>
        <p:txBody>
          <a:bodyPr numCol="1">
            <a:normAutofit fontScale="90000"/>
          </a:bodyPr>
          <a:lstStyle/>
          <a:p>
            <a:r>
              <a:rPr dirty="0" lang="en-US" smtClean="0" sz="3600"/>
              <a:t>Create an Index on an Embedded Document</a:t>
            </a:r>
            <a:endParaRPr dirty="0" lang="en-US"/>
          </a:p>
        </p:txBody>
      </p:sp>
      <p:sp>
        <p:nvSpPr>
          <p:cNvPr id="3" name="Content Placeholder 2"/>
          <p:cNvSpPr>
            <a:spLocks noGrp="1"/>
          </p:cNvSpPr>
          <p:nvPr>
            <p:ph idx="1"/>
          </p:nvPr>
        </p:nvSpPr>
        <p:spPr>
          <a:xfrm>
            <a:off x="152400" y="685800"/>
            <a:ext cx="8839200" cy="5943600"/>
          </a:xfrm>
        </p:spPr>
        <p:txBody>
          <a:bodyPr numCol="1">
            <a:normAutofit/>
          </a:bodyPr>
          <a:lstStyle/>
          <a:p>
            <a:pPr algn="just"/>
            <a:r>
              <a:rPr dirty="0" lang="en-US" smtClean="0" sz="2600"/>
              <a:t>You can create indexes on embedded documents as a whole.</a:t>
            </a:r>
          </a:p>
          <a:p>
            <a:pPr algn="just"/>
            <a:r>
              <a:rPr dirty="0" lang="en-US" smtClean="0" sz="2600"/>
              <a:t> However, only queries that specify the </a:t>
            </a:r>
            <a:r>
              <a:rPr b="1" dirty="0" lang="en-US" smtClean="0" sz="2600"/>
              <a:t>entire</a:t>
            </a:r>
            <a:r>
              <a:rPr dirty="0" lang="en-US" smtClean="0" sz="2600"/>
              <a:t> embedded document use the index. </a:t>
            </a:r>
          </a:p>
          <a:p>
            <a:pPr algn="just"/>
            <a:r>
              <a:rPr dirty="0" lang="en-US" smtClean="0" sz="2600"/>
              <a:t>Queries on a specific field within the document do not use the index.</a:t>
            </a:r>
          </a:p>
          <a:p>
            <a:pPr algn="just"/>
            <a:r>
              <a:rPr dirty="0" lang="en-US" smtClean="0" sz="2600"/>
              <a:t>To utilize an index on an embedded document, your query must specify the entire embedded document. This can lead to unexpected behaviors if your schema model changes and you add or remove fields from your indexed document.</a:t>
            </a:r>
          </a:p>
          <a:p>
            <a:pPr algn="just"/>
            <a:r>
              <a:rPr dirty="0" lang="en-US" smtClean="0" sz="2600"/>
              <a:t>When you query embedded documents, the order that you specify fields in the query matters. The embedded documents in your query and returned document must match exactly. </a:t>
            </a:r>
          </a:p>
        </p:txBody>
      </p:sp>
    </p:spTree>
  </p:cSld>
  <p:clrMapOvr>
    <a:masterClrMapping/>
  </p:clrMapOvr>
  <p:timing>
    <p:tnLst>
      <p:par>
        <p:cTn dur="indefinite" id="1" nodeType="tmRoot" restart="never"/>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lnSpcReduction="10000"/>
          </a:bodyPr>
          <a:lstStyle/>
          <a:p>
            <a:pPr algn="just">
              <a:buNone/>
            </a:pPr>
            <a:r>
              <a:rPr b="1" dirty="0" lang="en-US" smtClean="0" sz="2000"/>
              <a:t>Example:</a:t>
            </a:r>
            <a:endParaRPr dirty="0" lang="en-US" smtClean="0" sz="2000"/>
          </a:p>
          <a:p>
            <a:pPr algn="just">
              <a:buNone/>
            </a:pPr>
            <a:endParaRPr dirty="0" lang="en-US" smtClean="0" sz="2000"/>
          </a:p>
          <a:p>
            <a:pPr algn="just">
              <a:buNone/>
            </a:pPr>
            <a:endParaRPr dirty="0" lang="en-US" smtClean="0" sz="2000"/>
          </a:p>
          <a:p>
            <a:pPr algn="just">
              <a:buNone/>
            </a:pPr>
            <a:endParaRPr dirty="0" lang="en-US" smtClean="0" sz="2000"/>
          </a:p>
          <a:p>
            <a:pPr algn="just">
              <a:buNone/>
            </a:pPr>
            <a:endParaRPr dirty="0" lang="en-US" smtClean="0" sz="2000"/>
          </a:p>
          <a:p>
            <a:pPr algn="just">
              <a:buNone/>
            </a:pPr>
            <a:endParaRPr dirty="0" lang="en-US" smtClean="0" sz="2000"/>
          </a:p>
          <a:p>
            <a:pPr algn="just">
              <a:buNone/>
            </a:pPr>
            <a:endParaRPr dirty="0" lang="en-US" smtClean="0" sz="2000"/>
          </a:p>
          <a:p>
            <a:pPr algn="just">
              <a:buNone/>
            </a:pPr>
            <a:endParaRPr dirty="0" lang="en-US" smtClean="0" sz="2000"/>
          </a:p>
          <a:p>
            <a:pPr algn="just">
              <a:buNone/>
            </a:pPr>
            <a:r>
              <a:rPr dirty="0" lang="en-US" smtClean="0" sz="2000"/>
              <a:t>Create an index on the location field:</a:t>
            </a:r>
          </a:p>
          <a:p>
            <a:pPr algn="just">
              <a:buNone/>
            </a:pPr>
            <a:r>
              <a:rPr b="1" dirty="0" lang="en-US" smtClean="0" sz="2000"/>
              <a:t>Results: </a:t>
            </a:r>
            <a:r>
              <a:rPr dirty="0" lang="en-US" smtClean="0" sz="2000"/>
              <a:t>The following query uses the index on the location field:</a:t>
            </a:r>
          </a:p>
          <a:p>
            <a:pPr algn="just"/>
            <a:endParaRPr dirty="0" lang="en-US" smtClean="0" sz="2000"/>
          </a:p>
          <a:p>
            <a:pPr algn="just">
              <a:buNone/>
            </a:pPr>
            <a:r>
              <a:rPr dirty="0" lang="en-US" smtClean="0" sz="2000"/>
              <a:t>The following queries </a:t>
            </a:r>
            <a:r>
              <a:rPr dirty="0" i="1" lang="en-US" smtClean="0" sz="2000"/>
              <a:t>do not</a:t>
            </a:r>
            <a:r>
              <a:rPr dirty="0" lang="en-US" smtClean="0" sz="2000"/>
              <a:t> use the index on the location field because they query on specific fields within the embedded document:</a:t>
            </a:r>
          </a:p>
          <a:p>
            <a:pPr algn="just">
              <a:buNone/>
            </a:pPr>
            <a:endParaRPr dirty="0" lang="en-US" smtClean="0" sz="2000"/>
          </a:p>
          <a:p>
            <a:pPr algn="just">
              <a:buNone/>
            </a:pPr>
            <a:endParaRPr dirty="0" lang="en-US" smtClean="0" sz="2000"/>
          </a:p>
          <a:p>
            <a:pPr algn="just"/>
            <a:r>
              <a:rPr dirty="0" lang="en-US" smtClean="0" sz="2000"/>
              <a:t>In order for a dot notation query to use an index, you must create an index on the specific embedded field you are querying, not the entire embedded object. </a:t>
            </a:r>
          </a:p>
          <a:p>
            <a:pPr algn="just"/>
            <a:r>
              <a:rPr dirty="0" lang="en-US" smtClean="0" sz="2000"/>
              <a:t>Following query returns no results because the embedded fields in the query predicate are specified in a different order than they appear in the document:</a:t>
            </a:r>
          </a:p>
          <a:p>
            <a:pPr algn="just">
              <a:buNone/>
            </a:pPr>
            <a:endParaRPr dirty="0" lang="en-US" smtClean="0" sz="2000"/>
          </a:p>
          <a:p>
            <a:pPr algn="just">
              <a:buNone/>
            </a:pPr>
            <a:endParaRPr dirty="0" lang="en-US" sz="2400"/>
          </a:p>
        </p:txBody>
      </p:sp>
      <p:pic>
        <p:nvPicPr>
          <p:cNvPr id="3074" name="Picture 2"/>
          <p:cNvPicPr>
            <a:picLocks noChangeArrowheads="1" noChangeAspect="1"/>
          </p:cNvPicPr>
          <p:nvPr/>
        </p:nvPicPr>
        <p:blipFill>
          <a:blip cstate="print" r:embed="rId2"/>
          <a:srcRect/>
          <a:stretch>
            <a:fillRect/>
          </a:stretch>
        </p:blipFill>
        <p:spPr>
          <a:xfrm>
            <a:off x="1371600" y="152400"/>
            <a:ext cx="5105400" cy="2577902"/>
          </a:xfrm>
          <a:prstGeom prst="rect">
            <a:avLst/>
          </a:prstGeom>
          <a:noFill/>
          <a:ln w="9525">
            <a:noFill/>
            <a:miter lim="800000"/>
            <a:headEnd/>
            <a:tailEnd/>
          </a:ln>
        </p:spPr>
      </p:pic>
      <p:pic>
        <p:nvPicPr>
          <p:cNvPr id="3075" name="Picture 3"/>
          <p:cNvPicPr>
            <a:picLocks noChangeArrowheads="1" noChangeAspect="1"/>
          </p:cNvPicPr>
          <p:nvPr/>
        </p:nvPicPr>
        <p:blipFill>
          <a:blip cstate="print" r:embed="rId3"/>
          <a:srcRect/>
          <a:stretch>
            <a:fillRect/>
          </a:stretch>
        </p:blipFill>
        <p:spPr>
          <a:xfrm>
            <a:off x="4191000" y="2819400"/>
            <a:ext cx="4743450" cy="333375"/>
          </a:xfrm>
          <a:prstGeom prst="rect">
            <a:avLst/>
          </a:prstGeom>
          <a:noFill/>
          <a:ln w="9525">
            <a:noFill/>
            <a:miter lim="800000"/>
            <a:headEnd/>
            <a:tailEnd/>
          </a:ln>
        </p:spPr>
      </p:pic>
      <p:pic>
        <p:nvPicPr>
          <p:cNvPr id="3077" name="Picture 5"/>
          <p:cNvPicPr>
            <a:picLocks noChangeArrowheads="1" noChangeAspect="1"/>
          </p:cNvPicPr>
          <p:nvPr/>
        </p:nvPicPr>
        <p:blipFill>
          <a:blip cstate="print" r:embed="rId4"/>
          <a:srcRect/>
          <a:stretch>
            <a:fillRect/>
          </a:stretch>
        </p:blipFill>
        <p:spPr>
          <a:xfrm>
            <a:off x="381000" y="3581400"/>
            <a:ext cx="8343900" cy="323850"/>
          </a:xfrm>
          <a:prstGeom prst="rect">
            <a:avLst/>
          </a:prstGeom>
          <a:noFill/>
          <a:ln w="9525">
            <a:noFill/>
            <a:miter lim="800000"/>
            <a:headEnd/>
            <a:tailEnd/>
          </a:ln>
        </p:spPr>
      </p:pic>
      <p:pic>
        <p:nvPicPr>
          <p:cNvPr id="3079" name="Picture 7"/>
          <p:cNvPicPr>
            <a:picLocks noChangeArrowheads="1" noChangeAspect="1"/>
          </p:cNvPicPr>
          <p:nvPr/>
        </p:nvPicPr>
        <p:blipFill>
          <a:blip cstate="print" r:embed="rId5"/>
          <a:srcRect/>
          <a:stretch>
            <a:fillRect/>
          </a:stretch>
        </p:blipFill>
        <p:spPr>
          <a:xfrm>
            <a:off x="1371600" y="4419600"/>
            <a:ext cx="5762625" cy="285750"/>
          </a:xfrm>
          <a:prstGeom prst="rect">
            <a:avLst/>
          </a:prstGeom>
          <a:noFill/>
          <a:ln w="9525">
            <a:noFill/>
            <a:miter lim="800000"/>
            <a:headEnd/>
            <a:tailEnd/>
          </a:ln>
        </p:spPr>
      </p:pic>
      <p:pic>
        <p:nvPicPr>
          <p:cNvPr id="3080" name="Picture 8"/>
          <p:cNvPicPr>
            <a:picLocks noChangeArrowheads="1" noChangeAspect="1"/>
          </p:cNvPicPr>
          <p:nvPr/>
        </p:nvPicPr>
        <p:blipFill>
          <a:blip cstate="print" r:embed="rId6"/>
          <a:srcRect/>
          <a:stretch>
            <a:fillRect/>
          </a:stretch>
        </p:blipFill>
        <p:spPr>
          <a:xfrm>
            <a:off x="1447800" y="4800600"/>
            <a:ext cx="5619750" cy="314325"/>
          </a:xfrm>
          <a:prstGeom prst="rect">
            <a:avLst/>
          </a:prstGeom>
          <a:noFill/>
          <a:ln w="9525">
            <a:noFill/>
            <a:miter lim="800000"/>
            <a:headEnd/>
            <a:tailEnd/>
          </a:ln>
        </p:spPr>
      </p:pic>
      <p:pic>
        <p:nvPicPr>
          <p:cNvPr id="3081" name="Picture 9"/>
          <p:cNvPicPr>
            <a:picLocks noChangeArrowheads="1" noChangeAspect="1"/>
          </p:cNvPicPr>
          <p:nvPr/>
        </p:nvPicPr>
        <p:blipFill>
          <a:blip cstate="print" r:embed="rId7"/>
          <a:srcRect/>
          <a:stretch>
            <a:fillRect/>
          </a:stretch>
        </p:blipFill>
        <p:spPr>
          <a:xfrm>
            <a:off x="771525" y="6324600"/>
            <a:ext cx="8372475" cy="3714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numCol="1">
            <a:noAutofit/>
          </a:bodyPr>
          <a:lstStyle/>
          <a:p>
            <a:r>
              <a:rPr dirty="0" lang="en-US" smtClean="0" sz="3200"/>
              <a:t>2. Compound Indexes</a:t>
            </a:r>
            <a:endParaRPr dirty="0" lang="en-US" sz="3200"/>
          </a:p>
        </p:txBody>
      </p:sp>
      <p:sp>
        <p:nvSpPr>
          <p:cNvPr id="3" name="Content Placeholder 2"/>
          <p:cNvSpPr>
            <a:spLocks noGrp="1"/>
          </p:cNvSpPr>
          <p:nvPr>
            <p:ph idx="1"/>
          </p:nvPr>
        </p:nvSpPr>
        <p:spPr>
          <a:xfrm>
            <a:off x="228600" y="762000"/>
            <a:ext cx="8763000" cy="5943600"/>
          </a:xfrm>
        </p:spPr>
        <p:txBody>
          <a:bodyPr numCol="1"/>
          <a:lstStyle/>
          <a:p>
            <a:pPr algn="just"/>
            <a:r>
              <a:rPr dirty="0" lang="en-US" smtClean="0" sz="2000"/>
              <a:t>Compound indexes collect and sort data from two or more fields in each document in a collection. </a:t>
            </a:r>
          </a:p>
          <a:p>
            <a:pPr algn="just"/>
            <a:r>
              <a:rPr dirty="0" lang="en-US" smtClean="0" sz="2000"/>
              <a:t>Data is grouped by the first field in the index and then by each subsequent field.</a:t>
            </a:r>
          </a:p>
          <a:p>
            <a:pPr algn="just"/>
            <a:r>
              <a:rPr dirty="0" lang="en-US" smtClean="0" sz="2000"/>
              <a:t>For example, the following image shows a compound index where documents are first grouped by </a:t>
            </a:r>
            <a:r>
              <a:rPr dirty="0" err="1" lang="en-US" smtClean="0" sz="2000"/>
              <a:t>userid</a:t>
            </a:r>
            <a:r>
              <a:rPr dirty="0" lang="en-US" smtClean="0" sz="2000"/>
              <a:t> in ascending order (alphabetically). Then, the scores for each </a:t>
            </a:r>
            <a:r>
              <a:rPr dirty="0" err="1" lang="en-US" smtClean="0" sz="2000"/>
              <a:t>userid</a:t>
            </a:r>
            <a:r>
              <a:rPr dirty="0" lang="en-US" smtClean="0" sz="2000"/>
              <a:t> are sorted in descending order:</a:t>
            </a:r>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endParaRPr dirty="0" lang="en-US" smtClean="0" sz="2000"/>
          </a:p>
          <a:p>
            <a:r>
              <a:rPr dirty="0" lang="en-US" smtClean="0" sz="2000"/>
              <a:t>Restriction: You can specify up to 32 fields in a single compound index.</a:t>
            </a:r>
          </a:p>
          <a:p>
            <a:pPr algn="just"/>
            <a:endParaRPr dirty="0" lang="en-US" smtClean="0" sz="2000"/>
          </a:p>
          <a:p>
            <a:endParaRPr dirty="0" lang="en-US"/>
          </a:p>
        </p:txBody>
      </p:sp>
      <p:pic>
        <p:nvPicPr>
          <p:cNvPr id="29698" name="Picture 2"/>
          <p:cNvPicPr>
            <a:picLocks noChangeArrowheads="1" noChangeAspect="1"/>
          </p:cNvPicPr>
          <p:nvPr/>
        </p:nvPicPr>
        <p:blipFill>
          <a:blip cstate="print" r:embed="rId2"/>
          <a:srcRect/>
          <a:stretch>
            <a:fillRect/>
          </a:stretch>
        </p:blipFill>
        <p:spPr>
          <a:xfrm>
            <a:off x="1066800" y="3200400"/>
            <a:ext cx="7386638" cy="2243138"/>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r>
              <a:rPr dirty="0" lang="en-US" smtClean="0" sz="2000"/>
              <a:t>To create a compound index, use the following prototype:</a:t>
            </a:r>
          </a:p>
          <a:p>
            <a:endParaRPr dirty="0" lang="en-US" smtClean="0" sz="2000"/>
          </a:p>
          <a:p>
            <a:endParaRPr dirty="0" lang="en-US" smtClean="0" sz="2000"/>
          </a:p>
          <a:p>
            <a:endParaRPr dirty="0" lang="en-US" smtClean="0" sz="2000"/>
          </a:p>
          <a:p>
            <a:endParaRPr dirty="0" lang="en-US" smtClean="0" sz="2000"/>
          </a:p>
          <a:p>
            <a:endParaRPr dirty="0" lang="en-US" smtClean="0" sz="2000"/>
          </a:p>
          <a:p>
            <a:endParaRPr dirty="0" lang="en-US" smtClean="0" sz="2000"/>
          </a:p>
          <a:p>
            <a:pPr>
              <a:buNone/>
            </a:pPr>
            <a:r>
              <a:rPr b="1" dirty="0" lang="en-US" smtClean="0" sz="2000"/>
              <a:t>Use Case:</a:t>
            </a:r>
          </a:p>
          <a:p>
            <a:pPr algn="just"/>
            <a:r>
              <a:rPr dirty="0" lang="en-US" smtClean="0" sz="2000"/>
              <a:t>If your application repeatedly runs a query that contains multiple fields, you can create a compound index to improve performance for that query. For example, a grocery store manager often needs to look up inventory items by name and quantity to determine which items are low stock. You can create a compound index on both the item and quantity fields to improve query performance.</a:t>
            </a:r>
          </a:p>
          <a:p>
            <a:pPr algn="just"/>
            <a:r>
              <a:rPr dirty="0" lang="en-US" smtClean="0" sz="2000" u="sng"/>
              <a:t>A compound index on commonly queried fields increases the chances of </a:t>
            </a:r>
            <a:r>
              <a:rPr b="1" dirty="0" i="1" lang="en-US" smtClean="0" sz="2000" u="sng"/>
              <a:t>covering </a:t>
            </a:r>
            <a:r>
              <a:rPr dirty="0" lang="en-US" smtClean="0" sz="2000" u="sng"/>
              <a:t>those queries. </a:t>
            </a:r>
            <a:r>
              <a:rPr b="1" dirty="0" i="1" lang="en-US" smtClean="0" sz="2000" u="sng"/>
              <a:t>Covered queries </a:t>
            </a:r>
            <a:r>
              <a:rPr dirty="0" lang="en-US" smtClean="0" sz="2000" u="sng"/>
              <a:t>are queries that can be satisfied entirely using an index, without examining any documents. This optimizes query performance.</a:t>
            </a:r>
          </a:p>
          <a:p>
            <a:endParaRPr dirty="0" lang="en-US" sz="2000"/>
          </a:p>
        </p:txBody>
      </p:sp>
      <p:pic>
        <p:nvPicPr>
          <p:cNvPr id="30722" name="Picture 2"/>
          <p:cNvPicPr>
            <a:picLocks noChangeArrowheads="1" noChangeAspect="1"/>
          </p:cNvPicPr>
          <p:nvPr/>
        </p:nvPicPr>
        <p:blipFill>
          <a:blip cstate="print" r:embed="rId2"/>
          <a:srcRect/>
          <a:stretch>
            <a:fillRect/>
          </a:stretch>
        </p:blipFill>
        <p:spPr>
          <a:xfrm>
            <a:off x="2743200" y="609600"/>
            <a:ext cx="3390900" cy="17430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05600"/>
          </a:xfrm>
        </p:spPr>
        <p:txBody>
          <a:bodyPr numCol="1">
            <a:normAutofit/>
          </a:bodyPr>
          <a:lstStyle/>
          <a:p>
            <a:pPr>
              <a:buNone/>
            </a:pPr>
            <a:r>
              <a:rPr dirty="0" lang="en-US" smtClean="0" sz="2000"/>
              <a:t>Example: Create a students collection that contains these documents:</a:t>
            </a:r>
          </a:p>
          <a:p>
            <a:pPr>
              <a:buNone/>
            </a:pPr>
            <a:endParaRPr dirty="0" lang="en-US" smtClean="0" sz="2000"/>
          </a:p>
          <a:p>
            <a:pPr>
              <a:buNone/>
            </a:pPr>
            <a:endParaRPr dirty="0" lang="en-US" smtClean="0" sz="2000"/>
          </a:p>
          <a:p>
            <a:pPr>
              <a:buNone/>
            </a:pPr>
            <a:endParaRPr dirty="0" lang="en-US" smtClean="0" sz="2000"/>
          </a:p>
          <a:p>
            <a:pPr>
              <a:buNone/>
            </a:pPr>
            <a:endParaRPr dirty="0" lang="en-US" smtClean="0" sz="2000"/>
          </a:p>
          <a:p>
            <a:pPr>
              <a:buNone/>
            </a:pPr>
            <a:endParaRPr dirty="0" lang="en-US" smtClean="0" sz="2000"/>
          </a:p>
          <a:p>
            <a:pPr>
              <a:buNone/>
            </a:pPr>
            <a:endParaRPr dirty="0" lang="en-US" smtClean="0" sz="2000"/>
          </a:p>
          <a:p>
            <a:pPr>
              <a:buNone/>
            </a:pPr>
            <a:endParaRPr b="1" dirty="0" lang="en-US" smtClean="0" sz="2000"/>
          </a:p>
          <a:p>
            <a:pPr>
              <a:buNone/>
            </a:pPr>
            <a:endParaRPr b="1" dirty="0" lang="en-US" smtClean="0" sz="2000"/>
          </a:p>
          <a:p>
            <a:pPr>
              <a:buNone/>
            </a:pPr>
            <a:r>
              <a:rPr b="1" dirty="0" lang="en-US" smtClean="0" sz="2000"/>
              <a:t>Results: </a:t>
            </a:r>
            <a:r>
              <a:rPr dirty="0" lang="en-US" smtClean="0" sz="2000"/>
              <a:t>The created index supports queries that select on:</a:t>
            </a:r>
          </a:p>
          <a:p>
            <a:r>
              <a:rPr dirty="0" lang="en-US" smtClean="0" sz="2000"/>
              <a:t>Both name and </a:t>
            </a:r>
            <a:r>
              <a:rPr dirty="0" err="1" lang="en-US" smtClean="0" sz="2000"/>
              <a:t>gpa</a:t>
            </a:r>
            <a:r>
              <a:rPr dirty="0" lang="en-US" smtClean="0" sz="2000"/>
              <a:t> fields.</a:t>
            </a:r>
          </a:p>
          <a:p>
            <a:r>
              <a:rPr dirty="0" lang="en-US" smtClean="0" sz="2000"/>
              <a:t>Only the name field, because name is a prefix of the compound index.</a:t>
            </a:r>
          </a:p>
          <a:p>
            <a:pPr>
              <a:buNone/>
            </a:pPr>
            <a:r>
              <a:rPr dirty="0" lang="en-US" smtClean="0" sz="2000"/>
              <a:t>For example, the index supports these queries:</a:t>
            </a:r>
          </a:p>
          <a:p>
            <a:pPr>
              <a:buNone/>
            </a:pPr>
            <a:endParaRPr dirty="0" lang="en-US" smtClean="0" sz="2000"/>
          </a:p>
          <a:p>
            <a:pPr>
              <a:buNone/>
            </a:pPr>
            <a:endParaRPr dirty="0" lang="en-US" smtClean="0" sz="2000"/>
          </a:p>
          <a:p>
            <a:pPr>
              <a:buNone/>
            </a:pPr>
            <a:r>
              <a:rPr dirty="0" lang="en-US" smtClean="0" sz="2000"/>
              <a:t>      The index </a:t>
            </a:r>
            <a:r>
              <a:rPr b="1" dirty="0" lang="en-US" smtClean="0" sz="2000"/>
              <a:t>does not</a:t>
            </a:r>
            <a:r>
              <a:rPr dirty="0" lang="en-US" smtClean="0" sz="2000"/>
              <a:t> support queries on only the </a:t>
            </a:r>
            <a:r>
              <a:rPr dirty="0" err="1" lang="en-US" smtClean="0" sz="2000"/>
              <a:t>gpa</a:t>
            </a:r>
            <a:r>
              <a:rPr dirty="0" lang="en-US" smtClean="0" sz="2000"/>
              <a:t> field, because </a:t>
            </a:r>
            <a:r>
              <a:rPr dirty="0" err="1" lang="en-US" smtClean="0" sz="2000"/>
              <a:t>gpa</a:t>
            </a:r>
            <a:r>
              <a:rPr dirty="0" lang="en-US" smtClean="0" sz="2000"/>
              <a:t> is not part of the index prefix. For example, the index does not support this query:</a:t>
            </a:r>
          </a:p>
          <a:p>
            <a:pPr>
              <a:buNone/>
            </a:pPr>
            <a:endParaRPr dirty="0" lang="en-US" sz="2400"/>
          </a:p>
        </p:txBody>
      </p:sp>
      <p:pic>
        <p:nvPicPr>
          <p:cNvPr id="31746" name="Picture 2"/>
          <p:cNvPicPr>
            <a:picLocks noChangeArrowheads="1" noChangeAspect="1"/>
          </p:cNvPicPr>
          <p:nvPr/>
        </p:nvPicPr>
        <p:blipFill>
          <a:blip cstate="print" r:embed="rId2"/>
          <a:srcRect/>
          <a:stretch>
            <a:fillRect/>
          </a:stretch>
        </p:blipFill>
        <p:spPr>
          <a:xfrm>
            <a:off x="152400" y="381000"/>
            <a:ext cx="4886325" cy="2522868"/>
          </a:xfrm>
          <a:prstGeom prst="rect">
            <a:avLst/>
          </a:prstGeom>
          <a:noFill/>
          <a:ln w="9525">
            <a:noFill/>
            <a:miter lim="800000"/>
            <a:headEnd/>
            <a:tailEnd/>
          </a:ln>
        </p:spPr>
      </p:pic>
      <p:sp>
        <p:nvSpPr>
          <p:cNvPr id="31747" name="Rectangle 3"/>
          <p:cNvSpPr>
            <a:spLocks noChangeArrowheads="1"/>
          </p:cNvSpPr>
          <p:nvPr/>
        </p:nvSpPr>
        <p:spPr>
          <a:xfrm>
            <a:off x="5181600" y="381000"/>
            <a:ext cx="3962400" cy="923330"/>
          </a:xfrm>
          <a:prstGeom prst="rect">
            <a:avLst/>
          </a:prstGeom>
          <a:solidFill>
            <a:srgbClr val="F9FBFA"/>
          </a:solidFill>
          <a:ln w="9525">
            <a:noFill/>
            <a:miter lim="800000"/>
            <a:headEnd/>
            <a:tailEnd/>
          </a:ln>
          <a:effectLst/>
        </p:spPr>
        <p:txBody>
          <a:bodyPr anchor="ctr" anchorCtr="0" bIns="45720" compatLnSpc="1" lIns="91440" numCol="1" rIns="91440" tIns="45720" vert="horz" wrap="square">
            <a:prstTxWarp prst="textNoShape">
              <a:avLst/>
            </a:prstTxWarp>
            <a:spAutoFit/>
          </a:bodyPr>
          <a:lstStyle/>
          <a:p>
            <a:pPr algn="just" defTabSz="914400" eaLnBrk="1" fontAlgn="base" hangingPunct="1" indent="0" latinLnBrk="0" lvl="0" marL="0" marR="0" rtl="0">
              <a:lnSpc>
                <a:spcPct val="100000"/>
              </a:lnSpc>
              <a:spcBef>
                <a:spcPct val="0"/>
              </a:spcBef>
              <a:spcAft>
                <a:spcPct val="0"/>
              </a:spcAft>
              <a:buClrTx/>
              <a:buSzTx/>
              <a:buFontTx/>
              <a:buNone/>
              <a:tabLst/>
            </a:pPr>
            <a:r>
              <a:rPr b="0" baseline="0" cap="none" dirty="0" i="0" kumimoji="0" lang="en-US" normalizeH="0" smtClean="0" strike="noStrike" u="none">
                <a:ln>
                  <a:noFill/>
                </a:ln>
                <a:solidFill>
                  <a:srgbClr val="001E2B"/>
                </a:solidFill>
                <a:effectLst/>
                <a:latin typeface="+mj-lt"/>
                <a:cs charset="0" pitchFamily="34" typeface="Arial"/>
              </a:rPr>
              <a:t>The following operation creates a compound index containing</a:t>
            </a:r>
            <a:r>
              <a:rPr dirty="0" lang="en-US" smtClean="0">
                <a:solidFill>
                  <a:srgbClr val="001E2B"/>
                </a:solidFill>
                <a:latin typeface="+mj-lt"/>
                <a:cs charset="0" pitchFamily="34" typeface="Arial"/>
              </a:rPr>
              <a:t> the </a:t>
            </a:r>
            <a:r>
              <a:rPr b="0" baseline="0" cap="none" dirty="0" i="0" kumimoji="0" lang="en-US" normalizeH="0" smtClean="0" strike="noStrike" u="none">
                <a:ln>
                  <a:noFill/>
                </a:ln>
                <a:solidFill>
                  <a:srgbClr val="1C2D38"/>
                </a:solidFill>
                <a:effectLst/>
                <a:latin typeface="+mj-lt"/>
                <a:cs charset="0" pitchFamily="34" typeface="Arial"/>
              </a:rPr>
              <a:t>name</a:t>
            </a:r>
            <a:r>
              <a:rPr b="0" baseline="0" cap="none" dirty="0" i="0" kumimoji="0" lang="en-US" normalizeH="0" smtClean="0" strike="noStrike" u="none">
                <a:ln>
                  <a:noFill/>
                </a:ln>
                <a:solidFill>
                  <a:srgbClr val="001E2B"/>
                </a:solidFill>
                <a:effectLst/>
                <a:latin typeface="+mj-lt"/>
                <a:cs charset="0" pitchFamily="34" typeface="Arial"/>
              </a:rPr>
              <a:t> and </a:t>
            </a:r>
            <a:r>
              <a:rPr b="0" baseline="0" cap="none" dirty="0" err="1" i="0" kumimoji="0" lang="en-US" normalizeH="0" smtClean="0" strike="noStrike" u="none">
                <a:ln>
                  <a:noFill/>
                </a:ln>
                <a:solidFill>
                  <a:srgbClr val="1C2D38"/>
                </a:solidFill>
                <a:effectLst/>
                <a:latin typeface="+mj-lt"/>
                <a:cs charset="0" pitchFamily="34" typeface="Arial"/>
              </a:rPr>
              <a:t>gpa</a:t>
            </a:r>
            <a:r>
              <a:rPr b="0" baseline="0" cap="none" dirty="0" i="0" kumimoji="0" lang="en-US" normalizeH="0" smtClean="0" strike="noStrike" u="none">
                <a:ln>
                  <a:noFill/>
                </a:ln>
                <a:solidFill>
                  <a:srgbClr val="001E2B"/>
                </a:solidFill>
                <a:effectLst/>
                <a:latin typeface="+mj-lt"/>
                <a:cs charset="0" pitchFamily="34" typeface="Arial"/>
              </a:rPr>
              <a:t> fields:</a:t>
            </a:r>
            <a:r>
              <a:rPr b="0" baseline="0" cap="none" dirty="0" i="0" kumimoji="0" lang="en-US" normalizeH="0" smtClean="0" strike="noStrike" u="none">
                <a:ln>
                  <a:noFill/>
                </a:ln>
                <a:solidFill>
                  <a:schemeClr val="tx1"/>
                </a:solidFill>
                <a:effectLst/>
                <a:latin typeface="+mj-lt"/>
                <a:cs charset="0" pitchFamily="34" typeface="Arial"/>
              </a:rPr>
              <a:t> </a:t>
            </a:r>
          </a:p>
        </p:txBody>
      </p:sp>
      <p:pic>
        <p:nvPicPr>
          <p:cNvPr id="31748" name="Picture 4"/>
          <p:cNvPicPr>
            <a:picLocks noChangeArrowheads="1" noChangeAspect="1"/>
          </p:cNvPicPr>
          <p:nvPr/>
        </p:nvPicPr>
        <p:blipFill>
          <a:blip cstate="print" r:embed="rId3"/>
          <a:srcRect/>
          <a:stretch>
            <a:fillRect/>
          </a:stretch>
        </p:blipFill>
        <p:spPr>
          <a:xfrm>
            <a:off x="6019800" y="1371600"/>
            <a:ext cx="2276475" cy="886548"/>
          </a:xfrm>
          <a:prstGeom prst="rect">
            <a:avLst/>
          </a:prstGeom>
          <a:noFill/>
          <a:ln w="9525">
            <a:noFill/>
            <a:miter lim="800000"/>
            <a:headEnd/>
            <a:tailEnd/>
          </a:ln>
        </p:spPr>
      </p:pic>
      <p:pic>
        <p:nvPicPr>
          <p:cNvPr id="31749" name="Picture 5"/>
          <p:cNvPicPr>
            <a:picLocks noChangeArrowheads="1" noChangeAspect="1"/>
          </p:cNvPicPr>
          <p:nvPr/>
        </p:nvPicPr>
        <p:blipFill>
          <a:blip cstate="print" r:embed="rId4"/>
          <a:srcRect/>
          <a:stretch>
            <a:fillRect/>
          </a:stretch>
        </p:blipFill>
        <p:spPr>
          <a:xfrm>
            <a:off x="1600200" y="4800600"/>
            <a:ext cx="5172075" cy="333375"/>
          </a:xfrm>
          <a:prstGeom prst="rect">
            <a:avLst/>
          </a:prstGeom>
          <a:noFill/>
          <a:ln w="9525">
            <a:noFill/>
            <a:miter lim="800000"/>
            <a:headEnd/>
            <a:tailEnd/>
          </a:ln>
        </p:spPr>
      </p:pic>
      <p:pic>
        <p:nvPicPr>
          <p:cNvPr id="31750" name="Picture 6"/>
          <p:cNvPicPr>
            <a:picLocks noChangeArrowheads="1" noChangeAspect="1"/>
          </p:cNvPicPr>
          <p:nvPr/>
        </p:nvPicPr>
        <p:blipFill>
          <a:blip cstate="print" r:embed="rId5"/>
          <a:srcRect/>
          <a:stretch>
            <a:fillRect/>
          </a:stretch>
        </p:blipFill>
        <p:spPr>
          <a:xfrm>
            <a:off x="2133600" y="5257800"/>
            <a:ext cx="3848100" cy="323850"/>
          </a:xfrm>
          <a:prstGeom prst="rect">
            <a:avLst/>
          </a:prstGeom>
          <a:noFill/>
          <a:ln w="9525">
            <a:noFill/>
            <a:miter lim="800000"/>
            <a:headEnd/>
            <a:tailEnd/>
          </a:ln>
        </p:spPr>
      </p:pic>
      <p:pic>
        <p:nvPicPr>
          <p:cNvPr id="31751" name="Picture 7"/>
          <p:cNvPicPr>
            <a:picLocks noChangeArrowheads="1" noChangeAspect="1"/>
          </p:cNvPicPr>
          <p:nvPr/>
        </p:nvPicPr>
        <p:blipFill>
          <a:blip cstate="print" r:embed="rId6"/>
          <a:srcRect/>
          <a:stretch>
            <a:fillRect/>
          </a:stretch>
        </p:blipFill>
        <p:spPr>
          <a:xfrm>
            <a:off x="2209800" y="6248400"/>
            <a:ext cx="4619625" cy="314325"/>
          </a:xfrm>
          <a:prstGeom prst="rect">
            <a:avLst/>
          </a:prstGeom>
          <a:noFill/>
          <a:ln w="9525">
            <a:noFill/>
            <a:miter lim="800000"/>
            <a:headEnd/>
            <a:tailEnd/>
          </a:ln>
        </p:spPr>
      </p:pic>
      <p:sp>
        <p:nvSpPr>
          <p:cNvPr id="31752" name="Rectangle 8"/>
          <p:cNvSpPr>
            <a:spLocks noChangeArrowheads="1"/>
          </p:cNvSpPr>
          <p:nvPr/>
        </p:nvSpPr>
        <p:spPr>
          <a:xfrm>
            <a:off x="5334000" y="2286000"/>
            <a:ext cx="3657600" cy="895097"/>
          </a:xfrm>
          <a:prstGeom prst="rect">
            <a:avLst/>
          </a:prstGeom>
          <a:solidFill>
            <a:srgbClr val="F9FBFA"/>
          </a:solidFill>
          <a:ln w="9525">
            <a:noFill/>
            <a:miter lim="800000"/>
            <a:headEnd/>
            <a:tailEnd/>
          </a:ln>
          <a:effectLst/>
        </p:spPr>
        <p:txBody>
          <a:bodyPr anchor="ctr" anchorCtr="0" bIns="63480" compatLnSpc="1" lIns="91440" numCol="1" rIns="91440" tIns="0" vert="horz" wrap="square">
            <a:prstTxWarp prst="textNoShape">
              <a:avLst/>
            </a:prstTxWarp>
            <a:spAutoFit/>
          </a:bodyPr>
          <a:lstStyle/>
          <a:p>
            <a:pPr algn="l" defTabSz="914400" eaLnBrk="1" fontAlgn="base" hangingPunct="1" indent="0" latinLnBrk="0" lvl="0" marL="0" marR="0" rtl="0">
              <a:lnSpc>
                <a:spcPct val="100000"/>
              </a:lnSpc>
              <a:spcBef>
                <a:spcPct val="0"/>
              </a:spcBef>
              <a:spcAft>
                <a:spcPct val="0"/>
              </a:spcAft>
              <a:buClrTx/>
              <a:buSzTx/>
              <a:buFontTx/>
              <a:buNone/>
              <a:tabLst/>
            </a:pPr>
            <a:r>
              <a:rPr b="0" baseline="0" cap="none" dirty="0" i="0" kumimoji="0" lang="en-US" normalizeH="0" smtClean="0" strike="noStrike" u="none">
                <a:ln>
                  <a:noFill/>
                </a:ln>
                <a:solidFill>
                  <a:srgbClr val="001E2B"/>
                </a:solidFill>
                <a:effectLst/>
                <a:latin typeface="+mj-lt"/>
                <a:cs charset="0" pitchFamily="34" typeface="Arial"/>
              </a:rPr>
              <a:t>In this example:</a:t>
            </a:r>
            <a:endParaRPr b="0" baseline="0" cap="none" dirty="0" i="0" kumimoji="0" lang="en-US" normalizeH="0" smtClean="0" strike="noStrike" u="none">
              <a:ln>
                <a:noFill/>
              </a:ln>
              <a:solidFill>
                <a:schemeClr val="tx1"/>
              </a:solidFill>
              <a:effectLst/>
              <a:latin typeface="+mj-lt"/>
              <a:cs charset="0" pitchFamily="34" typeface="Arial"/>
            </a:endParaRPr>
          </a:p>
          <a:p>
            <a:pPr algn="l" defTabSz="914400" eaLnBrk="0" fontAlgn="base" hangingPunct="0" indent="0" latinLnBrk="0" lvl="0" marL="0" marR="0" rtl="0">
              <a:lnSpc>
                <a:spcPct val="100000"/>
              </a:lnSpc>
              <a:spcBef>
                <a:spcPct val="0"/>
              </a:spcBef>
              <a:spcAft>
                <a:spcPct val="0"/>
              </a:spcAft>
              <a:buClrTx/>
              <a:buSzTx/>
              <a:buFontTx/>
              <a:buChar char="•"/>
              <a:tabLst/>
            </a:pPr>
            <a:r>
              <a:rPr b="0" baseline="0" cap="none" dirty="0" i="0" kumimoji="0" lang="en-US" normalizeH="0" smtClean="0" strike="noStrike" u="none">
                <a:ln>
                  <a:noFill/>
                </a:ln>
                <a:solidFill>
                  <a:srgbClr val="001E2B"/>
                </a:solidFill>
                <a:effectLst/>
                <a:latin typeface="+mj-lt"/>
                <a:cs charset="0" pitchFamily="34" typeface="Arial"/>
              </a:rPr>
              <a:t>The index on </a:t>
            </a:r>
            <a:r>
              <a:rPr b="0" baseline="0" cap="none" dirty="0" i="0" kumimoji="0" lang="en-US" normalizeH="0" smtClean="0" strike="noStrike" u="none">
                <a:ln>
                  <a:noFill/>
                </a:ln>
                <a:solidFill>
                  <a:srgbClr val="1C2D38"/>
                </a:solidFill>
                <a:effectLst/>
                <a:latin typeface="+mj-lt"/>
                <a:cs charset="0" pitchFamily="34" typeface="Arial"/>
              </a:rPr>
              <a:t>name</a:t>
            </a:r>
            <a:r>
              <a:rPr b="0" baseline="0" cap="none" dirty="0" i="0" kumimoji="0" lang="en-US" normalizeH="0" smtClean="0" strike="noStrike" u="none">
                <a:ln>
                  <a:noFill/>
                </a:ln>
                <a:solidFill>
                  <a:srgbClr val="001E2B"/>
                </a:solidFill>
                <a:effectLst/>
                <a:latin typeface="+mj-lt"/>
                <a:cs charset="0" pitchFamily="34" typeface="Arial"/>
              </a:rPr>
              <a:t> is ascending (</a:t>
            </a:r>
            <a:r>
              <a:rPr b="0" baseline="0" cap="none" dirty="0" i="0" kumimoji="0" lang="en-US" normalizeH="0" smtClean="0" strike="noStrike" u="none">
                <a:ln>
                  <a:noFill/>
                </a:ln>
                <a:solidFill>
                  <a:srgbClr val="1C2D38"/>
                </a:solidFill>
                <a:effectLst/>
                <a:latin typeface="+mj-lt"/>
                <a:cs charset="0" pitchFamily="34" typeface="Arial"/>
              </a:rPr>
              <a:t>1</a:t>
            </a:r>
            <a:r>
              <a:rPr b="0" baseline="0" cap="none" dirty="0" i="0" kumimoji="0" lang="en-US" normalizeH="0" smtClean="0" strike="noStrike" u="none">
                <a:ln>
                  <a:noFill/>
                </a:ln>
                <a:solidFill>
                  <a:srgbClr val="001E2B"/>
                </a:solidFill>
                <a:effectLst/>
                <a:latin typeface="+mj-lt"/>
                <a:cs charset="0" pitchFamily="34" typeface="Arial"/>
              </a:rPr>
              <a:t>).</a:t>
            </a:r>
            <a:endParaRPr b="0" baseline="0" cap="none" dirty="0" i="0" kumimoji="0" lang="en-US" normalizeH="0" smtClean="0" strike="noStrike" u="none">
              <a:ln>
                <a:noFill/>
              </a:ln>
              <a:solidFill>
                <a:srgbClr val="21313C"/>
              </a:solidFill>
              <a:effectLst/>
              <a:latin typeface="+mj-lt"/>
              <a:cs charset="0" pitchFamily="34" typeface="Arial"/>
            </a:endParaRPr>
          </a:p>
          <a:p>
            <a:pPr algn="l" defTabSz="914400" eaLnBrk="0" fontAlgn="base" hangingPunct="0" indent="0" latinLnBrk="0" lvl="0" marL="0" marR="0" rtl="0">
              <a:lnSpc>
                <a:spcPct val="100000"/>
              </a:lnSpc>
              <a:spcBef>
                <a:spcPct val="0"/>
              </a:spcBef>
              <a:spcAft>
                <a:spcPct val="0"/>
              </a:spcAft>
              <a:buClrTx/>
              <a:buSzTx/>
              <a:buFontTx/>
              <a:buChar char="•"/>
              <a:tabLst/>
            </a:pPr>
            <a:r>
              <a:rPr b="0" baseline="0" cap="none" dirty="0" i="0" kumimoji="0" lang="en-US" normalizeH="0" smtClean="0" strike="noStrike" u="none">
                <a:ln>
                  <a:noFill/>
                </a:ln>
                <a:solidFill>
                  <a:srgbClr val="001E2B"/>
                </a:solidFill>
                <a:effectLst/>
                <a:latin typeface="+mj-lt"/>
                <a:cs charset="0" pitchFamily="34" typeface="Arial"/>
              </a:rPr>
              <a:t>The index on </a:t>
            </a:r>
            <a:r>
              <a:rPr b="0" baseline="0" cap="none" dirty="0" err="1" i="0" kumimoji="0" lang="en-US" normalizeH="0" smtClean="0" strike="noStrike" u="none">
                <a:ln>
                  <a:noFill/>
                </a:ln>
                <a:solidFill>
                  <a:srgbClr val="1C2D38"/>
                </a:solidFill>
                <a:effectLst/>
                <a:latin typeface="+mj-lt"/>
                <a:cs charset="0" pitchFamily="34" typeface="Arial"/>
              </a:rPr>
              <a:t>gpa</a:t>
            </a:r>
            <a:r>
              <a:rPr b="0" baseline="0" cap="none" dirty="0" i="0" kumimoji="0" lang="en-US" normalizeH="0" smtClean="0" strike="noStrike" u="none">
                <a:ln>
                  <a:noFill/>
                </a:ln>
                <a:solidFill>
                  <a:srgbClr val="001E2B"/>
                </a:solidFill>
                <a:effectLst/>
                <a:latin typeface="+mj-lt"/>
                <a:cs charset="0" pitchFamily="34" typeface="Arial"/>
              </a:rPr>
              <a:t> is descending (</a:t>
            </a:r>
            <a:r>
              <a:rPr b="0" baseline="0" cap="none" dirty="0" i="0" kumimoji="0" lang="en-US" normalizeH="0" smtClean="0" strike="noStrike" u="none">
                <a:ln>
                  <a:noFill/>
                </a:ln>
                <a:solidFill>
                  <a:srgbClr val="1C2D38"/>
                </a:solidFill>
                <a:effectLst/>
                <a:latin typeface="+mj-lt"/>
                <a:cs charset="0" pitchFamily="34" typeface="Arial"/>
              </a:rPr>
              <a:t>-1</a:t>
            </a:r>
            <a:r>
              <a:rPr b="0" baseline="0" cap="none" dirty="0" i="0" kumimoji="0" lang="en-US" normalizeH="0" smtClean="0" strike="noStrike" u="none">
                <a:ln>
                  <a:noFill/>
                </a:ln>
                <a:solidFill>
                  <a:srgbClr val="001E2B"/>
                </a:solidFill>
                <a:effectLst/>
                <a:latin typeface="+mj-lt"/>
                <a:cs charset="0" pitchFamily="34" typeface="Arial"/>
              </a:rPr>
              <a:t>).</a:t>
            </a:r>
            <a:endParaRPr b="0" baseline="0" cap="none" dirty="0" i="0" kumimoji="0" lang="en-US" normalizeH="0" smtClean="0" strike="noStrike" sz="1800" u="none">
              <a:ln>
                <a:noFill/>
              </a:ln>
              <a:solidFill>
                <a:schemeClr val="tx1"/>
              </a:solidFill>
              <a:effectLst/>
              <a:latin charset="0" pitchFamily="34" typeface="Arial"/>
              <a:cs charset="0" pitchFamily="34" typeface="Arial"/>
            </a:endParaRPr>
          </a:p>
        </p:txBody>
      </p:sp>
    </p:spTree>
  </p:cSld>
  <p:clrMapOvr>
    <a:masterClrMapping/>
  </p:clrMapOvr>
  <p:timing>
    <p:tnLst>
      <p:par>
        <p:cTn dur="indefinite" id="1" nodeType="tmRoot" restart="never"/>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457200"/>
          </a:xfrm>
        </p:spPr>
        <p:txBody>
          <a:bodyPr numCol="1">
            <a:noAutofit/>
          </a:bodyPr>
          <a:lstStyle/>
          <a:p>
            <a:r>
              <a:rPr dirty="0" lang="en-US" smtClean="0" sz="3200"/>
              <a:t>3. Multikey Indexes</a:t>
            </a:r>
            <a:endParaRPr dirty="0" lang="en-US" sz="3200"/>
          </a:p>
        </p:txBody>
      </p:sp>
      <p:sp>
        <p:nvSpPr>
          <p:cNvPr id="3" name="Content Placeholder 2"/>
          <p:cNvSpPr>
            <a:spLocks noGrp="1"/>
          </p:cNvSpPr>
          <p:nvPr>
            <p:ph idx="1"/>
          </p:nvPr>
        </p:nvSpPr>
        <p:spPr>
          <a:xfrm>
            <a:off x="152400" y="533400"/>
            <a:ext cx="8915400" cy="6172200"/>
          </a:xfrm>
        </p:spPr>
        <p:txBody>
          <a:bodyPr numCol="1">
            <a:normAutofit/>
          </a:bodyPr>
          <a:lstStyle/>
          <a:p>
            <a:pPr algn="just"/>
            <a:r>
              <a:rPr dirty="0" lang="en-US" smtClean="0" sz="2400"/>
              <a:t>Multikey indexes collect and sort data from fields containing array values. Improve performance for queries on array fields.</a:t>
            </a:r>
          </a:p>
          <a:p>
            <a:pPr algn="just"/>
            <a:r>
              <a:rPr dirty="0" lang="en-US" smtClean="0" sz="2400"/>
              <a:t>You do not need to explicitly specify the </a:t>
            </a:r>
            <a:r>
              <a:rPr dirty="0" err="1" lang="en-US" smtClean="0" sz="2400"/>
              <a:t>multikey</a:t>
            </a:r>
            <a:r>
              <a:rPr dirty="0" lang="en-US" smtClean="0" sz="2400"/>
              <a:t> type. When you create an index on a field that contains an array value, </a:t>
            </a:r>
            <a:r>
              <a:rPr dirty="0" err="1" lang="en-US" smtClean="0" sz="2400"/>
              <a:t>MongoDB</a:t>
            </a:r>
            <a:r>
              <a:rPr dirty="0" lang="en-US" smtClean="0" sz="2400"/>
              <a:t> automatically sets that index to be a </a:t>
            </a:r>
            <a:r>
              <a:rPr dirty="0" err="1" lang="en-US" smtClean="0" sz="2400"/>
              <a:t>multikey</a:t>
            </a:r>
            <a:r>
              <a:rPr dirty="0" lang="en-US" smtClean="0" sz="2400"/>
              <a:t> index.</a:t>
            </a:r>
          </a:p>
          <a:p>
            <a:pPr algn="just"/>
            <a:r>
              <a:rPr dirty="0" err="1" lang="en-US" smtClean="0" sz="2400"/>
              <a:t>MongoDB</a:t>
            </a:r>
            <a:r>
              <a:rPr dirty="0" lang="en-US" smtClean="0" sz="2400"/>
              <a:t> can create </a:t>
            </a:r>
            <a:r>
              <a:rPr dirty="0" err="1" lang="en-US" smtClean="0" sz="2400"/>
              <a:t>multikey</a:t>
            </a:r>
            <a:r>
              <a:rPr dirty="0" lang="en-US" smtClean="0" sz="2400"/>
              <a:t> indexes over arrays that hold both scalar values (for example, strings and numbers) and embedded documents. If an array contains multiple instances of the same value, the index only includes one entry for the value.</a:t>
            </a:r>
          </a:p>
          <a:p>
            <a:pPr algn="just"/>
            <a:endParaRPr dirty="0" lang="en-US" smtClean="0" sz="2400"/>
          </a:p>
          <a:p>
            <a:r>
              <a:rPr dirty="0" lang="en-US" smtClean="0" sz="2400"/>
              <a:t>This image shows a </a:t>
            </a:r>
            <a:r>
              <a:rPr dirty="0" err="1" lang="en-US" smtClean="0" sz="2400"/>
              <a:t>multikey</a:t>
            </a:r>
            <a:r>
              <a:rPr dirty="0" lang="en-US" smtClean="0" sz="2400"/>
              <a:t> index on the addr.zip field:</a:t>
            </a:r>
          </a:p>
          <a:p>
            <a:pPr>
              <a:buNone/>
            </a:pPr>
            <a:endParaRPr dirty="0" lang="en-US" sz="2400"/>
          </a:p>
        </p:txBody>
      </p:sp>
      <p:pic>
        <p:nvPicPr>
          <p:cNvPr id="1026" name="Picture 2"/>
          <p:cNvPicPr>
            <a:picLocks noChangeArrowheads="1" noChangeAspect="1"/>
          </p:cNvPicPr>
          <p:nvPr/>
        </p:nvPicPr>
        <p:blipFill>
          <a:blip cstate="print" r:embed="rId2"/>
          <a:srcRect/>
          <a:stretch>
            <a:fillRect/>
          </a:stretch>
        </p:blipFill>
        <p:spPr>
          <a:xfrm>
            <a:off x="1219200" y="4038600"/>
            <a:ext cx="6562725" cy="361950"/>
          </a:xfrm>
          <a:prstGeom prst="rect">
            <a:avLst/>
          </a:prstGeom>
          <a:noFill/>
          <a:ln w="9525">
            <a:noFill/>
            <a:miter lim="800000"/>
            <a:headEnd/>
            <a:tailEnd/>
          </a:ln>
        </p:spPr>
      </p:pic>
      <p:pic>
        <p:nvPicPr>
          <p:cNvPr id="1028" name="Picture 4"/>
          <p:cNvPicPr>
            <a:picLocks noChangeArrowheads="1" noChangeAspect="1"/>
          </p:cNvPicPr>
          <p:nvPr/>
        </p:nvPicPr>
        <p:blipFill>
          <a:blip cstate="print" r:embed="rId3"/>
          <a:srcRect/>
          <a:stretch>
            <a:fillRect/>
          </a:stretch>
        </p:blipFill>
        <p:spPr>
          <a:xfrm>
            <a:off x="457200" y="5867400"/>
            <a:ext cx="8267700" cy="495300"/>
          </a:xfrm>
          <a:prstGeom prst="rect">
            <a:avLst/>
          </a:prstGeom>
          <a:noFill/>
          <a:ln w="9525">
            <a:noFill/>
            <a:miter lim="800000"/>
            <a:headEnd/>
            <a:tailEnd/>
          </a:ln>
        </p:spPr>
      </p:pic>
      <p:pic>
        <p:nvPicPr>
          <p:cNvPr id="1029" name="Picture 5"/>
          <p:cNvPicPr>
            <a:picLocks noChangeArrowheads="1" noChangeAspect="1"/>
          </p:cNvPicPr>
          <p:nvPr/>
        </p:nvPicPr>
        <p:blipFill>
          <a:blip cstate="print" r:embed="rId4"/>
          <a:srcRect/>
          <a:stretch>
            <a:fillRect/>
          </a:stretch>
        </p:blipFill>
        <p:spPr>
          <a:xfrm>
            <a:off x="2895600" y="6448425"/>
            <a:ext cx="3067050" cy="409575"/>
          </a:xfrm>
          <a:prstGeom prst="rect">
            <a:avLst/>
          </a:prstGeom>
          <a:noFill/>
          <a:ln w="9525">
            <a:noFill/>
            <a:miter lim="800000"/>
            <a:headEnd/>
            <a:tailEnd/>
          </a:ln>
        </p:spPr>
      </p:pic>
      <p:pic>
        <p:nvPicPr>
          <p:cNvPr id="1030" name="Picture 6"/>
          <p:cNvPicPr>
            <a:picLocks noChangeArrowheads="1" noChangeAspect="1"/>
          </p:cNvPicPr>
          <p:nvPr/>
        </p:nvPicPr>
        <p:blipFill>
          <a:blip cstate="print" r:embed="rId5"/>
          <a:srcRect/>
          <a:stretch>
            <a:fillRect/>
          </a:stretch>
        </p:blipFill>
        <p:spPr>
          <a:xfrm>
            <a:off x="7467600" y="4419600"/>
            <a:ext cx="1176374" cy="1486248"/>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numCol="1">
            <a:normAutofit fontScale="92500" lnSpcReduction="10000"/>
          </a:bodyPr>
          <a:lstStyle/>
          <a:p>
            <a:pPr>
              <a:buNone/>
            </a:pPr>
            <a:r>
              <a:rPr b="1" dirty="0" lang="en-US" smtClean="0"/>
              <a:t>Use Cases:</a:t>
            </a:r>
          </a:p>
          <a:p>
            <a:pPr algn="just"/>
            <a:r>
              <a:rPr dirty="0" lang="en-US" smtClean="0" sz="2800"/>
              <a:t>If your application frequently queries a field that contains an array value, a </a:t>
            </a:r>
            <a:r>
              <a:rPr dirty="0" err="1" lang="en-US" smtClean="0" sz="2800"/>
              <a:t>multikey</a:t>
            </a:r>
            <a:r>
              <a:rPr dirty="0" lang="en-US" smtClean="0" sz="2800"/>
              <a:t> index improves performance for those queries.</a:t>
            </a:r>
          </a:p>
          <a:p>
            <a:pPr algn="just"/>
            <a:r>
              <a:rPr dirty="0" lang="en-US" smtClean="0" sz="2800"/>
              <a:t>Indexing commonly queried fields increases the chances of </a:t>
            </a:r>
            <a:r>
              <a:rPr b="1" dirty="0" i="1" lang="en-US" smtClean="0" sz="2800"/>
              <a:t>covering</a:t>
            </a:r>
            <a:r>
              <a:rPr dirty="0" lang="en-US" smtClean="0" sz="2800"/>
              <a:t> those queries. Covered queries are queries that can be satisfied entirely using an index, without examining any documents. This optimizes query performance.</a:t>
            </a:r>
          </a:p>
          <a:p>
            <a:pPr algn="just"/>
            <a:r>
              <a:rPr dirty="0" lang="en-US" smtClean="0" sz="2800"/>
              <a:t>For example, documents in a students collection contain a </a:t>
            </a:r>
            <a:r>
              <a:rPr dirty="0" err="1" lang="en-US" smtClean="0" sz="2800"/>
              <a:t>test_scores</a:t>
            </a:r>
            <a:r>
              <a:rPr dirty="0" lang="en-US" smtClean="0" sz="2800"/>
              <a:t> field: an array of test scores a student received throughout the semester. You regularly update a list of top students: students who have at least five </a:t>
            </a:r>
            <a:r>
              <a:rPr dirty="0" err="1" lang="en-US" smtClean="0" sz="2800"/>
              <a:t>test_scores</a:t>
            </a:r>
            <a:r>
              <a:rPr dirty="0" lang="en-US" smtClean="0" sz="2800"/>
              <a:t> greater than 90.</a:t>
            </a:r>
          </a:p>
          <a:p>
            <a:pPr algn="just"/>
            <a:r>
              <a:rPr dirty="0" lang="en-US" smtClean="0" sz="2800"/>
              <a:t>You can create an index on the </a:t>
            </a:r>
            <a:r>
              <a:rPr dirty="0" err="1" lang="en-US" smtClean="0" sz="2800"/>
              <a:t>test_scores</a:t>
            </a:r>
            <a:r>
              <a:rPr dirty="0" lang="en-US" smtClean="0" sz="2800"/>
              <a:t> field to improve performance for this query. Because </a:t>
            </a:r>
            <a:r>
              <a:rPr dirty="0" err="1" lang="en-US" smtClean="0" sz="2800"/>
              <a:t>test_scores</a:t>
            </a:r>
            <a:r>
              <a:rPr dirty="0" lang="en-US" smtClean="0" sz="2800"/>
              <a:t> contains an array value, </a:t>
            </a:r>
            <a:r>
              <a:rPr dirty="0" err="1" lang="en-US" smtClean="0" sz="2800"/>
              <a:t>MongoDB</a:t>
            </a:r>
            <a:r>
              <a:rPr dirty="0" lang="en-US" smtClean="0" sz="2800"/>
              <a:t> stores the index as a </a:t>
            </a:r>
            <a:r>
              <a:rPr dirty="0" err="1" lang="en-US" smtClean="0" sz="2800"/>
              <a:t>multikey</a:t>
            </a:r>
            <a:r>
              <a:rPr dirty="0" lang="en-US" smtClean="0" sz="2800"/>
              <a:t> index.</a:t>
            </a:r>
          </a:p>
          <a:p>
            <a:endParaRPr dirty="0" lang="en-US"/>
          </a:p>
        </p:txBody>
      </p:sp>
    </p:spTree>
  </p:cSld>
  <p:clrMapOvr>
    <a:masterClrMapping/>
  </p:clrMapOvr>
  <p:timing>
    <p:tnLst>
      <p:par>
        <p:cTn dur="indefinite" id="1" nodeType="tmRoot" restart="never"/>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lstStyle/>
          <a:p>
            <a:pPr>
              <a:buNone/>
            </a:pPr>
            <a:r>
              <a:rPr b="1" dirty="0" lang="en-US" smtClean="0" sz="2400"/>
              <a:t>Create an Index on an Array Field:</a:t>
            </a:r>
          </a:p>
          <a:p>
            <a:pPr algn="just"/>
            <a:r>
              <a:rPr dirty="0" lang="en-US" smtClean="0" sz="2000"/>
              <a:t>You can create an index on a field containing an array value to improve performance for queries on that field. When you create an index on a field containing an array value, </a:t>
            </a:r>
            <a:r>
              <a:rPr dirty="0" err="1" lang="en-US" smtClean="0" sz="2000"/>
              <a:t>MongoDB</a:t>
            </a:r>
            <a:r>
              <a:rPr dirty="0" lang="en-US" smtClean="0" sz="2000"/>
              <a:t> stores that index as a </a:t>
            </a:r>
            <a:r>
              <a:rPr dirty="0" err="1" lang="en-US" smtClean="0" sz="2000"/>
              <a:t>multikey</a:t>
            </a:r>
            <a:r>
              <a:rPr dirty="0" lang="en-US" smtClean="0" sz="2000"/>
              <a:t> index.</a:t>
            </a:r>
            <a:endParaRPr dirty="0" lang="en-US" sz="2000"/>
          </a:p>
        </p:txBody>
      </p:sp>
      <p:pic>
        <p:nvPicPr>
          <p:cNvPr id="2050" name="Picture 2"/>
          <p:cNvPicPr>
            <a:picLocks noChangeArrowheads="1" noChangeAspect="1"/>
          </p:cNvPicPr>
          <p:nvPr/>
        </p:nvPicPr>
        <p:blipFill>
          <a:blip cstate="print" r:embed="rId2"/>
          <a:srcRect/>
          <a:stretch>
            <a:fillRect/>
          </a:stretch>
        </p:blipFill>
        <p:spPr>
          <a:xfrm>
            <a:off x="1143000" y="1600200"/>
            <a:ext cx="7453313" cy="381000"/>
          </a:xfrm>
          <a:prstGeom prst="rect">
            <a:avLst/>
          </a:prstGeom>
          <a:noFill/>
          <a:ln w="9525">
            <a:noFill/>
            <a:miter lim="800000"/>
            <a:headEnd/>
            <a:tailEnd/>
          </a:ln>
        </p:spPr>
      </p:pic>
      <p:pic>
        <p:nvPicPr>
          <p:cNvPr id="2051" name="Picture 3"/>
          <p:cNvPicPr>
            <a:picLocks noChangeArrowheads="1" noChangeAspect="1"/>
          </p:cNvPicPr>
          <p:nvPr/>
        </p:nvPicPr>
        <p:blipFill>
          <a:blip cstate="print" r:embed="rId3"/>
          <a:srcRect/>
          <a:stretch>
            <a:fillRect/>
          </a:stretch>
        </p:blipFill>
        <p:spPr>
          <a:xfrm>
            <a:off x="457200" y="2133600"/>
            <a:ext cx="3629025" cy="4019550"/>
          </a:xfrm>
          <a:prstGeom prst="rect">
            <a:avLst/>
          </a:prstGeom>
          <a:noFill/>
          <a:ln w="9525">
            <a:noFill/>
            <a:miter lim="800000"/>
            <a:headEnd/>
            <a:tailEnd/>
          </a:ln>
        </p:spPr>
      </p:pic>
      <p:sp>
        <p:nvSpPr>
          <p:cNvPr id="2052" name="Rectangle 4"/>
          <p:cNvSpPr>
            <a:spLocks noChangeArrowheads="1"/>
          </p:cNvSpPr>
          <p:nvPr/>
        </p:nvSpPr>
        <p:spPr>
          <a:xfrm flipV="1" rot="10800000">
            <a:off x="4343400" y="2133600"/>
            <a:ext cx="4800600" cy="1631216"/>
          </a:xfrm>
          <a:prstGeom prst="rect">
            <a:avLst/>
          </a:prstGeom>
          <a:solidFill>
            <a:srgbClr val="F9FBFA"/>
          </a:solidFill>
          <a:ln w="9525">
            <a:noFill/>
            <a:miter lim="800000"/>
            <a:headEnd/>
            <a:tailEnd/>
          </a:ln>
          <a:effectLst/>
        </p:spPr>
        <p:txBody>
          <a:bodyPr anchor="ctr" anchorCtr="0" bIns="45720" compatLnSpc="1" lIns="91440" numCol="1" rIns="91440" tIns="45720" vert="horz" wrap="square">
            <a:prstTxWarp prst="textNoShape">
              <a:avLst/>
            </a:prstTxWarp>
            <a:spAutoFit/>
          </a:bodyPr>
          <a:lstStyle/>
          <a:p>
            <a:pPr algn="just" defTabSz="914400" eaLnBrk="1" fontAlgn="base" hangingPunct="1" indent="0" latinLnBrk="0" lvl="0" marL="0" marR="0" rtl="0">
              <a:lnSpc>
                <a:spcPct val="100000"/>
              </a:lnSpc>
              <a:spcBef>
                <a:spcPct val="0"/>
              </a:spcBef>
              <a:spcAft>
                <a:spcPct val="0"/>
              </a:spcAft>
              <a:buClrTx/>
              <a:buSzTx/>
              <a:buFontTx/>
              <a:buNone/>
              <a:tabLst/>
            </a:pPr>
            <a:r>
              <a:rPr b="0" baseline="0" cap="none" dirty="0" i="0" kumimoji="0" lang="en-US" normalizeH="0" smtClean="0" strike="noStrike" sz="2000" u="none">
                <a:ln>
                  <a:noFill/>
                </a:ln>
                <a:solidFill>
                  <a:srgbClr val="001E2B"/>
                </a:solidFill>
                <a:effectLst/>
                <a:cs charset="0" pitchFamily="34" typeface="Arial"/>
              </a:rPr>
              <a:t>You regularly run a query that returns students with at least one </a:t>
            </a:r>
            <a:r>
              <a:rPr b="0" baseline="0" cap="none" dirty="0" err="1" i="0" kumimoji="0" lang="en-US" normalizeH="0" smtClean="0" strike="noStrike" sz="2000" u="none">
                <a:ln>
                  <a:noFill/>
                </a:ln>
                <a:solidFill>
                  <a:srgbClr val="1C2D38"/>
                </a:solidFill>
                <a:effectLst/>
                <a:cs charset="0" pitchFamily="34" typeface="Arial"/>
              </a:rPr>
              <a:t>test_score</a:t>
            </a:r>
            <a:r>
              <a:rPr b="0" baseline="0" cap="none" dirty="0" i="0" kumimoji="0" lang="en-US" normalizeH="0" smtClean="0" strike="noStrike" sz="2000" u="none">
                <a:ln>
                  <a:noFill/>
                </a:ln>
                <a:solidFill>
                  <a:srgbClr val="001E2B"/>
                </a:solidFill>
                <a:effectLst/>
                <a:cs charset="0" pitchFamily="34" typeface="Arial"/>
              </a:rPr>
              <a:t> greater than </a:t>
            </a:r>
            <a:r>
              <a:rPr b="0" baseline="0" cap="none" dirty="0" i="0" kumimoji="0" lang="en-US" normalizeH="0" smtClean="0" strike="noStrike" sz="2000" u="none">
                <a:ln>
                  <a:noFill/>
                </a:ln>
                <a:solidFill>
                  <a:srgbClr val="1C2D38"/>
                </a:solidFill>
                <a:effectLst/>
                <a:cs charset="0" pitchFamily="34" typeface="Arial"/>
              </a:rPr>
              <a:t>90</a:t>
            </a:r>
            <a:r>
              <a:rPr b="0" baseline="0" cap="none" dirty="0" i="0" kumimoji="0" lang="en-US" normalizeH="0" smtClean="0" strike="noStrike" sz="2000" u="none">
                <a:ln>
                  <a:noFill/>
                </a:ln>
                <a:solidFill>
                  <a:srgbClr val="001E2B"/>
                </a:solidFill>
                <a:effectLst/>
                <a:cs charset="0" pitchFamily="34" typeface="Arial"/>
              </a:rPr>
              <a:t>. You can create an index on the </a:t>
            </a:r>
            <a:r>
              <a:rPr b="0" baseline="0" cap="none" dirty="0" err="1" i="0" kumimoji="0" lang="en-US" normalizeH="0" smtClean="0" strike="noStrike" sz="2000" u="none">
                <a:ln>
                  <a:noFill/>
                </a:ln>
                <a:solidFill>
                  <a:srgbClr val="1C2D38"/>
                </a:solidFill>
                <a:effectLst/>
                <a:cs charset="0" pitchFamily="34" typeface="Arial"/>
              </a:rPr>
              <a:t>test_scores</a:t>
            </a:r>
            <a:r>
              <a:rPr b="0" baseline="0" cap="none" dirty="0" i="0" kumimoji="0" lang="en-US" normalizeH="0" smtClean="0" strike="noStrike" sz="2000" u="none">
                <a:ln>
                  <a:noFill/>
                </a:ln>
                <a:solidFill>
                  <a:srgbClr val="001E2B"/>
                </a:solidFill>
                <a:effectLst/>
                <a:cs charset="0" pitchFamily="34" typeface="Arial"/>
              </a:rPr>
              <a:t> field to improve performance for this query.</a:t>
            </a:r>
            <a:r>
              <a:rPr b="0" baseline="0" cap="none" dirty="0" i="0" kumimoji="0" lang="en-US" normalizeH="0" smtClean="0" strike="noStrike" sz="2000" u="none">
                <a:ln>
                  <a:noFill/>
                </a:ln>
                <a:solidFill>
                  <a:schemeClr val="tx1"/>
                </a:solidFill>
                <a:effectLst/>
                <a:cs charset="0" pitchFamily="34" typeface="Arial"/>
              </a:rPr>
              <a:t> </a:t>
            </a:r>
          </a:p>
        </p:txBody>
      </p:sp>
      <p:pic>
        <p:nvPicPr>
          <p:cNvPr id="2053" name="Picture 5"/>
          <p:cNvPicPr>
            <a:picLocks noChangeArrowheads="1" noChangeAspect="1"/>
          </p:cNvPicPr>
          <p:nvPr/>
        </p:nvPicPr>
        <p:blipFill>
          <a:blip cstate="print" r:embed="rId4"/>
          <a:srcRect/>
          <a:stretch>
            <a:fillRect/>
          </a:stretch>
        </p:blipFill>
        <p:spPr>
          <a:xfrm>
            <a:off x="4267200" y="3886200"/>
            <a:ext cx="4876800" cy="342900"/>
          </a:xfrm>
          <a:prstGeom prst="rect">
            <a:avLst/>
          </a:prstGeom>
          <a:noFill/>
          <a:ln w="9525">
            <a:noFill/>
            <a:miter lim="800000"/>
            <a:headEnd/>
            <a:tailEnd/>
          </a:ln>
        </p:spPr>
      </p:pic>
      <p:sp>
        <p:nvSpPr>
          <p:cNvPr id="2054" name="Rectangle 6"/>
          <p:cNvSpPr>
            <a:spLocks noChangeArrowheads="1"/>
          </p:cNvSpPr>
          <p:nvPr/>
        </p:nvSpPr>
        <p:spPr>
          <a:xfrm>
            <a:off x="4191000" y="4189512"/>
            <a:ext cx="4953000" cy="1938992"/>
          </a:xfrm>
          <a:prstGeom prst="rect">
            <a:avLst/>
          </a:prstGeom>
          <a:solidFill>
            <a:srgbClr val="F9FBFA"/>
          </a:solidFill>
          <a:ln w="9525">
            <a:noFill/>
            <a:miter lim="800000"/>
            <a:headEnd/>
            <a:tailEnd/>
          </a:ln>
          <a:effectLst/>
        </p:spPr>
        <p:txBody>
          <a:bodyPr anchor="ctr" anchorCtr="0" bIns="45720" compatLnSpc="1" lIns="91440" numCol="1" rIns="91440" tIns="45720" vert="horz" wrap="square">
            <a:prstTxWarp prst="textNoShape">
              <a:avLst/>
            </a:prstTxWarp>
            <a:spAutoFit/>
          </a:bodyPr>
          <a:lstStyle/>
          <a:p>
            <a:pPr algn="just" fontAlgn="base" lvl="0">
              <a:spcBef>
                <a:spcPct val="0"/>
              </a:spcBef>
              <a:spcAft>
                <a:spcPct val="0"/>
              </a:spcAft>
            </a:pPr>
            <a:r>
              <a:rPr b="0" baseline="0" cap="none" dirty="0" i="0" kumimoji="0" lang="en-US" normalizeH="0" smtClean="0" strike="noStrike" sz="2000" u="none">
                <a:ln>
                  <a:noFill/>
                </a:ln>
                <a:solidFill>
                  <a:srgbClr val="001E2B"/>
                </a:solidFill>
                <a:effectLst/>
                <a:cs charset="0" pitchFamily="34" typeface="Arial"/>
              </a:rPr>
              <a:t>This operation creates an ascending </a:t>
            </a:r>
            <a:r>
              <a:rPr b="0" baseline="0" cap="none" dirty="0" err="1" i="0" kumimoji="0" lang="en-US" normalizeH="0" smtClean="0" strike="noStrike" sz="2000" u="none">
                <a:ln>
                  <a:noFill/>
                </a:ln>
                <a:solidFill>
                  <a:srgbClr val="001E2B"/>
                </a:solidFill>
                <a:effectLst/>
                <a:cs charset="0" pitchFamily="34" typeface="Arial"/>
              </a:rPr>
              <a:t>multikey</a:t>
            </a:r>
            <a:r>
              <a:rPr b="0" baseline="0" cap="none" dirty="0" i="0" kumimoji="0" lang="en-US" normalizeH="0" smtClean="0" strike="noStrike" sz="2000" u="none">
                <a:ln>
                  <a:noFill/>
                </a:ln>
                <a:solidFill>
                  <a:srgbClr val="001E2B"/>
                </a:solidFill>
                <a:effectLst/>
                <a:cs charset="0" pitchFamily="34" typeface="Arial"/>
              </a:rPr>
              <a:t> index on the </a:t>
            </a:r>
            <a:r>
              <a:rPr b="0" baseline="0" cap="none" dirty="0" err="1" i="0" kumimoji="0" lang="en-US" normalizeH="0" smtClean="0" strike="noStrike" sz="2000" u="none">
                <a:ln>
                  <a:noFill/>
                </a:ln>
                <a:solidFill>
                  <a:srgbClr val="1C2D38"/>
                </a:solidFill>
                <a:effectLst/>
                <a:cs charset="0" pitchFamily="34" typeface="Arial"/>
              </a:rPr>
              <a:t>test_scores</a:t>
            </a:r>
            <a:r>
              <a:rPr b="0" baseline="0" cap="none" dirty="0" i="0" kumimoji="0" lang="en-US" normalizeH="0" smtClean="0" strike="noStrike" sz="2000" u="none">
                <a:ln>
                  <a:noFill/>
                </a:ln>
                <a:solidFill>
                  <a:srgbClr val="001E2B"/>
                </a:solidFill>
                <a:effectLst/>
                <a:cs charset="0" pitchFamily="34" typeface="Arial"/>
              </a:rPr>
              <a:t> field of the </a:t>
            </a:r>
            <a:r>
              <a:rPr b="0" baseline="0" cap="none" dirty="0" i="0" kumimoji="0" lang="en-US" normalizeH="0" smtClean="0" strike="noStrike" sz="2000" u="none">
                <a:ln>
                  <a:noFill/>
                </a:ln>
                <a:solidFill>
                  <a:srgbClr val="1C2D38"/>
                </a:solidFill>
                <a:effectLst/>
                <a:cs charset="0" pitchFamily="34" typeface="Arial"/>
              </a:rPr>
              <a:t>students</a:t>
            </a:r>
            <a:r>
              <a:rPr b="0" baseline="0" cap="none" dirty="0" i="0" kumimoji="0" lang="en-US" normalizeH="0" smtClean="0" strike="noStrike" sz="2000" u="none">
                <a:ln>
                  <a:noFill/>
                </a:ln>
                <a:solidFill>
                  <a:srgbClr val="001E2B"/>
                </a:solidFill>
                <a:effectLst/>
                <a:cs charset="0" pitchFamily="34" typeface="Arial"/>
              </a:rPr>
              <a:t> collection.</a:t>
            </a:r>
          </a:p>
          <a:p>
            <a:pPr algn="just" fontAlgn="base" lvl="0">
              <a:spcBef>
                <a:spcPct val="0"/>
              </a:spcBef>
              <a:spcAft>
                <a:spcPct val="0"/>
              </a:spcAft>
            </a:pPr>
            <a:r>
              <a:rPr dirty="0" lang="en-US" smtClean="0" sz="2000"/>
              <a:t>Because </a:t>
            </a:r>
            <a:r>
              <a:rPr dirty="0" err="1" lang="en-US" smtClean="0" sz="2000"/>
              <a:t>test_scores</a:t>
            </a:r>
            <a:r>
              <a:rPr dirty="0" lang="en-US" smtClean="0" sz="2000"/>
              <a:t> contains an array value, </a:t>
            </a:r>
            <a:r>
              <a:rPr dirty="0" err="1" lang="en-US" smtClean="0" sz="2000"/>
              <a:t>MongoDB</a:t>
            </a:r>
            <a:r>
              <a:rPr dirty="0" lang="en-US" smtClean="0" sz="2000"/>
              <a:t> stores this index as a </a:t>
            </a:r>
            <a:r>
              <a:rPr dirty="0" err="1" lang="en-US" smtClean="0" sz="2000"/>
              <a:t>multikey</a:t>
            </a:r>
            <a:r>
              <a:rPr dirty="0" lang="en-US" smtClean="0" sz="2000"/>
              <a:t> index.</a:t>
            </a:r>
            <a:endParaRPr b="0" baseline="0" cap="none" dirty="0" i="0" kumimoji="0" lang="en-US" normalizeH="0" smtClean="0" strike="noStrike" sz="2000" u="none">
              <a:ln>
                <a:noFill/>
              </a:ln>
              <a:solidFill>
                <a:schemeClr val="tx1"/>
              </a:solidFill>
              <a:effectLst/>
              <a:cs charset="0" pitchFamily="34" typeface="Arial"/>
            </a:endParaRPr>
          </a:p>
        </p:txBody>
      </p:sp>
    </p:spTree>
  </p:cSld>
  <p:clrMapOvr>
    <a:masterClrMapping/>
  </p:clrMapOvr>
  <p:timing>
    <p:tnLst>
      <p:par>
        <p:cTn dur="indefinite" id="1" nodeType="tmRoot" restart="never"/>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lstStyle/>
          <a:p>
            <a:pPr>
              <a:buNone/>
            </a:pPr>
            <a:r>
              <a:rPr b="1" dirty="0" lang="en-US" smtClean="0" sz="2000"/>
              <a:t>Results:</a:t>
            </a:r>
          </a:p>
          <a:p>
            <a:pPr algn="just"/>
            <a:r>
              <a:rPr dirty="0" lang="en-US" smtClean="0" sz="2000"/>
              <a:t>The index contains a key for each individual value that appears in the </a:t>
            </a:r>
            <a:r>
              <a:rPr dirty="0" err="1" lang="en-US" smtClean="0" sz="2000"/>
              <a:t>test_scores</a:t>
            </a:r>
            <a:r>
              <a:rPr dirty="0" lang="en-US" smtClean="0" sz="2000"/>
              <a:t> field. The index is ascending, meaning the keys are stored in this order: [ 62, 73, 88, 89, 92, 97 ].</a:t>
            </a:r>
          </a:p>
          <a:p>
            <a:pPr algn="just"/>
            <a:r>
              <a:rPr dirty="0" lang="en-US" smtClean="0" sz="2000"/>
              <a:t>The index supports queries that select on the </a:t>
            </a:r>
            <a:r>
              <a:rPr dirty="0" err="1" lang="en-US" smtClean="0" sz="2000"/>
              <a:t>test_scores</a:t>
            </a:r>
            <a:r>
              <a:rPr dirty="0" lang="en-US" smtClean="0" sz="2000"/>
              <a:t> field. For example, the following query returns documents where at least one element in the </a:t>
            </a:r>
            <a:r>
              <a:rPr dirty="0" err="1" lang="en-US" smtClean="0" sz="2000"/>
              <a:t>test_scores</a:t>
            </a:r>
            <a:r>
              <a:rPr dirty="0" lang="en-US" smtClean="0" sz="2000"/>
              <a:t> array is greater than 90:</a:t>
            </a:r>
          </a:p>
          <a:p>
            <a:endParaRPr dirty="0" lang="en-US"/>
          </a:p>
        </p:txBody>
      </p:sp>
      <p:pic>
        <p:nvPicPr>
          <p:cNvPr id="36866" name="Picture 2"/>
          <p:cNvPicPr>
            <a:picLocks noChangeArrowheads="1" noChangeAspect="1"/>
          </p:cNvPicPr>
          <p:nvPr/>
        </p:nvPicPr>
        <p:blipFill>
          <a:blip cstate="print" r:embed="rId2"/>
          <a:srcRect/>
          <a:stretch>
            <a:fillRect/>
          </a:stretch>
        </p:blipFill>
        <p:spPr>
          <a:xfrm>
            <a:off x="609600" y="2667000"/>
            <a:ext cx="5133975" cy="1409700"/>
          </a:xfrm>
          <a:prstGeom prst="rect">
            <a:avLst/>
          </a:prstGeom>
          <a:noFill/>
          <a:ln w="9525">
            <a:noFill/>
            <a:miter lim="800000"/>
            <a:headEnd/>
            <a:tailEnd/>
          </a:ln>
        </p:spPr>
      </p:pic>
      <p:pic>
        <p:nvPicPr>
          <p:cNvPr id="36867" name="Picture 3"/>
          <p:cNvPicPr>
            <a:picLocks noChangeArrowheads="1" noChangeAspect="1"/>
          </p:cNvPicPr>
          <p:nvPr/>
        </p:nvPicPr>
        <p:blipFill>
          <a:blip cstate="print" r:embed="rId3"/>
          <a:srcRect/>
          <a:stretch>
            <a:fillRect/>
          </a:stretch>
        </p:blipFill>
        <p:spPr>
          <a:xfrm>
            <a:off x="4114800" y="3733800"/>
            <a:ext cx="4619625" cy="2943225"/>
          </a:xfrm>
          <a:prstGeom prst="rect">
            <a:avLst/>
          </a:prstGeom>
          <a:noFill/>
          <a:ln w="9525">
            <a:noFill/>
            <a:miter lim="800000"/>
            <a:headEnd/>
            <a:tailEnd/>
          </a:ln>
        </p:spPr>
      </p:pic>
      <p:sp>
        <p:nvSpPr>
          <p:cNvPr id="6" name="Rectangle 5"/>
          <p:cNvSpPr/>
          <p:nvPr/>
        </p:nvSpPr>
        <p:spPr>
          <a:xfrm>
            <a:off x="6705600" y="3276600"/>
            <a:ext cx="856325" cy="369332"/>
          </a:xfrm>
          <a:prstGeom prst="rect">
            <a:avLst/>
          </a:prstGeom>
        </p:spPr>
        <p:txBody>
          <a:bodyPr numCol="1" wrap="none">
            <a:spAutoFit/>
          </a:bodyPr>
          <a:lstStyle/>
          <a:p>
            <a:r>
              <a:rPr dirty="0" lang="en-US" smtClean="0"/>
              <a:t>Output</a:t>
            </a:r>
            <a:endParaRPr dirty="0" lang="en-US"/>
          </a:p>
        </p:txBody>
      </p:sp>
    </p:spTree>
  </p:cSld>
  <p:clrMapOvr>
    <a:masterClrMapping/>
  </p:clrMapOvr>
  <p:timing>
    <p:tnLst>
      <p:par>
        <p:cTn dur="indefinite" id="1" nodeType="tmRoot" restart="never"/>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fontScale="92500" lnSpcReduction="10000"/>
          </a:bodyPr>
          <a:lstStyle/>
          <a:p>
            <a:pPr algn="just">
              <a:buNone/>
            </a:pPr>
            <a:r>
              <a:rPr b="1" dirty="0" lang="en-US" smtClean="0" sz="2200"/>
              <a:t>Compound Multikey Indexes:</a:t>
            </a:r>
          </a:p>
          <a:p>
            <a:pPr algn="just"/>
            <a:r>
              <a:rPr dirty="0" lang="en-US" smtClean="0" sz="2200"/>
              <a:t>In a compound </a:t>
            </a:r>
            <a:r>
              <a:rPr dirty="0" err="1" lang="en-US" smtClean="0" sz="2200"/>
              <a:t>multikey</a:t>
            </a:r>
            <a:r>
              <a:rPr dirty="0" lang="en-US" smtClean="0" sz="2200"/>
              <a:t> index, each indexed document can have </a:t>
            </a:r>
            <a:r>
              <a:rPr b="1" dirty="0" i="1" lang="en-US" smtClean="0" sz="2200">
                <a:solidFill>
                  <a:srgbClr val="FF0000"/>
                </a:solidFill>
              </a:rPr>
              <a:t>at most</a:t>
            </a:r>
            <a:r>
              <a:rPr b="1" dirty="0" lang="en-US" smtClean="0" sz="2200">
                <a:solidFill>
                  <a:srgbClr val="FF0000"/>
                </a:solidFill>
              </a:rPr>
              <a:t> one </a:t>
            </a:r>
            <a:r>
              <a:rPr dirty="0" lang="en-US" smtClean="0" sz="2200"/>
              <a:t>indexed field whose value is an array.</a:t>
            </a:r>
          </a:p>
          <a:p>
            <a:pPr algn="just"/>
            <a:r>
              <a:rPr dirty="0" lang="en-US" smtClean="0" sz="2200"/>
              <a:t>Specifically: You cannot create a compound </a:t>
            </a:r>
            <a:r>
              <a:rPr dirty="0" err="1" lang="en-US" smtClean="0" sz="2200"/>
              <a:t>multikey</a:t>
            </a:r>
            <a:r>
              <a:rPr dirty="0" lang="en-US" smtClean="0" sz="2200"/>
              <a:t> index if more than one field in the index specification is an array. For example, consider a collection that contains this document:</a:t>
            </a:r>
          </a:p>
          <a:p>
            <a:pPr algn="just"/>
            <a:endParaRPr dirty="0" lang="en-US" smtClean="0" sz="2200"/>
          </a:p>
          <a:p>
            <a:pPr algn="just"/>
            <a:r>
              <a:rPr dirty="0" lang="en-US" smtClean="0" sz="2200"/>
              <a:t>You can't create the compound </a:t>
            </a:r>
            <a:r>
              <a:rPr dirty="0" err="1" lang="en-US" smtClean="0" sz="2200"/>
              <a:t>multikey</a:t>
            </a:r>
            <a:r>
              <a:rPr dirty="0" lang="en-US" smtClean="0" sz="2200"/>
              <a:t> index { </a:t>
            </a:r>
            <a:r>
              <a:rPr dirty="0" err="1" lang="en-US" smtClean="0" sz="2200"/>
              <a:t>scores_spring</a:t>
            </a:r>
            <a:r>
              <a:rPr dirty="0" lang="en-US" smtClean="0" sz="2200"/>
              <a:t>: 1, </a:t>
            </a:r>
            <a:r>
              <a:rPr dirty="0" err="1" lang="en-US" smtClean="0" sz="2200"/>
              <a:t>scores_fall</a:t>
            </a:r>
            <a:r>
              <a:rPr dirty="0" lang="en-US" smtClean="0" sz="2200"/>
              <a:t>: 1 } because both fields in the index are arrays.</a:t>
            </a:r>
          </a:p>
          <a:p>
            <a:pPr algn="just"/>
            <a:r>
              <a:rPr dirty="0" lang="en-US" smtClean="0" sz="2200"/>
              <a:t>If a compound </a:t>
            </a:r>
            <a:r>
              <a:rPr dirty="0" err="1" lang="en-US" smtClean="0" sz="2200"/>
              <a:t>multikey</a:t>
            </a:r>
            <a:r>
              <a:rPr dirty="0" lang="en-US" smtClean="0" sz="2200"/>
              <a:t> index already exists, you cannot insert a document that would violate this restriction. Consider a collection that contains these documents:</a:t>
            </a:r>
          </a:p>
          <a:p>
            <a:pPr algn="just"/>
            <a:endParaRPr dirty="0" lang="en-US" smtClean="0" sz="2200"/>
          </a:p>
          <a:p>
            <a:pPr algn="just"/>
            <a:r>
              <a:rPr dirty="0" lang="en-US" smtClean="0" sz="2200"/>
              <a:t>You can create a compound </a:t>
            </a:r>
            <a:r>
              <a:rPr dirty="0" err="1" lang="en-US" smtClean="0" sz="2200"/>
              <a:t>multikey</a:t>
            </a:r>
            <a:r>
              <a:rPr dirty="0" lang="en-US" smtClean="0" sz="2200"/>
              <a:t> index { </a:t>
            </a:r>
            <a:r>
              <a:rPr dirty="0" err="1" lang="en-US" smtClean="0" sz="2200"/>
              <a:t>scores_spring</a:t>
            </a:r>
            <a:r>
              <a:rPr dirty="0" lang="en-US" smtClean="0" sz="2200"/>
              <a:t>: 1, </a:t>
            </a:r>
            <a:r>
              <a:rPr dirty="0" err="1" lang="en-US" smtClean="0" sz="2200"/>
              <a:t>scores_fall</a:t>
            </a:r>
            <a:r>
              <a:rPr dirty="0" lang="en-US" smtClean="0" sz="2200"/>
              <a:t>: 1 } because for each document, only one field indexed by the compound </a:t>
            </a:r>
            <a:r>
              <a:rPr dirty="0" err="1" lang="en-US" smtClean="0" sz="2200"/>
              <a:t>multikey</a:t>
            </a:r>
            <a:r>
              <a:rPr dirty="0" lang="en-US" smtClean="0" sz="2200"/>
              <a:t> index is an array. No document contains array values for both </a:t>
            </a:r>
            <a:r>
              <a:rPr dirty="0" err="1" lang="en-US" smtClean="0" sz="2200"/>
              <a:t>scores_spring</a:t>
            </a:r>
            <a:r>
              <a:rPr dirty="0" lang="en-US" smtClean="0" sz="2200"/>
              <a:t> and </a:t>
            </a:r>
            <a:r>
              <a:rPr dirty="0" err="1" lang="en-US" smtClean="0" sz="2200"/>
              <a:t>scores_fall</a:t>
            </a:r>
            <a:r>
              <a:rPr dirty="0" lang="en-US" smtClean="0" sz="2200"/>
              <a:t> fields.</a:t>
            </a:r>
          </a:p>
          <a:p>
            <a:pPr algn="just"/>
            <a:r>
              <a:rPr dirty="0" lang="en-US" smtClean="0" sz="2200"/>
              <a:t>However, after you create the compound </a:t>
            </a:r>
            <a:r>
              <a:rPr dirty="0" err="1" lang="en-US" smtClean="0" sz="2200"/>
              <a:t>multikey</a:t>
            </a:r>
            <a:r>
              <a:rPr dirty="0" lang="en-US" smtClean="0" sz="2200"/>
              <a:t> index, if you attempt to insert a document where both </a:t>
            </a:r>
            <a:r>
              <a:rPr dirty="0" err="1" lang="en-US" smtClean="0" sz="2200"/>
              <a:t>scores_spring</a:t>
            </a:r>
            <a:r>
              <a:rPr dirty="0" lang="en-US" smtClean="0" sz="2200"/>
              <a:t> and </a:t>
            </a:r>
            <a:r>
              <a:rPr dirty="0" err="1" lang="en-US" smtClean="0" sz="2200"/>
              <a:t>scores_fall</a:t>
            </a:r>
            <a:r>
              <a:rPr dirty="0" lang="en-US" smtClean="0" sz="2200"/>
              <a:t> fields are arrays, the insert fails.</a:t>
            </a:r>
          </a:p>
          <a:p>
            <a:endParaRPr dirty="0" lang="en-US" smtClean="0" sz="2400"/>
          </a:p>
          <a:p>
            <a:pPr algn="just"/>
            <a:endParaRPr dirty="0" lang="en-US" smtClean="0" sz="2400"/>
          </a:p>
          <a:p>
            <a:endParaRPr dirty="0" lang="en-US"/>
          </a:p>
        </p:txBody>
      </p:sp>
      <p:pic>
        <p:nvPicPr>
          <p:cNvPr id="39938" name="Picture 2"/>
          <p:cNvPicPr>
            <a:picLocks noChangeArrowheads="1" noChangeAspect="1"/>
          </p:cNvPicPr>
          <p:nvPr/>
        </p:nvPicPr>
        <p:blipFill>
          <a:blip cstate="print" r:embed="rId2"/>
          <a:srcRect/>
          <a:stretch>
            <a:fillRect/>
          </a:stretch>
        </p:blipFill>
        <p:spPr>
          <a:xfrm>
            <a:off x="1447800" y="1981200"/>
            <a:ext cx="6286500" cy="342900"/>
          </a:xfrm>
          <a:prstGeom prst="rect">
            <a:avLst/>
          </a:prstGeom>
          <a:noFill/>
          <a:ln w="9525">
            <a:noFill/>
            <a:miter lim="800000"/>
            <a:headEnd/>
            <a:tailEnd/>
          </a:ln>
        </p:spPr>
      </p:pic>
      <p:pic>
        <p:nvPicPr>
          <p:cNvPr id="39939" name="Picture 3"/>
          <p:cNvPicPr>
            <a:picLocks noChangeArrowheads="1" noChangeAspect="1"/>
          </p:cNvPicPr>
          <p:nvPr/>
        </p:nvPicPr>
        <p:blipFill>
          <a:blip cstate="print" r:embed="rId3"/>
          <a:srcRect/>
          <a:stretch>
            <a:fillRect/>
          </a:stretch>
        </p:blipFill>
        <p:spPr>
          <a:xfrm>
            <a:off x="1981200" y="3581400"/>
            <a:ext cx="5295900" cy="5810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81800"/>
          </a:xfrm>
        </p:spPr>
        <p:txBody>
          <a:bodyPr numCol="1"/>
          <a:lstStyle/>
          <a:p>
            <a:pPr>
              <a:buNone/>
            </a:pPr>
            <a:r>
              <a:rPr b="1" dirty="0" lang="en-US" smtClean="0" sz="2400"/>
              <a:t>Create an Index on an Embedded Field in an Array</a:t>
            </a:r>
            <a:r>
              <a:rPr dirty="0" lang="en-US" smtClean="0"/>
              <a:t>:</a:t>
            </a:r>
          </a:p>
          <a:p>
            <a:endParaRPr dirty="0" lang="en-US"/>
          </a:p>
        </p:txBody>
      </p:sp>
      <p:pic>
        <p:nvPicPr>
          <p:cNvPr id="37890" name="Picture 2"/>
          <p:cNvPicPr>
            <a:picLocks noChangeArrowheads="1" noChangeAspect="1"/>
          </p:cNvPicPr>
          <p:nvPr/>
        </p:nvPicPr>
        <p:blipFill>
          <a:blip cstate="print" r:embed="rId2"/>
          <a:srcRect/>
          <a:stretch>
            <a:fillRect/>
          </a:stretch>
        </p:blipFill>
        <p:spPr>
          <a:xfrm>
            <a:off x="152400" y="533400"/>
            <a:ext cx="2438400" cy="3096618"/>
          </a:xfrm>
          <a:prstGeom prst="rect">
            <a:avLst/>
          </a:prstGeom>
          <a:noFill/>
          <a:ln w="9525">
            <a:noFill/>
            <a:miter lim="800000"/>
            <a:headEnd/>
            <a:tailEnd/>
          </a:ln>
        </p:spPr>
      </p:pic>
      <p:pic>
        <p:nvPicPr>
          <p:cNvPr id="37891" name="Picture 3"/>
          <p:cNvPicPr>
            <a:picLocks noChangeArrowheads="1" noChangeAspect="1"/>
          </p:cNvPicPr>
          <p:nvPr/>
        </p:nvPicPr>
        <p:blipFill>
          <a:blip cstate="print" r:embed="rId3"/>
          <a:srcRect/>
          <a:stretch>
            <a:fillRect/>
          </a:stretch>
        </p:blipFill>
        <p:spPr>
          <a:xfrm>
            <a:off x="2743200" y="533400"/>
            <a:ext cx="2285999" cy="3053271"/>
          </a:xfrm>
          <a:prstGeom prst="rect">
            <a:avLst/>
          </a:prstGeom>
          <a:noFill/>
          <a:ln w="9525">
            <a:noFill/>
            <a:miter lim="800000"/>
            <a:headEnd/>
            <a:tailEnd/>
          </a:ln>
        </p:spPr>
      </p:pic>
      <p:pic>
        <p:nvPicPr>
          <p:cNvPr id="37892" name="Picture 4"/>
          <p:cNvPicPr>
            <a:picLocks noChangeArrowheads="1" noChangeAspect="1"/>
          </p:cNvPicPr>
          <p:nvPr/>
        </p:nvPicPr>
        <p:blipFill>
          <a:blip cstate="print" r:embed="rId4"/>
          <a:srcRect/>
          <a:stretch>
            <a:fillRect/>
          </a:stretch>
        </p:blipFill>
        <p:spPr>
          <a:xfrm>
            <a:off x="5257800" y="533400"/>
            <a:ext cx="2358571" cy="3048000"/>
          </a:xfrm>
          <a:prstGeom prst="rect">
            <a:avLst/>
          </a:prstGeom>
          <a:noFill/>
          <a:ln w="9525">
            <a:noFill/>
            <a:miter lim="800000"/>
            <a:headEnd/>
            <a:tailEnd/>
          </a:ln>
        </p:spPr>
      </p:pic>
      <p:sp>
        <p:nvSpPr>
          <p:cNvPr id="37893" name="Rectangle 5"/>
          <p:cNvSpPr>
            <a:spLocks noChangeArrowheads="1"/>
          </p:cNvSpPr>
          <p:nvPr/>
        </p:nvSpPr>
        <p:spPr>
          <a:xfrm flipV="1" rot="10800000">
            <a:off x="228600" y="3733800"/>
            <a:ext cx="8763000" cy="1200329"/>
          </a:xfrm>
          <a:prstGeom prst="rect">
            <a:avLst/>
          </a:prstGeom>
          <a:solidFill>
            <a:srgbClr val="F9FBFA"/>
          </a:solidFill>
          <a:ln w="9525">
            <a:noFill/>
            <a:miter lim="800000"/>
            <a:headEnd/>
            <a:tailEnd/>
          </a:ln>
          <a:effectLst/>
        </p:spPr>
        <p:txBody>
          <a:bodyPr anchor="ctr" anchorCtr="0" bIns="45720" compatLnSpc="1" lIns="91440" numCol="1" rIns="91440" tIns="45720" vert="horz" wrap="square">
            <a:prstTxWarp prst="textNoShape">
              <a:avLst/>
            </a:prstTxWarp>
            <a:spAutoFit/>
          </a:bodyPr>
          <a:lstStyle/>
          <a:p>
            <a:pPr algn="just" defTabSz="914400" eaLnBrk="1" fontAlgn="base" hangingPunct="1" indent="0" latinLnBrk="0" lvl="0" marL="0" marR="0" rtl="0">
              <a:lnSpc>
                <a:spcPct val="100000"/>
              </a:lnSpc>
              <a:spcBef>
                <a:spcPct val="0"/>
              </a:spcBef>
              <a:spcAft>
                <a:spcPct val="0"/>
              </a:spcAft>
              <a:buClrTx/>
              <a:buSzTx/>
              <a:buFontTx/>
              <a:buNone/>
              <a:tabLst/>
            </a:pPr>
            <a:r>
              <a:rPr b="0" baseline="0" cap="none" dirty="0" i="0" kumimoji="0" lang="en-US" normalizeH="0" smtClean="0" strike="noStrike" u="none">
                <a:ln>
                  <a:noFill/>
                </a:ln>
                <a:solidFill>
                  <a:srgbClr val="001E2B"/>
                </a:solidFill>
                <a:effectLst/>
                <a:cs charset="0" pitchFamily="34" typeface="Arial"/>
              </a:rPr>
              <a:t>You need to order more inventory any time you have less than five of an item in stock. To find which items to reorder, you query for documents where an element in the </a:t>
            </a:r>
            <a:r>
              <a:rPr b="0" baseline="0" cap="none" dirty="0" i="0" kumimoji="0" lang="en-US" normalizeH="0" smtClean="0" strike="noStrike" u="none">
                <a:ln>
                  <a:noFill/>
                </a:ln>
                <a:solidFill>
                  <a:srgbClr val="1C2D38"/>
                </a:solidFill>
                <a:effectLst/>
                <a:cs charset="0" pitchFamily="34" typeface="Arial"/>
              </a:rPr>
              <a:t>stock</a:t>
            </a:r>
            <a:r>
              <a:rPr b="0" baseline="0" cap="none" dirty="0" i="0" kumimoji="0" lang="en-US" normalizeH="0" smtClean="0" strike="noStrike" u="none">
                <a:ln>
                  <a:noFill/>
                </a:ln>
                <a:solidFill>
                  <a:srgbClr val="001E2B"/>
                </a:solidFill>
                <a:effectLst/>
                <a:cs charset="0" pitchFamily="34" typeface="Arial"/>
              </a:rPr>
              <a:t> array has a </a:t>
            </a:r>
            <a:r>
              <a:rPr b="0" baseline="0" cap="none" dirty="0" i="0" kumimoji="0" lang="en-US" normalizeH="0" smtClean="0" strike="noStrike" u="none">
                <a:ln>
                  <a:noFill/>
                </a:ln>
                <a:solidFill>
                  <a:srgbClr val="1C2D38"/>
                </a:solidFill>
                <a:effectLst/>
                <a:cs charset="0" pitchFamily="34" typeface="Arial"/>
              </a:rPr>
              <a:t>quantity</a:t>
            </a:r>
            <a:r>
              <a:rPr b="0" baseline="0" cap="none" dirty="0" i="0" kumimoji="0" lang="en-US" normalizeH="0" smtClean="0" strike="noStrike" u="none">
                <a:ln>
                  <a:noFill/>
                </a:ln>
                <a:solidFill>
                  <a:srgbClr val="001E2B"/>
                </a:solidFill>
                <a:effectLst/>
                <a:cs charset="0" pitchFamily="34" typeface="Arial"/>
              </a:rPr>
              <a:t> less than </a:t>
            </a:r>
            <a:r>
              <a:rPr b="0" baseline="0" cap="none" dirty="0" i="0" kumimoji="0" lang="en-US" normalizeH="0" smtClean="0" strike="noStrike" u="none">
                <a:ln>
                  <a:noFill/>
                </a:ln>
                <a:solidFill>
                  <a:srgbClr val="1C2D38"/>
                </a:solidFill>
                <a:effectLst/>
                <a:cs charset="0" pitchFamily="34" typeface="Arial"/>
              </a:rPr>
              <a:t>5</a:t>
            </a:r>
            <a:r>
              <a:rPr b="0" baseline="0" cap="none" dirty="0" i="0" kumimoji="0" lang="en-US" normalizeH="0" smtClean="0" strike="noStrike" u="none">
                <a:ln>
                  <a:noFill/>
                </a:ln>
                <a:solidFill>
                  <a:srgbClr val="001E2B"/>
                </a:solidFill>
                <a:effectLst/>
                <a:cs charset="0" pitchFamily="34" typeface="Arial"/>
              </a:rPr>
              <a:t>. To improve performance for this query, you can create an index on the </a:t>
            </a:r>
            <a:r>
              <a:rPr b="0" baseline="0" cap="none" dirty="0" err="1" i="0" kumimoji="0" lang="en-US" normalizeH="0" smtClean="0" strike="noStrike" u="none">
                <a:ln>
                  <a:noFill/>
                </a:ln>
                <a:solidFill>
                  <a:srgbClr val="1C2D38"/>
                </a:solidFill>
                <a:effectLst/>
                <a:cs charset="0" pitchFamily="34" typeface="Arial"/>
              </a:rPr>
              <a:t>stock.quantity</a:t>
            </a:r>
            <a:r>
              <a:rPr b="0" baseline="0" cap="none" dirty="0" i="0" kumimoji="0" lang="en-US" normalizeH="0" smtClean="0" strike="noStrike" u="none">
                <a:ln>
                  <a:noFill/>
                </a:ln>
                <a:solidFill>
                  <a:srgbClr val="001E2B"/>
                </a:solidFill>
                <a:effectLst/>
                <a:cs charset="0" pitchFamily="34" typeface="Arial"/>
              </a:rPr>
              <a:t> field.</a:t>
            </a:r>
            <a:r>
              <a:rPr b="0" baseline="0" cap="none" dirty="0" i="0" kumimoji="0" lang="en-US" normalizeH="0" smtClean="0" strike="noStrike" u="none">
                <a:ln>
                  <a:noFill/>
                </a:ln>
                <a:solidFill>
                  <a:schemeClr val="tx1"/>
                </a:solidFill>
                <a:effectLst/>
                <a:cs charset="0" pitchFamily="34" typeface="Arial"/>
              </a:rPr>
              <a:t> </a:t>
            </a:r>
          </a:p>
        </p:txBody>
      </p:sp>
      <p:sp>
        <p:nvSpPr>
          <p:cNvPr id="8" name="Rectangle 7"/>
          <p:cNvSpPr/>
          <p:nvPr/>
        </p:nvSpPr>
        <p:spPr>
          <a:xfrm>
            <a:off x="228600" y="4953000"/>
            <a:ext cx="8763000" cy="1477328"/>
          </a:xfrm>
          <a:prstGeom prst="rect">
            <a:avLst/>
          </a:prstGeom>
        </p:spPr>
        <p:txBody>
          <a:bodyPr numCol="1" wrap="square">
            <a:spAutoFit/>
          </a:bodyPr>
          <a:lstStyle/>
          <a:p>
            <a:pPr algn="just"/>
            <a:r>
              <a:rPr b="1" dirty="0" lang="en-US" smtClean="0"/>
              <a:t>Procedure: </a:t>
            </a:r>
            <a:r>
              <a:rPr dirty="0" lang="en-US" smtClean="0"/>
              <a:t>The following operation creates an ascending </a:t>
            </a:r>
            <a:r>
              <a:rPr dirty="0" err="1" lang="en-US" smtClean="0"/>
              <a:t>multikey</a:t>
            </a:r>
            <a:r>
              <a:rPr dirty="0" lang="en-US" smtClean="0"/>
              <a:t> index on the </a:t>
            </a:r>
            <a:r>
              <a:rPr dirty="0" err="1" lang="en-US" smtClean="0"/>
              <a:t>stock.quantity</a:t>
            </a:r>
            <a:r>
              <a:rPr dirty="0" lang="en-US" smtClean="0"/>
              <a:t> field of the inventory collection:</a:t>
            </a:r>
          </a:p>
          <a:p>
            <a:pPr algn="just"/>
            <a:endParaRPr dirty="0" lang="en-US" smtClean="0"/>
          </a:p>
          <a:p>
            <a:pPr algn="just"/>
            <a:endParaRPr dirty="0" lang="en-US" smtClean="0"/>
          </a:p>
          <a:p>
            <a:pPr algn="just"/>
            <a:r>
              <a:rPr dirty="0" lang="en-US" smtClean="0"/>
              <a:t>Because stock contains an array value, </a:t>
            </a:r>
            <a:r>
              <a:rPr dirty="0" err="1" lang="en-US" smtClean="0"/>
              <a:t>MongoDB</a:t>
            </a:r>
            <a:r>
              <a:rPr dirty="0" lang="en-US" smtClean="0"/>
              <a:t> stores this index as a </a:t>
            </a:r>
            <a:r>
              <a:rPr dirty="0" err="1" lang="en-US" smtClean="0"/>
              <a:t>multikey</a:t>
            </a:r>
            <a:r>
              <a:rPr dirty="0" lang="en-US" smtClean="0"/>
              <a:t> index.</a:t>
            </a:r>
          </a:p>
        </p:txBody>
      </p:sp>
      <p:pic>
        <p:nvPicPr>
          <p:cNvPr id="37894" name="Picture 6"/>
          <p:cNvPicPr>
            <a:picLocks noChangeArrowheads="1" noChangeAspect="1"/>
          </p:cNvPicPr>
          <p:nvPr/>
        </p:nvPicPr>
        <p:blipFill>
          <a:blip cstate="print" r:embed="rId5"/>
          <a:srcRect/>
          <a:stretch>
            <a:fillRect/>
          </a:stretch>
        </p:blipFill>
        <p:spPr>
          <a:xfrm>
            <a:off x="1600200" y="5638800"/>
            <a:ext cx="5534025" cy="3143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lgn="just">
              <a:buNone/>
            </a:pPr>
            <a:r>
              <a:rPr b="1" dirty="0" lang="en-US" smtClean="0" sz="2400"/>
              <a:t>Results: </a:t>
            </a:r>
          </a:p>
          <a:p>
            <a:pPr algn="just"/>
            <a:r>
              <a:rPr dirty="0" lang="en-US" smtClean="0" sz="2400"/>
              <a:t>The index contains a key for each individual value that appears in the </a:t>
            </a:r>
            <a:r>
              <a:rPr dirty="0" err="1" lang="en-US" smtClean="0" sz="2400"/>
              <a:t>stock.quantity</a:t>
            </a:r>
            <a:r>
              <a:rPr dirty="0" lang="en-US" smtClean="0" sz="2400"/>
              <a:t> field. The index is ascending, meaning the keys are stored in this order: [ 1, 4, 6, 7, 8, 10 ].</a:t>
            </a:r>
          </a:p>
          <a:p>
            <a:pPr algn="just"/>
            <a:r>
              <a:rPr dirty="0" lang="en-US" smtClean="0" sz="2400"/>
              <a:t>The index supports queries that select on the </a:t>
            </a:r>
            <a:r>
              <a:rPr dirty="0" err="1" lang="en-US" smtClean="0" sz="2400"/>
              <a:t>stock.quantity</a:t>
            </a:r>
            <a:r>
              <a:rPr dirty="0" lang="en-US" smtClean="0" sz="2400"/>
              <a:t> field. For example, the following query returns documents where at least one element in the stock array has a quantity less than 5:</a:t>
            </a:r>
          </a:p>
          <a:p>
            <a:endParaRPr dirty="0" lang="en-US"/>
          </a:p>
        </p:txBody>
      </p:sp>
      <p:pic>
        <p:nvPicPr>
          <p:cNvPr id="38914" name="Picture 2"/>
          <p:cNvPicPr>
            <a:picLocks noChangeArrowheads="1" noChangeAspect="1"/>
          </p:cNvPicPr>
          <p:nvPr/>
        </p:nvPicPr>
        <p:blipFill>
          <a:blip cstate="print" r:embed="rId2"/>
          <a:srcRect/>
          <a:stretch>
            <a:fillRect/>
          </a:stretch>
        </p:blipFill>
        <p:spPr>
          <a:xfrm>
            <a:off x="609600" y="2895600"/>
            <a:ext cx="3338513" cy="1269812"/>
          </a:xfrm>
          <a:prstGeom prst="rect">
            <a:avLst/>
          </a:prstGeom>
          <a:noFill/>
          <a:ln w="9525">
            <a:noFill/>
            <a:miter lim="800000"/>
            <a:headEnd/>
            <a:tailEnd/>
          </a:ln>
        </p:spPr>
      </p:pic>
      <p:pic>
        <p:nvPicPr>
          <p:cNvPr id="38915" name="Picture 3"/>
          <p:cNvPicPr>
            <a:picLocks noChangeArrowheads="1" noChangeAspect="1"/>
          </p:cNvPicPr>
          <p:nvPr/>
        </p:nvPicPr>
        <p:blipFill>
          <a:blip cstate="print" r:embed="rId3"/>
          <a:srcRect/>
          <a:stretch>
            <a:fillRect/>
          </a:stretch>
        </p:blipFill>
        <p:spPr>
          <a:xfrm>
            <a:off x="2181225" y="3966012"/>
            <a:ext cx="6962775" cy="2891988"/>
          </a:xfrm>
          <a:prstGeom prst="rect">
            <a:avLst/>
          </a:prstGeom>
          <a:noFill/>
          <a:ln w="9525">
            <a:noFill/>
            <a:miter lim="800000"/>
            <a:headEnd/>
            <a:tailEnd/>
          </a:ln>
        </p:spPr>
      </p:pic>
      <p:sp>
        <p:nvSpPr>
          <p:cNvPr id="6" name="Rectangle 5"/>
          <p:cNvSpPr/>
          <p:nvPr/>
        </p:nvSpPr>
        <p:spPr>
          <a:xfrm>
            <a:off x="5791200" y="3505200"/>
            <a:ext cx="856325" cy="369332"/>
          </a:xfrm>
          <a:prstGeom prst="rect">
            <a:avLst/>
          </a:prstGeom>
        </p:spPr>
        <p:txBody>
          <a:bodyPr numCol="1" wrap="none">
            <a:spAutoFit/>
          </a:bodyPr>
          <a:lstStyle/>
          <a:p>
            <a:r>
              <a:rPr dirty="0" lang="en-US" smtClean="0"/>
              <a:t>Output</a:t>
            </a:r>
            <a:endParaRPr dirty="0" lang="en-US"/>
          </a:p>
        </p:txBody>
      </p:sp>
    </p:spTree>
  </p:cSld>
  <p:clrMapOvr>
    <a:masterClrMapping/>
  </p:clrMapOvr>
  <p:timing>
    <p:tnLst>
      <p:par>
        <p:cTn dur="indefinite" id="1" nodeType="tmRoot" restart="never"/>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609600"/>
          </a:xfrm>
        </p:spPr>
        <p:txBody>
          <a:bodyPr numCol="1">
            <a:normAutofit/>
          </a:bodyPr>
          <a:lstStyle/>
          <a:p>
            <a:r>
              <a:rPr b="1" dirty="0" lang="en-US" smtClean="0" sz="3200"/>
              <a:t>4. Text Indexes</a:t>
            </a:r>
            <a:endParaRPr b="1" dirty="0" lang="en-US" sz="3200"/>
          </a:p>
        </p:txBody>
      </p:sp>
      <p:sp>
        <p:nvSpPr>
          <p:cNvPr id="3" name="Content Placeholder 2"/>
          <p:cNvSpPr>
            <a:spLocks noGrp="1"/>
          </p:cNvSpPr>
          <p:nvPr>
            <p:ph idx="1"/>
          </p:nvPr>
        </p:nvSpPr>
        <p:spPr>
          <a:xfrm>
            <a:off x="152400" y="685800"/>
            <a:ext cx="8839200" cy="6019800"/>
          </a:xfrm>
        </p:spPr>
        <p:txBody>
          <a:bodyPr numCol="1"/>
          <a:lstStyle/>
          <a:p>
            <a:pPr algn="just"/>
            <a:r>
              <a:rPr dirty="0" lang="en-US" smtClean="0" sz="2400"/>
              <a:t>Text indexes support </a:t>
            </a:r>
            <a:r>
              <a:rPr b="1" dirty="0" i="1" lang="en-US" smtClean="0" sz="2400"/>
              <a:t>text search queries</a:t>
            </a:r>
            <a:r>
              <a:rPr dirty="0" lang="en-US" smtClean="0" sz="2400"/>
              <a:t> on fields containing string content. </a:t>
            </a:r>
          </a:p>
          <a:p>
            <a:pPr algn="just"/>
            <a:r>
              <a:rPr dirty="0" lang="en-US" smtClean="0" sz="2400"/>
              <a:t>Text indexes improve performance when searching for specific words or phrases within string content.</a:t>
            </a:r>
          </a:p>
          <a:p>
            <a:pPr algn="just"/>
            <a:r>
              <a:rPr dirty="0" lang="en-US" smtClean="0" sz="2400">
                <a:solidFill>
                  <a:srgbClr val="FF0000"/>
                </a:solidFill>
              </a:rPr>
              <a:t>A collection can only have </a:t>
            </a:r>
            <a:r>
              <a:rPr b="1" dirty="0" lang="en-US" smtClean="0" sz="2400">
                <a:solidFill>
                  <a:srgbClr val="FF0000"/>
                </a:solidFill>
              </a:rPr>
              <a:t>one</a:t>
            </a:r>
            <a:r>
              <a:rPr dirty="0" lang="en-US" smtClean="0" sz="2400">
                <a:solidFill>
                  <a:srgbClr val="FF0000"/>
                </a:solidFill>
              </a:rPr>
              <a:t> text index, but that index can cover multiple fields.</a:t>
            </a:r>
          </a:p>
          <a:p>
            <a:endParaRPr dirty="0" lang="en-US"/>
          </a:p>
        </p:txBody>
      </p:sp>
      <p:pic>
        <p:nvPicPr>
          <p:cNvPr id="1026" name="Picture 2"/>
          <p:cNvPicPr>
            <a:picLocks noChangeArrowheads="1" noChangeAspect="1"/>
          </p:cNvPicPr>
          <p:nvPr/>
        </p:nvPicPr>
        <p:blipFill>
          <a:blip cstate="print" r:embed="rId2"/>
          <a:srcRect/>
          <a:stretch>
            <a:fillRect/>
          </a:stretch>
        </p:blipFill>
        <p:spPr>
          <a:xfrm>
            <a:off x="2971800" y="3429000"/>
            <a:ext cx="3171825" cy="19621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553200"/>
          </a:xfrm>
        </p:spPr>
        <p:txBody>
          <a:bodyPr numCol="1">
            <a:normAutofit/>
          </a:bodyPr>
          <a:lstStyle/>
          <a:p>
            <a:pPr algn="just">
              <a:buNone/>
            </a:pPr>
            <a:r>
              <a:rPr b="1" dirty="0" lang="en-US" smtClean="0" sz="2400"/>
              <a:t>Use Cases: </a:t>
            </a:r>
          </a:p>
          <a:p>
            <a:pPr algn="just">
              <a:buNone/>
            </a:pPr>
            <a:r>
              <a:rPr dirty="0" lang="en-US" smtClean="0" sz="2400"/>
              <a:t>    Documents in an online shop's clothing collection include a description field that contains a string of text describing each item. To find clothes made of silk, create a text index on the description field and run a text search query for documents with the keyword silk. The search returns all documents that mention silk in the description field.</a:t>
            </a:r>
            <a:endParaRPr b="1" dirty="0" lang="en-US" smtClean="0" sz="2400"/>
          </a:p>
          <a:p>
            <a:pPr algn="just">
              <a:buNone/>
            </a:pPr>
            <a:r>
              <a:rPr b="1" dirty="0" lang="en-US" smtClean="0" sz="2400"/>
              <a:t>Text Search Support: </a:t>
            </a:r>
          </a:p>
          <a:p>
            <a:pPr algn="just">
              <a:buNone/>
            </a:pPr>
            <a:r>
              <a:rPr dirty="0" lang="en-US" smtClean="0" sz="2400"/>
              <a:t>     Text indexes support </a:t>
            </a:r>
            <a:r>
              <a:rPr b="1" dirty="0" i="1" lang="en-US" smtClean="0" sz="2400"/>
              <a:t>$text</a:t>
            </a:r>
            <a:r>
              <a:rPr dirty="0" lang="en-US" smtClean="0" sz="2400"/>
              <a:t> query operations on </a:t>
            </a:r>
            <a:r>
              <a:rPr dirty="0" err="1" lang="en-US" smtClean="0" sz="2400"/>
              <a:t>on</a:t>
            </a:r>
            <a:r>
              <a:rPr dirty="0" lang="en-US" smtClean="0" sz="2400"/>
              <a:t>-premises deployments. To perform text searches, you must create a text index and use the $text query operator.</a:t>
            </a:r>
          </a:p>
          <a:p>
            <a:pPr>
              <a:buNone/>
            </a:pPr>
            <a:r>
              <a:rPr b="1" dirty="0" lang="en-US" smtClean="0" sz="2400"/>
              <a:t>Compound Text Indexes</a:t>
            </a:r>
          </a:p>
          <a:p>
            <a:pPr algn="just">
              <a:buNone/>
            </a:pPr>
            <a:r>
              <a:rPr dirty="0" lang="en-US" smtClean="0" sz="2400"/>
              <a:t>     For a compound index that includes a text index key along with keys of other types, only the text index field determines whether the index references a document. The other keys do not determine whether the index references the documents.</a:t>
            </a:r>
          </a:p>
          <a:p>
            <a:pPr algn="just">
              <a:buNone/>
            </a:pPr>
            <a:endParaRPr dirty="0" lang="en-US" smtClean="0" sz="2400"/>
          </a:p>
          <a:p>
            <a:pPr algn="just">
              <a:buNone/>
            </a:pPr>
            <a:endParaRPr dirty="0" lang="en-US" smtClean="0"/>
          </a:p>
          <a:p>
            <a:endParaRPr dirty="0" lang="en-US"/>
          </a:p>
        </p:txBody>
      </p:sp>
    </p:spTree>
  </p:cSld>
  <p:clrMapOvr>
    <a:masterClrMapping/>
  </p:clrMapOvr>
  <p:timing>
    <p:tnLst>
      <p:par>
        <p:cTn dur="indefinite" id="1" nodeType="tmRoot" restart="never"/>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lstStyle/>
          <a:p>
            <a:endParaRPr b="1" dirty="0" lang="en-US" smtClean="0"/>
          </a:p>
          <a:p>
            <a:endParaRPr b="1" dirty="0" lang="en-US" smtClean="0"/>
          </a:p>
          <a:p>
            <a:endParaRPr b="1" dirty="0" lang="en-US" smtClean="0"/>
          </a:p>
          <a:p>
            <a:endParaRPr b="1" dirty="0" lang="en-US" smtClean="0"/>
          </a:p>
          <a:p>
            <a:endParaRPr b="1" dirty="0" lang="en-US" smtClean="0"/>
          </a:p>
          <a:p>
            <a:endParaRPr b="1" dirty="0" lang="en-US" smtClean="0"/>
          </a:p>
          <a:p>
            <a:endParaRPr b="1" dirty="0" lang="en-US" smtClean="0"/>
          </a:p>
          <a:p>
            <a:endParaRPr dirty="0" lang="en-US"/>
          </a:p>
        </p:txBody>
      </p:sp>
      <p:pic>
        <p:nvPicPr>
          <p:cNvPr id="4098" name="Picture 2"/>
          <p:cNvPicPr>
            <a:picLocks noChangeArrowheads="1" noChangeAspect="1"/>
          </p:cNvPicPr>
          <p:nvPr/>
        </p:nvPicPr>
        <p:blipFill>
          <a:blip cstate="print" r:embed="rId2"/>
          <a:srcRect/>
          <a:stretch>
            <a:fillRect/>
          </a:stretch>
        </p:blipFill>
        <p:spPr>
          <a:xfrm>
            <a:off x="-41322" y="0"/>
            <a:ext cx="4765722" cy="4036138"/>
          </a:xfrm>
          <a:prstGeom prst="rect">
            <a:avLst/>
          </a:prstGeom>
          <a:noFill/>
          <a:ln w="9525">
            <a:noFill/>
            <a:miter lim="800000"/>
            <a:headEnd/>
            <a:tailEnd/>
          </a:ln>
        </p:spPr>
      </p:pic>
      <p:sp>
        <p:nvSpPr>
          <p:cNvPr id="5" name="Rectangle 4"/>
          <p:cNvSpPr/>
          <p:nvPr/>
        </p:nvSpPr>
        <p:spPr>
          <a:xfrm>
            <a:off x="5257800" y="228600"/>
            <a:ext cx="3144451" cy="369332"/>
          </a:xfrm>
          <a:prstGeom prst="rect">
            <a:avLst/>
          </a:prstGeom>
        </p:spPr>
        <p:txBody>
          <a:bodyPr numCol="1" wrap="none">
            <a:spAutoFit/>
          </a:bodyPr>
          <a:lstStyle/>
          <a:p>
            <a:r>
              <a:rPr b="1" dirty="0" lang="en-US" smtClean="0"/>
              <a:t>Create a Single-Field Text Index</a:t>
            </a:r>
          </a:p>
        </p:txBody>
      </p:sp>
      <p:pic>
        <p:nvPicPr>
          <p:cNvPr id="4099" name="Picture 3"/>
          <p:cNvPicPr>
            <a:picLocks noChangeArrowheads="1" noChangeAspect="1"/>
          </p:cNvPicPr>
          <p:nvPr/>
        </p:nvPicPr>
        <p:blipFill>
          <a:blip cstate="print" r:embed="rId3"/>
          <a:srcRect/>
          <a:stretch>
            <a:fillRect/>
          </a:stretch>
        </p:blipFill>
        <p:spPr>
          <a:xfrm>
            <a:off x="4953000" y="685800"/>
            <a:ext cx="3962400" cy="381000"/>
          </a:xfrm>
          <a:prstGeom prst="rect">
            <a:avLst/>
          </a:prstGeom>
          <a:noFill/>
          <a:ln w="9525">
            <a:noFill/>
            <a:miter lim="800000"/>
            <a:headEnd/>
            <a:tailEnd/>
          </a:ln>
        </p:spPr>
      </p:pic>
      <p:sp>
        <p:nvSpPr>
          <p:cNvPr id="8" name="Rectangle 7"/>
          <p:cNvSpPr/>
          <p:nvPr/>
        </p:nvSpPr>
        <p:spPr>
          <a:xfrm>
            <a:off x="5105401" y="1219200"/>
            <a:ext cx="3886200" cy="1477328"/>
          </a:xfrm>
          <a:prstGeom prst="rect">
            <a:avLst/>
          </a:prstGeom>
        </p:spPr>
        <p:txBody>
          <a:bodyPr numCol="1" wrap="square">
            <a:spAutoFit/>
          </a:bodyPr>
          <a:lstStyle/>
          <a:p>
            <a:pPr algn="just"/>
            <a:r>
              <a:rPr dirty="0" lang="en-US" smtClean="0"/>
              <a:t>The index supports text search queries on the </a:t>
            </a:r>
            <a:r>
              <a:rPr dirty="0" i="1" lang="en-US" smtClean="0"/>
              <a:t>content</a:t>
            </a:r>
            <a:r>
              <a:rPr dirty="0" lang="en-US" smtClean="0"/>
              <a:t> field. For example, the following query returns documents where the </a:t>
            </a:r>
            <a:r>
              <a:rPr dirty="0" i="1" lang="en-US" smtClean="0"/>
              <a:t>content</a:t>
            </a:r>
            <a:r>
              <a:rPr dirty="0" lang="en-US" smtClean="0"/>
              <a:t> field contains the string </a:t>
            </a:r>
            <a:r>
              <a:rPr dirty="0" i="1" lang="en-US" smtClean="0"/>
              <a:t>coffee</a:t>
            </a:r>
            <a:r>
              <a:rPr dirty="0" lang="en-US" smtClean="0"/>
              <a:t>:</a:t>
            </a:r>
            <a:endParaRPr b="1" dirty="0" lang="en-US" smtClean="0"/>
          </a:p>
        </p:txBody>
      </p:sp>
      <p:pic>
        <p:nvPicPr>
          <p:cNvPr id="4101" name="Picture 5"/>
          <p:cNvPicPr>
            <a:picLocks noChangeArrowheads="1" noChangeAspect="1"/>
          </p:cNvPicPr>
          <p:nvPr/>
        </p:nvPicPr>
        <p:blipFill>
          <a:blip cstate="print" r:embed="rId4"/>
          <a:srcRect/>
          <a:stretch>
            <a:fillRect/>
          </a:stretch>
        </p:blipFill>
        <p:spPr>
          <a:xfrm>
            <a:off x="5334000" y="2666999"/>
            <a:ext cx="3429000" cy="1257015"/>
          </a:xfrm>
          <a:prstGeom prst="rect">
            <a:avLst/>
          </a:prstGeom>
          <a:noFill/>
          <a:ln w="9525">
            <a:noFill/>
            <a:miter lim="800000"/>
            <a:headEnd/>
            <a:tailEnd/>
          </a:ln>
        </p:spPr>
      </p:pic>
      <p:pic>
        <p:nvPicPr>
          <p:cNvPr id="4102" name="Picture 6"/>
          <p:cNvPicPr>
            <a:picLocks noChangeArrowheads="1" noChangeAspect="1"/>
          </p:cNvPicPr>
          <p:nvPr/>
        </p:nvPicPr>
        <p:blipFill>
          <a:blip cstate="print" r:embed="rId5"/>
          <a:srcRect/>
          <a:stretch>
            <a:fillRect/>
          </a:stretch>
        </p:blipFill>
        <p:spPr>
          <a:xfrm>
            <a:off x="381000" y="3954382"/>
            <a:ext cx="4924425" cy="2903618"/>
          </a:xfrm>
          <a:prstGeom prst="rect">
            <a:avLst/>
          </a:prstGeom>
          <a:noFill/>
          <a:ln w="9525">
            <a:noFill/>
            <a:miter lim="800000"/>
            <a:headEnd/>
            <a:tailEnd/>
          </a:ln>
        </p:spPr>
      </p:pic>
      <p:sp>
        <p:nvSpPr>
          <p:cNvPr id="9" name="Rectangle 8"/>
          <p:cNvSpPr/>
          <p:nvPr/>
        </p:nvSpPr>
        <p:spPr>
          <a:xfrm>
            <a:off x="5181600" y="4038600"/>
            <a:ext cx="3809999" cy="2031325"/>
          </a:xfrm>
          <a:prstGeom prst="rect">
            <a:avLst/>
          </a:prstGeom>
        </p:spPr>
        <p:txBody>
          <a:bodyPr numCol="1" wrap="square">
            <a:spAutoFit/>
          </a:bodyPr>
          <a:lstStyle/>
          <a:p>
            <a:pPr algn="just"/>
            <a:r>
              <a:rPr dirty="0" lang="en-US" smtClean="0"/>
              <a:t>The data is stored in the format of the document, it can hold a huge amount of data. So searching is an important criteria here and for that </a:t>
            </a:r>
            <a:r>
              <a:rPr dirty="0" err="1" lang="en-US" smtClean="0"/>
              <a:t>MongoDB</a:t>
            </a:r>
            <a:r>
              <a:rPr dirty="0" lang="en-US" smtClean="0"/>
              <a:t> provides Text indexes to support text search queries especially on string content. </a:t>
            </a:r>
            <a:endParaRPr dirty="0" lang="en-US"/>
          </a:p>
        </p:txBody>
      </p:sp>
    </p:spTree>
  </p:cSld>
  <p:clrMapOvr>
    <a:masterClrMapping/>
  </p:clrMapOvr>
  <p:timing>
    <p:tnLst>
      <p:par>
        <p:cTn dur="indefinite" id="1" nodeType="tmRoot" restart="never"/>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629400"/>
          </a:xfrm>
        </p:spPr>
        <p:txBody>
          <a:bodyPr numCol="1"/>
          <a:lstStyle/>
          <a:p>
            <a:pPr>
              <a:buNone/>
            </a:pPr>
            <a:r>
              <a:rPr b="1" dirty="0" lang="en-US" smtClean="0" sz="2400"/>
              <a:t>Matches on Non-Indexed Fields:</a:t>
            </a:r>
          </a:p>
          <a:p>
            <a:pPr algn="just"/>
            <a:r>
              <a:rPr dirty="0" lang="en-US" smtClean="0" sz="2400"/>
              <a:t>The </a:t>
            </a:r>
            <a:r>
              <a:rPr dirty="0" i="1" lang="en-US" smtClean="0" sz="2400"/>
              <a:t>{ "content": "text" }</a:t>
            </a:r>
            <a:r>
              <a:rPr dirty="0" lang="en-US" smtClean="0" sz="2400"/>
              <a:t> index only includes the </a:t>
            </a:r>
            <a:r>
              <a:rPr dirty="0" i="1" lang="en-US" smtClean="0" sz="2400"/>
              <a:t>content</a:t>
            </a:r>
            <a:r>
              <a:rPr dirty="0" lang="en-US" smtClean="0" sz="2400"/>
              <a:t> field, and does not return matches on non-indexed fields. For example, the following query searches the </a:t>
            </a:r>
            <a:r>
              <a:rPr dirty="0" i="1" lang="en-US" smtClean="0" sz="2400"/>
              <a:t>blog</a:t>
            </a:r>
            <a:r>
              <a:rPr dirty="0" lang="en-US" smtClean="0" sz="2400"/>
              <a:t> collection for the string </a:t>
            </a:r>
            <a:r>
              <a:rPr dirty="0" i="1" lang="en-US" smtClean="0" sz="2400"/>
              <a:t>food</a:t>
            </a:r>
            <a:r>
              <a:rPr dirty="0" lang="en-US" smtClean="0" sz="2400"/>
              <a:t>:</a:t>
            </a:r>
          </a:p>
          <a:p>
            <a:pPr algn="just"/>
            <a:endParaRPr dirty="0" lang="en-US" smtClean="0" sz="2400"/>
          </a:p>
          <a:p>
            <a:pPr algn="just"/>
            <a:endParaRPr dirty="0" lang="en-US" smtClean="0" sz="2400"/>
          </a:p>
          <a:p>
            <a:pPr algn="just"/>
            <a:endParaRPr dirty="0" lang="en-US" smtClean="0" sz="2400"/>
          </a:p>
          <a:p>
            <a:pPr algn="just"/>
            <a:r>
              <a:rPr dirty="0" lang="en-US" smtClean="0" sz="2400"/>
              <a:t>The preceding query returns no documents. Although the string food appears in documents </a:t>
            </a:r>
            <a:r>
              <a:rPr dirty="0" i="1" lang="en-US" smtClean="0" sz="2400"/>
              <a:t>_id: 2 </a:t>
            </a:r>
            <a:r>
              <a:rPr dirty="0" lang="en-US" smtClean="0" sz="2400"/>
              <a:t>and</a:t>
            </a:r>
            <a:r>
              <a:rPr dirty="0" i="1" lang="en-US" smtClean="0" sz="2400"/>
              <a:t> _id: 3</a:t>
            </a:r>
            <a:r>
              <a:rPr dirty="0" lang="en-US" smtClean="0" sz="2400"/>
              <a:t>, it appears in the </a:t>
            </a:r>
            <a:r>
              <a:rPr dirty="0" i="1" lang="en-US" smtClean="0" sz="2400"/>
              <a:t>about</a:t>
            </a:r>
            <a:r>
              <a:rPr dirty="0" lang="en-US" smtClean="0" sz="2400"/>
              <a:t> and </a:t>
            </a:r>
            <a:r>
              <a:rPr dirty="0" i="1" lang="en-US" smtClean="0" sz="2400"/>
              <a:t>keywords</a:t>
            </a:r>
            <a:r>
              <a:rPr dirty="0" lang="en-US" smtClean="0" sz="2400"/>
              <a:t> fields respectively. The </a:t>
            </a:r>
            <a:r>
              <a:rPr dirty="0" i="1" lang="en-US" smtClean="0" sz="2400"/>
              <a:t>about</a:t>
            </a:r>
            <a:r>
              <a:rPr dirty="0" lang="en-US" smtClean="0" sz="2400"/>
              <a:t> and </a:t>
            </a:r>
            <a:r>
              <a:rPr dirty="0" i="1" lang="en-US" smtClean="0" sz="2400"/>
              <a:t>keywords</a:t>
            </a:r>
            <a:r>
              <a:rPr dirty="0" lang="en-US" smtClean="0" sz="2400"/>
              <a:t> fields are not included in the text index, and therefore do not affect text search query results.</a:t>
            </a:r>
          </a:p>
          <a:p>
            <a:endParaRPr dirty="0" lang="en-US"/>
          </a:p>
        </p:txBody>
      </p:sp>
      <p:pic>
        <p:nvPicPr>
          <p:cNvPr id="46082" name="Picture 2"/>
          <p:cNvPicPr>
            <a:picLocks noChangeArrowheads="1" noChangeAspect="1"/>
          </p:cNvPicPr>
          <p:nvPr/>
        </p:nvPicPr>
        <p:blipFill>
          <a:blip cstate="print" r:embed="rId2"/>
          <a:srcRect/>
          <a:stretch>
            <a:fillRect/>
          </a:stretch>
        </p:blipFill>
        <p:spPr>
          <a:xfrm>
            <a:off x="2743200" y="1828800"/>
            <a:ext cx="3295650" cy="1293454"/>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05600"/>
          </a:xfrm>
        </p:spPr>
        <p:txBody>
          <a:bodyPr numCol="1"/>
          <a:lstStyle/>
          <a:p>
            <a:pPr algn="just">
              <a:buNone/>
            </a:pPr>
            <a:r>
              <a:rPr b="1" dirty="0" lang="en-US" smtClean="0" sz="2400"/>
              <a:t>Create a Compound Text Index</a:t>
            </a:r>
          </a:p>
          <a:p>
            <a:endParaRPr dirty="0" lang="en-US"/>
          </a:p>
        </p:txBody>
      </p:sp>
      <p:pic>
        <p:nvPicPr>
          <p:cNvPr id="4" name="Picture 2"/>
          <p:cNvPicPr>
            <a:picLocks noChangeArrowheads="1" noChangeAspect="1"/>
          </p:cNvPicPr>
          <p:nvPr/>
        </p:nvPicPr>
        <p:blipFill>
          <a:blip cstate="print" r:embed="rId2"/>
          <a:srcRect/>
          <a:stretch>
            <a:fillRect/>
          </a:stretch>
        </p:blipFill>
        <p:spPr>
          <a:xfrm>
            <a:off x="152400" y="381000"/>
            <a:ext cx="4765722" cy="4036138"/>
          </a:xfrm>
          <a:prstGeom prst="rect">
            <a:avLst/>
          </a:prstGeom>
          <a:noFill/>
          <a:ln w="9525">
            <a:noFill/>
            <a:miter lim="800000"/>
            <a:headEnd/>
            <a:tailEnd/>
          </a:ln>
        </p:spPr>
      </p:pic>
      <p:sp>
        <p:nvSpPr>
          <p:cNvPr id="6" name="Rectangle 5"/>
          <p:cNvSpPr/>
          <p:nvPr/>
        </p:nvSpPr>
        <p:spPr>
          <a:xfrm>
            <a:off x="5029200" y="0"/>
            <a:ext cx="3962400" cy="3970318"/>
          </a:xfrm>
          <a:prstGeom prst="rect">
            <a:avLst/>
          </a:prstGeom>
        </p:spPr>
        <p:txBody>
          <a:bodyPr numCol="1" wrap="square">
            <a:spAutoFit/>
          </a:bodyPr>
          <a:lstStyle/>
          <a:p>
            <a:pPr algn="just"/>
            <a:r>
              <a:rPr dirty="0" lang="en-US" smtClean="0"/>
              <a:t>Create a compound text index on the </a:t>
            </a:r>
            <a:r>
              <a:rPr dirty="0" i="1" lang="en-US" smtClean="0"/>
              <a:t>about</a:t>
            </a:r>
            <a:r>
              <a:rPr dirty="0" lang="en-US" smtClean="0"/>
              <a:t> and </a:t>
            </a:r>
            <a:r>
              <a:rPr dirty="0" i="1" lang="en-US" smtClean="0"/>
              <a:t>keywords</a:t>
            </a:r>
            <a:r>
              <a:rPr dirty="0" lang="en-US" smtClean="0"/>
              <a:t> fields in the blog collection:</a:t>
            </a:r>
          </a:p>
          <a:p>
            <a:pPr algn="just"/>
            <a:endParaRPr dirty="0" lang="en-US" smtClean="0"/>
          </a:p>
          <a:p>
            <a:pPr algn="just"/>
            <a:endParaRPr dirty="0" lang="en-US" smtClean="0"/>
          </a:p>
          <a:p>
            <a:pPr algn="just"/>
            <a:endParaRPr dirty="0" lang="en-US" smtClean="0"/>
          </a:p>
          <a:p>
            <a:pPr algn="just"/>
            <a:endParaRPr dirty="0" lang="en-US" smtClean="0"/>
          </a:p>
          <a:p>
            <a:pPr algn="just"/>
            <a:endParaRPr dirty="0" lang="en-US" smtClean="0"/>
          </a:p>
          <a:p>
            <a:pPr algn="just"/>
            <a:r>
              <a:rPr dirty="0" lang="en-US" smtClean="0"/>
              <a:t>The index supports text search queries on the </a:t>
            </a:r>
            <a:r>
              <a:rPr dirty="0" i="1" lang="en-US" smtClean="0"/>
              <a:t>about</a:t>
            </a:r>
            <a:r>
              <a:rPr dirty="0" lang="en-US" smtClean="0"/>
              <a:t> and </a:t>
            </a:r>
            <a:r>
              <a:rPr dirty="0" i="1" lang="en-US" smtClean="0"/>
              <a:t>keywords</a:t>
            </a:r>
            <a:r>
              <a:rPr dirty="0" lang="en-US" smtClean="0"/>
              <a:t> fields. For example, the following query returns documents where the string </a:t>
            </a:r>
            <a:r>
              <a:rPr dirty="0" i="1" lang="en-US" smtClean="0"/>
              <a:t>food</a:t>
            </a:r>
            <a:r>
              <a:rPr dirty="0" lang="en-US" smtClean="0"/>
              <a:t> appears in either the </a:t>
            </a:r>
            <a:r>
              <a:rPr dirty="0" i="1" lang="en-US" smtClean="0"/>
              <a:t>about or keywords</a:t>
            </a:r>
            <a:r>
              <a:rPr dirty="0" lang="en-US" smtClean="0"/>
              <a:t> field:</a:t>
            </a:r>
            <a:endParaRPr dirty="0" lang="en-US"/>
          </a:p>
        </p:txBody>
      </p:sp>
      <p:pic>
        <p:nvPicPr>
          <p:cNvPr id="47106" name="Picture 2"/>
          <p:cNvPicPr>
            <a:picLocks noChangeArrowheads="1" noChangeAspect="1"/>
          </p:cNvPicPr>
          <p:nvPr/>
        </p:nvPicPr>
        <p:blipFill>
          <a:blip cstate="print" r:embed="rId3"/>
          <a:srcRect/>
          <a:stretch>
            <a:fillRect/>
          </a:stretch>
        </p:blipFill>
        <p:spPr>
          <a:xfrm>
            <a:off x="5791201" y="914400"/>
            <a:ext cx="1905000" cy="1199947"/>
          </a:xfrm>
          <a:prstGeom prst="rect">
            <a:avLst/>
          </a:prstGeom>
          <a:noFill/>
          <a:ln w="9525">
            <a:noFill/>
            <a:miter lim="800000"/>
            <a:headEnd/>
            <a:tailEnd/>
          </a:ln>
        </p:spPr>
      </p:pic>
      <p:pic>
        <p:nvPicPr>
          <p:cNvPr id="47108" name="Picture 4"/>
          <p:cNvPicPr>
            <a:picLocks noChangeArrowheads="1" noChangeAspect="1"/>
          </p:cNvPicPr>
          <p:nvPr/>
        </p:nvPicPr>
        <p:blipFill>
          <a:blip cstate="print" r:embed="rId4"/>
          <a:srcRect/>
          <a:stretch>
            <a:fillRect/>
          </a:stretch>
        </p:blipFill>
        <p:spPr>
          <a:xfrm>
            <a:off x="5638800" y="3962400"/>
            <a:ext cx="3200400" cy="1256071"/>
          </a:xfrm>
          <a:prstGeom prst="rect">
            <a:avLst/>
          </a:prstGeom>
          <a:noFill/>
          <a:ln w="9525">
            <a:noFill/>
            <a:miter lim="800000"/>
            <a:headEnd/>
            <a:tailEnd/>
          </a:ln>
        </p:spPr>
      </p:pic>
      <p:pic>
        <p:nvPicPr>
          <p:cNvPr id="47109" name="Picture 5"/>
          <p:cNvPicPr>
            <a:picLocks noChangeArrowheads="1" noChangeAspect="1"/>
          </p:cNvPicPr>
          <p:nvPr/>
        </p:nvPicPr>
        <p:blipFill>
          <a:blip cstate="print" r:embed="rId5"/>
          <a:srcRect/>
          <a:stretch>
            <a:fillRect/>
          </a:stretch>
        </p:blipFill>
        <p:spPr>
          <a:xfrm>
            <a:off x="609600" y="4191000"/>
            <a:ext cx="5024438" cy="2980357"/>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458200" cy="533400"/>
          </a:xfrm>
        </p:spPr>
        <p:txBody>
          <a:bodyPr numCol="1">
            <a:normAutofit fontScale="90000"/>
          </a:bodyPr>
          <a:lstStyle/>
          <a:p>
            <a:r>
              <a:rPr dirty="0" lang="en-US" smtClean="0"/>
              <a:t>$text</a:t>
            </a:r>
            <a:endParaRPr dirty="0" lang="en-US"/>
          </a:p>
        </p:txBody>
      </p:sp>
      <p:sp>
        <p:nvSpPr>
          <p:cNvPr id="3" name="Content Placeholder 2"/>
          <p:cNvSpPr>
            <a:spLocks noGrp="1"/>
          </p:cNvSpPr>
          <p:nvPr>
            <p:ph idx="1"/>
          </p:nvPr>
        </p:nvSpPr>
        <p:spPr>
          <a:xfrm>
            <a:off x="152400" y="533400"/>
            <a:ext cx="8839200" cy="6096000"/>
          </a:xfrm>
        </p:spPr>
        <p:txBody>
          <a:bodyPr numCol="1">
            <a:normAutofit lnSpcReduction="10000"/>
          </a:bodyPr>
          <a:lstStyle/>
          <a:p>
            <a:pPr algn="just"/>
            <a:r>
              <a:rPr dirty="0" lang="en-US" smtClean="0" sz="2400"/>
              <a:t>$text performs a text search on the content of the fields indexed with a text index.</a:t>
            </a:r>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r>
              <a:rPr b="1" dirty="0" lang="en-US" smtClean="0" sz="2400"/>
              <a:t>$search: </a:t>
            </a:r>
            <a:r>
              <a:rPr dirty="0" lang="en-US" smtClean="0" sz="2400"/>
              <a:t>In the $search field, specify a string of words that the $text operator parses and uses to query the text index.</a:t>
            </a:r>
          </a:p>
          <a:p>
            <a:pPr algn="just"/>
            <a:r>
              <a:rPr b="1" dirty="0" lang="en-US" smtClean="0" sz="2400"/>
              <a:t>$</a:t>
            </a:r>
            <a:r>
              <a:rPr b="1" dirty="0" err="1" lang="en-US" smtClean="0" sz="2400"/>
              <a:t>caseSensitive</a:t>
            </a:r>
            <a:r>
              <a:rPr b="1" dirty="0" lang="en-US" smtClean="0" sz="2400"/>
              <a:t>: </a:t>
            </a:r>
            <a:r>
              <a:rPr dirty="0" lang="en-US" smtClean="0" sz="2400"/>
              <a:t>A </a:t>
            </a:r>
            <a:r>
              <a:rPr dirty="0" err="1" lang="en-US" smtClean="0" sz="2400"/>
              <a:t>boolean</a:t>
            </a:r>
            <a:r>
              <a:rPr dirty="0" lang="en-US" smtClean="0" sz="2400"/>
              <a:t> flag to enable or disable case sensitive search. </a:t>
            </a:r>
            <a:r>
              <a:rPr b="1" dirty="0" lang="en-US" smtClean="0" sz="2400">
                <a:solidFill>
                  <a:srgbClr val="FF0000"/>
                </a:solidFill>
              </a:rPr>
              <a:t>Defaults to false</a:t>
            </a:r>
            <a:r>
              <a:rPr dirty="0" lang="en-US" smtClean="0" sz="2400"/>
              <a:t>; i.e. the search defers to the case insensitivity of the text index.</a:t>
            </a:r>
          </a:p>
          <a:p>
            <a:pPr algn="just"/>
            <a:r>
              <a:rPr b="1" dirty="0" lang="en-US" smtClean="0" sz="2400"/>
              <a:t>$</a:t>
            </a:r>
            <a:r>
              <a:rPr b="1" dirty="0" err="1" lang="en-US" smtClean="0" sz="2400"/>
              <a:t>diacriticSensitive</a:t>
            </a:r>
            <a:r>
              <a:rPr b="1" dirty="0" lang="en-US" smtClean="0" sz="2400"/>
              <a:t>: </a:t>
            </a:r>
            <a:r>
              <a:rPr dirty="0" lang="en-US" smtClean="0" sz="2400"/>
              <a:t>A </a:t>
            </a:r>
            <a:r>
              <a:rPr dirty="0" err="1" lang="en-US" smtClean="0" sz="2400"/>
              <a:t>boolean</a:t>
            </a:r>
            <a:r>
              <a:rPr dirty="0" lang="en-US" smtClean="0" sz="2400"/>
              <a:t> flag to enable or disable diacritic sensitive search. </a:t>
            </a:r>
            <a:r>
              <a:rPr b="1" dirty="0" lang="en-US" smtClean="0" sz="2400">
                <a:solidFill>
                  <a:srgbClr val="FF0000"/>
                </a:solidFill>
              </a:rPr>
              <a:t>Defaults to false</a:t>
            </a:r>
            <a:r>
              <a:rPr dirty="0" lang="en-US" smtClean="0" sz="2400"/>
              <a:t>; i.e. the search defers to the diacritic insensitivity of the text index.</a:t>
            </a:r>
            <a:endParaRPr dirty="0" lang="en-US" sz="2400"/>
          </a:p>
        </p:txBody>
      </p:sp>
      <p:pic>
        <p:nvPicPr>
          <p:cNvPr id="2050" name="Picture 2"/>
          <p:cNvPicPr>
            <a:picLocks noChangeArrowheads="1" noChangeAspect="1"/>
          </p:cNvPicPr>
          <p:nvPr/>
        </p:nvPicPr>
        <p:blipFill>
          <a:blip cstate="print" r:embed="rId2"/>
          <a:srcRect/>
          <a:stretch>
            <a:fillRect/>
          </a:stretch>
        </p:blipFill>
        <p:spPr>
          <a:xfrm>
            <a:off x="2895600" y="1066800"/>
            <a:ext cx="3762375" cy="23907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6553200"/>
          </a:xfrm>
        </p:spPr>
        <p:txBody>
          <a:bodyPr numCol="1">
            <a:normAutofit/>
          </a:bodyPr>
          <a:lstStyle/>
          <a:p>
            <a:pPr>
              <a:buNone/>
            </a:pPr>
            <a:r>
              <a:rPr dirty="0" lang="en-US" smtClean="0" sz="2400"/>
              <a:t>Example:</a:t>
            </a:r>
            <a:endParaRPr dirty="0" lang="en-US" sz="2400"/>
          </a:p>
        </p:txBody>
      </p:sp>
      <p:pic>
        <p:nvPicPr>
          <p:cNvPr id="1026" name="Picture 2"/>
          <p:cNvPicPr>
            <a:picLocks noChangeArrowheads="1" noChangeAspect="1"/>
          </p:cNvPicPr>
          <p:nvPr/>
        </p:nvPicPr>
        <p:blipFill>
          <a:blip cstate="print" r:embed="rId2"/>
          <a:srcRect/>
          <a:stretch>
            <a:fillRect/>
          </a:stretch>
        </p:blipFill>
        <p:spPr>
          <a:xfrm>
            <a:off x="2362200" y="2895600"/>
            <a:ext cx="5029200" cy="361950"/>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1676400" y="152400"/>
            <a:ext cx="7010400" cy="2609522"/>
          </a:xfrm>
          <a:prstGeom prst="rect">
            <a:avLst/>
          </a:prstGeom>
          <a:noFill/>
          <a:ln w="9525">
            <a:noFill/>
            <a:miter lim="800000"/>
            <a:headEnd/>
            <a:tailEnd/>
          </a:ln>
        </p:spPr>
      </p:pic>
      <p:sp>
        <p:nvSpPr>
          <p:cNvPr id="6" name="Rectangle 5"/>
          <p:cNvSpPr/>
          <p:nvPr/>
        </p:nvSpPr>
        <p:spPr>
          <a:xfrm>
            <a:off x="152401" y="3276600"/>
            <a:ext cx="8382000" cy="1754326"/>
          </a:xfrm>
          <a:prstGeom prst="rect">
            <a:avLst/>
          </a:prstGeom>
        </p:spPr>
        <p:txBody>
          <a:bodyPr numCol="1" wrap="square">
            <a:spAutoFit/>
          </a:bodyPr>
          <a:lstStyle/>
          <a:p>
            <a:r>
              <a:rPr b="1" dirty="0" lang="en-US" smtClean="0"/>
              <a:t>Search for a Single Word</a:t>
            </a:r>
          </a:p>
          <a:p>
            <a:endParaRPr b="1" dirty="0" lang="en-US" smtClean="0"/>
          </a:p>
          <a:p>
            <a:endParaRPr b="1" dirty="0" lang="en-US" smtClean="0"/>
          </a:p>
          <a:p>
            <a:endParaRPr b="1" dirty="0" lang="en-US" smtClean="0"/>
          </a:p>
          <a:p>
            <a:pPr algn="just"/>
            <a:r>
              <a:rPr dirty="0" lang="en-US" smtClean="0"/>
              <a:t>This query returns the documents that contain the term coffee in the indexed subject field, or more precisely, the stemmed version of the word:</a:t>
            </a:r>
            <a:endParaRPr b="1" dirty="0" lang="en-US"/>
          </a:p>
        </p:txBody>
      </p:sp>
      <p:pic>
        <p:nvPicPr>
          <p:cNvPr id="1028" name="Picture 4"/>
          <p:cNvPicPr>
            <a:picLocks noChangeArrowheads="1" noChangeAspect="1"/>
          </p:cNvPicPr>
          <p:nvPr/>
        </p:nvPicPr>
        <p:blipFill>
          <a:blip cstate="print" r:embed="rId4"/>
          <a:srcRect/>
          <a:stretch>
            <a:fillRect/>
          </a:stretch>
        </p:blipFill>
        <p:spPr>
          <a:xfrm>
            <a:off x="1752600" y="3733800"/>
            <a:ext cx="5619750" cy="361950"/>
          </a:xfrm>
          <a:prstGeom prst="rect">
            <a:avLst/>
          </a:prstGeom>
          <a:noFill/>
          <a:ln w="9525">
            <a:noFill/>
            <a:miter lim="800000"/>
            <a:headEnd/>
            <a:tailEnd/>
          </a:ln>
        </p:spPr>
      </p:pic>
      <p:pic>
        <p:nvPicPr>
          <p:cNvPr id="1029" name="Picture 5"/>
          <p:cNvPicPr>
            <a:picLocks noChangeArrowheads="1" noChangeAspect="1"/>
          </p:cNvPicPr>
          <p:nvPr/>
        </p:nvPicPr>
        <p:blipFill>
          <a:blip cstate="print" r:embed="rId5"/>
          <a:srcRect/>
          <a:stretch>
            <a:fillRect/>
          </a:stretch>
        </p:blipFill>
        <p:spPr>
          <a:xfrm>
            <a:off x="838200" y="5105400"/>
            <a:ext cx="7162800" cy="8953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6553200"/>
          </a:xfrm>
        </p:spPr>
        <p:txBody>
          <a:bodyPr numCol="1">
            <a:normAutofit/>
          </a:bodyPr>
          <a:lstStyle/>
          <a:p>
            <a:pPr>
              <a:buNone/>
            </a:pPr>
            <a:r>
              <a:rPr dirty="0" lang="en-US" smtClean="0" sz="2400"/>
              <a:t>Example:</a:t>
            </a:r>
            <a:endParaRPr dirty="0" lang="en-US" sz="2400"/>
          </a:p>
        </p:txBody>
      </p:sp>
      <p:pic>
        <p:nvPicPr>
          <p:cNvPr id="1026" name="Picture 2"/>
          <p:cNvPicPr>
            <a:picLocks noChangeArrowheads="1" noChangeAspect="1"/>
          </p:cNvPicPr>
          <p:nvPr/>
        </p:nvPicPr>
        <p:blipFill>
          <a:blip cstate="print" r:embed="rId2"/>
          <a:srcRect/>
          <a:stretch>
            <a:fillRect/>
          </a:stretch>
        </p:blipFill>
        <p:spPr>
          <a:xfrm>
            <a:off x="2362200" y="2895600"/>
            <a:ext cx="5029200" cy="361950"/>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1676400" y="152400"/>
            <a:ext cx="7010400" cy="2609522"/>
          </a:xfrm>
          <a:prstGeom prst="rect">
            <a:avLst/>
          </a:prstGeom>
          <a:noFill/>
          <a:ln w="9525">
            <a:noFill/>
            <a:miter lim="800000"/>
            <a:headEnd/>
            <a:tailEnd/>
          </a:ln>
        </p:spPr>
      </p:pic>
      <p:sp>
        <p:nvSpPr>
          <p:cNvPr id="6" name="Rectangle 5"/>
          <p:cNvSpPr/>
          <p:nvPr/>
        </p:nvSpPr>
        <p:spPr>
          <a:xfrm>
            <a:off x="304800" y="3767362"/>
            <a:ext cx="8382000" cy="2031325"/>
          </a:xfrm>
          <a:prstGeom prst="rect">
            <a:avLst/>
          </a:prstGeom>
        </p:spPr>
        <p:txBody>
          <a:bodyPr numCol="1" wrap="square">
            <a:spAutoFit/>
          </a:bodyPr>
          <a:lstStyle/>
          <a:p>
            <a:r>
              <a:rPr b="1" dirty="0" lang="en-US" smtClean="0"/>
              <a:t>Searching for an exact multi-word phrase:</a:t>
            </a:r>
            <a:r>
              <a:rPr dirty="0" lang="en-US" smtClean="0"/>
              <a:t/>
            </a:r>
            <a:br>
              <a:rPr dirty="0" lang="en-US" smtClean="0"/>
            </a:br>
            <a:endParaRPr dirty="0" lang="en-US" smtClean="0"/>
          </a:p>
          <a:p>
            <a:r>
              <a:rPr dirty="0" lang="en-US" smtClean="0"/>
              <a:t>If you search for Coffee Shopping, </a:t>
            </a:r>
            <a:r>
              <a:rPr dirty="0" err="1" lang="en-US" smtClean="0"/>
              <a:t>MongoDB</a:t>
            </a:r>
            <a:r>
              <a:rPr dirty="0" lang="en-US" smtClean="0"/>
              <a:t> normally finds documents containing either “Coffee" OR “Shopping". To find only the exact phrase “Coffee Shopping," use:</a:t>
            </a:r>
            <a:br>
              <a:rPr dirty="0" lang="en-US" smtClean="0"/>
            </a:br>
            <a:endParaRPr dirty="0" lang="en-US" smtClean="0"/>
          </a:p>
          <a:p>
            <a:r>
              <a:rPr dirty="0" lang="en-US" smtClean="0"/>
              <a:t>	</a:t>
            </a:r>
            <a:r>
              <a:rPr dirty="0" err="1" lang="en-US" smtClean="0"/>
              <a:t>db.stores.find</a:t>
            </a:r>
            <a:r>
              <a:rPr dirty="0" lang="en-US" smtClean="0"/>
              <a:t>({ $text: { $search: "\“Coffee Shopping\"" } </a:t>
            </a:r>
            <a:r>
              <a:rPr dirty="0" lang="en-US" smtClean="0"/>
              <a:t>}).</a:t>
            </a:r>
            <a:endParaRPr b="1" dirty="0" lang="en-US" smtClean="0"/>
          </a:p>
          <a:p>
            <a:endParaRPr b="1" dirty="0" lang="en-US" smtClean="0"/>
          </a:p>
        </p:txBody>
      </p:sp>
    </p:spTree>
  </p:cSld>
  <p:clrMapOvr>
    <a:masterClrMapping/>
  </p:clrMapOvr>
  <p:timing>
    <p:tnLst>
      <p:par>
        <p:cTn dur="indefinite" id="1" nodeType="tmRoot" restart="never"/>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705600"/>
          </a:xfrm>
        </p:spPr>
        <p:txBody>
          <a:bodyPr numCol="1">
            <a:normAutofit/>
          </a:bodyPr>
          <a:lstStyle/>
          <a:p>
            <a:pPr algn="just">
              <a:buNone/>
            </a:pPr>
            <a:r>
              <a:rPr b="1" dirty="0" lang="en-US" smtClean="0" sz="2400"/>
              <a:t>Specify the Default Language for a Text Index: </a:t>
            </a:r>
          </a:p>
          <a:p>
            <a:pPr algn="just"/>
            <a:r>
              <a:rPr dirty="0" lang="en-US" smtClean="0" sz="2400"/>
              <a:t>By default, the </a:t>
            </a:r>
            <a:r>
              <a:rPr dirty="0" err="1" lang="en-US" smtClean="0" sz="2400"/>
              <a:t>default_language</a:t>
            </a:r>
            <a:r>
              <a:rPr dirty="0" lang="en-US" smtClean="0" sz="2400"/>
              <a:t> for text indexes is </a:t>
            </a:r>
            <a:r>
              <a:rPr dirty="0" err="1" lang="en-US" smtClean="0" sz="2400"/>
              <a:t>english</a:t>
            </a:r>
            <a:r>
              <a:rPr dirty="0" lang="en-US" smtClean="0" sz="2400"/>
              <a:t>. To improve the performance of non-English text search queries, you can specify a different default language associated with your text index.</a:t>
            </a:r>
          </a:p>
          <a:p>
            <a:pPr algn="just"/>
            <a:r>
              <a:rPr dirty="0" lang="en-US" smtClean="0" sz="2400"/>
              <a:t>The default language associated with the indexed data determines the suffix stemming rules. The default language also determines which language-specific stop words (for example, the, an, a, and </a:t>
            </a:r>
            <a:r>
              <a:rPr dirty="0" err="1" lang="en-US" smtClean="0" sz="2400"/>
              <a:t>and</a:t>
            </a:r>
            <a:r>
              <a:rPr dirty="0" lang="en-US" smtClean="0" sz="2400"/>
              <a:t> in English) are not indexed.</a:t>
            </a:r>
          </a:p>
          <a:p>
            <a:pPr algn="just"/>
            <a:r>
              <a:rPr dirty="0" lang="en-US" smtClean="0" sz="2400"/>
              <a:t>To specify a different language, use the </a:t>
            </a:r>
            <a:r>
              <a:rPr dirty="0" err="1" lang="en-US" smtClean="0" sz="2400"/>
              <a:t>default_language</a:t>
            </a:r>
            <a:r>
              <a:rPr dirty="0" lang="en-US" smtClean="0" sz="2400"/>
              <a:t> option when creating the text index. </a:t>
            </a:r>
          </a:p>
          <a:p>
            <a:endParaRPr dirty="0" lang="en-US" smtClean="0"/>
          </a:p>
          <a:p>
            <a:endParaRPr dirty="0" lang="en-US" smtClean="0" sz="2400"/>
          </a:p>
          <a:p>
            <a:r>
              <a:rPr dirty="0" lang="en-US" smtClean="0" sz="2400"/>
              <a:t>Stop words are </a:t>
            </a:r>
            <a:r>
              <a:rPr b="1" dirty="0" lang="en-US" smtClean="0" sz="2400"/>
              <a:t>language-specific</a:t>
            </a:r>
            <a:r>
              <a:rPr dirty="0" lang="en-US" smtClean="0" sz="2400"/>
              <a:t> (</a:t>
            </a:r>
            <a:r>
              <a:rPr dirty="0" err="1" lang="en-US" smtClean="0" sz="2400"/>
              <a:t>MongoDB</a:t>
            </a:r>
            <a:r>
              <a:rPr dirty="0" lang="en-US" smtClean="0" sz="2400"/>
              <a:t> uses language rules like English, etc.) They are removed during </a:t>
            </a:r>
            <a:r>
              <a:rPr b="1" dirty="0" lang="en-US" smtClean="0" sz="2400"/>
              <a:t>index creation</a:t>
            </a:r>
            <a:r>
              <a:rPr dirty="0" lang="en-US" smtClean="0" sz="2400"/>
              <a:t> and during </a:t>
            </a:r>
            <a:r>
              <a:rPr b="1" dirty="0" lang="en-US" smtClean="0" sz="2400"/>
              <a:t>search queries</a:t>
            </a:r>
            <a:endParaRPr dirty="0" lang="en-US" smtClean="0" sz="2400"/>
          </a:p>
          <a:p>
            <a:endParaRPr dirty="0" lang="en-US" sz="2400"/>
          </a:p>
        </p:txBody>
      </p:sp>
      <p:pic>
        <p:nvPicPr>
          <p:cNvPr id="2050" name="Picture 2"/>
          <p:cNvPicPr>
            <a:picLocks noChangeArrowheads="1" noChangeAspect="1"/>
          </p:cNvPicPr>
          <p:nvPr/>
        </p:nvPicPr>
        <p:blipFill>
          <a:blip cstate="print" r:embed="rId2"/>
          <a:srcRect/>
          <a:stretch>
            <a:fillRect/>
          </a:stretch>
        </p:blipFill>
        <p:spPr>
          <a:xfrm>
            <a:off x="2214546" y="4500570"/>
            <a:ext cx="3867150" cy="99536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705600"/>
          </a:xfrm>
        </p:spPr>
        <p:txBody>
          <a:bodyPr numCol="1">
            <a:normAutofit lnSpcReduction="10000"/>
          </a:bodyPr>
          <a:lstStyle/>
          <a:p>
            <a:pPr algn="just">
              <a:buNone/>
            </a:pPr>
            <a:r>
              <a:rPr b="1" dirty="0" lang="en-US" smtClean="0" sz="2400"/>
              <a:t>Stop words usage example</a:t>
            </a:r>
          </a:p>
          <a:p>
            <a:r>
              <a:rPr dirty="0" lang="en-US" smtClean="0" sz="2400"/>
              <a:t>Suppose you have a document:</a:t>
            </a:r>
          </a:p>
          <a:p>
            <a:pPr>
              <a:buNone/>
            </a:pPr>
            <a:r>
              <a:rPr dirty="0" lang="en-US" smtClean="0" sz="2400"/>
              <a:t>				</a:t>
            </a:r>
            <a:r>
              <a:rPr dirty="0" i="1" lang="en-US" smtClean="0" sz="2400"/>
              <a:t>{ text: "The AI is in the lab" }</a:t>
            </a:r>
          </a:p>
          <a:p>
            <a:r>
              <a:rPr dirty="0" lang="en-US" smtClean="0" sz="2400"/>
              <a:t>When </a:t>
            </a:r>
            <a:r>
              <a:rPr dirty="0" err="1" lang="en-US" smtClean="0" sz="2400"/>
              <a:t>MongoDB</a:t>
            </a:r>
            <a:r>
              <a:rPr dirty="0" lang="en-US" smtClean="0" sz="2400"/>
              <a:t> creates a </a:t>
            </a:r>
            <a:r>
              <a:rPr b="1" dirty="0" lang="en-US" smtClean="0" sz="2400"/>
              <a:t>text index</a:t>
            </a:r>
            <a:r>
              <a:rPr dirty="0" lang="en-US" smtClean="0" sz="2400"/>
              <a:t>, it processes the sentence:</a:t>
            </a:r>
          </a:p>
          <a:p>
            <a:pPr>
              <a:buNone/>
            </a:pPr>
            <a:r>
              <a:rPr dirty="0" lang="en-US" smtClean="0" sz="2400"/>
              <a:t>	</a:t>
            </a:r>
            <a:r>
              <a:rPr b="1" dirty="0" lang="en-US" smtClean="0" sz="2400"/>
              <a:t>Original words: </a:t>
            </a:r>
            <a:r>
              <a:rPr dirty="0" lang="en-US" smtClean="0" sz="2400"/>
              <a:t>		     The, AI, is, in, the, lab</a:t>
            </a:r>
          </a:p>
          <a:p>
            <a:pPr>
              <a:buNone/>
            </a:pPr>
            <a:r>
              <a:rPr b="1" dirty="0" lang="en-US" smtClean="0" sz="2400"/>
              <a:t>	After removing stop words:   </a:t>
            </a:r>
            <a:r>
              <a:rPr dirty="0" lang="en-US" smtClean="0" sz="2400"/>
              <a:t>AI, lab</a:t>
            </a:r>
          </a:p>
          <a:p>
            <a:endParaRPr dirty="0" lang="en-US" smtClean="0" sz="2400"/>
          </a:p>
          <a:p>
            <a:r>
              <a:rPr dirty="0" lang="en-US" smtClean="0" sz="2400"/>
              <a:t>Only </a:t>
            </a:r>
            <a:r>
              <a:rPr b="1" dirty="0" lang="en-US" smtClean="0" sz="2400"/>
              <a:t>“AI”</a:t>
            </a:r>
            <a:r>
              <a:rPr dirty="0" lang="en-US" smtClean="0" sz="2400"/>
              <a:t> and </a:t>
            </a:r>
            <a:r>
              <a:rPr b="1" dirty="0" lang="en-US" smtClean="0" sz="2400"/>
              <a:t>“lab”</a:t>
            </a:r>
            <a:r>
              <a:rPr dirty="0" lang="en-US" smtClean="0" sz="2400"/>
              <a:t> are stored in the index and words like </a:t>
            </a:r>
            <a:r>
              <a:rPr b="1" dirty="0" lang="en-US" smtClean="0" sz="2400"/>
              <a:t>“the”, “is”, “in”</a:t>
            </a:r>
            <a:r>
              <a:rPr dirty="0" lang="en-US" smtClean="0" sz="2400"/>
              <a:t> are completely ignored</a:t>
            </a:r>
          </a:p>
          <a:p>
            <a:r>
              <a:rPr b="1" dirty="0" lang="en-US" smtClean="0" sz="2400"/>
              <a:t>Impact on search</a:t>
            </a:r>
          </a:p>
          <a:p>
            <a:r>
              <a:rPr b="1" dirty="0" lang="en-US" smtClean="0" sz="2400"/>
              <a:t>Query 1:</a:t>
            </a:r>
          </a:p>
          <a:p>
            <a:pPr>
              <a:buNone/>
            </a:pPr>
            <a:r>
              <a:rPr dirty="0" lang="en-US" smtClean="0" sz="2400"/>
              <a:t>			</a:t>
            </a:r>
            <a:r>
              <a:rPr dirty="0" err="1" i="1" lang="en-US" smtClean="0" sz="2400"/>
              <a:t>db.collection.find</a:t>
            </a:r>
            <a:r>
              <a:rPr dirty="0" i="1" lang="en-US" smtClean="0" sz="2400"/>
              <a:t>({ $text: { $search: "AI" } })</a:t>
            </a:r>
          </a:p>
          <a:p>
            <a:pPr>
              <a:buNone/>
            </a:pPr>
            <a:r>
              <a:rPr dirty="0" i="1" lang="en-US" smtClean="0" sz="2400"/>
              <a:t>	</a:t>
            </a:r>
            <a:r>
              <a:rPr dirty="0" lang="en-US" smtClean="0" sz="2000"/>
              <a:t>Works correctly (AI is indexed)</a:t>
            </a:r>
          </a:p>
          <a:p>
            <a:r>
              <a:rPr b="1" dirty="0" lang="en-US" smtClean="0" sz="2400"/>
              <a:t>Query 2:</a:t>
            </a:r>
          </a:p>
          <a:p>
            <a:pPr>
              <a:buNone/>
            </a:pPr>
            <a:r>
              <a:rPr dirty="0" lang="en-US" smtClean="0" sz="2400"/>
              <a:t>			</a:t>
            </a:r>
            <a:r>
              <a:rPr dirty="0" err="1" i="1" lang="en-US" smtClean="0" sz="2400"/>
              <a:t>db.collection.find</a:t>
            </a:r>
            <a:r>
              <a:rPr dirty="0" i="1" lang="en-US" smtClean="0" sz="2400"/>
              <a:t>({ $text: { $search: "the" } })</a:t>
            </a:r>
          </a:p>
          <a:p>
            <a:pPr>
              <a:buNone/>
            </a:pPr>
            <a:r>
              <a:rPr dirty="0" lang="en-US" smtClean="0" sz="2400"/>
              <a:t>	Returns nothing (because “the” is not indexed)</a:t>
            </a:r>
          </a:p>
          <a:p>
            <a:pPr algn="just">
              <a:buNone/>
            </a:pPr>
            <a:endParaRPr b="1" dirty="0" lang="en-US" smtClean="0" sz="2400"/>
          </a:p>
          <a:p>
            <a:endParaRPr dirty="0" lang="en-US" sz="2400"/>
          </a:p>
        </p:txBody>
      </p:sp>
    </p:spTree>
  </p:cSld>
  <p:clrMapOvr>
    <a:masterClrMapping/>
  </p:clrMapOvr>
  <p:timing>
    <p:tnLst>
      <p:par>
        <p:cTn dur="indefinite" id="1" nodeType="tmRoot" restart="never"/>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381000"/>
          </a:xfrm>
        </p:spPr>
        <p:txBody>
          <a:bodyPr numCol="1">
            <a:noAutofit/>
          </a:bodyPr>
          <a:lstStyle/>
          <a:p>
            <a:r>
              <a:rPr dirty="0" lang="en-US" smtClean="0" sz="3200"/>
              <a:t>5. Hashed Indexes</a:t>
            </a:r>
            <a:endParaRPr dirty="0" lang="en-US" sz="3200"/>
          </a:p>
        </p:txBody>
      </p:sp>
      <p:sp>
        <p:nvSpPr>
          <p:cNvPr id="3" name="Content Placeholder 2"/>
          <p:cNvSpPr>
            <a:spLocks noGrp="1"/>
          </p:cNvSpPr>
          <p:nvPr>
            <p:ph idx="1"/>
          </p:nvPr>
        </p:nvSpPr>
        <p:spPr>
          <a:xfrm>
            <a:off x="142844" y="714356"/>
            <a:ext cx="8839200" cy="6324600"/>
          </a:xfrm>
        </p:spPr>
        <p:txBody>
          <a:bodyPr numCol="1">
            <a:normAutofit/>
          </a:bodyPr>
          <a:lstStyle/>
          <a:p>
            <a:r>
              <a:rPr dirty="0" lang="en-US" smtClean="0" sz="2400"/>
              <a:t>A </a:t>
            </a:r>
            <a:r>
              <a:rPr b="1" dirty="0" lang="en-US" smtClean="0" sz="2400"/>
              <a:t>hashed index</a:t>
            </a:r>
            <a:r>
              <a:rPr dirty="0" lang="en-US" smtClean="0" sz="2400"/>
              <a:t> in </a:t>
            </a:r>
            <a:r>
              <a:rPr dirty="0" err="1" lang="en-US" smtClean="0" sz="2400"/>
              <a:t>MongoDB</a:t>
            </a:r>
            <a:r>
              <a:rPr dirty="0" lang="en-US" smtClean="0" sz="2400"/>
              <a:t> is an index where the </a:t>
            </a:r>
            <a:r>
              <a:rPr b="1" dirty="0" lang="en-US" smtClean="0" sz="2400"/>
              <a:t>value of a field is converted into a hash</a:t>
            </a:r>
            <a:r>
              <a:rPr dirty="0" lang="en-US" smtClean="0" sz="2400"/>
              <a:t>, and that hash is what gets stored and indexed.</a:t>
            </a:r>
            <a:endParaRPr b="1" dirty="0" lang="en-US" smtClean="0" sz="2400"/>
          </a:p>
          <a:p>
            <a:r>
              <a:rPr dirty="0" lang="en-US" smtClean="0" sz="2400"/>
              <a:t>Instead of indexing actual values e.g. { </a:t>
            </a:r>
            <a:r>
              <a:rPr dirty="0" err="1" lang="en-US" smtClean="0" sz="2400"/>
              <a:t>userId</a:t>
            </a:r>
            <a:r>
              <a:rPr dirty="0" lang="en-US" smtClean="0" sz="2400"/>
              <a:t>: 12345 }, </a:t>
            </a:r>
            <a:r>
              <a:rPr dirty="0" err="1" lang="en-US" smtClean="0" sz="2400"/>
              <a:t>MongoDB</a:t>
            </a:r>
            <a:r>
              <a:rPr dirty="0" lang="en-US" smtClean="0" sz="2400"/>
              <a:t> stores something like: { </a:t>
            </a:r>
            <a:r>
              <a:rPr dirty="0" err="1" lang="en-US" smtClean="0" sz="2400"/>
              <a:t>userId</a:t>
            </a:r>
            <a:r>
              <a:rPr dirty="0" lang="en-US" smtClean="0" sz="2400"/>
              <a:t>: hash(12345) }</a:t>
            </a:r>
          </a:p>
          <a:p>
            <a:r>
              <a:rPr dirty="0" lang="en-US" smtClean="0" sz="2400"/>
              <a:t>So the index is built on the </a:t>
            </a:r>
            <a:r>
              <a:rPr b="1" dirty="0" lang="en-US" smtClean="0" sz="2400"/>
              <a:t>hashed value</a:t>
            </a:r>
            <a:r>
              <a:rPr dirty="0" lang="en-US" smtClean="0" sz="2400"/>
              <a:t>, not the original value.</a:t>
            </a:r>
          </a:p>
          <a:p>
            <a:r>
              <a:rPr altLang="en-IN" dirty="0" lang="en-IN" smtClean="0" sz="2400"/>
              <a:t>Hashed indexes are ideal for equality queries where they help to retrieve results through fast matches.</a:t>
            </a:r>
          </a:p>
          <a:p>
            <a:r>
              <a:rPr altLang="en-IN" dirty="0" lang="en-IN" smtClean="0" sz="2400"/>
              <a:t>E.g. 		</a:t>
            </a:r>
            <a:r>
              <a:rPr dirty="0" err="1" lang="en-US" smtClean="0" sz="2400"/>
              <a:t>db.users.find</a:t>
            </a:r>
            <a:r>
              <a:rPr dirty="0" lang="en-US" smtClean="0" sz="2400"/>
              <a:t>({ </a:t>
            </a:r>
            <a:r>
              <a:rPr dirty="0" err="1" lang="en-US" smtClean="0" sz="2400"/>
              <a:t>userId</a:t>
            </a:r>
            <a:r>
              <a:rPr dirty="0" lang="en-US" smtClean="0" sz="2400"/>
              <a:t>: 12345 })</a:t>
            </a:r>
          </a:p>
          <a:p>
            <a:r>
              <a:rPr b="1" dirty="0" lang="en-US" smtClean="0" sz="2400"/>
              <a:t>With hashed index range queries don't work efficiently</a:t>
            </a:r>
          </a:p>
          <a:p>
            <a:pPr lvl="1">
              <a:buNone/>
            </a:pPr>
            <a:r>
              <a:rPr dirty="0" lang="en-US" smtClean="0" sz="2000"/>
              <a:t>			</a:t>
            </a:r>
            <a:r>
              <a:rPr dirty="0" err="1" lang="en-US" smtClean="0" sz="2000"/>
              <a:t>db.users.find</a:t>
            </a:r>
            <a:r>
              <a:rPr dirty="0" lang="en-US" smtClean="0" sz="2000"/>
              <a:t>({ </a:t>
            </a:r>
            <a:r>
              <a:rPr dirty="0" err="1" lang="en-US" smtClean="0" sz="2000"/>
              <a:t>userId</a:t>
            </a:r>
            <a:r>
              <a:rPr dirty="0" lang="en-US" smtClean="0" sz="2000"/>
              <a:t>: { $</a:t>
            </a:r>
            <a:r>
              <a:rPr dirty="0" err="1" lang="en-US" smtClean="0" sz="2000"/>
              <a:t>gt</a:t>
            </a:r>
            <a:r>
              <a:rPr dirty="0" lang="en-US" smtClean="0" sz="2000"/>
              <a:t>: 1000 } })</a:t>
            </a:r>
          </a:p>
          <a:p>
            <a:r>
              <a:rPr dirty="0" lang="en-US" smtClean="0" sz="2400"/>
              <a:t>Hash values have </a:t>
            </a:r>
            <a:r>
              <a:rPr b="1" dirty="0" lang="en-US" smtClean="0" sz="2400"/>
              <a:t>no order</a:t>
            </a:r>
            <a:r>
              <a:rPr dirty="0" lang="en-US" smtClean="0" sz="2400"/>
              <a:t>, so </a:t>
            </a:r>
            <a:r>
              <a:rPr dirty="0" err="1" lang="en-US" smtClean="0" sz="2400"/>
              <a:t>MongoDB</a:t>
            </a:r>
            <a:r>
              <a:rPr dirty="0" lang="en-US" smtClean="0" sz="2400"/>
              <a:t> cannot perform range scans</a:t>
            </a:r>
          </a:p>
          <a:p>
            <a:pPr algn="just"/>
            <a:r>
              <a:rPr altLang="en-IN" dirty="0" lang="en-IN" smtClean="0" sz="2400"/>
              <a:t>Also, sorting is </a:t>
            </a:r>
            <a:r>
              <a:rPr altLang="en-IN" b="1" dirty="0" lang="en-IN" smtClean="0" sz="2400"/>
              <a:t>not</a:t>
            </a:r>
            <a:r>
              <a:rPr altLang="en-IN" dirty="0" lang="en-IN" smtClean="0" sz="2400"/>
              <a:t> supported through hashed indexes. </a:t>
            </a:r>
          </a:p>
          <a:p>
            <a:pPr algn="just">
              <a:buNone/>
            </a:pPr>
            <a:r>
              <a:rPr altLang="en-IN" dirty="0" lang="en-IN" smtClean="0" sz="2400"/>
              <a:t>			E.g. </a:t>
            </a:r>
            <a:r>
              <a:rPr dirty="0" err="1" lang="en-US" smtClean="0" sz="2400"/>
              <a:t>db.users.find</a:t>
            </a:r>
            <a:r>
              <a:rPr dirty="0" lang="en-US" smtClean="0" sz="2400"/>
              <a:t>().sort({ </a:t>
            </a:r>
            <a:r>
              <a:rPr dirty="0" err="1" lang="en-US" smtClean="0" sz="2400"/>
              <a:t>userId</a:t>
            </a:r>
            <a:r>
              <a:rPr dirty="0" lang="en-US" smtClean="0" sz="2400"/>
              <a:t>: 1 })</a:t>
            </a:r>
          </a:p>
          <a:p>
            <a:endParaRPr dirty="0" lang="en-US"/>
          </a:p>
        </p:txBody>
      </p:sp>
    </p:spTree>
  </p:cSld>
  <p:clrMapOvr>
    <a:masterClrMapping/>
  </p:clrMapOvr>
  <p:timing>
    <p:tnLst>
      <p:par>
        <p:cTn dur="indefinite" id="1" nodeType="tmRoot" restart="never"/>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381000"/>
          </a:xfrm>
        </p:spPr>
        <p:txBody>
          <a:bodyPr numCol="1">
            <a:noAutofit/>
          </a:bodyPr>
          <a:lstStyle/>
          <a:p>
            <a:r>
              <a:rPr b="1" dirty="0" lang="en-US" smtClean="0" sz="3200"/>
              <a:t>Hashed Indexes</a:t>
            </a:r>
            <a:endParaRPr b="1" dirty="0" lang="en-US" sz="3200"/>
          </a:p>
        </p:txBody>
      </p:sp>
      <p:sp>
        <p:nvSpPr>
          <p:cNvPr id="3" name="Content Placeholder 2"/>
          <p:cNvSpPr>
            <a:spLocks noGrp="1"/>
          </p:cNvSpPr>
          <p:nvPr>
            <p:ph idx="1"/>
          </p:nvPr>
        </p:nvSpPr>
        <p:spPr>
          <a:xfrm>
            <a:off x="142844" y="714356"/>
            <a:ext cx="8839200" cy="6143644"/>
          </a:xfrm>
        </p:spPr>
        <p:txBody>
          <a:bodyPr numCol="1">
            <a:normAutofit fontScale="85000" lnSpcReduction="20000"/>
          </a:bodyPr>
          <a:lstStyle/>
          <a:p>
            <a:pPr algn="just"/>
            <a:r>
              <a:rPr dirty="0" i="1" lang="en-US" smtClean="0" sz="2400"/>
              <a:t>Hashed indexes support sharding using hashed shard keys. Hashed based sharding uses a hashed index of a field as the shard key to partition data across your </a:t>
            </a:r>
            <a:r>
              <a:rPr dirty="0" err="1" i="1" lang="en-US" smtClean="0" sz="2400"/>
              <a:t>sharded</a:t>
            </a:r>
            <a:r>
              <a:rPr dirty="0" i="1" lang="en-US" smtClean="0" sz="2400"/>
              <a:t> cluster.</a:t>
            </a:r>
          </a:p>
          <a:p>
            <a:pPr algn="just">
              <a:buNone/>
            </a:pPr>
            <a:r>
              <a:rPr b="1" dirty="0" lang="en-US" smtClean="0" sz="2400"/>
              <a:t>Hashing Function: </a:t>
            </a:r>
            <a:r>
              <a:rPr dirty="0" lang="en-US" smtClean="0" sz="2400"/>
              <a:t>When </a:t>
            </a:r>
            <a:r>
              <a:rPr dirty="0" err="1" lang="en-US" smtClean="0" sz="2400"/>
              <a:t>MongoDB</a:t>
            </a:r>
            <a:r>
              <a:rPr dirty="0" lang="en-US" smtClean="0" sz="2400"/>
              <a:t> uses a hashed index to resolve a query, it uses a hashing function to automatically compute the hash values. Applications do </a:t>
            </a:r>
            <a:r>
              <a:rPr b="1" dirty="0" lang="en-US" smtClean="0" sz="2400"/>
              <a:t>not</a:t>
            </a:r>
            <a:r>
              <a:rPr dirty="0" lang="en-US" smtClean="0" sz="2400"/>
              <a:t> need to compute hashes.</a:t>
            </a:r>
          </a:p>
          <a:p>
            <a:pPr algn="just">
              <a:buNone/>
            </a:pPr>
            <a:r>
              <a:rPr b="1" dirty="0" lang="en-US" smtClean="0" sz="2400"/>
              <a:t>Embedded Documents: </a:t>
            </a:r>
          </a:p>
          <a:p>
            <a:pPr algn="just"/>
            <a:r>
              <a:rPr dirty="0" err="1" lang="en-US" smtClean="0" sz="2400"/>
              <a:t>MongoDB</a:t>
            </a:r>
            <a:r>
              <a:rPr dirty="0" lang="en-US" smtClean="0" sz="2400"/>
              <a:t> </a:t>
            </a:r>
            <a:r>
              <a:rPr b="1" dirty="0" lang="en-US" smtClean="0" sz="2400"/>
              <a:t>does NOT allow hashed indexes directly on an entire embedded document (object) </a:t>
            </a:r>
            <a:r>
              <a:rPr dirty="0" lang="en-US" smtClean="0" sz="2400"/>
              <a:t>because hashing requires a single scalar value, not a full object.</a:t>
            </a:r>
          </a:p>
          <a:p>
            <a:pPr algn="just"/>
            <a:r>
              <a:rPr dirty="0" lang="en-US" smtClean="0" sz="2400"/>
              <a:t>You can create a hashed index on a </a:t>
            </a:r>
            <a:r>
              <a:rPr b="1" dirty="0" lang="en-US" smtClean="0" sz="2400"/>
              <a:t>specific field inside the embedded document</a:t>
            </a:r>
            <a:r>
              <a:rPr dirty="0" lang="en-US" smtClean="0" sz="2400"/>
              <a:t>.</a:t>
            </a:r>
          </a:p>
          <a:p>
            <a:pPr algn="just"/>
            <a:r>
              <a:rPr dirty="0" lang="en-US" smtClean="0" sz="2400"/>
              <a:t>The hashing function collapses embedded documents and computes the hash for the entire value.</a:t>
            </a:r>
          </a:p>
          <a:p>
            <a:pPr algn="just">
              <a:buNone/>
            </a:pPr>
            <a:r>
              <a:rPr b="1" dirty="0" lang="en-US" smtClean="0" sz="2400"/>
              <a:t>Floating-Point Numbers</a:t>
            </a:r>
          </a:p>
          <a:p>
            <a:pPr algn="just"/>
            <a:r>
              <a:rPr dirty="0" lang="en-US" smtClean="0" sz="2400"/>
              <a:t>Hashed indexes truncate floating-point numbers to 64-bit integers before hashing. For example, a hashed index uses the same hash to store the values 2.3, 2.2, and 2.9. This is a </a:t>
            </a:r>
            <a:r>
              <a:rPr b="1" dirty="0" lang="en-US" smtClean="0" sz="2400"/>
              <a:t>collision</a:t>
            </a:r>
            <a:r>
              <a:rPr dirty="0" lang="en-US" smtClean="0" sz="2400"/>
              <a:t>, where multiple values are assigned to a single hash key. Collisions may negatively impact query performance.</a:t>
            </a:r>
          </a:p>
          <a:p>
            <a:pPr algn="just"/>
            <a:r>
              <a:rPr dirty="0" lang="en-US" smtClean="0" sz="2400">
                <a:solidFill>
                  <a:srgbClr val="FF0000"/>
                </a:solidFill>
              </a:rPr>
              <a:t>To prevent collisions, do not use a hashed index for floating-point numbers that cannot be reliably converted to 64-bit integers and then back to floating point.</a:t>
            </a:r>
          </a:p>
          <a:p>
            <a:pPr algn="just"/>
            <a:r>
              <a:rPr dirty="0" lang="en-US" smtClean="0" sz="2400"/>
              <a:t>Hashed indexes do not support floating-point numbers larger than 2</a:t>
            </a:r>
            <a:r>
              <a:rPr baseline="30000" dirty="0" lang="en-US" smtClean="0" sz="2400"/>
              <a:t>53</a:t>
            </a:r>
            <a:r>
              <a:rPr dirty="0" lang="en-US" smtClean="0" sz="2400"/>
              <a:t>.</a:t>
            </a:r>
            <a:endParaRPr b="1" dirty="0" lang="en-US" smtClean="0" sz="2400"/>
          </a:p>
          <a:p>
            <a:pPr algn="just"/>
            <a:endParaRPr dirty="0" lang="en-US" smtClean="0" sz="2400"/>
          </a:p>
          <a:p>
            <a:endParaRPr dirty="0" lang="en-US"/>
          </a:p>
        </p:txBody>
      </p:sp>
    </p:spTree>
  </p:cSld>
  <p:clrMapOvr>
    <a:masterClrMapping/>
  </p:clrMapOvr>
  <p:timing>
    <p:tnLst>
      <p:par>
        <p:cTn dur="indefinite" id="1" nodeType="tmRoot" restart="never"/>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lgn="just">
              <a:buNone/>
            </a:pPr>
            <a:r>
              <a:rPr b="1" dirty="0" lang="en-US" smtClean="0" sz="2400"/>
              <a:t>Limitations</a:t>
            </a:r>
          </a:p>
          <a:p>
            <a:pPr algn="just"/>
            <a:r>
              <a:rPr dirty="0" lang="en-US" smtClean="0" sz="2400"/>
              <a:t>Hashed indexes have limitations for array fields and the unique property.</a:t>
            </a:r>
          </a:p>
          <a:p>
            <a:pPr algn="just">
              <a:buNone/>
            </a:pPr>
            <a:r>
              <a:rPr b="1" dirty="0" lang="en-US" smtClean="0" sz="2400"/>
              <a:t>Array Fields</a:t>
            </a:r>
          </a:p>
          <a:p>
            <a:pPr algn="just"/>
            <a:r>
              <a:rPr dirty="0" lang="en-US" smtClean="0" sz="2400"/>
              <a:t>The hashing function does not support multi-key indexes. </a:t>
            </a:r>
          </a:p>
          <a:p>
            <a:pPr algn="just"/>
            <a:r>
              <a:rPr dirty="0" lang="en-US" smtClean="0" sz="2400"/>
              <a:t>You cannot create a hashed index on a field that contains an array </a:t>
            </a:r>
            <a:r>
              <a:rPr dirty="0" i="1" lang="en-US" smtClean="0" sz="2400"/>
              <a:t>or</a:t>
            </a:r>
            <a:r>
              <a:rPr dirty="0" lang="en-US" smtClean="0" sz="2400"/>
              <a:t> insert an array into a hashed indexed field.</a:t>
            </a:r>
          </a:p>
          <a:p>
            <a:pPr algn="just">
              <a:buNone/>
            </a:pPr>
            <a:r>
              <a:rPr b="1" dirty="0" lang="en-US" smtClean="0" sz="2400"/>
              <a:t>Unique Constraint</a:t>
            </a:r>
          </a:p>
          <a:p>
            <a:pPr algn="just"/>
            <a:r>
              <a:rPr dirty="0" lang="en-US" smtClean="0" sz="2400"/>
              <a:t>You cannot specify a unique constraint on a hashed index i.e. {unique: true} is not allowed.</a:t>
            </a:r>
          </a:p>
          <a:p>
            <a:pPr algn="just"/>
            <a:r>
              <a:rPr dirty="0" lang="en-US" smtClean="0" sz="2400"/>
              <a:t>Instead, you can create an additional non-hashed index with the unique constraint. </a:t>
            </a:r>
            <a:r>
              <a:rPr dirty="0" err="1" lang="en-US" smtClean="0" sz="2400"/>
              <a:t>MongoDB</a:t>
            </a:r>
            <a:r>
              <a:rPr dirty="0" lang="en-US" smtClean="0" sz="2400"/>
              <a:t> can use that non-hashed index to enforce uniqueness on the chosen field.</a:t>
            </a:r>
          </a:p>
          <a:p>
            <a:pPr algn="just"/>
            <a:endParaRPr dirty="0" lang="en-US" smtClean="0" sz="2400"/>
          </a:p>
          <a:p>
            <a:endParaRPr dirty="0" lang="en-US"/>
          </a:p>
        </p:txBody>
      </p:sp>
      <p:pic>
        <p:nvPicPr>
          <p:cNvPr id="4" name="Picture 3"/>
          <p:cNvPicPr>
            <a:picLocks noChangeAspect="1"/>
          </p:cNvPicPr>
          <p:nvPr/>
        </p:nvPicPr>
        <p:blipFill>
          <a:blip r:embed="rId2"/>
          <a:stretch>
            <a:fillRect/>
          </a:stretch>
        </p:blipFill>
        <p:spPr>
          <a:xfrm>
            <a:off x="195688" y="5682163"/>
            <a:ext cx="8795912" cy="1009685"/>
          </a:xfrm>
          <a:prstGeom prst="rect">
            <a:avLst/>
          </a:prstGeom>
        </p:spPr>
      </p:pic>
    </p:spTree>
  </p:cSld>
  <p:clrMapOvr>
    <a:masterClrMapping/>
  </p:clrMapOvr>
  <p:timing>
    <p:tnLst>
      <p:par>
        <p:cTn dur="indefinite" id="1" nodeType="tmRoot" restart="never"/>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05600"/>
          </a:xfrm>
        </p:spPr>
        <p:txBody>
          <a:bodyPr numCol="1">
            <a:normAutofit/>
          </a:bodyPr>
          <a:lstStyle/>
          <a:p>
            <a:pPr>
              <a:buNone/>
            </a:pPr>
            <a:r>
              <a:rPr b="1" dirty="0" lang="en-US" smtClean="0" sz="2400"/>
              <a:t>Create a Hashed Index:</a:t>
            </a:r>
            <a:endParaRPr dirty="0" lang="en-US" smtClean="0" sz="2400"/>
          </a:p>
          <a:p>
            <a:pPr algn="just"/>
            <a:r>
              <a:rPr dirty="0" lang="en-US" smtClean="0" sz="2400"/>
              <a:t>To create a single-field hashed index, specify hashed as the value of the index key:</a:t>
            </a:r>
          </a:p>
          <a:p>
            <a:pPr algn="just"/>
            <a:endParaRPr dirty="0" lang="en-US" smtClean="0" sz="2400"/>
          </a:p>
          <a:p>
            <a:pPr algn="just">
              <a:buNone/>
            </a:pPr>
            <a:endParaRPr dirty="0" lang="en-US" smtClean="0" sz="2400"/>
          </a:p>
          <a:p>
            <a:pPr algn="just">
              <a:buNone/>
            </a:pPr>
            <a:endParaRPr dirty="0" lang="en-US" smtClean="0" sz="2400"/>
          </a:p>
          <a:p>
            <a:pPr algn="just"/>
            <a:r>
              <a:rPr dirty="0" lang="en-US" smtClean="0" sz="2400"/>
              <a:t>To create a hashed index that contains multiple fields (a compound hashed index), specify hashed as the value of a </a:t>
            </a:r>
            <a:r>
              <a:rPr dirty="0" i="1" lang="en-US" smtClean="0" sz="2400"/>
              <a:t>single</a:t>
            </a:r>
            <a:r>
              <a:rPr dirty="0" lang="en-US" smtClean="0" sz="2400"/>
              <a:t> index key. For other index keys, specify the sort order (1 or -1):</a:t>
            </a:r>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r>
              <a:rPr dirty="0" lang="en-US" smtClean="0" sz="2400"/>
              <a:t>Hashed index can contain either a single field or multiple fields. The fields in your index specify how data is distributed across shards in your cluster.</a:t>
            </a:r>
          </a:p>
          <a:p>
            <a:pPr algn="just"/>
            <a:endParaRPr dirty="0" lang="en-US" smtClean="0" sz="2400"/>
          </a:p>
          <a:p>
            <a:endParaRPr dirty="0" lang="en-US"/>
          </a:p>
        </p:txBody>
      </p:sp>
      <p:pic>
        <p:nvPicPr>
          <p:cNvPr id="3074" name="Picture 2"/>
          <p:cNvPicPr>
            <a:picLocks noChangeArrowheads="1" noChangeAspect="1"/>
          </p:cNvPicPr>
          <p:nvPr/>
        </p:nvPicPr>
        <p:blipFill>
          <a:blip cstate="print" r:embed="rId2"/>
          <a:srcRect/>
          <a:stretch>
            <a:fillRect/>
          </a:stretch>
        </p:blipFill>
        <p:spPr>
          <a:xfrm>
            <a:off x="2819400" y="990600"/>
            <a:ext cx="3152775" cy="1457325"/>
          </a:xfrm>
          <a:prstGeom prst="rect">
            <a:avLst/>
          </a:prstGeom>
          <a:noFill/>
          <a:ln w="9525">
            <a:noFill/>
            <a:miter lim="800000"/>
            <a:headEnd/>
            <a:tailEnd/>
          </a:ln>
        </p:spPr>
      </p:pic>
      <p:pic>
        <p:nvPicPr>
          <p:cNvPr id="3075" name="Picture 3"/>
          <p:cNvPicPr>
            <a:picLocks noChangeArrowheads="1" noChangeAspect="1"/>
          </p:cNvPicPr>
          <p:nvPr/>
        </p:nvPicPr>
        <p:blipFill>
          <a:blip cstate="print" r:embed="rId3"/>
          <a:srcRect/>
          <a:stretch>
            <a:fillRect/>
          </a:stretch>
        </p:blipFill>
        <p:spPr>
          <a:xfrm>
            <a:off x="2895600" y="3733800"/>
            <a:ext cx="2809875" cy="181455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915400" cy="6781800"/>
          </a:xfrm>
        </p:spPr>
        <p:txBody>
          <a:bodyPr numCol="1"/>
          <a:lstStyle/>
          <a:p>
            <a:pPr algn="just">
              <a:buNone/>
            </a:pPr>
            <a:r>
              <a:rPr b="1" dirty="0" lang="en-US" smtClean="0" sz="2000"/>
              <a:t>Create a Single-Field Hashed Index</a:t>
            </a:r>
          </a:p>
          <a:p>
            <a:pPr algn="just"/>
            <a:r>
              <a:rPr dirty="0" lang="en-US" smtClean="0" sz="2000"/>
              <a:t>Consider an orders collection that already contains data. Create a hashed index in the orders collection on the _id field:</a:t>
            </a:r>
          </a:p>
          <a:p>
            <a:pPr algn="just"/>
            <a:endParaRPr b="1" dirty="0" lang="en-US" smtClean="0" sz="2000"/>
          </a:p>
          <a:p>
            <a:pPr algn="just"/>
            <a:r>
              <a:rPr dirty="0" lang="en-US" smtClean="0" sz="2000"/>
              <a:t>The _id field increases monotonically, which makes it a good candidate for a hashed index key. Although _id values incrementally increase, when </a:t>
            </a:r>
            <a:r>
              <a:rPr dirty="0" err="1" lang="en-US" smtClean="0" sz="2000"/>
              <a:t>MongoDB</a:t>
            </a:r>
            <a:r>
              <a:rPr dirty="0" lang="en-US" smtClean="0" sz="2000"/>
              <a:t> generates a hash for individual _id values, those hashed values are unlikely to be on the same chunk.</a:t>
            </a:r>
          </a:p>
          <a:p>
            <a:pPr algn="just">
              <a:buNone/>
            </a:pPr>
            <a:r>
              <a:rPr b="1" dirty="0" lang="en-US" smtClean="0" sz="2000"/>
              <a:t>Create a Compound Hashed Index</a:t>
            </a:r>
          </a:p>
          <a:p>
            <a:pPr algn="just"/>
            <a:r>
              <a:rPr dirty="0" lang="en-US" smtClean="0" sz="2000"/>
              <a:t>Consider a customers collection that already contains data. Create a compound hashed index in the customers collection on the name, address, and birthday fields:</a:t>
            </a:r>
          </a:p>
          <a:p>
            <a:pPr algn="just"/>
            <a:endParaRPr b="1" dirty="0" lang="en-US" smtClean="0" sz="2000"/>
          </a:p>
          <a:p>
            <a:pPr algn="just"/>
            <a:endParaRPr b="1" dirty="0" lang="en-US" smtClean="0" sz="2000"/>
          </a:p>
          <a:p>
            <a:pPr algn="just"/>
            <a:endParaRPr b="1" dirty="0" lang="en-US" smtClean="0" sz="2000"/>
          </a:p>
          <a:p>
            <a:pPr algn="just"/>
            <a:endParaRPr b="1" dirty="0" lang="en-US" smtClean="0" sz="2000"/>
          </a:p>
          <a:p>
            <a:pPr algn="just"/>
            <a:r>
              <a:rPr dirty="0" lang="en-US" smtClean="0" sz="2000"/>
              <a:t>When you create a compound hashed index, you </a:t>
            </a:r>
            <a:r>
              <a:rPr b="1" dirty="0" lang="en-US" smtClean="0" sz="2000">
                <a:solidFill>
                  <a:srgbClr val="FF0000"/>
                </a:solidFill>
              </a:rPr>
              <a:t>must specify hashed as the value of a </a:t>
            </a:r>
            <a:r>
              <a:rPr b="1" dirty="0" i="1" lang="en-US" smtClean="0" sz="2000">
                <a:solidFill>
                  <a:srgbClr val="FF0000"/>
                </a:solidFill>
              </a:rPr>
              <a:t>single</a:t>
            </a:r>
            <a:r>
              <a:rPr b="1" dirty="0" lang="en-US" smtClean="0" sz="2000">
                <a:solidFill>
                  <a:srgbClr val="FF0000"/>
                </a:solidFill>
              </a:rPr>
              <a:t> index key</a:t>
            </a:r>
            <a:r>
              <a:rPr dirty="0" lang="en-US" smtClean="0" sz="2000"/>
              <a:t>. For other index keys, specify the sort order (1 or -1). In the preceding index, address is the hashed field.</a:t>
            </a:r>
            <a:endParaRPr b="1" dirty="0" lang="en-US" smtClean="0" sz="2000"/>
          </a:p>
          <a:p>
            <a:pPr algn="just">
              <a:buNone/>
            </a:pPr>
            <a:endParaRPr b="1" dirty="0" lang="en-US" smtClean="0" sz="2400"/>
          </a:p>
          <a:p>
            <a:endParaRPr dirty="0" lang="en-US"/>
          </a:p>
        </p:txBody>
      </p:sp>
      <p:pic>
        <p:nvPicPr>
          <p:cNvPr id="4098" name="Picture 2"/>
          <p:cNvPicPr>
            <a:picLocks noChangeArrowheads="1" noChangeAspect="1"/>
          </p:cNvPicPr>
          <p:nvPr/>
        </p:nvPicPr>
        <p:blipFill>
          <a:blip cstate="print" r:embed="rId2"/>
          <a:srcRect/>
          <a:stretch>
            <a:fillRect/>
          </a:stretch>
        </p:blipFill>
        <p:spPr>
          <a:xfrm>
            <a:off x="2133600" y="1066800"/>
            <a:ext cx="4619625" cy="342900"/>
          </a:xfrm>
          <a:prstGeom prst="rect">
            <a:avLst/>
          </a:prstGeom>
          <a:noFill/>
          <a:ln w="9525">
            <a:noFill/>
            <a:miter lim="800000"/>
            <a:headEnd/>
            <a:tailEnd/>
          </a:ln>
        </p:spPr>
      </p:pic>
      <p:pic>
        <p:nvPicPr>
          <p:cNvPr id="4100" name="Picture 4"/>
          <p:cNvPicPr>
            <a:picLocks noChangeArrowheads="1" noChangeAspect="1"/>
          </p:cNvPicPr>
          <p:nvPr/>
        </p:nvPicPr>
        <p:blipFill>
          <a:blip cstate="print" r:embed="rId3"/>
          <a:srcRect/>
          <a:stretch>
            <a:fillRect/>
          </a:stretch>
        </p:blipFill>
        <p:spPr>
          <a:xfrm>
            <a:off x="2895600" y="3810000"/>
            <a:ext cx="2438400" cy="161286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6. Geospatial Indexes</a:t>
            </a:r>
            <a:endParaRPr b="1" dirty="0" lang="en-US" sz="3200"/>
          </a:p>
        </p:txBody>
      </p:sp>
      <p:sp>
        <p:nvSpPr>
          <p:cNvPr id="3" name="Content Placeholder 2"/>
          <p:cNvSpPr>
            <a:spLocks noGrp="1"/>
          </p:cNvSpPr>
          <p:nvPr>
            <p:ph idx="1"/>
          </p:nvPr>
        </p:nvSpPr>
        <p:spPr>
          <a:xfrm>
            <a:off x="152400" y="533400"/>
            <a:ext cx="8839200" cy="6172200"/>
          </a:xfrm>
        </p:spPr>
        <p:txBody>
          <a:bodyPr numCol="1"/>
          <a:lstStyle/>
          <a:p>
            <a:pPr algn="just"/>
            <a:r>
              <a:rPr dirty="0" lang="en-US" smtClean="0" sz="2400"/>
              <a:t>It helps to find location near another location.</a:t>
            </a:r>
          </a:p>
          <a:p>
            <a:pPr algn="just"/>
            <a:r>
              <a:rPr dirty="0" lang="en-US" smtClean="0" sz="2400"/>
              <a:t>Geospatial indexes support queries on data stored as </a:t>
            </a:r>
            <a:r>
              <a:rPr b="1" dirty="0" lang="en-US" smtClean="0" sz="2400"/>
              <a:t>GeoJSON objects</a:t>
            </a:r>
            <a:r>
              <a:rPr dirty="0" lang="en-US" smtClean="0" sz="2400"/>
              <a:t> or </a:t>
            </a:r>
            <a:r>
              <a:rPr b="1" dirty="0" lang="en-US" smtClean="0" sz="2400"/>
              <a:t>legacy coordinate pairs</a:t>
            </a:r>
            <a:r>
              <a:rPr dirty="0" lang="en-US" smtClean="0" sz="2400"/>
              <a:t>. You can use geospatial indexes to improve performance for queries on geospatial data or to run certain geospatial queries.</a:t>
            </a:r>
          </a:p>
          <a:p>
            <a:pPr algn="just"/>
            <a:r>
              <a:rPr dirty="0" err="1" lang="en-US" smtClean="0" sz="2400"/>
              <a:t>MongoDB</a:t>
            </a:r>
            <a:r>
              <a:rPr dirty="0" lang="en-US" smtClean="0" sz="2400"/>
              <a:t> provides two types of geospatial indexes:</a:t>
            </a:r>
          </a:p>
          <a:p>
            <a:pPr algn="just" indent="-457200" marL="457200">
              <a:buFont charset="2" pitchFamily="2" typeface="Wingdings"/>
              <a:buChar char="ü"/>
            </a:pPr>
            <a:r>
              <a:rPr dirty="0" lang="en-US" smtClean="0" sz="2400"/>
              <a:t>2dsphere Indexes, which support queries that interpret geometry on a sphere.</a:t>
            </a:r>
          </a:p>
          <a:p>
            <a:pPr algn="just">
              <a:buFont charset="2" pitchFamily="2" typeface="Wingdings"/>
              <a:buChar char="ü"/>
            </a:pPr>
            <a:r>
              <a:rPr dirty="0" lang="en-US" smtClean="0" sz="2400"/>
              <a:t>2d Indexes, which support queries that interpret geometry on a flat surface.</a:t>
            </a:r>
          </a:p>
          <a:p>
            <a:endParaRPr dirty="0" lang="en-US"/>
          </a:p>
        </p:txBody>
      </p:sp>
      <p:sp>
        <p:nvSpPr>
          <p:cNvPr id="4" name="TextBox 3"/>
          <p:cNvSpPr txBox="1"/>
          <p:nvPr/>
        </p:nvSpPr>
        <p:spPr>
          <a:xfrm>
            <a:off x="2057400" y="4114800"/>
            <a:ext cx="6705600" cy="3215521"/>
          </a:xfrm>
          <a:prstGeom prst="rect">
            <a:avLst/>
          </a:prstGeom>
          <a:noFill/>
        </p:spPr>
        <p:txBody>
          <a:bodyPr numCol="1" rtlCol="0" wrap="square">
            <a:spAutoFit/>
          </a:bodyPr>
          <a:lstStyle/>
          <a:p>
            <a:r>
              <a:rPr dirty="0" lang="en-US" smtClean="0">
                <a:solidFill>
                  <a:srgbClr val="C00000"/>
                </a:solidFill>
              </a:rPr>
              <a:t>{</a:t>
            </a:r>
          </a:p>
          <a:p>
            <a:r>
              <a:rPr dirty="0" lang="en-US" smtClean="0">
                <a:solidFill>
                  <a:srgbClr val="C00000"/>
                </a:solidFill>
              </a:rPr>
              <a:t>Name: “TU”</a:t>
            </a:r>
          </a:p>
          <a:p>
            <a:r>
              <a:rPr dirty="0" lang="en-US" smtClean="0">
                <a:solidFill>
                  <a:srgbClr val="C00000"/>
                </a:solidFill>
              </a:rPr>
              <a:t>Location: { type: “Point”, coordinates: [-80.22,40.76]}</a:t>
            </a:r>
          </a:p>
          <a:p>
            <a:r>
              <a:rPr dirty="0" lang="en-US" smtClean="0">
                <a:solidFill>
                  <a:srgbClr val="C00000"/>
                </a:solidFill>
              </a:rPr>
              <a:t>Category: “University”</a:t>
            </a:r>
          </a:p>
          <a:p>
            <a:r>
              <a:rPr dirty="0" lang="en-US" smtClean="0">
                <a:solidFill>
                  <a:srgbClr val="C00000"/>
                </a:solidFill>
              </a:rPr>
              <a:t>}</a:t>
            </a:r>
          </a:p>
          <a:p>
            <a:r>
              <a:rPr dirty="0" lang="en-US" smtClean="0">
                <a:solidFill>
                  <a:srgbClr val="C00000"/>
                </a:solidFill>
              </a:rPr>
              <a:t>{</a:t>
            </a:r>
          </a:p>
          <a:p>
            <a:r>
              <a:rPr dirty="0" lang="en-US" smtClean="0">
                <a:solidFill>
                  <a:srgbClr val="C00000"/>
                </a:solidFill>
              </a:rPr>
              <a:t>Name: “PU”</a:t>
            </a:r>
          </a:p>
          <a:p>
            <a:r>
              <a:rPr dirty="0" lang="en-US" smtClean="0">
                <a:solidFill>
                  <a:srgbClr val="C00000"/>
                </a:solidFill>
              </a:rPr>
              <a:t>Location: { type: “Point”, coordinates: [-90.22,70.76]}</a:t>
            </a:r>
          </a:p>
          <a:p>
            <a:r>
              <a:rPr dirty="0" lang="en-US" smtClean="0">
                <a:solidFill>
                  <a:srgbClr val="C00000"/>
                </a:solidFill>
              </a:rPr>
              <a:t>Category: “University”</a:t>
            </a:r>
          </a:p>
          <a:p>
            <a:r>
              <a:rPr dirty="0" lang="en-US" smtClean="0">
                <a:solidFill>
                  <a:srgbClr val="C00000"/>
                </a:solidFill>
              </a:rPr>
              <a:t>}</a:t>
            </a:r>
          </a:p>
          <a:p>
            <a:endParaRPr dirty="0" lang="en-US"/>
          </a:p>
        </p:txBody>
      </p:sp>
    </p:spTree>
  </p:cSld>
  <p:clrMapOvr>
    <a:masterClrMapping/>
  </p:clrMapOvr>
  <p:timing>
    <p:tnLst>
      <p:par>
        <p:cTn dur="indefinite" id="1" nodeType="tmRoot" restart="never"/>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91600" cy="6553200"/>
          </a:xfrm>
        </p:spPr>
        <p:txBody>
          <a:bodyPr numCol="1">
            <a:normAutofit lnSpcReduction="10000"/>
          </a:bodyPr>
          <a:lstStyle/>
          <a:p>
            <a:pPr algn="just">
              <a:buNone/>
            </a:pPr>
            <a:r>
              <a:rPr b="1" dirty="0" lang="en-US" smtClean="0" sz="2400"/>
              <a:t>GeoJSON Objects</a:t>
            </a:r>
          </a:p>
          <a:p>
            <a:pPr algn="just"/>
            <a:r>
              <a:rPr dirty="0" lang="en-US" smtClean="0" sz="2400"/>
              <a:t>To calculate geometry over an Earth-like sphere, store your location data as GeoJSON objects.</a:t>
            </a:r>
          </a:p>
          <a:p>
            <a:pPr algn="just">
              <a:buFont charset="2" pitchFamily="2" typeface="Wingdings"/>
              <a:buChar char="Ø"/>
            </a:pPr>
            <a:r>
              <a:rPr dirty="0" lang="en-US" smtClean="0" sz="2400"/>
              <a:t>To specify GeoJSON data, use an embedded document with:</a:t>
            </a:r>
          </a:p>
          <a:p>
            <a:pPr algn="just">
              <a:buFont charset="2" pitchFamily="2" typeface="Wingdings"/>
              <a:buChar char="ü"/>
            </a:pPr>
            <a:r>
              <a:rPr dirty="0" lang="en-US" smtClean="0" sz="2400"/>
              <a:t>a field named type that specifies the GeoJSON object type and</a:t>
            </a:r>
          </a:p>
          <a:p>
            <a:pPr algn="just">
              <a:buFont charset="2" pitchFamily="2" typeface="Wingdings"/>
              <a:buChar char="ü"/>
            </a:pPr>
            <a:r>
              <a:rPr dirty="0" lang="en-US" smtClean="0" sz="2400"/>
              <a:t>a field named coordinates that specifies the object's coordinates.</a:t>
            </a:r>
          </a:p>
          <a:p>
            <a:pPr algn="just"/>
            <a:r>
              <a:rPr dirty="0" lang="en-US" smtClean="0" sz="2400"/>
              <a:t>If specifying latitude and longitude coordinates, list the </a:t>
            </a:r>
            <a:r>
              <a:rPr b="1" dirty="0" lang="en-US" smtClean="0" sz="2400"/>
              <a:t>longitude</a:t>
            </a:r>
            <a:r>
              <a:rPr dirty="0" lang="en-US" smtClean="0" sz="2400"/>
              <a:t> first, and then </a:t>
            </a:r>
            <a:r>
              <a:rPr b="1" dirty="0" lang="en-US" smtClean="0" sz="2400"/>
              <a:t>latitude</a:t>
            </a:r>
            <a:r>
              <a:rPr dirty="0" lang="en-US" smtClean="0" sz="2400"/>
              <a:t>.</a:t>
            </a:r>
          </a:p>
          <a:p>
            <a:pPr algn="just"/>
            <a:r>
              <a:rPr dirty="0" lang="en-US" smtClean="0" sz="2400"/>
              <a:t>Valid longitude values are between -180 and 180, both inclusive.</a:t>
            </a:r>
          </a:p>
          <a:p>
            <a:pPr algn="just"/>
            <a:r>
              <a:rPr dirty="0" lang="en-US" smtClean="0" sz="2400"/>
              <a:t>Valid latitude values are between -90 and 90, both inclusive.</a:t>
            </a:r>
          </a:p>
          <a:p>
            <a:pPr algn="just"/>
            <a:endParaRPr dirty="0" lang="en-US" smtClean="0" sz="2400"/>
          </a:p>
          <a:p>
            <a:pPr algn="just"/>
            <a:r>
              <a:rPr dirty="0" lang="en-US" smtClean="0" sz="2400"/>
              <a:t>For example, to specify a GeoJSON Point:</a:t>
            </a:r>
          </a:p>
          <a:p>
            <a:endParaRPr dirty="0" lang="en-US" smtClean="0"/>
          </a:p>
          <a:p>
            <a:endParaRPr dirty="0" lang="en-US" smtClean="0" sz="2400"/>
          </a:p>
          <a:p>
            <a:r>
              <a:rPr dirty="0" err="1" lang="en-US" smtClean="0" sz="2400"/>
              <a:t>MultiPoint</a:t>
            </a:r>
            <a:r>
              <a:rPr dirty="0" lang="en-US" smtClean="0" sz="2400"/>
              <a:t>: "coordinates" member is an array of</a:t>
            </a:r>
          </a:p>
          <a:p>
            <a:pPr>
              <a:buNone/>
            </a:pPr>
            <a:r>
              <a:rPr dirty="0" lang="en-US" smtClean="0" sz="2400"/>
              <a:t>	positions. </a:t>
            </a:r>
          </a:p>
          <a:p>
            <a:endParaRPr dirty="0" lang="en-US"/>
          </a:p>
        </p:txBody>
      </p:sp>
      <p:pic>
        <p:nvPicPr>
          <p:cNvPr id="51202" name="Picture 2"/>
          <p:cNvPicPr>
            <a:picLocks noChangeArrowheads="1" noChangeAspect="1"/>
          </p:cNvPicPr>
          <p:nvPr/>
        </p:nvPicPr>
        <p:blipFill>
          <a:blip cstate="print" r:embed="rId2"/>
          <a:srcRect/>
          <a:stretch>
            <a:fillRect/>
          </a:stretch>
        </p:blipFill>
        <p:spPr>
          <a:xfrm>
            <a:off x="1071538" y="4000504"/>
            <a:ext cx="6762750" cy="371475"/>
          </a:xfrm>
          <a:prstGeom prst="rect">
            <a:avLst/>
          </a:prstGeom>
          <a:noFill/>
          <a:ln w="9525">
            <a:noFill/>
            <a:miter lim="800000"/>
            <a:headEnd/>
            <a:tailEnd/>
          </a:ln>
        </p:spPr>
      </p:pic>
      <p:pic>
        <p:nvPicPr>
          <p:cNvPr id="51203" name="Picture 3"/>
          <p:cNvPicPr>
            <a:picLocks noChangeArrowheads="1" noChangeAspect="1"/>
          </p:cNvPicPr>
          <p:nvPr/>
        </p:nvPicPr>
        <p:blipFill>
          <a:blip cstate="print" r:embed="rId3"/>
          <a:srcRect/>
          <a:stretch>
            <a:fillRect/>
          </a:stretch>
        </p:blipFill>
        <p:spPr>
          <a:xfrm>
            <a:off x="1643042" y="4857760"/>
            <a:ext cx="4619625" cy="733444"/>
          </a:xfrm>
          <a:prstGeom prst="rect">
            <a:avLst/>
          </a:prstGeom>
          <a:noFill/>
          <a:ln w="9525">
            <a:noFill/>
            <a:miter lim="800000"/>
            <a:headEnd/>
            <a:tailEnd/>
          </a:ln>
        </p:spPr>
      </p:pic>
      <p:pic>
        <p:nvPicPr>
          <p:cNvPr id="6" name="Picture 5"/>
          <p:cNvPicPr>
            <a:picLocks noChangeArrowheads="1" noChangeAspect="1"/>
          </p:cNvPicPr>
          <p:nvPr/>
        </p:nvPicPr>
        <p:blipFill>
          <a:blip cstate="print" r:embed="rId4"/>
          <a:srcRect/>
          <a:stretch>
            <a:fillRect/>
          </a:stretch>
        </p:blipFill>
        <p:spPr>
          <a:xfrm>
            <a:off x="6429388" y="5373899"/>
            <a:ext cx="2590800" cy="148410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991600" cy="6629400"/>
          </a:xfrm>
        </p:spPr>
        <p:txBody>
          <a:bodyPr numCol="1">
            <a:normAutofit/>
          </a:bodyPr>
          <a:lstStyle/>
          <a:p>
            <a:pPr algn="just">
              <a:buNone/>
            </a:pPr>
            <a:r>
              <a:rPr b="1" dirty="0" lang="en-US" smtClean="0" sz="2000"/>
              <a:t>Point:</a:t>
            </a:r>
            <a:r>
              <a:rPr dirty="0" lang="en-US" smtClean="0" sz="2000"/>
              <a:t> the "coordinates" member is a single position. </a:t>
            </a:r>
          </a:p>
          <a:p>
            <a:pPr algn="just">
              <a:buNone/>
            </a:pPr>
            <a:endParaRPr b="1" dirty="0" lang="en-US" smtClean="0" sz="2000"/>
          </a:p>
          <a:p>
            <a:pPr algn="just">
              <a:buNone/>
            </a:pPr>
            <a:r>
              <a:rPr b="1" dirty="0" err="1" lang="en-US" smtClean="0" sz="2000"/>
              <a:t>MultiPoint</a:t>
            </a:r>
            <a:r>
              <a:rPr b="1" dirty="0" lang="en-US" smtClean="0" sz="2000"/>
              <a:t>:</a:t>
            </a:r>
            <a:r>
              <a:rPr dirty="0" lang="en-US" smtClean="0" sz="2000"/>
              <a:t> "coordinates" member is an array of positions. </a:t>
            </a:r>
          </a:p>
          <a:p>
            <a:pPr algn="just"/>
            <a:endParaRPr dirty="0" lang="en-US" smtClean="0" sz="2000"/>
          </a:p>
          <a:p>
            <a:pPr algn="just"/>
            <a:endParaRPr dirty="0" lang="en-US" smtClean="0" sz="2000"/>
          </a:p>
          <a:p>
            <a:pPr algn="just">
              <a:buNone/>
            </a:pPr>
            <a:endParaRPr b="1" dirty="0" lang="en-US" smtClean="0" sz="2000"/>
          </a:p>
          <a:p>
            <a:pPr algn="just">
              <a:buNone/>
            </a:pPr>
            <a:r>
              <a:rPr b="1" dirty="0" err="1" lang="en-US" smtClean="0" sz="2000"/>
              <a:t>LineString</a:t>
            </a:r>
            <a:r>
              <a:rPr b="1" dirty="0" lang="en-US" smtClean="0" sz="2000"/>
              <a:t>:</a:t>
            </a:r>
            <a:r>
              <a:rPr dirty="0" lang="en-US" smtClean="0" sz="2000"/>
              <a:t> For type "</a:t>
            </a:r>
            <a:r>
              <a:rPr dirty="0" err="1" lang="en-US" smtClean="0" sz="2000"/>
              <a:t>LineString</a:t>
            </a:r>
            <a:r>
              <a:rPr dirty="0" lang="en-US" smtClean="0" sz="2000"/>
              <a:t>", the "coordinates" member is an array of two or more positions. </a:t>
            </a:r>
          </a:p>
          <a:p>
            <a:pPr algn="just">
              <a:buNone/>
            </a:pPr>
            <a:r>
              <a:rPr b="1" dirty="0" err="1" lang="en-US" smtClean="0" sz="2000"/>
              <a:t>MultiLineString</a:t>
            </a:r>
            <a:r>
              <a:rPr dirty="0" lang="en-US" smtClean="0" sz="2000"/>
              <a:t> For type "</a:t>
            </a:r>
            <a:r>
              <a:rPr dirty="0" err="1" lang="en-US" smtClean="0" sz="2000"/>
              <a:t>MultiLineString</a:t>
            </a:r>
            <a:r>
              <a:rPr dirty="0" lang="en-US" smtClean="0" sz="2000"/>
              <a:t>", the "coordinates" member is an array of </a:t>
            </a:r>
            <a:r>
              <a:rPr dirty="0" err="1" lang="en-US" smtClean="0" sz="2000"/>
              <a:t>LineString</a:t>
            </a:r>
            <a:r>
              <a:rPr dirty="0" lang="en-US" smtClean="0" sz="2000"/>
              <a:t> coordinate arrays.</a:t>
            </a:r>
          </a:p>
          <a:p>
            <a:pPr algn="just">
              <a:buNone/>
            </a:pPr>
            <a:r>
              <a:rPr b="1" dirty="0" lang="en-US" smtClean="0" sz="2000"/>
              <a:t>Polygon</a:t>
            </a:r>
          </a:p>
          <a:p>
            <a:pPr algn="just">
              <a:buNone/>
            </a:pPr>
            <a:r>
              <a:rPr b="1" dirty="0" err="1" lang="en-US" smtClean="0" sz="2000"/>
              <a:t>Multipolygon</a:t>
            </a:r>
            <a:endParaRPr b="1" dirty="0" lang="en-US" sz="2000"/>
          </a:p>
        </p:txBody>
      </p:sp>
      <p:pic>
        <p:nvPicPr>
          <p:cNvPr id="1026" name="Picture 2"/>
          <p:cNvPicPr>
            <a:picLocks noChangeArrowheads="1" noChangeAspect="1"/>
          </p:cNvPicPr>
          <p:nvPr/>
        </p:nvPicPr>
        <p:blipFill>
          <a:blip cstate="print" r:embed="rId2"/>
          <a:srcRect/>
          <a:stretch>
            <a:fillRect/>
          </a:stretch>
        </p:blipFill>
        <p:spPr>
          <a:xfrm>
            <a:off x="2667000" y="457200"/>
            <a:ext cx="4191000" cy="304801"/>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2314575" y="2590800"/>
            <a:ext cx="6829425" cy="352425"/>
          </a:xfrm>
          <a:prstGeom prst="rect">
            <a:avLst/>
          </a:prstGeom>
          <a:noFill/>
          <a:ln w="9525">
            <a:noFill/>
            <a:miter lim="800000"/>
            <a:headEnd/>
            <a:tailEnd/>
          </a:ln>
        </p:spPr>
      </p:pic>
      <p:pic>
        <p:nvPicPr>
          <p:cNvPr id="1029" name="Picture 5"/>
          <p:cNvPicPr>
            <a:picLocks noChangeArrowheads="1" noChangeAspect="1"/>
          </p:cNvPicPr>
          <p:nvPr/>
        </p:nvPicPr>
        <p:blipFill>
          <a:blip cstate="print" r:embed="rId4"/>
          <a:srcRect/>
          <a:stretch>
            <a:fillRect/>
          </a:stretch>
        </p:blipFill>
        <p:spPr>
          <a:xfrm>
            <a:off x="6324600" y="685800"/>
            <a:ext cx="2590800" cy="1484101"/>
          </a:xfrm>
          <a:prstGeom prst="rect">
            <a:avLst/>
          </a:prstGeom>
          <a:noFill/>
          <a:ln w="9525">
            <a:noFill/>
            <a:miter lim="800000"/>
            <a:headEnd/>
            <a:tailEnd/>
          </a:ln>
        </p:spPr>
      </p:pic>
      <p:pic>
        <p:nvPicPr>
          <p:cNvPr id="1030" name="Picture 6"/>
          <p:cNvPicPr>
            <a:picLocks noChangeArrowheads="1" noChangeAspect="1"/>
          </p:cNvPicPr>
          <p:nvPr/>
        </p:nvPicPr>
        <p:blipFill>
          <a:blip cstate="print" r:embed="rId5"/>
          <a:srcRect/>
          <a:stretch>
            <a:fillRect/>
          </a:stretch>
        </p:blipFill>
        <p:spPr>
          <a:xfrm>
            <a:off x="4191000" y="3276600"/>
            <a:ext cx="4624552" cy="1828800"/>
          </a:xfrm>
          <a:prstGeom prst="rect">
            <a:avLst/>
          </a:prstGeom>
          <a:noFill/>
          <a:ln w="9525">
            <a:noFill/>
            <a:miter lim="800000"/>
            <a:headEnd/>
            <a:tailEnd/>
          </a:ln>
        </p:spPr>
      </p:pic>
      <p:pic>
        <p:nvPicPr>
          <p:cNvPr id="1031" name="Picture 7"/>
          <p:cNvPicPr>
            <a:picLocks noChangeArrowheads="1" noChangeAspect="1"/>
          </p:cNvPicPr>
          <p:nvPr/>
        </p:nvPicPr>
        <p:blipFill>
          <a:blip cstate="print" r:embed="rId6"/>
          <a:srcRect/>
          <a:stretch>
            <a:fillRect/>
          </a:stretch>
        </p:blipFill>
        <p:spPr>
          <a:xfrm>
            <a:off x="381000" y="4943475"/>
            <a:ext cx="6010275" cy="1914525"/>
          </a:xfrm>
          <a:prstGeom prst="rect">
            <a:avLst/>
          </a:prstGeom>
          <a:noFill/>
          <a:ln w="9525">
            <a:noFill/>
            <a:miter lim="800000"/>
            <a:headEnd/>
            <a:tailEnd/>
          </a:ln>
        </p:spPr>
      </p:pic>
    </p:spTree>
  </p:cSld>
  <p:clrMapOvr>
    <a:masterClrMapping/>
  </p:clrMapOvr>
  <p:transition/>
  <p:timing>
    <p:tnLst>
      <p:par>
        <p:cTn dur="indefinite" id="1" nodeType="tmRoot" restart="never"/>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Autofit/>
          </a:bodyPr>
          <a:lstStyle/>
          <a:p>
            <a:pPr algn="just">
              <a:buNone/>
            </a:pPr>
            <a:r>
              <a:rPr b="1" dirty="0" lang="en-US" smtClean="0" sz="2400"/>
              <a:t>Legacy Coordinate Pairs:</a:t>
            </a:r>
          </a:p>
          <a:p>
            <a:pPr algn="just"/>
            <a:r>
              <a:rPr dirty="0" lang="en-US" smtClean="0" sz="2400"/>
              <a:t>To calculate distances on a Euclidean plane, store your location data as legacy coordinate pairs and use a 2d index. </a:t>
            </a:r>
          </a:p>
          <a:p>
            <a:pPr algn="just"/>
            <a:r>
              <a:rPr dirty="0" err="1" lang="en-US" smtClean="0" sz="2400"/>
              <a:t>MongoDB</a:t>
            </a:r>
            <a:r>
              <a:rPr dirty="0" lang="en-US" smtClean="0" sz="2400"/>
              <a:t> supports spherical surface calculations on legacy coordinate pairs by using a 2dsphere index if you manually convert the data to the GeoJSON Point type.</a:t>
            </a:r>
          </a:p>
          <a:p>
            <a:pPr algn="just"/>
            <a:r>
              <a:rPr dirty="0" lang="en-US" smtClean="0" sz="2400"/>
              <a:t>To specify data as legacy coordinate pairs, you can use either an array (</a:t>
            </a:r>
            <a:r>
              <a:rPr dirty="0" i="1" lang="en-US" smtClean="0" sz="2400"/>
              <a:t>preferred</a:t>
            </a:r>
            <a:r>
              <a:rPr dirty="0" lang="en-US" smtClean="0" sz="2400"/>
              <a:t>) or an embedded document.</a:t>
            </a:r>
          </a:p>
          <a:p>
            <a:pPr algn="just"/>
            <a:r>
              <a:rPr b="1" dirty="0" i="1" lang="en-US" smtClean="0" sz="2400"/>
              <a:t>Specify via an array:</a:t>
            </a:r>
            <a:endParaRPr dirty="0" lang="en-US" smtClean="0" sz="2400"/>
          </a:p>
          <a:p>
            <a:pPr algn="just"/>
            <a:r>
              <a:rPr dirty="0" lang="en-US" smtClean="0" sz="2400"/>
              <a:t>If </a:t>
            </a:r>
            <a:r>
              <a:rPr b="1" dirty="0" i="1" lang="en-US" smtClean="0" sz="2400"/>
              <a:t>specifying latitude and longitude coordinates</a:t>
            </a:r>
            <a:r>
              <a:rPr dirty="0" lang="en-US" smtClean="0" sz="2400"/>
              <a:t>, list the </a:t>
            </a:r>
            <a:r>
              <a:rPr b="1" dirty="0" lang="en-US" smtClean="0" sz="2400"/>
              <a:t>longitude</a:t>
            </a:r>
            <a:r>
              <a:rPr dirty="0" lang="en-US" smtClean="0" sz="2400"/>
              <a:t> first and then </a:t>
            </a:r>
            <a:r>
              <a:rPr b="1" dirty="0" lang="en-US" smtClean="0" sz="2400"/>
              <a:t>latitude</a:t>
            </a:r>
            <a:r>
              <a:rPr dirty="0" lang="en-US" smtClean="0" sz="2400"/>
              <a:t>; i.e. </a:t>
            </a:r>
          </a:p>
          <a:p>
            <a:pPr algn="just">
              <a:buNone/>
            </a:pPr>
            <a:r>
              <a:rPr dirty="0" lang="en-US" smtClean="0" sz="2400"/>
              <a:t>                       </a:t>
            </a:r>
          </a:p>
          <a:p>
            <a:pPr algn="just">
              <a:buFont charset="2" pitchFamily="2" typeface="Wingdings"/>
              <a:buChar char="Ø"/>
            </a:pPr>
            <a:r>
              <a:rPr dirty="0" lang="en-US" smtClean="0" sz="2400"/>
              <a:t>Valid longitude values are between -180 and 180, both inclusive.</a:t>
            </a:r>
          </a:p>
          <a:p>
            <a:pPr algn="just">
              <a:buFont charset="2" pitchFamily="2" typeface="Wingdings"/>
              <a:buChar char="Ø"/>
            </a:pPr>
            <a:r>
              <a:rPr dirty="0" lang="en-US" smtClean="0" sz="2400"/>
              <a:t>Valid latitude values are between -90 and 90, both inclusive.</a:t>
            </a:r>
          </a:p>
        </p:txBody>
      </p:sp>
      <p:pic>
        <p:nvPicPr>
          <p:cNvPr id="53250" name="Picture 2"/>
          <p:cNvPicPr>
            <a:picLocks noChangeArrowheads="1" noChangeAspect="1"/>
          </p:cNvPicPr>
          <p:nvPr/>
        </p:nvPicPr>
        <p:blipFill>
          <a:blip cstate="print" r:embed="rId2"/>
          <a:srcRect/>
          <a:stretch>
            <a:fillRect/>
          </a:stretch>
        </p:blipFill>
        <p:spPr>
          <a:xfrm>
            <a:off x="3733800" y="3429000"/>
            <a:ext cx="2438400" cy="352425"/>
          </a:xfrm>
          <a:prstGeom prst="rect">
            <a:avLst/>
          </a:prstGeom>
          <a:noFill/>
          <a:ln w="9525">
            <a:noFill/>
            <a:miter lim="800000"/>
            <a:headEnd/>
            <a:tailEnd/>
          </a:ln>
        </p:spPr>
      </p:pic>
      <p:pic>
        <p:nvPicPr>
          <p:cNvPr id="53251" name="Picture 3"/>
          <p:cNvPicPr>
            <a:picLocks noChangeArrowheads="1" noChangeAspect="1"/>
          </p:cNvPicPr>
          <p:nvPr/>
        </p:nvPicPr>
        <p:blipFill>
          <a:blip cstate="print" r:embed="rId3"/>
          <a:srcRect/>
          <a:stretch>
            <a:fillRect/>
          </a:stretch>
        </p:blipFill>
        <p:spPr>
          <a:xfrm>
            <a:off x="2362200" y="4648200"/>
            <a:ext cx="3867150" cy="4286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477000"/>
          </a:xfrm>
        </p:spPr>
        <p:txBody>
          <a:bodyPr numCol="1">
            <a:normAutofit/>
          </a:bodyPr>
          <a:lstStyle/>
          <a:p>
            <a:pPr algn="just"/>
            <a:r>
              <a:rPr b="1" dirty="0" i="1" lang="en-US" smtClean="0" sz="2600"/>
              <a:t>Specify via an embedded document:</a:t>
            </a:r>
          </a:p>
          <a:p>
            <a:pPr algn="just">
              <a:buNone/>
            </a:pPr>
            <a:r>
              <a:rPr dirty="0" lang="en-US" smtClean="0" sz="2600"/>
              <a:t>                         </a:t>
            </a:r>
          </a:p>
          <a:p>
            <a:pPr algn="just"/>
            <a:r>
              <a:rPr dirty="0" lang="en-US" smtClean="0" sz="2600"/>
              <a:t>If specifying latitude and longitude coordinates, the first field, regardless of the field name, must contain the </a:t>
            </a:r>
            <a:r>
              <a:rPr b="1" dirty="0" lang="en-US" smtClean="0" sz="2600"/>
              <a:t>longitude</a:t>
            </a:r>
            <a:r>
              <a:rPr dirty="0" lang="en-US" smtClean="0" sz="2600"/>
              <a:t> value and the second field, the </a:t>
            </a:r>
            <a:r>
              <a:rPr b="1" dirty="0" lang="en-US" smtClean="0" sz="2600"/>
              <a:t>latitude</a:t>
            </a:r>
            <a:r>
              <a:rPr dirty="0" lang="en-US" smtClean="0" sz="2600"/>
              <a:t> value ; i.e.       </a:t>
            </a:r>
          </a:p>
          <a:p>
            <a:pPr algn="just"/>
            <a:r>
              <a:rPr dirty="0" lang="en-US" smtClean="0" sz="2600"/>
              <a:t>Valid longitude values are between -180 and 180, both inclusive.</a:t>
            </a:r>
          </a:p>
          <a:p>
            <a:pPr algn="just"/>
            <a:r>
              <a:rPr dirty="0" lang="en-US" smtClean="0" sz="2600"/>
              <a:t>Valid latitude values are between -90 and 90, both inclusive.</a:t>
            </a:r>
          </a:p>
          <a:p>
            <a:pPr algn="just"/>
            <a:r>
              <a:rPr dirty="0" lang="en-US" smtClean="0" sz="2600"/>
              <a:t>To specify legacy coordinate pairs, arrays are preferred over an embedded document as some languages do not guarantee associative map ordering.</a:t>
            </a:r>
          </a:p>
          <a:p>
            <a:endParaRPr dirty="0" lang="en-US"/>
          </a:p>
        </p:txBody>
      </p:sp>
      <p:pic>
        <p:nvPicPr>
          <p:cNvPr id="52226" name="Picture 2"/>
          <p:cNvPicPr>
            <a:picLocks noChangeArrowheads="1" noChangeAspect="1"/>
          </p:cNvPicPr>
          <p:nvPr/>
        </p:nvPicPr>
        <p:blipFill>
          <a:blip cstate="print" r:embed="rId2"/>
          <a:srcRect/>
          <a:stretch>
            <a:fillRect/>
          </a:stretch>
        </p:blipFill>
        <p:spPr>
          <a:xfrm>
            <a:off x="2286000" y="685800"/>
            <a:ext cx="4552950" cy="447675"/>
          </a:xfrm>
          <a:prstGeom prst="rect">
            <a:avLst/>
          </a:prstGeom>
          <a:noFill/>
          <a:ln w="9525">
            <a:noFill/>
            <a:miter lim="800000"/>
            <a:headEnd/>
            <a:tailEnd/>
          </a:ln>
        </p:spPr>
      </p:pic>
      <p:pic>
        <p:nvPicPr>
          <p:cNvPr id="52227" name="Picture 3"/>
          <p:cNvPicPr>
            <a:picLocks noChangeArrowheads="1" noChangeAspect="1"/>
          </p:cNvPicPr>
          <p:nvPr/>
        </p:nvPicPr>
        <p:blipFill>
          <a:blip cstate="print" r:embed="rId3"/>
          <a:srcRect/>
          <a:stretch>
            <a:fillRect/>
          </a:stretch>
        </p:blipFill>
        <p:spPr>
          <a:xfrm>
            <a:off x="1600200" y="2438400"/>
            <a:ext cx="6181725" cy="3905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553200"/>
          </a:xfrm>
        </p:spPr>
        <p:txBody>
          <a:bodyPr numCol="1">
            <a:normAutofit fontScale="77500" lnSpcReduction="20000"/>
          </a:bodyPr>
          <a:lstStyle/>
          <a:p>
            <a:pPr algn="just">
              <a:buNone/>
            </a:pPr>
            <a:r>
              <a:rPr b="1" dirty="0" lang="en-US" smtClean="0"/>
              <a:t>Use Cases:</a:t>
            </a:r>
          </a:p>
          <a:p>
            <a:pPr algn="just"/>
            <a:r>
              <a:rPr dirty="0" lang="en-US" smtClean="0"/>
              <a:t>If your application frequently queries a field that contains geospatial data, you can create a geospatial index to improve performance for those queries.</a:t>
            </a:r>
          </a:p>
          <a:p>
            <a:pPr algn="just"/>
            <a:r>
              <a:rPr dirty="0" lang="en-US" smtClean="0"/>
              <a:t>Certain query operations require a geospatial index. If you want to query with the </a:t>
            </a:r>
            <a:r>
              <a:rPr b="1" dirty="0" lang="en-US" smtClean="0"/>
              <a:t>$near</a:t>
            </a:r>
            <a:r>
              <a:rPr dirty="0" lang="en-US" smtClean="0"/>
              <a:t> or </a:t>
            </a:r>
            <a:r>
              <a:rPr b="1" dirty="0" lang="en-US" smtClean="0"/>
              <a:t>$nearSphere</a:t>
            </a:r>
            <a:r>
              <a:rPr dirty="0" lang="en-US" smtClean="0"/>
              <a:t> operators or the </a:t>
            </a:r>
            <a:r>
              <a:rPr b="1" dirty="0" lang="en-US" smtClean="0"/>
              <a:t>$geoNear</a:t>
            </a:r>
            <a:r>
              <a:rPr dirty="0" lang="en-US" smtClean="0"/>
              <a:t> aggregation stage, you must create a geospatial index. </a:t>
            </a:r>
          </a:p>
          <a:p>
            <a:pPr algn="just"/>
            <a:r>
              <a:rPr dirty="0" lang="en-US" smtClean="0"/>
              <a:t>For example, consider a subway collection with documents containing a location field, which specifies the coordinates of subway stations in a city. You often run queries with the </a:t>
            </a:r>
            <a:r>
              <a:rPr b="1" dirty="0" lang="en-US" smtClean="0"/>
              <a:t>$geoWithin</a:t>
            </a:r>
            <a:r>
              <a:rPr dirty="0" lang="en-US" smtClean="0"/>
              <a:t> operator to return a list of stations within a specific area. To improve performance for this query, you can create a geospatial index on the location field. After creating the index, you can query using the </a:t>
            </a:r>
            <a:r>
              <a:rPr b="1" dirty="0" lang="en-US" smtClean="0"/>
              <a:t>$near</a:t>
            </a:r>
            <a:r>
              <a:rPr dirty="0" lang="en-US" smtClean="0"/>
              <a:t> operator to return a list of nearby stations, sorted from nearest to farthest.</a:t>
            </a:r>
          </a:p>
          <a:p>
            <a:pPr algn="just"/>
            <a:r>
              <a:rPr dirty="0" lang="en-US" smtClean="0"/>
              <a:t>Indexing commonly queried fields increases the chances of </a:t>
            </a:r>
            <a:r>
              <a:rPr b="1" dirty="0" lang="en-US" smtClean="0"/>
              <a:t>covering</a:t>
            </a:r>
            <a:r>
              <a:rPr dirty="0" lang="en-US" smtClean="0"/>
              <a:t> those queries. Covered queries are queries that can be satisfied entirely using an index, without examining any documents. This optimizes query performance.</a:t>
            </a:r>
          </a:p>
          <a:p>
            <a:endParaRPr dirty="0" lang="en-US"/>
          </a:p>
        </p:txBody>
      </p:sp>
    </p:spTree>
  </p:cSld>
  <p:clrMapOvr>
    <a:masterClrMapping/>
  </p:clrMapOvr>
  <p:timing>
    <p:tnLst>
      <p:par>
        <p:cTn dur="indefinite" id="1" nodeType="tmRoot" restart="never"/>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buNone/>
            </a:pPr>
            <a:r>
              <a:rPr b="1" dirty="0" lang="en-US" smtClean="0" sz="2400"/>
              <a:t>2dsphere Indexes:</a:t>
            </a:r>
          </a:p>
          <a:p>
            <a:pPr algn="just"/>
            <a:r>
              <a:rPr dirty="0" lang="en-US" smtClean="0" sz="2400"/>
              <a:t>2dsphere indexes support geospatial queries on an earth-like sphere. For example, 2dsphere indexes can:</a:t>
            </a:r>
          </a:p>
          <a:p>
            <a:pPr algn="just">
              <a:buFont charset="2" pitchFamily="2" typeface="Wingdings"/>
              <a:buChar char="Ø"/>
            </a:pPr>
            <a:r>
              <a:rPr dirty="0" lang="en-US" smtClean="0" sz="2400"/>
              <a:t>Determine points within a specified area.</a:t>
            </a:r>
          </a:p>
          <a:p>
            <a:pPr algn="just">
              <a:buFont charset="2" pitchFamily="2" typeface="Wingdings"/>
              <a:buChar char="Ø"/>
            </a:pPr>
            <a:r>
              <a:rPr dirty="0" lang="en-US" smtClean="0" sz="2400"/>
              <a:t>Calculate proximity to a specified point.</a:t>
            </a:r>
          </a:p>
          <a:p>
            <a:pPr algn="just">
              <a:buFont charset="2" pitchFamily="2" typeface="Wingdings"/>
              <a:buChar char="Ø"/>
            </a:pPr>
            <a:r>
              <a:rPr dirty="0" lang="en-US" smtClean="0" sz="2400"/>
              <a:t>Return exact matches on coordinate queries.</a:t>
            </a:r>
          </a:p>
          <a:p>
            <a:pPr algn="just">
              <a:buNone/>
            </a:pPr>
            <a:endParaRPr dirty="0" lang="en-US" smtClean="0" sz="2400"/>
          </a:p>
          <a:p>
            <a:pPr algn="just"/>
            <a:r>
              <a:rPr dirty="0" lang="en-US" smtClean="0" sz="2400"/>
              <a:t>To create a 2dsphere index, specify the string 2dsphere as the index type:</a:t>
            </a:r>
          </a:p>
          <a:p>
            <a:pPr algn="just"/>
            <a:endParaRPr dirty="0" lang="en-US" smtClean="0" sz="2400"/>
          </a:p>
          <a:p>
            <a:endParaRPr dirty="0" lang="en-US"/>
          </a:p>
        </p:txBody>
      </p:sp>
      <p:pic>
        <p:nvPicPr>
          <p:cNvPr id="49154" name="Picture 2"/>
          <p:cNvPicPr>
            <a:picLocks noChangeArrowheads="1" noChangeAspect="1"/>
          </p:cNvPicPr>
          <p:nvPr/>
        </p:nvPicPr>
        <p:blipFill>
          <a:blip cstate="print" r:embed="rId2"/>
          <a:srcRect/>
          <a:stretch>
            <a:fillRect/>
          </a:stretch>
        </p:blipFill>
        <p:spPr>
          <a:xfrm>
            <a:off x="838200" y="4191000"/>
            <a:ext cx="7437120" cy="3048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763000" cy="6781800"/>
          </a:xfrm>
        </p:spPr>
        <p:txBody>
          <a:bodyPr numCol="1">
            <a:normAutofit/>
          </a:bodyPr>
          <a:lstStyle/>
          <a:p>
            <a:pPr algn="just">
              <a:buNone/>
            </a:pPr>
            <a:r>
              <a:rPr b="1" dirty="0" lang="en-US" smtClean="0" sz="2400"/>
              <a:t>Use Cases:</a:t>
            </a:r>
          </a:p>
          <a:p>
            <a:pPr algn="just"/>
            <a:r>
              <a:rPr dirty="0" lang="en-US" smtClean="0" sz="2400"/>
              <a:t>Use 2dsphere indexes to query and perform calculations on location data where the data points appear on Earth, or another spherical surface. </a:t>
            </a:r>
          </a:p>
          <a:p>
            <a:pPr algn="just"/>
            <a:r>
              <a:rPr dirty="0" lang="en-US" smtClean="0" sz="2400"/>
              <a:t>For example: A food delivery application uses 2dsphere indexes to support searches for nearby restaurants.</a:t>
            </a:r>
          </a:p>
          <a:p>
            <a:pPr algn="just"/>
            <a:r>
              <a:rPr dirty="0" lang="en-US" smtClean="0" sz="2400"/>
              <a:t>A route planning application uses 2dsphere indexes to calculate the shortest distance between rest stops.</a:t>
            </a:r>
          </a:p>
          <a:p>
            <a:pPr algn="just"/>
            <a:r>
              <a:rPr dirty="0" lang="en-US" smtClean="0" sz="2400"/>
              <a:t>A city planner uses 2dsphere indexes to find parks that exist within city limits.</a:t>
            </a:r>
          </a:p>
          <a:p>
            <a:endParaRPr dirty="0" lang="en-US"/>
          </a:p>
        </p:txBody>
      </p:sp>
    </p:spTree>
  </p:cSld>
  <p:clrMapOvr>
    <a:masterClrMapping/>
  </p:clrMapOvr>
  <p:timing>
    <p:tnLst>
      <p:par>
        <p:cTn dur="indefinite" id="1" nodeType="tmRoot" restart="never"/>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buNone/>
            </a:pPr>
            <a:r>
              <a:rPr b="1" dirty="0" lang="en-US" smtClean="0" sz="2400"/>
              <a:t>Create a 2dsphere Index: </a:t>
            </a:r>
            <a:r>
              <a:rPr dirty="0" lang="en-US" smtClean="0" sz="2400"/>
              <a:t>Create a places collection that contains these documents:</a:t>
            </a:r>
          </a:p>
          <a:p>
            <a:pPr>
              <a:buNone/>
            </a:pPr>
            <a:endParaRPr b="1" dirty="0" lang="en-US" smtClean="0" sz="2400"/>
          </a:p>
          <a:p>
            <a:pPr>
              <a:buNone/>
            </a:pPr>
            <a:endParaRPr b="1" dirty="0" lang="en-US" smtClean="0" sz="2400"/>
          </a:p>
          <a:p>
            <a:pPr>
              <a:buNone/>
            </a:pPr>
            <a:endParaRPr b="1" dirty="0" lang="en-US" smtClean="0" sz="2400"/>
          </a:p>
          <a:p>
            <a:pPr>
              <a:buNone/>
            </a:pPr>
            <a:endParaRPr b="1" dirty="0" lang="en-US" smtClean="0" sz="2400"/>
          </a:p>
          <a:p>
            <a:pPr>
              <a:buNone/>
            </a:pPr>
            <a:endParaRPr b="1" dirty="0" lang="en-US" smtClean="0" sz="2400"/>
          </a:p>
          <a:p>
            <a:pPr>
              <a:buNone/>
            </a:pPr>
            <a:endParaRPr b="1" dirty="0" lang="en-US" smtClean="0" sz="2400"/>
          </a:p>
          <a:p>
            <a:pPr>
              <a:buNone/>
            </a:pPr>
            <a:endParaRPr b="1" dirty="0" lang="en-US" smtClean="0" sz="2400"/>
          </a:p>
          <a:p>
            <a:pPr>
              <a:buNone/>
            </a:pPr>
            <a:endParaRPr b="1" dirty="0" lang="en-US" smtClean="0" sz="2400"/>
          </a:p>
          <a:p>
            <a:r>
              <a:rPr dirty="0" lang="en-US" smtClean="0" sz="2400"/>
              <a:t>The values in the loc field are GeoJSON points.</a:t>
            </a:r>
          </a:p>
          <a:p>
            <a:pPr>
              <a:buNone/>
            </a:pPr>
            <a:r>
              <a:rPr b="1" dirty="0" lang="en-US" smtClean="0" sz="2400"/>
              <a:t>Procedure: </a:t>
            </a:r>
            <a:r>
              <a:rPr dirty="0" lang="en-US" smtClean="0" sz="2400"/>
              <a:t>The following operation creates a 2dsphere index on the location field loc:</a:t>
            </a:r>
            <a:endParaRPr b="1" dirty="0" lang="en-US" smtClean="0" sz="2400"/>
          </a:p>
          <a:p>
            <a:pPr>
              <a:buNone/>
            </a:pPr>
            <a:endParaRPr b="1" dirty="0" lang="en-US" smtClean="0" sz="2400"/>
          </a:p>
        </p:txBody>
      </p:sp>
      <p:pic>
        <p:nvPicPr>
          <p:cNvPr id="50178" name="Picture 2"/>
          <p:cNvPicPr>
            <a:picLocks noChangeArrowheads="1" noChangeAspect="1"/>
          </p:cNvPicPr>
          <p:nvPr/>
        </p:nvPicPr>
        <p:blipFill>
          <a:blip cstate="print" r:embed="rId2"/>
          <a:srcRect/>
          <a:stretch>
            <a:fillRect/>
          </a:stretch>
        </p:blipFill>
        <p:spPr>
          <a:xfrm>
            <a:off x="3124200" y="594360"/>
            <a:ext cx="5024438" cy="3637893"/>
          </a:xfrm>
          <a:prstGeom prst="rect">
            <a:avLst/>
          </a:prstGeom>
          <a:noFill/>
          <a:ln w="9525">
            <a:noFill/>
            <a:miter lim="800000"/>
            <a:headEnd/>
            <a:tailEnd/>
          </a:ln>
        </p:spPr>
      </p:pic>
      <p:pic>
        <p:nvPicPr>
          <p:cNvPr id="50180" name="Picture 4"/>
          <p:cNvPicPr>
            <a:picLocks noChangeArrowheads="1" noChangeAspect="1"/>
          </p:cNvPicPr>
          <p:nvPr/>
        </p:nvPicPr>
        <p:blipFill>
          <a:blip cstate="print" r:embed="rId3"/>
          <a:srcRect/>
          <a:stretch>
            <a:fillRect/>
          </a:stretch>
        </p:blipFill>
        <p:spPr>
          <a:xfrm>
            <a:off x="1905000" y="5715000"/>
            <a:ext cx="4981575" cy="3619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numCol="1">
            <a:noAutofit/>
          </a:bodyPr>
          <a:lstStyle/>
          <a:p>
            <a:r>
              <a:rPr dirty="0" lang="en-US" smtClean="0" sz="3200"/>
              <a:t>Query for Locations Near a Point on a Sphere</a:t>
            </a:r>
            <a:endParaRPr dirty="0" lang="en-US" sz="3200"/>
          </a:p>
        </p:txBody>
      </p:sp>
      <p:sp>
        <p:nvSpPr>
          <p:cNvPr id="3" name="Content Placeholder 2"/>
          <p:cNvSpPr>
            <a:spLocks noGrp="1"/>
          </p:cNvSpPr>
          <p:nvPr>
            <p:ph idx="1"/>
          </p:nvPr>
        </p:nvSpPr>
        <p:spPr>
          <a:xfrm>
            <a:off x="152400" y="533400"/>
            <a:ext cx="8839200" cy="6324600"/>
          </a:xfrm>
        </p:spPr>
        <p:txBody>
          <a:bodyPr numCol="1">
            <a:normAutofit lnSpcReduction="10000"/>
          </a:bodyPr>
          <a:lstStyle/>
          <a:p>
            <a:pPr algn="just"/>
            <a:r>
              <a:rPr dirty="0" lang="en-US" smtClean="0" sz="2400"/>
              <a:t>To query for location data near a specified point, use the </a:t>
            </a:r>
            <a:r>
              <a:rPr b="1" dirty="0" lang="en-US" smtClean="0" sz="2400"/>
              <a:t>$near</a:t>
            </a:r>
            <a:r>
              <a:rPr dirty="0" lang="en-US" smtClean="0" sz="2400"/>
              <a:t> operator:</a:t>
            </a:r>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r>
              <a:rPr dirty="0" lang="en-US" smtClean="0" sz="2400"/>
              <a:t>When you specify longitude and latitude coordinates, list the </a:t>
            </a:r>
            <a:r>
              <a:rPr b="1" dirty="0" lang="en-US" smtClean="0" sz="2400"/>
              <a:t>longitude</a:t>
            </a:r>
            <a:r>
              <a:rPr dirty="0" lang="en-US" smtClean="0" sz="2400"/>
              <a:t> first, and then </a:t>
            </a:r>
            <a:r>
              <a:rPr b="1" dirty="0" lang="en-US" smtClean="0" sz="2400"/>
              <a:t>latitude</a:t>
            </a:r>
            <a:r>
              <a:rPr dirty="0" lang="en-US" smtClean="0" sz="2400"/>
              <a:t>.</a:t>
            </a:r>
          </a:p>
          <a:p>
            <a:pPr algn="just" lvl="1"/>
            <a:r>
              <a:rPr dirty="0" lang="en-US" smtClean="0" sz="2400"/>
              <a:t>Valid longitude values are between -180 and 180, both inclusive.</a:t>
            </a:r>
          </a:p>
          <a:p>
            <a:pPr algn="just" lvl="1"/>
            <a:r>
              <a:rPr dirty="0" lang="en-US" smtClean="0" sz="2400"/>
              <a:t>Valid latitude values are between -90 and 90, both inclusive.</a:t>
            </a:r>
          </a:p>
          <a:p>
            <a:pPr algn="just"/>
            <a:r>
              <a:rPr dirty="0" lang="en-US" smtClean="0" sz="2400"/>
              <a:t>Specify distance in the $</a:t>
            </a:r>
            <a:r>
              <a:rPr dirty="0" err="1" lang="en-US" smtClean="0" sz="2400"/>
              <a:t>maxDistance</a:t>
            </a:r>
            <a:r>
              <a:rPr dirty="0" lang="en-US" smtClean="0" sz="2400"/>
              <a:t> field in </a:t>
            </a:r>
            <a:r>
              <a:rPr b="1" dirty="0" lang="en-US" smtClean="0" sz="2400"/>
              <a:t>meters</a:t>
            </a:r>
            <a:r>
              <a:rPr dirty="0" lang="en-US" smtClean="0" sz="2400"/>
              <a:t>.</a:t>
            </a:r>
          </a:p>
          <a:p>
            <a:pPr algn="just"/>
            <a:endParaRPr dirty="0" lang="en-US" sz="2600"/>
          </a:p>
        </p:txBody>
      </p:sp>
      <p:pic>
        <p:nvPicPr>
          <p:cNvPr id="1026" name="Picture 2"/>
          <p:cNvPicPr>
            <a:picLocks noChangeArrowheads="1" noChangeAspect="1"/>
          </p:cNvPicPr>
          <p:nvPr/>
        </p:nvPicPr>
        <p:blipFill>
          <a:blip cstate="print" r:embed="rId2"/>
          <a:srcRect/>
          <a:stretch>
            <a:fillRect/>
          </a:stretch>
        </p:blipFill>
        <p:spPr>
          <a:xfrm>
            <a:off x="2133600" y="1219200"/>
            <a:ext cx="5266916" cy="28194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6553200"/>
          </a:xfrm>
        </p:spPr>
        <p:txBody>
          <a:bodyPr numCol="1">
            <a:normAutofit/>
          </a:bodyPr>
          <a:lstStyle/>
          <a:p>
            <a:pPr algn="just"/>
            <a:r>
              <a:rPr dirty="0" lang="en-US" smtClean="0" sz="2400"/>
              <a:t>Use $near to query the collection. The following $near query returns documents that have a loc field within 5000 meters of a </a:t>
            </a:r>
            <a:r>
              <a:rPr dirty="0" err="1" lang="en-US" smtClean="0" sz="2400"/>
              <a:t>GeoJSON</a:t>
            </a:r>
            <a:r>
              <a:rPr dirty="0" lang="en-US" smtClean="0" sz="2400"/>
              <a:t> point located at [ -73.92, 40.78 ]:</a:t>
            </a:r>
            <a:endParaRPr dirty="0" lang="en-US" sz="2400"/>
          </a:p>
        </p:txBody>
      </p:sp>
      <p:pic>
        <p:nvPicPr>
          <p:cNvPr id="2051" name="Picture 3"/>
          <p:cNvPicPr>
            <a:picLocks noChangeArrowheads="1" noChangeAspect="1"/>
          </p:cNvPicPr>
          <p:nvPr/>
        </p:nvPicPr>
        <p:blipFill>
          <a:blip cstate="print" r:embed="rId2"/>
          <a:srcRect/>
          <a:stretch>
            <a:fillRect/>
          </a:stretch>
        </p:blipFill>
        <p:spPr>
          <a:xfrm>
            <a:off x="0" y="1295400"/>
            <a:ext cx="4676775" cy="3114675"/>
          </a:xfrm>
          <a:prstGeom prst="rect">
            <a:avLst/>
          </a:prstGeom>
          <a:noFill/>
          <a:ln w="9525">
            <a:noFill/>
            <a:miter lim="800000"/>
            <a:headEnd/>
            <a:tailEnd/>
          </a:ln>
        </p:spPr>
      </p:pic>
      <p:pic>
        <p:nvPicPr>
          <p:cNvPr id="2052" name="Picture 4"/>
          <p:cNvPicPr>
            <a:picLocks noChangeArrowheads="1" noChangeAspect="1"/>
          </p:cNvPicPr>
          <p:nvPr/>
        </p:nvPicPr>
        <p:blipFill>
          <a:blip cstate="print" r:embed="rId3"/>
          <a:srcRect/>
          <a:stretch>
            <a:fillRect/>
          </a:stretch>
        </p:blipFill>
        <p:spPr>
          <a:xfrm>
            <a:off x="3733800" y="3429000"/>
            <a:ext cx="5257800" cy="3224988"/>
          </a:xfrm>
          <a:prstGeom prst="rect">
            <a:avLst/>
          </a:prstGeom>
          <a:noFill/>
          <a:ln w="9525">
            <a:noFill/>
            <a:miter lim="800000"/>
            <a:headEnd/>
            <a:tailEnd/>
          </a:ln>
        </p:spPr>
      </p:pic>
      <p:sp>
        <p:nvSpPr>
          <p:cNvPr id="7" name="Rectangle 6"/>
          <p:cNvSpPr/>
          <p:nvPr/>
        </p:nvSpPr>
        <p:spPr>
          <a:xfrm>
            <a:off x="304800" y="5410200"/>
            <a:ext cx="3429000" cy="1015663"/>
          </a:xfrm>
          <a:prstGeom prst="rect">
            <a:avLst/>
          </a:prstGeom>
        </p:spPr>
        <p:txBody>
          <a:bodyPr numCol="1" wrap="square">
            <a:spAutoFit/>
          </a:bodyPr>
          <a:lstStyle/>
          <a:p>
            <a:pPr algn="just"/>
            <a:r>
              <a:rPr dirty="0" lang="en-US" smtClean="0" sz="2000"/>
              <a:t>Results are sorted by distance from the queried point, from nearest to farthest.</a:t>
            </a:r>
            <a:endParaRPr dirty="0" lang="en-US" sz="2000"/>
          </a:p>
        </p:txBody>
      </p:sp>
    </p:spTree>
  </p:cSld>
  <p:clrMapOvr>
    <a:masterClrMapping/>
  </p:clrMapOvr>
  <p:timing>
    <p:tnLst>
      <p:par>
        <p:cTn dur="indefinite" id="1" nodeType="tmRoot" restart="never"/>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rrowheads="1" noChangeAspect="1"/>
          </p:cNvPicPr>
          <p:nvPr/>
        </p:nvPicPr>
        <p:blipFill>
          <a:blip cstate="print" r:embed="rId2"/>
          <a:srcRect/>
          <a:stretch>
            <a:fillRect/>
          </a:stretch>
        </p:blipFill>
        <p:spPr>
          <a:xfrm>
            <a:off x="0" y="0"/>
            <a:ext cx="5024438" cy="3637893"/>
          </a:xfrm>
          <a:prstGeom prst="rect">
            <a:avLst/>
          </a:prstGeom>
          <a:noFill/>
          <a:ln w="9525">
            <a:noFill/>
            <a:miter lim="800000"/>
            <a:headEnd/>
            <a:tailEnd/>
          </a:ln>
        </p:spPr>
      </p:pic>
      <p:pic>
        <p:nvPicPr>
          <p:cNvPr id="3" name="Picture 3"/>
          <p:cNvPicPr>
            <a:picLocks noChangeArrowheads="1" noChangeAspect="1"/>
          </p:cNvPicPr>
          <p:nvPr/>
        </p:nvPicPr>
        <p:blipFill>
          <a:blip cstate="print" r:embed="rId3"/>
          <a:srcRect/>
          <a:stretch>
            <a:fillRect/>
          </a:stretch>
        </p:blipFill>
        <p:spPr>
          <a:xfrm>
            <a:off x="4932041" y="764705"/>
            <a:ext cx="4211959" cy="2805113"/>
          </a:xfrm>
          <a:prstGeom prst="rect">
            <a:avLst/>
          </a:prstGeom>
          <a:noFill/>
          <a:ln w="9525">
            <a:noFill/>
            <a:miter lim="800000"/>
            <a:headEnd/>
            <a:tailEnd/>
          </a:ln>
        </p:spPr>
      </p:pic>
      <p:pic>
        <p:nvPicPr>
          <p:cNvPr id="4" name="Picture 4"/>
          <p:cNvPicPr>
            <a:picLocks noChangeArrowheads="1" noChangeAspect="1"/>
          </p:cNvPicPr>
          <p:nvPr/>
        </p:nvPicPr>
        <p:blipFill>
          <a:blip cstate="print" r:embed="rId4"/>
          <a:srcRect/>
          <a:stretch>
            <a:fillRect/>
          </a:stretch>
        </p:blipFill>
        <p:spPr>
          <a:xfrm>
            <a:off x="1826419" y="3555290"/>
            <a:ext cx="5257800" cy="3224988"/>
          </a:xfrm>
          <a:prstGeom prst="rect">
            <a:avLst/>
          </a:prstGeom>
          <a:noFill/>
          <a:ln w="9525">
            <a:noFill/>
            <a:miter lim="800000"/>
            <a:headEnd/>
            <a:tailEnd/>
          </a:ln>
        </p:spPr>
      </p:pic>
      <p:pic>
        <p:nvPicPr>
          <p:cNvPr id="5" name="Picture 4"/>
          <p:cNvPicPr>
            <a:picLocks noChangeArrowheads="1" noChangeAspect="1"/>
          </p:cNvPicPr>
          <p:nvPr/>
        </p:nvPicPr>
        <p:blipFill>
          <a:blip cstate="print" r:embed="rId5"/>
          <a:srcRect/>
          <a:stretch>
            <a:fillRect/>
          </a:stretch>
        </p:blipFill>
        <p:spPr>
          <a:xfrm>
            <a:off x="4986543" y="85882"/>
            <a:ext cx="4102954" cy="298111"/>
          </a:xfrm>
          <a:prstGeom prst="rect">
            <a:avLst/>
          </a:prstGeom>
          <a:noFill/>
          <a:ln w="9525">
            <a:noFill/>
            <a:miter lim="800000"/>
            <a:headEnd/>
            <a:tailEnd/>
          </a:ln>
        </p:spPr>
      </p:pic>
    </p:spTree>
    <p:extLst>
      <p:ext uri="{BB962C8B-B14F-4D97-AF65-F5344CB8AC3E}">
        <p14:creationId xmlns:p14="http://schemas.microsoft.com/office/powerpoint/2010/main" val="660392440"/>
      </p:ext>
    </p:extLst>
  </p:cSld>
  <p:clrMapOvr>
    <a:masterClrMapping/>
  </p:clrMapOvr>
  <p:timing>
    <p:tnLst>
      <p:par>
        <p:cTn dur="indefinite" id="1" nodeType="tmRoot" restart="never"/>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numCol="1">
            <a:noAutofit/>
          </a:bodyPr>
          <a:lstStyle/>
          <a:p>
            <a:r>
              <a:rPr b="1" dirty="0" lang="en-US" smtClean="0" sz="3200"/>
              <a:t>Covered Query</a:t>
            </a:r>
            <a:endParaRPr b="1" dirty="0" lang="en-US" sz="3200"/>
          </a:p>
        </p:txBody>
      </p:sp>
      <p:sp>
        <p:nvSpPr>
          <p:cNvPr id="3" name="Content Placeholder 2"/>
          <p:cNvSpPr>
            <a:spLocks noGrp="1"/>
          </p:cNvSpPr>
          <p:nvPr>
            <p:ph idx="1"/>
          </p:nvPr>
        </p:nvSpPr>
        <p:spPr>
          <a:xfrm>
            <a:off x="76200" y="533400"/>
            <a:ext cx="8915400" cy="6324600"/>
          </a:xfrm>
        </p:spPr>
        <p:txBody>
          <a:bodyPr numCol="1">
            <a:normAutofit fontScale="92500" lnSpcReduction="10000"/>
          </a:bodyPr>
          <a:lstStyle/>
          <a:p>
            <a:pPr algn="just"/>
            <a:r>
              <a:rPr dirty="0" lang="en-US" smtClean="0" sz="2400"/>
              <a:t>A covered query is a query that can be satisfied entirely using an index and does not have to examine any documents. An index covers a query when all of the following apply:</a:t>
            </a:r>
          </a:p>
          <a:p>
            <a:pPr algn="just">
              <a:buFont charset="2" pitchFamily="2" typeface="Wingdings"/>
              <a:buChar char="Ø"/>
            </a:pPr>
            <a:r>
              <a:rPr dirty="0" lang="en-US" smtClean="0" sz="2400"/>
              <a:t>all the fields in the query are part of an index, </a:t>
            </a:r>
            <a:r>
              <a:rPr b="1" dirty="0" lang="en-US" smtClean="0" sz="2400"/>
              <a:t>and</a:t>
            </a:r>
            <a:endParaRPr dirty="0" lang="en-US" smtClean="0" sz="2400"/>
          </a:p>
          <a:p>
            <a:pPr algn="just">
              <a:buFont charset="2" pitchFamily="2" typeface="Wingdings"/>
              <a:buChar char="Ø"/>
            </a:pPr>
            <a:r>
              <a:rPr dirty="0" lang="en-US" smtClean="0" sz="2400"/>
              <a:t>all the fields returned in the results are in the same index.</a:t>
            </a:r>
          </a:p>
          <a:p>
            <a:pPr algn="just">
              <a:buFont charset="2" pitchFamily="2" typeface="Wingdings"/>
              <a:buChar char="Ø"/>
            </a:pPr>
            <a:r>
              <a:rPr dirty="0" lang="en-US" smtClean="0" sz="2400"/>
              <a:t>no fields in the query are equal to null (i.e. {"field" : null} or {"field" : {$eq : null}} ).</a:t>
            </a:r>
          </a:p>
          <a:p>
            <a:pPr algn="just"/>
            <a:r>
              <a:rPr dirty="0" lang="en-US" smtClean="0" sz="2400"/>
              <a:t>For example, a collection inventory has the following index on the type and item fields:</a:t>
            </a:r>
          </a:p>
          <a:p>
            <a:pPr algn="just"/>
            <a:r>
              <a:rPr dirty="0" lang="en-US" smtClean="0" sz="2400"/>
              <a:t>This index will cover the following operation which queries on the type and item fields and returns only the item field:</a:t>
            </a:r>
          </a:p>
          <a:p>
            <a:pPr algn="just"/>
            <a:endParaRPr dirty="0" lang="en-US" smtClean="0" sz="2400"/>
          </a:p>
          <a:p>
            <a:pPr algn="just"/>
            <a:endParaRPr dirty="0" lang="en-US" smtClean="0" sz="2400"/>
          </a:p>
          <a:p>
            <a:pPr algn="just"/>
            <a:endParaRPr dirty="0" lang="en-US" smtClean="0" sz="2400"/>
          </a:p>
          <a:p>
            <a:pPr algn="just"/>
            <a:r>
              <a:rPr dirty="0" lang="en-US" smtClean="0" sz="2400"/>
              <a:t>For the specified index to cover the query, the projection document must explicitly specify _id: 0 to exclude the _id field from the result since the index does not include the _id field.</a:t>
            </a:r>
            <a:endParaRPr dirty="0" lang="en-US" sz="2400"/>
          </a:p>
        </p:txBody>
      </p:sp>
      <p:pic>
        <p:nvPicPr>
          <p:cNvPr id="1026" name="Picture 2"/>
          <p:cNvPicPr>
            <a:picLocks noChangeArrowheads="1" noChangeAspect="1"/>
          </p:cNvPicPr>
          <p:nvPr/>
        </p:nvPicPr>
        <p:blipFill>
          <a:blip cstate="print" r:embed="rId2"/>
          <a:srcRect/>
          <a:stretch>
            <a:fillRect/>
          </a:stretch>
        </p:blipFill>
        <p:spPr>
          <a:xfrm>
            <a:off x="3581400" y="3276600"/>
            <a:ext cx="5257800" cy="333375"/>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2438400" y="4191000"/>
            <a:ext cx="3400425" cy="11906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fontScale="92500"/>
          </a:bodyPr>
          <a:lstStyle/>
          <a:p>
            <a:pPr>
              <a:buNone/>
            </a:pPr>
            <a:r>
              <a:rPr b="1" dirty="0" lang="en-US" smtClean="0" sz="2400"/>
              <a:t>Embedded Documents:</a:t>
            </a:r>
          </a:p>
          <a:p>
            <a:pPr algn="just"/>
            <a:r>
              <a:rPr dirty="0" lang="en-US" smtClean="0" sz="2200"/>
              <a:t>An index can cover a query on fields within embedded documents. For example, consider a collection </a:t>
            </a:r>
            <a:r>
              <a:rPr dirty="0" err="1" lang="en-US" smtClean="0" sz="2200"/>
              <a:t>userdata</a:t>
            </a:r>
            <a:r>
              <a:rPr dirty="0" lang="en-US" smtClean="0" sz="2200"/>
              <a:t> with documents of the following form:</a:t>
            </a:r>
          </a:p>
          <a:p>
            <a:pPr algn="just"/>
            <a:endParaRPr dirty="0" lang="en-US" smtClean="0" sz="2200"/>
          </a:p>
          <a:p>
            <a:pPr algn="just"/>
            <a:r>
              <a:rPr dirty="0" lang="en-US" smtClean="0" sz="2200"/>
              <a:t>The collection has the following index:</a:t>
            </a:r>
          </a:p>
          <a:p>
            <a:pPr algn="just"/>
            <a:r>
              <a:rPr dirty="0" lang="en-US" smtClean="0" sz="2200"/>
              <a:t>The { "</a:t>
            </a:r>
            <a:r>
              <a:rPr dirty="0" err="1" lang="en-US" smtClean="0" sz="2200"/>
              <a:t>user.login</a:t>
            </a:r>
            <a:r>
              <a:rPr dirty="0" lang="en-US" smtClean="0" sz="2200"/>
              <a:t>": 1 } index will cover the query below:</a:t>
            </a:r>
          </a:p>
          <a:p>
            <a:pPr algn="just"/>
            <a:endParaRPr dirty="0" lang="en-US" smtClean="0" sz="2200"/>
          </a:p>
          <a:p>
            <a:pPr algn="just">
              <a:buNone/>
            </a:pPr>
            <a:r>
              <a:rPr b="1" dirty="0" lang="en-US" smtClean="0" sz="2200"/>
              <a:t>Performance:</a:t>
            </a:r>
          </a:p>
          <a:p>
            <a:pPr algn="just"/>
            <a:r>
              <a:rPr dirty="0" lang="en-US" smtClean="0" sz="2200"/>
              <a:t>Because the index contains all fields required by the query, </a:t>
            </a:r>
            <a:r>
              <a:rPr dirty="0" err="1" lang="en-US" smtClean="0" sz="2200"/>
              <a:t>MongoDB</a:t>
            </a:r>
            <a:r>
              <a:rPr dirty="0" lang="en-US" smtClean="0" sz="2200"/>
              <a:t> can both match the query conditions and return the results using only the index.</a:t>
            </a:r>
          </a:p>
          <a:p>
            <a:pPr algn="just"/>
            <a:r>
              <a:rPr dirty="0" lang="en-US" smtClean="0" sz="2200"/>
              <a:t>Querying </a:t>
            </a:r>
            <a:r>
              <a:rPr dirty="0" i="1" lang="en-US" smtClean="0" sz="2200"/>
              <a:t>only</a:t>
            </a:r>
            <a:r>
              <a:rPr dirty="0" lang="en-US" smtClean="0" sz="2200"/>
              <a:t> the index can be much faster than querying documents outside of the index. Index keys are typically smaller than the documents they catalog, and indexes are typically available in RAM or located sequentially on disk.</a:t>
            </a:r>
          </a:p>
          <a:p>
            <a:pPr algn="just">
              <a:buNone/>
            </a:pPr>
            <a:r>
              <a:rPr b="1" dirty="0" lang="en-US" smtClean="0" sz="2200"/>
              <a:t>Limitations: </a:t>
            </a:r>
          </a:p>
          <a:p>
            <a:pPr algn="just">
              <a:buNone/>
            </a:pPr>
            <a:r>
              <a:rPr dirty="0" lang="en-US" smtClean="0" sz="2200"/>
              <a:t>Restrictions on Indexed Fields</a:t>
            </a:r>
          </a:p>
          <a:p>
            <a:r>
              <a:rPr dirty="0" lang="en-US" smtClean="0" sz="2200"/>
              <a:t>Geospatial indexes can't cover a query.</a:t>
            </a:r>
          </a:p>
          <a:p>
            <a:r>
              <a:rPr dirty="0" lang="en-US" smtClean="0" sz="2200"/>
              <a:t>Multikey indexes cannot cover queries over array fields.</a:t>
            </a:r>
          </a:p>
          <a:p>
            <a:endParaRPr dirty="0" lang="en-US" smtClean="0" sz="2400"/>
          </a:p>
          <a:p>
            <a:endParaRPr dirty="0" lang="en-US"/>
          </a:p>
        </p:txBody>
      </p:sp>
      <p:pic>
        <p:nvPicPr>
          <p:cNvPr id="2050" name="Picture 2"/>
          <p:cNvPicPr>
            <a:picLocks noChangeArrowheads="1" noChangeAspect="1"/>
          </p:cNvPicPr>
          <p:nvPr/>
        </p:nvPicPr>
        <p:blipFill>
          <a:blip cstate="print" r:embed="rId2"/>
          <a:srcRect/>
          <a:stretch>
            <a:fillRect/>
          </a:stretch>
        </p:blipFill>
        <p:spPr>
          <a:xfrm>
            <a:off x="2743200" y="1219200"/>
            <a:ext cx="4105275" cy="381000"/>
          </a:xfrm>
          <a:prstGeom prst="rect">
            <a:avLst/>
          </a:prstGeom>
          <a:noFill/>
          <a:ln w="9525">
            <a:noFill/>
            <a:miter lim="800000"/>
            <a:headEnd/>
            <a:tailEnd/>
          </a:ln>
        </p:spPr>
      </p:pic>
      <p:pic>
        <p:nvPicPr>
          <p:cNvPr id="2051" name="Picture 3"/>
          <p:cNvPicPr>
            <a:picLocks noChangeArrowheads="1" noChangeAspect="1"/>
          </p:cNvPicPr>
          <p:nvPr/>
        </p:nvPicPr>
        <p:blipFill>
          <a:blip cstate="print" r:embed="rId3"/>
          <a:srcRect/>
          <a:stretch>
            <a:fillRect/>
          </a:stretch>
        </p:blipFill>
        <p:spPr>
          <a:xfrm>
            <a:off x="4724400" y="1600200"/>
            <a:ext cx="2143125" cy="419100"/>
          </a:xfrm>
          <a:prstGeom prst="rect">
            <a:avLst/>
          </a:prstGeom>
          <a:noFill/>
          <a:ln w="9525">
            <a:noFill/>
            <a:miter lim="800000"/>
            <a:headEnd/>
            <a:tailEnd/>
          </a:ln>
        </p:spPr>
      </p:pic>
      <p:pic>
        <p:nvPicPr>
          <p:cNvPr id="2052" name="Picture 4"/>
          <p:cNvPicPr>
            <a:picLocks noChangeArrowheads="1" noChangeAspect="1"/>
          </p:cNvPicPr>
          <p:nvPr/>
        </p:nvPicPr>
        <p:blipFill>
          <a:blip cstate="print" r:embed="rId4"/>
          <a:srcRect/>
          <a:stretch>
            <a:fillRect/>
          </a:stretch>
        </p:blipFill>
        <p:spPr>
          <a:xfrm>
            <a:off x="533400" y="2362200"/>
            <a:ext cx="8181975" cy="3810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Partial Indexes/filtering</a:t>
            </a:r>
            <a:endParaRPr b="1" dirty="0" lang="en-US" sz="3200"/>
          </a:p>
        </p:txBody>
      </p:sp>
      <p:sp>
        <p:nvSpPr>
          <p:cNvPr id="3" name="Content Placeholder 2"/>
          <p:cNvSpPr>
            <a:spLocks noGrp="1"/>
          </p:cNvSpPr>
          <p:nvPr>
            <p:ph idx="1"/>
          </p:nvPr>
        </p:nvSpPr>
        <p:spPr>
          <a:xfrm>
            <a:off x="152400" y="533400"/>
            <a:ext cx="8915400" cy="6324600"/>
          </a:xfrm>
        </p:spPr>
        <p:txBody>
          <a:bodyPr numCol="1"/>
          <a:lstStyle/>
          <a:p>
            <a:pPr algn="just"/>
            <a:r>
              <a:rPr dirty="0" lang="en-US" smtClean="0" sz="2400"/>
              <a:t>Partial indexes only index the documents in a collection that meet a specified filter expression. Partial indexes have lower storage requirements and reduced performance costs for index creation and maintenance.</a:t>
            </a:r>
          </a:p>
          <a:p>
            <a:pPr>
              <a:buNone/>
            </a:pPr>
            <a:r>
              <a:rPr b="1" dirty="0" lang="en-US" smtClean="0" sz="2400"/>
              <a:t>Create a Partial Index:</a:t>
            </a:r>
          </a:p>
          <a:p>
            <a:r>
              <a:rPr dirty="0" lang="en-US" smtClean="0" sz="2400"/>
              <a:t>To create a partial index, use </a:t>
            </a:r>
            <a:r>
              <a:rPr b="1" dirty="0" i="1" lang="en-US" smtClean="0" sz="2400"/>
              <a:t>db.collection.createIndex()</a:t>
            </a:r>
            <a:r>
              <a:rPr dirty="0" lang="en-US" smtClean="0" sz="2400"/>
              <a:t> method with the </a:t>
            </a:r>
            <a:r>
              <a:rPr b="1" dirty="0" err="1" i="1" lang="en-US" smtClean="0" sz="2400"/>
              <a:t>partialFilterExpression</a:t>
            </a:r>
            <a:r>
              <a:rPr dirty="0" lang="en-US" smtClean="0" sz="2400"/>
              <a:t> option.</a:t>
            </a:r>
          </a:p>
          <a:p>
            <a:r>
              <a:rPr dirty="0" lang="en-US" smtClean="0" sz="2400"/>
              <a:t>The </a:t>
            </a:r>
            <a:r>
              <a:rPr b="1" dirty="0" err="1" i="1" lang="en-US" smtClean="0" sz="2400"/>
              <a:t>partialFilterExpression</a:t>
            </a:r>
            <a:r>
              <a:rPr dirty="0" lang="en-US" smtClean="0" sz="2400"/>
              <a:t> option accepts a document that specifies the filter condition using:</a:t>
            </a:r>
            <a:endParaRPr b="1" dirty="0" lang="en-US" smtClean="0" sz="2400"/>
          </a:p>
          <a:p>
            <a:endParaRPr dirty="0" lang="en-US"/>
          </a:p>
        </p:txBody>
      </p:sp>
      <p:sp>
        <p:nvSpPr>
          <p:cNvPr id="4" name="TextBox 3"/>
          <p:cNvSpPr txBox="1"/>
          <p:nvPr/>
        </p:nvSpPr>
        <p:spPr>
          <a:xfrm>
            <a:off x="1143000" y="4114800"/>
            <a:ext cx="8229600" cy="2800767"/>
          </a:xfrm>
          <a:prstGeom prst="rect">
            <a:avLst/>
          </a:prstGeom>
          <a:noFill/>
        </p:spPr>
        <p:txBody>
          <a:bodyPr numCol="1" rtlCol="0" wrap="square">
            <a:spAutoFit/>
          </a:bodyPr>
          <a:lstStyle/>
          <a:p>
            <a:pPr>
              <a:buFont charset="0" pitchFamily="34" typeface="Arial"/>
              <a:buChar char="•"/>
            </a:pPr>
            <a:r>
              <a:rPr dirty="0" lang="en-US" smtClean="0" sz="2000"/>
              <a:t> equality expressions (i.e. field: value or using the </a:t>
            </a:r>
            <a:r>
              <a:rPr b="1" dirty="0" lang="en-US" smtClean="0" sz="2000"/>
              <a:t>$eq </a:t>
            </a:r>
            <a:r>
              <a:rPr dirty="0" lang="en-US" smtClean="0" sz="2000"/>
              <a:t>operator),</a:t>
            </a:r>
          </a:p>
          <a:p>
            <a:pPr>
              <a:buFont charset="0" pitchFamily="34" typeface="Arial"/>
              <a:buChar char="•"/>
            </a:pPr>
            <a:r>
              <a:rPr dirty="0" lang="en-US" smtClean="0" sz="2000"/>
              <a:t> </a:t>
            </a:r>
            <a:r>
              <a:rPr b="1" dirty="0" lang="en-US" smtClean="0" sz="2000"/>
              <a:t>$exists: </a:t>
            </a:r>
            <a:r>
              <a:rPr dirty="0" lang="en-US" smtClean="0" sz="2000"/>
              <a:t>true expression,</a:t>
            </a:r>
          </a:p>
          <a:p>
            <a:pPr>
              <a:buFont charset="0" pitchFamily="34" typeface="Arial"/>
              <a:buChar char="•"/>
            </a:pPr>
            <a:r>
              <a:rPr dirty="0" lang="en-US" smtClean="0" sz="2000"/>
              <a:t> </a:t>
            </a:r>
            <a:r>
              <a:rPr b="1" dirty="0" lang="en-US" smtClean="0" sz="2000"/>
              <a:t>$</a:t>
            </a:r>
            <a:r>
              <a:rPr b="1" dirty="0" err="1" lang="en-US" smtClean="0" sz="2000"/>
              <a:t>gt</a:t>
            </a:r>
            <a:r>
              <a:rPr b="1" dirty="0" lang="en-US" smtClean="0" sz="2000"/>
              <a:t>, $</a:t>
            </a:r>
            <a:r>
              <a:rPr b="1" dirty="0" err="1" lang="en-US" smtClean="0" sz="2000"/>
              <a:t>gte</a:t>
            </a:r>
            <a:r>
              <a:rPr b="1" dirty="0" lang="en-US" smtClean="0" sz="2000"/>
              <a:t>, $</a:t>
            </a:r>
            <a:r>
              <a:rPr b="1" dirty="0" err="1" lang="en-US" smtClean="0" sz="2000"/>
              <a:t>lt</a:t>
            </a:r>
            <a:r>
              <a:rPr b="1" dirty="0" lang="en-US" smtClean="0" sz="2000"/>
              <a:t>, $</a:t>
            </a:r>
            <a:r>
              <a:rPr b="1" dirty="0" err="1" lang="en-US" smtClean="0" sz="2000"/>
              <a:t>lte</a:t>
            </a:r>
            <a:r>
              <a:rPr dirty="0" lang="en-US" smtClean="0" sz="2000"/>
              <a:t> expressions,</a:t>
            </a:r>
          </a:p>
          <a:p>
            <a:pPr>
              <a:buFont charset="0" pitchFamily="34" typeface="Arial"/>
              <a:buChar char="•"/>
            </a:pPr>
            <a:r>
              <a:rPr b="1" dirty="0" lang="en-US" smtClean="0" sz="2000"/>
              <a:t> $type</a:t>
            </a:r>
            <a:r>
              <a:rPr dirty="0" lang="en-US" smtClean="0" sz="2000"/>
              <a:t> expressions,</a:t>
            </a:r>
          </a:p>
          <a:p>
            <a:pPr>
              <a:buFont charset="0" pitchFamily="34" typeface="Arial"/>
              <a:buChar char="•"/>
            </a:pPr>
            <a:r>
              <a:rPr dirty="0" lang="en-US" smtClean="0" sz="2000"/>
              <a:t> </a:t>
            </a:r>
            <a:r>
              <a:rPr b="1" dirty="0" lang="en-US" smtClean="0" sz="2000"/>
              <a:t>$and</a:t>
            </a:r>
            <a:r>
              <a:rPr dirty="0" lang="en-US" smtClean="0" sz="2000"/>
              <a:t> operator,</a:t>
            </a:r>
          </a:p>
          <a:p>
            <a:pPr>
              <a:buFont charset="0" pitchFamily="34" typeface="Arial"/>
              <a:buChar char="•"/>
            </a:pPr>
            <a:r>
              <a:rPr dirty="0" lang="en-US" smtClean="0" sz="2000"/>
              <a:t> </a:t>
            </a:r>
            <a:r>
              <a:rPr b="1" dirty="0" lang="en-US" smtClean="0" sz="2000"/>
              <a:t>$or</a:t>
            </a:r>
            <a:r>
              <a:rPr dirty="0" lang="en-US" smtClean="0" sz="2000"/>
              <a:t> operator,</a:t>
            </a:r>
          </a:p>
          <a:p>
            <a:pPr>
              <a:buFont charset="0" pitchFamily="34" typeface="Arial"/>
              <a:buChar char="•"/>
            </a:pPr>
            <a:r>
              <a:rPr dirty="0" lang="en-US" smtClean="0" sz="2000"/>
              <a:t> </a:t>
            </a:r>
            <a:r>
              <a:rPr b="1" dirty="0" lang="en-US" smtClean="0" sz="2000"/>
              <a:t>$in</a:t>
            </a:r>
            <a:r>
              <a:rPr dirty="0" lang="en-US" smtClean="0" sz="2000"/>
              <a:t> operator</a:t>
            </a:r>
          </a:p>
          <a:p>
            <a:pPr>
              <a:buFont charset="0" pitchFamily="34" typeface="Arial"/>
              <a:buChar char="•"/>
            </a:pPr>
            <a:endParaRPr dirty="0" lang="en-US" smtClean="0"/>
          </a:p>
          <a:p>
            <a:endParaRPr dirty="0" lang="en-US"/>
          </a:p>
        </p:txBody>
      </p:sp>
    </p:spTree>
  </p:cSld>
  <p:clrMapOvr>
    <a:masterClrMapping/>
  </p:clrMapOvr>
  <p:timing>
    <p:tnLst>
      <p:par>
        <p:cTn dur="indefinite" id="1" nodeType="tmRoot" restart="never"/>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6629400"/>
          </a:xfrm>
        </p:spPr>
        <p:txBody>
          <a:bodyPr numCol="1">
            <a:normAutofit/>
          </a:bodyPr>
          <a:lstStyle/>
          <a:p>
            <a:pPr algn="just"/>
            <a:r>
              <a:rPr dirty="0" lang="en-US" smtClean="0" sz="2400"/>
              <a:t>For example, the following operation creates a compound index that indexes only the documents with a rating field greater than 5.</a:t>
            </a:r>
          </a:p>
          <a:p>
            <a:pPr algn="just"/>
            <a:endParaRPr dirty="0" lang="en-US" smtClean="0" sz="2400"/>
          </a:p>
          <a:p>
            <a:pPr algn="just"/>
            <a:endParaRPr dirty="0" lang="en-US" smtClean="0" sz="2400"/>
          </a:p>
          <a:p>
            <a:pPr algn="just"/>
            <a:endParaRPr dirty="0" lang="en-US" smtClean="0" sz="2400"/>
          </a:p>
          <a:p>
            <a:pPr algn="just"/>
            <a:r>
              <a:rPr dirty="0" lang="en-US" smtClean="0" sz="2400"/>
              <a:t>You can specify a </a:t>
            </a:r>
            <a:r>
              <a:rPr b="1" dirty="0" err="1" i="1" lang="en-US" smtClean="0" sz="2400"/>
              <a:t>partialFilterExpression</a:t>
            </a:r>
            <a:r>
              <a:rPr dirty="0" lang="en-US" smtClean="0" sz="2400"/>
              <a:t> option for all </a:t>
            </a:r>
            <a:r>
              <a:rPr dirty="0" err="1" lang="en-US" smtClean="0" sz="2400"/>
              <a:t>MongoDB</a:t>
            </a:r>
            <a:r>
              <a:rPr dirty="0" lang="en-US" smtClean="0" sz="2400"/>
              <a:t> index types. </a:t>
            </a:r>
            <a:endParaRPr b="1" dirty="0" lang="en-US" smtClean="0" sz="2400"/>
          </a:p>
          <a:p>
            <a:pPr algn="just">
              <a:buNone/>
            </a:pPr>
            <a:endParaRPr b="1" dirty="0" lang="en-US" sz="2400"/>
          </a:p>
        </p:txBody>
      </p:sp>
      <p:pic>
        <p:nvPicPr>
          <p:cNvPr id="67586" name="Picture 2"/>
          <p:cNvPicPr>
            <a:picLocks noChangeArrowheads="1" noChangeAspect="1"/>
          </p:cNvPicPr>
          <p:nvPr/>
        </p:nvPicPr>
        <p:blipFill>
          <a:blip cstate="print" r:embed="rId2"/>
          <a:srcRect/>
          <a:stretch>
            <a:fillRect/>
          </a:stretch>
        </p:blipFill>
        <p:spPr>
          <a:xfrm>
            <a:off x="1905000" y="990600"/>
            <a:ext cx="5562600" cy="1050219"/>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1600" cy="6705600"/>
          </a:xfrm>
        </p:spPr>
        <p:txBody>
          <a:bodyPr numCol="1">
            <a:normAutofit/>
          </a:bodyPr>
          <a:lstStyle/>
          <a:p>
            <a:pPr algn="just"/>
            <a:r>
              <a:rPr dirty="0" lang="en-US" smtClean="0" sz="2000"/>
              <a:t>For example, given the following index:</a:t>
            </a:r>
          </a:p>
          <a:p>
            <a:pPr algn="just"/>
            <a:endParaRPr dirty="0" lang="en-US" smtClean="0" sz="2000"/>
          </a:p>
          <a:p>
            <a:pPr algn="just"/>
            <a:endParaRPr dirty="0" lang="en-US" smtClean="0" sz="2000"/>
          </a:p>
          <a:p>
            <a:pPr algn="just"/>
            <a:endParaRPr dirty="0" lang="en-US" smtClean="0" sz="2000"/>
          </a:p>
          <a:p>
            <a:pPr algn="just"/>
            <a:r>
              <a:rPr dirty="0" lang="en-US" smtClean="0" sz="2000"/>
              <a:t>The following query can use the index since the query predicate includes the condition rating: { $</a:t>
            </a:r>
            <a:r>
              <a:rPr dirty="0" err="1" lang="en-US" smtClean="0" sz="2000"/>
              <a:t>gte</a:t>
            </a:r>
            <a:r>
              <a:rPr dirty="0" lang="en-US" smtClean="0" sz="2000"/>
              <a:t>: 8 } that matches a subset of documents matched by the index filter expression rating: { $</a:t>
            </a:r>
            <a:r>
              <a:rPr dirty="0" err="1" lang="en-US" smtClean="0" sz="2000"/>
              <a:t>gt</a:t>
            </a:r>
            <a:r>
              <a:rPr dirty="0" lang="en-US" smtClean="0" sz="2000"/>
              <a:t>: 5 }:</a:t>
            </a:r>
          </a:p>
          <a:p>
            <a:pPr algn="just"/>
            <a:endParaRPr dirty="0" lang="en-US" smtClean="0" sz="2000"/>
          </a:p>
          <a:p>
            <a:pPr algn="just"/>
            <a:r>
              <a:rPr dirty="0" lang="en-US" smtClean="0" sz="2000"/>
              <a:t>However, the following query cannot use the partial index on the cuisine field because using the index results in an incomplete result set. Specifically, the query predicate includes the condition rating: { $</a:t>
            </a:r>
            <a:r>
              <a:rPr dirty="0" err="1" lang="en-US" smtClean="0" sz="2000"/>
              <a:t>lt</a:t>
            </a:r>
            <a:r>
              <a:rPr dirty="0" lang="en-US" smtClean="0" sz="2000"/>
              <a:t>: 8 } while the index has the filter rating: { $</a:t>
            </a:r>
            <a:r>
              <a:rPr dirty="0" err="1" lang="en-US" smtClean="0" sz="2000"/>
              <a:t>gt</a:t>
            </a:r>
            <a:r>
              <a:rPr dirty="0" lang="en-US" smtClean="0" sz="2000"/>
              <a:t>: 5 }. That is, the query { cuisine: "Italian", rating: { $</a:t>
            </a:r>
            <a:r>
              <a:rPr dirty="0" err="1" lang="en-US" smtClean="0" sz="2000"/>
              <a:t>lt</a:t>
            </a:r>
            <a:r>
              <a:rPr dirty="0" lang="en-US" smtClean="0" sz="2000"/>
              <a:t>: 8 } } matches more documents (e.g. an Italian restaurant with a rating equal to 1) than are indexed.</a:t>
            </a:r>
          </a:p>
          <a:p>
            <a:pPr algn="just"/>
            <a:endParaRPr dirty="0" lang="en-US" smtClean="0" sz="2000"/>
          </a:p>
          <a:p>
            <a:pPr algn="just"/>
            <a:r>
              <a:rPr dirty="0" lang="en-US" smtClean="0" sz="2000"/>
              <a:t>Similarly, the following query cannot use the partial index because the query predicate does not include the filter expression and using the index would return an incomplete result set.</a:t>
            </a:r>
            <a:endParaRPr dirty="0" lang="en-US" sz="2000"/>
          </a:p>
        </p:txBody>
      </p:sp>
      <p:pic>
        <p:nvPicPr>
          <p:cNvPr id="68610" name="Picture 2"/>
          <p:cNvPicPr>
            <a:picLocks noChangeArrowheads="1" noChangeAspect="1"/>
          </p:cNvPicPr>
          <p:nvPr/>
        </p:nvPicPr>
        <p:blipFill>
          <a:blip cstate="print" r:embed="rId2"/>
          <a:srcRect/>
          <a:stretch>
            <a:fillRect/>
          </a:stretch>
        </p:blipFill>
        <p:spPr>
          <a:xfrm>
            <a:off x="1524000" y="457200"/>
            <a:ext cx="5335337" cy="990600"/>
          </a:xfrm>
          <a:prstGeom prst="rect">
            <a:avLst/>
          </a:prstGeom>
          <a:noFill/>
          <a:ln w="9525">
            <a:noFill/>
            <a:miter lim="800000"/>
            <a:headEnd/>
            <a:tailEnd/>
          </a:ln>
        </p:spPr>
      </p:pic>
      <p:pic>
        <p:nvPicPr>
          <p:cNvPr id="68611" name="Picture 3"/>
          <p:cNvPicPr>
            <a:picLocks noChangeArrowheads="1" noChangeAspect="1"/>
          </p:cNvPicPr>
          <p:nvPr/>
        </p:nvPicPr>
        <p:blipFill>
          <a:blip cstate="print" r:embed="rId3"/>
          <a:srcRect/>
          <a:stretch>
            <a:fillRect/>
          </a:stretch>
        </p:blipFill>
        <p:spPr>
          <a:xfrm>
            <a:off x="1066800" y="2514600"/>
            <a:ext cx="7115175" cy="323850"/>
          </a:xfrm>
          <a:prstGeom prst="rect">
            <a:avLst/>
          </a:prstGeom>
          <a:noFill/>
          <a:ln w="9525">
            <a:noFill/>
            <a:miter lim="800000"/>
            <a:headEnd/>
            <a:tailEnd/>
          </a:ln>
        </p:spPr>
      </p:pic>
      <p:pic>
        <p:nvPicPr>
          <p:cNvPr id="68612" name="Picture 4"/>
          <p:cNvPicPr>
            <a:picLocks noChangeArrowheads="1" noChangeAspect="1"/>
          </p:cNvPicPr>
          <p:nvPr/>
        </p:nvPicPr>
        <p:blipFill>
          <a:blip cstate="print" r:embed="rId4"/>
          <a:srcRect/>
          <a:stretch>
            <a:fillRect/>
          </a:stretch>
        </p:blipFill>
        <p:spPr>
          <a:xfrm>
            <a:off x="1066800" y="4724400"/>
            <a:ext cx="7029450" cy="285750"/>
          </a:xfrm>
          <a:prstGeom prst="rect">
            <a:avLst/>
          </a:prstGeom>
          <a:noFill/>
          <a:ln w="9525">
            <a:noFill/>
            <a:miter lim="800000"/>
            <a:headEnd/>
            <a:tailEnd/>
          </a:ln>
        </p:spPr>
      </p:pic>
      <p:pic>
        <p:nvPicPr>
          <p:cNvPr id="68613" name="Picture 5"/>
          <p:cNvPicPr>
            <a:picLocks noChangeArrowheads="1" noChangeAspect="1"/>
          </p:cNvPicPr>
          <p:nvPr/>
        </p:nvPicPr>
        <p:blipFill>
          <a:blip cstate="print" r:embed="rId5"/>
          <a:srcRect/>
          <a:stretch>
            <a:fillRect/>
          </a:stretch>
        </p:blipFill>
        <p:spPr>
          <a:xfrm>
            <a:off x="2209800" y="6096000"/>
            <a:ext cx="4886325" cy="3333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Words>1854</Words>
  <Paragraphs>499</Paragraphs>
  <Slides>58</Slides>
  <Notes>1</Notes>
  <TotalTime>2547</TotalTime>
  <HiddenSlides>0</HiddenSlides>
  <MMClips>0</MMClips>
  <ScaleCrop>false</ScaleCrop>
  <HeadingPairs>
    <vt:vector baseType="variant" size="6">
      <vt:variant>
        <vt:lpstr>Fonts Used</vt:lpstr>
      </vt:variant>
      <vt:variant>
        <vt:i4>3</vt:i4>
      </vt:variant>
      <vt:variant>
        <vt:lpstr>Theme</vt:lpstr>
      </vt:variant>
      <vt:variant>
        <vt:i4>1</vt:i4>
      </vt:variant>
      <vt:variant>
        <vt:lpstr>Slide Titles</vt:lpstr>
      </vt:variant>
      <vt:variant>
        <vt:i4>58</vt:i4>
      </vt:variant>
    </vt:vector>
  </HeadingPairs>
  <TitlesOfParts>
    <vt:vector baseType="lpstr" size="62">
      <vt:lpstr>Arial</vt:lpstr>
      <vt:lpstr>Calibri</vt:lpstr>
      <vt:lpstr>Wingdings</vt:lpstr>
      <vt:lpstr>Office Theme</vt:lpstr>
      <vt:lpstr>Indexing</vt:lpstr>
      <vt:lpstr>Indexes</vt:lpstr>
      <vt:lpstr>Use Cases</vt:lpstr>
      <vt:lpstr>PowerPoint Presentation</vt:lpstr>
      <vt:lpstr>Create an Index</vt:lpstr>
      <vt:lpstr>Specify an Index Name</vt:lpstr>
      <vt:lpstr>PowerPoint Presentation</vt:lpstr>
      <vt:lpstr>PowerPoint Presentation</vt:lpstr>
      <vt:lpstr>Drop an Index</vt:lpstr>
      <vt:lpstr>PowerPoint Presentation</vt:lpstr>
      <vt:lpstr>Index Types</vt:lpstr>
      <vt:lpstr>PowerPoint Presentation</vt:lpstr>
      <vt:lpstr>PowerPoint Presentation</vt:lpstr>
      <vt:lpstr>PowerPoint Presentation</vt:lpstr>
      <vt:lpstr>Create an Index on an Embedded Document</vt:lpstr>
      <vt:lpstr>PowerPoint Presentation</vt:lpstr>
      <vt:lpstr>2. Compound Indexes</vt:lpstr>
      <vt:lpstr>PowerPoint Presentation</vt:lpstr>
      <vt:lpstr>PowerPoint Presentation</vt:lpstr>
      <vt:lpstr>3. Multikey Indexes</vt:lpstr>
      <vt:lpstr>PowerPoint Presentation</vt:lpstr>
      <vt:lpstr>PowerPoint Presentation</vt:lpstr>
      <vt:lpstr>PowerPoint Presentation</vt:lpstr>
      <vt:lpstr>PowerPoint Presentation</vt:lpstr>
      <vt:lpstr>PowerPoint Presentation</vt:lpstr>
      <vt:lpstr>PowerPoint Presentation</vt:lpstr>
      <vt:lpstr>4. Text Indexes</vt:lpstr>
      <vt:lpstr>PowerPoint Presentation</vt:lpstr>
      <vt:lpstr>PowerPoint Presentation</vt:lpstr>
      <vt:lpstr>PowerPoint Presentation</vt:lpstr>
      <vt:lpstr>PowerPoint Presentation</vt:lpstr>
      <vt:lpstr>$text</vt:lpstr>
      <vt:lpstr>PowerPoint Presentation</vt:lpstr>
      <vt:lpstr>PowerPoint Presentation</vt:lpstr>
      <vt:lpstr>PowerPoint Presentation</vt:lpstr>
      <vt:lpstr>PowerPoint Presentation</vt:lpstr>
      <vt:lpstr>5. Hashed Indexes</vt:lpstr>
      <vt:lpstr>Hashed Indexes</vt:lpstr>
      <vt:lpstr>PowerPoint Presentation</vt:lpstr>
      <vt:lpstr>PowerPoint Presentation</vt:lpstr>
      <vt:lpstr>PowerPoint Presentation</vt:lpstr>
      <vt:lpstr>6. Geospatial Indexes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Query for Locations Near a Point on a Sphere</vt:lpstr>
      <vt:lpstr>PowerPoint Presentation</vt:lpstr>
      <vt:lpstr>PowerPoint Presentation</vt:lpstr>
      <vt:lpstr>Covered Query</vt:lpstr>
      <vt:lpstr>PowerPoint Presentation</vt:lpstr>
      <vt:lpstr>Partial Indexes/filtering</vt:lpstr>
      <vt:lpstr>PowerPoint Presentation</vt:lpstr>
      <vt:lpstr>PowerPoint Presentation</vt:lpstr>
    </vt:vector>
  </TitlesOfParts>
  <LinksUpToDate>false</LinksUpToDate>
  <SharedDoc>false</SharedDoc>
  <HyperlinksChanged>false</HyperlinksChanged>
  <Application>Microsoft Office PowerPoint</Application>
  <AppVersion>16.0000</AppVersion>
  <PresentationFormat>On-screen Show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2024-04-07T15:16:38Z</dcterms:created>
  <dc:creator>mandeep kaur</dc:creator>
  <cp:lastModifiedBy>acer</cp:lastModifiedBy>
  <dcterms:modified xsi:type="dcterms:W3CDTF">2026-04-08T07:26:19Z</dcterms:modified>
  <cp:revision>345</cp:revision>
  <dc:title>Indexing</dc:title>
</cp:coreProperties>
</file>