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numCol="1"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numCol="1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9687F-F97C-4DD1-8E6A-F08D7C50E0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63732-C58F-4577-A4C1-03A6295530C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04800" y="300960"/>
            <a:ext cx="8534400" cy="5871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143000"/>
          </a:xfrm>
        </p:spPr>
        <p:txBody>
          <a:bodyPr numCol="1"/>
          <a:lstStyle/>
          <a:p>
            <a:r>
              <a:rPr lang="en-US" b="1" dirty="0" smtClean="0"/>
              <a:t>CRUD Operations</a:t>
            </a:r>
            <a:endParaRPr 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5553075" y="1752600"/>
            <a:ext cx="359092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4800" y="1600200"/>
            <a:ext cx="5410200" cy="4431983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400" b="1" dirty="0" smtClean="0"/>
              <a:t>Create: </a:t>
            </a:r>
            <a:endParaRPr lang="en-US" sz="2400" b="1" dirty="0" smtClean="0"/>
          </a:p>
          <a:p>
            <a:r>
              <a:rPr lang="en-US" sz="2400" dirty="0" smtClean="0"/>
              <a:t>Adding new documents to the collection.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Read: </a:t>
            </a:r>
            <a:endParaRPr lang="en-US" sz="2400" b="1" dirty="0" smtClean="0"/>
          </a:p>
          <a:p>
            <a:r>
              <a:rPr lang="en-US" sz="2400" dirty="0" smtClean="0"/>
              <a:t>Retrieving documents from collection.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Update: </a:t>
            </a:r>
            <a:endParaRPr lang="en-US" sz="2400" b="1" dirty="0" smtClean="0"/>
          </a:p>
          <a:p>
            <a:r>
              <a:rPr lang="en-US" sz="2400" dirty="0" smtClean="0"/>
              <a:t>Updating documents in collection.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Delete: </a:t>
            </a:r>
            <a:endParaRPr lang="en-US" sz="2400" b="1" dirty="0" smtClean="0"/>
          </a:p>
          <a:p>
            <a:r>
              <a:rPr lang="en-US" sz="2400" dirty="0" smtClean="0"/>
              <a:t>Removing documents from collection.</a:t>
            </a: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 numCol="1"/>
          <a:lstStyle/>
          <a:p>
            <a:r>
              <a:rPr lang="en-US" dirty="0" smtClean="0"/>
              <a:t>Create Operation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143000" y="1600200"/>
            <a:ext cx="6863514" cy="371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Insert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86400"/>
          </a:xfrm>
        </p:spPr>
        <p:txBody>
          <a:bodyPr numCol="1">
            <a:normAutofit fontScale="92500" lnSpcReduction="20000"/>
          </a:bodyPr>
          <a:lstStyle/>
          <a:p>
            <a:pPr algn="just"/>
            <a:r>
              <a:rPr lang="en-US" dirty="0" smtClean="0"/>
              <a:t>Insert can be used to insert single or multiple documents.</a:t>
            </a:r>
            <a:endParaRPr lang="en-US" dirty="0" smtClean="0"/>
          </a:p>
          <a:p>
            <a:pPr algn="just"/>
            <a:r>
              <a:rPr lang="en-US" dirty="0" smtClean="0"/>
              <a:t>Each document stored in a collection required a unique _id field that act as primary key.</a:t>
            </a:r>
            <a:endParaRPr lang="en-US" dirty="0" smtClean="0"/>
          </a:p>
          <a:p>
            <a:pPr algn="just"/>
            <a:r>
              <a:rPr lang="en-US" dirty="0" smtClean="0"/>
              <a:t>Example: 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db.users.insert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({“name”: “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abc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”})</a:t>
            </a:r>
            <a:endParaRPr lang="en-US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db.users.insert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({“name”: “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abc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”, “email”: “abc@gmail.com”})</a:t>
            </a:r>
            <a:endParaRPr lang="en-US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dirty="0" smtClean="0"/>
              <a:t>Insert can also be used to insert multiple documents.</a:t>
            </a:r>
            <a:endParaRPr lang="en-US" dirty="0" smtClean="0"/>
          </a:p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db.users.insert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([{“name”: “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abc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”, “email”: “abc@gmail.com”},          {“name”: “xyz”, “email”: “xyz@gmail.com”}, ……. ])</a:t>
            </a:r>
            <a:endParaRPr lang="en-US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 numCol="1">
            <a:normAutofit/>
          </a:bodyPr>
          <a:lstStyle/>
          <a:p>
            <a:r>
              <a:rPr lang="en-US" dirty="0" smtClean="0"/>
              <a:t> </a:t>
            </a:r>
            <a:r>
              <a:rPr lang="en-US" b="1" dirty="0" smtClean="0"/>
              <a:t>The _id Field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</p:spPr>
        <p:txBody>
          <a:bodyPr numCol="1"/>
          <a:lstStyle/>
          <a:p>
            <a:pPr algn="just"/>
            <a:r>
              <a:rPr lang="en-US" dirty="0" smtClean="0"/>
              <a:t>The _id field is assigned to each document as a unique identifier.</a:t>
            </a:r>
            <a:endParaRPr lang="en-US" dirty="0" smtClean="0"/>
          </a:p>
          <a:p>
            <a:pPr algn="just"/>
            <a:r>
              <a:rPr lang="en-US" dirty="0" smtClean="0"/>
              <a:t>By default when inserting a new document into a collection, if you don’t specify an _id field, then </a:t>
            </a:r>
            <a:r>
              <a:rPr lang="en-US" dirty="0" err="1" smtClean="0"/>
              <a:t>MongoDB</a:t>
            </a:r>
            <a:r>
              <a:rPr lang="en-US" dirty="0" smtClean="0"/>
              <a:t> will automatically generate a unique Object Id and assign it as the value for that document’s _id field.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429000" y="4343400"/>
            <a:ext cx="412432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 numCol="1">
            <a:normAutofit/>
          </a:bodyPr>
          <a:lstStyle/>
          <a:p>
            <a:r>
              <a:rPr lang="en-US" dirty="0" smtClean="0"/>
              <a:t> </a:t>
            </a:r>
            <a:r>
              <a:rPr lang="en-US" b="1" dirty="0"/>
              <a:t>Create Operation: .</a:t>
            </a:r>
            <a:r>
              <a:rPr lang="en-US" b="1" dirty="0" err="1"/>
              <a:t>insertOne</a:t>
            </a:r>
            <a:r>
              <a:rPr lang="en-US" b="1" dirty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 numCol="1"/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.</a:t>
            </a:r>
            <a:r>
              <a:rPr lang="en-US" dirty="0" err="1"/>
              <a:t>insertOne</a:t>
            </a:r>
            <a:r>
              <a:rPr lang="en-US" dirty="0"/>
              <a:t>() method inserts a document into </a:t>
            </a:r>
            <a:r>
              <a:rPr lang="en-US" dirty="0" smtClean="0"/>
              <a:t>a collection</a:t>
            </a:r>
            <a:r>
              <a:rPr lang="en-US" dirty="0"/>
              <a:t>. It requires a single parameter, the </a:t>
            </a:r>
            <a:r>
              <a:rPr lang="en-US" dirty="0" smtClean="0"/>
              <a:t>document to </a:t>
            </a:r>
            <a:r>
              <a:rPr lang="en-US" dirty="0"/>
              <a:t>be inserted</a:t>
            </a:r>
            <a:r>
              <a:rPr lang="en-US" dirty="0" smtClean="0"/>
              <a:t>.</a:t>
            </a:r>
            <a:endParaRPr lang="en-US" dirty="0" smtClean="0"/>
          </a:p>
          <a:p>
            <a:pPr algn="just"/>
            <a:r>
              <a:rPr lang="en-US" dirty="0" smtClean="0"/>
              <a:t>Adds a single document in the collection.</a:t>
            </a:r>
            <a:endParaRPr lang="en-US" dirty="0" smtClean="0"/>
          </a:p>
          <a:p>
            <a:r>
              <a:rPr lang="en-US" dirty="0" smtClean="0"/>
              <a:t>Syntax:</a:t>
            </a:r>
            <a:r>
              <a:rPr lang="en-US" dirty="0"/>
              <a:t> 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db.&lt;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collection_name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&gt;.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insertOne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({“field”: “value”})</a:t>
            </a:r>
            <a:endParaRPr lang="en-US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57200" y="4495800"/>
            <a:ext cx="822007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 numCol="1"/>
          <a:lstStyle/>
          <a:p>
            <a:r>
              <a:rPr lang="en-US" b="1" dirty="0" smtClean="0"/>
              <a:t>Create Operation: .</a:t>
            </a:r>
            <a:r>
              <a:rPr lang="en-US" b="1" dirty="0" err="1" smtClean="0"/>
              <a:t>insertMany</a:t>
            </a:r>
            <a:r>
              <a:rPr lang="en-US" b="1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 numCol="1">
            <a:normAutofit fontScale="92500"/>
          </a:bodyPr>
          <a:lstStyle/>
          <a:p>
            <a:pPr algn="just"/>
            <a:r>
              <a:rPr lang="en-US" dirty="0" smtClean="0"/>
              <a:t>The .</a:t>
            </a:r>
            <a:r>
              <a:rPr lang="en-US" dirty="0" err="1" smtClean="0"/>
              <a:t>insertMany</a:t>
            </a:r>
            <a:r>
              <a:rPr lang="en-US" dirty="0" smtClean="0"/>
              <a:t>() method inserts multiple documents into a collection.</a:t>
            </a:r>
            <a:endParaRPr lang="en-US" dirty="0" smtClean="0"/>
          </a:p>
          <a:p>
            <a:pPr algn="just"/>
            <a:r>
              <a:rPr lang="en-US" dirty="0" smtClean="0"/>
              <a:t>An array of multiple documents is passed through </a:t>
            </a:r>
            <a:r>
              <a:rPr lang="en-US" dirty="0" err="1" smtClean="0"/>
              <a:t>insertMany</a:t>
            </a:r>
            <a:r>
              <a:rPr lang="en-US" dirty="0" smtClean="0"/>
              <a:t>() method.</a:t>
            </a:r>
            <a:endParaRPr lang="en-US" dirty="0" smtClean="0"/>
          </a:p>
          <a:p>
            <a:r>
              <a:rPr lang="en-US" dirty="0" smtClean="0"/>
              <a:t>Syntax: 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db.first_collection.insertMany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([{“field”: “value”}])</a:t>
            </a:r>
            <a:endParaRPr lang="en-US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dirty="0" smtClean="0"/>
              <a:t>If the specified collection does not exist, it will create the collection and insert the given documents upon successful execution of the command.</a:t>
            </a:r>
            <a:endParaRPr lang="en-US" dirty="0" smtClean="0"/>
          </a:p>
          <a:p>
            <a:pPr algn="just"/>
            <a:r>
              <a:rPr lang="en-US" dirty="0" smtClean="0"/>
              <a:t>Both </a:t>
            </a:r>
            <a:r>
              <a:rPr lang="en-US" dirty="0" err="1" smtClean="0"/>
              <a:t>insertOne</a:t>
            </a:r>
            <a:r>
              <a:rPr lang="en-US" dirty="0" smtClean="0"/>
              <a:t>() and </a:t>
            </a:r>
            <a:r>
              <a:rPr lang="en-US" dirty="0" err="1" smtClean="0"/>
              <a:t>insertMany</a:t>
            </a:r>
            <a:r>
              <a:rPr lang="en-US" dirty="0" smtClean="0"/>
              <a:t>() would return newly inserted documents with _id field.</a:t>
            </a:r>
            <a:endParaRPr lang="en-US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066800" y="337380"/>
            <a:ext cx="6934200" cy="6116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 numCol="1">
            <a:normAutofit/>
          </a:bodyPr>
          <a:lstStyle/>
          <a:p>
            <a:r>
              <a:rPr lang="en-US" dirty="0" smtClean="0"/>
              <a:t>Update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638800"/>
          </a:xfrm>
        </p:spPr>
        <p:txBody>
          <a:bodyPr numCol="1">
            <a:normAutofit fontScale="92500" lnSpcReduction="10000"/>
          </a:bodyPr>
          <a:lstStyle/>
          <a:p>
            <a:pPr algn="just"/>
            <a:r>
              <a:rPr lang="en-US" dirty="0" smtClean="0"/>
              <a:t>Modify created documents in the collection.</a:t>
            </a:r>
            <a:endParaRPr lang="en-US" dirty="0" smtClean="0"/>
          </a:p>
          <a:p>
            <a:pPr algn="just"/>
            <a:r>
              <a:rPr lang="en-US" dirty="0" smtClean="0"/>
              <a:t>These operations update a single collection at a time.</a:t>
            </a:r>
            <a:endParaRPr lang="en-US" dirty="0" smtClean="0"/>
          </a:p>
          <a:p>
            <a:pPr algn="just"/>
            <a:r>
              <a:rPr lang="en-US" dirty="0" smtClean="0"/>
              <a:t>Criteria or filters can be specified identifying the documents that are to be updated.</a:t>
            </a:r>
            <a:endParaRPr lang="en-US" dirty="0" smtClean="0"/>
          </a:p>
          <a:p>
            <a:pPr algn="just"/>
            <a:r>
              <a:rPr lang="en-US" dirty="0" err="1" smtClean="0"/>
              <a:t>MongoDB</a:t>
            </a:r>
            <a:r>
              <a:rPr lang="en-US" dirty="0" smtClean="0"/>
              <a:t> offers the following methods for updating documents:</a:t>
            </a:r>
            <a:endParaRPr lang="en-US" dirty="0" smtClean="0"/>
          </a:p>
          <a:p>
            <a:pPr algn="just"/>
            <a:r>
              <a:rPr lang="en-US" dirty="0" err="1" smtClean="0"/>
              <a:t>updateOne</a:t>
            </a:r>
            <a:r>
              <a:rPr lang="en-US" dirty="0" smtClean="0"/>
              <a:t>()</a:t>
            </a:r>
            <a:endParaRPr lang="en-US" dirty="0" smtClean="0"/>
          </a:p>
          <a:p>
            <a:pPr algn="just"/>
            <a:r>
              <a:rPr lang="en-US" dirty="0" err="1" smtClean="0"/>
              <a:t>updateMany</a:t>
            </a:r>
            <a:r>
              <a:rPr lang="en-US" dirty="0" smtClean="0"/>
              <a:t>()</a:t>
            </a:r>
            <a:endParaRPr lang="en-US" dirty="0" smtClean="0"/>
          </a:p>
          <a:p>
            <a:pPr algn="just"/>
            <a:r>
              <a:rPr lang="en-US" dirty="0" err="1" smtClean="0"/>
              <a:t>replaceOne</a:t>
            </a:r>
            <a:r>
              <a:rPr lang="en-US" dirty="0" smtClean="0"/>
              <a:t>()</a:t>
            </a:r>
            <a:endParaRPr lang="en-US" dirty="0" smtClean="0"/>
          </a:p>
          <a:p>
            <a:pPr algn="just"/>
            <a:r>
              <a:rPr lang="en-US" dirty="0" smtClean="0"/>
              <a:t>To update the entire collection with a field value, pass an empty filter {} in place of {&lt;document&gt;}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495800" y="3810000"/>
            <a:ext cx="3085465" cy="172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Update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763000" cy="6019800"/>
          </a:xfrm>
        </p:spPr>
        <p:txBody>
          <a:bodyPr numCol="1">
            <a:normAutofit/>
          </a:bodyPr>
          <a:lstStyle/>
          <a:p>
            <a:pPr algn="just"/>
            <a:r>
              <a:rPr lang="en-US" sz="2400" dirty="0" smtClean="0"/>
              <a:t>To update a document,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has many in-built update operators. These operators are to be used for passing the updated form of the document to the update methods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838200" y="1828800"/>
            <a:ext cx="7467600" cy="3435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 numCol="1"/>
          <a:lstStyle/>
          <a:p>
            <a:r>
              <a:rPr lang="en-US" dirty="0" err="1" smtClean="0"/>
              <a:t>updateOne</a:t>
            </a:r>
            <a:r>
              <a:rPr lang="en-US" dirty="0" smtClean="0"/>
              <a:t>() and </a:t>
            </a:r>
            <a:r>
              <a:rPr lang="en-US" dirty="0" err="1" smtClean="0"/>
              <a:t>updateMany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 numCol="1">
            <a:normAutofit/>
          </a:bodyPr>
          <a:lstStyle/>
          <a:p>
            <a:pPr algn="just"/>
            <a:r>
              <a:rPr lang="en-US" dirty="0" smtClean="0"/>
              <a:t>The .</a:t>
            </a:r>
            <a:r>
              <a:rPr lang="en-US" dirty="0" err="1" smtClean="0"/>
              <a:t>updateOne</a:t>
            </a:r>
            <a:r>
              <a:rPr lang="en-US" dirty="0" smtClean="0"/>
              <a:t>() method updates a single document that satisfies a given filter. </a:t>
            </a:r>
            <a:endParaRPr lang="en-US" dirty="0" smtClean="0"/>
          </a:p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db.users.updateOne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 { name: “Bob"}, { $set: { course: “CSE"}, $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currentDate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: {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lastModified:true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} })</a:t>
            </a:r>
            <a:endParaRPr lang="en-US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dirty="0" smtClean="0"/>
              <a:t>The .</a:t>
            </a:r>
            <a:r>
              <a:rPr lang="en-US" dirty="0" err="1" smtClean="0"/>
              <a:t>updateMany</a:t>
            </a:r>
            <a:r>
              <a:rPr lang="en-US" dirty="0" smtClean="0"/>
              <a:t>() method updates all documents that satisfy a specific filter criteria.</a:t>
            </a:r>
            <a:endParaRPr lang="en-US" dirty="0" smtClean="0"/>
          </a:p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db.employees.updateMany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({ salary: 70000 }, { $set: { salary: 85000 }})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 numCol="1"/>
          <a:lstStyle/>
          <a:p>
            <a:r>
              <a:rPr lang="en-US" dirty="0" err="1" smtClean="0"/>
              <a:t>replaceOne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638800"/>
          </a:xfrm>
        </p:spPr>
        <p:txBody>
          <a:bodyPr numCol="1"/>
          <a:lstStyle/>
          <a:p>
            <a:pPr algn="just"/>
            <a:r>
              <a:rPr lang="en-US" dirty="0" smtClean="0"/>
              <a:t>The .</a:t>
            </a:r>
            <a:r>
              <a:rPr lang="en-US" dirty="0" err="1" smtClean="0"/>
              <a:t>replaceOne</a:t>
            </a:r>
            <a:r>
              <a:rPr lang="en-US" dirty="0" smtClean="0"/>
              <a:t>() method replaces a single document within the collection based on filter criteria.</a:t>
            </a:r>
            <a:endParaRPr lang="en-US" dirty="0" smtClean="0"/>
          </a:p>
          <a:p>
            <a:pPr algn="just"/>
            <a:r>
              <a:rPr lang="en-US" dirty="0" smtClean="0"/>
              <a:t>Will replace the first whole document which contains the specified field value.</a:t>
            </a:r>
            <a:endParaRPr lang="en-US" dirty="0" smtClean="0"/>
          </a:p>
          <a:p>
            <a:pPr algn="just"/>
            <a:r>
              <a:rPr lang="en-US" dirty="0" smtClean="0"/>
              <a:t>We cannot change the _id value using </a:t>
            </a:r>
            <a:r>
              <a:rPr lang="en-US" dirty="0" err="1" smtClean="0"/>
              <a:t>replaceOne</a:t>
            </a:r>
            <a:r>
              <a:rPr lang="en-US" dirty="0" smtClean="0"/>
              <a:t>()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124200" y="4114800"/>
            <a:ext cx="58293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 numCol="1"/>
          <a:lstStyle/>
          <a:p>
            <a:r>
              <a:rPr lang="en-US" dirty="0" smtClean="0"/>
              <a:t>Delete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763000" cy="5943600"/>
          </a:xfrm>
        </p:spPr>
        <p:txBody>
          <a:bodyPr numCol="1">
            <a:normAutofit lnSpcReduction="10000"/>
          </a:bodyPr>
          <a:lstStyle/>
          <a:p>
            <a:pPr algn="just"/>
            <a:r>
              <a:rPr lang="en-US" sz="2800" dirty="0" smtClean="0"/>
              <a:t>Removes the specified documents from the collection.</a:t>
            </a:r>
            <a:endParaRPr lang="en-US" sz="2800" dirty="0" smtClean="0"/>
          </a:p>
          <a:p>
            <a:pPr algn="just"/>
            <a:r>
              <a:rPr lang="en-US" sz="2800" dirty="0" smtClean="0"/>
              <a:t>These operations delete documents in a single collection at a time.</a:t>
            </a:r>
            <a:endParaRPr lang="en-US" sz="2800" dirty="0" smtClean="0"/>
          </a:p>
          <a:p>
            <a:pPr algn="just"/>
            <a:r>
              <a:rPr lang="en-US" sz="2800" dirty="0" smtClean="0"/>
              <a:t>The </a:t>
            </a:r>
            <a:r>
              <a:rPr lang="en-US" sz="2800" dirty="0" err="1" smtClean="0"/>
              <a:t>deleteOne</a:t>
            </a:r>
            <a:r>
              <a:rPr lang="en-US" sz="2800" dirty="0" smtClean="0"/>
              <a:t>() method removes a single document from a collection. It has a single required parameter which is a filter criteria to match a specific document to delete.</a:t>
            </a:r>
            <a:endParaRPr lang="en-US" sz="2800" dirty="0" smtClean="0"/>
          </a:p>
          <a:p>
            <a:pPr algn="just"/>
            <a:r>
              <a:rPr lang="en-US" sz="28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db.courses.deleteOne</a:t>
            </a:r>
            <a:r>
              <a:rPr lang="en-US" sz="28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({module: “java”})</a:t>
            </a:r>
            <a:endParaRPr lang="en-US" sz="28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sz="2800" dirty="0" smtClean="0"/>
              <a:t>The .</a:t>
            </a:r>
            <a:r>
              <a:rPr lang="en-US" sz="2800" dirty="0" err="1" smtClean="0"/>
              <a:t>deleteMany</a:t>
            </a:r>
            <a:r>
              <a:rPr lang="en-US" sz="2800" dirty="0" smtClean="0"/>
              <a:t>() method removes all documents that match a given filter criteria. It takes in a single required parameter, the filter criteria to match multiple documents.</a:t>
            </a:r>
            <a:endParaRPr lang="en-US" sz="2800" dirty="0" smtClean="0"/>
          </a:p>
          <a:p>
            <a:pPr algn="just"/>
            <a:r>
              <a:rPr lang="en-US" sz="28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db.courses.deleteMany</a:t>
            </a:r>
            <a:r>
              <a:rPr lang="en-US" sz="28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({module: “java”})</a:t>
            </a:r>
            <a:endParaRPr lang="en-US" sz="28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08038"/>
          </a:xfrm>
        </p:spPr>
        <p:txBody>
          <a:bodyPr numCol="1"/>
          <a:lstStyle/>
          <a:p>
            <a:r>
              <a:rPr lang="en-US" dirty="0" smtClean="0"/>
              <a:t>Read/Query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943600"/>
          </a:xfrm>
        </p:spPr>
        <p:txBody>
          <a:bodyPr numCol="1">
            <a:normAutofit fontScale="92500" lnSpcReduction="20000"/>
          </a:bodyPr>
          <a:lstStyle/>
          <a:p>
            <a:pPr algn="just"/>
            <a:r>
              <a:rPr lang="en-US" dirty="0" smtClean="0"/>
              <a:t>Read through documents and retrieve the specified document(s) from a Collection by querying the collection for documents.</a:t>
            </a:r>
            <a:endParaRPr lang="en-US" dirty="0" smtClean="0"/>
          </a:p>
          <a:p>
            <a:pPr algn="just"/>
            <a:r>
              <a:rPr lang="en-US" dirty="0" err="1" smtClean="0"/>
              <a:t>MongoDB</a:t>
            </a:r>
            <a:r>
              <a:rPr lang="en-US" dirty="0" smtClean="0"/>
              <a:t>  provides </a:t>
            </a:r>
            <a:r>
              <a:rPr lang="en-US" b="1" dirty="0" smtClean="0"/>
              <a:t>find() </a:t>
            </a:r>
            <a:r>
              <a:rPr lang="en-US" dirty="0" smtClean="0"/>
              <a:t>method to read and retrieve documents from collection.</a:t>
            </a:r>
            <a:endParaRPr lang="en-US" dirty="0" smtClean="0"/>
          </a:p>
          <a:p>
            <a:r>
              <a:rPr lang="en-US" dirty="0" smtClean="0"/>
              <a:t>Syntax: </a:t>
            </a:r>
            <a:r>
              <a:rPr lang="en-US" b="1" dirty="0" smtClean="0"/>
              <a:t>db.&lt;</a:t>
            </a:r>
            <a:r>
              <a:rPr lang="en-US" b="1" dirty="0" err="1" smtClean="0"/>
              <a:t>collection_name</a:t>
            </a:r>
            <a:r>
              <a:rPr lang="en-US" b="1" dirty="0" smtClean="0"/>
              <a:t>&gt;.find({field: “value”})</a:t>
            </a:r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pPr algn="just"/>
            <a:r>
              <a:rPr lang="en-US" dirty="0" smtClean="0"/>
              <a:t>Query filters could also be specified to retrieve multiple documents from a large Collection using a single or multiple filters.</a:t>
            </a:r>
            <a:endParaRPr lang="en-US" dirty="0" smtClean="0"/>
          </a:p>
          <a:p>
            <a:pPr algn="just"/>
            <a:r>
              <a:rPr lang="en-US" dirty="0" smtClean="0"/>
              <a:t>The db.collection.findOne() method also performs a read operation to return a single document.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0" y="373380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8991600" cy="6553200"/>
          </a:xfrm>
        </p:spPr>
        <p:txBody>
          <a:bodyPr numCol="1">
            <a:normAutofit/>
          </a:bodyPr>
          <a:lstStyle/>
          <a:p>
            <a:pPr algn="just"/>
            <a:r>
              <a:rPr lang="en-US" b="1" i="1" u="sng" dirty="0" smtClean="0"/>
              <a:t>Select All Documents in a Collection:</a:t>
            </a:r>
            <a:r>
              <a:rPr lang="en-US" b="1" i="1" dirty="0" smtClean="0"/>
              <a:t> </a:t>
            </a:r>
            <a:r>
              <a:rPr lang="en-US" dirty="0" smtClean="0"/>
              <a:t>An empty query document ({}) selects all documents in the collection: </a:t>
            </a:r>
            <a:r>
              <a:rPr lang="en-US" b="1" dirty="0" err="1" smtClean="0"/>
              <a:t>db.inventory.find</a:t>
            </a:r>
            <a:r>
              <a:rPr lang="en-US" b="1" dirty="0" smtClean="0"/>
              <a:t>( {} )</a:t>
            </a:r>
            <a:endParaRPr lang="en-US" b="1" dirty="0" smtClean="0"/>
          </a:p>
          <a:p>
            <a:pPr algn="just"/>
            <a:r>
              <a:rPr lang="en-US" dirty="0" smtClean="0"/>
              <a:t>Not specifying a query document to the find() is equivalent to specifying an empty query document. </a:t>
            </a:r>
            <a:r>
              <a:rPr lang="en-US" b="1" dirty="0" err="1" smtClean="0"/>
              <a:t>db.inventory.find</a:t>
            </a:r>
            <a:r>
              <a:rPr lang="en-US" b="1" dirty="0" smtClean="0"/>
              <a:t>()</a:t>
            </a:r>
            <a:endParaRPr lang="en-US" b="1" dirty="0" smtClean="0"/>
          </a:p>
          <a:p>
            <a:pPr algn="just"/>
            <a:r>
              <a:rPr lang="en-US" b="1" i="1" u="sng" dirty="0" smtClean="0"/>
              <a:t>Specify Equality Condition</a:t>
            </a:r>
            <a:r>
              <a:rPr lang="en-US" b="1" i="1" dirty="0" smtClean="0"/>
              <a:t>: </a:t>
            </a:r>
            <a:endParaRPr lang="en-US" b="1" i="1" dirty="0" smtClean="0"/>
          </a:p>
          <a:p>
            <a:pPr algn="just"/>
            <a:r>
              <a:rPr lang="en-US" dirty="0" smtClean="0"/>
              <a:t>To specify equality condition, use the query document { &lt;field&gt;: &lt;value&gt; } to select all documents that contain the &lt;field&gt; with the specified &lt;value&gt;.</a:t>
            </a:r>
            <a:endParaRPr lang="en-US" dirty="0" smtClean="0"/>
          </a:p>
          <a:p>
            <a:pPr algn="just"/>
            <a:r>
              <a:rPr lang="en-US" b="1" dirty="0" err="1" smtClean="0"/>
              <a:t>db.inventory.find</a:t>
            </a:r>
            <a:r>
              <a:rPr lang="en-US" b="1" dirty="0" smtClean="0"/>
              <a:t>( { type: "snacks" } )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Specify Conditions Using Query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8991600" cy="6096000"/>
          </a:xfrm>
        </p:spPr>
        <p:txBody>
          <a:bodyPr numCol="1">
            <a:normAutofit fontScale="85000" lnSpcReduction="20000"/>
          </a:bodyPr>
          <a:lstStyle/>
          <a:p>
            <a:pPr algn="just"/>
            <a:r>
              <a:rPr lang="en-US" dirty="0" smtClean="0"/>
              <a:t>A query to retrieve a specific document can be created using many operators provided by </a:t>
            </a:r>
            <a:r>
              <a:rPr lang="en-US" dirty="0" err="1" smtClean="0"/>
              <a:t>MongoDB</a:t>
            </a:r>
            <a:r>
              <a:rPr lang="en-US" dirty="0" smtClean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For example: using the operator </a:t>
            </a:r>
            <a:r>
              <a:rPr lang="en-US" b="1" dirty="0" smtClean="0"/>
              <a:t>$in</a:t>
            </a:r>
            <a:r>
              <a:rPr lang="en-US" dirty="0" smtClean="0"/>
              <a:t>, can retrieves all documents in the particular Collection where the field equals the specified value or either of the multiple specified values.</a:t>
            </a:r>
            <a:endParaRPr lang="en-US" dirty="0" smtClean="0"/>
          </a:p>
          <a:p>
            <a:pPr algn="just"/>
            <a:r>
              <a:rPr lang="en-US" dirty="0" smtClean="0"/>
              <a:t>By default, when only one value is specified and we do not indicate the operator, </a:t>
            </a:r>
            <a:r>
              <a:rPr lang="en-US" dirty="0" err="1" smtClean="0"/>
              <a:t>MongoDB</a:t>
            </a:r>
            <a:r>
              <a:rPr lang="en-US" dirty="0" smtClean="0"/>
              <a:t> uses the operator </a:t>
            </a:r>
            <a:r>
              <a:rPr lang="en-US" b="1" dirty="0" smtClean="0"/>
              <a:t>$in</a:t>
            </a:r>
            <a:r>
              <a:rPr lang="en-US" dirty="0" smtClean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For example:</a:t>
            </a: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    db.&lt;</a:t>
            </a:r>
            <a:r>
              <a:rPr lang="en-US" b="1" dirty="0" err="1" smtClean="0"/>
              <a:t>collection_name</a:t>
            </a:r>
            <a:r>
              <a:rPr lang="en-US" b="1" dirty="0" smtClean="0"/>
              <a:t>&gt;.find({field: {$in: “value”}}) </a:t>
            </a:r>
            <a:r>
              <a:rPr lang="en-US" dirty="0" smtClean="0"/>
              <a:t>is equivalent to </a:t>
            </a:r>
            <a:r>
              <a:rPr lang="en-US" b="1" dirty="0" smtClean="0"/>
              <a:t>db.&lt;</a:t>
            </a:r>
            <a:r>
              <a:rPr lang="en-US" b="1" dirty="0" err="1" smtClean="0"/>
              <a:t>collection_name</a:t>
            </a:r>
            <a:r>
              <a:rPr lang="en-US" b="1" dirty="0" smtClean="0"/>
              <a:t>&gt;.find({field: “value”})</a:t>
            </a:r>
            <a:endParaRPr lang="en-US" b="1" dirty="0" smtClean="0"/>
          </a:p>
          <a:p>
            <a:pPr algn="just"/>
            <a:r>
              <a:rPr lang="en-US" dirty="0" smtClean="0"/>
              <a:t>Syntax for querying documents having values equal to either of the specified multiple value:</a:t>
            </a:r>
            <a:endParaRPr lang="en-US" dirty="0" smtClean="0"/>
          </a:p>
          <a:p>
            <a:pPr algn="just"/>
            <a:r>
              <a:rPr lang="en-US" b="1" dirty="0" smtClean="0"/>
              <a:t>db.&lt;</a:t>
            </a:r>
            <a:r>
              <a:rPr lang="en-US" b="1" dirty="0" err="1" smtClean="0"/>
              <a:t>collection_name</a:t>
            </a:r>
            <a:r>
              <a:rPr lang="en-US" b="1" dirty="0" smtClean="0"/>
              <a:t>&gt;.find({field: {$in: [“value1”, “value2”]}})</a:t>
            </a:r>
            <a:endParaRPr lang="en-US" b="1" dirty="0" smtClean="0"/>
          </a:p>
          <a:p>
            <a:pPr algn="just"/>
            <a:r>
              <a:rPr lang="en-US" dirty="0" err="1" smtClean="0"/>
              <a:t>db.courses.find</a:t>
            </a:r>
            <a:r>
              <a:rPr lang="en-US" dirty="0" smtClean="0"/>
              <a:t>({module: { $in: [“JavaScript”, “</a:t>
            </a:r>
            <a:r>
              <a:rPr lang="en-US" dirty="0" err="1" smtClean="0"/>
              <a:t>MongoDB</a:t>
            </a:r>
            <a:r>
              <a:rPr lang="en-US" dirty="0" smtClean="0"/>
              <a:t>”]}})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numCol="1">
            <a:noAutofit/>
          </a:bodyPr>
          <a:lstStyle/>
          <a:p>
            <a:r>
              <a:rPr lang="en-US" sz="6000" b="1" dirty="0" smtClean="0"/>
              <a:t>SQL to </a:t>
            </a:r>
            <a:r>
              <a:rPr lang="en-US" sz="6000" b="1" dirty="0" err="1" smtClean="0"/>
              <a:t>MongoDB</a:t>
            </a:r>
            <a:r>
              <a:rPr lang="en-US" sz="6000" b="1" dirty="0" smtClean="0"/>
              <a:t> Mapping</a:t>
            </a:r>
            <a:endParaRPr lang="en-US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 numCol="1">
            <a:normAutofit/>
          </a:bodyPr>
          <a:lstStyle/>
          <a:p>
            <a:r>
              <a:rPr lang="en-US" dirty="0" smtClean="0"/>
              <a:t>Create and drop operation  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8600" y="914400"/>
            <a:ext cx="8657529" cy="390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38200" y="5486400"/>
            <a:ext cx="75628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8038"/>
          </a:xfrm>
        </p:spPr>
        <p:txBody>
          <a:bodyPr numCol="1"/>
          <a:lstStyle/>
          <a:p>
            <a:r>
              <a:rPr lang="en-US" dirty="0" smtClean="0"/>
              <a:t>Alter Operation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81000" y="762000"/>
            <a:ext cx="8077200" cy="5951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 numCol="1">
            <a:normAutofit/>
          </a:bodyPr>
          <a:lstStyle/>
          <a:p>
            <a:r>
              <a:rPr lang="en-US" dirty="0" smtClean="0"/>
              <a:t>Insert and update operation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57200" y="762000"/>
            <a:ext cx="8292861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33400" y="3048000"/>
            <a:ext cx="7772400" cy="3652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31838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Select operation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524000" y="1066800"/>
            <a:ext cx="583882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2590800"/>
            <a:ext cx="5581650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524000" y="3962400"/>
            <a:ext cx="634365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838200" y="5257800"/>
            <a:ext cx="8148637" cy="1452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600200" y="152400"/>
            <a:ext cx="584835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2209800"/>
            <a:ext cx="59531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816340" cy="6351270"/>
          </a:xfrm>
        </p:spPr>
        <p:txBody>
          <a:bodyPr numCol="1">
            <a:normAutofit fontScale="52500" lnSpcReduction="20000"/>
          </a:bodyPr>
          <a:lstStyle/>
          <a:p>
            <a:pPr algn="just">
              <a:buNone/>
            </a:pPr>
            <a:r>
              <a:rPr lang="en-US" sz="3800" b="1" u="sng" dirty="0" smtClean="0"/>
              <a:t>Drop: </a:t>
            </a:r>
            <a:r>
              <a:rPr lang="en-US" sz="3800" dirty="0" smtClean="0"/>
              <a:t>db.collection.drop()Removes a collection from the database. The method also removes any indexes associated with the dropped collection.</a:t>
            </a:r>
            <a:endParaRPr lang="en-US" sz="3800" dirty="0" smtClean="0"/>
          </a:p>
          <a:p>
            <a:pPr algn="just"/>
            <a:r>
              <a:rPr lang="en-US" sz="3800" dirty="0" smtClean="0"/>
              <a:t>It takes no arguments and will produce an error if called with any arguments. Returns: </a:t>
            </a:r>
            <a:r>
              <a:rPr lang="en-US" sz="3800" b="1" dirty="0" smtClean="0"/>
              <a:t>true</a:t>
            </a:r>
            <a:r>
              <a:rPr lang="en-US" sz="3800" dirty="0" smtClean="0"/>
              <a:t>, when successfully drops a collection and </a:t>
            </a:r>
            <a:r>
              <a:rPr lang="en-US" sz="3800" b="1" dirty="0" smtClean="0"/>
              <a:t>false</a:t>
            </a:r>
            <a:r>
              <a:rPr lang="en-US" sz="3800" dirty="0" smtClean="0"/>
              <a:t> when collection to drop does not exist.</a:t>
            </a:r>
            <a:endParaRPr lang="en-US" sz="3800" dirty="0" smtClean="0"/>
          </a:p>
          <a:p>
            <a:pPr algn="just"/>
            <a:r>
              <a:rPr lang="en-US" sz="3800" i="1" dirty="0" smtClean="0"/>
              <a:t>To remove all documents from a collection, it may be more efficient to use the drop() method to drop the entire collection, including the indexes and then recreate the collection and rebuild the indexes.</a:t>
            </a:r>
            <a:endParaRPr lang="en-US" sz="3800" i="1" dirty="0" smtClean="0"/>
          </a:p>
          <a:p>
            <a:pPr algn="just"/>
            <a:endParaRPr lang="en-US" sz="3800" i="1" dirty="0" smtClean="0"/>
          </a:p>
          <a:p>
            <a:pPr algn="just">
              <a:buNone/>
            </a:pPr>
            <a:r>
              <a:rPr lang="en-US" sz="3800" b="1" u="sng" dirty="0" smtClean="0"/>
              <a:t>Delete: </a:t>
            </a:r>
            <a:endParaRPr lang="en-US" sz="3800" b="1" u="sng" dirty="0" smtClean="0"/>
          </a:p>
          <a:p>
            <a:pPr algn="just"/>
            <a:r>
              <a:rPr lang="en-US" sz="3800" dirty="0" smtClean="0"/>
              <a:t>To delete multiple documents, use db.collection.deleteMany().</a:t>
            </a:r>
            <a:endParaRPr lang="en-US" sz="3800" dirty="0" smtClean="0"/>
          </a:p>
          <a:p>
            <a:pPr algn="just"/>
            <a:r>
              <a:rPr lang="en-US" sz="3800" dirty="0" smtClean="0"/>
              <a:t>To delete a single document, use db.collection.deleteOne().</a:t>
            </a:r>
            <a:endParaRPr lang="en-US" sz="3800" dirty="0" smtClean="0"/>
          </a:p>
          <a:p>
            <a:pPr algn="just">
              <a:buNone/>
            </a:pPr>
            <a:endParaRPr lang="en-US" sz="3800" b="1" dirty="0" smtClean="0"/>
          </a:p>
          <a:p>
            <a:pPr algn="just">
              <a:buNone/>
            </a:pPr>
            <a:r>
              <a:rPr lang="en-US" sz="3800" b="1" u="sng" dirty="0" smtClean="0"/>
              <a:t>$unset: </a:t>
            </a:r>
            <a:r>
              <a:rPr lang="en-US" sz="3800" dirty="0" smtClean="0"/>
              <a:t>The $unset operator deletes a particular field. The specified value in the $unset expression (i.e. "") does not impact the operation. If the field does not exist, then $unset has no effect.</a:t>
            </a:r>
            <a:endParaRPr lang="en-US" sz="3800" dirty="0" smtClean="0"/>
          </a:p>
          <a:p>
            <a:pPr algn="just">
              <a:buNone/>
            </a:pPr>
            <a:r>
              <a:rPr lang="en-US" sz="3800" b="1" dirty="0" err="1" smtClean="0"/>
              <a:t>db.products.update</a:t>
            </a:r>
            <a:r>
              <a:rPr lang="en-US" sz="3800" b="1" dirty="0" smtClean="0"/>
              <a:t>( { </a:t>
            </a:r>
            <a:r>
              <a:rPr lang="en-US" sz="3800" b="1" dirty="0" err="1" smtClean="0"/>
              <a:t>sku</a:t>
            </a:r>
            <a:r>
              <a:rPr lang="en-US" sz="3800" b="1" dirty="0" smtClean="0"/>
              <a:t>: "unknown" },{ $unset: { quantity: “ ”, </a:t>
            </a:r>
            <a:r>
              <a:rPr lang="en-US" sz="3800" b="1" dirty="0" err="1" smtClean="0"/>
              <a:t>instock</a:t>
            </a:r>
            <a:r>
              <a:rPr lang="en-US" sz="3800" b="1" dirty="0" smtClean="0"/>
              <a:t>: “ ” }})                    </a:t>
            </a:r>
            <a:endParaRPr lang="en-US" sz="3800" b="1" dirty="0" smtClean="0"/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1"/>
            <a:ext cx="8382000" cy="984885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What </a:t>
            </a:r>
            <a:r>
              <a:rPr lang="en-US" sz="20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type of database is MongoDB?</a:t>
            </a:r>
            <a:endParaRPr lang="en-US" sz="20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AutoNum type="alphaUcParenR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Relational     B) Document-Oriented         C)Graph            D)Key-Value</a:t>
            </a:r>
            <a:endParaRPr lang="en-US" sz="2000" dirty="0" smtClean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1228131"/>
            <a:ext cx="8382000" cy="1015663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 What </a:t>
            </a:r>
            <a:r>
              <a:rPr lang="en-US" sz="20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the primary function of the mongo shell?</a:t>
            </a:r>
            <a:endParaRPr lang="en-US" sz="20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A) Data backup                       B) Database </a:t>
            </a:r>
            <a:r>
              <a:rPr lang="en-US" sz="20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management and querying</a:t>
            </a:r>
            <a:endParaRPr lang="en-US" sz="20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C) User authentication            D) Server </a:t>
            </a:r>
            <a:r>
              <a:rPr lang="en-US" sz="20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monitoring</a:t>
            </a:r>
            <a:endParaRPr lang="en-US" sz="20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2392122"/>
            <a:ext cx="8382000" cy="707886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IN" altLang="en-IN" sz="2000" dirty="0" smtClean="0">
                <a:latin typeface="Times New Roman" panose="02020503050405090304" pitchFamily="18" charset="0"/>
                <a:ea typeface="NSimSun" panose="02010609030101010101" pitchFamily="49" charset="-122"/>
                <a:cs typeface="Times New Roman" panose="02020503050405090304" pitchFamily="18" charset="0"/>
              </a:rPr>
              <a:t>3. Write </a:t>
            </a:r>
            <a:r>
              <a:rPr lang="en-IN" altLang="en-IN" sz="2000" dirty="0">
                <a:latin typeface="Times New Roman" panose="02020503050405090304" pitchFamily="18" charset="0"/>
                <a:ea typeface="NSimSun" panose="02010609030101010101" pitchFamily="49" charset="-122"/>
                <a:cs typeface="Times New Roman" panose="02020503050405090304" pitchFamily="18" charset="0"/>
              </a:rPr>
              <a:t>down the query to delete the collection named “Employee” from your database in  </a:t>
            </a:r>
            <a:r>
              <a:rPr lang="en-IN" altLang="en-IN" sz="2000" dirty="0" smtClean="0">
                <a:latin typeface="Times New Roman" panose="02020503050405090304" pitchFamily="18" charset="0"/>
                <a:ea typeface="NSimSun" panose="02010609030101010101" pitchFamily="49" charset="-122"/>
                <a:cs typeface="Times New Roman" panose="02020503050405090304" pitchFamily="18" charset="0"/>
              </a:rPr>
              <a:t>MongoDB.</a:t>
            </a:r>
            <a:endParaRPr lang="en-IN" alt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2912730"/>
            <a:ext cx="8382000" cy="1015663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endParaRPr lang="en-IN" altLang="en-IN" sz="20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4.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Write </a:t>
            </a:r>
            <a:r>
              <a:rPr lang="en-US" sz="20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query to update the “email” of a student as “</a:t>
            </a:r>
            <a:r>
              <a:rPr lang="en-US" sz="2000" dirty="0">
                <a:solidFill>
                  <a:srgbClr val="1154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abc@gmail.com</a:t>
            </a:r>
            <a:r>
              <a:rPr lang="en-US" sz="20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” whose department is “CSE” in the collection named “Student”. 	</a:t>
            </a:r>
            <a:endParaRPr lang="en-US" sz="20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5563" y="4110447"/>
            <a:ext cx="8214360" cy="67710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5. Command </a:t>
            </a:r>
            <a:r>
              <a:rPr lang="en-US" sz="20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check existence of all collections in a particular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database. </a:t>
            </a:r>
            <a:endParaRPr lang="en-US" sz="20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altLang="en-IN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  <a:endParaRPr lang="en-IN" altLang="en-IN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5563" y="4449001"/>
            <a:ext cx="8382000" cy="1292662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endParaRPr lang="en-IN" altLang="en-IN" sz="2000" dirty="0">
              <a:latin typeface="Cambria" panose="02040503050406030204" pitchFamily="18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6. Which </a:t>
            </a:r>
            <a:r>
              <a:rPr lang="en-US" sz="20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MongoDB command is used to display the database you are currently using? </a:t>
            </a:r>
            <a:endParaRPr lang="en-US" sz="20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altLang="en-IN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  <a:endParaRPr lang="en-IN" altLang="en-IN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7836" y="5551437"/>
            <a:ext cx="8561363" cy="707886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7. How 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would you add a field with a default value to an existing MongoDB collection?</a:t>
            </a:r>
            <a:endParaRPr lang="en-IN" alt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066800" y="337380"/>
            <a:ext cx="6934200" cy="6116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8038"/>
          </a:xfrm>
        </p:spPr>
        <p:txBody>
          <a:bodyPr numCol="1"/>
          <a:lstStyle/>
          <a:p>
            <a:r>
              <a:rPr lang="en-US" dirty="0" smtClean="0"/>
              <a:t>Logical Query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534400" cy="5791200"/>
          </a:xfrm>
        </p:spPr>
        <p:txBody>
          <a:bodyPr numCol="1"/>
          <a:lstStyle/>
          <a:p>
            <a:pPr algn="just"/>
            <a:r>
              <a:rPr lang="en-US" dirty="0" smtClean="0"/>
              <a:t>Logical operators return data based on expressions that evaluate to true or false.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771042" y="2024063"/>
            <a:ext cx="7100402" cy="384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763000" cy="6553200"/>
          </a:xfrm>
        </p:spPr>
        <p:txBody>
          <a:bodyPr numCol="1"/>
          <a:lstStyle/>
          <a:p>
            <a:pPr algn="just"/>
            <a:r>
              <a:rPr lang="en-US" sz="2800" b="1" u="sng" dirty="0" smtClean="0"/>
              <a:t>$and operator: </a:t>
            </a:r>
            <a:r>
              <a:rPr lang="en-US" sz="2800" dirty="0" smtClean="0"/>
              <a:t>Returns all documents match the conditions of both clauses. </a:t>
            </a:r>
            <a:endParaRPr lang="en-US" sz="2800" dirty="0" smtClean="0"/>
          </a:p>
          <a:p>
            <a:r>
              <a:rPr lang="en-US" sz="2800" dirty="0" smtClean="0"/>
              <a:t>Syntax: </a:t>
            </a:r>
            <a:r>
              <a:rPr lang="en-US" sz="2800" b="1" dirty="0" smtClean="0"/>
              <a:t>db.&lt;</a:t>
            </a:r>
            <a:r>
              <a:rPr lang="en-US" sz="2800" b="1" dirty="0" err="1" smtClean="0"/>
              <a:t>collection_name</a:t>
            </a:r>
            <a:r>
              <a:rPr lang="en-US" sz="2800" b="1" dirty="0" smtClean="0"/>
              <a:t>&gt;.find({$and: [{field1: “value1”}, {field2: “value2”}]})</a:t>
            </a:r>
            <a:endParaRPr lang="en-US" sz="2800" b="1" dirty="0" smtClean="0"/>
          </a:p>
          <a:p>
            <a:pPr>
              <a:buNone/>
            </a:pPr>
            <a:r>
              <a:rPr lang="en-US" sz="2800" dirty="0" smtClean="0"/>
              <a:t>Example: </a:t>
            </a:r>
            <a:r>
              <a:rPr lang="en-US" sz="2800" dirty="0" err="1" smtClean="0"/>
              <a:t>db.courses.find</a:t>
            </a:r>
            <a:r>
              <a:rPr lang="en-US" sz="2800" dirty="0" smtClean="0"/>
              <a:t>({$and: [{“</a:t>
            </a:r>
            <a:r>
              <a:rPr lang="en-US" sz="2800" dirty="0" err="1" smtClean="0"/>
              <a:t>course_name</a:t>
            </a:r>
            <a:r>
              <a:rPr lang="en-US" sz="2800" dirty="0" smtClean="0"/>
              <a:t>”: “Java”},{“marks”:60}]})</a:t>
            </a:r>
            <a:endParaRPr lang="en-US" sz="2800" dirty="0" smtClean="0"/>
          </a:p>
          <a:p>
            <a:pPr algn="just"/>
            <a:r>
              <a:rPr lang="en-US" sz="2800" b="1" u="sng" dirty="0" smtClean="0"/>
              <a:t>$or operator: </a:t>
            </a:r>
            <a:r>
              <a:rPr lang="en-US" sz="2800" dirty="0" smtClean="0"/>
              <a:t>Returns all documents that match either of the given conditions. </a:t>
            </a:r>
            <a:endParaRPr lang="en-US" sz="2800" dirty="0" smtClean="0"/>
          </a:p>
          <a:p>
            <a:r>
              <a:rPr lang="en-US" sz="2800" dirty="0" smtClean="0"/>
              <a:t>Syntax: </a:t>
            </a:r>
            <a:r>
              <a:rPr lang="en-US" sz="2800" b="1" dirty="0" smtClean="0"/>
              <a:t>db.&lt;</a:t>
            </a:r>
            <a:r>
              <a:rPr lang="en-US" sz="2800" b="1" dirty="0" err="1" smtClean="0"/>
              <a:t>collection_name</a:t>
            </a:r>
            <a:r>
              <a:rPr lang="en-US" sz="2800" b="1" dirty="0" smtClean="0"/>
              <a:t>&gt;.find({$or: [{field1: “value1”}, {field2: “value2”}]})</a:t>
            </a:r>
            <a:endParaRPr lang="en-US" sz="2800" b="1" dirty="0" smtClean="0"/>
          </a:p>
          <a:p>
            <a:pPr algn="just"/>
            <a:endParaRPr lang="en-US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09800" y="4800600"/>
            <a:ext cx="569783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799195" cy="5588635"/>
          </a:xfrm>
        </p:spPr>
        <p:txBody>
          <a:bodyPr numCol="1"/>
          <a:lstStyle/>
          <a:p>
            <a:pPr algn="just"/>
            <a:r>
              <a:rPr lang="en-US" b="1" dirty="0" smtClean="0"/>
              <a:t>$not operator: </a:t>
            </a:r>
            <a:r>
              <a:rPr lang="en-US" dirty="0" smtClean="0"/>
              <a:t>Inverts the effect of a query expression and returns documents that do not match the query expression. </a:t>
            </a:r>
            <a:endParaRPr lang="en-US" dirty="0" smtClean="0"/>
          </a:p>
          <a:p>
            <a:r>
              <a:rPr lang="en-US" dirty="0" smtClean="0"/>
              <a:t>Example: </a:t>
            </a:r>
            <a:r>
              <a:rPr lang="en-US" b="1" dirty="0" err="1" smtClean="0"/>
              <a:t>db.course.find</a:t>
            </a:r>
            <a:r>
              <a:rPr lang="en-US" b="1" dirty="0" smtClean="0"/>
              <a:t>({“name”: {$not: {$eq: “Mark”}}})</a:t>
            </a:r>
            <a:endParaRPr lang="en-US" b="1" dirty="0" smtClean="0"/>
          </a:p>
          <a:p>
            <a:pPr algn="just"/>
            <a:r>
              <a:rPr lang="en-US" b="1" dirty="0" smtClean="0"/>
              <a:t>$nor operator: </a:t>
            </a:r>
            <a:r>
              <a:rPr lang="en-US" dirty="0" smtClean="0"/>
              <a:t>Returns document which do not match with neither of the given condition.</a:t>
            </a:r>
            <a:endParaRPr lang="en-US" dirty="0" smtClean="0"/>
          </a:p>
          <a:p>
            <a:pPr algn="just"/>
            <a:endParaRPr lang="en-US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-32398" y="4267200"/>
            <a:ext cx="9176398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Comparison Query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791200"/>
          </a:xfrm>
        </p:spPr>
        <p:txBody>
          <a:bodyPr numCol="1">
            <a:normAutofit fontScale="85000" lnSpcReduction="10000"/>
          </a:bodyPr>
          <a:lstStyle/>
          <a:p>
            <a:pPr algn="just"/>
            <a:r>
              <a:rPr lang="en-US" dirty="0" smtClean="0"/>
              <a:t>Comparison operators return data based on value comparisons.</a:t>
            </a:r>
            <a:endParaRPr lang="en-US" dirty="0" smtClean="0"/>
          </a:p>
          <a:p>
            <a:pPr algn="just"/>
            <a:endParaRPr lang="en-US" b="1" dirty="0" smtClean="0"/>
          </a:p>
          <a:p>
            <a:pPr algn="just" fontAlgn="t">
              <a:buNone/>
            </a:pPr>
            <a:r>
              <a:rPr lang="en-US" b="1" u="sng" dirty="0" smtClean="0"/>
              <a:t>$eq: </a:t>
            </a:r>
            <a:r>
              <a:rPr lang="en-US" dirty="0" smtClean="0"/>
              <a:t>Specifies equality condition. The $eq operator matches documents where the value of a field equals the specified value.</a:t>
            </a:r>
            <a:endParaRPr lang="en-US" dirty="0" smtClean="0"/>
          </a:p>
          <a:p>
            <a:r>
              <a:rPr lang="en-US" dirty="0" smtClean="0"/>
              <a:t>Syntax: { &lt;field&gt;: { $eq: &lt;value&gt; } }</a:t>
            </a:r>
            <a:endParaRPr lang="en-US" dirty="0" smtClean="0"/>
          </a:p>
          <a:p>
            <a:pPr algn="just" fontAlgn="t">
              <a:buNone/>
            </a:pPr>
            <a:r>
              <a:rPr lang="en-US" dirty="0" smtClean="0"/>
              <a:t>Example: </a:t>
            </a:r>
            <a:r>
              <a:rPr lang="en-US" dirty="0" err="1" smtClean="0"/>
              <a:t>db.trips.find</a:t>
            </a:r>
            <a:r>
              <a:rPr lang="en-US" dirty="0" smtClean="0"/>
              <a:t>({</a:t>
            </a:r>
            <a:r>
              <a:rPr lang="en-US" dirty="0" err="1" smtClean="0"/>
              <a:t>tripduration</a:t>
            </a:r>
            <a:r>
              <a:rPr lang="en-US" dirty="0" smtClean="0"/>
              <a:t>:{$eq:800}})</a:t>
            </a:r>
            <a:endParaRPr lang="en-US" dirty="0" smtClean="0"/>
          </a:p>
          <a:p>
            <a:pPr algn="just" fontAlgn="t">
              <a:buNone/>
            </a:pPr>
            <a:endParaRPr lang="en-US" dirty="0" smtClean="0"/>
          </a:p>
          <a:p>
            <a:pPr algn="just" fontAlgn="t">
              <a:buNone/>
            </a:pPr>
            <a:r>
              <a:rPr lang="en-US" b="1" u="sng" dirty="0" smtClean="0"/>
              <a:t>$gt:</a:t>
            </a:r>
            <a:r>
              <a:rPr lang="en-US" dirty="0" smtClean="0"/>
              <a:t> selects those documents where the value of the specified field is greater than (i.e. &gt;) the specified value.</a:t>
            </a:r>
            <a:endParaRPr lang="en-US" dirty="0" smtClean="0"/>
          </a:p>
          <a:p>
            <a:r>
              <a:rPr lang="en-US" dirty="0" smtClean="0"/>
              <a:t>Syntax: { field: { $gt: value } }</a:t>
            </a:r>
            <a:endParaRPr lang="en-US" dirty="0" smtClean="0"/>
          </a:p>
          <a:p>
            <a:r>
              <a:rPr lang="en-US" dirty="0" smtClean="0"/>
              <a:t>Example: </a:t>
            </a:r>
            <a:r>
              <a:rPr lang="en-US" dirty="0" err="1" smtClean="0"/>
              <a:t>db.trips.find</a:t>
            </a:r>
            <a:r>
              <a:rPr lang="en-US" dirty="0" smtClean="0"/>
              <a:t>({</a:t>
            </a:r>
            <a:r>
              <a:rPr lang="en-US" dirty="0" err="1" smtClean="0"/>
              <a:t>tripduration</a:t>
            </a:r>
            <a:r>
              <a:rPr lang="en-US" dirty="0" smtClean="0"/>
              <a:t>:{$gt:800}})</a:t>
            </a:r>
            <a:endParaRPr lang="en-US" dirty="0" smtClean="0"/>
          </a:p>
          <a:p>
            <a:pPr algn="just" fontAlgn="t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477000"/>
          </a:xfrm>
        </p:spPr>
        <p:txBody>
          <a:bodyPr numCol="1">
            <a:normAutofit fontScale="85000" lnSpcReduction="10000"/>
          </a:bodyPr>
          <a:lstStyle/>
          <a:p>
            <a:pPr algn="just">
              <a:buNone/>
            </a:pPr>
            <a:r>
              <a:rPr lang="en-US" b="1" dirty="0" smtClean="0"/>
              <a:t>$lt:</a:t>
            </a:r>
            <a:r>
              <a:rPr lang="en-US" dirty="0" smtClean="0"/>
              <a:t> selects the documents where the value of the field is less than (i.e. &lt;) the specified value.</a:t>
            </a:r>
            <a:endParaRPr lang="en-US" dirty="0" smtClean="0"/>
          </a:p>
          <a:p>
            <a:pPr algn="just"/>
            <a:r>
              <a:rPr lang="en-US" dirty="0" smtClean="0"/>
              <a:t>Syntax: { field: { $lt: value } }</a:t>
            </a:r>
            <a:endParaRPr lang="en-US" dirty="0" smtClean="0"/>
          </a:p>
          <a:p>
            <a:pPr algn="just"/>
            <a:r>
              <a:rPr lang="en-US" dirty="0" smtClean="0"/>
              <a:t>Example:</a:t>
            </a:r>
            <a:r>
              <a:rPr lang="en-US" b="1" dirty="0" smtClean="0"/>
              <a:t> </a:t>
            </a:r>
            <a:r>
              <a:rPr lang="en-US" dirty="0" err="1" smtClean="0"/>
              <a:t>db.trips.find</a:t>
            </a:r>
            <a:r>
              <a:rPr lang="en-US" dirty="0" smtClean="0"/>
              <a:t>({</a:t>
            </a:r>
            <a:r>
              <a:rPr lang="en-US" dirty="0" err="1" smtClean="0"/>
              <a:t>tripduration</a:t>
            </a:r>
            <a:r>
              <a:rPr lang="en-US" dirty="0" smtClean="0"/>
              <a:t>:{$lt:800}})</a:t>
            </a:r>
            <a:endParaRPr lang="en-US" dirty="0" smtClean="0"/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b="1" dirty="0" smtClean="0"/>
              <a:t>$gte:</a:t>
            </a:r>
            <a:r>
              <a:rPr lang="en-US" dirty="0" smtClean="0"/>
              <a:t> selects the documents where the value of the specified field is greater than or equal to (i.e. &gt;=) a specified value (e.g. value.)</a:t>
            </a:r>
            <a:endParaRPr lang="en-US" dirty="0" smtClean="0"/>
          </a:p>
          <a:p>
            <a:pPr algn="just"/>
            <a:r>
              <a:rPr lang="en-US" dirty="0" smtClean="0"/>
              <a:t>Syntax: { field: { $gte: value } }</a:t>
            </a:r>
            <a:endParaRPr lang="en-US" dirty="0" smtClean="0"/>
          </a:p>
          <a:p>
            <a:pPr algn="just"/>
            <a:r>
              <a:rPr lang="en-US" dirty="0" smtClean="0"/>
              <a:t>Example: </a:t>
            </a:r>
            <a:r>
              <a:rPr lang="en-US" dirty="0" err="1" smtClean="0"/>
              <a:t>db.trips.find</a:t>
            </a:r>
            <a:r>
              <a:rPr lang="en-US" dirty="0" smtClean="0"/>
              <a:t>({"birth year":{$gte:1980}})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$lte:</a:t>
            </a:r>
            <a:r>
              <a:rPr lang="en-US" dirty="0" smtClean="0"/>
              <a:t> selects the documents where the value of the field is less than or equal to (i.e. &lt;=) the specified value.</a:t>
            </a:r>
            <a:endParaRPr lang="en-US" dirty="0" smtClean="0"/>
          </a:p>
          <a:p>
            <a:pPr algn="just"/>
            <a:r>
              <a:rPr lang="en-US" dirty="0" smtClean="0"/>
              <a:t>Syntax: { field: { $lte: value } }</a:t>
            </a:r>
            <a:endParaRPr lang="en-US" dirty="0" smtClean="0"/>
          </a:p>
          <a:p>
            <a:pPr algn="just"/>
            <a:r>
              <a:rPr lang="en-US" dirty="0" smtClean="0"/>
              <a:t>Example: </a:t>
            </a:r>
            <a:r>
              <a:rPr lang="en-US" dirty="0" err="1" smtClean="0"/>
              <a:t>db.trips.find</a:t>
            </a:r>
            <a:r>
              <a:rPr lang="en-US" dirty="0" smtClean="0"/>
              <a:t>({</a:t>
            </a:r>
            <a:r>
              <a:rPr lang="en-US" dirty="0" err="1" smtClean="0"/>
              <a:t>tripduration</a:t>
            </a:r>
            <a:r>
              <a:rPr lang="en-US" dirty="0" smtClean="0"/>
              <a:t>:{$lte:800}})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991600" cy="7391400"/>
          </a:xfrm>
        </p:spPr>
        <p:txBody>
          <a:bodyPr numCol="1">
            <a:normAutofit fontScale="70000" lnSpcReduction="20000"/>
          </a:bodyPr>
          <a:lstStyle/>
          <a:p>
            <a:pPr algn="just">
              <a:buNone/>
            </a:pPr>
            <a:r>
              <a:rPr lang="en-US" sz="3400" b="1" dirty="0" smtClean="0"/>
              <a:t>$in: </a:t>
            </a:r>
            <a:r>
              <a:rPr lang="en-US" sz="3400" dirty="0" smtClean="0"/>
              <a:t>The $in operator selects the documents where the value of a field equals any value in the specified array.</a:t>
            </a:r>
            <a:endParaRPr lang="en-US" sz="3400" dirty="0" smtClean="0"/>
          </a:p>
          <a:p>
            <a:pPr algn="just"/>
            <a:r>
              <a:rPr lang="en-US" sz="3400" dirty="0" smtClean="0"/>
              <a:t>Syntax: { field: { $in: [&lt;value1&gt;, &lt;value2&gt;, ... &lt;</a:t>
            </a:r>
            <a:r>
              <a:rPr lang="en-US" sz="3400" dirty="0" err="1" smtClean="0"/>
              <a:t>valueN</a:t>
            </a:r>
            <a:r>
              <a:rPr lang="en-US" sz="3400" dirty="0" smtClean="0"/>
              <a:t>&gt; ] } }</a:t>
            </a:r>
            <a:endParaRPr lang="en-US" sz="3400" dirty="0" smtClean="0"/>
          </a:p>
          <a:p>
            <a:pPr algn="just"/>
            <a:r>
              <a:rPr lang="en-US" sz="3400" dirty="0" smtClean="0"/>
              <a:t>Example: </a:t>
            </a:r>
            <a:r>
              <a:rPr lang="en-US" sz="3400" dirty="0" err="1" smtClean="0"/>
              <a:t>db.trips.find</a:t>
            </a:r>
            <a:r>
              <a:rPr lang="en-US" sz="3400" dirty="0" smtClean="0"/>
              <a:t>({ "start station name": { $in: ["Howard St &amp; Centre St", "10 Ave &amp; W 28 St"] } })</a:t>
            </a:r>
            <a:endParaRPr lang="en-US" sz="3400" dirty="0" smtClean="0"/>
          </a:p>
          <a:p>
            <a:pPr algn="just"/>
            <a:endParaRPr lang="en-US" sz="3400" dirty="0" smtClean="0"/>
          </a:p>
          <a:p>
            <a:pPr algn="just">
              <a:buNone/>
            </a:pPr>
            <a:r>
              <a:rPr lang="en-US" sz="3400" b="1" dirty="0" smtClean="0"/>
              <a:t>$ne:</a:t>
            </a:r>
            <a:r>
              <a:rPr lang="en-US" sz="3400" dirty="0" smtClean="0"/>
              <a:t> selects the documents where the value of the specified field is not equal to the specified value. </a:t>
            </a:r>
            <a:endParaRPr lang="en-US" sz="3400" dirty="0" smtClean="0"/>
          </a:p>
          <a:p>
            <a:r>
              <a:rPr lang="en-US" sz="3400" dirty="0" smtClean="0"/>
              <a:t>Syntax: { field: { $ne: value } }</a:t>
            </a:r>
            <a:endParaRPr lang="en-US" sz="3400" dirty="0" smtClean="0"/>
          </a:p>
          <a:p>
            <a:r>
              <a:rPr lang="en-US" sz="3400" dirty="0" smtClean="0"/>
              <a:t>Example: </a:t>
            </a:r>
            <a:r>
              <a:rPr lang="en-US" sz="3400" dirty="0" err="1" smtClean="0"/>
              <a:t>db.trips.find</a:t>
            </a:r>
            <a:r>
              <a:rPr lang="en-US" sz="3400" dirty="0" smtClean="0"/>
              <a:t>({</a:t>
            </a:r>
            <a:r>
              <a:rPr lang="en-US" sz="3400" dirty="0" err="1" smtClean="0"/>
              <a:t>tripduration</a:t>
            </a:r>
            <a:r>
              <a:rPr lang="en-US" sz="3400" dirty="0" smtClean="0"/>
              <a:t>:{$ne:800}})</a:t>
            </a:r>
            <a:endParaRPr lang="en-US" sz="3400" dirty="0" smtClean="0"/>
          </a:p>
          <a:p>
            <a:endParaRPr lang="en-US" sz="3400" dirty="0" smtClean="0"/>
          </a:p>
          <a:p>
            <a:pPr>
              <a:buNone/>
            </a:pPr>
            <a:r>
              <a:rPr lang="en-US" sz="3400" b="1" dirty="0" smtClean="0"/>
              <a:t>$</a:t>
            </a:r>
            <a:r>
              <a:rPr lang="en-US" sz="3400" b="1" dirty="0" err="1" smtClean="0"/>
              <a:t>nin</a:t>
            </a:r>
            <a:r>
              <a:rPr lang="en-US" sz="3400" b="1" dirty="0" smtClean="0"/>
              <a:t>: </a:t>
            </a:r>
            <a:r>
              <a:rPr lang="en-US" sz="3400" dirty="0" smtClean="0"/>
              <a:t>selects the documents where: the specified field value is not in the specified array </a:t>
            </a:r>
            <a:r>
              <a:rPr lang="en-US" sz="3400" b="1" dirty="0" smtClean="0"/>
              <a:t>or </a:t>
            </a:r>
            <a:r>
              <a:rPr lang="en-US" sz="3400" dirty="0" smtClean="0"/>
              <a:t>the specified field does not exist.</a:t>
            </a:r>
            <a:endParaRPr lang="en-US" sz="3400" dirty="0" smtClean="0"/>
          </a:p>
          <a:p>
            <a:r>
              <a:rPr lang="en-US" sz="3400" dirty="0" smtClean="0"/>
              <a:t>Syntax: { field: { $</a:t>
            </a:r>
            <a:r>
              <a:rPr lang="en-US" sz="3400" dirty="0" err="1" smtClean="0"/>
              <a:t>nin</a:t>
            </a:r>
            <a:r>
              <a:rPr lang="en-US" sz="3400" dirty="0" smtClean="0"/>
              <a:t>: [ &lt;value1&gt;, &lt;value2&gt; ... &lt;</a:t>
            </a:r>
            <a:r>
              <a:rPr lang="en-US" sz="3400" dirty="0" err="1" smtClean="0"/>
              <a:t>valueN</a:t>
            </a:r>
            <a:r>
              <a:rPr lang="en-US" sz="3400" dirty="0" smtClean="0"/>
              <a:t>&gt; ] } }</a:t>
            </a:r>
            <a:endParaRPr lang="en-US" sz="3400" dirty="0" smtClean="0"/>
          </a:p>
          <a:p>
            <a:r>
              <a:rPr lang="en-US" sz="3400" dirty="0" smtClean="0"/>
              <a:t>Example: </a:t>
            </a:r>
            <a:r>
              <a:rPr lang="en-US" sz="3400" dirty="0" err="1" smtClean="0"/>
              <a:t>db.trips.find</a:t>
            </a:r>
            <a:r>
              <a:rPr lang="en-US" sz="3400" dirty="0" smtClean="0"/>
              <a:t>({ "start station name": { $</a:t>
            </a:r>
            <a:r>
              <a:rPr lang="en-US" sz="3400" dirty="0" err="1" smtClean="0"/>
              <a:t>nin</a:t>
            </a:r>
            <a:r>
              <a:rPr lang="en-US" sz="3400" dirty="0" smtClean="0"/>
              <a:t>: ["Howard St &amp; Centre St", "10 Ave &amp; W 28 St"] } })</a:t>
            </a:r>
            <a:endParaRPr lang="en-US" sz="3400" dirty="0" smtClean="0"/>
          </a:p>
          <a:p>
            <a:endParaRPr lang="en-US" dirty="0" smtClean="0"/>
          </a:p>
          <a:p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Element Query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991600" cy="6019800"/>
          </a:xfrm>
        </p:spPr>
        <p:txBody>
          <a:bodyPr numCol="1">
            <a:normAutofit fontScale="92500" lnSpcReduction="20000"/>
          </a:bodyPr>
          <a:lstStyle/>
          <a:p>
            <a:pPr algn="just"/>
            <a:r>
              <a:rPr lang="en-US" sz="2800" dirty="0" smtClean="0"/>
              <a:t>Element operators return data based on field existence or data types.</a:t>
            </a:r>
            <a:endParaRPr lang="en-US" sz="2800" b="1" dirty="0" smtClean="0"/>
          </a:p>
          <a:p>
            <a:pPr algn="just" fontAlgn="t"/>
            <a:r>
              <a:rPr lang="en-US" sz="2800" b="1" dirty="0" smtClean="0"/>
              <a:t>$exists: </a:t>
            </a:r>
            <a:r>
              <a:rPr lang="en-US" sz="2800" dirty="0" smtClean="0"/>
              <a:t>The $exists operator matches documents that contain or do not contain a specified field, including documents where the field value is null.</a:t>
            </a:r>
            <a:endParaRPr lang="en-US" sz="2800" dirty="0" smtClean="0"/>
          </a:p>
          <a:p>
            <a:pPr algn="just" fontAlgn="t"/>
            <a:r>
              <a:rPr lang="en-US" sz="2800" dirty="0" smtClean="0"/>
              <a:t>Syntax: </a:t>
            </a:r>
            <a:r>
              <a:rPr lang="en-US" sz="2800" b="1" dirty="0" smtClean="0"/>
              <a:t>{ field: { $exists: &lt;</a:t>
            </a:r>
            <a:r>
              <a:rPr lang="en-US" sz="2800" b="1" dirty="0" err="1" smtClean="0"/>
              <a:t>boolean</a:t>
            </a:r>
            <a:r>
              <a:rPr lang="en-US" sz="2800" b="1" dirty="0" smtClean="0"/>
              <a:t>&gt; } }</a:t>
            </a:r>
            <a:endParaRPr lang="en-US" sz="2800" b="1" dirty="0" smtClean="0"/>
          </a:p>
          <a:p>
            <a:pPr algn="just" fontAlgn="t"/>
            <a:r>
              <a:rPr lang="en-US" sz="2800" dirty="0" smtClean="0"/>
              <a:t>When &lt;</a:t>
            </a:r>
            <a:r>
              <a:rPr lang="en-US" sz="2800" dirty="0" err="1" smtClean="0"/>
              <a:t>boolean</a:t>
            </a:r>
            <a:r>
              <a:rPr lang="en-US" sz="2800" dirty="0" smtClean="0"/>
              <a:t>&gt; is true, $exists matches the documents that contain the field, including documents where the field value is null.</a:t>
            </a:r>
            <a:endParaRPr lang="en-US" sz="2800" dirty="0" smtClean="0"/>
          </a:p>
          <a:p>
            <a:pPr algn="just" fontAlgn="t"/>
            <a:r>
              <a:rPr lang="en-US" sz="2800" dirty="0" smtClean="0"/>
              <a:t> If &lt;</a:t>
            </a:r>
            <a:r>
              <a:rPr lang="en-US" sz="2800" dirty="0" err="1" smtClean="0"/>
              <a:t>boolean</a:t>
            </a:r>
            <a:r>
              <a:rPr lang="en-US" sz="2800" dirty="0" smtClean="0"/>
              <a:t>&gt; is false, the query returns only the documents that do not contain the field.</a:t>
            </a:r>
            <a:endParaRPr lang="en-US" sz="2800" b="1" dirty="0" smtClean="0"/>
          </a:p>
          <a:p>
            <a:pPr algn="just" fontAlgn="t"/>
            <a:r>
              <a:rPr lang="en-US" sz="2800" dirty="0" smtClean="0"/>
              <a:t>Example: Find all the users where the phone field exists.</a:t>
            </a:r>
            <a:endParaRPr lang="en-US" sz="2800" dirty="0" smtClean="0"/>
          </a:p>
          <a:p>
            <a:pPr algn="just" fontAlgn="t"/>
            <a:endParaRPr lang="en-US" sz="2800" dirty="0" smtClean="0"/>
          </a:p>
          <a:p>
            <a:pPr algn="just" fontAlgn="t"/>
            <a:endParaRPr lang="en-US" sz="2800" dirty="0" smtClean="0"/>
          </a:p>
          <a:p>
            <a:pPr algn="just" fontAlgn="t"/>
            <a:r>
              <a:rPr lang="en-US" sz="2800" dirty="0" smtClean="0"/>
              <a:t>MongoDB $exists does </a:t>
            </a:r>
            <a:r>
              <a:rPr lang="en-US" sz="2800" b="1" dirty="0" smtClean="0"/>
              <a:t>not</a:t>
            </a:r>
            <a:r>
              <a:rPr lang="en-US" sz="2800" dirty="0" smtClean="0"/>
              <a:t> correspond to SQL operator exists.</a:t>
            </a:r>
            <a:endParaRPr lang="en-US" sz="2800" dirty="0" smtClean="0"/>
          </a:p>
          <a:p>
            <a:pPr algn="just" fontAlgn="t"/>
            <a:endParaRPr lang="en-US" sz="2800" dirty="0" smtClean="0"/>
          </a:p>
          <a:p>
            <a:endParaRPr lang="en-US" sz="2800" dirty="0" smtClean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981200" y="4876800"/>
            <a:ext cx="458105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00800"/>
          </a:xfrm>
        </p:spPr>
        <p:txBody>
          <a:bodyPr numCol="1"/>
          <a:lstStyle/>
          <a:p>
            <a:r>
              <a:rPr lang="en-US" sz="2800" b="1" dirty="0" smtClean="0"/>
              <a:t>Exists and Not Equal To</a:t>
            </a:r>
            <a:endParaRPr lang="en-US" sz="2800" b="1" dirty="0" smtClean="0"/>
          </a:p>
          <a:p>
            <a:endParaRPr lang="en-US" sz="2800" b="1" dirty="0" smtClean="0"/>
          </a:p>
          <a:p>
            <a:pPr algn="just"/>
            <a:r>
              <a:rPr lang="en-US" sz="2800" dirty="0" smtClean="0"/>
              <a:t>This query will select all documents in the inventory collection where the qty field exists </a:t>
            </a:r>
            <a:r>
              <a:rPr lang="en-US" sz="2800" i="1" dirty="0" smtClean="0"/>
              <a:t>and</a:t>
            </a:r>
            <a:r>
              <a:rPr lang="en-US" sz="2800" dirty="0" smtClean="0"/>
              <a:t> its value does not equal 5 or 15.</a:t>
            </a:r>
            <a:endParaRPr lang="en-US" sz="2800" b="1" dirty="0" smtClean="0"/>
          </a:p>
          <a:p>
            <a:r>
              <a:rPr lang="en-US" sz="2800" b="1" dirty="0" smtClean="0"/>
              <a:t>Null Values: </a:t>
            </a:r>
            <a:r>
              <a:rPr lang="en-US" sz="2800" dirty="0" smtClean="0"/>
              <a:t>$exists: true</a:t>
            </a:r>
            <a:endParaRPr lang="en-US" sz="2800" dirty="0" smtClean="0"/>
          </a:p>
          <a:p>
            <a:endParaRPr lang="en-US" sz="2800" b="1" dirty="0" smtClean="0"/>
          </a:p>
          <a:p>
            <a:endParaRPr lang="en-US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066800" y="762000"/>
            <a:ext cx="69723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04800" y="3200400"/>
            <a:ext cx="4510088" cy="3015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81000" y="6324600"/>
            <a:ext cx="54006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5029201" y="3429000"/>
            <a:ext cx="4114800" cy="1810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4953000" y="2971800"/>
            <a:ext cx="918841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dirty="0" smtClean="0"/>
              <a:t>Output: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533400" y="685800"/>
            <a:ext cx="4648200" cy="3107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09600" y="4419600"/>
            <a:ext cx="56483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85800" y="5486400"/>
            <a:ext cx="30099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33400" y="228600"/>
            <a:ext cx="1811330" cy="461665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sz="2400" b="1" dirty="0" smtClean="0"/>
              <a:t>$exists: false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609600" y="3962400"/>
            <a:ext cx="825419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dirty="0" smtClean="0"/>
              <a:t>Query: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" y="4953000"/>
            <a:ext cx="971741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dirty="0" smtClean="0"/>
              <a:t>Output: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400800"/>
          </a:xfrm>
        </p:spPr>
        <p:txBody>
          <a:bodyPr numCol="1">
            <a:normAutofit fontScale="85000" lnSpcReduction="10000"/>
          </a:bodyPr>
          <a:lstStyle/>
          <a:p>
            <a:pPr algn="just" fontAlgn="t"/>
            <a:r>
              <a:rPr lang="en-US" sz="3300" b="1" dirty="0" smtClean="0"/>
              <a:t>$type: </a:t>
            </a:r>
            <a:r>
              <a:rPr lang="en-US" sz="3300" dirty="0" smtClean="0"/>
              <a:t>Selects documents if a field is of the specified type.</a:t>
            </a:r>
            <a:endParaRPr lang="en-US" sz="3300" dirty="0" smtClean="0"/>
          </a:p>
          <a:p>
            <a:pPr algn="just" fontAlgn="t"/>
            <a:r>
              <a:rPr lang="en-US" sz="3300" dirty="0" smtClean="0"/>
              <a:t>$type selects documents where the </a:t>
            </a:r>
            <a:r>
              <a:rPr lang="en-US" sz="3300" i="1" dirty="0" smtClean="0"/>
              <a:t>value</a:t>
            </a:r>
            <a:r>
              <a:rPr lang="en-US" sz="3300" dirty="0" smtClean="0"/>
              <a:t> of the field is an instance of the specified BSON type(s). </a:t>
            </a:r>
            <a:endParaRPr lang="en-US" sz="3300" dirty="0" smtClean="0"/>
          </a:p>
          <a:p>
            <a:pPr algn="just" fontAlgn="t"/>
            <a:r>
              <a:rPr lang="en-US" sz="3300" dirty="0" smtClean="0"/>
              <a:t>Querying by data type is useful when dealing with highly unstructured data where data types are not predictable.</a:t>
            </a:r>
            <a:endParaRPr lang="en-US" sz="3300" dirty="0" smtClean="0"/>
          </a:p>
          <a:p>
            <a:pPr algn="just" fontAlgn="t"/>
            <a:r>
              <a:rPr lang="en-US" sz="3300" dirty="0" smtClean="0"/>
              <a:t>Syntax: </a:t>
            </a:r>
            <a:r>
              <a:rPr lang="en-US" sz="3300" b="1" dirty="0" smtClean="0"/>
              <a:t>{ field: { $type: &lt;BSON type&gt; } }</a:t>
            </a:r>
            <a:endParaRPr lang="en-US" sz="3300" b="1" dirty="0" smtClean="0"/>
          </a:p>
          <a:p>
            <a:pPr algn="just" fontAlgn="t"/>
            <a:r>
              <a:rPr lang="en-US" sz="3300" dirty="0" smtClean="0"/>
              <a:t>BSON type can be specified either by number or name.</a:t>
            </a:r>
            <a:endParaRPr lang="en-US" sz="3300" dirty="0" smtClean="0"/>
          </a:p>
          <a:p>
            <a:pPr algn="just"/>
            <a:r>
              <a:rPr lang="en-US" sz="3300" dirty="0" smtClean="0"/>
              <a:t>Example1: Find all the users where the phone field type is true.</a:t>
            </a:r>
            <a:endParaRPr lang="en-US" sz="3300" dirty="0" smtClean="0"/>
          </a:p>
          <a:p>
            <a:pPr algn="just"/>
            <a:endParaRPr lang="en-US" sz="3300" dirty="0" smtClean="0"/>
          </a:p>
          <a:p>
            <a:pPr algn="just"/>
            <a:endParaRPr lang="en-US" sz="3300" dirty="0" smtClean="0"/>
          </a:p>
          <a:p>
            <a:pPr algn="just"/>
            <a:endParaRPr lang="en-US" sz="3300" dirty="0" smtClean="0"/>
          </a:p>
          <a:p>
            <a:pPr algn="just"/>
            <a:r>
              <a:rPr lang="en-US" sz="3300" dirty="0" smtClean="0"/>
              <a:t>Example 2: </a:t>
            </a:r>
            <a:r>
              <a:rPr lang="en-US" sz="3300" dirty="0" err="1" smtClean="0"/>
              <a:t>db.companies.find</a:t>
            </a:r>
            <a:r>
              <a:rPr lang="en-US" sz="3300" dirty="0" smtClean="0"/>
              <a:t>({description:{$type:2}})</a:t>
            </a:r>
            <a:endParaRPr lang="en-US" sz="3300" dirty="0" smtClean="0"/>
          </a:p>
          <a:p>
            <a:pPr algn="just" fontAlgn="t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514600" y="5610225"/>
            <a:ext cx="63436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458200" cy="6248400"/>
          </a:xfrm>
        </p:spPr>
        <p:txBody>
          <a:bodyPr numCol="1">
            <a:normAutofit/>
          </a:bodyPr>
          <a:lstStyle/>
          <a:p>
            <a:pPr algn="just"/>
            <a:r>
              <a:rPr lang="en-US" sz="2800" dirty="0" smtClean="0"/>
              <a:t>The $type expression can also accept an array of BSON types as: </a:t>
            </a:r>
            <a:endParaRPr lang="en-US" sz="2800" dirty="0" smtClean="0"/>
          </a:p>
          <a:p>
            <a:pPr algn="just"/>
            <a:r>
              <a:rPr lang="en-US" sz="2800" dirty="0" smtClean="0"/>
              <a:t>{ field: { $type: [ &lt;BSON type1&gt; , &lt;BSON type2&gt;, ... ] } }</a:t>
            </a:r>
            <a:endParaRPr lang="en-US" sz="2800" dirty="0" smtClean="0"/>
          </a:p>
          <a:p>
            <a:pPr algn="just"/>
            <a:r>
              <a:rPr lang="en-US" sz="2800" dirty="0" smtClean="0"/>
              <a:t>The above query will match documents where the field value is any of the listed types.</a:t>
            </a:r>
            <a:endParaRPr lang="en-US" sz="2800" dirty="0" smtClean="0"/>
          </a:p>
          <a:p>
            <a:pPr algn="just"/>
            <a:r>
              <a:rPr lang="en-US" sz="2800" dirty="0" smtClean="0"/>
              <a:t>For documents where field is an array, $type returns documents in which at least one array element matches a type passed to $type.</a:t>
            </a:r>
            <a:endParaRPr lang="en-US" sz="2800" dirty="0" smtClean="0"/>
          </a:p>
          <a:p>
            <a:pPr algn="just"/>
            <a:r>
              <a:rPr lang="en-US" sz="2800" dirty="0" smtClean="0"/>
              <a:t>Queries for $type: "array" return documents where the field itself is an array.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04800" y="304800"/>
            <a:ext cx="8315325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57200" y="2895600"/>
            <a:ext cx="82296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09600" y="5410200"/>
            <a:ext cx="79343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9" name="Rectangle 5"/>
          <p:cNvSpPr>
            <a:spLocks noChangeArrowheads="1"/>
          </p:cNvSpPr>
          <p:nvPr/>
        </p:nvSpPr>
        <p:spPr>
          <a:xfrm rot="10800000" flipV="1">
            <a:off x="381000" y="3657600"/>
            <a:ext cx="8382000" cy="138499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800" dirty="0" smtClean="0">
                <a:solidFill>
                  <a:srgbClr val="001E2B"/>
                </a:solidFill>
                <a:latin typeface="Euclid Circular A"/>
                <a:cs typeface="Arial" panose="020B0604020202090204" pitchFamily="34" charset="0"/>
              </a:rPr>
              <a:t>q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ueries return all documents where 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classAverage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 is the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Euclid Circular A"/>
                <a:cs typeface="Arial" panose="020B0604020202090204" pitchFamily="34" charset="0"/>
              </a:rPr>
              <a:t>BSON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 type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string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 or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double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 </a:t>
            </a:r>
            <a:r>
              <a:rPr kumimoji="0" lang="en-US" sz="2800" b="0" i="1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or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 is an array containing an element of the specified types.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 numCol="1">
            <a:normAutofit/>
          </a:bodyPr>
          <a:lstStyle/>
          <a:p>
            <a:r>
              <a:rPr lang="en-US" dirty="0" err="1" smtClean="0"/>
              <a:t>MongoDB</a:t>
            </a:r>
            <a:r>
              <a:rPr lang="en-US" dirty="0" smtClean="0"/>
              <a:t> Data Types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648199" y="1219200"/>
            <a:ext cx="4167939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57200" y="1219200"/>
            <a:ext cx="403659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Array Query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638800"/>
          </a:xfrm>
        </p:spPr>
        <p:txBody>
          <a:bodyPr numCol="1"/>
          <a:lstStyle/>
          <a:p>
            <a:pPr algn="just"/>
            <a:r>
              <a:rPr lang="en-US" dirty="0" smtClean="0"/>
              <a:t>Array operators return data based on array conditions.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143000" y="2057400"/>
            <a:ext cx="7166471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$all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763000" cy="6172200"/>
          </a:xfrm>
        </p:spPr>
        <p:txBody>
          <a:bodyPr numCol="1">
            <a:normAutofit/>
          </a:bodyPr>
          <a:lstStyle/>
          <a:p>
            <a:pPr algn="just"/>
            <a:r>
              <a:rPr lang="en-US" dirty="0" smtClean="0"/>
              <a:t>The $all operator selects the documents where the value of a field is an array that contains all the specified elements.</a:t>
            </a:r>
            <a:endParaRPr lang="en-US" dirty="0" smtClean="0"/>
          </a:p>
          <a:p>
            <a:r>
              <a:rPr lang="en-US" dirty="0" smtClean="0"/>
              <a:t>Syntax: </a:t>
            </a:r>
            <a:r>
              <a:rPr lang="en-US" b="1" dirty="0" smtClean="0"/>
              <a:t>{ &lt;field&gt;: { $all: [ &lt;value1&gt; , &lt;value2&gt; ... ] } }</a:t>
            </a:r>
            <a:endParaRPr lang="en-US" b="1" dirty="0" smtClean="0"/>
          </a:p>
          <a:p>
            <a:pPr algn="just"/>
            <a:r>
              <a:rPr lang="en-US" dirty="0" smtClean="0"/>
              <a:t>Behavior: Equivalent to $and Operation</a:t>
            </a:r>
            <a:endParaRPr lang="en-US" dirty="0" smtClean="0"/>
          </a:p>
          <a:p>
            <a:pPr algn="just"/>
            <a:r>
              <a:rPr lang="en-US" dirty="0" smtClean="0"/>
              <a:t>The $all is equivalent to an $and operation of the specified values; i.e. the following statement:</a:t>
            </a:r>
            <a:endParaRPr lang="en-US" dirty="0" smtClean="0"/>
          </a:p>
          <a:p>
            <a:r>
              <a:rPr lang="en-US" dirty="0" smtClean="0"/>
              <a:t>{ tags: { $all: [ </a:t>
            </a:r>
            <a:r>
              <a:rPr lang="en-US" b="1" dirty="0" smtClean="0"/>
              <a:t>"</a:t>
            </a:r>
            <a:r>
              <a:rPr lang="en-US" b="1" dirty="0" err="1" smtClean="0"/>
              <a:t>ssl</a:t>
            </a:r>
            <a:r>
              <a:rPr lang="en-US" b="1" dirty="0" smtClean="0"/>
              <a:t>"</a:t>
            </a:r>
            <a:r>
              <a:rPr lang="en-US" dirty="0" smtClean="0"/>
              <a:t> , </a:t>
            </a:r>
            <a:r>
              <a:rPr lang="en-US" b="1" dirty="0" smtClean="0"/>
              <a:t>"security"</a:t>
            </a:r>
            <a:r>
              <a:rPr lang="en-US" dirty="0" smtClean="0"/>
              <a:t> ] } } is equivalent to: { $and: [ { tags: </a:t>
            </a:r>
            <a:r>
              <a:rPr lang="en-US" b="1" dirty="0" smtClean="0"/>
              <a:t>"</a:t>
            </a:r>
            <a:r>
              <a:rPr lang="en-US" b="1" dirty="0" err="1" smtClean="0"/>
              <a:t>ssl</a:t>
            </a:r>
            <a:r>
              <a:rPr lang="en-US" b="1" dirty="0" smtClean="0"/>
              <a:t>"</a:t>
            </a:r>
            <a:r>
              <a:rPr lang="en-US" dirty="0" smtClean="0"/>
              <a:t> }, { tags: </a:t>
            </a:r>
            <a:r>
              <a:rPr lang="en-US" b="1" dirty="0" smtClean="0"/>
              <a:t>"security"</a:t>
            </a:r>
            <a:r>
              <a:rPr lang="en-US" dirty="0" smtClean="0"/>
              <a:t> } ] }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57200" y="685800"/>
            <a:ext cx="8481332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09600" y="1676400"/>
            <a:ext cx="8077200" cy="954107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>
              <a:buFont typeface="Arial" panose="020B0604020202090204" pitchFamily="34" charset="0"/>
              <a:buChar char="•"/>
            </a:pPr>
            <a:r>
              <a:rPr lang="en-US" sz="2800" dirty="0" smtClean="0"/>
              <a:t> Find all documents in which tag field array contains “b” and “c”</a:t>
            </a:r>
            <a:endParaRPr lang="en-US" sz="2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85800" y="2743200"/>
            <a:ext cx="7986584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8100" y="296528"/>
            <a:ext cx="4495800" cy="184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0" y="2306316"/>
            <a:ext cx="4572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814668" y="296528"/>
            <a:ext cx="4038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4814668" y="2351650"/>
            <a:ext cx="4038600" cy="1738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471487" y="5098018"/>
            <a:ext cx="80486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04800" y="4393168"/>
            <a:ext cx="836511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b="1" dirty="0" smtClean="0"/>
              <a:t>Query: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536309" y="838200"/>
            <a:ext cx="6149926" cy="252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36309" y="3502196"/>
            <a:ext cx="6149926" cy="3241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038600" y="195699"/>
            <a:ext cx="934871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b="1" dirty="0" smtClean="0"/>
              <a:t>Output: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$elemMatch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763000" cy="6019800"/>
          </a:xfrm>
        </p:spPr>
        <p:txBody>
          <a:bodyPr numCol="1">
            <a:normAutofit/>
          </a:bodyPr>
          <a:lstStyle/>
          <a:p>
            <a:pPr algn="just"/>
            <a:r>
              <a:rPr lang="en-US" sz="2400" dirty="0" smtClean="0"/>
              <a:t>The $elemMatch operator matches documents that contain an array field with at least one element that matches all the specified query criteria.</a:t>
            </a:r>
            <a:endParaRPr lang="en-US" sz="2400" dirty="0" smtClean="0"/>
          </a:p>
          <a:p>
            <a:r>
              <a:rPr lang="en-US" sz="2400" dirty="0" smtClean="0"/>
              <a:t>Syntax: </a:t>
            </a:r>
            <a:r>
              <a:rPr lang="en-US" sz="2400" b="1" dirty="0" smtClean="0"/>
              <a:t>{ &lt;field&gt;: { $elemMatch: { &lt;query1&gt;, &lt;query2&gt;, ... } } }</a:t>
            </a:r>
            <a:endParaRPr lang="en-US" sz="2400" b="1" dirty="0" smtClean="0"/>
          </a:p>
          <a:p>
            <a:endParaRPr lang="en-US" sz="2400" b="1" dirty="0" smtClean="0"/>
          </a:p>
          <a:p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sz="2400" dirty="0" smtClean="0"/>
              <a:t>Find all documents where score &gt;=50 and &lt;90.</a:t>
            </a:r>
            <a:endParaRPr lang="en-US" sz="2400" b="1" dirty="0" smtClean="0"/>
          </a:p>
          <a:p>
            <a:pPr algn="just"/>
            <a:endParaRPr 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838200" y="2340602"/>
            <a:ext cx="7010400" cy="65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38200" y="3087044"/>
            <a:ext cx="7061882" cy="646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09600" y="5181600"/>
            <a:ext cx="829616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553200"/>
          </a:xfrm>
        </p:spPr>
        <p:txBody>
          <a:bodyPr numCol="1">
            <a:normAutofit/>
          </a:bodyPr>
          <a:lstStyle/>
          <a:p>
            <a:pPr algn="just"/>
            <a:r>
              <a:rPr lang="en-US" sz="2600" dirty="0" smtClean="0"/>
              <a:t>Documents in the </a:t>
            </a:r>
            <a:r>
              <a:rPr lang="en-US" sz="2600" i="1" dirty="0" smtClean="0"/>
              <a:t>scores</a:t>
            </a:r>
            <a:r>
              <a:rPr lang="en-US" sz="2600" dirty="0" smtClean="0"/>
              <a:t> collection:</a:t>
            </a:r>
            <a:endParaRPr lang="en-US" sz="2600" dirty="0" smtClean="0"/>
          </a:p>
          <a:p>
            <a:pPr>
              <a:buNone/>
            </a:pPr>
            <a:r>
              <a:rPr lang="en-US" sz="2600" dirty="0" smtClean="0"/>
              <a:t>{ _id: 1, results: [ 82, 85, 88 ] }, { _id: 2, results: [ 75, 88, 89 ] }</a:t>
            </a:r>
            <a:endParaRPr lang="en-US" sz="2600" dirty="0" smtClean="0"/>
          </a:p>
          <a:p>
            <a:pPr>
              <a:buNone/>
            </a:pPr>
            <a:endParaRPr lang="en-US" sz="2600" dirty="0" smtClean="0"/>
          </a:p>
          <a:p>
            <a:pPr algn="just"/>
            <a:endParaRPr lang="en-US" sz="2600" dirty="0" smtClean="0"/>
          </a:p>
          <a:p>
            <a:pPr algn="just"/>
            <a:r>
              <a:rPr lang="en-US" sz="2600" dirty="0" smtClean="0"/>
              <a:t>This query matches only those documents where the results array contains at least one element that is both greater than or equal to 80 and is less than 85.</a:t>
            </a:r>
            <a:endParaRPr lang="en-US" sz="2600" dirty="0" smtClean="0"/>
          </a:p>
          <a:p>
            <a:pPr algn="just"/>
            <a:endParaRPr lang="en-US" sz="2600" dirty="0" smtClean="0"/>
          </a:p>
          <a:p>
            <a:pPr algn="just"/>
            <a:endParaRPr lang="en-US" sz="2600" dirty="0" smtClean="0"/>
          </a:p>
          <a:p>
            <a:pPr algn="just"/>
            <a:r>
              <a:rPr lang="en-US" sz="2600" dirty="0" smtClean="0"/>
              <a:t>The query returns the following document since the element 82 is both greater than or equal to 80 and is less than 85.</a:t>
            </a:r>
            <a:endParaRPr lang="en-US" sz="2600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600200" y="1219200"/>
            <a:ext cx="681038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752600" y="3886200"/>
            <a:ext cx="61087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553200"/>
          </a:xfrm>
        </p:spPr>
        <p:txBody>
          <a:bodyPr numCol="1"/>
          <a:lstStyle/>
          <a:p>
            <a:pPr>
              <a:buNone/>
            </a:pPr>
            <a:r>
              <a:rPr lang="en-US" sz="2400" b="1" dirty="0" smtClean="0"/>
              <a:t>Array of Embedded Documents:</a:t>
            </a:r>
            <a:endParaRPr lang="en-US" sz="2400" b="1" dirty="0" smtClean="0"/>
          </a:p>
          <a:p>
            <a:endParaRPr lang="en-US" sz="2800" b="1" dirty="0" smtClean="0"/>
          </a:p>
          <a:p>
            <a:endParaRPr lang="en-US" sz="2800" b="1" dirty="0" smtClean="0"/>
          </a:p>
          <a:p>
            <a:endParaRPr lang="en-US" sz="2800" b="1" dirty="0" smtClean="0"/>
          </a:p>
          <a:p>
            <a:endParaRPr lang="en-US" sz="2800" b="1" dirty="0" smtClean="0"/>
          </a:p>
          <a:p>
            <a:endParaRPr lang="en-US" sz="28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 smtClean="0"/>
              <a:t>Query:</a:t>
            </a:r>
            <a:endParaRPr lang="en-US" sz="2000" b="1" dirty="0" smtClean="0"/>
          </a:p>
          <a:p>
            <a:endParaRPr lang="en-US" sz="2800" b="1" dirty="0" smtClean="0"/>
          </a:p>
          <a:p>
            <a:pPr>
              <a:buNone/>
            </a:pPr>
            <a:endParaRPr lang="en-US" sz="2800" b="1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838200" y="837644"/>
            <a:ext cx="7010399" cy="264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066800" y="4724400"/>
            <a:ext cx="7134225" cy="787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553200"/>
          </a:xfrm>
        </p:spPr>
        <p:txBody>
          <a:bodyPr numCol="1"/>
          <a:lstStyle/>
          <a:p>
            <a:pPr>
              <a:buNone/>
            </a:pPr>
            <a:r>
              <a:rPr lang="en-US" sz="2400" b="1" dirty="0" smtClean="0"/>
              <a:t>Array of Embedded Documents:</a:t>
            </a:r>
            <a:endParaRPr lang="en-US" sz="2400" b="1" dirty="0" smtClean="0"/>
          </a:p>
          <a:p>
            <a:endParaRPr lang="en-US" sz="2800" b="1" dirty="0" smtClean="0"/>
          </a:p>
          <a:p>
            <a:endParaRPr lang="en-US" sz="2800" b="1" dirty="0" smtClean="0"/>
          </a:p>
          <a:p>
            <a:endParaRPr lang="en-US" sz="2800" b="1" dirty="0" smtClean="0"/>
          </a:p>
          <a:p>
            <a:endParaRPr lang="en-US" sz="2800" b="1" dirty="0" smtClean="0"/>
          </a:p>
          <a:p>
            <a:endParaRPr lang="en-US" sz="2800" b="1" dirty="0" smtClean="0"/>
          </a:p>
          <a:p>
            <a:pPr>
              <a:buNone/>
            </a:pPr>
            <a:r>
              <a:rPr lang="en-US" sz="2000" b="1" dirty="0" smtClean="0"/>
              <a:t>Query:</a:t>
            </a:r>
            <a:endParaRPr lang="en-US" sz="2000" b="1" dirty="0" smtClean="0"/>
          </a:p>
          <a:p>
            <a:endParaRPr lang="en-US" sz="2800" b="1" dirty="0" smtClean="0"/>
          </a:p>
          <a:p>
            <a:pPr algn="just"/>
            <a:r>
              <a:rPr lang="en-US" sz="2400" dirty="0" smtClean="0"/>
              <a:t>The query matches only those documents where the results array contains at least one element with both product equal to "xyz" and score greater than or equal to 8.</a:t>
            </a:r>
            <a:endParaRPr lang="en-US" sz="2400" dirty="0" smtClean="0"/>
          </a:p>
          <a:p>
            <a:pPr algn="just">
              <a:buNone/>
            </a:pPr>
            <a:r>
              <a:rPr lang="en-US" sz="2000" b="1" dirty="0" smtClean="0"/>
              <a:t>Output:</a:t>
            </a:r>
            <a:endParaRPr lang="en-US" sz="2000" b="1" dirty="0" smtClean="0"/>
          </a:p>
          <a:p>
            <a:pPr>
              <a:buNone/>
            </a:pPr>
            <a:endParaRPr lang="en-US" sz="2800" b="1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838200" y="533400"/>
            <a:ext cx="7010399" cy="264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066800" y="3276600"/>
            <a:ext cx="7134225" cy="787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838200" y="5638800"/>
            <a:ext cx="7707824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/>
          <a:lstStyle/>
          <a:p>
            <a:pPr algn="just">
              <a:buNone/>
            </a:pPr>
            <a:r>
              <a:rPr lang="en-US" sz="2400" b="1" dirty="0" smtClean="0"/>
              <a:t>Single Query Condition: </a:t>
            </a:r>
            <a:r>
              <a:rPr lang="en-US" sz="2400" dirty="0" smtClean="0"/>
              <a:t>If specifying a single query predicate in the $elemMatch expression, and not using the $not or $ne operators inside of $elemMatch, $elemMatch can be omitted.</a:t>
            </a:r>
            <a:endParaRPr lang="en-US" sz="2400" dirty="0" smtClean="0"/>
          </a:p>
          <a:p>
            <a:pPr algn="just"/>
            <a:r>
              <a:rPr lang="en-US" sz="2400" dirty="0" smtClean="0"/>
              <a:t>With $elemMatch:</a:t>
            </a:r>
            <a:endParaRPr lang="en-US" sz="2400" dirty="0" smtClean="0"/>
          </a:p>
          <a:p>
            <a:pPr algn="just"/>
            <a:r>
              <a:rPr lang="en-US" sz="2400" dirty="0" smtClean="0"/>
              <a:t>Without $elemMatch:</a:t>
            </a:r>
            <a:endParaRPr lang="en-US" sz="2400" dirty="0" smtClean="0"/>
          </a:p>
          <a:p>
            <a:pPr algn="just"/>
            <a:r>
              <a:rPr lang="en-US" sz="2400" dirty="0" smtClean="0"/>
              <a:t>However, if $elemMatch expression contains the $not or $ne operators then omitting the $elemMatch expression changes the documents returned</a:t>
            </a:r>
            <a:r>
              <a:rPr lang="en-US" dirty="0" smtClean="0"/>
              <a:t>.</a:t>
            </a:r>
            <a:endParaRPr lang="en-US" dirty="0" smtClean="0"/>
          </a:p>
          <a:p>
            <a:pPr algn="just"/>
            <a:r>
              <a:rPr lang="en-US" sz="2400" dirty="0" smtClean="0"/>
              <a:t>With $elemMatch:                                    Without $elemMatch:</a:t>
            </a:r>
            <a:endParaRPr lang="en-US" sz="2400" dirty="0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048000" y="1371600"/>
            <a:ext cx="4366261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886200" y="2057400"/>
            <a:ext cx="2528887" cy="605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209800" y="3810000"/>
            <a:ext cx="4876800" cy="623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5486400" y="5105189"/>
            <a:ext cx="5791200" cy="183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6324600" y="4343400"/>
            <a:ext cx="3505200" cy="662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-685800" y="5028989"/>
            <a:ext cx="5791200" cy="183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$size Operator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10600" cy="5943600"/>
          </a:xfrm>
        </p:spPr>
        <p:txBody>
          <a:bodyPr numCol="1"/>
          <a:lstStyle/>
          <a:p>
            <a:pPr algn="just"/>
            <a:r>
              <a:rPr lang="en-US" dirty="0" smtClean="0"/>
              <a:t>The $size operator matches any array with the number of elements specified by the argument.</a:t>
            </a:r>
            <a:endParaRPr lang="en-US" dirty="0" smtClean="0"/>
          </a:p>
          <a:p>
            <a:pPr algn="just"/>
            <a:r>
              <a:rPr lang="en-US" dirty="0" smtClean="0"/>
              <a:t>Find documents where tag field has 3 element.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533400" y="4343400"/>
            <a:ext cx="835152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915400" cy="6705600"/>
          </a:xfrm>
        </p:spPr>
        <p:txBody>
          <a:bodyPr numCol="1"/>
          <a:lstStyle/>
          <a:p>
            <a:pPr algn="just"/>
            <a:r>
              <a:rPr lang="en-US" b="1" dirty="0" smtClean="0"/>
              <a:t>Example: </a:t>
            </a:r>
            <a:r>
              <a:rPr lang="en-US" dirty="0" err="1" smtClean="0"/>
              <a:t>db.collection.find</a:t>
            </a:r>
            <a:r>
              <a:rPr lang="en-US" dirty="0" smtClean="0"/>
              <a:t>( { field: { $size: 2 } } );</a:t>
            </a:r>
            <a:endParaRPr lang="en-US" dirty="0" smtClean="0"/>
          </a:p>
          <a:p>
            <a:pPr algn="just"/>
            <a:r>
              <a:rPr lang="en-US" dirty="0" smtClean="0"/>
              <a:t>This query returns all documents in collection where field is an array with 2 elements.</a:t>
            </a:r>
            <a:endParaRPr lang="en-US" dirty="0" smtClean="0"/>
          </a:p>
          <a:p>
            <a:pPr algn="just"/>
            <a:r>
              <a:rPr lang="en-US" dirty="0" smtClean="0"/>
              <a:t> For instance, the above expression will return { field: [ red, green ] } and { field: [ apple, lime ] } but </a:t>
            </a:r>
            <a:r>
              <a:rPr lang="en-US" i="1" dirty="0" smtClean="0"/>
              <a:t>not</a:t>
            </a:r>
            <a:r>
              <a:rPr lang="en-US" dirty="0" smtClean="0"/>
              <a:t> { field: fruit } or { field: [ orange, lemon, grapefruit ] }.</a:t>
            </a:r>
            <a:endParaRPr lang="en-US" dirty="0" smtClean="0"/>
          </a:p>
          <a:p>
            <a:pPr algn="just"/>
            <a:r>
              <a:rPr lang="en-US" dirty="0" smtClean="0"/>
              <a:t> To match fields with only one element within an array use $size with a value of 1, as follows:</a:t>
            </a:r>
            <a:endParaRPr lang="en-US" dirty="0" smtClean="0"/>
          </a:p>
          <a:p>
            <a:pPr algn="just"/>
            <a:r>
              <a:rPr lang="en-US" dirty="0" err="1" smtClean="0"/>
              <a:t>db.collection.find</a:t>
            </a:r>
            <a:r>
              <a:rPr lang="en-US" dirty="0" smtClean="0"/>
              <a:t>( { field: { $size: 1 } } );</a:t>
            </a:r>
            <a:endParaRPr lang="en-US" dirty="0" smtClean="0"/>
          </a:p>
          <a:p>
            <a:pPr algn="just"/>
            <a:r>
              <a:rPr lang="en-US" dirty="0" smtClean="0"/>
              <a:t>$size does not accept ranges of values.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13977</Words>
  <Application>WPS Writer</Application>
  <PresentationFormat>On-screen Show (4:3)</PresentationFormat>
  <Paragraphs>358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9" baseType="lpstr">
      <vt:lpstr>Arial</vt:lpstr>
      <vt:lpstr>SimSun</vt:lpstr>
      <vt:lpstr>Wingdings</vt:lpstr>
      <vt:lpstr>Microsoft YaHei</vt:lpstr>
      <vt:lpstr>汉仪旗黑</vt:lpstr>
      <vt:lpstr>Arial Unicode MS</vt:lpstr>
      <vt:lpstr>Calibri</vt:lpstr>
      <vt:lpstr>Helvetica Neue</vt:lpstr>
      <vt:lpstr>Times New Roman</vt:lpstr>
      <vt:lpstr>Inter</vt:lpstr>
      <vt:lpstr>NSimSun</vt:lpstr>
      <vt:lpstr>方正书宋_GBK</vt:lpstr>
      <vt:lpstr>Cambria</vt:lpstr>
      <vt:lpstr>Euclid Circular A</vt:lpstr>
      <vt:lpstr>Thonburi</vt:lpstr>
      <vt:lpstr>Source Code Pro</vt:lpstr>
      <vt:lpstr>苹方-简</vt:lpstr>
      <vt:lpstr>宋体-简</vt:lpstr>
      <vt:lpstr>Office Theme</vt:lpstr>
      <vt:lpstr>PowerPoint 演示文稿</vt:lpstr>
      <vt:lpstr>CRUD Operations</vt:lpstr>
      <vt:lpstr>Create Operation </vt:lpstr>
      <vt:lpstr>Insert operations</vt:lpstr>
      <vt:lpstr> The _id Field</vt:lpstr>
      <vt:lpstr> Create Operation: .insertOne()</vt:lpstr>
      <vt:lpstr>Create Operation: .insertMany()</vt:lpstr>
      <vt:lpstr>PowerPoint 演示文稿</vt:lpstr>
      <vt:lpstr>Update operations</vt:lpstr>
      <vt:lpstr>Update operators</vt:lpstr>
      <vt:lpstr>updateOne() and updateMany()</vt:lpstr>
      <vt:lpstr>replaceOne()</vt:lpstr>
      <vt:lpstr>Delete Operation</vt:lpstr>
      <vt:lpstr>Read/Query Operations</vt:lpstr>
      <vt:lpstr>PowerPoint 演示文稿</vt:lpstr>
      <vt:lpstr>Specify Conditions Using Query Operators</vt:lpstr>
      <vt:lpstr>SQL to MongoDB Mapping</vt:lpstr>
      <vt:lpstr>Create and drop operation  </vt:lpstr>
      <vt:lpstr>Alter Operation</vt:lpstr>
      <vt:lpstr>Insert and update operation</vt:lpstr>
      <vt:lpstr>Select operation</vt:lpstr>
      <vt:lpstr>PowerPoint 演示文稿</vt:lpstr>
      <vt:lpstr>PowerPoint 演示文稿</vt:lpstr>
      <vt:lpstr>PowerPoint 演示文稿</vt:lpstr>
      <vt:lpstr>PowerPoint 演示文稿</vt:lpstr>
      <vt:lpstr>Logical Query Operators</vt:lpstr>
      <vt:lpstr>PowerPoint 演示文稿</vt:lpstr>
      <vt:lpstr>PowerPoint 演示文稿</vt:lpstr>
      <vt:lpstr>Comparison Query Operator</vt:lpstr>
      <vt:lpstr>PowerPoint 演示文稿</vt:lpstr>
      <vt:lpstr>PowerPoint 演示文稿</vt:lpstr>
      <vt:lpstr>Element Query Operators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MongoDB Data Types</vt:lpstr>
      <vt:lpstr>Array Query Operators</vt:lpstr>
      <vt:lpstr>$all operator</vt:lpstr>
      <vt:lpstr>PowerPoint 演示文稿</vt:lpstr>
      <vt:lpstr>PowerPoint 演示文稿</vt:lpstr>
      <vt:lpstr>PowerPoint 演示文稿</vt:lpstr>
      <vt:lpstr>$elemMatch Operator</vt:lpstr>
      <vt:lpstr>PowerPoint 演示文稿</vt:lpstr>
      <vt:lpstr>PowerPoint 演示文稿</vt:lpstr>
      <vt:lpstr>PowerPoint 演示文稿</vt:lpstr>
      <vt:lpstr>PowerPoint 演示文稿</vt:lpstr>
      <vt:lpstr>$size Operator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mandeep kaur</dc:creator>
  <cp:lastModifiedBy>mehulgupta</cp:lastModifiedBy>
  <cp:revision>400</cp:revision>
  <dcterms:created xsi:type="dcterms:W3CDTF">2026-02-17T08:49:04Z</dcterms:created>
  <dcterms:modified xsi:type="dcterms:W3CDTF">2026-02-17T08:49:04Z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4D226CB3DFB20FC889FE92698D53CE21_42</vt:lpwstr>
  </property>
  <property fmtid="{D5CDD505-2E9C-101B-9397-08002B2CF9AE}" pid="3" name="KSOProductBuildVer">
    <vt:lpwstr>1033-12.1.23155.23155</vt:lpwstr>
  </property>
</Properties>
</file>